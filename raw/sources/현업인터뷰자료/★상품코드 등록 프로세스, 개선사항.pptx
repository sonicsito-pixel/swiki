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34" r:id="rId2"/>
    <p:sldId id="435" r:id="rId3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EDEDED"/>
    <a:srgbClr val="0000FF"/>
    <a:srgbClr val="004EA2"/>
    <a:srgbClr val="FF6600"/>
    <a:srgbClr val="7F7F7F"/>
    <a:srgbClr val="1B48AB"/>
    <a:srgbClr val="018462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36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7869A-E7D9-48C4-9B01-4A147657009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3E34A-40A8-4430-B8A2-0749DA68DC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65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586A8-C854-4500-AC4C-98EBD9FBD27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E6-3C01-4B76-91D6-3F92549649F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AutoShape 27"/>
          <p:cNvSpPr/>
          <p:nvPr userDrawn="1"/>
        </p:nvSpPr>
        <p:spPr>
          <a:xfrm>
            <a:off x="0" y="6564384"/>
            <a:ext cx="12192000" cy="0"/>
          </a:xfrm>
          <a:prstGeom prst="line">
            <a:avLst/>
          </a:prstGeom>
          <a:ln w="19050" cap="flat">
            <a:solidFill>
              <a:srgbClr val="004EA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63818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586A8-C854-4500-AC4C-98EBD9FBD27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E6-3C01-4B76-91D6-3F92549649F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11992744" y="0"/>
            <a:ext cx="206355" cy="6858000"/>
          </a:xfrm>
          <a:prstGeom prst="rect">
            <a:avLst/>
          </a:prstGeom>
          <a:solidFill>
            <a:srgbClr val="004E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AutoShape 27"/>
          <p:cNvSpPr/>
          <p:nvPr userDrawn="1"/>
        </p:nvSpPr>
        <p:spPr>
          <a:xfrm>
            <a:off x="422911" y="1102475"/>
            <a:ext cx="11146922" cy="0"/>
          </a:xfrm>
          <a:prstGeom prst="line">
            <a:avLst/>
          </a:prstGeom>
          <a:ln w="19050" cap="flat">
            <a:solidFill>
              <a:srgbClr val="004EA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4532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586A8-C854-4500-AC4C-98EBD9FBD27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2D4E6-3C01-4B76-91D6-3F92549649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3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/>
          <p:cNvSpPr/>
          <p:nvPr/>
        </p:nvSpPr>
        <p:spPr>
          <a:xfrm>
            <a:off x="226085" y="1839457"/>
            <a:ext cx="2104902" cy="2057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563803" y="1532436"/>
            <a:ext cx="4161263" cy="2199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itle 13"/>
          <p:cNvSpPr txBox="1">
            <a:spLocks/>
          </p:cNvSpPr>
          <p:nvPr/>
        </p:nvSpPr>
        <p:spPr>
          <a:xfrm>
            <a:off x="341987" y="561174"/>
            <a:ext cx="10820658" cy="54884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ko-KR" altLang="en-US" sz="2999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상품코드 등록 프로세스 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b="1" spc="-30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화면명  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</a:t>
            </a:r>
            <a:r>
              <a:rPr lang="ko-KR" altLang="en-US" sz="2000" b="1" spc="-30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작업지시등록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2000" b="1" spc="-3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6"/>
          <p:cNvSpPr txBox="1"/>
          <p:nvPr/>
        </p:nvSpPr>
        <p:spPr>
          <a:xfrm>
            <a:off x="341987" y="317610"/>
            <a:ext cx="3600000" cy="230832"/>
          </a:xfrm>
          <a:prstGeom prst="rect">
            <a:avLst/>
          </a:prstGeom>
        </p:spPr>
        <p:txBody>
          <a:bodyPr wrap="square" lIns="9000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차세대패션관리시스템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PJ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Rectangle 55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>
            <a:off x="234403" y="1305500"/>
            <a:ext cx="2104902" cy="360930"/>
          </a:xfrm>
          <a:prstGeom prst="rect">
            <a:avLst/>
          </a:prstGeom>
          <a:solidFill>
            <a:srgbClr val="004EA2"/>
          </a:solidFill>
          <a:ln w="12700">
            <a:solidFill>
              <a:srgbClr val="004EA2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938213" latinLnBrk="0">
              <a:buSzPct val="120000"/>
              <a:defRPr/>
            </a:pPr>
            <a:r>
              <a:rPr lang="ko-KR" altLang="en-US" sz="1400" b="1" kern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상품기획팀</a:t>
            </a:r>
            <a:endParaRPr lang="en-US" altLang="zh-CN" sz="1400" b="1" kern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Rectangle 55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>
            <a:off x="2482566" y="1305500"/>
            <a:ext cx="2104902" cy="360930"/>
          </a:xfrm>
          <a:prstGeom prst="rect">
            <a:avLst/>
          </a:prstGeom>
          <a:solidFill>
            <a:srgbClr val="004EA2"/>
          </a:solidFill>
          <a:ln w="12700">
            <a:solidFill>
              <a:srgbClr val="004EA2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938213" latinLnBrk="0">
              <a:buSzPct val="120000"/>
              <a:defRPr/>
            </a:pPr>
            <a:r>
              <a:rPr lang="ko-KR" altLang="en-US" sz="1400" b="1" kern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디자인팀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b="1" kern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패턴</a:t>
            </a:r>
            <a:endParaRPr lang="en-US" altLang="zh-CN" sz="1400" b="1" kern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Rectangle 55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>
            <a:off x="4730729" y="1305500"/>
            <a:ext cx="2104902" cy="360930"/>
          </a:xfrm>
          <a:prstGeom prst="rect">
            <a:avLst/>
          </a:prstGeom>
          <a:solidFill>
            <a:srgbClr val="004EA2"/>
          </a:solidFill>
          <a:ln w="12700">
            <a:solidFill>
              <a:srgbClr val="004EA2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938213" latinLnBrk="0">
              <a:buSzPct val="120000"/>
              <a:defRPr/>
            </a:pPr>
            <a:r>
              <a:rPr lang="ko-KR" altLang="en-US" sz="1400" b="1" kern="0" dirty="0" err="1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소싱본부</a:t>
            </a:r>
            <a:endParaRPr lang="en-US" altLang="zh-CN" sz="1400" b="1" kern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순서도: 대체 처리 46"/>
          <p:cNvSpPr/>
          <p:nvPr/>
        </p:nvSpPr>
        <p:spPr>
          <a:xfrm>
            <a:off x="409845" y="2050974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(1-1)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상품코드 채번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1258000" y="2412413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순서도: 대체 처리 53"/>
          <p:cNvSpPr/>
          <p:nvPr/>
        </p:nvSpPr>
        <p:spPr>
          <a:xfrm>
            <a:off x="409845" y="2687857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(1-2)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속성 정보 등록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순서도: 문서 60"/>
          <p:cNvSpPr/>
          <p:nvPr/>
        </p:nvSpPr>
        <p:spPr>
          <a:xfrm>
            <a:off x="2547984" y="2303785"/>
            <a:ext cx="698087" cy="271902"/>
          </a:xfrm>
          <a:prstGeom prst="flowChartDocument">
            <a:avLst/>
          </a:prstGeom>
          <a:solidFill>
            <a:srgbClr val="FBE5D6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제품정보</a:t>
            </a:r>
            <a:endParaRPr lang="ko-KR" altLang="en-US" sz="9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20239722-E7FC-48F5-D367-D1C43D99FD4F}"/>
              </a:ext>
            </a:extLst>
          </p:cNvPr>
          <p:cNvSpPr txBox="1"/>
          <p:nvPr/>
        </p:nvSpPr>
        <p:spPr>
          <a:xfrm>
            <a:off x="606002" y="5736860"/>
            <a:ext cx="1430291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defTabSz="914217">
              <a:lnSpc>
                <a:spcPct val="130000"/>
              </a:lnSpc>
              <a:defRPr/>
            </a:pPr>
            <a:r>
              <a:rPr lang="ko-KR" altLang="en-US" sz="10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원가 최종 협의 후 등록</a:t>
            </a:r>
            <a:endParaRPr lang="en-US" altLang="ko-KR" sz="1000" kern="0" dirty="0" smtClean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defTabSz="914217">
              <a:lnSpc>
                <a:spcPct val="130000"/>
              </a:lnSpc>
              <a:defRPr/>
            </a:pPr>
            <a:r>
              <a:rPr lang="en-US" altLang="ko-KR" sz="10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00" kern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작지등록 </a:t>
            </a:r>
            <a:r>
              <a:rPr lang="en-US" altLang="ko-KR" sz="10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D+5~6</a:t>
            </a:r>
            <a:r>
              <a:rPr lang="ko-KR" altLang="en-US" sz="1000" kern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개월</a:t>
            </a:r>
            <a:r>
              <a:rPr lang="en-US" altLang="ko-KR" sz="10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000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3" name="꺾인 연결선 82"/>
          <p:cNvCxnSpPr/>
          <p:nvPr/>
        </p:nvCxnSpPr>
        <p:spPr>
          <a:xfrm>
            <a:off x="2354412" y="2012355"/>
            <a:ext cx="2508130" cy="20498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순서도: 대체 처리 86"/>
          <p:cNvSpPr/>
          <p:nvPr/>
        </p:nvSpPr>
        <p:spPr>
          <a:xfrm>
            <a:off x="2687083" y="4023597"/>
            <a:ext cx="1687514" cy="3327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(2-1)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자재 사양 정보 입력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0" name="순서도: 대체 처리 89"/>
          <p:cNvSpPr/>
          <p:nvPr/>
        </p:nvSpPr>
        <p:spPr>
          <a:xfrm>
            <a:off x="4914364" y="2054041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(3-1)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파일넘버 매칭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4" name="순서도: 대체 처리 103"/>
          <p:cNvSpPr/>
          <p:nvPr/>
        </p:nvSpPr>
        <p:spPr>
          <a:xfrm>
            <a:off x="4914364" y="2686110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(3-2)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사전원가 등록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8028994" y="1305461"/>
            <a:ext cx="3265607" cy="3385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lvl="0" algn="ctr"/>
            <a:r>
              <a:rPr lang="ko-KR" altLang="en-US" sz="1600" b="1" dirty="0" smtClean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프로세스 현황</a:t>
            </a:r>
            <a:endParaRPr lang="en-US" altLang="ko-KR" sz="1200" b="1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38" name="Group 8"/>
          <p:cNvGrpSpPr>
            <a:grpSpLocks/>
          </p:cNvGrpSpPr>
          <p:nvPr/>
        </p:nvGrpSpPr>
        <p:grpSpPr bwMode="auto">
          <a:xfrm>
            <a:off x="7182183" y="1762441"/>
            <a:ext cx="562192" cy="1587243"/>
            <a:chOff x="2400" y="1968"/>
            <a:chExt cx="960" cy="960"/>
          </a:xfrm>
        </p:grpSpPr>
        <p:sp>
          <p:nvSpPr>
            <p:cNvPr id="139" name="Rectangle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0" name="Rectangle 10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4073" tIns="0" rIns="4073" bIns="0" anchor="ctr"/>
            <a:lstStyle/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dirty="0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상품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dirty="0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기획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145" name="직선 연결선 144"/>
          <p:cNvCxnSpPr/>
          <p:nvPr/>
        </p:nvCxnSpPr>
        <p:spPr>
          <a:xfrm flipH="1" flipV="1">
            <a:off x="7025550" y="1299122"/>
            <a:ext cx="2303" cy="540719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>
            <a:off x="1258000" y="3057609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순서도: 대체 처리 44"/>
          <p:cNvSpPr/>
          <p:nvPr/>
        </p:nvSpPr>
        <p:spPr>
          <a:xfrm>
            <a:off x="409845" y="3349684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(1-3)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 사이즈</a:t>
            </a:r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컬러 등록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262398" y="3733429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순서도: 대체 처리 48"/>
          <p:cNvSpPr/>
          <p:nvPr/>
        </p:nvSpPr>
        <p:spPr>
          <a:xfrm>
            <a:off x="409845" y="4042402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(1-4)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인증서 파일 업로드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1262398" y="4411754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순서도: 대체 처리 50"/>
          <p:cNvSpPr/>
          <p:nvPr/>
        </p:nvSpPr>
        <p:spPr>
          <a:xfrm>
            <a:off x="409845" y="4695321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(1-5)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분할입고 정보 등록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1264694" y="5070939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순서도: 대체 처리 54"/>
          <p:cNvSpPr/>
          <p:nvPr/>
        </p:nvSpPr>
        <p:spPr>
          <a:xfrm>
            <a:off x="397654" y="5352274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(1-6)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소비자가 확정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오른쪽 중괄호 58"/>
          <p:cNvSpPr/>
          <p:nvPr/>
        </p:nvSpPr>
        <p:spPr>
          <a:xfrm>
            <a:off x="2181916" y="2283046"/>
            <a:ext cx="216000" cy="1269561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0" name="순서도: 문서 59"/>
          <p:cNvSpPr/>
          <p:nvPr/>
        </p:nvSpPr>
        <p:spPr>
          <a:xfrm>
            <a:off x="2547983" y="2631147"/>
            <a:ext cx="698087" cy="271902"/>
          </a:xfrm>
          <a:prstGeom prst="flowChartDocument">
            <a:avLst/>
          </a:prstGeom>
          <a:solidFill>
            <a:srgbClr val="FBE5D6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작지정보</a:t>
            </a:r>
            <a:endParaRPr lang="ko-KR" altLang="en-US" sz="9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순서도: 대체 처리 61"/>
          <p:cNvSpPr/>
          <p:nvPr/>
        </p:nvSpPr>
        <p:spPr>
          <a:xfrm>
            <a:off x="2687083" y="4696162"/>
            <a:ext cx="1687514" cy="3327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(2-2)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사이즈 스펙 입력</a:t>
            </a:r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패턴</a:t>
            </a:r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순서도: 대체 처리 62"/>
          <p:cNvSpPr/>
          <p:nvPr/>
        </p:nvSpPr>
        <p:spPr>
          <a:xfrm>
            <a:off x="2687385" y="5335194"/>
            <a:ext cx="1687514" cy="3327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(2-3)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작지 디자인 파일 등록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3526322" y="4412595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3528618" y="5071780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/>
          <p:nvPr/>
        </p:nvCxnSpPr>
        <p:spPr>
          <a:xfrm flipV="1">
            <a:off x="2133587" y="4190004"/>
            <a:ext cx="479150" cy="68352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순서도: 문서 67"/>
          <p:cNvSpPr/>
          <p:nvPr/>
        </p:nvSpPr>
        <p:spPr>
          <a:xfrm>
            <a:off x="2554230" y="2977548"/>
            <a:ext cx="698087" cy="271902"/>
          </a:xfrm>
          <a:prstGeom prst="flowChartDocument">
            <a:avLst/>
          </a:prstGeom>
          <a:solidFill>
            <a:srgbClr val="FBE5D6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스타일정보</a:t>
            </a:r>
            <a:endParaRPr lang="ko-KR" altLang="en-US" sz="9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순서도: 문서 68"/>
          <p:cNvSpPr/>
          <p:nvPr/>
        </p:nvSpPr>
        <p:spPr>
          <a:xfrm>
            <a:off x="2547983" y="3297424"/>
            <a:ext cx="698087" cy="271902"/>
          </a:xfrm>
          <a:prstGeom prst="flowChartDocument">
            <a:avLst/>
          </a:prstGeom>
          <a:solidFill>
            <a:srgbClr val="FBE5D6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속성정보</a:t>
            </a:r>
            <a:endParaRPr lang="ko-KR" altLang="en-US" sz="9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5783180" y="2412413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순서도: 대체 처리 75"/>
          <p:cNvSpPr/>
          <p:nvPr/>
        </p:nvSpPr>
        <p:spPr>
          <a:xfrm>
            <a:off x="4908559" y="3353693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(3-3) G/W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사전원가 결재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5783180" y="3073941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순서도: 대체 처리 78"/>
          <p:cNvSpPr/>
          <p:nvPr/>
        </p:nvSpPr>
        <p:spPr>
          <a:xfrm>
            <a:off x="4908559" y="4042402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(3-4)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자재 등록 구매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순서도: 대체 처리 79"/>
          <p:cNvSpPr/>
          <p:nvPr/>
        </p:nvSpPr>
        <p:spPr>
          <a:xfrm>
            <a:off x="4908559" y="4695321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(3-5) G/W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생산사전원가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1" name="순서도: 대체 처리 80"/>
          <p:cNvSpPr/>
          <p:nvPr/>
        </p:nvSpPr>
        <p:spPr>
          <a:xfrm>
            <a:off x="4908559" y="5334353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(3-6)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생산 사전원가 확정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>
            <a:off x="5801440" y="3753057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>
            <a:off x="5801440" y="4411754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>
            <a:off x="5801440" y="5070939"/>
            <a:ext cx="0" cy="231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7563803" y="4984197"/>
            <a:ext cx="4161263" cy="17389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02" name="Group 8"/>
          <p:cNvGrpSpPr>
            <a:grpSpLocks/>
          </p:cNvGrpSpPr>
          <p:nvPr/>
        </p:nvGrpSpPr>
        <p:grpSpPr bwMode="auto">
          <a:xfrm>
            <a:off x="7176694" y="5133494"/>
            <a:ext cx="562192" cy="1352866"/>
            <a:chOff x="2400" y="1968"/>
            <a:chExt cx="960" cy="960"/>
          </a:xfrm>
        </p:grpSpPr>
        <p:sp>
          <p:nvSpPr>
            <p:cNvPr id="103" name="Rectangle 9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05" name="Rectangle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4073" tIns="0" rIns="4073" bIns="0" anchor="ctr"/>
            <a:lstStyle/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dirty="0" err="1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소싱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본부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15" name="Text 64"/>
          <p:cNvSpPr/>
          <p:nvPr/>
        </p:nvSpPr>
        <p:spPr>
          <a:xfrm>
            <a:off x="7898705" y="1754247"/>
            <a:ext cx="4253383" cy="1768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(1-1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상품코드 체번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(1-2)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제품 속성 입력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(1-3)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칼라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사이즈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기획수량 입력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(1-4)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각종 인증서 파일 업로드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(1-5)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분할입고 정보 등록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(1-6)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소비자가 확정 등록 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원가 협의 후 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D+5~6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개월 후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(1-7)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작업지시서 결재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후 수기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18" name="꺾인 연결선 117"/>
          <p:cNvCxnSpPr/>
          <p:nvPr/>
        </p:nvCxnSpPr>
        <p:spPr>
          <a:xfrm rot="10800000">
            <a:off x="1933202" y="5710680"/>
            <a:ext cx="3852000" cy="300585"/>
          </a:xfrm>
          <a:prstGeom prst="bentConnector3">
            <a:avLst>
              <a:gd name="adj1" fmla="val 99781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/>
          <p:nvPr/>
        </p:nvCxnSpPr>
        <p:spPr>
          <a:xfrm>
            <a:off x="5783180" y="5737228"/>
            <a:ext cx="1" cy="24857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/>
          <p:cNvSpPr/>
          <p:nvPr/>
        </p:nvSpPr>
        <p:spPr>
          <a:xfrm>
            <a:off x="7552860" y="3839311"/>
            <a:ext cx="4161263" cy="103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22" name="Group 8"/>
          <p:cNvGrpSpPr>
            <a:grpSpLocks/>
          </p:cNvGrpSpPr>
          <p:nvPr/>
        </p:nvGrpSpPr>
        <p:grpSpPr bwMode="auto">
          <a:xfrm>
            <a:off x="7176694" y="3903536"/>
            <a:ext cx="562192" cy="888031"/>
            <a:chOff x="2400" y="1968"/>
            <a:chExt cx="960" cy="960"/>
          </a:xfrm>
        </p:grpSpPr>
        <p:sp>
          <p:nvSpPr>
            <p:cNvPr id="124" name="Rectangle 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5" name="Rectangle 1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4073" tIns="0" rIns="4073" bIns="0" anchor="ctr"/>
            <a:lstStyle/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dirty="0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디자인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dirty="0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패턴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26" name="Text 64"/>
          <p:cNvSpPr/>
          <p:nvPr/>
        </p:nvSpPr>
        <p:spPr>
          <a:xfrm>
            <a:off x="7898704" y="3912715"/>
            <a:ext cx="4253383" cy="110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(2-1)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자재 사양 정보 입력</a:t>
            </a:r>
            <a:endParaRPr lang="en-US" altLang="ko-KR" sz="1100" dirty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(2-2)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사이즈 스펙 정보 입력 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패턴실</a:t>
            </a:r>
            <a:r>
              <a:rPr lang="en-US" altLang="ko-KR" sz="11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(2-3)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작지 디자인 파일 등록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스케치 등 디자인 파일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127" name="순서도: 대체 처리 126"/>
          <p:cNvSpPr/>
          <p:nvPr/>
        </p:nvSpPr>
        <p:spPr>
          <a:xfrm>
            <a:off x="1558556" y="6338709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(1-7) 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작업지시서 결재</a:t>
            </a:r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수기</a:t>
            </a:r>
            <a:r>
              <a:rPr lang="en-US" altLang="ko-KR" sz="10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9" name="Text 64"/>
          <p:cNvSpPr/>
          <p:nvPr/>
        </p:nvSpPr>
        <p:spPr>
          <a:xfrm>
            <a:off x="7887727" y="5119662"/>
            <a:ext cx="4253383" cy="1768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(3-1)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제품정보 생성 후 </a:t>
            </a: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I/F,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파일넘버 매칭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(3-2)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사전원가 등록 및 결재 후 확정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(3-3)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입고 예정 정보 확인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(3-4/5)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자재 등록 및 생산 사전원가 도출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(3-6) </a:t>
            </a:r>
            <a:r>
              <a:rPr lang="ko-KR" altLang="en-US" sz="110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생산 사전원가 확정</a:t>
            </a:r>
            <a:endParaRPr lang="en-US" altLang="ko-KR" sz="11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0" name="Freeform 411">
            <a:extLst>
              <a:ext uri="{FF2B5EF4-FFF2-40B4-BE49-F238E27FC236}">
                <a16:creationId xmlns:a16="http://schemas.microsoft.com/office/drawing/2014/main" xmlns="" id="{2AE95623-D3BC-A1EB-7EF9-FC73378B8D04}"/>
              </a:ext>
            </a:extLst>
          </p:cNvPr>
          <p:cNvSpPr>
            <a:spLocks/>
          </p:cNvSpPr>
          <p:nvPr/>
        </p:nvSpPr>
        <p:spPr bwMode="auto">
          <a:xfrm rot="192115">
            <a:off x="3277987" y="6239273"/>
            <a:ext cx="132687" cy="137616"/>
          </a:xfrm>
          <a:custGeom>
            <a:avLst/>
            <a:gdLst/>
            <a:ahLst/>
            <a:cxnLst>
              <a:cxn ang="0">
                <a:pos x="0" y="374"/>
              </a:cxn>
              <a:cxn ang="0">
                <a:pos x="88" y="320"/>
              </a:cxn>
              <a:cxn ang="0">
                <a:pos x="122" y="340"/>
              </a:cxn>
              <a:cxn ang="0">
                <a:pos x="184" y="452"/>
              </a:cxn>
              <a:cxn ang="0">
                <a:pos x="278" y="316"/>
              </a:cxn>
              <a:cxn ang="0">
                <a:pos x="434" y="148"/>
              </a:cxn>
              <a:cxn ang="0">
                <a:pos x="534" y="60"/>
              </a:cxn>
              <a:cxn ang="0">
                <a:pos x="632" y="0"/>
              </a:cxn>
              <a:cxn ang="0">
                <a:pos x="648" y="26"/>
              </a:cxn>
              <a:cxn ang="0">
                <a:pos x="566" y="98"/>
              </a:cxn>
              <a:cxn ang="0">
                <a:pos x="448" y="230"/>
              </a:cxn>
              <a:cxn ang="0">
                <a:pos x="346" y="360"/>
              </a:cxn>
              <a:cxn ang="0">
                <a:pos x="234" y="554"/>
              </a:cxn>
              <a:cxn ang="0">
                <a:pos x="144" y="618"/>
              </a:cxn>
              <a:cxn ang="0">
                <a:pos x="82" y="466"/>
              </a:cxn>
              <a:cxn ang="0">
                <a:pos x="42" y="404"/>
              </a:cxn>
              <a:cxn ang="0">
                <a:pos x="0" y="374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rgbClr val="0000FF"/>
          </a:solid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ko-KR" altLang="en-US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772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84" y="1375423"/>
            <a:ext cx="7349985" cy="4551551"/>
          </a:xfrm>
          <a:prstGeom prst="rect">
            <a:avLst/>
          </a:prstGeom>
        </p:spPr>
      </p:pic>
      <p:sp>
        <p:nvSpPr>
          <p:cNvPr id="11" name="TextBox 16"/>
          <p:cNvSpPr txBox="1"/>
          <p:nvPr/>
        </p:nvSpPr>
        <p:spPr>
          <a:xfrm>
            <a:off x="341987" y="317610"/>
            <a:ext cx="3600000" cy="230832"/>
          </a:xfrm>
          <a:prstGeom prst="rect">
            <a:avLst/>
          </a:prstGeom>
        </p:spPr>
        <p:txBody>
          <a:bodyPr wrap="square" lIns="9000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차세대패션관리시스템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PJ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532983" y="1474738"/>
            <a:ext cx="4397432" cy="527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86105" y="2201787"/>
            <a:ext cx="41096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</a:t>
            </a:r>
            <a:r>
              <a:rPr lang="en-US" altLang="ko-KR" sz="14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 속성 분류 한계 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분석시 한계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4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;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카테고리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프로그램 등 기준 활용중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미사용 분류 기준 확인 필요 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품종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회계코드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/>
            </a:r>
            <a:b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800" kern="0" dirty="0" smtClean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 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TT case, Centric PLM 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연동 여부 확인 필요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339471" y="1791284"/>
            <a:ext cx="2644654" cy="307706"/>
          </a:xfrm>
          <a:prstGeom prst="rect">
            <a:avLst/>
          </a:prstGeom>
          <a:solidFill>
            <a:srgbClr val="004EA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 </a:t>
            </a:r>
            <a:r>
              <a:rPr lang="ko-KR" altLang="en-US" sz="1400" b="1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 사항 </a:t>
            </a:r>
            <a:r>
              <a:rPr lang="en-US" altLang="ko-KR" sz="14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686105" y="4374491"/>
            <a:ext cx="423251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 속성 분류 체계 재수립 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데이터 고도화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; AI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이미지 속성분류 → 핏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형태 등 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;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하이어라키 관리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Tab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분리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속성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 등 분류 값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	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불필요 분류항목 제거 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품종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회계코드 등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r>
              <a:rPr lang="en-US" altLang="ko-KR" sz="16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en-US" altLang="ko-KR" sz="12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; </a:t>
            </a:r>
            <a:r>
              <a:rPr lang="ko-KR" altLang="en-US" sz="1200" ker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인터뷰 내용 참조 → 공통 미사용 </a:t>
            </a:r>
            <a:r>
              <a:rPr lang="ko-KR" altLang="en-US" sz="1200" ker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컬럼값 </a:t>
            </a:r>
            <a:r>
              <a:rPr lang="ko-KR" altLang="en-US" sz="12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제거</a:t>
            </a:r>
            <a:r>
              <a:rPr lang="en-US" altLang="ko-KR" sz="12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(DB</a:t>
            </a:r>
            <a:r>
              <a:rPr lang="ko-KR" altLang="en-US" sz="12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연관 분석 必</a:t>
            </a:r>
            <a:r>
              <a:rPr lang="en-US" altLang="ko-KR" sz="12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endParaRPr lang="en-US" altLang="ko-KR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 </a:t>
            </a:r>
            <a:r>
              <a:rPr lang="en-US" altLang="ko-KR" sz="14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Centric PLM 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연동 기준 마련</a:t>
            </a:r>
            <a:endParaRPr lang="en-US" altLang="ko-KR" sz="1400" kern="0" dirty="0" smtClean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800" kern="0" dirty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④ 컬러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사이즈 정보 정비</a:t>
            </a:r>
            <a:endParaRPr lang="en-US" altLang="ko-KR" sz="1400" kern="0" dirty="0" smtClean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;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컬러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미사용 컬러 정리 → 컬러추가 관리 주체 변경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現 기획실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;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사이즈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사이즈 기준정보 단일화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브랜드별 기준 상이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200" kern="0" dirty="0" smtClean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200" kern="0" dirty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/>
            </a:r>
            <a:b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800" kern="0" dirty="0" smtClean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339470" y="3972929"/>
            <a:ext cx="2644654" cy="307706"/>
          </a:xfrm>
          <a:prstGeom prst="rect">
            <a:avLst/>
          </a:prstGeom>
          <a:solidFill>
            <a:srgbClr val="004EA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 </a:t>
            </a:r>
            <a:r>
              <a:rPr lang="ko-KR" altLang="en-US" sz="1400" b="1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 사항 </a:t>
            </a:r>
            <a:r>
              <a:rPr lang="en-US" altLang="ko-KR" sz="14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028994" y="1305461"/>
            <a:ext cx="3265607" cy="3385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lvl="0" algn="ctr"/>
            <a:r>
              <a:rPr lang="ko-KR" altLang="en-US" sz="1600" b="1" dirty="0" smtClean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 및 제안 </a:t>
            </a:r>
            <a:r>
              <a:rPr lang="ko-KR" altLang="en-US" sz="1600" b="1" dirty="0" err="1" smtClean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사황</a:t>
            </a:r>
            <a:endParaRPr lang="en-US" altLang="ko-KR" sz="1200" b="1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868113" y="3573411"/>
            <a:ext cx="3514832" cy="288032"/>
            <a:chOff x="7868113" y="3939169"/>
            <a:chExt cx="3514832" cy="288032"/>
          </a:xfrm>
        </p:grpSpPr>
        <p:cxnSp>
          <p:nvCxnSpPr>
            <p:cNvPr id="59" name="직선 연결선 58"/>
            <p:cNvCxnSpPr/>
            <p:nvPr/>
          </p:nvCxnSpPr>
          <p:spPr>
            <a:xfrm flipH="1">
              <a:off x="7868113" y="4083185"/>
              <a:ext cx="1119951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4" name="그룹 63"/>
            <p:cNvGrpSpPr/>
            <p:nvPr/>
          </p:nvGrpSpPr>
          <p:grpSpPr>
            <a:xfrm>
              <a:off x="9217128" y="3939169"/>
              <a:ext cx="816802" cy="288032"/>
              <a:chOff x="3876634" y="2629058"/>
              <a:chExt cx="816802" cy="288032"/>
            </a:xfrm>
          </p:grpSpPr>
          <p:cxnSp>
            <p:nvCxnSpPr>
              <p:cNvPr id="65" name="직선 화살표 연결선 64"/>
              <p:cNvCxnSpPr/>
              <p:nvPr/>
            </p:nvCxnSpPr>
            <p:spPr>
              <a:xfrm>
                <a:off x="3876634" y="2629058"/>
                <a:ext cx="0" cy="2880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화살표 연결선 65"/>
              <p:cNvCxnSpPr/>
              <p:nvPr/>
            </p:nvCxnSpPr>
            <p:spPr>
              <a:xfrm>
                <a:off x="4148901" y="2629058"/>
                <a:ext cx="0" cy="2880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화살표 연결선 66"/>
              <p:cNvCxnSpPr/>
              <p:nvPr/>
            </p:nvCxnSpPr>
            <p:spPr>
              <a:xfrm>
                <a:off x="4421168" y="2629058"/>
                <a:ext cx="0" cy="2880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화살표 연결선 67"/>
              <p:cNvCxnSpPr/>
              <p:nvPr/>
            </p:nvCxnSpPr>
            <p:spPr>
              <a:xfrm>
                <a:off x="4693436" y="2629058"/>
                <a:ext cx="0" cy="2880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직선 연결선 68"/>
            <p:cNvCxnSpPr/>
            <p:nvPr/>
          </p:nvCxnSpPr>
          <p:spPr>
            <a:xfrm flipH="1">
              <a:off x="10262994" y="4083185"/>
              <a:ext cx="1119951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Title 13"/>
          <p:cNvSpPr txBox="1">
            <a:spLocks/>
          </p:cNvSpPr>
          <p:nvPr/>
        </p:nvSpPr>
        <p:spPr>
          <a:xfrm>
            <a:off x="341987" y="561174"/>
            <a:ext cx="10820658" cy="54884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ko-KR" altLang="en-US" sz="2999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상품코드 등록 프로세스 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b="1" spc="-30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화면명  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</a:t>
            </a:r>
            <a:r>
              <a:rPr lang="ko-KR" altLang="en-US" sz="2000" b="1" spc="-30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작업지시등록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2000" b="1" spc="-3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4883" y="1791284"/>
            <a:ext cx="7349985" cy="2140636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83" y="4022446"/>
            <a:ext cx="4072415" cy="181400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403" y="5102368"/>
            <a:ext cx="5687658" cy="1593095"/>
          </a:xfrm>
          <a:prstGeom prst="rect">
            <a:avLst/>
          </a:prstGeom>
        </p:spPr>
      </p:pic>
      <p:sp>
        <p:nvSpPr>
          <p:cNvPr id="24" name="Freeform 411">
            <a:extLst>
              <a:ext uri="{FF2B5EF4-FFF2-40B4-BE49-F238E27FC236}">
                <a16:creationId xmlns:a16="http://schemas.microsoft.com/office/drawing/2014/main" xmlns="" id="{2AE95623-D3BC-A1EB-7EF9-FC73378B8D04}"/>
              </a:ext>
            </a:extLst>
          </p:cNvPr>
          <p:cNvSpPr>
            <a:spLocks/>
          </p:cNvSpPr>
          <p:nvPr/>
        </p:nvSpPr>
        <p:spPr bwMode="auto">
          <a:xfrm rot="192115">
            <a:off x="10211447" y="3957310"/>
            <a:ext cx="213695" cy="243797"/>
          </a:xfrm>
          <a:custGeom>
            <a:avLst/>
            <a:gdLst/>
            <a:ahLst/>
            <a:cxnLst>
              <a:cxn ang="0">
                <a:pos x="0" y="374"/>
              </a:cxn>
              <a:cxn ang="0">
                <a:pos x="88" y="320"/>
              </a:cxn>
              <a:cxn ang="0">
                <a:pos x="122" y="340"/>
              </a:cxn>
              <a:cxn ang="0">
                <a:pos x="184" y="452"/>
              </a:cxn>
              <a:cxn ang="0">
                <a:pos x="278" y="316"/>
              </a:cxn>
              <a:cxn ang="0">
                <a:pos x="434" y="148"/>
              </a:cxn>
              <a:cxn ang="0">
                <a:pos x="534" y="60"/>
              </a:cxn>
              <a:cxn ang="0">
                <a:pos x="632" y="0"/>
              </a:cxn>
              <a:cxn ang="0">
                <a:pos x="648" y="26"/>
              </a:cxn>
              <a:cxn ang="0">
                <a:pos x="566" y="98"/>
              </a:cxn>
              <a:cxn ang="0">
                <a:pos x="448" y="230"/>
              </a:cxn>
              <a:cxn ang="0">
                <a:pos x="346" y="360"/>
              </a:cxn>
              <a:cxn ang="0">
                <a:pos x="234" y="554"/>
              </a:cxn>
              <a:cxn ang="0">
                <a:pos x="144" y="618"/>
              </a:cxn>
              <a:cxn ang="0">
                <a:pos x="82" y="466"/>
              </a:cxn>
              <a:cxn ang="0">
                <a:pos x="42" y="404"/>
              </a:cxn>
              <a:cxn ang="0">
                <a:pos x="0" y="374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ko-KR" altLang="en-US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735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8309</TotalTime>
  <Words>352</Words>
  <Application>Microsoft Office PowerPoint</Application>
  <PresentationFormat>와이드스크린</PresentationFormat>
  <Paragraphs>73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G마켓 산스 TTF Medium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최배근</cp:lastModifiedBy>
  <cp:revision>585</cp:revision>
  <cp:lastPrinted>2026-05-18T08:02:41Z</cp:lastPrinted>
  <dcterms:created xsi:type="dcterms:W3CDTF">2025-01-22T01:18:03Z</dcterms:created>
  <dcterms:modified xsi:type="dcterms:W3CDTF">2026-06-18T06:16:30Z</dcterms:modified>
</cp:coreProperties>
</file>