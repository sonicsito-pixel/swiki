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30" r:id="rId2"/>
    <p:sldId id="433" r:id="rId3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EDEDED"/>
    <a:srgbClr val="0000FF"/>
    <a:srgbClr val="004EA2"/>
    <a:srgbClr val="FF6600"/>
    <a:srgbClr val="7F7F7F"/>
    <a:srgbClr val="1B48AB"/>
    <a:srgbClr val="018462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7869A-E7D9-48C4-9B01-4A147657009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3E34A-40A8-4430-B8A2-0749DA68DC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65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586A8-C854-4500-AC4C-98EBD9FBD27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E6-3C01-4B76-91D6-3F92549649F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AutoShape 27"/>
          <p:cNvSpPr/>
          <p:nvPr userDrawn="1"/>
        </p:nvSpPr>
        <p:spPr>
          <a:xfrm>
            <a:off x="0" y="6564384"/>
            <a:ext cx="12192000" cy="0"/>
          </a:xfrm>
          <a:prstGeom prst="line">
            <a:avLst/>
          </a:prstGeom>
          <a:ln w="19050" cap="flat">
            <a:solidFill>
              <a:srgbClr val="004EA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63818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586A8-C854-4500-AC4C-98EBD9FBD27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2D4E6-3C01-4B76-91D6-3F92549649F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11992744" y="0"/>
            <a:ext cx="206355" cy="6858000"/>
          </a:xfrm>
          <a:prstGeom prst="rect">
            <a:avLst/>
          </a:prstGeom>
          <a:solidFill>
            <a:srgbClr val="004E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AutoShape 27"/>
          <p:cNvSpPr/>
          <p:nvPr userDrawn="1"/>
        </p:nvSpPr>
        <p:spPr>
          <a:xfrm>
            <a:off x="422911" y="1102475"/>
            <a:ext cx="11146922" cy="0"/>
          </a:xfrm>
          <a:prstGeom prst="line">
            <a:avLst/>
          </a:prstGeom>
          <a:ln w="19050" cap="flat">
            <a:solidFill>
              <a:srgbClr val="004EA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4532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586A8-C854-4500-AC4C-98EBD9FBD270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2D4E6-3C01-4B76-91D6-3F92549649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3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직사각형 140"/>
          <p:cNvSpPr/>
          <p:nvPr/>
        </p:nvSpPr>
        <p:spPr>
          <a:xfrm>
            <a:off x="7563803" y="3266348"/>
            <a:ext cx="4161263" cy="34752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563803" y="1532437"/>
            <a:ext cx="4161263" cy="1501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itle 13"/>
          <p:cNvSpPr txBox="1">
            <a:spLocks/>
          </p:cNvSpPr>
          <p:nvPr/>
        </p:nvSpPr>
        <p:spPr>
          <a:xfrm>
            <a:off x="341987" y="561174"/>
            <a:ext cx="10820658" cy="54884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ko-KR" altLang="en-US" sz="2999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매장코드 등록 프로세스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화면명 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매장정보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b="1" spc="-3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6"/>
          <p:cNvSpPr txBox="1"/>
          <p:nvPr/>
        </p:nvSpPr>
        <p:spPr>
          <a:xfrm>
            <a:off x="341987" y="317610"/>
            <a:ext cx="3600000" cy="230832"/>
          </a:xfrm>
          <a:prstGeom prst="rect">
            <a:avLst/>
          </a:prstGeom>
        </p:spPr>
        <p:txBody>
          <a:bodyPr wrap="square" lIns="9000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차세대패션관리시스템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PJ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Rectangle 55"/>
          <p:cNvSpPr>
            <a:spLocks noChangeArrowheads="1"/>
          </p:cNvSpPr>
          <p:nvPr>
            <p:custDataLst>
              <p:tags r:id="rId1"/>
            </p:custDataLst>
          </p:nvPr>
        </p:nvSpPr>
        <p:spPr bwMode="blackWhite">
          <a:xfrm>
            <a:off x="234403" y="1305500"/>
            <a:ext cx="2104902" cy="360930"/>
          </a:xfrm>
          <a:prstGeom prst="rect">
            <a:avLst/>
          </a:prstGeom>
          <a:solidFill>
            <a:srgbClr val="004EA2"/>
          </a:solidFill>
          <a:ln w="12700">
            <a:solidFill>
              <a:srgbClr val="004EA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938213" latinLnBrk="0">
              <a:buSzPct val="120000"/>
              <a:defRPr/>
            </a:pPr>
            <a:r>
              <a:rPr lang="ko-KR" altLang="en-US" sz="1400" b="1" kern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브랜드운영팀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b="1" kern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영업팀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zh-CN" sz="1400" b="1" kern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Rectangle 55"/>
          <p:cNvSpPr>
            <a:spLocks noChangeArrowheads="1"/>
          </p:cNvSpPr>
          <p:nvPr>
            <p:custDataLst>
              <p:tags r:id="rId2"/>
            </p:custDataLst>
          </p:nvPr>
        </p:nvSpPr>
        <p:spPr bwMode="blackWhite">
          <a:xfrm>
            <a:off x="2482566" y="1305500"/>
            <a:ext cx="2104902" cy="360930"/>
          </a:xfrm>
          <a:prstGeom prst="rect">
            <a:avLst/>
          </a:prstGeom>
          <a:solidFill>
            <a:srgbClr val="004EA2"/>
          </a:solidFill>
          <a:ln w="12700">
            <a:solidFill>
              <a:srgbClr val="004EA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938213" latinLnBrk="0">
              <a:buSzPct val="120000"/>
              <a:defRPr/>
            </a:pPr>
            <a:r>
              <a:rPr lang="ko-KR" altLang="en-US" sz="1400" b="1" kern="0" dirty="0" err="1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영업관리팀</a:t>
            </a:r>
            <a:endParaRPr lang="en-US" altLang="zh-CN" sz="1400" b="1" kern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Rectangle 55"/>
          <p:cNvSpPr>
            <a:spLocks noChangeArrowheads="1"/>
          </p:cNvSpPr>
          <p:nvPr>
            <p:custDataLst>
              <p:tags r:id="rId3"/>
            </p:custDataLst>
          </p:nvPr>
        </p:nvSpPr>
        <p:spPr bwMode="blackWhite">
          <a:xfrm>
            <a:off x="4730729" y="1305500"/>
            <a:ext cx="2104902" cy="360930"/>
          </a:xfrm>
          <a:prstGeom prst="rect">
            <a:avLst/>
          </a:prstGeom>
          <a:solidFill>
            <a:srgbClr val="004EA2"/>
          </a:solidFill>
          <a:ln w="12700">
            <a:solidFill>
              <a:srgbClr val="004EA2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defTabSz="938213" latinLnBrk="0">
              <a:buSzPct val="120000"/>
              <a:defRPr/>
            </a:pPr>
            <a:r>
              <a:rPr lang="ko-KR" altLang="en-US" sz="1400" b="1" kern="0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브랜드기획팀</a:t>
            </a:r>
            <a:endParaRPr lang="en-US" altLang="zh-CN" sz="1400" b="1" kern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순서도: 대체 처리 46"/>
          <p:cNvSpPr/>
          <p:nvPr/>
        </p:nvSpPr>
        <p:spPr>
          <a:xfrm>
            <a:off x="409845" y="2050974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(1-1)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매장코드 </a:t>
            </a:r>
            <a:r>
              <a:rPr lang="ko-KR" altLang="en-US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등록요청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1258000" y="2383704"/>
            <a:ext cx="0" cy="3384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순서도: 대체 처리 53"/>
          <p:cNvSpPr/>
          <p:nvPr/>
        </p:nvSpPr>
        <p:spPr>
          <a:xfrm>
            <a:off x="409845" y="2746048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(1-2) B/W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오픈기안 상신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순서도: 문서 60"/>
          <p:cNvSpPr/>
          <p:nvPr/>
        </p:nvSpPr>
        <p:spPr>
          <a:xfrm>
            <a:off x="3070933" y="4049890"/>
            <a:ext cx="805239" cy="33273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직영점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74" name="직선 화살표 연결선 73"/>
          <p:cNvCxnSpPr/>
          <p:nvPr/>
        </p:nvCxnSpPr>
        <p:spPr>
          <a:xfrm>
            <a:off x="2134083" y="2914654"/>
            <a:ext cx="441513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20239722-E7FC-48F5-D367-D1C43D99FD4F}"/>
              </a:ext>
            </a:extLst>
          </p:cNvPr>
          <p:cNvSpPr txBox="1"/>
          <p:nvPr/>
        </p:nvSpPr>
        <p:spPr>
          <a:xfrm>
            <a:off x="3505690" y="4382620"/>
            <a:ext cx="42801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defTabSz="914217">
              <a:lnSpc>
                <a:spcPct val="130000"/>
              </a:lnSpc>
              <a:defRPr/>
            </a:pPr>
            <a:r>
              <a:rPr lang="en-US" altLang="ko-KR" sz="10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YES</a:t>
            </a:r>
            <a:endParaRPr lang="en-US" altLang="ko-KR" sz="1000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3" name="꺾인 연결선 82"/>
          <p:cNvCxnSpPr/>
          <p:nvPr/>
        </p:nvCxnSpPr>
        <p:spPr>
          <a:xfrm rot="5400000">
            <a:off x="3868200" y="4720485"/>
            <a:ext cx="1402674" cy="300585"/>
          </a:xfrm>
          <a:prstGeom prst="bentConnector3">
            <a:avLst>
              <a:gd name="adj1" fmla="val 99781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순서도: 대체 처리 86"/>
          <p:cNvSpPr/>
          <p:nvPr/>
        </p:nvSpPr>
        <p:spPr>
          <a:xfrm>
            <a:off x="2633898" y="2746048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(2-1)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기본정보 등록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3482053" y="3094164"/>
            <a:ext cx="0" cy="307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순서도: 대체 처리 89"/>
          <p:cNvSpPr/>
          <p:nvPr/>
        </p:nvSpPr>
        <p:spPr>
          <a:xfrm>
            <a:off x="2633898" y="3391985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(2-2)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브랜드 정보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>
            <a:off x="3477654" y="3724715"/>
            <a:ext cx="0" cy="307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>
            <a:off x="3469350" y="4382620"/>
            <a:ext cx="0" cy="307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순서도: 대체 처리 103"/>
          <p:cNvSpPr/>
          <p:nvPr/>
        </p:nvSpPr>
        <p:spPr>
          <a:xfrm>
            <a:off x="2633898" y="4715350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(2-3)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단말기 정보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6" name="직선 화살표 연결선 105"/>
          <p:cNvCxnSpPr/>
          <p:nvPr/>
        </p:nvCxnSpPr>
        <p:spPr>
          <a:xfrm>
            <a:off x="3469350" y="5073019"/>
            <a:ext cx="0" cy="307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순서도: 대체 처리 106"/>
          <p:cNvSpPr/>
          <p:nvPr/>
        </p:nvSpPr>
        <p:spPr>
          <a:xfrm>
            <a:off x="2633898" y="5405749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(2-4)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상세 정보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8" name="직선 화살표 연결선 107"/>
          <p:cNvCxnSpPr/>
          <p:nvPr/>
        </p:nvCxnSpPr>
        <p:spPr>
          <a:xfrm>
            <a:off x="3469350" y="5763418"/>
            <a:ext cx="0" cy="307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순서도: 대체 처리 108"/>
          <p:cNvSpPr/>
          <p:nvPr/>
        </p:nvSpPr>
        <p:spPr>
          <a:xfrm>
            <a:off x="2633898" y="6096148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(2-5)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기타 정보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20239722-E7FC-48F5-D367-D1C43D99FD4F}"/>
              </a:ext>
            </a:extLst>
          </p:cNvPr>
          <p:cNvSpPr txBox="1"/>
          <p:nvPr/>
        </p:nvSpPr>
        <p:spPr>
          <a:xfrm>
            <a:off x="3979862" y="4069413"/>
            <a:ext cx="428011" cy="180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defTabSz="914217">
              <a:lnSpc>
                <a:spcPct val="130000"/>
              </a:lnSpc>
              <a:defRPr/>
            </a:pPr>
            <a:r>
              <a:rPr lang="en-US" altLang="ko-KR" sz="10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</a:t>
            </a:r>
            <a:endParaRPr lang="en-US" altLang="ko-KR" sz="1000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flipV="1">
            <a:off x="4237384" y="4169440"/>
            <a:ext cx="476655" cy="1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순서도: 대체 처리 110"/>
          <p:cNvSpPr/>
          <p:nvPr/>
        </p:nvSpPr>
        <p:spPr>
          <a:xfrm>
            <a:off x="4952325" y="2717805"/>
            <a:ext cx="1687514" cy="332730"/>
          </a:xfrm>
          <a:prstGeom prst="flowChartAlternateProcess">
            <a:avLst/>
          </a:prstGeom>
          <a:solidFill>
            <a:srgbClr val="EDED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 담당자 등록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12" name="직선 화살표 연결선 111"/>
          <p:cNvCxnSpPr/>
          <p:nvPr/>
        </p:nvCxnSpPr>
        <p:spPr>
          <a:xfrm flipH="1" flipV="1">
            <a:off x="4397035" y="2910485"/>
            <a:ext cx="476573" cy="192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순서도: 대체 처리 112"/>
          <p:cNvSpPr/>
          <p:nvPr/>
        </p:nvSpPr>
        <p:spPr>
          <a:xfrm>
            <a:off x="409845" y="5408072"/>
            <a:ext cx="1687514" cy="33273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(3-1) </a:t>
            </a:r>
            <a:r>
              <a:rPr lang="ko-KR" altLang="en-US" sz="1100" smtClean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단말기 납품 세팅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14" name="직선 화살표 연결선 113"/>
          <p:cNvCxnSpPr/>
          <p:nvPr/>
        </p:nvCxnSpPr>
        <p:spPr>
          <a:xfrm>
            <a:off x="2134084" y="5572114"/>
            <a:ext cx="441513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8028994" y="1305461"/>
            <a:ext cx="3265607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lvl="0" algn="ctr"/>
            <a:r>
              <a:rPr lang="ko-KR" altLang="en-US" sz="1600" b="1" dirty="0" smtClean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프로세스 현황</a:t>
            </a:r>
            <a:endParaRPr lang="en-US" altLang="ko-KR" sz="1200" b="1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Text 64"/>
          <p:cNvSpPr/>
          <p:nvPr/>
        </p:nvSpPr>
        <p:spPr>
          <a:xfrm>
            <a:off x="7863417" y="3202663"/>
            <a:ext cx="4253383" cy="39994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altLang="ko-KR" sz="1200" dirty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2-1)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기본정보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2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거래선</a:t>
            </a:r>
            <a:r>
              <a:rPr 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등록된 </a:t>
            </a:r>
            <a:r>
              <a:rPr 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사업자</a:t>
            </a:r>
            <a:r>
              <a: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번호</a:t>
            </a:r>
            <a:r>
              <a:rPr 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</a:t>
            </a:r>
            <a:r>
              <a:rPr 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</a:t>
            </a:r>
            <a:r>
              <a:rPr 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r>
              <a: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최초</a:t>
            </a:r>
            <a:r>
              <a:rPr lang="en-US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세팅</a:t>
            </a:r>
            <a:r>
              <a: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기본정보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기입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2-2)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endParaRPr lang="en-US" altLang="ko-KR" sz="12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취급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2-4)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상세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endParaRPr lang="en-US" altLang="ko-KR" sz="12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유통망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분류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형태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매장등급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구분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계약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관계에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</a:t>
            </a:r>
            <a:endParaRPr lang="en-US" altLang="ko-KR" sz="12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 smtClean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(2-5)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기타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사항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</a:t>
            </a:r>
            <a:endParaRPr lang="en-US" altLang="ko-KR" sz="12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근태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관련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GPS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4" name="Text 64"/>
          <p:cNvSpPr/>
          <p:nvPr/>
        </p:nvSpPr>
        <p:spPr>
          <a:xfrm>
            <a:off x="7864908" y="1839457"/>
            <a:ext cx="4253383" cy="1060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(1-1) </a:t>
            </a:r>
            <a:r>
              <a:rPr lang="en-US" altLang="ko-KR" sz="1200" dirty="0" err="1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신규</a:t>
            </a:r>
            <a:r>
              <a:rPr lang="en-US" altLang="ko-KR" sz="1200" dirty="0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등록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B/W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전자결재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 smtClean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상신</a:t>
            </a:r>
            <a:endParaRPr lang="en-US" altLang="ko-KR" sz="1200" dirty="0" smtClean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>
              <a:solidFill>
                <a:srgbClr val="1F386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(2-3)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단말기</a:t>
            </a:r>
            <a:r>
              <a:rPr lang="en-US" altLang="ko-KR" sz="1200" dirty="0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1F386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</a:p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 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직영점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대리점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유통 →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단말기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기입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xmlns="" id="{20239722-E7FC-48F5-D367-D1C43D99FD4F}"/>
              </a:ext>
            </a:extLst>
          </p:cNvPr>
          <p:cNvSpPr txBox="1"/>
          <p:nvPr/>
        </p:nvSpPr>
        <p:spPr>
          <a:xfrm>
            <a:off x="799762" y="3102636"/>
            <a:ext cx="1336523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defTabSz="914217">
              <a:lnSpc>
                <a:spcPct val="130000"/>
              </a:lnSpc>
              <a:defRPr/>
            </a:pPr>
            <a:r>
              <a:rPr lang="en-US" altLang="ko-KR" sz="10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G/W </a:t>
            </a:r>
            <a:r>
              <a:rPr lang="ko-KR" altLang="en-US" sz="1000" kern="0" smtClean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전자결재 연동</a:t>
            </a:r>
            <a:endParaRPr lang="en-US" altLang="ko-KR" sz="1000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38" name="Group 8"/>
          <p:cNvGrpSpPr>
            <a:grpSpLocks/>
          </p:cNvGrpSpPr>
          <p:nvPr/>
        </p:nvGrpSpPr>
        <p:grpSpPr bwMode="auto">
          <a:xfrm>
            <a:off x="7182183" y="1762442"/>
            <a:ext cx="562192" cy="936000"/>
            <a:chOff x="2400" y="1968"/>
            <a:chExt cx="960" cy="960"/>
          </a:xfrm>
        </p:grpSpPr>
        <p:sp>
          <p:nvSpPr>
            <p:cNvPr id="139" name="Rectangle 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0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4073" tIns="0" rIns="4073" bIns="0" anchor="ctr"/>
            <a:lstStyle/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dirty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브랜드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운영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42" name="Group 8"/>
          <p:cNvGrpSpPr>
            <a:grpSpLocks/>
          </p:cNvGrpSpPr>
          <p:nvPr/>
        </p:nvGrpSpPr>
        <p:grpSpPr bwMode="auto">
          <a:xfrm>
            <a:off x="7182183" y="3456073"/>
            <a:ext cx="562192" cy="2972805"/>
            <a:chOff x="2400" y="1968"/>
            <a:chExt cx="960" cy="960"/>
          </a:xfrm>
        </p:grpSpPr>
        <p:sp>
          <p:nvSpPr>
            <p:cNvPr id="143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400" y="1968"/>
              <a:ext cx="960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4" name="Rectangle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White">
            <a:xfrm>
              <a:off x="2440" y="2008"/>
              <a:ext cx="880" cy="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4073" tIns="0" rIns="4073" bIns="0" anchor="ctr"/>
            <a:lstStyle/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영업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57263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lang="ko-KR" altLang="en-US" sz="1200" b="1" kern="0" smtClean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관리</a:t>
              </a:r>
              <a:endParaRPr lang="en-US" altLang="ko-KR" sz="1200" b="1" kern="0" dirty="0" smtClean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145" name="직선 연결선 144"/>
          <p:cNvCxnSpPr/>
          <p:nvPr/>
        </p:nvCxnSpPr>
        <p:spPr>
          <a:xfrm flipH="1" flipV="1">
            <a:off x="7025550" y="1299122"/>
            <a:ext cx="2303" cy="540719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Freeform 411">
            <a:extLst>
              <a:ext uri="{FF2B5EF4-FFF2-40B4-BE49-F238E27FC236}">
                <a16:creationId xmlns:a16="http://schemas.microsoft.com/office/drawing/2014/main" xmlns="" id="{2AE95623-D3BC-A1EB-7EF9-FC73378B8D04}"/>
              </a:ext>
            </a:extLst>
          </p:cNvPr>
          <p:cNvSpPr>
            <a:spLocks/>
          </p:cNvSpPr>
          <p:nvPr/>
        </p:nvSpPr>
        <p:spPr bwMode="auto">
          <a:xfrm rot="192115">
            <a:off x="7584524" y="4574137"/>
            <a:ext cx="132687" cy="137616"/>
          </a:xfrm>
          <a:custGeom>
            <a:avLst/>
            <a:gdLst/>
            <a:ahLst/>
            <a:cxnLst>
              <a:cxn ang="0">
                <a:pos x="0" y="374"/>
              </a:cxn>
              <a:cxn ang="0">
                <a:pos x="88" y="320"/>
              </a:cxn>
              <a:cxn ang="0">
                <a:pos x="122" y="340"/>
              </a:cxn>
              <a:cxn ang="0">
                <a:pos x="184" y="452"/>
              </a:cxn>
              <a:cxn ang="0">
                <a:pos x="278" y="316"/>
              </a:cxn>
              <a:cxn ang="0">
                <a:pos x="434" y="148"/>
              </a:cxn>
              <a:cxn ang="0">
                <a:pos x="534" y="60"/>
              </a:cxn>
              <a:cxn ang="0">
                <a:pos x="632" y="0"/>
              </a:cxn>
              <a:cxn ang="0">
                <a:pos x="648" y="26"/>
              </a:cxn>
              <a:cxn ang="0">
                <a:pos x="566" y="98"/>
              </a:cxn>
              <a:cxn ang="0">
                <a:pos x="448" y="230"/>
              </a:cxn>
              <a:cxn ang="0">
                <a:pos x="346" y="360"/>
              </a:cxn>
              <a:cxn ang="0">
                <a:pos x="234" y="554"/>
              </a:cxn>
              <a:cxn ang="0">
                <a:pos x="144" y="618"/>
              </a:cxn>
              <a:cxn ang="0">
                <a:pos x="82" y="466"/>
              </a:cxn>
              <a:cxn ang="0">
                <a:pos x="42" y="404"/>
              </a:cxn>
              <a:cxn ang="0">
                <a:pos x="0" y="374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rgbClr val="0000FF"/>
          </a:soli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ko-KR" altLang="en-US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831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6"/>
          <p:cNvSpPr txBox="1"/>
          <p:nvPr/>
        </p:nvSpPr>
        <p:spPr>
          <a:xfrm>
            <a:off x="341987" y="317610"/>
            <a:ext cx="3600000" cy="230832"/>
          </a:xfrm>
          <a:prstGeom prst="rect">
            <a:avLst/>
          </a:prstGeom>
        </p:spPr>
        <p:txBody>
          <a:bodyPr wrap="square" lIns="9000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차세대패션관리시스템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PJ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23" y="1122751"/>
            <a:ext cx="6842107" cy="5667768"/>
          </a:xfrm>
          <a:prstGeom prst="rect">
            <a:avLst/>
          </a:prstGeom>
        </p:spPr>
      </p:pic>
      <p:sp>
        <p:nvSpPr>
          <p:cNvPr id="36" name="직사각형 35"/>
          <p:cNvSpPr/>
          <p:nvPr/>
        </p:nvSpPr>
        <p:spPr>
          <a:xfrm>
            <a:off x="438823" y="1366959"/>
            <a:ext cx="5288646" cy="190825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38823" y="3287946"/>
            <a:ext cx="5288646" cy="1159363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38823" y="4460042"/>
            <a:ext cx="5288646" cy="1014116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532983" y="1474738"/>
            <a:ext cx="4397432" cy="527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86105" y="2309856"/>
            <a:ext cx="41096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</a:t>
            </a:r>
            <a:r>
              <a:rPr lang="en-US" altLang="ko-KR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정보 영업관리팀 수기 등록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endParaRPr lang="en-US" altLang="ko-KR" sz="14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;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실질 관리데이터 혼재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영업관리팀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영업팀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</a:t>
            </a:r>
            <a:r>
              <a:rPr lang="en-US" altLang="ko-KR" sz="14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많은 매장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분류 기준 정보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/>
            </a:r>
            <a:b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8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혼재된 정보 변경 </a:t>
            </a:r>
            <a:r>
              <a:rPr lang="ko-KR" altLang="en-US" sz="1400" kern="0" dirty="0" err="1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히스토리</a:t>
            </a:r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관리 미흡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39471" y="1791284"/>
            <a:ext cx="2644654" cy="307706"/>
          </a:xfrm>
          <a:prstGeom prst="rect">
            <a:avLst/>
          </a:prstGeom>
          <a:solidFill>
            <a:srgbClr val="004EA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 </a:t>
            </a:r>
            <a:r>
              <a:rPr lang="ko-KR" altLang="en-US" sz="1400" b="1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사항 </a:t>
            </a:r>
            <a:r>
              <a:rPr lang="en-US" altLang="ko-KR" sz="14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676871" y="4885057"/>
            <a:ext cx="425354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기능별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Tab 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권한 분리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영업관리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 </a:t>
            </a:r>
            <a:r>
              <a:rPr lang="ko-KR" altLang="en-US" sz="14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권한 분리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;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기초 정보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영업관리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상세 정보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브랜드기획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각 팀별 정보 변경 히스토리 관리 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 데이터 추적 등</a:t>
            </a:r>
            <a:r>
              <a:rPr lang="en-US" altLang="ko-KR" sz="1200" dirty="0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800" dirty="0" smtClean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불필요 분류항목 제거</a:t>
            </a:r>
            <a:endParaRPr lang="en-US" altLang="ko-KR" sz="14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;</a:t>
            </a:r>
            <a:r>
              <a:rPr lang="en-US" altLang="ko-KR" sz="12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kern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인터뷰 내용 참조 → 공통 미사용 컬럼값 제거</a:t>
            </a:r>
            <a:r>
              <a:rPr lang="en-US" altLang="ko-KR" sz="12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(DB</a:t>
            </a:r>
            <a:r>
              <a:rPr lang="ko-KR" altLang="en-US" sz="1200" ker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연관 분석 </a:t>
            </a:r>
            <a:r>
              <a:rPr lang="ko-KR" altLang="en-US" sz="1200" ker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必</a:t>
            </a:r>
            <a:r>
              <a:rPr lang="en-US" altLang="ko-KR" sz="12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/>
            </a:r>
            <a:br>
              <a:rPr lang="en-US" altLang="ko-KR" sz="1400" kern="0" dirty="0" smtClean="0">
                <a:ln>
                  <a:solidFill>
                    <a:srgbClr val="FFFFFF">
                      <a:alpha val="0"/>
                    </a:srgbClr>
                  </a:solidFill>
                </a:ln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endParaRPr lang="en-US" altLang="ko-KR" sz="800" kern="0" dirty="0" smtClean="0">
              <a:ln>
                <a:solidFill>
                  <a:srgbClr val="FFFFFF">
                    <a:alpha val="0"/>
                  </a:srgbClr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339471" y="4367904"/>
            <a:ext cx="2644654" cy="307706"/>
          </a:xfrm>
          <a:prstGeom prst="rect">
            <a:avLst/>
          </a:prstGeom>
          <a:solidFill>
            <a:srgbClr val="004EA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 </a:t>
            </a:r>
            <a:r>
              <a:rPr lang="ko-KR" altLang="en-US" sz="1400" b="1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 사항 </a:t>
            </a:r>
            <a:r>
              <a:rPr lang="en-US" altLang="ko-KR" sz="1400" b="1" dirty="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</a:t>
            </a:r>
            <a:endParaRPr lang="ko-KR" altLang="en-US" sz="11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028994" y="1305461"/>
            <a:ext cx="3265607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lvl="0" algn="ctr"/>
            <a:r>
              <a:rPr lang="ko-KR" altLang="en-US" sz="1600" b="1" dirty="0" smtClean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 및 제안 </a:t>
            </a:r>
            <a:r>
              <a:rPr lang="ko-KR" altLang="en-US" sz="1600" b="1" dirty="0" err="1" smtClean="0">
                <a:solidFill>
                  <a:prstClr val="whit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사황</a:t>
            </a:r>
            <a:endParaRPr lang="en-US" altLang="ko-KR" sz="1200" b="1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868113" y="3714726"/>
            <a:ext cx="3514832" cy="288032"/>
            <a:chOff x="7868113" y="3939169"/>
            <a:chExt cx="3514832" cy="288032"/>
          </a:xfrm>
        </p:grpSpPr>
        <p:cxnSp>
          <p:nvCxnSpPr>
            <p:cNvPr id="59" name="직선 연결선 58"/>
            <p:cNvCxnSpPr/>
            <p:nvPr/>
          </p:nvCxnSpPr>
          <p:spPr>
            <a:xfrm flipH="1">
              <a:off x="7868113" y="4083185"/>
              <a:ext cx="1119951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그룹 63"/>
            <p:cNvGrpSpPr/>
            <p:nvPr/>
          </p:nvGrpSpPr>
          <p:grpSpPr>
            <a:xfrm>
              <a:off x="9217128" y="3939169"/>
              <a:ext cx="816802" cy="288032"/>
              <a:chOff x="3876634" y="2629058"/>
              <a:chExt cx="816802" cy="288032"/>
            </a:xfrm>
          </p:grpSpPr>
          <p:cxnSp>
            <p:nvCxnSpPr>
              <p:cNvPr id="65" name="직선 화살표 연결선 64"/>
              <p:cNvCxnSpPr/>
              <p:nvPr/>
            </p:nvCxnSpPr>
            <p:spPr>
              <a:xfrm>
                <a:off x="3876634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화살표 연결선 65"/>
              <p:cNvCxnSpPr/>
              <p:nvPr/>
            </p:nvCxnSpPr>
            <p:spPr>
              <a:xfrm>
                <a:off x="4148901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화살표 연결선 66"/>
              <p:cNvCxnSpPr/>
              <p:nvPr/>
            </p:nvCxnSpPr>
            <p:spPr>
              <a:xfrm>
                <a:off x="4421168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/>
              <p:cNvCxnSpPr/>
              <p:nvPr/>
            </p:nvCxnSpPr>
            <p:spPr>
              <a:xfrm>
                <a:off x="4693436" y="2629058"/>
                <a:ext cx="0" cy="2880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직선 연결선 68"/>
            <p:cNvCxnSpPr/>
            <p:nvPr/>
          </p:nvCxnSpPr>
          <p:spPr>
            <a:xfrm flipH="1">
              <a:off x="10262994" y="4083185"/>
              <a:ext cx="1119951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989" y="1758712"/>
            <a:ext cx="2959773" cy="1395449"/>
          </a:xfrm>
          <a:prstGeom prst="rect">
            <a:avLst/>
          </a:prstGeom>
        </p:spPr>
      </p:pic>
      <p:sp>
        <p:nvSpPr>
          <p:cNvPr id="70" name="Title 13"/>
          <p:cNvSpPr txBox="1">
            <a:spLocks/>
          </p:cNvSpPr>
          <p:nvPr/>
        </p:nvSpPr>
        <p:spPr>
          <a:xfrm>
            <a:off x="341987" y="561174"/>
            <a:ext cx="10820658" cy="54884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ko-KR" altLang="en-US" sz="2999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매장코드 등록 프로세스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화면명  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2000" b="1" spc="-30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매장정보</a:t>
            </a:r>
            <a:r>
              <a:rPr lang="en-US" altLang="ko-KR" sz="2000" b="1" spc="-300" dirty="0" smtClean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2000" b="1" spc="-300" dirty="0">
              <a:solidFill>
                <a:prstClr val="black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Freeform 411">
            <a:extLst>
              <a:ext uri="{FF2B5EF4-FFF2-40B4-BE49-F238E27FC236}">
                <a16:creationId xmlns:a16="http://schemas.microsoft.com/office/drawing/2014/main" xmlns="" id="{2AE95623-D3BC-A1EB-7EF9-FC73378B8D04}"/>
              </a:ext>
            </a:extLst>
          </p:cNvPr>
          <p:cNvSpPr>
            <a:spLocks/>
          </p:cNvSpPr>
          <p:nvPr/>
        </p:nvSpPr>
        <p:spPr bwMode="auto">
          <a:xfrm rot="192115">
            <a:off x="10242855" y="4373501"/>
            <a:ext cx="213695" cy="243797"/>
          </a:xfrm>
          <a:custGeom>
            <a:avLst/>
            <a:gdLst/>
            <a:ahLst/>
            <a:cxnLst>
              <a:cxn ang="0">
                <a:pos x="0" y="374"/>
              </a:cxn>
              <a:cxn ang="0">
                <a:pos x="88" y="320"/>
              </a:cxn>
              <a:cxn ang="0">
                <a:pos x="122" y="340"/>
              </a:cxn>
              <a:cxn ang="0">
                <a:pos x="184" y="452"/>
              </a:cxn>
              <a:cxn ang="0">
                <a:pos x="278" y="316"/>
              </a:cxn>
              <a:cxn ang="0">
                <a:pos x="434" y="148"/>
              </a:cxn>
              <a:cxn ang="0">
                <a:pos x="534" y="60"/>
              </a:cxn>
              <a:cxn ang="0">
                <a:pos x="632" y="0"/>
              </a:cxn>
              <a:cxn ang="0">
                <a:pos x="648" y="26"/>
              </a:cxn>
              <a:cxn ang="0">
                <a:pos x="566" y="98"/>
              </a:cxn>
              <a:cxn ang="0">
                <a:pos x="448" y="230"/>
              </a:cxn>
              <a:cxn ang="0">
                <a:pos x="346" y="360"/>
              </a:cxn>
              <a:cxn ang="0">
                <a:pos x="234" y="554"/>
              </a:cxn>
              <a:cxn ang="0">
                <a:pos x="144" y="618"/>
              </a:cxn>
              <a:cxn ang="0">
                <a:pos x="82" y="466"/>
              </a:cxn>
              <a:cxn ang="0">
                <a:pos x="42" y="404"/>
              </a:cxn>
              <a:cxn ang="0">
                <a:pos x="0" y="374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ko-KR" altLang="en-US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795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 207"/>
  <p:tag name="LEFT" val=" 143.8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Shap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Text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8318</TotalTime>
  <Words>291</Words>
  <Application>Microsoft Office PowerPoint</Application>
  <PresentationFormat>와이드스크린</PresentationFormat>
  <Paragraphs>63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G마켓 산스 TTF Medium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최배근</cp:lastModifiedBy>
  <cp:revision>579</cp:revision>
  <cp:lastPrinted>2026-05-18T08:02:41Z</cp:lastPrinted>
  <dcterms:created xsi:type="dcterms:W3CDTF">2025-01-22T01:18:03Z</dcterms:created>
  <dcterms:modified xsi:type="dcterms:W3CDTF">2026-06-18T06:00:50Z</dcterms:modified>
</cp:coreProperties>
</file>