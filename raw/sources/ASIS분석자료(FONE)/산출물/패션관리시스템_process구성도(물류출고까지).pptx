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2"/>
  </p:notesMasterIdLst>
  <p:sldIdLst>
    <p:sldId id="256" r:id="rId2"/>
    <p:sldId id="257" r:id="rId3"/>
    <p:sldId id="259" r:id="rId4"/>
    <p:sldId id="312" r:id="rId5"/>
    <p:sldId id="313" r:id="rId6"/>
    <p:sldId id="315" r:id="rId7"/>
    <p:sldId id="316" r:id="rId8"/>
    <p:sldId id="317" r:id="rId9"/>
    <p:sldId id="318" r:id="rId10"/>
    <p:sldId id="327" r:id="rId11"/>
    <p:sldId id="319" r:id="rId12"/>
    <p:sldId id="320" r:id="rId13"/>
    <p:sldId id="323" r:id="rId14"/>
    <p:sldId id="322" r:id="rId15"/>
    <p:sldId id="326" r:id="rId16"/>
    <p:sldId id="328" r:id="rId17"/>
    <p:sldId id="329" r:id="rId18"/>
    <p:sldId id="330" r:id="rId19"/>
    <p:sldId id="333" r:id="rId20"/>
    <p:sldId id="331" r:id="rId21"/>
  </p:sldIdLst>
  <p:sldSz cx="9906000" cy="6858000" type="A4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6402" autoAdjust="0"/>
  </p:normalViewPr>
  <p:slideViewPr>
    <p:cSldViewPr snapToGrid="0">
      <p:cViewPr>
        <p:scale>
          <a:sx n="125" d="100"/>
          <a:sy n="125" d="100"/>
        </p:scale>
        <p:origin x="878" y="-26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F6554-E8F9-422D-B802-A83C598D4D3A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6C522-761D-475E-B720-8E6F8E9269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9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3013"/>
            <a:ext cx="48450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26C522-761D-475E-B720-8E6F8E9269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752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0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70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87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9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56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15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20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32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65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5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54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359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AD479-3390-4B25-9705-D3A352EB6703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0FC7E-2726-4E87-82DC-BE5C50D2E2D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object 7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" y="24927"/>
            <a:ext cx="413357" cy="34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8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50456" y="2310698"/>
            <a:ext cx="7162504" cy="184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925" b="1" dirty="0">
                <a:latin typeface="+mn-ea"/>
              </a:rPr>
              <a:t>신성통상 패션관리시스템 </a:t>
            </a:r>
            <a:r>
              <a:rPr lang="en-US" altLang="ko-KR" sz="2925" b="1" dirty="0">
                <a:latin typeface="+mn-ea"/>
              </a:rPr>
              <a:t>( FA-ONE )</a:t>
            </a:r>
          </a:p>
          <a:p>
            <a:pPr algn="ctr"/>
            <a:r>
              <a:rPr lang="en-US" altLang="ko-KR" sz="1950" b="1" dirty="0">
                <a:latin typeface="+mn-ea"/>
              </a:rPr>
              <a:t>- Process </a:t>
            </a:r>
            <a:r>
              <a:rPr lang="ko-KR" altLang="en-US" sz="1950" b="1" dirty="0">
                <a:latin typeface="+mn-ea"/>
              </a:rPr>
              <a:t>정의서</a:t>
            </a:r>
            <a:endParaRPr lang="en-US" altLang="ko-KR" sz="1463" b="1" dirty="0">
              <a:latin typeface="+mn-ea"/>
            </a:endParaRPr>
          </a:p>
          <a:p>
            <a:endParaRPr lang="en-US" altLang="ko-KR" sz="2275" b="1" dirty="0">
              <a:latin typeface="+mn-ea"/>
            </a:endParaRPr>
          </a:p>
          <a:p>
            <a:endParaRPr lang="en-US" altLang="ko-KR" sz="2275" b="1" dirty="0">
              <a:latin typeface="+mn-ea"/>
            </a:endParaRPr>
          </a:p>
          <a:p>
            <a:pPr algn="ctr"/>
            <a:r>
              <a:rPr lang="en-US" altLang="ko-KR" sz="1950" b="1" dirty="0">
                <a:latin typeface="+mn-ea"/>
              </a:rPr>
              <a:t> - IT</a:t>
            </a:r>
            <a:r>
              <a:rPr lang="ko-KR" altLang="en-US" sz="1950" b="1" dirty="0">
                <a:latin typeface="+mn-ea"/>
              </a:rPr>
              <a:t>기획팀 </a:t>
            </a:r>
            <a:r>
              <a:rPr lang="en-US" altLang="ko-KR" sz="1950" b="1" dirty="0">
                <a:latin typeface="+mn-ea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0241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4166" y="1467148"/>
            <a:ext cx="7865702" cy="3994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50" b="1" dirty="0"/>
              <a:t>SHINSUNG </a:t>
            </a:r>
            <a:r>
              <a:rPr lang="ko-KR" altLang="en-US" sz="1950" b="1" dirty="0"/>
              <a:t>패션 관리 시스템</a:t>
            </a:r>
            <a:r>
              <a:rPr lang="en-US" altLang="ko-KR" sz="1950" b="1" dirty="0"/>
              <a:t>(FA-ONE) </a:t>
            </a:r>
            <a:r>
              <a:rPr lang="ko-KR" altLang="en-US" sz="1950" b="1" dirty="0"/>
              <a:t>구성</a:t>
            </a:r>
            <a:endParaRPr lang="en-US" altLang="ko-KR" sz="1463" b="1" dirty="0"/>
          </a:p>
          <a:p>
            <a:pPr algn="ctr"/>
            <a:endParaRPr lang="en-US" altLang="ko-KR" sz="1463" b="1" dirty="0"/>
          </a:p>
          <a:p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정보관리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조직 정보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브랜드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품종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칼라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사이즈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거래선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 err="1">
                <a:latin typeface="+mn-ea"/>
              </a:rPr>
              <a:t>판부자재</a:t>
            </a:r>
            <a:r>
              <a:rPr lang="ko-KR" altLang="en-US" sz="975" b="1" dirty="0">
                <a:latin typeface="+mn-ea"/>
              </a:rPr>
              <a:t> 관리 외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상품기획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사전 원가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작업지시서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 err="1">
                <a:latin typeface="+mn-ea"/>
              </a:rPr>
              <a:t>제상품</a:t>
            </a:r>
            <a:r>
              <a:rPr lang="ko-KR" altLang="en-US" sz="975" b="1" dirty="0">
                <a:latin typeface="+mn-ea"/>
              </a:rPr>
              <a:t> 매출 및 라이프 사이클 현황 조회 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물류관리 </a:t>
            </a:r>
            <a:r>
              <a:rPr lang="en-US" altLang="ko-KR" sz="975" b="1" dirty="0" smtClean="0">
                <a:latin typeface="+mn-ea"/>
              </a:rPr>
              <a:t>– </a:t>
            </a:r>
            <a:r>
              <a:rPr lang="ko-KR" altLang="en-US" sz="975" b="1" dirty="0" smtClean="0">
                <a:latin typeface="+mn-ea"/>
              </a:rPr>
              <a:t>입고관리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출고 </a:t>
            </a:r>
            <a:r>
              <a:rPr lang="ko-KR" altLang="en-US" sz="975" b="1" dirty="0" smtClean="0">
                <a:latin typeface="+mn-ea"/>
              </a:rPr>
              <a:t>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창고간 제품이동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자가소모 등록 및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반품 검수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거래명세서 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영업기획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매장 매출 목표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출고 요청 </a:t>
            </a:r>
            <a:r>
              <a:rPr lang="en-US" altLang="ko-KR" sz="975" b="1" dirty="0">
                <a:latin typeface="+mn-ea"/>
              </a:rPr>
              <a:t>/ </a:t>
            </a:r>
            <a:r>
              <a:rPr lang="ko-KR" altLang="en-US" sz="975" b="1" dirty="0">
                <a:latin typeface="+mn-ea"/>
              </a:rPr>
              <a:t>반응 출고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반품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배분 등급 관리</a:t>
            </a:r>
            <a:r>
              <a:rPr lang="en-US" altLang="ko-KR" sz="975" b="1" dirty="0">
                <a:latin typeface="+mn-ea"/>
              </a:rPr>
              <a:t>, , </a:t>
            </a:r>
            <a:r>
              <a:rPr lang="ko-KR" altLang="en-US" sz="975" b="1" dirty="0">
                <a:latin typeface="+mn-ea"/>
              </a:rPr>
              <a:t>프로모션 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en-US" altLang="ko-KR" sz="1463" b="1" dirty="0"/>
              <a:t>F-POS</a:t>
            </a:r>
            <a:r>
              <a:rPr lang="ko-KR" altLang="en-US" sz="1463" b="1" dirty="0"/>
              <a:t>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판매 등록 및 현황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점간 지시 </a:t>
            </a:r>
            <a:r>
              <a:rPr lang="en-US" altLang="ko-KR" sz="975" b="1" dirty="0">
                <a:latin typeface="+mn-ea"/>
              </a:rPr>
              <a:t>(RT) </a:t>
            </a:r>
            <a:r>
              <a:rPr lang="ko-KR" altLang="en-US" sz="975" b="1" dirty="0">
                <a:latin typeface="+mn-ea"/>
              </a:rPr>
              <a:t>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입</a:t>
            </a:r>
            <a:r>
              <a:rPr lang="en-US" altLang="ko-KR" sz="975" b="1" dirty="0">
                <a:latin typeface="+mn-ea"/>
              </a:rPr>
              <a:t>/</a:t>
            </a:r>
            <a:r>
              <a:rPr lang="ko-KR" altLang="en-US" sz="975" b="1" dirty="0">
                <a:latin typeface="+mn-ea"/>
              </a:rPr>
              <a:t>출고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반품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근무자</a:t>
            </a:r>
            <a:r>
              <a:rPr lang="en-US" altLang="ko-KR" sz="975" b="1" dirty="0">
                <a:latin typeface="+mn-ea"/>
              </a:rPr>
              <a:t>(</a:t>
            </a:r>
            <a:r>
              <a:rPr lang="ko-KR" altLang="en-US" sz="975" b="1" dirty="0">
                <a:latin typeface="+mn-ea"/>
              </a:rPr>
              <a:t>근태</a:t>
            </a:r>
            <a:r>
              <a:rPr lang="en-US" altLang="ko-KR" sz="975" b="1" dirty="0">
                <a:latin typeface="+mn-ea"/>
              </a:rPr>
              <a:t>) </a:t>
            </a:r>
            <a:r>
              <a:rPr lang="ko-KR" altLang="en-US" sz="975" b="1" dirty="0">
                <a:latin typeface="+mn-ea"/>
              </a:rPr>
              <a:t>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ko-KR" altLang="en-US" sz="1463" b="1" dirty="0"/>
              <a:t>영업관리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마감 수불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매장 입금 및 비용</a:t>
            </a:r>
            <a:r>
              <a:rPr lang="en-US" altLang="ko-KR" sz="975" b="1" dirty="0">
                <a:latin typeface="+mn-ea"/>
              </a:rPr>
              <a:t>/</a:t>
            </a:r>
            <a:r>
              <a:rPr lang="ko-KR" altLang="en-US" sz="975" b="1" dirty="0">
                <a:latin typeface="+mn-ea"/>
              </a:rPr>
              <a:t>채권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중간관리자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직영</a:t>
            </a:r>
            <a:r>
              <a:rPr lang="en-US" altLang="ko-KR" sz="975" b="1" dirty="0">
                <a:latin typeface="+mn-ea"/>
              </a:rPr>
              <a:t> </a:t>
            </a:r>
            <a:r>
              <a:rPr lang="ko-KR" altLang="en-US" sz="975" b="1" dirty="0">
                <a:latin typeface="+mn-ea"/>
              </a:rPr>
              <a:t>매장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유통망</a:t>
            </a:r>
            <a:r>
              <a:rPr lang="en-US" altLang="ko-KR" sz="975" b="1" dirty="0">
                <a:latin typeface="+mn-ea"/>
              </a:rPr>
              <a:t>(</a:t>
            </a:r>
            <a:r>
              <a:rPr lang="ko-KR" altLang="en-US" sz="975" b="1" dirty="0">
                <a:latin typeface="+mn-ea"/>
              </a:rPr>
              <a:t>백화점</a:t>
            </a:r>
            <a:r>
              <a:rPr lang="en-US" altLang="ko-KR" sz="975" b="1" dirty="0">
                <a:latin typeface="+mn-ea"/>
              </a:rPr>
              <a:t>/</a:t>
            </a:r>
            <a:r>
              <a:rPr lang="ko-KR" altLang="en-US" sz="975" b="1" dirty="0">
                <a:latin typeface="+mn-ea"/>
              </a:rPr>
              <a:t>대리점</a:t>
            </a:r>
            <a:r>
              <a:rPr lang="en-US" altLang="ko-KR" sz="975" b="1" dirty="0">
                <a:latin typeface="+mn-ea"/>
              </a:rPr>
              <a:t>)</a:t>
            </a:r>
            <a:r>
              <a:rPr lang="ko-KR" altLang="en-US" sz="975" b="1" dirty="0">
                <a:latin typeface="+mn-ea"/>
              </a:rPr>
              <a:t> 정산 관리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en-US" altLang="ko-KR" sz="1463" b="1" dirty="0"/>
          </a:p>
          <a:p>
            <a:pPr marL="278606" indent="-278606">
              <a:buAutoNum type="arabicPeriod"/>
            </a:pPr>
            <a:r>
              <a:rPr lang="en-US" altLang="ko-KR" sz="1463" b="1" dirty="0"/>
              <a:t>AS </a:t>
            </a:r>
            <a:r>
              <a:rPr lang="ko-KR" altLang="en-US" sz="1463" b="1" dirty="0"/>
              <a:t>관리 </a:t>
            </a:r>
            <a:r>
              <a:rPr lang="en-US" altLang="ko-KR" sz="975" b="1" dirty="0">
                <a:latin typeface="+mn-ea"/>
              </a:rPr>
              <a:t>– </a:t>
            </a:r>
            <a:r>
              <a:rPr lang="ko-KR" altLang="en-US" sz="975" b="1" dirty="0">
                <a:latin typeface="+mn-ea"/>
              </a:rPr>
              <a:t> </a:t>
            </a:r>
            <a:r>
              <a:rPr lang="en-US" altLang="ko-KR" sz="975" b="1" dirty="0">
                <a:latin typeface="+mn-ea"/>
              </a:rPr>
              <a:t>AS </a:t>
            </a:r>
            <a:r>
              <a:rPr lang="ko-KR" altLang="en-US" sz="975" b="1" dirty="0">
                <a:latin typeface="+mn-ea"/>
              </a:rPr>
              <a:t>등록 및 진행현황 관리</a:t>
            </a:r>
            <a:r>
              <a:rPr lang="en-US" altLang="ko-KR" sz="975" b="1" dirty="0">
                <a:latin typeface="+mn-ea"/>
              </a:rPr>
              <a:t>, </a:t>
            </a:r>
            <a:r>
              <a:rPr lang="ko-KR" altLang="en-US" sz="975" b="1" dirty="0">
                <a:latin typeface="+mn-ea"/>
              </a:rPr>
              <a:t>클레임 관리</a:t>
            </a:r>
            <a:r>
              <a:rPr lang="en-US" altLang="ko-KR" sz="975" b="1" dirty="0">
                <a:latin typeface="+mn-ea"/>
              </a:rPr>
              <a:t> </a:t>
            </a:r>
            <a:r>
              <a:rPr lang="ko-KR" altLang="en-US" sz="975" b="1" dirty="0">
                <a:latin typeface="+mn-ea"/>
              </a:rPr>
              <a:t>외</a:t>
            </a:r>
            <a:endParaRPr lang="en-US" altLang="ko-KR" sz="975" b="1" dirty="0">
              <a:latin typeface="+mn-ea"/>
            </a:endParaRPr>
          </a:p>
          <a:p>
            <a:pPr marL="278606" indent="-278606">
              <a:buAutoNum type="arabicPeriod"/>
            </a:pPr>
            <a:endParaRPr lang="ko-KR" altLang="en-US" sz="1463" b="1" dirty="0"/>
          </a:p>
        </p:txBody>
      </p:sp>
    </p:spTree>
    <p:extLst>
      <p:ext uri="{BB962C8B-B14F-4D97-AF65-F5344CB8AC3E}">
        <p14:creationId xmlns:p14="http://schemas.microsoft.com/office/powerpoint/2010/main" val="21343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>
                <a:latin typeface="+mn-ea"/>
              </a:rPr>
              <a:t>정보 관리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975822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브랜드 정보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품종 정보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칼라 정보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사이즈정보</a:t>
            </a:r>
            <a:endParaRPr lang="en-US" altLang="ko-KR"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거래선 정보</a:t>
            </a:r>
            <a:endParaRPr lang="en-US" altLang="ko-KR"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판 부자재관리</a:t>
            </a:r>
            <a:endParaRPr lang="en-US" altLang="ko-KR"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dirty="0">
                <a:latin typeface="+mn-ea"/>
                <a:cs typeface="Malgun Gothic"/>
              </a:rPr>
              <a:t>프로모션관리</a:t>
            </a:r>
            <a:endParaRPr sz="975" b="1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516756"/>
            <a:ext cx="7547696" cy="880434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정보 관리 프로세스는</a:t>
            </a:r>
            <a:r>
              <a:rPr lang="en-US" altLang="ko-KR" sz="1138" b="1" dirty="0">
                <a:latin typeface="+mn-ea"/>
              </a:rPr>
              <a:t> </a:t>
            </a:r>
            <a:r>
              <a:rPr lang="ko-KR" altLang="en-US" sz="1138" b="1" dirty="0">
                <a:latin typeface="+mn-ea"/>
              </a:rPr>
              <a:t>패션 관리</a:t>
            </a:r>
            <a:r>
              <a:rPr lang="en-US" altLang="ko-KR" sz="1138" b="1" dirty="0">
                <a:latin typeface="+mn-ea"/>
              </a:rPr>
              <a:t>(</a:t>
            </a:r>
            <a:r>
              <a:rPr lang="ko-KR" altLang="en-US" sz="1138" b="1" dirty="0">
                <a:latin typeface="+mn-ea"/>
              </a:rPr>
              <a:t>영업관리</a:t>
            </a:r>
            <a:r>
              <a:rPr lang="en-US" altLang="ko-KR" sz="1138" b="1" dirty="0">
                <a:latin typeface="+mn-ea"/>
              </a:rPr>
              <a:t>) </a:t>
            </a:r>
            <a:r>
              <a:rPr lang="ko-KR" altLang="en-US" sz="1138" b="1" dirty="0">
                <a:latin typeface="+mn-ea"/>
              </a:rPr>
              <a:t>를 하기 위한 기본 정보를 등록하고 관리 합니다</a:t>
            </a:r>
            <a:r>
              <a:rPr lang="en-US" altLang="ko-KR" sz="1138" b="1" dirty="0">
                <a:latin typeface="+mn-ea"/>
              </a:rPr>
              <a:t>. </a:t>
            </a:r>
            <a:r>
              <a:rPr lang="ko-KR" altLang="en-US" sz="1138" b="1" dirty="0">
                <a:latin typeface="+mn-ea"/>
              </a:rPr>
              <a:t>조직 및 브랜드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상품 정보에 필요한 제반 사항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거래처 정보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매장 정보 등을 등록하고 관리하여 유통 활동을 할 수 있는 기본 정보에 대한 내용을 관리 합니다</a:t>
            </a:r>
            <a:r>
              <a:rPr lang="en-US" altLang="ko-KR" sz="1138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976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58322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71919"/>
              </p:ext>
            </p:extLst>
          </p:nvPr>
        </p:nvGraphicFramePr>
        <p:xfrm>
          <a:off x="723391" y="1510952"/>
          <a:ext cx="8890932" cy="4492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0959"/>
                <a:gridCol w="4237567"/>
                <a:gridCol w="2322406"/>
              </a:tblGrid>
              <a:tr h="2043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900" b="1" dirty="0" smtClean="0">
                          <a:latin typeface="+mn-ea"/>
                          <a:ea typeface="+mn-ea"/>
                          <a:cs typeface="Malgun Gothic"/>
                        </a:rPr>
                        <a:t>브랜드 </a:t>
                      </a:r>
                      <a:r>
                        <a:rPr lang="ko-KR" altLang="en-US" sz="900" b="1" dirty="0" err="1" smtClean="0">
                          <a:latin typeface="+mn-ea"/>
                          <a:ea typeface="+mn-ea"/>
                          <a:cs typeface="Malgun Gothic"/>
                        </a:rPr>
                        <a:t>영업팀</a:t>
                      </a:r>
                      <a:endParaRPr sz="9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spc="-20" baseline="0" dirty="0" smtClean="0">
                          <a:latin typeface="Malgun Gothic"/>
                          <a:cs typeface="Malgun Gothic"/>
                        </a:rPr>
                        <a:t>IT </a:t>
                      </a:r>
                      <a:r>
                        <a:rPr lang="ko-KR" altLang="en-US" sz="900" b="1" spc="-20" baseline="0" dirty="0" smtClean="0">
                          <a:latin typeface="Malgun Gothic"/>
                          <a:cs typeface="Malgun Gothic"/>
                        </a:rPr>
                        <a:t>팀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00" b="1" spc="-25" dirty="0">
                          <a:latin typeface="Malgun Gothic"/>
                          <a:cs typeface="Malgun Gothic"/>
                        </a:rPr>
                        <a:t>설명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</a:tr>
              <a:tr h="72626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4"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[</a:t>
                      </a:r>
                      <a:r>
                        <a:rPr lang="ko-KR" altLang="en-US"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 정보</a:t>
                      </a: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]</a:t>
                      </a:r>
                      <a:endParaRPr lang="en-US"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>
                        <a:lnSpc>
                          <a:spcPct val="130000"/>
                        </a:lnSpc>
                      </a:pP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상위 브랜드</a:t>
                      </a:r>
                      <a:r>
                        <a:rPr lang="en-US" altLang="ko-KR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와 서브 브랜드 코드를 등록하고</a:t>
                      </a:r>
                      <a:r>
                        <a:rPr lang="en-US" altLang="ko-KR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700" spc="-20" baseline="0" dirty="0" smtClean="0">
                          <a:latin typeface="+mn-ea"/>
                          <a:ea typeface="+mn-ea"/>
                          <a:cs typeface="Malgun Gothic"/>
                        </a:rPr>
                        <a:t>분석 자료를 제공하는 시스템과 연동되는 정보를 관리</a:t>
                      </a:r>
                      <a:endParaRPr sz="700" dirty="0" smtClean="0"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690"/>
                        </a:spcBef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(1)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브랜드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조직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정보 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</a:t>
                      </a:r>
                      <a:r>
                        <a:rPr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정보</a:t>
                      </a: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관리</a:t>
                      </a: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및</a:t>
                      </a:r>
                      <a:r>
                        <a:rPr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신규브랜드</a:t>
                      </a:r>
                      <a:r>
                        <a:rPr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등록</a:t>
                      </a: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/>
                      </a:r>
                      <a:b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*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알파벳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A~Z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까지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26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자리 중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Q,S,T,W 4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개 잔여</a:t>
                      </a:r>
                      <a:endParaRPr lang="en-US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en-US" sz="700" b="1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-&gt; </a:t>
                      </a:r>
                      <a:r>
                        <a:rPr lang="ko-KR" altLang="en-US" sz="700" b="1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브랜드 포화 상태 일 때 대안 </a:t>
                      </a:r>
                      <a:endParaRPr lang="en-US" altLang="ko-KR" sz="700" b="1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0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(2)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서브 브랜드 정보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브랜드와 조합할 목적 별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기능 별 서브브랜드 등록 관리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/>
                      </a:r>
                      <a:b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ex)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AA -&gt; ZIOZIA AA_NAVY</a:t>
                      </a:r>
                      <a:b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    AZ -&gt; ZIOZIA AND-Z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(3)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연관 시스템 정보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시스템 분석을 위한 집계 또는 연관 유관 시스템에서의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표기를 위한 정보를 등록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/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관리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* </a:t>
                      </a:r>
                      <a:r>
                        <a:rPr lang="ko-KR" altLang="en-US" sz="700" b="1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하위 브랜드 추가 또는 변경 시 고려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사항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본부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EDW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매출 집계 단위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온라인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온라인 몰 매출 집계 단위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물류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물류 반품 차수 관리 단위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-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브랜드그룹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테블로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: BI 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대시보드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테블로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집계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67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70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7326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28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53">
                <a:tc gridSpan="2">
                  <a:txBody>
                    <a:bodyPr/>
                    <a:lstStyle/>
                    <a:p>
                      <a:pPr marL="116839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983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53">
                <a:tc gridSpan="2">
                  <a:txBody>
                    <a:bodyPr/>
                    <a:lstStyle/>
                    <a:p>
                      <a:pPr marL="12065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28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553">
                <a:tc gridSpan="2"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258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056">
                <a:tc gridSpan="2">
                  <a:txBody>
                    <a:bodyPr/>
                    <a:lstStyle/>
                    <a:p>
                      <a:pPr marL="11938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28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1568">
                <a:tc gridSpan="2">
                  <a:txBody>
                    <a:bodyPr/>
                    <a:lstStyle/>
                    <a:p>
                      <a:pPr marL="12446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294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503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10060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669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811060" y="5104629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650" b="1">
              <a:latin typeface="+mn-e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48825" y="2162271"/>
            <a:ext cx="1092240" cy="661329"/>
            <a:chOff x="2843783" y="1869948"/>
            <a:chExt cx="1344295" cy="813943"/>
          </a:xfrm>
        </p:grpSpPr>
        <p:sp>
          <p:nvSpPr>
            <p:cNvPr id="22" name="object 22"/>
            <p:cNvSpPr/>
            <p:nvPr/>
          </p:nvSpPr>
          <p:spPr>
            <a:xfrm>
              <a:off x="2843783" y="2421636"/>
              <a:ext cx="1344295" cy="262255"/>
            </a:xfrm>
            <a:custGeom>
              <a:avLst/>
              <a:gdLst/>
              <a:ahLst/>
              <a:cxnLst/>
              <a:rect l="l" t="t" r="r" b="b"/>
              <a:pathLst>
                <a:path w="1344295" h="262255">
                  <a:moveTo>
                    <a:pt x="1344168" y="0"/>
                  </a:moveTo>
                  <a:lnTo>
                    <a:pt x="0" y="0"/>
                  </a:lnTo>
                  <a:lnTo>
                    <a:pt x="0" y="262127"/>
                  </a:lnTo>
                  <a:lnTo>
                    <a:pt x="1344168" y="262127"/>
                  </a:lnTo>
                  <a:lnTo>
                    <a:pt x="134416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pPr algn="ctr"/>
              <a:endParaRPr sz="650" b="1">
                <a:latin typeface="+mn-ea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843783" y="2421636"/>
              <a:ext cx="1344295" cy="262255"/>
            </a:xfrm>
            <a:custGeom>
              <a:avLst/>
              <a:gdLst/>
              <a:ahLst/>
              <a:cxnLst/>
              <a:rect l="l" t="t" r="r" b="b"/>
              <a:pathLst>
                <a:path w="1344295" h="262255">
                  <a:moveTo>
                    <a:pt x="0" y="262127"/>
                  </a:moveTo>
                  <a:lnTo>
                    <a:pt x="1344168" y="262127"/>
                  </a:lnTo>
                  <a:lnTo>
                    <a:pt x="1344168" y="0"/>
                  </a:lnTo>
                  <a:lnTo>
                    <a:pt x="0" y="0"/>
                  </a:lnTo>
                  <a:lnTo>
                    <a:pt x="0" y="262127"/>
                  </a:lnTo>
                  <a:close/>
                </a:path>
              </a:pathLst>
            </a:custGeom>
            <a:ln w="609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650" b="1">
                <a:latin typeface="+mn-ea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160438" y="1869948"/>
              <a:ext cx="643255" cy="215265"/>
            </a:xfrm>
            <a:custGeom>
              <a:avLst/>
              <a:gdLst/>
              <a:ahLst/>
              <a:cxnLst/>
              <a:rect l="l" t="t" r="r" b="b"/>
              <a:pathLst>
                <a:path w="643254" h="215264">
                  <a:moveTo>
                    <a:pt x="103505" y="0"/>
                  </a:moveTo>
                  <a:lnTo>
                    <a:pt x="539622" y="0"/>
                  </a:lnTo>
                  <a:lnTo>
                    <a:pt x="579905" y="8447"/>
                  </a:lnTo>
                  <a:lnTo>
                    <a:pt x="612806" y="31480"/>
                  </a:lnTo>
                  <a:lnTo>
                    <a:pt x="634992" y="65633"/>
                  </a:lnTo>
                  <a:lnTo>
                    <a:pt x="643128" y="107441"/>
                  </a:lnTo>
                  <a:lnTo>
                    <a:pt x="634992" y="149250"/>
                  </a:lnTo>
                  <a:lnTo>
                    <a:pt x="612806" y="183403"/>
                  </a:lnTo>
                  <a:lnTo>
                    <a:pt x="579905" y="206436"/>
                  </a:lnTo>
                  <a:lnTo>
                    <a:pt x="539622" y="214884"/>
                  </a:lnTo>
                  <a:lnTo>
                    <a:pt x="103505" y="214884"/>
                  </a:lnTo>
                  <a:lnTo>
                    <a:pt x="63222" y="206436"/>
                  </a:lnTo>
                  <a:lnTo>
                    <a:pt x="30321" y="183403"/>
                  </a:lnTo>
                  <a:lnTo>
                    <a:pt x="8135" y="149250"/>
                  </a:lnTo>
                  <a:lnTo>
                    <a:pt x="0" y="107441"/>
                  </a:lnTo>
                  <a:lnTo>
                    <a:pt x="8135" y="65633"/>
                  </a:lnTo>
                  <a:lnTo>
                    <a:pt x="30321" y="31480"/>
                  </a:lnTo>
                  <a:lnTo>
                    <a:pt x="63222" y="8447"/>
                  </a:lnTo>
                  <a:lnTo>
                    <a:pt x="103505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sz="650" b="1">
                <a:latin typeface="+mn-ea"/>
              </a:endParaRPr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547588" y="3460920"/>
            <a:ext cx="1097399" cy="219273"/>
            <a:chOff x="2842260" y="2892551"/>
            <a:chExt cx="1350645" cy="269875"/>
          </a:xfrm>
        </p:grpSpPr>
        <p:sp>
          <p:nvSpPr>
            <p:cNvPr id="27" name="object 27"/>
            <p:cNvSpPr/>
            <p:nvPr/>
          </p:nvSpPr>
          <p:spPr>
            <a:xfrm>
              <a:off x="2845308" y="2895599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1344168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44168" y="263651"/>
                  </a:lnTo>
                  <a:lnTo>
                    <a:pt x="134416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845308" y="2895599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0" y="263651"/>
                  </a:moveTo>
                  <a:lnTo>
                    <a:pt x="1344168" y="263651"/>
                  </a:lnTo>
                  <a:lnTo>
                    <a:pt x="1344168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609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3548825" y="4294124"/>
            <a:ext cx="1097399" cy="219273"/>
            <a:chOff x="2843783" y="3355847"/>
            <a:chExt cx="1350645" cy="269875"/>
          </a:xfrm>
        </p:grpSpPr>
        <p:sp>
          <p:nvSpPr>
            <p:cNvPr id="30" name="object 30"/>
            <p:cNvSpPr/>
            <p:nvPr/>
          </p:nvSpPr>
          <p:spPr>
            <a:xfrm>
              <a:off x="2846831" y="3358895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1344168" y="0"/>
                  </a:moveTo>
                  <a:lnTo>
                    <a:pt x="0" y="0"/>
                  </a:lnTo>
                  <a:lnTo>
                    <a:pt x="0" y="263651"/>
                  </a:lnTo>
                  <a:lnTo>
                    <a:pt x="1344168" y="263651"/>
                  </a:lnTo>
                  <a:lnTo>
                    <a:pt x="1344168" y="0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846831" y="3358895"/>
              <a:ext cx="1344295" cy="264160"/>
            </a:xfrm>
            <a:custGeom>
              <a:avLst/>
              <a:gdLst/>
              <a:ahLst/>
              <a:cxnLst/>
              <a:rect l="l" t="t" r="r" b="b"/>
              <a:pathLst>
                <a:path w="1344295" h="264160">
                  <a:moveTo>
                    <a:pt x="0" y="263651"/>
                  </a:moveTo>
                  <a:lnTo>
                    <a:pt x="1344168" y="263651"/>
                  </a:lnTo>
                  <a:lnTo>
                    <a:pt x="1344168" y="0"/>
                  </a:lnTo>
                  <a:lnTo>
                    <a:pt x="0" y="0"/>
                  </a:lnTo>
                  <a:lnTo>
                    <a:pt x="0" y="263651"/>
                  </a:lnTo>
                  <a:close/>
                </a:path>
              </a:pathLst>
            </a:custGeom>
            <a:ln w="6096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 sz="650" b="1">
                <a:latin typeface="+mn-ea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906564" y="2167360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6895" y="2618235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(1) IT </a:t>
            </a:r>
            <a:r>
              <a:rPr lang="ko-KR" altLang="en-US" sz="650" b="1" dirty="0">
                <a:latin typeface="+mn-ea"/>
              </a:rPr>
              <a:t>접수</a:t>
            </a:r>
            <a:endParaRPr lang="en-US" altLang="ko-KR" sz="650" b="1" dirty="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52400" y="3487762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(2) </a:t>
            </a:r>
            <a:r>
              <a:rPr lang="ko-KR" altLang="en-US" sz="650" b="1" dirty="0">
                <a:latin typeface="+mn-ea"/>
              </a:rPr>
              <a:t>브랜드 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5150" y="4313262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(3) </a:t>
            </a:r>
            <a:r>
              <a:rPr lang="ko-KR" altLang="en-US" sz="650" b="1" dirty="0">
                <a:latin typeface="+mn-ea"/>
              </a:rPr>
              <a:t>연관시스템 정보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8374" y="5103414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50" b="1" dirty="0">
                <a:latin typeface="+mn-ea"/>
              </a:rPr>
              <a:t>종료</a:t>
            </a: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4079896" y="2823599"/>
            <a:ext cx="0" cy="6397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>
            <a:off x="4077144" y="3681968"/>
            <a:ext cx="0" cy="6235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4079896" y="4520188"/>
            <a:ext cx="0" cy="581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>
            <a:off x="4077145" y="2339173"/>
            <a:ext cx="0" cy="27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그림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42" y="4304781"/>
            <a:ext cx="2062218" cy="768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0" name="직사각형 59"/>
          <p:cNvSpPr/>
          <p:nvPr/>
        </p:nvSpPr>
        <p:spPr>
          <a:xfrm>
            <a:off x="7316129" y="4958168"/>
            <a:ext cx="2251964" cy="75395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61" name="왼쪽 화살표 60"/>
          <p:cNvSpPr/>
          <p:nvPr/>
        </p:nvSpPr>
        <p:spPr>
          <a:xfrm rot="1917051">
            <a:off x="6992874" y="4906139"/>
            <a:ext cx="255352" cy="329735"/>
          </a:xfrm>
          <a:prstGeom prst="lef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545" y="3102002"/>
            <a:ext cx="844936" cy="1083251"/>
          </a:xfrm>
          <a:prstGeom prst="rect">
            <a:avLst/>
          </a:prstGeom>
        </p:spPr>
      </p:pic>
      <p:cxnSp>
        <p:nvCxnSpPr>
          <p:cNvPr id="63" name="직선 연결선 62"/>
          <p:cNvCxnSpPr/>
          <p:nvPr/>
        </p:nvCxnSpPr>
        <p:spPr>
          <a:xfrm>
            <a:off x="3049169" y="1718313"/>
            <a:ext cx="0" cy="429640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bject 22"/>
          <p:cNvSpPr/>
          <p:nvPr/>
        </p:nvSpPr>
        <p:spPr>
          <a:xfrm>
            <a:off x="1251190" y="218961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브랜드 생성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변경 요청</a:t>
            </a:r>
            <a:endParaRPr sz="650" b="1" dirty="0">
              <a:latin typeface="+mn-ea"/>
            </a:endParaRPr>
          </a:p>
        </p:txBody>
      </p:sp>
      <p:sp>
        <p:nvSpPr>
          <p:cNvPr id="65" name="object 22"/>
          <p:cNvSpPr/>
          <p:nvPr/>
        </p:nvSpPr>
        <p:spPr>
          <a:xfrm>
            <a:off x="1248440" y="301235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1794234" y="2399050"/>
            <a:ext cx="325" cy="6133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endCxn id="45" idx="1"/>
          </p:cNvCxnSpPr>
          <p:nvPr/>
        </p:nvCxnSpPr>
        <p:spPr>
          <a:xfrm flipV="1">
            <a:off x="2340679" y="2714415"/>
            <a:ext cx="1206216" cy="38758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72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38995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12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83845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1931"/>
              </p:ext>
            </p:extLst>
          </p:nvPr>
        </p:nvGraphicFramePr>
        <p:xfrm>
          <a:off x="723391" y="1510952"/>
          <a:ext cx="8890932" cy="4492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5800"/>
                <a:gridCol w="4242726"/>
                <a:gridCol w="2322406"/>
              </a:tblGrid>
              <a:tr h="20431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ko-KR" altLang="en-US" sz="900" b="1" dirty="0" smtClean="0">
                          <a:latin typeface="Malgun Gothic"/>
                          <a:cs typeface="Malgun Gothic"/>
                        </a:rPr>
                        <a:t>상품기획팀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spc="-20" dirty="0" smtClean="0">
                          <a:latin typeface="Malgun Gothic"/>
                          <a:cs typeface="Malgun Gothic"/>
                        </a:rPr>
                        <a:t>IT</a:t>
                      </a:r>
                      <a:r>
                        <a:rPr lang="ko-KR" altLang="en-US" sz="900" b="1" spc="-20" dirty="0" smtClean="0">
                          <a:latin typeface="Malgun Gothic"/>
                          <a:cs typeface="Malgun Gothic"/>
                        </a:rPr>
                        <a:t>팀</a:t>
                      </a:r>
                      <a:r>
                        <a:rPr lang="ko-KR" altLang="en-US" sz="900" b="1" spc="-20" baseline="0" dirty="0" smtClean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en-US" altLang="ko-KR" sz="900" b="1" spc="-20" baseline="0" dirty="0" smtClean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lang="ko-KR" altLang="en-US" sz="900" b="1" spc="-20" dirty="0" smtClean="0">
                          <a:latin typeface="Malgun Gothic"/>
                          <a:cs typeface="Malgun Gothic"/>
                        </a:rPr>
                        <a:t>품종 정보입력</a:t>
                      </a:r>
                      <a:r>
                        <a:rPr lang="en-US" altLang="ko-KR" sz="900" b="1" spc="-20" dirty="0" smtClean="0">
                          <a:latin typeface="Malgun Gothic"/>
                          <a:cs typeface="Malgun Gothic"/>
                        </a:rPr>
                        <a:t>)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00" b="1" spc="-25" dirty="0">
                          <a:latin typeface="Malgun Gothic"/>
                          <a:cs typeface="Malgun Gothic"/>
                        </a:rPr>
                        <a:t>설명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798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6DFEB"/>
                    </a:solidFill>
                  </a:tcPr>
                </a:tc>
              </a:tr>
              <a:tr h="42879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[</a:t>
                      </a:r>
                      <a:r>
                        <a:rPr lang="ko-KR" altLang="en-US"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품종 정보</a:t>
                      </a:r>
                      <a:r>
                        <a:rPr sz="700" b="1" spc="-10" dirty="0" smtClean="0">
                          <a:solidFill>
                            <a:srgbClr val="006FC0"/>
                          </a:solidFill>
                          <a:latin typeface="+mn-ea"/>
                          <a:ea typeface="+mn-ea"/>
                          <a:cs typeface="Malgun Gothic"/>
                        </a:rPr>
                        <a:t>]</a:t>
                      </a:r>
                      <a:endParaRPr lang="en-US"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700" b="1" spc="-10" dirty="0" smtClean="0">
                        <a:solidFill>
                          <a:srgbClr val="006FC0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>
                        <a:lnSpc>
                          <a:spcPct val="130000"/>
                        </a:lnSpc>
                      </a:pP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상위 품종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spc="-20" dirty="0" err="1" smtClean="0">
                          <a:latin typeface="+mn-ea"/>
                          <a:ea typeface="+mn-ea"/>
                          <a:cs typeface="Malgun Gothic"/>
                        </a:rPr>
                        <a:t>대복종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을 등록하고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, 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이와 연관된 하위 품종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spc="-20" dirty="0" err="1" smtClean="0">
                          <a:latin typeface="+mn-ea"/>
                          <a:ea typeface="+mn-ea"/>
                          <a:cs typeface="Malgun Gothic"/>
                        </a:rPr>
                        <a:t>소복종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spc="-20" dirty="0" smtClean="0"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spc="-20" dirty="0" smtClean="0">
                          <a:latin typeface="+mn-ea"/>
                          <a:ea typeface="+mn-ea"/>
                          <a:cs typeface="Malgun Gothic"/>
                        </a:rPr>
                        <a:t>코드를 등록 관리 </a:t>
                      </a:r>
                      <a:endParaRPr sz="700" dirty="0" smtClean="0"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690"/>
                        </a:spcBef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(1)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정보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제상품을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구분하는 </a:t>
                      </a: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대분류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(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등록 관리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5"/>
                        </a:spcBef>
                        <a:buNone/>
                        <a:tabLst>
                          <a:tab pos="245110" algn="l"/>
                        </a:tabLst>
                      </a:pP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indent="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0"/>
                        </a:spcBef>
                        <a:buNone/>
                        <a:tabLst>
                          <a:tab pos="245110" algn="l"/>
                        </a:tabLst>
                      </a:pPr>
                      <a:r>
                        <a:rPr 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(2)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하위 품종 정보</a:t>
                      </a:r>
                      <a:endParaRPr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대복종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에 연관된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하위 품종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kern="1200" spc="-2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소복종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정보 등록 관리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(3) </a:t>
                      </a: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회계 코드 정보</a:t>
                      </a: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r>
                        <a:rPr lang="ko-KR" altLang="en-US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회계 시스템 </a:t>
                      </a:r>
                      <a:r>
                        <a:rPr lang="en-US" altLang="ko-KR" sz="700" kern="1200" spc="-2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I/F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를 위한 </a:t>
                      </a:r>
                      <a:r>
                        <a:rPr lang="ko-KR" altLang="en-US" sz="700" b="1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품종 별 회계 코드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관리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/>
                      </a:r>
                      <a:b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</a:b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( </a:t>
                      </a:r>
                      <a:r>
                        <a:rPr lang="ko-KR" altLang="en-US" sz="700" b="1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상위 품종 회계코드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관리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/ 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하위 품종 관리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X</a:t>
                      </a:r>
                      <a:r>
                        <a:rPr lang="ko-KR" altLang="en-US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 </a:t>
                      </a:r>
                      <a:r>
                        <a:rPr lang="en-US" altLang="ko-KR" sz="700" kern="1200" spc="-2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Malgun Gothic"/>
                        </a:rPr>
                        <a:t>)</a:t>
                      </a: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  <a:p>
                      <a:pPr marL="10795" marR="326390" algn="l" defTabSz="914400" rtl="0" eaLnBrk="1" latinLnBrk="1" hangingPunct="1">
                        <a:lnSpc>
                          <a:spcPct val="130000"/>
                        </a:lnSpc>
                        <a:spcBef>
                          <a:spcPts val="325"/>
                        </a:spcBef>
                      </a:pPr>
                      <a:endParaRPr lang="en-US" altLang="ko-KR" sz="700" kern="1200" spc="-2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67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3811060" y="481846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650" b="1">
              <a:latin typeface="+mn-e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06107" y="216227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06564" y="2167360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8374" y="4822744"/>
            <a:ext cx="351378" cy="192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50" b="1" dirty="0">
                <a:latin typeface="+mn-ea"/>
              </a:rPr>
              <a:t>종료</a:t>
            </a: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4077145" y="2339173"/>
            <a:ext cx="0" cy="2713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bject 22"/>
          <p:cNvSpPr/>
          <p:nvPr/>
        </p:nvSpPr>
        <p:spPr>
          <a:xfrm>
            <a:off x="3548825" y="261051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46894" y="2625642"/>
            <a:ext cx="1086913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(1) </a:t>
            </a:r>
            <a:r>
              <a:rPr lang="ko-KR" altLang="en-US" sz="650" b="1" dirty="0">
                <a:latin typeface="+mn-ea"/>
              </a:rPr>
              <a:t>상위 품종 정보</a:t>
            </a:r>
          </a:p>
        </p:txBody>
      </p:sp>
      <p:sp>
        <p:nvSpPr>
          <p:cNvPr id="39" name="object 22"/>
          <p:cNvSpPr/>
          <p:nvPr/>
        </p:nvSpPr>
        <p:spPr>
          <a:xfrm>
            <a:off x="3546074" y="336722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44144" y="3374946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(2) </a:t>
            </a:r>
            <a:r>
              <a:rPr lang="ko-KR" altLang="en-US" sz="650" b="1" dirty="0">
                <a:latin typeface="+mn-ea"/>
              </a:rPr>
              <a:t>하위 품종 정보</a:t>
            </a:r>
          </a:p>
        </p:txBody>
      </p:sp>
      <p:sp>
        <p:nvSpPr>
          <p:cNvPr id="41" name="object 22"/>
          <p:cNvSpPr/>
          <p:nvPr/>
        </p:nvSpPr>
        <p:spPr>
          <a:xfrm>
            <a:off x="3551580" y="415420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pPr algn="ctr"/>
            <a:endParaRPr sz="650" b="1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49650" y="4161918"/>
            <a:ext cx="1094170" cy="1923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>
                <a:latin typeface="+mn-ea"/>
              </a:rPr>
              <a:t>(3) </a:t>
            </a:r>
            <a:r>
              <a:rPr lang="ko-KR" altLang="en-US" sz="650" b="1" dirty="0">
                <a:latin typeface="+mn-ea"/>
              </a:rPr>
              <a:t>회계 코드 정보</a:t>
            </a: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4079899" y="2824274"/>
            <a:ext cx="0" cy="539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4077149" y="3570862"/>
            <a:ext cx="0" cy="581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4077148" y="4374723"/>
            <a:ext cx="0" cy="415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922" y="4215920"/>
            <a:ext cx="2196352" cy="1706137"/>
          </a:xfrm>
          <a:prstGeom prst="rect">
            <a:avLst/>
          </a:prstGeom>
        </p:spPr>
      </p:pic>
      <p:sp>
        <p:nvSpPr>
          <p:cNvPr id="62" name="object 22"/>
          <p:cNvSpPr/>
          <p:nvPr/>
        </p:nvSpPr>
        <p:spPr>
          <a:xfrm>
            <a:off x="1251190" y="218961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품종 정보 생성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변경 요청</a:t>
            </a:r>
            <a:endParaRPr sz="650" b="1" dirty="0">
              <a:latin typeface="+mn-ea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1248440" y="301235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G/W </a:t>
            </a:r>
            <a:r>
              <a:rPr lang="ko-KR" altLang="en-US" sz="650" b="1" dirty="0">
                <a:latin typeface="+mn-ea"/>
              </a:rPr>
              <a:t>전자결재</a:t>
            </a:r>
            <a:endParaRPr sz="650" b="1" dirty="0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1794234" y="2399050"/>
            <a:ext cx="325" cy="6133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3049169" y="1718313"/>
            <a:ext cx="0" cy="4296409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/>
          <p:nvPr/>
        </p:nvCxnSpPr>
        <p:spPr>
          <a:xfrm flipV="1">
            <a:off x="2340679" y="2714415"/>
            <a:ext cx="1206215" cy="38758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510817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2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73336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8440" y="1495960"/>
            <a:ext cx="662830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경영기획팀 </a:t>
            </a:r>
            <a:r>
              <a:rPr lang="en-US" altLang="ko-KR" sz="894" b="1" dirty="0">
                <a:solidFill>
                  <a:schemeClr val="tx1"/>
                </a:solidFill>
              </a:rPr>
              <a:t>(</a:t>
            </a:r>
            <a:r>
              <a:rPr lang="ko-KR" altLang="en-US" sz="894" b="1" dirty="0">
                <a:solidFill>
                  <a:schemeClr val="tx1"/>
                </a:solidFill>
              </a:rPr>
              <a:t>칼라 정보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3" name="object 25"/>
          <p:cNvSpPr/>
          <p:nvPr/>
        </p:nvSpPr>
        <p:spPr>
          <a:xfrm>
            <a:off x="3811060" y="22448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14" name="object 17"/>
          <p:cNvSpPr/>
          <p:nvPr/>
        </p:nvSpPr>
        <p:spPr>
          <a:xfrm>
            <a:off x="3811060" y="486248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종료</a:t>
            </a:r>
            <a:endParaRPr sz="650" b="1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246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칼라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전사 시스템 사용 칼라 코드 등록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관리</a:t>
            </a:r>
            <a:endParaRPr lang="ko-KR" altLang="en-US" sz="731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561"/>
              </a:spcBef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(1) </a:t>
            </a:r>
            <a:r>
              <a:rPr lang="ko-KR" altLang="en-US" sz="731" spc="-16" dirty="0">
                <a:latin typeface="+mn-ea"/>
                <a:cs typeface="Malgun Gothic"/>
              </a:rPr>
              <a:t>대표 칼라 선택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등록 하려는 칼라를 대표하는 칼라코드 선택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(2) </a:t>
            </a:r>
            <a:r>
              <a:rPr lang="ko-KR" altLang="en-US" sz="731" spc="-16" dirty="0">
                <a:latin typeface="+mn-ea"/>
                <a:cs typeface="Malgun Gothic"/>
              </a:rPr>
              <a:t>칼라 코드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칼라 명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대표 칼라 선택 후 등록하려는 칼라코드와 등록 칼라에 대한 한글 칼라 명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영문 칼라 명을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※ </a:t>
            </a:r>
            <a:r>
              <a:rPr lang="ko-KR" altLang="en-US" sz="731" spc="-16" dirty="0">
                <a:latin typeface="+mn-ea"/>
                <a:cs typeface="Malgun Gothic"/>
              </a:rPr>
              <a:t>사용 하지 않는 칼라코드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중복 칼라코드에 대한 정리 작업 진행여부</a:t>
            </a:r>
          </a:p>
          <a:p>
            <a:endParaRPr lang="ko-KR" altLang="en-US" sz="731" dirty="0"/>
          </a:p>
        </p:txBody>
      </p:sp>
      <p:sp>
        <p:nvSpPr>
          <p:cNvPr id="20" name="object 22"/>
          <p:cNvSpPr/>
          <p:nvPr/>
        </p:nvSpPr>
        <p:spPr>
          <a:xfrm>
            <a:off x="3551576" y="31141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(1) </a:t>
            </a:r>
            <a:r>
              <a:rPr lang="ko-KR" altLang="en-US" sz="650" b="1" dirty="0">
                <a:latin typeface="+mn-ea"/>
              </a:rPr>
              <a:t>대표 칼라 선택</a:t>
            </a:r>
            <a:endParaRPr sz="650" b="1" dirty="0">
              <a:latin typeface="+mn-ea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3551576" y="3945074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(2) </a:t>
            </a:r>
            <a:r>
              <a:rPr lang="ko-KR" altLang="en-US" sz="650" b="1" dirty="0">
                <a:latin typeface="+mn-ea"/>
              </a:rPr>
              <a:t>칼라코드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>
                <a:latin typeface="+mn-ea"/>
              </a:rPr>
              <a:t>칼라 명 기입</a:t>
            </a:r>
            <a:endParaRPr sz="650" b="1" dirty="0">
              <a:latin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4072382" y="2419732"/>
            <a:ext cx="0" cy="694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4075133" y="3325587"/>
            <a:ext cx="0" cy="6162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4075135" y="4161532"/>
            <a:ext cx="0" cy="694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426256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7421832" y="4142102"/>
            <a:ext cx="17652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칼라 총 </a:t>
            </a:r>
            <a:r>
              <a:rPr lang="ko-KR" altLang="en-US" sz="650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갯수</a:t>
            </a:r>
            <a:r>
              <a:rPr lang="en-US" altLang="ko-KR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:</a:t>
            </a:r>
            <a:r>
              <a:rPr lang="en-US" altLang="ko-KR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1434</a:t>
            </a:r>
            <a:endParaRPr lang="en-US" altLang="ko-KR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ko-KR" altLang="en-US" sz="650" dirty="0">
                <a:highlight>
                  <a:srgbClr val="FFFFFF"/>
                </a:highlight>
                <a:latin typeface="+mn-ea"/>
              </a:rPr>
              <a:t>대표 칼라 </a:t>
            </a:r>
            <a:r>
              <a:rPr lang="ko-KR" altLang="en-US" sz="650" dirty="0" err="1">
                <a:highlight>
                  <a:srgbClr val="FFFFFF"/>
                </a:highlight>
                <a:latin typeface="+mn-ea"/>
              </a:rPr>
              <a:t>갯수</a:t>
            </a:r>
            <a:r>
              <a:rPr lang="en-US" altLang="ko-KR" sz="650" dirty="0">
                <a:highlight>
                  <a:srgbClr val="FFFFFF"/>
                </a:highlight>
                <a:latin typeface="+mn-ea"/>
              </a:rPr>
              <a:t> : </a:t>
            </a:r>
            <a:r>
              <a:rPr lang="en-US" altLang="ko-KR" sz="650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18</a:t>
            </a:r>
            <a:endParaRPr lang="en-US" altLang="ko-KR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ko-KR" altLang="en-US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사용 중 칼라 </a:t>
            </a:r>
            <a:r>
              <a:rPr lang="en-US" altLang="ko-KR" sz="650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:</a:t>
            </a:r>
            <a:r>
              <a:rPr lang="ko-KR" altLang="en-US" sz="650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650</a:t>
            </a:r>
            <a:endParaRPr lang="ko-KR" altLang="en-US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ko-KR" altLang="en-US" sz="650" b="1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미사용 칼라 </a:t>
            </a:r>
            <a:r>
              <a:rPr lang="en-US" altLang="ko-KR" sz="650" b="1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:</a:t>
            </a:r>
            <a:r>
              <a:rPr lang="ko-KR" altLang="en-US" sz="650" b="1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ko-KR" sz="650" b="1" dirty="0">
                <a:solidFill>
                  <a:srgbClr val="800000"/>
                </a:solidFill>
                <a:highlight>
                  <a:srgbClr val="FFFFFF"/>
                </a:highlight>
                <a:latin typeface="+mn-ea"/>
              </a:rPr>
              <a:t>784</a:t>
            </a:r>
            <a:endParaRPr lang="ko-KR" altLang="en-US" sz="650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914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444618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7042" y="1490332"/>
            <a:ext cx="304534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상품기획팀</a:t>
            </a:r>
            <a:r>
              <a:rPr lang="en-US" altLang="ko-KR" sz="894" b="1" dirty="0">
                <a:solidFill>
                  <a:schemeClr val="tx1"/>
                </a:solidFill>
              </a:rPr>
              <a:t> (</a:t>
            </a:r>
            <a:r>
              <a:rPr lang="ko-KR" altLang="en-US" sz="894" b="1" dirty="0">
                <a:solidFill>
                  <a:schemeClr val="tx1"/>
                </a:solidFill>
              </a:rPr>
              <a:t>사이즈 정보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0332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3" name="object 25"/>
          <p:cNvSpPr/>
          <p:nvPr/>
        </p:nvSpPr>
        <p:spPr>
          <a:xfrm>
            <a:off x="1510674" y="22448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389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사이즈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기획사이즈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전사 사용할 기본 사이즈 정보 등록 및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브랜드 별 목적에 맞는 기획 사이즈 정보를 관리</a:t>
            </a:r>
            <a:endParaRPr lang="ko-KR" altLang="en-US" sz="731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561"/>
              </a:spcBef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전사에서 사용할 실제 사이즈 코드에 대한 정보 등록 및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브랜드 별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목적 별 사이즈 그룹 코드생성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(2-2) </a:t>
            </a:r>
            <a:r>
              <a:rPr lang="ko-KR" altLang="en-US" sz="731" spc="-16" dirty="0">
                <a:latin typeface="+mn-ea"/>
                <a:cs typeface="Malgun Gothic"/>
              </a:rPr>
              <a:t>생성된 브랜드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목적 별 사이즈 그룹코드에서 실제 사용할 실제 사이즈 </a:t>
            </a:r>
            <a:r>
              <a:rPr lang="ko-KR" altLang="en-US" sz="731" spc="-16" dirty="0" err="1">
                <a:latin typeface="+mn-ea"/>
                <a:cs typeface="Malgun Gothic"/>
              </a:rPr>
              <a:t>쳬계</a:t>
            </a:r>
            <a:r>
              <a:rPr lang="ko-KR" altLang="en-US" sz="731" spc="-16" dirty="0">
                <a:latin typeface="+mn-ea"/>
                <a:cs typeface="Malgun Gothic"/>
              </a:rPr>
              <a:t> 범위 등록 및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※ </a:t>
            </a:r>
            <a:r>
              <a:rPr lang="ko-KR" altLang="en-US" sz="731" spc="-16" dirty="0">
                <a:latin typeface="+mn-ea"/>
                <a:cs typeface="Malgun Gothic"/>
              </a:rPr>
              <a:t>작업 지시서 </a:t>
            </a:r>
            <a:r>
              <a:rPr lang="en-US" altLang="ko-KR" sz="731" spc="-16" dirty="0">
                <a:latin typeface="+mn-ea"/>
                <a:cs typeface="Malgun Gothic"/>
              </a:rPr>
              <a:t>＇</a:t>
            </a:r>
            <a:r>
              <a:rPr lang="ko-KR" altLang="en-US" sz="731" spc="-16" dirty="0">
                <a:latin typeface="+mn-ea"/>
                <a:cs typeface="Malgun Gothic"/>
              </a:rPr>
              <a:t>기획 사이즈</a:t>
            </a:r>
            <a:r>
              <a:rPr lang="en-US" altLang="ko-KR" sz="731" spc="-16" dirty="0">
                <a:latin typeface="+mn-ea"/>
                <a:cs typeface="Malgun Gothic"/>
              </a:rPr>
              <a:t>‘  </a:t>
            </a:r>
            <a:r>
              <a:rPr lang="ko-KR" altLang="en-US" sz="731" spc="-16" dirty="0">
                <a:latin typeface="+mn-ea"/>
                <a:cs typeface="Malgun Gothic"/>
              </a:rPr>
              <a:t>등록 시 제품 정보 그룹에 매칭되는 기획 사이즈 범위 </a:t>
            </a:r>
            <a:r>
              <a:rPr lang="en-US" altLang="ko-KR" sz="731" spc="-16" dirty="0">
                <a:latin typeface="+mn-ea"/>
                <a:cs typeface="Malgun Gothic"/>
              </a:rPr>
              <a:t>LOAD</a:t>
            </a: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b="1" spc="-16" dirty="0">
                <a:latin typeface="+mn-ea"/>
                <a:cs typeface="Malgun Gothic"/>
              </a:rPr>
              <a:t>※ </a:t>
            </a:r>
            <a:r>
              <a:rPr lang="ko-KR" altLang="en-US" sz="731" b="1" spc="-16" dirty="0">
                <a:latin typeface="+mn-ea"/>
                <a:cs typeface="Malgun Gothic"/>
              </a:rPr>
              <a:t>사이즈 정보 관리 단일화 여부 협의 필요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※ </a:t>
            </a:r>
            <a:r>
              <a:rPr lang="ko-KR" altLang="en-US" sz="731" b="1" spc="-16" dirty="0">
                <a:latin typeface="+mn-ea"/>
                <a:cs typeface="Malgun Gothic"/>
              </a:rPr>
              <a:t>사이즈 정보 선 등록되지 않은 사이즈는 기획 사이즈 정보에서 사용 불가</a:t>
            </a:r>
          </a:p>
          <a:p>
            <a:endParaRPr lang="ko-KR" altLang="en-US" sz="731" dirty="0"/>
          </a:p>
        </p:txBody>
      </p:sp>
      <p:sp>
        <p:nvSpPr>
          <p:cNvPr id="20" name="object 22"/>
          <p:cNvSpPr/>
          <p:nvPr/>
        </p:nvSpPr>
        <p:spPr>
          <a:xfrm>
            <a:off x="1251190" y="31141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전사 사이즈 정보등록</a:t>
            </a:r>
            <a:endParaRPr sz="650" b="1" dirty="0">
              <a:latin typeface="+mn-ea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1771996" y="2419732"/>
            <a:ext cx="0" cy="6944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770104" y="1490332"/>
            <a:ext cx="358652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상품기획팀 </a:t>
            </a:r>
            <a:r>
              <a:rPr lang="en-US" altLang="ko-KR" sz="894" b="1" dirty="0">
                <a:solidFill>
                  <a:schemeClr val="tx1"/>
                </a:solidFill>
              </a:rPr>
              <a:t>(</a:t>
            </a:r>
            <a:r>
              <a:rPr lang="ko-KR" altLang="en-US" sz="894" b="1" dirty="0">
                <a:solidFill>
                  <a:schemeClr val="tx1"/>
                </a:solidFill>
              </a:rPr>
              <a:t>기획 사이즈 정보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9" name="object 22"/>
          <p:cNvSpPr/>
          <p:nvPr/>
        </p:nvSpPr>
        <p:spPr>
          <a:xfrm>
            <a:off x="4941161" y="3144436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브랜드 별 목적 별 분류</a:t>
            </a:r>
            <a:r>
              <a:rPr lang="en-US" altLang="ko-KR" sz="650" b="1" dirty="0">
                <a:latin typeface="+mn-ea"/>
              </a:rPr>
              <a:t/>
            </a:r>
            <a:br>
              <a:rPr lang="en-US" altLang="ko-KR" sz="650" b="1" dirty="0">
                <a:latin typeface="+mn-ea"/>
              </a:rPr>
            </a:br>
            <a:r>
              <a:rPr lang="en-US" altLang="ko-KR" sz="650" b="1" dirty="0">
                <a:latin typeface="+mn-ea"/>
              </a:rPr>
              <a:t>( </a:t>
            </a:r>
            <a:r>
              <a:rPr lang="ko-KR" altLang="en-US" sz="650" b="1" dirty="0">
                <a:latin typeface="+mn-ea"/>
              </a:rPr>
              <a:t>사이즈 그룹 생성 </a:t>
            </a:r>
            <a:r>
              <a:rPr lang="en-US" altLang="ko-KR" sz="650" b="1" dirty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sp>
        <p:nvSpPr>
          <p:cNvPr id="26" name="object 17"/>
          <p:cNvSpPr/>
          <p:nvPr/>
        </p:nvSpPr>
        <p:spPr>
          <a:xfrm>
            <a:off x="5200645" y="517343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4" y="0"/>
                </a:moveTo>
                <a:lnTo>
                  <a:pt x="539623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7" y="107441"/>
                </a:lnTo>
                <a:lnTo>
                  <a:pt x="634992" y="149261"/>
                </a:lnTo>
                <a:lnTo>
                  <a:pt x="612806" y="183413"/>
                </a:lnTo>
                <a:lnTo>
                  <a:pt x="579905" y="206440"/>
                </a:lnTo>
                <a:lnTo>
                  <a:pt x="539623" y="214883"/>
                </a:lnTo>
                <a:lnTo>
                  <a:pt x="103504" y="214883"/>
                </a:lnTo>
                <a:lnTo>
                  <a:pt x="63222" y="206440"/>
                </a:lnTo>
                <a:lnTo>
                  <a:pt x="30321" y="183413"/>
                </a:lnTo>
                <a:lnTo>
                  <a:pt x="8135" y="149261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4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종료</a:t>
            </a:r>
            <a:endParaRPr sz="650" b="1" dirty="0">
              <a:latin typeface="+mn-ea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4941161" y="416098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세부 분류에 따른 </a:t>
            </a:r>
            <a:endParaRPr lang="en-US" altLang="ko-KR" sz="650" b="1" dirty="0">
              <a:latin typeface="+mn-ea"/>
            </a:endParaRPr>
          </a:p>
          <a:p>
            <a:pPr algn="ctr"/>
            <a:r>
              <a:rPr lang="ko-KR" altLang="en-US" sz="650" b="1" dirty="0">
                <a:latin typeface="+mn-ea"/>
              </a:rPr>
              <a:t>실 사이즈 범위 등록</a:t>
            </a:r>
            <a:endParaRPr sz="650" b="1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5459215" y="3358537"/>
            <a:ext cx="0" cy="787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>
            <a:off x="5461967" y="4373897"/>
            <a:ext cx="0" cy="787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770104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343429" y="3220707"/>
            <a:ext cx="2597732" cy="30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642839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53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84700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7043" y="1493209"/>
            <a:ext cx="1416672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현업 담당자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4408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사업자 기본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구매 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/ 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생산처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전사 관련 사업자 관련 정보 등록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각 사업부에서 신규 거래처 요청 회계시스템</a:t>
            </a:r>
            <a:r>
              <a:rPr lang="en-US" altLang="ko-KR" sz="731" spc="-16" dirty="0">
                <a:latin typeface="+mn-ea"/>
                <a:cs typeface="Malgun Gothic"/>
              </a:rPr>
              <a:t> (AIS)</a:t>
            </a:r>
            <a:r>
              <a:rPr lang="ko-KR" altLang="en-US" sz="731" spc="-16" dirty="0">
                <a:latin typeface="+mn-ea"/>
                <a:cs typeface="Malgun Gothic"/>
              </a:rPr>
              <a:t>에 등록 </a:t>
            </a:r>
            <a:r>
              <a:rPr lang="en-US" altLang="ko-KR" sz="731" spc="-16" dirty="0">
                <a:latin typeface="+mn-ea"/>
                <a:cs typeface="Malgun Gothic"/>
              </a:rPr>
              <a:t>(M0061-</a:t>
            </a:r>
            <a:r>
              <a:rPr lang="ko-KR" altLang="en-US" sz="731" spc="-16" dirty="0">
                <a:latin typeface="+mn-ea"/>
                <a:cs typeface="Malgun Gothic"/>
              </a:rPr>
              <a:t>현업업체등록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(1-2) G/W </a:t>
            </a:r>
            <a:r>
              <a:rPr lang="ko-KR" altLang="en-US" sz="731" spc="-16" dirty="0">
                <a:latin typeface="+mn-ea"/>
                <a:cs typeface="Malgun Gothic"/>
              </a:rPr>
              <a:t>전자결재 상신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2. </a:t>
            </a:r>
            <a:r>
              <a:rPr lang="ko-KR" altLang="en-US" sz="731" spc="-16" dirty="0">
                <a:latin typeface="+mn-ea"/>
                <a:cs typeface="Malgun Gothic"/>
              </a:rPr>
              <a:t>회계</a:t>
            </a:r>
            <a:r>
              <a:rPr lang="en-US" altLang="ko-KR" sz="731" spc="-16" dirty="0">
                <a:latin typeface="+mn-ea"/>
                <a:cs typeface="Malgun Gothic"/>
              </a:rPr>
              <a:t>(</a:t>
            </a:r>
            <a:r>
              <a:rPr lang="ko-KR" altLang="en-US" sz="731" spc="-16" dirty="0">
                <a:latin typeface="+mn-ea"/>
                <a:cs typeface="Malgun Gothic"/>
              </a:rPr>
              <a:t>재무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  <a:r>
              <a:rPr lang="ko-KR" altLang="en-US" sz="731" spc="-16" dirty="0">
                <a:latin typeface="+mn-ea"/>
                <a:cs typeface="Malgun Gothic"/>
              </a:rPr>
              <a:t> 담당자 승인 처리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b="1" spc="-16" dirty="0">
                <a:latin typeface="+mn-ea"/>
                <a:cs typeface="Malgun Gothic"/>
              </a:rPr>
              <a:t>※ </a:t>
            </a:r>
            <a:r>
              <a:rPr lang="ko-KR" altLang="en-US" sz="731" b="1" spc="-16" dirty="0">
                <a:latin typeface="+mn-ea"/>
                <a:cs typeface="Malgun Gothic"/>
              </a:rPr>
              <a:t>시스템 내 모든 사업자 정보는 회계시스템</a:t>
            </a:r>
            <a:r>
              <a:rPr lang="en-US" altLang="ko-KR" sz="731" b="1" spc="-16" dirty="0">
                <a:latin typeface="+mn-ea"/>
                <a:cs typeface="Malgun Gothic"/>
              </a:rPr>
              <a:t>(AIS) </a:t>
            </a:r>
            <a:r>
              <a:rPr lang="ko-KR" altLang="en-US" sz="731" b="1" spc="-16" dirty="0">
                <a:latin typeface="+mn-ea"/>
                <a:cs typeface="Malgun Gothic"/>
              </a:rPr>
              <a:t>에서 등록 </a:t>
            </a:r>
            <a:r>
              <a:rPr lang="en-US" altLang="ko-KR" sz="731" b="1" spc="-16" dirty="0">
                <a:latin typeface="+mn-ea"/>
                <a:cs typeface="Malgun Gothic"/>
              </a:rPr>
              <a:t>,</a:t>
            </a:r>
            <a:r>
              <a:rPr lang="ko-KR" altLang="en-US" sz="731" b="1" spc="-16" dirty="0">
                <a:latin typeface="+mn-ea"/>
                <a:cs typeface="Malgun Gothic"/>
              </a:rPr>
              <a:t> 각 시스템으로 인터페이스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b="1" spc="-16" dirty="0">
                <a:latin typeface="+mn-ea"/>
                <a:cs typeface="Malgun Gothic"/>
              </a:rPr>
              <a:t>-&gt; ’25</a:t>
            </a:r>
            <a:r>
              <a:rPr lang="ko-KR" altLang="en-US" sz="731" b="1" spc="-16" dirty="0">
                <a:latin typeface="+mn-ea"/>
                <a:cs typeface="Malgun Gothic"/>
              </a:rPr>
              <a:t> </a:t>
            </a:r>
            <a:r>
              <a:rPr lang="en-US" altLang="ko-KR" sz="731" b="1" spc="-16" dirty="0">
                <a:latin typeface="+mn-ea"/>
                <a:cs typeface="Malgun Gothic"/>
              </a:rPr>
              <a:t>AIS </a:t>
            </a:r>
            <a:r>
              <a:rPr lang="ko-KR" altLang="en-US" sz="731" b="1" spc="-16" dirty="0">
                <a:latin typeface="+mn-ea"/>
                <a:cs typeface="Malgun Gothic"/>
              </a:rPr>
              <a:t>개편을 통해 거래선 입력 일원화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</a:t>
            </a:r>
            <a:r>
              <a:rPr lang="ko-KR" altLang="en-US" sz="731" spc="-16" dirty="0">
                <a:latin typeface="+mn-ea"/>
                <a:cs typeface="Malgun Gothic"/>
              </a:rPr>
              <a:t>회계시스템에 등록된 사업자 정보등록은 자동 배치를 통해 </a:t>
            </a:r>
            <a:r>
              <a:rPr lang="en-US" altLang="ko-KR" sz="731" spc="-16" dirty="0">
                <a:latin typeface="+mn-ea"/>
                <a:cs typeface="Malgun Gothic"/>
              </a:rPr>
              <a:t>ESP DB</a:t>
            </a:r>
            <a:r>
              <a:rPr lang="ko-KR" altLang="en-US" sz="731" spc="-16" dirty="0">
                <a:latin typeface="+mn-ea"/>
                <a:cs typeface="Malgun Gothic"/>
              </a:rPr>
              <a:t>를 거쳐 </a:t>
            </a:r>
            <a:r>
              <a:rPr lang="en-US" altLang="ko-KR" sz="731" b="1" spc="-16" dirty="0">
                <a:latin typeface="+mn-ea"/>
                <a:cs typeface="Malgun Gothic"/>
              </a:rPr>
              <a:t>FONE </a:t>
            </a:r>
            <a:r>
              <a:rPr lang="ko-KR" altLang="en-US" sz="731" b="1" spc="-16" dirty="0">
                <a:latin typeface="+mn-ea"/>
                <a:cs typeface="Malgun Gothic"/>
              </a:rPr>
              <a:t>시스템</a:t>
            </a:r>
            <a:r>
              <a:rPr lang="en-US" altLang="ko-KR" sz="731" b="1" spc="-16" dirty="0">
                <a:latin typeface="+mn-ea"/>
                <a:cs typeface="Malgun Gothic"/>
              </a:rPr>
              <a:t> </a:t>
            </a:r>
            <a:r>
              <a:rPr lang="ko-KR" altLang="en-US" sz="731" b="1" spc="-16" dirty="0">
                <a:latin typeface="+mn-ea"/>
                <a:cs typeface="Malgun Gothic"/>
              </a:rPr>
              <a:t>으</a:t>
            </a:r>
            <a:r>
              <a:rPr lang="ko-KR" altLang="en-US" sz="731" spc="-16" dirty="0">
                <a:latin typeface="+mn-ea"/>
                <a:cs typeface="Malgun Gothic"/>
              </a:rPr>
              <a:t>로 인터페이스 </a:t>
            </a:r>
            <a:r>
              <a:rPr lang="en-US" altLang="ko-KR" sz="731" spc="-16" dirty="0">
                <a:latin typeface="+mn-ea"/>
                <a:cs typeface="Malgun Gothic"/>
              </a:rPr>
              <a:t>( 1</a:t>
            </a:r>
            <a:r>
              <a:rPr lang="ko-KR" altLang="en-US" sz="731" spc="-16" dirty="0">
                <a:latin typeface="+mn-ea"/>
                <a:cs typeface="Malgun Gothic"/>
              </a:rPr>
              <a:t>분마다 실행 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* </a:t>
            </a:r>
            <a:r>
              <a:rPr lang="ko-KR" altLang="en-US" sz="731" spc="-16" dirty="0" err="1">
                <a:latin typeface="+mn-ea"/>
                <a:cs typeface="Malgun Gothic"/>
              </a:rPr>
              <a:t>증분</a:t>
            </a:r>
            <a:r>
              <a:rPr lang="ko-KR" altLang="en-US" sz="731" spc="-16" dirty="0">
                <a:latin typeface="+mn-ea"/>
                <a:cs typeface="Malgun Gothic"/>
              </a:rPr>
              <a:t> 데이터 </a:t>
            </a:r>
            <a:r>
              <a:rPr lang="ko-KR" altLang="en-US" sz="731" spc="-16" dirty="0" err="1">
                <a:latin typeface="+mn-ea"/>
                <a:cs typeface="Malgun Gothic"/>
              </a:rPr>
              <a:t>인입</a:t>
            </a:r>
            <a:r>
              <a:rPr lang="ko-KR" altLang="en-US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>
                <a:latin typeface="+mn-ea"/>
                <a:cs typeface="Malgun Gothic"/>
              </a:rPr>
              <a:t>( </a:t>
            </a:r>
            <a:r>
              <a:rPr lang="ko-KR" altLang="en-US" sz="731" spc="-16" dirty="0">
                <a:latin typeface="+mn-ea"/>
                <a:cs typeface="Malgun Gothic"/>
              </a:rPr>
              <a:t>신규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변경 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인터페이스 받은 사업자 정보 중 구매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정보는 구매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정보 화면을 통해 거래처 정보 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인터페이스 된 사업자 정보 중 매장 사업자 정보는 매장 정보 등록 시 사용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674188" y="1493209"/>
            <a:ext cx="1602078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FA-ONE </a:t>
            </a:r>
            <a:r>
              <a:rPr lang="ko-KR" altLang="en-US" sz="894" b="1" dirty="0">
                <a:solidFill>
                  <a:schemeClr val="tx1"/>
                </a:solidFill>
              </a:rPr>
              <a:t>시스템 </a:t>
            </a:r>
            <a:r>
              <a:rPr lang="en-US" altLang="ko-KR" sz="894" b="1" dirty="0">
                <a:solidFill>
                  <a:schemeClr val="tx1"/>
                </a:solidFill>
              </a:rPr>
              <a:t>I/F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143715" y="1688326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142650" y="1493209"/>
            <a:ext cx="154108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회계팀</a:t>
            </a:r>
            <a:r>
              <a:rPr lang="en-US" altLang="ko-KR" sz="894" b="1" dirty="0">
                <a:solidFill>
                  <a:schemeClr val="tx1"/>
                </a:solidFill>
              </a:rPr>
              <a:t>(</a:t>
            </a:r>
            <a:r>
              <a:rPr lang="ko-KR" altLang="en-US" sz="894" b="1" dirty="0">
                <a:solidFill>
                  <a:schemeClr val="tx1"/>
                </a:solidFill>
              </a:rPr>
              <a:t>재무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0" name="object 22"/>
          <p:cNvSpPr/>
          <p:nvPr/>
        </p:nvSpPr>
        <p:spPr>
          <a:xfrm>
            <a:off x="888335" y="261385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</a:t>
            </a:r>
            <a:r>
              <a:rPr lang="ko-KR" altLang="en-US" sz="650" b="1" dirty="0">
                <a:latin typeface="+mn-ea"/>
              </a:rPr>
              <a:t>사업자 등록 요청</a:t>
            </a:r>
            <a:endParaRPr sz="650" b="1" dirty="0">
              <a:latin typeface="+mn-ea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3680983" y="1688326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bject 22"/>
          <p:cNvSpPr/>
          <p:nvPr/>
        </p:nvSpPr>
        <p:spPr>
          <a:xfrm>
            <a:off x="4071034" y="335619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</a:t>
            </a:r>
            <a:r>
              <a:rPr lang="ko-KR" altLang="en-US" sz="650" b="1" dirty="0">
                <a:latin typeface="+mn-ea"/>
              </a:rPr>
              <a:t>사업자 기본 현황</a:t>
            </a:r>
            <a:endParaRPr sz="650" b="1" dirty="0"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>
            <a:off x="4617703" y="3569574"/>
            <a:ext cx="0" cy="302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5276545" y="1493209"/>
            <a:ext cx="207834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영업관리 </a:t>
            </a:r>
            <a:r>
              <a:rPr lang="en-US" altLang="ko-KR" sz="894" b="1" dirty="0">
                <a:solidFill>
                  <a:schemeClr val="tx1"/>
                </a:solidFill>
              </a:rPr>
              <a:t>/ </a:t>
            </a:r>
            <a:r>
              <a:rPr lang="ko-KR" altLang="en-US" sz="894" b="1" dirty="0">
                <a:solidFill>
                  <a:schemeClr val="tx1"/>
                </a:solidFill>
              </a:rPr>
              <a:t>사업부</a:t>
            </a:r>
          </a:p>
        </p:txBody>
      </p:sp>
      <p:sp>
        <p:nvSpPr>
          <p:cNvPr id="21" name="순서도: 판단 20"/>
          <p:cNvSpPr/>
          <p:nvPr/>
        </p:nvSpPr>
        <p:spPr>
          <a:xfrm>
            <a:off x="4036201" y="3892976"/>
            <a:ext cx="1160211" cy="422871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</a:rPr>
              <a:t>사업자유형</a:t>
            </a:r>
          </a:p>
        </p:txBody>
      </p:sp>
      <p:sp>
        <p:nvSpPr>
          <p:cNvPr id="38" name="object 22"/>
          <p:cNvSpPr/>
          <p:nvPr/>
        </p:nvSpPr>
        <p:spPr>
          <a:xfrm>
            <a:off x="4076663" y="46394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</a:t>
            </a:r>
            <a:r>
              <a:rPr lang="ko-KR" altLang="en-US" sz="650" b="1" dirty="0">
                <a:latin typeface="+mn-ea"/>
              </a:rPr>
              <a:t>구매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 err="1">
                <a:latin typeface="+mn-ea"/>
              </a:rPr>
              <a:t>생산처</a:t>
            </a:r>
            <a:r>
              <a:rPr lang="ko-KR" altLang="en-US" sz="650" b="1" dirty="0">
                <a:latin typeface="+mn-ea"/>
              </a:rPr>
              <a:t> 정보</a:t>
            </a:r>
            <a:endParaRPr sz="650" b="1" dirty="0">
              <a:latin typeface="+mn-ea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4617703" y="4312526"/>
            <a:ext cx="0" cy="3021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617703" y="4859986"/>
            <a:ext cx="0" cy="760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5"/>
          <p:cNvSpPr/>
          <p:nvPr/>
        </p:nvSpPr>
        <p:spPr>
          <a:xfrm>
            <a:off x="4345126" y="563589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5279457" y="170521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bject 22"/>
          <p:cNvSpPr/>
          <p:nvPr/>
        </p:nvSpPr>
        <p:spPr>
          <a:xfrm>
            <a:off x="5742671" y="3998768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</a:t>
            </a:r>
            <a:r>
              <a:rPr lang="ko-KR" altLang="en-US" sz="650" b="1" dirty="0">
                <a:latin typeface="+mn-ea"/>
              </a:rPr>
              <a:t>매장 정보</a:t>
            </a:r>
            <a:endParaRPr sz="650" b="1" dirty="0">
              <a:latin typeface="+mn-ea"/>
            </a:endParaRPr>
          </a:p>
        </p:txBody>
      </p:sp>
      <p:sp>
        <p:nvSpPr>
          <p:cNvPr id="45" name="object 22"/>
          <p:cNvSpPr/>
          <p:nvPr/>
        </p:nvSpPr>
        <p:spPr>
          <a:xfrm>
            <a:off x="5395090" y="508107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매장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>
                <a:latin typeface="+mn-ea"/>
              </a:rPr>
              <a:t>브랜드 정보</a:t>
            </a:r>
            <a:endParaRPr sz="650" b="1" dirty="0"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6283714" y="4227959"/>
            <a:ext cx="0" cy="820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object 22"/>
          <p:cNvSpPr/>
          <p:nvPr/>
        </p:nvSpPr>
        <p:spPr>
          <a:xfrm>
            <a:off x="6089381" y="52262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브랜드 담당자 등록</a:t>
            </a:r>
            <a:endParaRPr sz="650" b="1" dirty="0">
              <a:latin typeface="+mn-ea"/>
            </a:endParaRPr>
          </a:p>
        </p:txBody>
      </p:sp>
      <p:sp>
        <p:nvSpPr>
          <p:cNvPr id="61" name="object 25"/>
          <p:cNvSpPr/>
          <p:nvPr/>
        </p:nvSpPr>
        <p:spPr>
          <a:xfrm>
            <a:off x="1165068" y="2078729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437646" y="2254303"/>
            <a:ext cx="0" cy="332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구부러진 연결선 77"/>
          <p:cNvCxnSpPr/>
          <p:nvPr/>
        </p:nvCxnSpPr>
        <p:spPr>
          <a:xfrm rot="10800000" flipV="1">
            <a:off x="4622782" y="4222168"/>
            <a:ext cx="1660932" cy="1398502"/>
          </a:xfrm>
          <a:prstGeom prst="curvedConnector3">
            <a:avLst>
              <a:gd name="adj1" fmla="val 5779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21" idx="3"/>
          </p:cNvCxnSpPr>
          <p:nvPr/>
        </p:nvCxnSpPr>
        <p:spPr>
          <a:xfrm>
            <a:off x="5196413" y="4104412"/>
            <a:ext cx="546259" cy="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272958" y="3975189"/>
            <a:ext cx="352330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매장</a:t>
            </a:r>
            <a:endParaRPr lang="ko-KR" altLang="en-US" sz="65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4570790" y="4385191"/>
            <a:ext cx="639889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구매 </a:t>
            </a:r>
            <a:r>
              <a:rPr lang="en-US" altLang="ko-KR" sz="569" b="1" dirty="0"/>
              <a:t>/ </a:t>
            </a:r>
            <a:r>
              <a:rPr lang="ko-KR" altLang="en-US" sz="569" b="1" dirty="0" err="1"/>
              <a:t>생산처</a:t>
            </a:r>
            <a:endParaRPr lang="ko-KR" altLang="en-US" sz="650" b="1" dirty="0"/>
          </a:p>
        </p:txBody>
      </p:sp>
      <p:sp>
        <p:nvSpPr>
          <p:cNvPr id="85" name="object 22"/>
          <p:cNvSpPr/>
          <p:nvPr/>
        </p:nvSpPr>
        <p:spPr>
          <a:xfrm>
            <a:off x="880269" y="308602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1434454" y="2826934"/>
            <a:ext cx="0" cy="25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>
            <a:off x="1972509" y="3192565"/>
            <a:ext cx="4381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986616" y="4878295"/>
            <a:ext cx="672370" cy="3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dirty="0">
                <a:latin typeface="+mn-ea"/>
              </a:rPr>
              <a:t>C2281 </a:t>
            </a:r>
            <a:r>
              <a:rPr lang="ko-KR" altLang="en-US" sz="569" dirty="0" err="1">
                <a:latin typeface="+mn-ea"/>
              </a:rPr>
              <a:t>생산처</a:t>
            </a:r>
            <a:endParaRPr lang="ko-KR" altLang="en-US" sz="569" dirty="0">
              <a:latin typeface="+mn-ea"/>
            </a:endParaRPr>
          </a:p>
          <a:p>
            <a:r>
              <a:rPr lang="en-US" altLang="ko-KR" sz="569" dirty="0">
                <a:latin typeface="+mn-ea"/>
              </a:rPr>
              <a:t>C2282 </a:t>
            </a:r>
            <a:r>
              <a:rPr lang="ko-KR" altLang="en-US" sz="569" dirty="0">
                <a:latin typeface="+mn-ea"/>
              </a:rPr>
              <a:t>구매처</a:t>
            </a:r>
          </a:p>
          <a:p>
            <a:r>
              <a:rPr lang="en-US" altLang="ko-KR" sz="569" dirty="0">
                <a:latin typeface="+mn-ea"/>
              </a:rPr>
              <a:t>C2283 </a:t>
            </a:r>
            <a:r>
              <a:rPr lang="ko-KR" altLang="en-US" sz="569" dirty="0" err="1">
                <a:latin typeface="+mn-ea"/>
              </a:rPr>
              <a:t>해외처</a:t>
            </a:r>
            <a:endParaRPr lang="ko-KR" altLang="en-US" sz="569" dirty="0">
              <a:latin typeface="+mn-ea"/>
            </a:endParaRPr>
          </a:p>
        </p:txBody>
      </p:sp>
      <p:sp>
        <p:nvSpPr>
          <p:cNvPr id="92" name="순서도: 자기 디스크 91"/>
          <p:cNvSpPr/>
          <p:nvPr/>
        </p:nvSpPr>
        <p:spPr>
          <a:xfrm>
            <a:off x="2410381" y="2960141"/>
            <a:ext cx="952076" cy="385352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 dirty="0">
                <a:solidFill>
                  <a:schemeClr val="tx1"/>
                </a:solidFill>
              </a:rPr>
              <a:t>(AIS)</a:t>
            </a:r>
            <a:r>
              <a:rPr lang="ko-KR" altLang="en-US" sz="650" dirty="0">
                <a:solidFill>
                  <a:schemeClr val="tx1"/>
                </a:solidFill>
              </a:rPr>
              <a:t>회계관리시스템</a:t>
            </a:r>
          </a:p>
        </p:txBody>
      </p:sp>
      <p:graphicFrame>
        <p:nvGraphicFramePr>
          <p:cNvPr id="9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129241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6" name="TextBox 95"/>
          <p:cNvSpPr txBox="1"/>
          <p:nvPr/>
        </p:nvSpPr>
        <p:spPr>
          <a:xfrm>
            <a:off x="2020558" y="4274029"/>
            <a:ext cx="592505" cy="1827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69" dirty="0"/>
              <a:t>10</a:t>
            </a:r>
            <a:r>
              <a:rPr lang="ko-KR" altLang="en-US" sz="569" dirty="0"/>
              <a:t>분 주기 </a:t>
            </a:r>
            <a:r>
              <a:rPr lang="en-US" altLang="ko-KR" sz="569" dirty="0"/>
              <a:t>I/F</a:t>
            </a:r>
            <a:endParaRPr lang="ko-KR" altLang="en-US" sz="569" dirty="0"/>
          </a:p>
        </p:txBody>
      </p:sp>
      <p:sp>
        <p:nvSpPr>
          <p:cNvPr id="49" name="직사각형 48"/>
          <p:cNvSpPr/>
          <p:nvPr/>
        </p:nvSpPr>
        <p:spPr>
          <a:xfrm>
            <a:off x="2143769" y="3818167"/>
            <a:ext cx="153956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ESP (</a:t>
            </a:r>
            <a:r>
              <a:rPr lang="ko-KR" altLang="en-US" sz="894" b="1" dirty="0">
                <a:solidFill>
                  <a:schemeClr val="tx1"/>
                </a:solidFill>
              </a:rPr>
              <a:t>수출영업관리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50" name="순서도: 자기 디스크 49"/>
          <p:cNvSpPr/>
          <p:nvPr/>
        </p:nvSpPr>
        <p:spPr>
          <a:xfrm>
            <a:off x="2406684" y="4580956"/>
            <a:ext cx="952076" cy="385352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 dirty="0">
                <a:solidFill>
                  <a:schemeClr val="tx1"/>
                </a:solidFill>
              </a:rPr>
              <a:t>ESP DB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390255" y="3240426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2376202" y="4772799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8" name="꺾인 연결선 17"/>
          <p:cNvCxnSpPr>
            <a:stCxn id="51" idx="3"/>
            <a:endCxn id="52" idx="2"/>
          </p:cNvCxnSpPr>
          <p:nvPr/>
        </p:nvCxnSpPr>
        <p:spPr>
          <a:xfrm rot="5400000">
            <a:off x="1626330" y="4022007"/>
            <a:ext cx="1519239" cy="19493"/>
          </a:xfrm>
          <a:prstGeom prst="bentConnector4">
            <a:avLst>
              <a:gd name="adj1" fmla="val 26948"/>
              <a:gd name="adj2" fmla="val 199149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992330" y="3168908"/>
            <a:ext cx="592505" cy="1799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69" dirty="0"/>
              <a:t>1</a:t>
            </a:r>
            <a:r>
              <a:rPr lang="ko-KR" altLang="en-US" sz="569" dirty="0"/>
              <a:t>분 주기 </a:t>
            </a:r>
            <a:r>
              <a:rPr lang="en-US" altLang="ko-KR" sz="569" dirty="0"/>
              <a:t>I/F</a:t>
            </a:r>
            <a:endParaRPr lang="ko-KR" altLang="en-US" sz="569" dirty="0"/>
          </a:p>
        </p:txBody>
      </p:sp>
      <p:sp>
        <p:nvSpPr>
          <p:cNvPr id="66" name="타원 65"/>
          <p:cNvSpPr/>
          <p:nvPr/>
        </p:nvSpPr>
        <p:spPr>
          <a:xfrm>
            <a:off x="4590537" y="3332896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58" name="꺾인 연결선 57"/>
          <p:cNvCxnSpPr>
            <a:stCxn id="50" idx="4"/>
            <a:endCxn id="66" idx="0"/>
          </p:cNvCxnSpPr>
          <p:nvPr/>
        </p:nvCxnSpPr>
        <p:spPr>
          <a:xfrm flipV="1">
            <a:off x="3358760" y="3332896"/>
            <a:ext cx="1250351" cy="1440736"/>
          </a:xfrm>
          <a:prstGeom prst="bentConnector4">
            <a:avLst>
              <a:gd name="adj1" fmla="val 49257"/>
              <a:gd name="adj2" fmla="val 11289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75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808265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4319" y="1493209"/>
            <a:ext cx="223660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 </a:t>
            </a:r>
            <a:r>
              <a:rPr lang="ko-KR" altLang="en-US" sz="894" b="1" dirty="0" err="1">
                <a:solidFill>
                  <a:schemeClr val="tx1"/>
                </a:solidFill>
              </a:rPr>
              <a:t>영업팀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192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매장 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매장브랜드정보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브랜드 담당자 등록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매장 등록 및 제반 사항 등록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사업부 브랜드 </a:t>
            </a:r>
            <a:r>
              <a:rPr lang="ko-KR" altLang="en-US" sz="731" spc="-16" dirty="0" err="1">
                <a:latin typeface="+mn-ea"/>
                <a:cs typeface="Malgun Gothic"/>
              </a:rPr>
              <a:t>영업팀에서</a:t>
            </a:r>
            <a:r>
              <a:rPr lang="ko-KR" altLang="en-US" sz="731" spc="-16" dirty="0">
                <a:latin typeface="+mn-ea"/>
                <a:cs typeface="Malgun Gothic"/>
              </a:rPr>
              <a:t> 신규 매장 등록에 대한 요청을 </a:t>
            </a:r>
            <a:r>
              <a:rPr lang="en-US" altLang="ko-KR" sz="731" spc="-16" dirty="0">
                <a:latin typeface="+mn-ea"/>
                <a:cs typeface="Malgun Gothic"/>
              </a:rPr>
              <a:t>G/W </a:t>
            </a:r>
            <a:r>
              <a:rPr lang="ko-KR" altLang="en-US" sz="731" spc="-16" dirty="0">
                <a:latin typeface="+mn-ea"/>
                <a:cs typeface="Malgun Gothic"/>
              </a:rPr>
              <a:t>전자결재를 통해 </a:t>
            </a:r>
            <a:r>
              <a:rPr lang="ko-KR" altLang="en-US" sz="731" spc="-16" dirty="0" smtClean="0">
                <a:latin typeface="+mn-ea"/>
                <a:cs typeface="Malgun Gothic"/>
              </a:rPr>
              <a:t>상신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매장 기본정보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거래선 등록된 사업자 번호를 조회하여 최초 데이터 </a:t>
            </a:r>
            <a:r>
              <a:rPr lang="ko-KR" altLang="en-US" sz="731" spc="-16" dirty="0" err="1">
                <a:latin typeface="+mn-ea"/>
                <a:cs typeface="Malgun Gothic"/>
              </a:rPr>
              <a:t>세팅</a:t>
            </a:r>
            <a:r>
              <a:rPr lang="ko-KR" altLang="en-US" sz="731" spc="-16" dirty="0">
                <a:latin typeface="+mn-ea"/>
                <a:cs typeface="Malgun Gothic"/>
              </a:rPr>
              <a:t> 하며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 기본 정보를 기입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 </a:t>
            </a:r>
            <a:r>
              <a:rPr lang="ko-KR" altLang="en-US" sz="731" spc="-16" dirty="0" err="1">
                <a:latin typeface="+mn-ea"/>
                <a:cs typeface="Malgun Gothic"/>
              </a:rPr>
              <a:t>히스토리</a:t>
            </a:r>
            <a:r>
              <a:rPr lang="ko-KR" altLang="en-US" sz="731" spc="-16" dirty="0">
                <a:latin typeface="+mn-ea"/>
                <a:cs typeface="Malgun Gothic"/>
              </a:rPr>
              <a:t> 관리 수기 작업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영업관리팀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(2-2) </a:t>
            </a:r>
            <a:r>
              <a:rPr lang="ko-KR" altLang="en-US" sz="731" spc="-16" dirty="0">
                <a:latin typeface="+mn-ea"/>
                <a:cs typeface="Malgun Gothic"/>
              </a:rPr>
              <a:t>매장 브랜드 정보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매장 취급 가능 브랜드 정보 </a:t>
            </a:r>
            <a:r>
              <a:rPr lang="ko-KR" altLang="en-US" sz="731" spc="-16" dirty="0" smtClean="0">
                <a:latin typeface="+mn-ea"/>
                <a:cs typeface="Malgun Gothic"/>
              </a:rPr>
              <a:t>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(2-3) </a:t>
            </a:r>
            <a:r>
              <a:rPr lang="ko-KR" altLang="en-US" sz="731" spc="-16" dirty="0">
                <a:latin typeface="+mn-ea"/>
                <a:cs typeface="Malgun Gothic"/>
              </a:rPr>
              <a:t>매장 단말기 정보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직영점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대리점 브랜드 </a:t>
            </a:r>
            <a:r>
              <a:rPr lang="ko-KR" altLang="en-US" sz="731" spc="-16" dirty="0" err="1">
                <a:latin typeface="+mn-ea"/>
                <a:cs typeface="Malgun Gothic"/>
              </a:rPr>
              <a:t>영업팀</a:t>
            </a:r>
            <a:r>
              <a:rPr lang="ko-KR" altLang="en-US" sz="731" spc="-16" dirty="0">
                <a:latin typeface="+mn-ea"/>
                <a:cs typeface="Malgun Gothic"/>
              </a:rPr>
              <a:t> 단말정보 </a:t>
            </a:r>
            <a:r>
              <a:rPr lang="ko-KR" altLang="en-US" sz="731" spc="-16" dirty="0" smtClean="0">
                <a:latin typeface="+mn-ea"/>
                <a:cs typeface="Malgun Gothic"/>
              </a:rPr>
              <a:t>기입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(2-4) </a:t>
            </a:r>
            <a:r>
              <a:rPr lang="ko-KR" altLang="en-US" sz="731" spc="-16" dirty="0">
                <a:latin typeface="+mn-ea"/>
                <a:cs typeface="Malgun Gothic"/>
              </a:rPr>
              <a:t>매장 상세 정보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ko-KR" altLang="en-US" sz="731" spc="-16" dirty="0">
                <a:latin typeface="+mn-ea"/>
                <a:cs typeface="Malgun Gothic"/>
              </a:rPr>
              <a:t>매장 유통망 분류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 유형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운영 형태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매장등급 구분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제어</a:t>
            </a:r>
            <a:r>
              <a:rPr lang="en-US" altLang="ko-KR" sz="731" spc="-16" dirty="0">
                <a:latin typeface="+mn-ea"/>
                <a:cs typeface="Malgun Gothic"/>
              </a:rPr>
              <a:t>,</a:t>
            </a:r>
            <a:r>
              <a:rPr lang="ko-KR" altLang="en-US" sz="731" spc="-16" dirty="0">
                <a:latin typeface="+mn-ea"/>
                <a:cs typeface="Malgun Gothic"/>
              </a:rPr>
              <a:t> 계약 관계에 대한 정보등록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b="1" spc="-16" dirty="0">
                <a:latin typeface="+mn-ea"/>
                <a:cs typeface="Malgun Gothic"/>
              </a:rPr>
              <a:t>* </a:t>
            </a:r>
            <a:r>
              <a:rPr lang="ko-KR" altLang="en-US" sz="731" b="1" spc="-16" dirty="0">
                <a:latin typeface="+mn-ea"/>
                <a:cs typeface="Malgun Gothic"/>
              </a:rPr>
              <a:t>항목 정리 필요</a:t>
            </a:r>
            <a:r>
              <a:rPr lang="en-US" altLang="ko-KR" sz="731" b="1" spc="-16" dirty="0">
                <a:latin typeface="+mn-ea"/>
                <a:cs typeface="Malgun Gothic"/>
              </a:rPr>
              <a:t>, DW</a:t>
            </a:r>
            <a:r>
              <a:rPr lang="ko-KR" altLang="en-US" sz="731" b="1" spc="-16" dirty="0">
                <a:latin typeface="+mn-ea"/>
                <a:cs typeface="Malgun Gothic"/>
              </a:rPr>
              <a:t> 분석 정보 </a:t>
            </a:r>
            <a:r>
              <a:rPr lang="en-US" altLang="ko-KR" sz="731" b="1" spc="-16" dirty="0">
                <a:latin typeface="+mn-ea"/>
                <a:cs typeface="Malgun Gothic"/>
              </a:rPr>
              <a:t>( EWD, ODW)</a:t>
            </a:r>
            <a:r>
              <a:rPr lang="ko-KR" altLang="en-US" sz="731" b="1" spc="-16" dirty="0">
                <a:latin typeface="+mn-ea"/>
                <a:cs typeface="Malgun Gothic"/>
              </a:rPr>
              <a:t> 연관 관계 분석 필요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en-US" altLang="ko-KR" sz="731" spc="-16" dirty="0">
                <a:latin typeface="+mn-ea"/>
                <a:cs typeface="Malgun Gothic"/>
              </a:rPr>
              <a:t>(2-5) </a:t>
            </a:r>
            <a:r>
              <a:rPr lang="ko-KR" altLang="en-US" sz="731" spc="-16" dirty="0">
                <a:latin typeface="+mn-ea"/>
                <a:cs typeface="Malgun Gothic"/>
              </a:rPr>
              <a:t>기타 사항 등록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4"/>
              </a:spcBef>
              <a:defRPr/>
            </a:pPr>
            <a:r>
              <a:rPr lang="ko-KR" altLang="en-US" sz="731" spc="-16" dirty="0">
                <a:latin typeface="+mn-ea"/>
                <a:cs typeface="Malgun Gothic"/>
              </a:rPr>
              <a:t>근태 관리 관련 </a:t>
            </a:r>
            <a:r>
              <a:rPr lang="en-US" altLang="ko-KR" sz="731" spc="-16" dirty="0">
                <a:latin typeface="+mn-ea"/>
                <a:cs typeface="Malgun Gothic"/>
              </a:rPr>
              <a:t>GPS </a:t>
            </a:r>
            <a:r>
              <a:rPr lang="ko-KR" altLang="en-US" sz="731" spc="-16" dirty="0">
                <a:latin typeface="+mn-ea"/>
                <a:cs typeface="Malgun Gothic"/>
              </a:rPr>
              <a:t>정보 및 기타 정보 등록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19634" y="1493209"/>
            <a:ext cx="213236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브랜드기획팀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957246" y="1493209"/>
            <a:ext cx="225630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영업관리팀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5724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219634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555803" y="19026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828381" y="2086854"/>
            <a:ext cx="0" cy="227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929318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object 22"/>
          <p:cNvSpPr/>
          <p:nvPr/>
        </p:nvSpPr>
        <p:spPr>
          <a:xfrm>
            <a:off x="3524424" y="286150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</a:t>
            </a:r>
            <a:r>
              <a:rPr lang="ko-KR" altLang="en-US" sz="650" b="1" dirty="0">
                <a:latin typeface="+mn-ea"/>
              </a:rPr>
              <a:t>매장 기본정보 등록</a:t>
            </a:r>
            <a:endParaRPr sz="650" b="1" dirty="0">
              <a:latin typeface="+mn-ea"/>
            </a:endParaRPr>
          </a:p>
        </p:txBody>
      </p:sp>
      <p:sp>
        <p:nvSpPr>
          <p:cNvPr id="60" name="object 22"/>
          <p:cNvSpPr/>
          <p:nvPr/>
        </p:nvSpPr>
        <p:spPr>
          <a:xfrm>
            <a:off x="3521672" y="428962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(2-3)</a:t>
            </a:r>
            <a:r>
              <a:rPr lang="ko-KR" altLang="en-US" sz="650" b="1" dirty="0">
                <a:latin typeface="+mn-ea"/>
              </a:rPr>
              <a:t>매장 단말기 정보</a:t>
            </a:r>
            <a:endParaRPr sz="650" b="1" dirty="0">
              <a:latin typeface="+mn-ea"/>
            </a:endParaRPr>
          </a:p>
        </p:txBody>
      </p:sp>
      <p:sp>
        <p:nvSpPr>
          <p:cNvPr id="63" name="object 22"/>
          <p:cNvSpPr/>
          <p:nvPr/>
        </p:nvSpPr>
        <p:spPr>
          <a:xfrm>
            <a:off x="3529929" y="471062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(2-4)</a:t>
            </a:r>
            <a:r>
              <a:rPr lang="ko-KR" altLang="en-US" sz="650" b="1" dirty="0">
                <a:latin typeface="+mn-ea"/>
              </a:rPr>
              <a:t>매장 상세 정보</a:t>
            </a:r>
            <a:endParaRPr sz="650" b="1" dirty="0">
              <a:latin typeface="+mn-ea"/>
            </a:endParaRPr>
          </a:p>
        </p:txBody>
      </p:sp>
      <p:sp>
        <p:nvSpPr>
          <p:cNvPr id="64" name="object 22"/>
          <p:cNvSpPr/>
          <p:nvPr/>
        </p:nvSpPr>
        <p:spPr>
          <a:xfrm>
            <a:off x="3532681" y="5137142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(2-5)</a:t>
            </a:r>
            <a:r>
              <a:rPr lang="ko-KR" altLang="en-US" sz="650" b="1" dirty="0">
                <a:latin typeface="+mn-ea"/>
              </a:rPr>
              <a:t>기타 사항 등록</a:t>
            </a:r>
            <a:r>
              <a:rPr lang="en-US" altLang="ko-KR" sz="650" b="1" dirty="0">
                <a:latin typeface="+mn-ea"/>
              </a:rPr>
              <a:t>(GPS</a:t>
            </a:r>
            <a:r>
              <a:rPr lang="ko-KR" altLang="en-US" sz="650" b="1" dirty="0">
                <a:latin typeface="+mn-ea"/>
              </a:rPr>
              <a:t>外</a:t>
            </a:r>
            <a:r>
              <a:rPr lang="en-US" altLang="ko-KR" sz="650" b="1" dirty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>
            <a:off x="4070983" y="3083398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순서도: 판단 66"/>
          <p:cNvSpPr/>
          <p:nvPr/>
        </p:nvSpPr>
        <p:spPr>
          <a:xfrm>
            <a:off x="3544113" y="3708581"/>
            <a:ext cx="1054737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</a:rPr>
              <a:t>직영점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1461" y="4089382"/>
            <a:ext cx="298513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/>
              <a:t>YES</a:t>
            </a:r>
            <a:endParaRPr lang="ko-KR" altLang="en-US" sz="650" b="1" dirty="0"/>
          </a:p>
        </p:txBody>
      </p:sp>
      <p:sp>
        <p:nvSpPr>
          <p:cNvPr id="71" name="object 22"/>
          <p:cNvSpPr/>
          <p:nvPr/>
        </p:nvSpPr>
        <p:spPr>
          <a:xfrm>
            <a:off x="1276318" y="234144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매장 등록 요청</a:t>
            </a:r>
            <a:endParaRPr sz="650" b="1" dirty="0">
              <a:latin typeface="+mn-ea"/>
            </a:endParaRPr>
          </a:p>
        </p:txBody>
      </p:sp>
      <p:sp>
        <p:nvSpPr>
          <p:cNvPr id="72" name="object 22"/>
          <p:cNvSpPr/>
          <p:nvPr/>
        </p:nvSpPr>
        <p:spPr>
          <a:xfrm>
            <a:off x="1284629" y="2863856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1828382" y="2558317"/>
            <a:ext cx="0" cy="2746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>
            <a:off x="2379006" y="2968045"/>
            <a:ext cx="11432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4" name="object 22"/>
          <p:cNvSpPr/>
          <p:nvPr/>
        </p:nvSpPr>
        <p:spPr>
          <a:xfrm>
            <a:off x="1284629" y="4636328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</a:t>
            </a:r>
            <a:r>
              <a:rPr lang="ko-KR" altLang="en-US" sz="650" b="1" dirty="0">
                <a:latin typeface="+mn-ea"/>
              </a:rPr>
              <a:t>단말기 납품 </a:t>
            </a:r>
            <a:r>
              <a:rPr lang="en-US" altLang="ko-KR" sz="650" b="1" dirty="0">
                <a:latin typeface="+mn-ea"/>
              </a:rPr>
              <a:t>/ </a:t>
            </a:r>
            <a:r>
              <a:rPr lang="ko-KR" altLang="en-US" sz="650" b="1" dirty="0" err="1">
                <a:latin typeface="+mn-ea"/>
              </a:rPr>
              <a:t>세팅</a:t>
            </a:r>
            <a:endParaRPr sz="650" b="1" dirty="0">
              <a:latin typeface="+mn-ea"/>
            </a:endParaRPr>
          </a:p>
        </p:txBody>
      </p:sp>
      <p:cxnSp>
        <p:nvCxnSpPr>
          <p:cNvPr id="77" name="직선 화살표 연결선 76"/>
          <p:cNvCxnSpPr/>
          <p:nvPr/>
        </p:nvCxnSpPr>
        <p:spPr>
          <a:xfrm>
            <a:off x="2376254" y="4748367"/>
            <a:ext cx="11432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object 22"/>
          <p:cNvSpPr/>
          <p:nvPr/>
        </p:nvSpPr>
        <p:spPr>
          <a:xfrm>
            <a:off x="3513417" y="328527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</a:t>
            </a:r>
            <a:r>
              <a:rPr lang="ko-KR" altLang="en-US" sz="650" b="1" dirty="0">
                <a:latin typeface="+mn-ea"/>
              </a:rPr>
              <a:t>매장 브랜드 정보</a:t>
            </a:r>
            <a:endParaRPr sz="650" b="1" dirty="0">
              <a:latin typeface="+mn-ea"/>
            </a:endParaRP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4073735" y="3498899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>
            <a:off x="4073734" y="4093261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>
            <a:off x="4073735" y="4517014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4073735" y="4940769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4070984" y="5356270"/>
            <a:ext cx="0" cy="187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object 25"/>
          <p:cNvSpPr/>
          <p:nvPr/>
        </p:nvSpPr>
        <p:spPr>
          <a:xfrm>
            <a:off x="3820420" y="5554071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95" name="object 22"/>
          <p:cNvSpPr/>
          <p:nvPr/>
        </p:nvSpPr>
        <p:spPr>
          <a:xfrm>
            <a:off x="5756016" y="286425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(3)</a:t>
            </a:r>
            <a:r>
              <a:rPr lang="ko-KR" altLang="en-US" sz="650" b="1" dirty="0">
                <a:latin typeface="+mn-ea"/>
              </a:rPr>
              <a:t>브랜드 담당자 등록</a:t>
            </a:r>
            <a:endParaRPr sz="650" b="1" dirty="0">
              <a:latin typeface="+mn-ea"/>
            </a:endParaRPr>
          </a:p>
        </p:txBody>
      </p:sp>
      <p:cxnSp>
        <p:nvCxnSpPr>
          <p:cNvPr id="131" name="꺾인 연결선 130"/>
          <p:cNvCxnSpPr>
            <a:stCxn id="67" idx="3"/>
            <a:endCxn id="135" idx="0"/>
          </p:cNvCxnSpPr>
          <p:nvPr/>
        </p:nvCxnSpPr>
        <p:spPr>
          <a:xfrm>
            <a:off x="4598850" y="3900795"/>
            <a:ext cx="501487" cy="926603"/>
          </a:xfrm>
          <a:prstGeom prst="bentConnector2">
            <a:avLst/>
          </a:prstGeom>
          <a:ln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5081764" y="4827398"/>
            <a:ext cx="37147" cy="37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cxnSp>
        <p:nvCxnSpPr>
          <p:cNvPr id="138" name="직선 화살표 연결선 137"/>
          <p:cNvCxnSpPr/>
          <p:nvPr/>
        </p:nvCxnSpPr>
        <p:spPr>
          <a:xfrm flipH="1">
            <a:off x="4592965" y="4849410"/>
            <a:ext cx="5073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595550" y="3734417"/>
            <a:ext cx="29851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/>
              <a:t>NO</a:t>
            </a:r>
            <a:endParaRPr lang="ko-KR" altLang="en-US" sz="650" b="1" dirty="0"/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4622169" y="2968045"/>
            <a:ext cx="11338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90623" y="4935543"/>
            <a:ext cx="1813009" cy="1799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ko-KR" altLang="en-US" sz="569" dirty="0"/>
              <a:t>매장 유형 정리 </a:t>
            </a:r>
            <a:r>
              <a:rPr lang="en-US" altLang="ko-KR" sz="569" dirty="0"/>
              <a:t>/ </a:t>
            </a:r>
            <a:r>
              <a:rPr lang="ko-KR" altLang="en-US" sz="569" dirty="0"/>
              <a:t>사용하지 않는 기능 제거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6083" y="3091098"/>
            <a:ext cx="845782" cy="1799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ko-KR" altLang="en-US" sz="569" dirty="0"/>
              <a:t>매장정보 수기 관리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391526" y="4390138"/>
            <a:ext cx="2166189" cy="90756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5" name="왼쪽 화살표 4"/>
          <p:cNvSpPr/>
          <p:nvPr/>
        </p:nvSpPr>
        <p:spPr>
          <a:xfrm>
            <a:off x="6952681" y="4836822"/>
            <a:ext cx="401630" cy="396881"/>
          </a:xfrm>
          <a:prstGeom prst="leftArrow">
            <a:avLst/>
          </a:prstGeom>
          <a:gradFill flip="none" rotWithShape="1">
            <a:gsLst>
              <a:gs pos="0">
                <a:srgbClr val="DCE6F1">
                  <a:shade val="30000"/>
                  <a:satMod val="115000"/>
                </a:srgbClr>
              </a:gs>
              <a:gs pos="50000">
                <a:srgbClr val="DCE6F1">
                  <a:shade val="67500"/>
                  <a:satMod val="115000"/>
                </a:srgbClr>
              </a:gs>
              <a:gs pos="100000">
                <a:srgbClr val="DCE6F1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45" name="폭발 1 44"/>
          <p:cNvSpPr/>
          <p:nvPr/>
        </p:nvSpPr>
        <p:spPr>
          <a:xfrm>
            <a:off x="4893797" y="3024106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7" name="폭발 1 46"/>
          <p:cNvSpPr/>
          <p:nvPr/>
        </p:nvSpPr>
        <p:spPr>
          <a:xfrm>
            <a:off x="5835605" y="4848678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0203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5" y="1017172"/>
            <a:ext cx="6153733" cy="44521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7281" y="694621"/>
            <a:ext cx="5155427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b="1" dirty="0"/>
              <a:t>□ 매장정보 화면 구성 및 진행 </a:t>
            </a:r>
            <a:r>
              <a:rPr lang="en-US" altLang="ko-KR" sz="1138" b="1" dirty="0"/>
              <a:t>PROCESS</a:t>
            </a:r>
            <a:endParaRPr lang="ko-KR" altLang="en-US" sz="1138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440891" y="1041937"/>
            <a:ext cx="3195547" cy="5245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85738" indent="-185738">
              <a:buAutoNum type="arabicPeriod"/>
            </a:pPr>
            <a:r>
              <a:rPr lang="ko-KR" altLang="en-US" sz="975" dirty="0">
                <a:latin typeface="+mn-ea"/>
              </a:rPr>
              <a:t>매장 </a:t>
            </a:r>
            <a:r>
              <a:rPr lang="en-US" altLang="ko-KR" sz="975" dirty="0">
                <a:latin typeface="+mn-ea"/>
              </a:rPr>
              <a:t>ID</a:t>
            </a:r>
          </a:p>
          <a:p>
            <a:r>
              <a:rPr lang="ko-KR" altLang="en-US" sz="813" dirty="0">
                <a:latin typeface="+mn-ea"/>
              </a:rPr>
              <a:t>브랜드</a:t>
            </a:r>
            <a:r>
              <a:rPr lang="en-US" altLang="ko-KR" sz="813" dirty="0">
                <a:latin typeface="+mn-ea"/>
              </a:rPr>
              <a:t>(1) + </a:t>
            </a:r>
            <a:r>
              <a:rPr lang="ko-KR" altLang="en-US" sz="813" dirty="0">
                <a:latin typeface="+mn-ea"/>
              </a:rPr>
              <a:t>유통형태</a:t>
            </a:r>
            <a:r>
              <a:rPr lang="en-US" altLang="ko-KR" sz="813" dirty="0">
                <a:latin typeface="+mn-ea"/>
              </a:rPr>
              <a:t>(1) + </a:t>
            </a:r>
            <a:r>
              <a:rPr lang="ko-KR" altLang="en-US" sz="813" dirty="0">
                <a:latin typeface="+mn-ea"/>
              </a:rPr>
              <a:t>상권</a:t>
            </a:r>
            <a:r>
              <a:rPr lang="en-US" altLang="ko-KR" sz="813" dirty="0">
                <a:latin typeface="+mn-ea"/>
              </a:rPr>
              <a:t>(1) + SEQ(3)</a:t>
            </a:r>
          </a:p>
          <a:p>
            <a:r>
              <a:rPr lang="en-US" altLang="ko-KR" sz="813" dirty="0">
                <a:latin typeface="+mn-ea"/>
              </a:rPr>
              <a:t>Ex) MBA001 : </a:t>
            </a:r>
            <a:r>
              <a:rPr lang="ko-KR" altLang="en-US" sz="813" dirty="0" err="1">
                <a:latin typeface="+mn-ea"/>
              </a:rPr>
              <a:t>탑텐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직영점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서울 </a:t>
            </a:r>
            <a:r>
              <a:rPr lang="en-US" altLang="ko-KR" sz="813" dirty="0">
                <a:latin typeface="+mn-ea"/>
              </a:rPr>
              <a:t>+ 001 </a:t>
            </a:r>
          </a:p>
          <a:p>
            <a:r>
              <a:rPr lang="en-US" altLang="ko-KR" sz="813" dirty="0">
                <a:latin typeface="+mn-ea"/>
              </a:rPr>
              <a:t>     MCC010 : </a:t>
            </a:r>
            <a:r>
              <a:rPr lang="ko-KR" altLang="en-US" sz="813" dirty="0" err="1">
                <a:latin typeface="+mn-ea"/>
              </a:rPr>
              <a:t>탑텐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위탁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>
                <a:latin typeface="+mn-ea"/>
              </a:rPr>
              <a:t>백화점</a:t>
            </a:r>
            <a:r>
              <a:rPr lang="en-US" altLang="ko-KR" sz="813" dirty="0">
                <a:latin typeface="+mn-ea"/>
              </a:rPr>
              <a:t>) + </a:t>
            </a:r>
            <a:r>
              <a:rPr lang="ko-KR" altLang="en-US" sz="813" dirty="0">
                <a:latin typeface="+mn-ea"/>
              </a:rPr>
              <a:t>인천 </a:t>
            </a:r>
            <a:r>
              <a:rPr lang="en-US" altLang="ko-KR" sz="813" dirty="0">
                <a:latin typeface="+mn-ea"/>
              </a:rPr>
              <a:t>+ 010</a:t>
            </a:r>
          </a:p>
          <a:p>
            <a:r>
              <a:rPr lang="en-US" altLang="ko-KR" sz="813" dirty="0">
                <a:latin typeface="+mn-ea"/>
              </a:rPr>
              <a:t>     MDL004 : </a:t>
            </a:r>
            <a:r>
              <a:rPr lang="ko-KR" altLang="en-US" sz="813" dirty="0" err="1">
                <a:latin typeface="+mn-ea"/>
              </a:rPr>
              <a:t>탑텐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</a:t>
            </a:r>
            <a:r>
              <a:rPr lang="ko-KR" altLang="en-US" sz="813" dirty="0">
                <a:latin typeface="+mn-ea"/>
              </a:rPr>
              <a:t>위탁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>
                <a:latin typeface="+mn-ea"/>
              </a:rPr>
              <a:t>대리점</a:t>
            </a:r>
            <a:r>
              <a:rPr lang="en-US" altLang="ko-KR" sz="813" dirty="0">
                <a:latin typeface="+mn-ea"/>
              </a:rPr>
              <a:t>) + </a:t>
            </a:r>
            <a:r>
              <a:rPr lang="ko-KR" altLang="en-US" sz="813" dirty="0">
                <a:latin typeface="+mn-ea"/>
              </a:rPr>
              <a:t>울산 </a:t>
            </a:r>
            <a:r>
              <a:rPr lang="en-US" altLang="ko-KR" sz="813" dirty="0">
                <a:latin typeface="+mn-ea"/>
              </a:rPr>
              <a:t>+ 004 ….</a:t>
            </a:r>
          </a:p>
          <a:p>
            <a:r>
              <a:rPr lang="en-US" altLang="ko-KR" sz="813" b="1" dirty="0">
                <a:latin typeface="+mn-ea"/>
              </a:rPr>
              <a:t>* </a:t>
            </a:r>
            <a:r>
              <a:rPr lang="ko-KR" altLang="en-US" sz="813" b="1" dirty="0">
                <a:latin typeface="+mn-ea"/>
              </a:rPr>
              <a:t>반드시 이 규칙에 따르는 것은 아님</a:t>
            </a:r>
            <a:r>
              <a:rPr lang="en-US" altLang="ko-KR" sz="813" b="1" dirty="0">
                <a:latin typeface="+mn-ea"/>
              </a:rPr>
              <a:t>. ( </a:t>
            </a:r>
            <a:r>
              <a:rPr lang="ko-KR" altLang="en-US" sz="813" b="1" dirty="0" err="1">
                <a:latin typeface="+mn-ea"/>
              </a:rPr>
              <a:t>영업관리팀</a:t>
            </a:r>
            <a:r>
              <a:rPr lang="ko-KR" altLang="en-US" sz="813" b="1" dirty="0">
                <a:latin typeface="+mn-ea"/>
              </a:rPr>
              <a:t> 관리 </a:t>
            </a:r>
            <a:r>
              <a:rPr lang="en-US" altLang="ko-KR" sz="813" b="1" dirty="0">
                <a:latin typeface="+mn-ea"/>
              </a:rPr>
              <a:t>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2. </a:t>
            </a:r>
            <a:r>
              <a:rPr lang="ko-KR" altLang="en-US" sz="975" dirty="0">
                <a:latin typeface="+mn-ea"/>
              </a:rPr>
              <a:t>매장 기본 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매장명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등록정보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사업자번호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주소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 err="1">
                <a:latin typeface="+mn-ea"/>
              </a:rPr>
              <a:t>연락처등</a:t>
            </a:r>
            <a:r>
              <a:rPr lang="ko-KR" altLang="en-US" sz="813" dirty="0">
                <a:latin typeface="+mn-ea"/>
              </a:rPr>
              <a:t> 매장의 기본 정보 관리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b="1" dirty="0">
                <a:latin typeface="+mn-ea"/>
              </a:rPr>
              <a:t>* </a:t>
            </a:r>
            <a:r>
              <a:rPr lang="ko-KR" altLang="en-US" sz="813" b="1" dirty="0">
                <a:latin typeface="+mn-ea"/>
              </a:rPr>
              <a:t>사업자 번호 </a:t>
            </a:r>
            <a:r>
              <a:rPr lang="en-US" altLang="ko-KR" sz="813" b="1" dirty="0">
                <a:latin typeface="+mn-ea"/>
              </a:rPr>
              <a:t>: </a:t>
            </a:r>
            <a:r>
              <a:rPr lang="ko-KR" altLang="en-US" sz="813" b="1" dirty="0">
                <a:latin typeface="+mn-ea"/>
              </a:rPr>
              <a:t>회계시스템 선 등록 후 인터페이스 된 정보 </a:t>
            </a:r>
            <a:r>
              <a:rPr lang="en-US" altLang="ko-KR" sz="813" b="1" dirty="0">
                <a:latin typeface="+mn-ea"/>
              </a:rPr>
              <a:t>LOAD</a:t>
            </a:r>
          </a:p>
          <a:p>
            <a:r>
              <a:rPr lang="ko-KR" altLang="en-US" sz="813" dirty="0">
                <a:latin typeface="+mn-ea"/>
              </a:rPr>
              <a:t>사업자 번호 변경 되는 </a:t>
            </a:r>
            <a:r>
              <a:rPr lang="en-US" altLang="ko-KR" sz="813" dirty="0">
                <a:latin typeface="+mn-ea"/>
              </a:rPr>
              <a:t>CASE? </a:t>
            </a:r>
            <a:r>
              <a:rPr lang="ko-KR" altLang="en-US" sz="813" dirty="0">
                <a:latin typeface="+mn-ea"/>
              </a:rPr>
              <a:t>영향도 분석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조치 사항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파악 필요</a:t>
            </a:r>
            <a:endParaRPr lang="en-US" altLang="ko-KR" sz="813" dirty="0">
              <a:latin typeface="+mn-ea"/>
            </a:endParaRPr>
          </a:p>
          <a:p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3. </a:t>
            </a:r>
            <a:r>
              <a:rPr lang="ko-KR" altLang="en-US" sz="975" dirty="0">
                <a:latin typeface="+mn-ea"/>
              </a:rPr>
              <a:t>매장 브랜드 정보 관리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매장 취급 브랜드에 대한 관리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멀티 브랜드 관리 </a:t>
            </a:r>
            <a:r>
              <a:rPr lang="en-US" altLang="ko-KR" sz="813" dirty="0">
                <a:latin typeface="+mn-ea"/>
              </a:rPr>
              <a:t>– </a:t>
            </a:r>
            <a:r>
              <a:rPr lang="ko-KR" altLang="en-US" sz="813" dirty="0">
                <a:latin typeface="+mn-ea"/>
              </a:rPr>
              <a:t>신규 페이지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4. </a:t>
            </a:r>
            <a:r>
              <a:rPr lang="ko-KR" altLang="en-US" sz="975" dirty="0">
                <a:latin typeface="+mn-ea"/>
              </a:rPr>
              <a:t>매장 상세 정보 </a:t>
            </a:r>
            <a:r>
              <a:rPr lang="en-US" altLang="ko-KR" sz="975" dirty="0">
                <a:latin typeface="+mn-ea"/>
              </a:rPr>
              <a:t>1</a:t>
            </a:r>
          </a:p>
          <a:p>
            <a:r>
              <a:rPr lang="ko-KR" altLang="en-US" sz="813" dirty="0">
                <a:latin typeface="+mn-ea"/>
              </a:rPr>
              <a:t>매장 영업시작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종료일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담보 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분류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유통망 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매장 유형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회계 유통망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운영 형태 등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* </a:t>
            </a:r>
            <a:r>
              <a:rPr lang="ko-KR" altLang="en-US" sz="813" dirty="0">
                <a:latin typeface="+mn-ea"/>
              </a:rPr>
              <a:t>매장 분류 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1.</a:t>
            </a:r>
            <a:r>
              <a:rPr lang="ko-KR" altLang="en-US" sz="813" dirty="0">
                <a:latin typeface="+mn-ea"/>
              </a:rPr>
              <a:t>유통망분류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대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중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소 </a:t>
            </a:r>
            <a:r>
              <a:rPr lang="en-US" altLang="ko-KR" sz="813" dirty="0">
                <a:latin typeface="+mn-ea"/>
              </a:rPr>
              <a:t>)</a:t>
            </a:r>
          </a:p>
          <a:p>
            <a:r>
              <a:rPr lang="en-US" altLang="ko-KR" sz="813" dirty="0">
                <a:latin typeface="+mn-ea"/>
              </a:rPr>
              <a:t>2. </a:t>
            </a:r>
            <a:r>
              <a:rPr lang="ko-KR" altLang="en-US" sz="813" dirty="0">
                <a:latin typeface="+mn-ea"/>
              </a:rPr>
              <a:t>매장 유형 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직영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위탁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 err="1">
                <a:latin typeface="+mn-ea"/>
              </a:rPr>
              <a:t>사입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매장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>
                <a:latin typeface="+mn-ea"/>
              </a:rPr>
              <a:t>온라인</a:t>
            </a:r>
            <a:r>
              <a:rPr lang="en-US" altLang="ko-KR" sz="813" dirty="0">
                <a:latin typeface="+mn-ea"/>
              </a:rPr>
              <a:t>) )</a:t>
            </a:r>
          </a:p>
          <a:p>
            <a:r>
              <a:rPr lang="en-US" altLang="ko-KR" sz="813" dirty="0">
                <a:latin typeface="+mn-ea"/>
              </a:rPr>
              <a:t>3. </a:t>
            </a:r>
            <a:r>
              <a:rPr lang="ko-KR" altLang="en-US" sz="813" dirty="0">
                <a:latin typeface="+mn-ea"/>
              </a:rPr>
              <a:t>회계유통망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직영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백화점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대리점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 err="1">
                <a:latin typeface="+mn-ea"/>
              </a:rPr>
              <a:t>상설점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 err="1">
                <a:latin typeface="+mn-ea"/>
              </a:rPr>
              <a:t>특판점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부서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 err="1">
                <a:latin typeface="+mn-ea"/>
              </a:rPr>
              <a:t>생산처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)</a:t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4. </a:t>
            </a:r>
            <a:r>
              <a:rPr lang="ko-KR" altLang="en-US" sz="813" dirty="0">
                <a:latin typeface="+mn-ea"/>
              </a:rPr>
              <a:t>운영형태   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 err="1">
                <a:latin typeface="+mn-ea"/>
              </a:rPr>
              <a:t>직영관리점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/ </a:t>
            </a:r>
            <a:r>
              <a:rPr lang="ko-KR" altLang="en-US" sz="813" dirty="0" err="1">
                <a:latin typeface="+mn-ea"/>
              </a:rPr>
              <a:t>중간관리점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/ </a:t>
            </a:r>
            <a:r>
              <a:rPr lang="ko-KR" altLang="en-US" sz="813" dirty="0">
                <a:latin typeface="+mn-ea"/>
              </a:rPr>
              <a:t>대리점 </a:t>
            </a:r>
            <a:r>
              <a:rPr lang="en-US" altLang="ko-KR" sz="813" dirty="0">
                <a:latin typeface="+mn-ea"/>
              </a:rPr>
              <a:t>)</a:t>
            </a:r>
          </a:p>
          <a:p>
            <a:r>
              <a:rPr lang="en-US" altLang="ko-KR" sz="813" dirty="0">
                <a:latin typeface="+mn-ea"/>
              </a:rPr>
              <a:t>* </a:t>
            </a:r>
            <a:r>
              <a:rPr lang="ko-KR" altLang="en-US" sz="813" dirty="0">
                <a:latin typeface="+mn-ea"/>
              </a:rPr>
              <a:t>분석을 위한 유형 세분화 </a:t>
            </a:r>
            <a:r>
              <a:rPr lang="en-US" altLang="ko-KR" sz="813" dirty="0">
                <a:latin typeface="+mn-ea"/>
              </a:rPr>
              <a:t>– DW </a:t>
            </a:r>
            <a:r>
              <a:rPr lang="ko-KR" altLang="en-US" sz="813" dirty="0">
                <a:latin typeface="+mn-ea"/>
              </a:rPr>
              <a:t>연계 확인 후 정리 필요</a:t>
            </a:r>
            <a:endParaRPr lang="en-US" altLang="ko-KR" sz="813" dirty="0">
              <a:latin typeface="+mn-ea"/>
            </a:endParaRPr>
          </a:p>
          <a:p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5. </a:t>
            </a:r>
            <a:r>
              <a:rPr lang="ko-KR" altLang="en-US" sz="975" dirty="0">
                <a:latin typeface="+mn-ea"/>
              </a:rPr>
              <a:t>매장 상세 정보 </a:t>
            </a:r>
            <a:r>
              <a:rPr lang="en-US" altLang="ko-KR" sz="975" dirty="0">
                <a:latin typeface="+mn-ea"/>
              </a:rPr>
              <a:t>2</a:t>
            </a:r>
          </a:p>
          <a:p>
            <a:r>
              <a:rPr lang="ko-KR" altLang="en-US" sz="813" dirty="0">
                <a:latin typeface="+mn-ea"/>
              </a:rPr>
              <a:t>매장 등급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재고관리 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각종 시스템 제어 여부 관리</a:t>
            </a:r>
            <a:r>
              <a:rPr lang="en-US" altLang="ko-KR" sz="813" dirty="0">
                <a:latin typeface="+mn-ea"/>
              </a:rPr>
              <a:t/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출고 순위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매출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재고관리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등 시스템 기능 제어 항목</a:t>
            </a:r>
            <a:r>
              <a:rPr lang="en-US" altLang="ko-KR" sz="813" dirty="0">
                <a:latin typeface="+mn-ea"/>
              </a:rPr>
              <a:t> 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6. </a:t>
            </a:r>
            <a:r>
              <a:rPr lang="ko-KR" altLang="en-US" sz="975" dirty="0">
                <a:latin typeface="+mn-ea"/>
              </a:rPr>
              <a:t>매장 기타 정보</a:t>
            </a:r>
            <a:endParaRPr lang="en-US" altLang="ko-KR" sz="975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KICC </a:t>
            </a:r>
            <a:r>
              <a:rPr lang="ko-KR" altLang="en-US" sz="813" dirty="0">
                <a:latin typeface="+mn-ea"/>
              </a:rPr>
              <a:t>단말기 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현금 단말기 정보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영수증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상품권 회수 여부 등</a:t>
            </a:r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매장 브랜드 담당자 정보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조회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* GPS </a:t>
            </a:r>
            <a:r>
              <a:rPr lang="ko-KR" altLang="en-US" sz="813" dirty="0">
                <a:latin typeface="+mn-ea"/>
              </a:rPr>
              <a:t>주소 등록 </a:t>
            </a:r>
            <a:r>
              <a:rPr lang="en-US" altLang="ko-KR" sz="813" dirty="0">
                <a:latin typeface="+mn-ea"/>
              </a:rPr>
              <a:t>– </a:t>
            </a:r>
            <a:r>
              <a:rPr lang="ko-KR" altLang="en-US" sz="813" dirty="0">
                <a:latin typeface="+mn-ea"/>
              </a:rPr>
              <a:t>매장 근무자 근태 관리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매장 </a:t>
            </a:r>
            <a:r>
              <a:rPr lang="en-US" altLang="ko-KR" sz="813" dirty="0">
                <a:latin typeface="+mn-ea"/>
              </a:rPr>
              <a:t>APP </a:t>
            </a:r>
            <a:r>
              <a:rPr lang="ko-KR" altLang="en-US" sz="813" dirty="0">
                <a:latin typeface="+mn-ea"/>
              </a:rPr>
              <a:t>연동 </a:t>
            </a:r>
            <a:r>
              <a:rPr lang="en-US" altLang="ko-KR" sz="813" dirty="0">
                <a:latin typeface="+mn-ea"/>
              </a:rPr>
              <a:t>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612" y="3425761"/>
            <a:ext cx="681974" cy="10837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56" y="3135495"/>
            <a:ext cx="605559" cy="2403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62" y="3427584"/>
            <a:ext cx="595947" cy="3123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96" y="3747056"/>
            <a:ext cx="681974" cy="2801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535" y="1250910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1</a:t>
            </a:r>
            <a:endParaRPr lang="ko-KR" altLang="en-US" sz="65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51535" y="1505722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2</a:t>
            </a:r>
            <a:endParaRPr lang="ko-KR" altLang="en-US" sz="65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21809" y="1090939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3</a:t>
            </a:r>
            <a:endParaRPr lang="ko-KR" altLang="en-US" sz="65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21817" y="2736614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4</a:t>
            </a:r>
            <a:endParaRPr lang="ko-KR" altLang="en-US" sz="65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36077" y="3690286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5</a:t>
            </a:r>
            <a:endParaRPr lang="ko-KR" altLang="en-US" sz="65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889337" y="1090939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6</a:t>
            </a:r>
            <a:endParaRPr lang="ko-KR" altLang="en-US" sz="650" b="1" dirty="0"/>
          </a:p>
        </p:txBody>
      </p:sp>
      <p:sp>
        <p:nvSpPr>
          <p:cNvPr id="15" name="직사각형 14"/>
          <p:cNvSpPr/>
          <p:nvPr/>
        </p:nvSpPr>
        <p:spPr>
          <a:xfrm>
            <a:off x="126769" y="1412331"/>
            <a:ext cx="4742030" cy="11986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21816" y="2744400"/>
            <a:ext cx="4742030" cy="931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21816" y="3705282"/>
            <a:ext cx="4742030" cy="931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889337" y="1077624"/>
            <a:ext cx="1338803" cy="1818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1578" y="5514055"/>
            <a:ext cx="6076605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13" dirty="0">
                <a:latin typeface="+mn-ea"/>
              </a:rPr>
              <a:t>※ </a:t>
            </a:r>
            <a:r>
              <a:rPr lang="ko-KR" altLang="en-US" sz="813" dirty="0">
                <a:latin typeface="+mn-ea"/>
              </a:rPr>
              <a:t>매장 정보의 대부분을 </a:t>
            </a:r>
            <a:r>
              <a:rPr lang="ko-KR" altLang="en-US" sz="813" dirty="0" err="1">
                <a:latin typeface="+mn-ea"/>
              </a:rPr>
              <a:t>영업관리팀에서</a:t>
            </a:r>
            <a:r>
              <a:rPr lang="ko-KR" altLang="en-US" sz="813" dirty="0">
                <a:latin typeface="+mn-ea"/>
              </a:rPr>
              <a:t> 관리하며 등록</a:t>
            </a:r>
            <a:r>
              <a:rPr lang="en-US" altLang="ko-KR" sz="813" dirty="0">
                <a:latin typeface="+mn-ea"/>
              </a:rPr>
              <a:t>,</a:t>
            </a:r>
            <a:r>
              <a:rPr lang="ko-KR" altLang="en-US" sz="813" dirty="0">
                <a:latin typeface="+mn-ea"/>
              </a:rPr>
              <a:t>관리 </a:t>
            </a:r>
            <a:r>
              <a:rPr lang="en-US" altLang="ko-KR" sz="813" dirty="0">
                <a:latin typeface="+mn-ea"/>
              </a:rPr>
              <a:t>/ </a:t>
            </a:r>
            <a:r>
              <a:rPr lang="ko-KR" altLang="en-US" sz="813" dirty="0">
                <a:latin typeface="+mn-ea"/>
              </a:rPr>
              <a:t>업무 기능별로 </a:t>
            </a:r>
            <a:r>
              <a:rPr lang="en-US" altLang="ko-KR" sz="813" dirty="0">
                <a:latin typeface="+mn-ea"/>
              </a:rPr>
              <a:t>TAB </a:t>
            </a:r>
            <a:r>
              <a:rPr lang="ko-KR" altLang="en-US" sz="813" dirty="0">
                <a:latin typeface="+mn-ea"/>
              </a:rPr>
              <a:t>분리하여 부서별 권한 부여 고려</a:t>
            </a:r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   매장 </a:t>
            </a:r>
            <a:r>
              <a:rPr lang="en-US" altLang="ko-KR" sz="813" dirty="0">
                <a:latin typeface="+mn-ea"/>
              </a:rPr>
              <a:t>ID </a:t>
            </a:r>
            <a:r>
              <a:rPr lang="ko-KR" altLang="en-US" sz="813" dirty="0">
                <a:latin typeface="+mn-ea"/>
              </a:rPr>
              <a:t>의 경우 대개 규칙성 있게 진행되나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수기로 입력 되고 있어 오 입력 가능성 있음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  </a:t>
            </a:r>
            <a:r>
              <a:rPr lang="ko-KR" altLang="en-US" sz="813" dirty="0">
                <a:latin typeface="+mn-ea"/>
              </a:rPr>
              <a:t>매장 분류가 다양하며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일부 정리가 필요할 것으로 판단되나 데이터 분석계를 위한 구성이 있어 연결관계 확인 필요</a:t>
            </a:r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   매장 관련 데이터 변경관리가 부족하여 과거 정보에 대한 파악이 어려움 </a:t>
            </a: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전반적인 </a:t>
            </a:r>
            <a:r>
              <a:rPr lang="ko-KR" altLang="en-US" sz="813" dirty="0" err="1">
                <a:latin typeface="+mn-ea"/>
              </a:rPr>
              <a:t>히스토리</a:t>
            </a:r>
            <a:r>
              <a:rPr lang="ko-KR" altLang="en-US" sz="813" dirty="0">
                <a:latin typeface="+mn-ea"/>
              </a:rPr>
              <a:t> 확인 어려움 </a:t>
            </a:r>
            <a:r>
              <a:rPr lang="en-US" altLang="ko-KR" sz="813" dirty="0">
                <a:latin typeface="+mn-ea"/>
              </a:rPr>
              <a:t>)</a:t>
            </a:r>
            <a:endParaRPr lang="ko-KR" altLang="en-US" sz="813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00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500529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정보관리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4319" y="1493209"/>
            <a:ext cx="2236609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물류센터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308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판부자재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등록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 [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판부자재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분담률 등록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판 부자재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>
                <a:latin typeface="+mn-ea"/>
                <a:cs typeface="Malgun Gothic"/>
              </a:rPr>
              <a:t>매장 판매를 위한 자재들 일체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또는 사은품 일부에 대한 정보를 등록하고 매장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>
                <a:latin typeface="+mn-ea"/>
                <a:cs typeface="Malgun Gothic"/>
              </a:rPr>
              <a:t>본사 간 분담률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박스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 err="1">
                <a:latin typeface="+mn-ea"/>
                <a:cs typeface="Malgun Gothic"/>
              </a:rPr>
              <a:t>폴리백</a:t>
            </a:r>
            <a:r>
              <a:rPr lang="ko-KR" altLang="en-US" sz="731" spc="-16" dirty="0">
                <a:latin typeface="+mn-ea"/>
                <a:cs typeface="Malgun Gothic"/>
              </a:rPr>
              <a:t> 등 </a:t>
            </a:r>
            <a:r>
              <a:rPr lang="ko-KR" altLang="en-US" sz="731" spc="-16" dirty="0" err="1">
                <a:latin typeface="+mn-ea"/>
                <a:cs typeface="Malgun Gothic"/>
              </a:rPr>
              <a:t>제상품</a:t>
            </a:r>
            <a:r>
              <a:rPr lang="ko-KR" altLang="en-US" sz="731" spc="-16" dirty="0">
                <a:latin typeface="+mn-ea"/>
                <a:cs typeface="Malgun Gothic"/>
              </a:rPr>
              <a:t> 판매를 위한 자재 일체를 물류센터에서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매장 기본정보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일부 판 부자재는 브랜드 기획팀에서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Ex) </a:t>
            </a:r>
            <a:r>
              <a:rPr lang="ko-KR" altLang="en-US" sz="731" spc="-16" dirty="0">
                <a:latin typeface="+mn-ea"/>
                <a:cs typeface="Malgun Gothic"/>
              </a:rPr>
              <a:t>사은품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스티커 일부 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판 부자재 분담률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판 부자재에 대한 매장 </a:t>
            </a:r>
            <a:r>
              <a:rPr lang="en-US" altLang="ko-KR" sz="731" spc="-16" dirty="0">
                <a:latin typeface="+mn-ea"/>
                <a:cs typeface="Malgun Gothic"/>
              </a:rPr>
              <a:t>– </a:t>
            </a:r>
            <a:r>
              <a:rPr lang="ko-KR" altLang="en-US" sz="731" spc="-16" dirty="0">
                <a:latin typeface="+mn-ea"/>
                <a:cs typeface="Malgun Gothic"/>
              </a:rPr>
              <a:t>본사간 비용 부담에 대한 비율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260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19634" y="1493209"/>
            <a:ext cx="213236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영업관리팀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57246" y="1493209"/>
            <a:ext cx="225630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>
                <a:solidFill>
                  <a:schemeClr val="tx1"/>
                </a:solidFill>
              </a:rPr>
              <a:t>브랜드기획팀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5724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219634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555803" y="19026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828381" y="2085633"/>
            <a:ext cx="0" cy="647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99850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브랜드정보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품종정보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칼라정보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사이즈정보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거래선 정보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매장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Times New Roman"/>
                        </a:rPr>
                        <a:t>판 부자재 정보</a:t>
                      </a: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6063017" y="4398372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36" name="object 22"/>
          <p:cNvSpPr/>
          <p:nvPr/>
        </p:nvSpPr>
        <p:spPr>
          <a:xfrm>
            <a:off x="1276318" y="274868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판 부자재 정보등록</a:t>
            </a:r>
            <a:endParaRPr sz="650" b="1" dirty="0">
              <a:latin typeface="+mn-ea"/>
            </a:endParaRPr>
          </a:p>
        </p:txBody>
      </p:sp>
      <p:sp>
        <p:nvSpPr>
          <p:cNvPr id="37" name="object 22"/>
          <p:cNvSpPr/>
          <p:nvPr/>
        </p:nvSpPr>
        <p:spPr>
          <a:xfrm>
            <a:off x="3573951" y="27459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판 부자재 정보등록</a:t>
            </a:r>
            <a:endParaRPr sz="650" b="1" dirty="0">
              <a:latin typeface="+mn-ea"/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5739505" y="3519156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판 부자재 분담률등록</a:t>
            </a:r>
            <a:endParaRPr sz="650" b="1" dirty="0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 flipV="1">
            <a:off x="2368557" y="2833265"/>
            <a:ext cx="1205394" cy="550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/>
          <p:nvPr/>
        </p:nvCxnSpPr>
        <p:spPr>
          <a:xfrm>
            <a:off x="1828381" y="2959019"/>
            <a:ext cx="3911124" cy="677732"/>
          </a:xfrm>
          <a:prstGeom prst="bentConnector3">
            <a:avLst>
              <a:gd name="adj1" fmla="val -9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/>
          <p:nvPr/>
        </p:nvCxnSpPr>
        <p:spPr>
          <a:xfrm>
            <a:off x="4094480" y="2959019"/>
            <a:ext cx="1645025" cy="677732"/>
          </a:xfrm>
          <a:prstGeom prst="bentConnector3">
            <a:avLst>
              <a:gd name="adj1" fmla="val 115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>
            <a:off x="6321835" y="3728371"/>
            <a:ext cx="0" cy="6477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49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>
                <a:latin typeface="+mn-ea"/>
              </a:rPr>
              <a:t>상품 기획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84089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작업지시서 관리 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10319">
              <a:spcBef>
                <a:spcPts val="585"/>
              </a:spcBef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516756"/>
            <a:ext cx="7547696" cy="880434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상품기획 프로세스는</a:t>
            </a:r>
            <a:r>
              <a:rPr lang="en-US" altLang="ko-KR" sz="1138" b="1" dirty="0">
                <a:latin typeface="+mn-ea"/>
              </a:rPr>
              <a:t> </a:t>
            </a:r>
            <a:r>
              <a:rPr lang="ko-KR" altLang="en-US" sz="1138" b="1" dirty="0" err="1">
                <a:latin typeface="+mn-ea"/>
              </a:rPr>
              <a:t>제상품을</a:t>
            </a:r>
            <a:r>
              <a:rPr lang="ko-KR" altLang="en-US" sz="1138" b="1" dirty="0">
                <a:latin typeface="+mn-ea"/>
              </a:rPr>
              <a:t> 제작하기 위해 생산 시스템과 연계하여 사전 원가 및 작업 지시서 관리 업무를 수행 합니다</a:t>
            </a:r>
            <a:r>
              <a:rPr lang="en-US" altLang="ko-KR" sz="1138" b="1" dirty="0">
                <a:latin typeface="+mn-ea"/>
              </a:rPr>
              <a:t>.</a:t>
            </a:r>
            <a:r>
              <a:rPr lang="ko-KR" altLang="en-US" sz="1138" b="1" dirty="0">
                <a:latin typeface="+mn-ea"/>
              </a:rPr>
              <a:t> 기준 정보를 활용하여 </a:t>
            </a:r>
            <a:r>
              <a:rPr lang="ko-KR" altLang="en-US" sz="1138" b="1" dirty="0" err="1">
                <a:latin typeface="+mn-ea"/>
              </a:rPr>
              <a:t>품번을</a:t>
            </a:r>
            <a:r>
              <a:rPr lang="ko-KR" altLang="en-US" sz="1138" b="1" dirty="0">
                <a:latin typeface="+mn-ea"/>
              </a:rPr>
              <a:t> 생성하고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제품을 제작하기 위하여 유관 부서와 긴밀히 협조하며 다양한 정보를 등록 </a:t>
            </a:r>
            <a:r>
              <a:rPr lang="en-US" altLang="ko-KR" sz="1138" b="1" dirty="0">
                <a:latin typeface="+mn-ea"/>
              </a:rPr>
              <a:t>/ </a:t>
            </a:r>
            <a:r>
              <a:rPr lang="ko-KR" altLang="en-US" sz="1138" b="1" dirty="0">
                <a:latin typeface="+mn-ea"/>
              </a:rPr>
              <a:t>관리 합니다</a:t>
            </a:r>
            <a:r>
              <a:rPr lang="en-US" altLang="ko-KR" sz="1138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7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상품기획 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7416" y="1486137"/>
            <a:ext cx="2789841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상품기획팀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86137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70329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02312"/>
            <a:ext cx="2246644" cy="4423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작업지시관리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</a:p>
          <a:p>
            <a:pPr marL="8771">
              <a:spcBef>
                <a:spcPts val="53"/>
              </a:spcBef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err="1">
                <a:latin typeface="+mn-ea"/>
                <a:cs typeface="Malgun Gothic"/>
              </a:rPr>
              <a:t>제상품</a:t>
            </a:r>
            <a:r>
              <a:rPr lang="ko-KR" altLang="en-US" sz="731" spc="-16" dirty="0">
                <a:latin typeface="+mn-ea"/>
                <a:cs typeface="Malgun Gothic"/>
              </a:rPr>
              <a:t> 생산을 위한 </a:t>
            </a:r>
            <a:r>
              <a:rPr lang="ko-KR" altLang="en-US" sz="731" spc="-16" dirty="0" err="1">
                <a:latin typeface="+mn-ea"/>
                <a:cs typeface="Malgun Gothic"/>
              </a:rPr>
              <a:t>품번</a:t>
            </a:r>
            <a:r>
              <a:rPr lang="ko-KR" altLang="en-US" sz="731" spc="-16" dirty="0">
                <a:latin typeface="+mn-ea"/>
                <a:cs typeface="Malgun Gothic"/>
              </a:rPr>
              <a:t> 및 속성 정보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상품기획팀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제품 코드 </a:t>
            </a:r>
            <a:r>
              <a:rPr lang="ko-KR" altLang="en-US" sz="731" spc="-16" dirty="0" err="1">
                <a:latin typeface="+mn-ea"/>
                <a:cs typeface="Malgun Gothic"/>
              </a:rPr>
              <a:t>채번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(1-2) </a:t>
            </a:r>
            <a:r>
              <a:rPr lang="ko-KR" altLang="en-US" sz="731" spc="-16" dirty="0">
                <a:latin typeface="+mn-ea"/>
                <a:cs typeface="Malgun Gothic"/>
              </a:rPr>
              <a:t>제품 </a:t>
            </a:r>
            <a:r>
              <a:rPr lang="en-US" altLang="ko-KR" sz="731" spc="-16" dirty="0">
                <a:latin typeface="+mn-ea"/>
                <a:cs typeface="Malgun Gothic"/>
              </a:rPr>
              <a:t>/</a:t>
            </a:r>
            <a:r>
              <a:rPr lang="ko-KR" altLang="en-US" sz="731" spc="-16" dirty="0">
                <a:latin typeface="+mn-ea"/>
                <a:cs typeface="Malgun Gothic"/>
              </a:rPr>
              <a:t>스타일 정보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(1-3) </a:t>
            </a:r>
            <a:r>
              <a:rPr lang="ko-KR" altLang="en-US" sz="731" spc="-16" dirty="0">
                <a:latin typeface="+mn-ea"/>
                <a:cs typeface="Malgun Gothic"/>
              </a:rPr>
              <a:t>제품 속성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(1-4) </a:t>
            </a:r>
            <a:r>
              <a:rPr lang="ko-KR" altLang="en-US" sz="731" spc="-16" dirty="0">
                <a:latin typeface="+mn-ea"/>
                <a:cs typeface="Malgun Gothic"/>
              </a:rPr>
              <a:t>칼라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기획 사이즈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기획수량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상기 </a:t>
            </a:r>
            <a:r>
              <a:rPr lang="en-US" altLang="ko-KR" sz="731" spc="-16" dirty="0">
                <a:latin typeface="+mn-ea"/>
                <a:cs typeface="Malgun Gothic"/>
              </a:rPr>
              <a:t>4</a:t>
            </a:r>
            <a:r>
              <a:rPr lang="ko-KR" altLang="en-US" sz="731" spc="-16" dirty="0">
                <a:latin typeface="+mn-ea"/>
                <a:cs typeface="Malgun Gothic"/>
              </a:rPr>
              <a:t>가지 항목 동시 진행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(1-5) </a:t>
            </a:r>
            <a:r>
              <a:rPr lang="ko-KR" altLang="en-US" sz="731" spc="-16" dirty="0">
                <a:latin typeface="+mn-ea"/>
                <a:cs typeface="Malgun Gothic"/>
              </a:rPr>
              <a:t>각종 인증서 파일 업로드 </a:t>
            </a:r>
            <a:r>
              <a:rPr lang="en-US" altLang="ko-KR" sz="731" spc="-16" dirty="0">
                <a:latin typeface="+mn-ea"/>
                <a:cs typeface="Malgun Gothic"/>
              </a:rPr>
              <a:t> ex&gt; CTI </a:t>
            </a:r>
            <a:r>
              <a:rPr lang="ko-KR" altLang="en-US" sz="731" spc="-16" dirty="0">
                <a:latin typeface="+mn-ea"/>
                <a:cs typeface="Malgun Gothic"/>
              </a:rPr>
              <a:t>인증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(1-6) </a:t>
            </a:r>
            <a:r>
              <a:rPr lang="ko-KR" altLang="en-US" sz="731" spc="-16" dirty="0">
                <a:latin typeface="+mn-ea"/>
                <a:cs typeface="Malgun Gothic"/>
              </a:rPr>
              <a:t>분할 입고 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디자인팀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자재 사양 정보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 - </a:t>
            </a:r>
            <a:r>
              <a:rPr lang="ko-KR" altLang="en-US" sz="731" spc="-16" dirty="0">
                <a:latin typeface="+mn-ea"/>
                <a:cs typeface="Malgun Gothic"/>
              </a:rPr>
              <a:t>주요 자재에 대한 정보만 간략하게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(2-2) </a:t>
            </a:r>
            <a:r>
              <a:rPr lang="ko-KR" altLang="en-US" sz="731" spc="-16" dirty="0">
                <a:latin typeface="+mn-ea"/>
                <a:cs typeface="Malgun Gothic"/>
              </a:rPr>
              <a:t>사이즈 </a:t>
            </a:r>
            <a:r>
              <a:rPr lang="ko-KR" altLang="en-US" sz="731" spc="-16" dirty="0" err="1">
                <a:latin typeface="+mn-ea"/>
                <a:cs typeface="Malgun Gothic"/>
              </a:rPr>
              <a:t>스펙</a:t>
            </a:r>
            <a:r>
              <a:rPr lang="ko-KR" altLang="en-US" sz="731" spc="-16" dirty="0">
                <a:latin typeface="+mn-ea"/>
                <a:cs typeface="Malgun Gothic"/>
              </a:rPr>
              <a:t> 정보 입력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 - </a:t>
            </a:r>
            <a:r>
              <a:rPr lang="ko-KR" altLang="en-US" sz="731" spc="-16" dirty="0">
                <a:latin typeface="+mn-ea"/>
                <a:cs typeface="Malgun Gothic"/>
              </a:rPr>
              <a:t>사이즈 별 세부 정보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 err="1">
                <a:latin typeface="+mn-ea"/>
                <a:cs typeface="Malgun Gothic"/>
              </a:rPr>
              <a:t>패턴팀</a:t>
            </a:r>
            <a:r>
              <a:rPr lang="ko-KR" altLang="en-US" sz="731" spc="-16" dirty="0">
                <a:latin typeface="+mn-ea"/>
                <a:cs typeface="Malgun Gothic"/>
              </a:rPr>
              <a:t> 업데이트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(2-3) </a:t>
            </a:r>
            <a:r>
              <a:rPr lang="ko-KR" altLang="en-US" sz="731" spc="-16" dirty="0">
                <a:latin typeface="+mn-ea"/>
                <a:cs typeface="Malgun Gothic"/>
              </a:rPr>
              <a:t>작지 디자인 파일 업로드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 - </a:t>
            </a:r>
            <a:r>
              <a:rPr lang="ko-KR" altLang="en-US" sz="731" spc="-16" dirty="0">
                <a:latin typeface="+mn-ea"/>
                <a:cs typeface="Malgun Gothic"/>
              </a:rPr>
              <a:t>스케치 포함 제품 디자인 파일 업로드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소싱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</a:t>
            </a:r>
            <a:r>
              <a:rPr lang="ko-KR" altLang="en-US" sz="731" spc="-16" dirty="0">
                <a:latin typeface="+mn-ea"/>
                <a:cs typeface="Malgun Gothic"/>
              </a:rPr>
              <a:t>제품정보 생성 후 </a:t>
            </a:r>
            <a:r>
              <a:rPr lang="en-US" altLang="ko-KR" sz="731" spc="-16" dirty="0">
                <a:latin typeface="+mn-ea"/>
                <a:cs typeface="Malgun Gothic"/>
              </a:rPr>
              <a:t>I/F, </a:t>
            </a:r>
            <a:r>
              <a:rPr lang="ko-KR" altLang="en-US" sz="731" b="1" spc="-16" dirty="0">
                <a:latin typeface="+mn-ea"/>
                <a:cs typeface="Malgun Gothic"/>
              </a:rPr>
              <a:t>파일 번호와 </a:t>
            </a:r>
            <a:r>
              <a:rPr lang="ko-KR" altLang="en-US" sz="731" b="1" spc="-16" dirty="0" err="1">
                <a:latin typeface="+mn-ea"/>
                <a:cs typeface="Malgun Gothic"/>
              </a:rPr>
              <a:t>매칭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사전원가 등록 및 결재를 통한 확정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(3-3) </a:t>
            </a:r>
            <a:r>
              <a:rPr lang="ko-KR" altLang="en-US" sz="731" spc="-16" dirty="0">
                <a:latin typeface="+mn-ea"/>
                <a:cs typeface="Malgun Gothic"/>
              </a:rPr>
              <a:t>입고 예정 정보 확인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 </a:t>
            </a:r>
            <a:r>
              <a:rPr lang="ko-KR" altLang="en-US" sz="731" spc="-16" dirty="0">
                <a:latin typeface="+mn-ea"/>
                <a:cs typeface="Malgun Gothic"/>
              </a:rPr>
              <a:t>영업관리 시스템 분할입고 정보 등록 </a:t>
            </a:r>
            <a:r>
              <a:rPr lang="en-US" altLang="ko-KR" sz="731" spc="-16" dirty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(3-4,5) </a:t>
            </a:r>
            <a:r>
              <a:rPr lang="ko-KR" altLang="en-US" sz="731" spc="-16" dirty="0">
                <a:latin typeface="+mn-ea"/>
                <a:cs typeface="Malgun Gothic"/>
              </a:rPr>
              <a:t>자재 등록 및 생산 사전원가 도출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(3-6) </a:t>
            </a:r>
            <a:r>
              <a:rPr lang="ko-KR" altLang="en-US" sz="731" spc="-16" dirty="0">
                <a:latin typeface="+mn-ea"/>
                <a:cs typeface="Malgun Gothic"/>
              </a:rPr>
              <a:t>생산 사전원가 확정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(3-7) </a:t>
            </a:r>
            <a:r>
              <a:rPr lang="ko-KR" altLang="en-US" sz="731" b="1" spc="-16" dirty="0">
                <a:latin typeface="+mn-ea"/>
                <a:cs typeface="Malgun Gothic"/>
              </a:rPr>
              <a:t>선적 전 분할입고 정보 </a:t>
            </a:r>
            <a:r>
              <a:rPr lang="ko-KR" altLang="en-US" sz="731" spc="-16" dirty="0">
                <a:latin typeface="+mn-ea"/>
                <a:cs typeface="Malgun Gothic"/>
              </a:rPr>
              <a:t>완료 되어야 함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65712" y="1486137"/>
            <a:ext cx="219375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소싱</a:t>
            </a:r>
            <a:r>
              <a:rPr lang="ko-KR" altLang="en-US" sz="894" b="1" dirty="0">
                <a:solidFill>
                  <a:schemeClr val="tx1"/>
                </a:solidFill>
              </a:rPr>
              <a:t> </a:t>
            </a:r>
            <a:r>
              <a:rPr lang="en-US" altLang="ko-KR" sz="894" b="1" dirty="0">
                <a:solidFill>
                  <a:schemeClr val="tx1"/>
                </a:solidFill>
              </a:rPr>
              <a:t>(S-ONE 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3519060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555803" y="179901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828381" y="1970040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710036"/>
              </p:ext>
            </p:extLst>
          </p:nvPr>
        </p:nvGraphicFramePr>
        <p:xfrm>
          <a:off x="730238" y="1242250"/>
          <a:ext cx="8884086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5905248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작업지시 등록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1560098" y="5830389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>
            <a:off x="1818916" y="5027760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520900" y="1486137"/>
            <a:ext cx="164819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디자인팀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5166190" y="1696832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22"/>
          <p:cNvSpPr/>
          <p:nvPr/>
        </p:nvSpPr>
        <p:spPr>
          <a:xfrm>
            <a:off x="1276318" y="227360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제품코드 </a:t>
            </a:r>
            <a:r>
              <a:rPr lang="ko-KR" altLang="en-US" sz="650" b="1" dirty="0" err="1">
                <a:latin typeface="+mn-ea"/>
              </a:rPr>
              <a:t>채번</a:t>
            </a:r>
            <a:endParaRPr sz="650" b="1" dirty="0">
              <a:latin typeface="+mn-ea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1274323" y="277489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 </a:t>
            </a:r>
            <a:r>
              <a:rPr lang="ko-KR" altLang="en-US" sz="650" b="1" dirty="0">
                <a:latin typeface="+mn-ea"/>
              </a:rPr>
              <a:t>제품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스타일정보 입력</a:t>
            </a:r>
            <a:endParaRPr sz="650" b="1" dirty="0">
              <a:latin typeface="+mn-e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72326" y="328816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(1-3) </a:t>
            </a:r>
            <a:r>
              <a:rPr lang="ko-KR" altLang="en-US" sz="650" b="1" dirty="0">
                <a:latin typeface="+mn-ea"/>
              </a:rPr>
              <a:t>제품 속성 입력</a:t>
            </a:r>
            <a:endParaRPr sz="650" b="1" dirty="0">
              <a:latin typeface="+mn-ea"/>
            </a:endParaRPr>
          </a:p>
        </p:txBody>
      </p:sp>
      <p:sp>
        <p:nvSpPr>
          <p:cNvPr id="24" name="object 22"/>
          <p:cNvSpPr/>
          <p:nvPr/>
        </p:nvSpPr>
        <p:spPr>
          <a:xfrm>
            <a:off x="1280317" y="38054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(1-4) </a:t>
            </a:r>
            <a:r>
              <a:rPr lang="ko-KR" altLang="en-US" sz="650" b="1" dirty="0">
                <a:latin typeface="+mn-ea"/>
              </a:rPr>
              <a:t>기획 사이즈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칼라 입력</a:t>
            </a:r>
            <a:endParaRPr sz="650" b="1" dirty="0">
              <a:latin typeface="+mn-ea"/>
            </a:endParaRPr>
          </a:p>
        </p:txBody>
      </p:sp>
      <p:sp>
        <p:nvSpPr>
          <p:cNvPr id="25" name="object 22"/>
          <p:cNvSpPr/>
          <p:nvPr/>
        </p:nvSpPr>
        <p:spPr>
          <a:xfrm>
            <a:off x="3784157" y="310378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자재 사양정보 입력</a:t>
            </a:r>
            <a:endParaRPr sz="650" b="1" dirty="0">
              <a:latin typeface="+mn-ea"/>
            </a:endParaRPr>
          </a:p>
        </p:txBody>
      </p:sp>
      <p:sp>
        <p:nvSpPr>
          <p:cNvPr id="26" name="object 22"/>
          <p:cNvSpPr/>
          <p:nvPr/>
        </p:nvSpPr>
        <p:spPr>
          <a:xfrm>
            <a:off x="3806126" y="362743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사이즈 </a:t>
            </a:r>
            <a:r>
              <a:rPr lang="ko-KR" altLang="en-US" sz="650" b="1" dirty="0" err="1">
                <a:latin typeface="+mn-ea"/>
              </a:rPr>
              <a:t>스펙</a:t>
            </a:r>
            <a:r>
              <a:rPr lang="ko-KR" altLang="en-US" sz="650" b="1" dirty="0">
                <a:latin typeface="+mn-ea"/>
              </a:rPr>
              <a:t> 입력</a:t>
            </a:r>
            <a:endParaRPr sz="650" b="1" dirty="0">
              <a:latin typeface="+mn-ea"/>
            </a:endParaRPr>
          </a:p>
        </p:txBody>
      </p:sp>
      <p:sp>
        <p:nvSpPr>
          <p:cNvPr id="27" name="object 22"/>
          <p:cNvSpPr/>
          <p:nvPr/>
        </p:nvSpPr>
        <p:spPr>
          <a:xfrm>
            <a:off x="3810122" y="413471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(2-3) </a:t>
            </a:r>
            <a:r>
              <a:rPr lang="ko-KR" altLang="en-US" sz="650" b="1" dirty="0">
                <a:latin typeface="+mn-ea"/>
              </a:rPr>
              <a:t>작지 디자인 파일 등록</a:t>
            </a:r>
            <a:endParaRPr sz="650" b="1" dirty="0">
              <a:latin typeface="+mn-ea"/>
            </a:endParaRPr>
          </a:p>
        </p:txBody>
      </p:sp>
      <p:sp>
        <p:nvSpPr>
          <p:cNvPr id="28" name="object 22"/>
          <p:cNvSpPr/>
          <p:nvPr/>
        </p:nvSpPr>
        <p:spPr>
          <a:xfrm>
            <a:off x="1280683" y="4820843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(1-6) </a:t>
            </a:r>
            <a:r>
              <a:rPr lang="ko-KR" altLang="en-US" sz="650" b="1" dirty="0">
                <a:latin typeface="+mn-ea"/>
              </a:rPr>
              <a:t>분할입고 정보 등록</a:t>
            </a:r>
            <a:endParaRPr sz="650" b="1" dirty="0">
              <a:latin typeface="+mn-ea"/>
            </a:endParaRPr>
          </a:p>
        </p:txBody>
      </p:sp>
      <p:sp>
        <p:nvSpPr>
          <p:cNvPr id="29" name="object 22"/>
          <p:cNvSpPr/>
          <p:nvPr/>
        </p:nvSpPr>
        <p:spPr>
          <a:xfrm>
            <a:off x="1276317" y="432542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(1-5) </a:t>
            </a:r>
            <a:r>
              <a:rPr lang="ko-KR" altLang="en-US" sz="650" b="1" dirty="0">
                <a:latin typeface="+mn-ea"/>
              </a:rPr>
              <a:t>인증서 파일 업로드</a:t>
            </a:r>
            <a:endParaRPr sz="650" b="1" dirty="0">
              <a:latin typeface="+mn-ea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1826385" y="248930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1830381" y="299658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1828386" y="349787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826389" y="402313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830386" y="453640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4353232" y="332094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4351234" y="383422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bject 22"/>
          <p:cNvSpPr/>
          <p:nvPr/>
        </p:nvSpPr>
        <p:spPr>
          <a:xfrm>
            <a:off x="5715293" y="2341957"/>
            <a:ext cx="1100466" cy="216644"/>
          </a:xfrm>
          <a:custGeom>
            <a:avLst/>
            <a:gdLst>
              <a:gd name="connsiteX0" fmla="*/ 1344168 w 1354420"/>
              <a:gd name="connsiteY0" fmla="*/ 0 h 263106"/>
              <a:gd name="connsiteX1" fmla="*/ 0 w 1354420"/>
              <a:gd name="connsiteY1" fmla="*/ 0 h 263106"/>
              <a:gd name="connsiteX2" fmla="*/ 0 w 1354420"/>
              <a:gd name="connsiteY2" fmla="*/ 262127 h 263106"/>
              <a:gd name="connsiteX3" fmla="*/ 1344168 w 1354420"/>
              <a:gd name="connsiteY3" fmla="*/ 262127 h 263106"/>
              <a:gd name="connsiteX4" fmla="*/ 1354420 w 1354420"/>
              <a:gd name="connsiteY4" fmla="*/ 263106 h 263106"/>
              <a:gd name="connsiteX5" fmla="*/ 1344168 w 1354420"/>
              <a:gd name="connsiteY5" fmla="*/ 0 h 263106"/>
              <a:gd name="connsiteX0" fmla="*/ 1344168 w 1354420"/>
              <a:gd name="connsiteY0" fmla="*/ 3533 h 266639"/>
              <a:gd name="connsiteX1" fmla="*/ 0 w 1354420"/>
              <a:gd name="connsiteY1" fmla="*/ 3533 h 266639"/>
              <a:gd name="connsiteX2" fmla="*/ 0 w 1354420"/>
              <a:gd name="connsiteY2" fmla="*/ 265660 h 266639"/>
              <a:gd name="connsiteX3" fmla="*/ 1344168 w 1354420"/>
              <a:gd name="connsiteY3" fmla="*/ 265660 h 266639"/>
              <a:gd name="connsiteX4" fmla="*/ 1354420 w 1354420"/>
              <a:gd name="connsiteY4" fmla="*/ 266639 h 266639"/>
              <a:gd name="connsiteX5" fmla="*/ 1344168 w 1354420"/>
              <a:gd name="connsiteY5" fmla="*/ 3533 h 266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4420" h="266639">
                <a:moveTo>
                  <a:pt x="1344168" y="3533"/>
                </a:moveTo>
                <a:cubicBezTo>
                  <a:pt x="681427" y="-4418"/>
                  <a:pt x="448056" y="3533"/>
                  <a:pt x="0" y="3533"/>
                </a:cubicBezTo>
                <a:lnTo>
                  <a:pt x="0" y="265660"/>
                </a:lnTo>
                <a:lnTo>
                  <a:pt x="1344168" y="265660"/>
                </a:lnTo>
                <a:lnTo>
                  <a:pt x="1354420" y="266639"/>
                </a:lnTo>
                <a:lnTo>
                  <a:pt x="1344168" y="3533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</a:t>
            </a:r>
            <a:r>
              <a:rPr lang="ko-KR" altLang="en-US" sz="650" b="1" dirty="0">
                <a:latin typeface="+mn-ea"/>
              </a:rPr>
              <a:t>파일 번호 </a:t>
            </a:r>
            <a:r>
              <a:rPr lang="ko-KR" altLang="en-US" sz="650" b="1" dirty="0" err="1">
                <a:latin typeface="+mn-ea"/>
              </a:rPr>
              <a:t>매칭</a:t>
            </a:r>
            <a:endParaRPr sz="650" b="1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17176" y="2210966"/>
            <a:ext cx="1204298" cy="188134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55" name="object 22"/>
          <p:cNvSpPr/>
          <p:nvPr/>
        </p:nvSpPr>
        <p:spPr>
          <a:xfrm>
            <a:off x="5721006" y="286048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 </a:t>
            </a:r>
            <a:r>
              <a:rPr lang="ko-KR" altLang="en-US" sz="650" b="1" dirty="0">
                <a:latin typeface="+mn-ea"/>
              </a:rPr>
              <a:t>사전원가 등록</a:t>
            </a:r>
            <a:endParaRPr sz="650" b="1" dirty="0">
              <a:latin typeface="+mn-ea"/>
            </a:endParaRP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6268112" y="255399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bject 22"/>
          <p:cNvSpPr/>
          <p:nvPr/>
        </p:nvSpPr>
        <p:spPr>
          <a:xfrm>
            <a:off x="5719011" y="3385737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 G/W </a:t>
            </a:r>
            <a:r>
              <a:rPr lang="ko-KR" altLang="en-US" sz="650" b="1" dirty="0">
                <a:latin typeface="+mn-ea"/>
              </a:rPr>
              <a:t>사전원가 결재</a:t>
            </a:r>
            <a:endParaRPr sz="650" b="1" dirty="0">
              <a:latin typeface="+mn-ea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>
            <a:off x="6266116" y="3079255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object 22"/>
          <p:cNvSpPr/>
          <p:nvPr/>
        </p:nvSpPr>
        <p:spPr>
          <a:xfrm>
            <a:off x="5722083" y="3914608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(3-4) </a:t>
            </a:r>
            <a:r>
              <a:rPr lang="ko-KR" altLang="en-US" sz="650" b="1" dirty="0">
                <a:latin typeface="+mn-ea"/>
              </a:rPr>
              <a:t>자재 등록 구매</a:t>
            </a:r>
            <a:endParaRPr sz="650" b="1" dirty="0">
              <a:latin typeface="+mn-ea"/>
            </a:endParaRPr>
          </a:p>
        </p:txBody>
      </p:sp>
      <p:cxnSp>
        <p:nvCxnSpPr>
          <p:cNvPr id="60" name="직선 화살표 연결선 59"/>
          <p:cNvCxnSpPr/>
          <p:nvPr/>
        </p:nvCxnSpPr>
        <p:spPr>
          <a:xfrm>
            <a:off x="6269188" y="360812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bject 22"/>
          <p:cNvSpPr/>
          <p:nvPr/>
        </p:nvSpPr>
        <p:spPr>
          <a:xfrm>
            <a:off x="5716698" y="4432519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(3-5)G/W </a:t>
            </a:r>
            <a:r>
              <a:rPr lang="ko-KR" altLang="en-US" sz="650" b="1" dirty="0">
                <a:latin typeface="+mn-ea"/>
              </a:rPr>
              <a:t>생산사전원가 결재</a:t>
            </a:r>
            <a:endParaRPr sz="650" b="1" dirty="0">
              <a:latin typeface="+mn-ea"/>
            </a:endParaRP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6263804" y="412603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bject 22"/>
          <p:cNvSpPr/>
          <p:nvPr/>
        </p:nvSpPr>
        <p:spPr>
          <a:xfrm>
            <a:off x="5717774" y="4956891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(3-6) </a:t>
            </a:r>
            <a:r>
              <a:rPr lang="ko-KR" altLang="en-US" sz="650" b="1" dirty="0">
                <a:latin typeface="+mn-ea"/>
              </a:rPr>
              <a:t>생산 사전원가 확정</a:t>
            </a:r>
            <a:endParaRPr sz="650" b="1" dirty="0">
              <a:latin typeface="+mn-ea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>
            <a:off x="6264880" y="465040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타원 74"/>
          <p:cNvSpPr/>
          <p:nvPr/>
        </p:nvSpPr>
        <p:spPr>
          <a:xfrm>
            <a:off x="2358059" y="4906864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78" name="꺾인 연결선 77"/>
          <p:cNvCxnSpPr>
            <a:endCxn id="75" idx="6"/>
          </p:cNvCxnSpPr>
          <p:nvPr/>
        </p:nvCxnSpPr>
        <p:spPr>
          <a:xfrm rot="10800000">
            <a:off x="2395207" y="4925437"/>
            <a:ext cx="3857850" cy="4034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4" name="타원 83"/>
          <p:cNvSpPr/>
          <p:nvPr/>
        </p:nvSpPr>
        <p:spPr>
          <a:xfrm>
            <a:off x="6249393" y="2322000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87" name="꺾인 연결선 86"/>
          <p:cNvCxnSpPr>
            <a:stCxn id="4" idx="3"/>
            <a:endCxn id="84" idx="0"/>
          </p:cNvCxnSpPr>
          <p:nvPr/>
        </p:nvCxnSpPr>
        <p:spPr>
          <a:xfrm flipV="1">
            <a:off x="2421474" y="2322000"/>
            <a:ext cx="3846493" cy="829637"/>
          </a:xfrm>
          <a:prstGeom prst="bentConnector4">
            <a:avLst>
              <a:gd name="adj1" fmla="val 33183"/>
              <a:gd name="adj2" fmla="val 13577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순서도: 자기 디스크 88"/>
          <p:cNvSpPr/>
          <p:nvPr/>
        </p:nvSpPr>
        <p:spPr>
          <a:xfrm>
            <a:off x="2901940" y="2574732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제품정보</a:t>
            </a:r>
          </a:p>
        </p:txBody>
      </p:sp>
      <p:sp>
        <p:nvSpPr>
          <p:cNvPr id="92" name="순서도: 자기 디스크 91"/>
          <p:cNvSpPr/>
          <p:nvPr/>
        </p:nvSpPr>
        <p:spPr>
          <a:xfrm>
            <a:off x="2903017" y="2940198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 err="1">
                <a:latin typeface="+mn-ea"/>
              </a:rPr>
              <a:t>작지정보</a:t>
            </a:r>
            <a:endParaRPr lang="ko-KR" altLang="en-US" sz="650" b="1" dirty="0">
              <a:latin typeface="+mn-ea"/>
            </a:endParaRPr>
          </a:p>
        </p:txBody>
      </p:sp>
      <p:sp>
        <p:nvSpPr>
          <p:cNvPr id="93" name="순서도: 자기 디스크 92"/>
          <p:cNvSpPr/>
          <p:nvPr/>
        </p:nvSpPr>
        <p:spPr>
          <a:xfrm>
            <a:off x="2904094" y="3316753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스타일정보</a:t>
            </a:r>
          </a:p>
        </p:txBody>
      </p:sp>
      <p:cxnSp>
        <p:nvCxnSpPr>
          <p:cNvPr id="95" name="직선 화살표 연결선 94"/>
          <p:cNvCxnSpPr>
            <a:stCxn id="4" idx="3"/>
            <a:endCxn id="89" idx="2"/>
          </p:cNvCxnSpPr>
          <p:nvPr/>
        </p:nvCxnSpPr>
        <p:spPr>
          <a:xfrm flipV="1">
            <a:off x="2421474" y="2728251"/>
            <a:ext cx="480466" cy="423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4" idx="3"/>
            <a:endCxn id="92" idx="2"/>
          </p:cNvCxnSpPr>
          <p:nvPr/>
        </p:nvCxnSpPr>
        <p:spPr>
          <a:xfrm flipV="1">
            <a:off x="2421474" y="3093718"/>
            <a:ext cx="481544" cy="57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4" idx="3"/>
            <a:endCxn id="93" idx="2"/>
          </p:cNvCxnSpPr>
          <p:nvPr/>
        </p:nvCxnSpPr>
        <p:spPr>
          <a:xfrm>
            <a:off x="2421474" y="3151637"/>
            <a:ext cx="482620" cy="3186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object 22"/>
          <p:cNvSpPr/>
          <p:nvPr/>
        </p:nvSpPr>
        <p:spPr>
          <a:xfrm>
            <a:off x="5722083" y="5487900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(3-7) PACKING</a:t>
            </a:r>
            <a:r>
              <a:rPr lang="ko-KR" altLang="en-US" sz="650" b="1" dirty="0">
                <a:latin typeface="+mn-ea"/>
              </a:rPr>
              <a:t>합의</a:t>
            </a:r>
            <a:r>
              <a:rPr lang="en-US" altLang="ko-KR" sz="650" b="1" dirty="0">
                <a:latin typeface="+mn-ea"/>
              </a:rPr>
              <a:t>, </a:t>
            </a:r>
          </a:p>
          <a:p>
            <a:pPr algn="ctr"/>
            <a:r>
              <a:rPr lang="en-US" altLang="ko-KR" sz="650" b="1" dirty="0">
                <a:latin typeface="+mn-ea"/>
              </a:rPr>
              <a:t>DPL, </a:t>
            </a:r>
            <a:r>
              <a:rPr lang="ko-KR" altLang="en-US" sz="650" b="1" dirty="0">
                <a:latin typeface="+mn-ea"/>
              </a:rPr>
              <a:t>선적</a:t>
            </a:r>
            <a:r>
              <a:rPr lang="en-US" altLang="ko-KR" sz="650" b="1" dirty="0">
                <a:latin typeface="+mn-ea"/>
              </a:rPr>
              <a:t>…</a:t>
            </a:r>
            <a:endParaRPr sz="650" b="1" dirty="0">
              <a:latin typeface="+mn-ea"/>
            </a:endParaRPr>
          </a:p>
        </p:txBody>
      </p:sp>
      <p:cxnSp>
        <p:nvCxnSpPr>
          <p:cNvPr id="103" name="직선 화살표 연결선 102"/>
          <p:cNvCxnSpPr/>
          <p:nvPr/>
        </p:nvCxnSpPr>
        <p:spPr>
          <a:xfrm>
            <a:off x="6264880" y="5170474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bject 22"/>
          <p:cNvSpPr/>
          <p:nvPr/>
        </p:nvSpPr>
        <p:spPr>
          <a:xfrm>
            <a:off x="1282529" y="5327235"/>
            <a:ext cx="109224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SOLID/ASSORT </a:t>
            </a:r>
            <a:r>
              <a:rPr lang="ko-KR" altLang="en-US" sz="650" b="1" dirty="0">
                <a:latin typeface="+mn-ea"/>
              </a:rPr>
              <a:t>패킹등록</a:t>
            </a:r>
            <a:r>
              <a:rPr lang="en-US" altLang="ko-KR" sz="650" b="1" dirty="0">
                <a:latin typeface="+mn-ea"/>
              </a:rPr>
              <a:t>..</a:t>
            </a:r>
            <a:endParaRPr sz="650" b="1" dirty="0">
              <a:latin typeface="+mn-ea"/>
            </a:endParaRP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1820762" y="554523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3474" y="4163390"/>
            <a:ext cx="909260" cy="192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650" b="1" dirty="0">
                <a:latin typeface="+mn-ea"/>
              </a:rPr>
              <a:t>TAG </a:t>
            </a:r>
            <a:r>
              <a:rPr lang="ko-KR" altLang="en-US" sz="650" b="1" dirty="0">
                <a:latin typeface="+mn-ea"/>
              </a:rPr>
              <a:t>발주 수기작업</a:t>
            </a:r>
          </a:p>
        </p:txBody>
      </p:sp>
      <p:sp>
        <p:nvSpPr>
          <p:cNvPr id="69" name="순서도: 자기 디스크 68"/>
          <p:cNvSpPr/>
          <p:nvPr/>
        </p:nvSpPr>
        <p:spPr>
          <a:xfrm>
            <a:off x="2905940" y="3701170"/>
            <a:ext cx="528760" cy="307039"/>
          </a:xfrm>
          <a:prstGeom prst="flowChartMagneticDisk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제품 속성</a:t>
            </a:r>
          </a:p>
        </p:txBody>
      </p:sp>
      <p:cxnSp>
        <p:nvCxnSpPr>
          <p:cNvPr id="70" name="직선 화살표 연결선 69"/>
          <p:cNvCxnSpPr>
            <a:stCxn id="4" idx="3"/>
            <a:endCxn id="69" idx="2"/>
          </p:cNvCxnSpPr>
          <p:nvPr/>
        </p:nvCxnSpPr>
        <p:spPr>
          <a:xfrm>
            <a:off x="2421474" y="3151637"/>
            <a:ext cx="484466" cy="7030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158318" y="2058359"/>
            <a:ext cx="1609168" cy="2923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>
                <a:latin typeface="+mn-ea"/>
              </a:rPr>
              <a:t>정보의 일관성 유지 </a:t>
            </a:r>
            <a:r>
              <a:rPr lang="en-US" altLang="ko-KR" sz="650" b="1" dirty="0">
                <a:latin typeface="+mn-ea"/>
              </a:rPr>
              <a:t>/</a:t>
            </a:r>
            <a:r>
              <a:rPr lang="ko-KR" altLang="en-US" sz="650" b="1" dirty="0">
                <a:latin typeface="+mn-ea"/>
              </a:rPr>
              <a:t> 변화 관리 필요성</a:t>
            </a:r>
          </a:p>
        </p:txBody>
      </p:sp>
      <p:sp>
        <p:nvSpPr>
          <p:cNvPr id="74" name="폭발 1 73"/>
          <p:cNvSpPr/>
          <p:nvPr/>
        </p:nvSpPr>
        <p:spPr>
          <a:xfrm>
            <a:off x="3733268" y="1921616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" name="폭발 1 75"/>
          <p:cNvSpPr/>
          <p:nvPr/>
        </p:nvSpPr>
        <p:spPr>
          <a:xfrm>
            <a:off x="5856255" y="4076618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743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6" y="1043149"/>
            <a:ext cx="7893667" cy="3505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7281" y="694621"/>
            <a:ext cx="5155427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b="1" dirty="0"/>
              <a:t>□ 작업지시서 화면 구성 및 진행 </a:t>
            </a:r>
            <a:r>
              <a:rPr lang="en-US" altLang="ko-KR" sz="1138" b="1" dirty="0"/>
              <a:t>PROCESS</a:t>
            </a:r>
            <a:endParaRPr lang="ko-KR" altLang="en-US" sz="1138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40147" y="1411730"/>
            <a:ext cx="1640951" cy="46573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975" dirty="0">
                <a:latin typeface="+mn-ea"/>
              </a:rPr>
              <a:t>1. </a:t>
            </a:r>
            <a:r>
              <a:rPr lang="ko-KR" altLang="en-US" sz="975" dirty="0">
                <a:latin typeface="+mn-ea"/>
              </a:rPr>
              <a:t>제품 코드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브랜드정보</a:t>
            </a:r>
            <a:r>
              <a:rPr lang="en-US" altLang="ko-KR" sz="813" dirty="0">
                <a:latin typeface="+mn-ea"/>
              </a:rPr>
              <a:t>(2)+</a:t>
            </a:r>
            <a:r>
              <a:rPr lang="ko-KR" altLang="en-US" sz="813" dirty="0">
                <a:latin typeface="+mn-ea"/>
              </a:rPr>
              <a:t>기획 년도</a:t>
            </a:r>
            <a:r>
              <a:rPr lang="en-US" altLang="ko-KR" sz="813" dirty="0">
                <a:latin typeface="+mn-ea"/>
              </a:rPr>
              <a:t>/</a:t>
            </a:r>
            <a:r>
              <a:rPr lang="ko-KR" altLang="en-US" sz="813" dirty="0">
                <a:latin typeface="+mn-ea"/>
              </a:rPr>
              <a:t>시즌</a:t>
            </a:r>
            <a:r>
              <a:rPr lang="en-US" altLang="ko-KR" sz="813" dirty="0">
                <a:latin typeface="+mn-ea"/>
              </a:rPr>
              <a:t>(2)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</a:t>
            </a:r>
            <a:r>
              <a:rPr lang="ko-KR" altLang="en-US" sz="813" dirty="0">
                <a:latin typeface="+mn-ea"/>
              </a:rPr>
              <a:t>품종정보</a:t>
            </a:r>
            <a:r>
              <a:rPr lang="en-US" altLang="ko-KR" sz="813" dirty="0">
                <a:latin typeface="+mn-ea"/>
              </a:rPr>
              <a:t>(2)+</a:t>
            </a:r>
            <a:r>
              <a:rPr lang="ko-KR" altLang="en-US" sz="813" dirty="0">
                <a:latin typeface="+mn-ea"/>
              </a:rPr>
              <a:t>성별</a:t>
            </a:r>
            <a:r>
              <a:rPr lang="en-US" altLang="ko-KR" sz="813" dirty="0">
                <a:latin typeface="+mn-ea"/>
              </a:rPr>
              <a:t>(1)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+ SEQ </a:t>
            </a:r>
            <a:r>
              <a:rPr lang="ko-KR" altLang="en-US" sz="813" dirty="0">
                <a:latin typeface="+mn-ea"/>
              </a:rPr>
              <a:t>구성</a:t>
            </a:r>
            <a:r>
              <a:rPr lang="en-US" altLang="ko-KR" sz="813" dirty="0">
                <a:latin typeface="+mn-ea"/>
              </a:rPr>
              <a:t>(3)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2. </a:t>
            </a:r>
            <a:r>
              <a:rPr lang="ko-KR" altLang="en-US" sz="975" dirty="0">
                <a:latin typeface="+mn-ea"/>
              </a:rPr>
              <a:t>제품 기본정보 </a:t>
            </a:r>
            <a:r>
              <a:rPr lang="en-US" altLang="ko-KR" sz="975" dirty="0">
                <a:latin typeface="+mn-ea"/>
              </a:rPr>
              <a:t>/ </a:t>
            </a:r>
            <a:r>
              <a:rPr lang="ko-KR" altLang="en-US" sz="975" dirty="0">
                <a:latin typeface="+mn-ea"/>
              </a:rPr>
              <a:t>속성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제품 분류 및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>
                <a:latin typeface="+mn-ea"/>
              </a:rPr>
              <a:t>제품 유형</a:t>
            </a:r>
            <a:r>
              <a:rPr lang="en-US" altLang="ko-KR" sz="813" dirty="0">
                <a:latin typeface="+mn-ea"/>
              </a:rPr>
              <a:t>, MD</a:t>
            </a:r>
            <a:r>
              <a:rPr lang="ko-KR" altLang="en-US" sz="813" dirty="0">
                <a:latin typeface="+mn-ea"/>
              </a:rPr>
              <a:t> 및 디자인 담당자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원산지</a:t>
            </a:r>
            <a:r>
              <a:rPr lang="en-US" altLang="ko-KR" sz="813" dirty="0">
                <a:latin typeface="+mn-ea"/>
              </a:rPr>
              <a:t>,</a:t>
            </a:r>
            <a:r>
              <a:rPr lang="ko-KR" altLang="en-US" sz="813" dirty="0">
                <a:latin typeface="+mn-ea"/>
              </a:rPr>
              <a:t>유통구분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온라인 연계 카테고리 등 기본 속성 정보 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* </a:t>
            </a:r>
            <a:r>
              <a:rPr lang="ko-KR" altLang="en-US" sz="731" b="1" dirty="0">
                <a:latin typeface="+mn-ea"/>
              </a:rPr>
              <a:t>소비자가 확정 </a:t>
            </a:r>
            <a:r>
              <a:rPr lang="ko-KR" altLang="en-US" sz="731" dirty="0">
                <a:latin typeface="+mn-ea"/>
              </a:rPr>
              <a:t>결재 프로세스필요</a:t>
            </a:r>
            <a:r>
              <a:rPr lang="en-US" altLang="ko-KR" sz="813" dirty="0">
                <a:latin typeface="+mn-ea"/>
              </a:rPr>
              <a:t/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* DW </a:t>
            </a:r>
            <a:r>
              <a:rPr lang="ko-KR" altLang="en-US" sz="813" dirty="0">
                <a:latin typeface="+mn-ea"/>
              </a:rPr>
              <a:t>분석 정보 항목 보완필요</a:t>
            </a:r>
            <a:endParaRPr lang="en-US" altLang="ko-KR" sz="975" dirty="0">
              <a:latin typeface="+mn-ea"/>
            </a:endParaRP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3. </a:t>
            </a:r>
            <a:r>
              <a:rPr lang="ko-KR" altLang="en-US" sz="975" dirty="0">
                <a:latin typeface="+mn-ea"/>
              </a:rPr>
              <a:t>칼라 </a:t>
            </a:r>
            <a:r>
              <a:rPr lang="en-US" altLang="ko-KR" sz="975" dirty="0">
                <a:latin typeface="+mn-ea"/>
              </a:rPr>
              <a:t>/ </a:t>
            </a:r>
            <a:r>
              <a:rPr lang="ko-KR" altLang="en-US" sz="975" dirty="0">
                <a:latin typeface="+mn-ea"/>
              </a:rPr>
              <a:t>기획 사이즈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제품의 칼라 및 기획 사이즈 별 기획 수량 정보</a:t>
            </a:r>
            <a:endParaRPr lang="en-US" altLang="ko-KR" sz="813" dirty="0">
              <a:latin typeface="+mn-ea"/>
            </a:endParaRP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4. </a:t>
            </a:r>
            <a:r>
              <a:rPr lang="ko-KR" altLang="en-US" sz="975" dirty="0">
                <a:latin typeface="+mn-ea"/>
              </a:rPr>
              <a:t>자재정보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주요 자재에 대한 간략한 정보 </a:t>
            </a:r>
            <a:r>
              <a:rPr lang="en-US" altLang="ko-KR" sz="813" dirty="0">
                <a:latin typeface="+mn-ea"/>
              </a:rPr>
              <a:t/>
            </a:r>
            <a:br>
              <a:rPr lang="en-US" altLang="ko-KR" sz="813" dirty="0">
                <a:latin typeface="+mn-ea"/>
              </a:rPr>
            </a:br>
            <a:r>
              <a:rPr lang="en-US" altLang="ko-KR" sz="813" dirty="0">
                <a:latin typeface="+mn-ea"/>
              </a:rPr>
              <a:t>( </a:t>
            </a:r>
            <a:r>
              <a:rPr lang="ko-KR" altLang="en-US" sz="813" dirty="0">
                <a:latin typeface="+mn-ea"/>
              </a:rPr>
              <a:t>실 자재정보는 </a:t>
            </a:r>
            <a:r>
              <a:rPr lang="ko-KR" altLang="en-US" sz="813" dirty="0" err="1">
                <a:latin typeface="+mn-ea"/>
              </a:rPr>
              <a:t>소싱</a:t>
            </a:r>
            <a:r>
              <a:rPr lang="ko-KR" altLang="en-US" sz="813" dirty="0">
                <a:latin typeface="+mn-ea"/>
              </a:rPr>
              <a:t> 시스템 </a:t>
            </a:r>
            <a:r>
              <a:rPr lang="en-US" altLang="ko-KR" sz="813" dirty="0">
                <a:latin typeface="+mn-ea"/>
              </a:rPr>
              <a:t>)</a:t>
            </a: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5. </a:t>
            </a:r>
            <a:r>
              <a:rPr lang="ko-KR" altLang="en-US" sz="975" dirty="0">
                <a:latin typeface="+mn-ea"/>
              </a:rPr>
              <a:t>사이즈 </a:t>
            </a:r>
            <a:r>
              <a:rPr lang="ko-KR" altLang="en-US" sz="975" dirty="0" err="1">
                <a:latin typeface="+mn-ea"/>
              </a:rPr>
              <a:t>스펙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기획사이즈 별 세부 사이즈 </a:t>
            </a:r>
            <a:r>
              <a:rPr lang="ko-KR" altLang="en-US" sz="813" dirty="0" err="1">
                <a:latin typeface="+mn-ea"/>
              </a:rPr>
              <a:t>스펙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6. </a:t>
            </a:r>
            <a:r>
              <a:rPr lang="ko-KR" altLang="en-US" sz="975" dirty="0">
                <a:latin typeface="+mn-ea"/>
              </a:rPr>
              <a:t>스타일 </a:t>
            </a:r>
            <a:r>
              <a:rPr lang="en-US" altLang="ko-KR" sz="975" dirty="0">
                <a:latin typeface="+mn-ea"/>
              </a:rPr>
              <a:t>/ </a:t>
            </a:r>
            <a:r>
              <a:rPr lang="ko-KR" altLang="en-US" sz="975" dirty="0">
                <a:latin typeface="+mn-ea"/>
              </a:rPr>
              <a:t>스케치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스케치 및 디자인 정보 파일</a:t>
            </a:r>
            <a:endParaRPr lang="en-US" altLang="ko-KR" sz="813" dirty="0">
              <a:latin typeface="+mn-ea"/>
            </a:endParaRPr>
          </a:p>
          <a:p>
            <a:pPr marL="185738" indent="-185738">
              <a:buAutoNum type="arabicPeriod"/>
            </a:pPr>
            <a:endParaRPr lang="en-US" altLang="ko-KR" sz="975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7. </a:t>
            </a:r>
            <a:r>
              <a:rPr lang="ko-KR" altLang="en-US" sz="975" dirty="0">
                <a:latin typeface="+mn-ea"/>
              </a:rPr>
              <a:t>분할입고 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물류창고 분할 입고 정보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en-US" altLang="ko-KR" sz="975" dirty="0">
                <a:latin typeface="+mn-ea"/>
              </a:rPr>
              <a:t>8. </a:t>
            </a:r>
            <a:r>
              <a:rPr lang="ko-KR" altLang="en-US" sz="975" dirty="0">
                <a:latin typeface="+mn-ea"/>
              </a:rPr>
              <a:t>인증서 정보</a:t>
            </a:r>
            <a:endParaRPr lang="en-US" altLang="ko-KR" sz="975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각종 성적서 등 인증서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086" y="4713012"/>
            <a:ext cx="7893667" cy="146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94" dirty="0">
                <a:latin typeface="+mn-ea"/>
              </a:rPr>
              <a:t>▶ 제품 정보 및 스타일 정보 일체에 대해 최초 등록하는 화면으로서</a:t>
            </a:r>
            <a:r>
              <a:rPr lang="en-US" altLang="ko-KR" sz="894" dirty="0">
                <a:latin typeface="+mn-ea"/>
              </a:rPr>
              <a:t>,</a:t>
            </a: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b="1" dirty="0">
                <a:latin typeface="+mn-ea"/>
              </a:rPr>
              <a:t>상품기획팀</a:t>
            </a:r>
            <a:r>
              <a:rPr lang="ko-KR" altLang="en-US" sz="894" dirty="0">
                <a:latin typeface="+mn-ea"/>
              </a:rPr>
              <a:t>에서 제품 코드 </a:t>
            </a:r>
            <a:r>
              <a:rPr lang="ko-KR" altLang="en-US" sz="894" dirty="0" err="1">
                <a:latin typeface="+mn-ea"/>
              </a:rPr>
              <a:t>채번</a:t>
            </a:r>
            <a:r>
              <a:rPr lang="ko-KR" altLang="en-US" sz="894" dirty="0">
                <a:latin typeface="+mn-ea"/>
              </a:rPr>
              <a:t> 및 제품 기본 속성 정보를 등록하여 진행</a:t>
            </a:r>
            <a:endParaRPr lang="en-US" altLang="ko-KR" sz="894" dirty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  </a:t>
            </a:r>
            <a:r>
              <a:rPr lang="ko-KR" altLang="en-US" sz="894" dirty="0">
                <a:latin typeface="+mn-ea"/>
              </a:rPr>
              <a:t> 생산을 위한 기초 속성 및 필요 정보</a:t>
            </a:r>
            <a:r>
              <a:rPr lang="en-US" altLang="ko-KR" sz="894" dirty="0">
                <a:latin typeface="+mn-ea"/>
              </a:rPr>
              <a:t> ( </a:t>
            </a:r>
            <a:r>
              <a:rPr lang="ko-KR" altLang="en-US" sz="894" dirty="0">
                <a:latin typeface="+mn-ea"/>
              </a:rPr>
              <a:t>칼라</a:t>
            </a:r>
            <a:r>
              <a:rPr lang="en-US" altLang="ko-KR" sz="894" dirty="0">
                <a:latin typeface="+mn-ea"/>
              </a:rPr>
              <a:t>/</a:t>
            </a:r>
            <a:r>
              <a:rPr lang="ko-KR" altLang="en-US" sz="894" dirty="0">
                <a:latin typeface="+mn-ea"/>
              </a:rPr>
              <a:t>기획사이즈 </a:t>
            </a:r>
            <a:r>
              <a:rPr lang="en-US" altLang="ko-KR" sz="894" dirty="0">
                <a:latin typeface="+mn-ea"/>
              </a:rPr>
              <a:t>) </a:t>
            </a:r>
            <a:r>
              <a:rPr lang="ko-KR" altLang="en-US" sz="894" dirty="0">
                <a:latin typeface="+mn-ea"/>
              </a:rPr>
              <a:t>입력이 함께 진행되며</a:t>
            </a:r>
            <a:endParaRPr lang="en-US" altLang="ko-KR" sz="894" dirty="0">
              <a:latin typeface="+mn-ea"/>
            </a:endParaRPr>
          </a:p>
          <a:p>
            <a:r>
              <a:rPr lang="ko-KR" altLang="en-US" sz="894" dirty="0">
                <a:latin typeface="+mn-ea"/>
              </a:rPr>
              <a:t>    이후 </a:t>
            </a:r>
            <a:r>
              <a:rPr lang="ko-KR" altLang="en-US" sz="894" b="1" dirty="0">
                <a:latin typeface="+mn-ea"/>
              </a:rPr>
              <a:t>디자인 팀</a:t>
            </a:r>
            <a:r>
              <a:rPr lang="ko-KR" altLang="en-US" sz="894" dirty="0">
                <a:latin typeface="+mn-ea"/>
              </a:rPr>
              <a:t> 에서 사이즈 </a:t>
            </a:r>
            <a:r>
              <a:rPr lang="ko-KR" altLang="en-US" sz="894" dirty="0" err="1">
                <a:latin typeface="+mn-ea"/>
              </a:rPr>
              <a:t>스펙</a:t>
            </a:r>
            <a:r>
              <a:rPr lang="ko-KR" altLang="en-US" sz="894" dirty="0">
                <a:latin typeface="+mn-ea"/>
              </a:rPr>
              <a:t> 및 디자인 파일을 업로드 하여 </a:t>
            </a:r>
            <a:r>
              <a:rPr lang="ko-KR" altLang="en-US" sz="894" dirty="0" err="1">
                <a:latin typeface="+mn-ea"/>
              </a:rPr>
              <a:t>소싱</a:t>
            </a:r>
            <a:r>
              <a:rPr lang="ko-KR" altLang="en-US" sz="894" dirty="0">
                <a:latin typeface="+mn-ea"/>
              </a:rPr>
              <a:t> 부서로 인터페이스</a:t>
            </a:r>
            <a:endParaRPr lang="en-US" altLang="ko-KR" sz="894" dirty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b="1" dirty="0" err="1">
                <a:latin typeface="+mn-ea"/>
              </a:rPr>
              <a:t>소싱</a:t>
            </a:r>
            <a:r>
              <a:rPr lang="ko-KR" altLang="en-US" sz="894" b="1" dirty="0">
                <a:latin typeface="+mn-ea"/>
              </a:rPr>
              <a:t> 부서</a:t>
            </a:r>
            <a:r>
              <a:rPr lang="ko-KR" altLang="en-US" sz="894" dirty="0">
                <a:latin typeface="+mn-ea"/>
              </a:rPr>
              <a:t>에서는 제품 정보를 </a:t>
            </a:r>
            <a:r>
              <a:rPr lang="en-US" altLang="ko-KR" sz="894" dirty="0">
                <a:latin typeface="+mn-ea"/>
              </a:rPr>
              <a:t>FILE </a:t>
            </a:r>
            <a:r>
              <a:rPr lang="ko-KR" altLang="en-US" sz="894" dirty="0">
                <a:latin typeface="+mn-ea"/>
              </a:rPr>
              <a:t>번호로 매칭하여 생산 활동을 진행하며 자재 구매</a:t>
            </a:r>
            <a:r>
              <a:rPr lang="en-US" altLang="ko-KR" sz="894" dirty="0">
                <a:latin typeface="+mn-ea"/>
              </a:rPr>
              <a:t>, </a:t>
            </a:r>
            <a:r>
              <a:rPr lang="ko-KR" altLang="en-US" sz="894" dirty="0">
                <a:latin typeface="+mn-ea"/>
              </a:rPr>
              <a:t>사전원가 확정</a:t>
            </a:r>
            <a:r>
              <a:rPr lang="en-US" altLang="ko-KR" sz="894" dirty="0">
                <a:latin typeface="+mn-ea"/>
              </a:rPr>
              <a:t>, </a:t>
            </a:r>
            <a:r>
              <a:rPr lang="ko-KR" altLang="en-US" sz="894" dirty="0">
                <a:latin typeface="+mn-ea"/>
              </a:rPr>
              <a:t>생산 계획 수립 등의 작업을 수행하여</a:t>
            </a:r>
            <a:endParaRPr lang="en-US" altLang="ko-KR" sz="894" dirty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dirty="0">
                <a:latin typeface="+mn-ea"/>
              </a:rPr>
              <a:t>물류 센터 입고 계획을 수립하게 됩니다</a:t>
            </a:r>
            <a:r>
              <a:rPr lang="en-US" altLang="ko-KR" sz="894" dirty="0">
                <a:latin typeface="+mn-ea"/>
              </a:rPr>
              <a:t>.</a:t>
            </a:r>
          </a:p>
          <a:p>
            <a:r>
              <a:rPr lang="en-US" altLang="ko-KR" sz="894" dirty="0">
                <a:latin typeface="+mn-ea"/>
              </a:rPr>
              <a:t>    </a:t>
            </a:r>
            <a:r>
              <a:rPr lang="ko-KR" altLang="en-US" sz="894" dirty="0">
                <a:latin typeface="+mn-ea"/>
              </a:rPr>
              <a:t>이 정보를 </a:t>
            </a:r>
            <a:r>
              <a:rPr lang="ko-KR" altLang="en-US" sz="894" b="1" dirty="0">
                <a:latin typeface="+mn-ea"/>
              </a:rPr>
              <a:t>상품기획팀</a:t>
            </a:r>
            <a:r>
              <a:rPr lang="ko-KR" altLang="en-US" sz="894" dirty="0">
                <a:latin typeface="+mn-ea"/>
              </a:rPr>
              <a:t>에서 분할입고 정보 내역에 기입하며 작업지시 화면에 대한 구성이 완료 </a:t>
            </a:r>
            <a:r>
              <a:rPr lang="en-US" altLang="ko-KR" sz="894" dirty="0">
                <a:latin typeface="+mn-ea"/>
              </a:rPr>
              <a:t>( </a:t>
            </a:r>
            <a:r>
              <a:rPr lang="ko-KR" altLang="en-US" sz="894" dirty="0">
                <a:latin typeface="+mn-ea"/>
              </a:rPr>
              <a:t>입력 시점은 선적 전 까지</a:t>
            </a:r>
            <a:r>
              <a:rPr lang="en-US" altLang="ko-KR" sz="894" dirty="0">
                <a:latin typeface="+mn-ea"/>
              </a:rPr>
              <a:t>.. )</a:t>
            </a:r>
          </a:p>
          <a:p>
            <a:endParaRPr lang="en-US" altLang="ko-KR" sz="894" dirty="0">
              <a:latin typeface="+mn-ea"/>
            </a:endParaRPr>
          </a:p>
          <a:p>
            <a:r>
              <a:rPr lang="en-US" altLang="ko-KR" sz="894" b="1" dirty="0">
                <a:latin typeface="+mn-ea"/>
              </a:rPr>
              <a:t>※ PLM ( Centric ) </a:t>
            </a:r>
            <a:r>
              <a:rPr lang="ko-KR" altLang="en-US" sz="894" b="1" dirty="0">
                <a:latin typeface="+mn-ea"/>
              </a:rPr>
              <a:t>대체 여부 </a:t>
            </a:r>
            <a:r>
              <a:rPr lang="en-US" altLang="ko-KR" sz="894" b="1" dirty="0">
                <a:latin typeface="+mn-ea"/>
              </a:rPr>
              <a:t>–</a:t>
            </a:r>
            <a:r>
              <a:rPr lang="ko-KR" altLang="en-US" sz="894" b="1" dirty="0">
                <a:latin typeface="+mn-ea"/>
              </a:rPr>
              <a:t> 정보의 일관성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부서 소통 강화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반복 업무 제거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변경 이력관리</a:t>
            </a:r>
            <a:r>
              <a:rPr lang="en-US" altLang="ko-KR" sz="894" b="1" dirty="0">
                <a:latin typeface="+mn-ea"/>
              </a:rPr>
              <a:t>, </a:t>
            </a:r>
            <a:r>
              <a:rPr lang="ko-KR" altLang="en-US" sz="894" b="1" dirty="0">
                <a:latin typeface="+mn-ea"/>
              </a:rPr>
              <a:t>결재 관리 </a:t>
            </a:r>
            <a:r>
              <a:rPr lang="en-US" altLang="ko-KR" sz="894" b="1" dirty="0">
                <a:latin typeface="+mn-ea"/>
              </a:rPr>
              <a:t>=&gt; </a:t>
            </a:r>
            <a:r>
              <a:rPr lang="ko-KR" altLang="en-US" sz="894" b="1" dirty="0">
                <a:latin typeface="+mn-ea"/>
              </a:rPr>
              <a:t>전사 활용 가능성 파악 </a:t>
            </a:r>
            <a:r>
              <a:rPr lang="en-US" altLang="ko-KR" sz="894" b="1" dirty="0">
                <a:latin typeface="+mn-ea"/>
              </a:rPr>
              <a:t>( </a:t>
            </a:r>
            <a:r>
              <a:rPr lang="ko-KR" altLang="en-US" sz="894" b="1" dirty="0">
                <a:latin typeface="+mn-ea"/>
              </a:rPr>
              <a:t>신성</a:t>
            </a:r>
            <a:r>
              <a:rPr lang="en-US" altLang="ko-KR" sz="894" b="1" dirty="0">
                <a:latin typeface="+mn-ea"/>
              </a:rPr>
              <a:t>/A.TION)</a:t>
            </a:r>
          </a:p>
          <a:p>
            <a:r>
              <a:rPr lang="en-US" altLang="ko-KR" sz="894" b="1" dirty="0">
                <a:latin typeface="+mn-ea"/>
              </a:rPr>
              <a:t>※ TAG </a:t>
            </a:r>
            <a:r>
              <a:rPr lang="ko-KR" altLang="en-US" sz="894" b="1" dirty="0">
                <a:latin typeface="+mn-ea"/>
              </a:rPr>
              <a:t>발주 수기 업무 </a:t>
            </a:r>
            <a:r>
              <a:rPr lang="en-US" altLang="ko-KR" sz="894" b="1" dirty="0">
                <a:latin typeface="+mn-ea"/>
              </a:rPr>
              <a:t>-&gt;</a:t>
            </a:r>
            <a:r>
              <a:rPr lang="ko-KR" altLang="en-US" sz="894" b="1" dirty="0">
                <a:latin typeface="+mn-ea"/>
              </a:rPr>
              <a:t> 자동화 가능 여부 확인 </a:t>
            </a:r>
            <a:r>
              <a:rPr lang="en-US" altLang="ko-KR" sz="894" b="1" dirty="0">
                <a:latin typeface="+mn-ea"/>
              </a:rPr>
              <a:t>(</a:t>
            </a:r>
            <a:r>
              <a:rPr lang="ko-KR" altLang="en-US" sz="894" b="1" dirty="0">
                <a:latin typeface="+mn-ea"/>
              </a:rPr>
              <a:t> 현재 브랜드 특성에 따른 수기 처리</a:t>
            </a:r>
            <a:r>
              <a:rPr lang="en-US" altLang="ko-KR" sz="894" b="1" dirty="0">
                <a:latin typeface="+mn-ea"/>
              </a:rPr>
              <a:t>, RFID </a:t>
            </a:r>
            <a:r>
              <a:rPr lang="ko-KR" altLang="en-US" sz="894" b="1" dirty="0">
                <a:latin typeface="+mn-ea"/>
              </a:rPr>
              <a:t>도입 진행 시</a:t>
            </a:r>
            <a:r>
              <a:rPr lang="en-US" altLang="ko-KR" sz="894" b="1" dirty="0">
                <a:latin typeface="+mn-ea"/>
              </a:rPr>
              <a:t> </a:t>
            </a:r>
            <a:r>
              <a:rPr lang="ko-KR" altLang="en-US" sz="894" b="1" dirty="0">
                <a:latin typeface="+mn-ea"/>
              </a:rPr>
              <a:t>함께 자동화 가능 여부 확인 필요 </a:t>
            </a:r>
            <a:r>
              <a:rPr lang="en-US" altLang="ko-KR" sz="894" b="1" dirty="0">
                <a:latin typeface="+mn-ea"/>
              </a:rPr>
              <a:t>)</a:t>
            </a:r>
            <a:endParaRPr lang="ko-KR" altLang="en-US" sz="894" b="1" dirty="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0953" y="1551805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1</a:t>
            </a:r>
            <a:endParaRPr lang="ko-KR" altLang="en-US" sz="65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51885" y="1725933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2</a:t>
            </a:r>
            <a:endParaRPr lang="ko-KR" altLang="en-US" sz="65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04623" y="3303550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3</a:t>
            </a:r>
            <a:endParaRPr lang="ko-KR" altLang="en-US" sz="65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803633" y="3301162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4</a:t>
            </a:r>
            <a:endParaRPr lang="ko-KR" altLang="en-US" sz="65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76827" y="3298779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5</a:t>
            </a:r>
            <a:endParaRPr lang="ko-KR" altLang="en-US" sz="65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991957" y="3296395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6</a:t>
            </a:r>
            <a:endParaRPr lang="ko-KR" altLang="en-US" sz="65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678988" y="3294012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7</a:t>
            </a:r>
            <a:endParaRPr lang="ko-KR" altLang="en-US" sz="65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3306098" y="3298006"/>
            <a:ext cx="102375" cy="144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50" b="1" dirty="0"/>
              <a:t>8</a:t>
            </a:r>
            <a:endParaRPr lang="ko-KR" altLang="en-US" sz="650" b="1" dirty="0"/>
          </a:p>
        </p:txBody>
      </p:sp>
      <p:sp>
        <p:nvSpPr>
          <p:cNvPr id="13" name="직사각형 12"/>
          <p:cNvSpPr/>
          <p:nvPr/>
        </p:nvSpPr>
        <p:spPr>
          <a:xfrm>
            <a:off x="121086" y="1727645"/>
            <a:ext cx="7288602" cy="1535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602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65655" y="741245"/>
            <a:ext cx="2072299" cy="3424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25" b="1" dirty="0">
                <a:latin typeface="+mn-ea"/>
              </a:rPr>
              <a:t>물류 관리 </a:t>
            </a:r>
            <a:r>
              <a:rPr lang="en-US" altLang="ko-KR" sz="1625" b="1" dirty="0">
                <a:latin typeface="+mn-ea"/>
              </a:rPr>
              <a:t>PROCESS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7695" y="1066335"/>
            <a:ext cx="9673828" cy="50442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7" name="object 10"/>
          <p:cNvSpPr txBox="1"/>
          <p:nvPr/>
        </p:nvSpPr>
        <p:spPr>
          <a:xfrm>
            <a:off x="156001" y="1092463"/>
            <a:ext cx="1462500" cy="129486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9803" rIns="0" bIns="0" rtlCol="0">
            <a:spAutoFit/>
          </a:bodyPr>
          <a:lstStyle/>
          <a:p>
            <a:pPr marL="10319">
              <a:spcBef>
                <a:spcPts val="77"/>
              </a:spcBef>
            </a:pPr>
            <a:r>
              <a:rPr sz="975" b="1" spc="-8" dirty="0">
                <a:latin typeface="+mn-ea"/>
                <a:cs typeface="Malgun Gothic"/>
              </a:rPr>
              <a:t>Contents</a:t>
            </a:r>
            <a:endParaRPr sz="975" b="1" dirty="0">
              <a:latin typeface="+mn-ea"/>
              <a:cs typeface="Malgun Gothic"/>
            </a:endParaRPr>
          </a:p>
          <a:p>
            <a:pPr marL="288409" indent="-278090">
              <a:spcBef>
                <a:spcPts val="589"/>
              </a:spcBef>
              <a:buAutoNum type="arabicPeriod"/>
              <a:tabLst>
                <a:tab pos="288409" algn="l"/>
              </a:tabLst>
            </a:pP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입고 관리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출고 </a:t>
            </a:r>
            <a:r>
              <a:rPr lang="ko-KR" altLang="en-US" sz="975" b="1" spc="-16" dirty="0" smtClean="0">
                <a:latin typeface="+mn-ea"/>
                <a:cs typeface="Malgun Gothic"/>
              </a:rPr>
              <a:t>관리</a:t>
            </a:r>
            <a:endParaRPr lang="en-US" altLang="ko-KR" sz="975" b="1" spc="-16" dirty="0" smtClean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 smtClean="0">
                <a:latin typeface="+mn-ea"/>
                <a:cs typeface="Malgun Gothic"/>
              </a:rPr>
              <a:t>판 </a:t>
            </a:r>
            <a:r>
              <a:rPr lang="ko-KR" altLang="en-US" sz="975" b="1" spc="-16" dirty="0">
                <a:latin typeface="+mn-ea"/>
                <a:cs typeface="Malgun Gothic"/>
              </a:rPr>
              <a:t>부자재</a:t>
            </a:r>
            <a:endParaRPr lang="en-US" altLang="ko-KR" sz="975" b="1" spc="-16" dirty="0">
              <a:latin typeface="+mn-ea"/>
              <a:cs typeface="Malgun Gothic"/>
            </a:endParaRPr>
          </a:p>
          <a:p>
            <a:pPr marL="288409" indent="-278090">
              <a:spcBef>
                <a:spcPts val="585"/>
              </a:spcBef>
              <a:buAutoNum type="arabicPeriod"/>
              <a:tabLst>
                <a:tab pos="288409" algn="l"/>
              </a:tabLst>
            </a:pPr>
            <a:r>
              <a:rPr lang="ko-KR" altLang="en-US" sz="975" b="1" spc="-16" dirty="0">
                <a:latin typeface="+mn-ea"/>
                <a:cs typeface="Malgun Gothic"/>
              </a:rPr>
              <a:t>창고 재고</a:t>
            </a:r>
            <a:endParaRPr lang="en-US" altLang="ko-KR" sz="975" b="1" spc="-16" dirty="0">
              <a:latin typeface="+mn-ea"/>
              <a:cs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4665" y="1516755"/>
            <a:ext cx="7547696" cy="114313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물류 관리 프로세스는</a:t>
            </a:r>
            <a:r>
              <a:rPr lang="en-US" altLang="ko-KR" sz="1138" b="1" dirty="0">
                <a:latin typeface="+mn-ea"/>
              </a:rPr>
              <a:t> </a:t>
            </a:r>
            <a:r>
              <a:rPr lang="ko-KR" altLang="en-US" sz="1138" b="1" dirty="0">
                <a:latin typeface="+mn-ea"/>
              </a:rPr>
              <a:t>생산 작업을 통해 만들어진 </a:t>
            </a:r>
            <a:r>
              <a:rPr lang="ko-KR" altLang="en-US" sz="1138" b="1" dirty="0" err="1">
                <a:latin typeface="+mn-ea"/>
              </a:rPr>
              <a:t>제상품</a:t>
            </a:r>
            <a:r>
              <a:rPr lang="ko-KR" altLang="en-US" sz="1138" b="1" dirty="0">
                <a:latin typeface="+mn-ea"/>
              </a:rPr>
              <a:t> 및 </a:t>
            </a:r>
            <a:r>
              <a:rPr lang="ko-KR" altLang="en-US" sz="1138" b="1" dirty="0" err="1">
                <a:latin typeface="+mn-ea"/>
              </a:rPr>
              <a:t>판부자재를</a:t>
            </a:r>
            <a:r>
              <a:rPr lang="ko-KR" altLang="en-US" sz="1138" b="1" dirty="0">
                <a:latin typeface="+mn-ea"/>
              </a:rPr>
              <a:t> 물류센터로 입고 시키고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요청에 의해서 </a:t>
            </a:r>
            <a:r>
              <a:rPr lang="ko-KR" altLang="en-US" sz="1138" b="1" dirty="0" err="1">
                <a:latin typeface="+mn-ea"/>
              </a:rPr>
              <a:t>제상품</a:t>
            </a:r>
            <a:r>
              <a:rPr lang="ko-KR" altLang="en-US" sz="1138" b="1" dirty="0">
                <a:latin typeface="+mn-ea"/>
              </a:rPr>
              <a:t> 및 판 부자재를 출고 및 반품 처리하는 업무를 관리 합니다</a:t>
            </a:r>
            <a:r>
              <a:rPr lang="en-US" altLang="ko-KR" sz="1138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아울러 물류 센터 내 의 재고관리 </a:t>
            </a:r>
            <a:r>
              <a:rPr lang="en-US" altLang="ko-KR" sz="1138" b="1" dirty="0">
                <a:latin typeface="+mn-ea"/>
              </a:rPr>
              <a:t>(</a:t>
            </a:r>
            <a:r>
              <a:rPr lang="ko-KR" altLang="en-US" sz="1138" b="1" dirty="0">
                <a:latin typeface="+mn-ea"/>
              </a:rPr>
              <a:t>창고재고 이동</a:t>
            </a:r>
            <a:r>
              <a:rPr lang="en-US" altLang="ko-KR" sz="1138" b="1" dirty="0">
                <a:latin typeface="+mn-ea"/>
              </a:rPr>
              <a:t>, </a:t>
            </a:r>
            <a:r>
              <a:rPr lang="ko-KR" altLang="en-US" sz="1138" b="1" dirty="0">
                <a:latin typeface="+mn-ea"/>
              </a:rPr>
              <a:t>재고 조사 등</a:t>
            </a:r>
            <a:r>
              <a:rPr lang="en-US" altLang="ko-KR" sz="1138" b="1" dirty="0">
                <a:latin typeface="+mn-ea"/>
              </a:rPr>
              <a:t>)</a:t>
            </a:r>
            <a:r>
              <a:rPr lang="ko-KR" altLang="en-US" sz="1138" b="1" dirty="0">
                <a:latin typeface="+mn-ea"/>
              </a:rPr>
              <a:t> 업무를 진행하며</a:t>
            </a:r>
            <a:endParaRPr lang="en-US" altLang="ko-KR" sz="1138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138" b="1" dirty="0">
                <a:latin typeface="+mn-ea"/>
              </a:rPr>
              <a:t>기타 요청에 의한 자가소모 처리 작업을 수행합니다</a:t>
            </a:r>
            <a:r>
              <a:rPr lang="en-US" altLang="ko-KR" sz="1138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572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992267"/>
              </p:ext>
            </p:extLst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30745" y="1493209"/>
            <a:ext cx="112261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브랜드기획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56633" y="1493209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7"/>
            <a:ext cx="2246644" cy="415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입고관리 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 err="1">
                <a:solidFill>
                  <a:srgbClr val="006FC0"/>
                </a:solidFill>
                <a:latin typeface="+mn-ea"/>
                <a:cs typeface="Malgun Gothic"/>
              </a:rPr>
              <a:t>생산처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 입고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err="1">
                <a:latin typeface="+mn-ea"/>
                <a:cs typeface="Malgun Gothic"/>
              </a:rPr>
              <a:t>생산처에서</a:t>
            </a:r>
            <a:r>
              <a:rPr lang="ko-KR" altLang="en-US" sz="731" spc="-16" dirty="0">
                <a:latin typeface="+mn-ea"/>
                <a:cs typeface="Malgun Gothic"/>
              </a:rPr>
              <a:t> 생산된 </a:t>
            </a:r>
            <a:r>
              <a:rPr lang="ko-KR" altLang="en-US" sz="731" spc="-16" dirty="0" err="1">
                <a:latin typeface="+mn-ea"/>
                <a:cs typeface="Malgun Gothic"/>
              </a:rPr>
              <a:t>제상품에</a:t>
            </a:r>
            <a:r>
              <a:rPr lang="ko-KR" altLang="en-US" sz="731" spc="-16" dirty="0">
                <a:latin typeface="+mn-ea"/>
                <a:cs typeface="Malgun Gothic"/>
              </a:rPr>
              <a:t> 대한 입고 처리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브랜드기획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브랜드 기획팀 작업 지시서 작성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사업부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사업부 </a:t>
            </a:r>
            <a:r>
              <a:rPr lang="en-US" altLang="ko-KR" sz="731" spc="-16" dirty="0">
                <a:latin typeface="+mn-ea"/>
                <a:cs typeface="Malgun Gothic"/>
              </a:rPr>
              <a:t>: Solid/Assort </a:t>
            </a:r>
            <a:r>
              <a:rPr lang="ko-KR" altLang="en-US" sz="731" spc="-16" dirty="0">
                <a:latin typeface="+mn-ea"/>
                <a:cs typeface="Malgun Gothic"/>
              </a:rPr>
              <a:t>패킹</a:t>
            </a: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ko-KR" altLang="en-US" sz="731" spc="-16" dirty="0">
                <a:latin typeface="+mn-ea"/>
                <a:cs typeface="Malgun Gothic"/>
              </a:rPr>
              <a:t>정보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소싱팀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packing</a:t>
            </a:r>
            <a:r>
              <a:rPr lang="ko-KR" altLang="en-US" sz="731" spc="-16" dirty="0">
                <a:latin typeface="+mn-ea"/>
                <a:cs typeface="Malgun Gothic"/>
              </a:rPr>
              <a:t> 합의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(3-2) </a:t>
            </a:r>
            <a:r>
              <a:rPr lang="ko-KR" altLang="en-US" sz="731" spc="-16" dirty="0">
                <a:latin typeface="+mn-ea"/>
                <a:cs typeface="Malgun Gothic"/>
              </a:rPr>
              <a:t>제품수입통관의뢰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(3-3) </a:t>
            </a:r>
            <a:r>
              <a:rPr lang="ko-KR" altLang="en-US" sz="731" spc="-16" dirty="0">
                <a:latin typeface="+mn-ea"/>
                <a:cs typeface="Malgun Gothic"/>
              </a:rPr>
              <a:t>수입 신고 관리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(3-4) </a:t>
            </a:r>
            <a:r>
              <a:rPr lang="ko-KR" altLang="en-US" sz="731" spc="-16" dirty="0">
                <a:latin typeface="+mn-ea"/>
                <a:cs typeface="Malgun Gothic"/>
              </a:rPr>
              <a:t>제품 매입 승인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업체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(4-1) </a:t>
            </a:r>
            <a:r>
              <a:rPr lang="ko-KR" altLang="en-US" sz="731" spc="-16" dirty="0">
                <a:latin typeface="+mn-ea"/>
                <a:cs typeface="Malgun Gothic"/>
              </a:rPr>
              <a:t>패킹 바코드 생성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(4-2) Detail Packing List (DPL) </a:t>
            </a:r>
            <a:r>
              <a:rPr lang="ko-KR" altLang="en-US" sz="731" spc="-16" dirty="0">
                <a:latin typeface="+mn-ea"/>
                <a:cs typeface="Malgun Gothic"/>
              </a:rPr>
              <a:t>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(4-3) </a:t>
            </a:r>
            <a:r>
              <a:rPr lang="ko-KR" altLang="en-US" sz="731" spc="-16" dirty="0">
                <a:latin typeface="+mn-ea"/>
                <a:cs typeface="Malgun Gothic"/>
              </a:rPr>
              <a:t>국내 </a:t>
            </a:r>
            <a:r>
              <a:rPr lang="en-US" altLang="ko-KR" sz="731" spc="-16" dirty="0">
                <a:latin typeface="+mn-ea"/>
                <a:cs typeface="Malgun Gothic"/>
              </a:rPr>
              <a:t>: </a:t>
            </a:r>
            <a:r>
              <a:rPr lang="ko-KR" altLang="en-US" sz="731" spc="-16" dirty="0">
                <a:latin typeface="+mn-ea"/>
                <a:cs typeface="Malgun Gothic"/>
              </a:rPr>
              <a:t>제품 입고 요청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(4-4) </a:t>
            </a:r>
            <a:r>
              <a:rPr lang="ko-KR" altLang="en-US" sz="731" spc="-16" dirty="0">
                <a:latin typeface="+mn-ea"/>
                <a:cs typeface="Malgun Gothic"/>
              </a:rPr>
              <a:t>해외 </a:t>
            </a:r>
            <a:r>
              <a:rPr lang="en-US" altLang="ko-KR" sz="731" spc="-16" dirty="0">
                <a:latin typeface="+mn-ea"/>
                <a:cs typeface="Malgun Gothic"/>
              </a:rPr>
              <a:t>: </a:t>
            </a:r>
            <a:r>
              <a:rPr lang="ko-KR" altLang="en-US" sz="731" spc="-16" dirty="0">
                <a:latin typeface="+mn-ea"/>
                <a:cs typeface="Malgun Gothic"/>
              </a:rPr>
              <a:t>인보이스 </a:t>
            </a:r>
            <a:r>
              <a:rPr lang="en-US" altLang="ko-KR" sz="731" spc="-16" dirty="0">
                <a:latin typeface="+mn-ea"/>
                <a:cs typeface="Malgun Gothic"/>
              </a:rPr>
              <a:t>(DPL) </a:t>
            </a:r>
            <a:r>
              <a:rPr lang="ko-KR" altLang="en-US" sz="731" spc="-16" dirty="0">
                <a:latin typeface="+mn-ea"/>
                <a:cs typeface="Malgun Gothic"/>
              </a:rPr>
              <a:t>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(4-5) </a:t>
            </a:r>
            <a:r>
              <a:rPr lang="ko-KR" altLang="en-US" sz="731" spc="-16" dirty="0">
                <a:latin typeface="+mn-ea"/>
                <a:cs typeface="Malgun Gothic"/>
              </a:rPr>
              <a:t>제품 매입 의뢰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물류 </a:t>
            </a:r>
            <a:r>
              <a:rPr lang="en-US" altLang="ko-KR" sz="731" spc="-16" dirty="0">
                <a:latin typeface="+mn-ea"/>
                <a:cs typeface="Malgun Gothic"/>
              </a:rPr>
              <a:t>/ WMS]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(5-1) </a:t>
            </a:r>
            <a:r>
              <a:rPr lang="ko-KR" altLang="en-US" sz="731" spc="-16" dirty="0">
                <a:latin typeface="+mn-ea"/>
                <a:cs typeface="Malgun Gothic"/>
              </a:rPr>
              <a:t>제품 입고합의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(6-1) </a:t>
            </a:r>
            <a:r>
              <a:rPr lang="ko-KR" altLang="en-US" sz="731" spc="-16" dirty="0">
                <a:latin typeface="+mn-ea"/>
                <a:cs typeface="Malgun Gothic"/>
              </a:rPr>
              <a:t>입고 예정 정보 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(6-2) </a:t>
            </a:r>
            <a:r>
              <a:rPr lang="ko-KR" altLang="en-US" sz="731" spc="-16" dirty="0">
                <a:latin typeface="+mn-ea"/>
                <a:cs typeface="Malgun Gothic"/>
              </a:rPr>
              <a:t>입고 </a:t>
            </a:r>
            <a:r>
              <a:rPr lang="en-US" altLang="ko-KR" sz="731" spc="-16" dirty="0">
                <a:latin typeface="+mn-ea"/>
                <a:cs typeface="Malgun Gothic"/>
              </a:rPr>
              <a:t>(</a:t>
            </a:r>
            <a:r>
              <a:rPr lang="ko-KR" altLang="en-US" sz="731" spc="-16" dirty="0">
                <a:latin typeface="+mn-ea"/>
                <a:cs typeface="Malgun Gothic"/>
              </a:rPr>
              <a:t>일괄</a:t>
            </a:r>
            <a:r>
              <a:rPr lang="en-US" altLang="ko-KR" sz="731" spc="-16" dirty="0">
                <a:latin typeface="+mn-ea"/>
                <a:cs typeface="Malgun Gothic"/>
              </a:rPr>
              <a:t>) </a:t>
            </a:r>
            <a:r>
              <a:rPr lang="ko-KR" altLang="en-US" sz="731" spc="-16" dirty="0">
                <a:latin typeface="+mn-ea"/>
                <a:cs typeface="Malgun Gothic"/>
              </a:rPr>
              <a:t>확정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(6-3)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입고 등록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859401" y="1493209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소싱팀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919202" y="1493209"/>
            <a:ext cx="214764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해외 </a:t>
            </a:r>
            <a:r>
              <a:rPr lang="en-US" altLang="ko-KR" sz="894" b="1" dirty="0">
                <a:solidFill>
                  <a:schemeClr val="tx1"/>
                </a:solidFill>
              </a:rPr>
              <a:t>/ </a:t>
            </a:r>
            <a:r>
              <a:rPr lang="ko-KR" altLang="en-US" sz="894" b="1" dirty="0">
                <a:solidFill>
                  <a:schemeClr val="tx1"/>
                </a:solidFill>
              </a:rPr>
              <a:t>국내 업체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91530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6302103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25"/>
          <p:cNvSpPr/>
          <p:nvPr/>
        </p:nvSpPr>
        <p:spPr>
          <a:xfrm>
            <a:off x="1001364" y="19026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>
            <a:off x="1273942" y="207364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46051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4" name="object 25"/>
          <p:cNvSpPr/>
          <p:nvPr/>
        </p:nvSpPr>
        <p:spPr>
          <a:xfrm>
            <a:off x="2121159" y="5744767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1846815" y="1689029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22"/>
          <p:cNvSpPr/>
          <p:nvPr/>
        </p:nvSpPr>
        <p:spPr>
          <a:xfrm>
            <a:off x="825872" y="235149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작업지시서</a:t>
            </a:r>
            <a:endParaRPr sz="65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302103" y="1491212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OMS / 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69269" y="1491212"/>
            <a:ext cx="1234726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물류센터</a:t>
            </a:r>
          </a:p>
        </p:txBody>
      </p:sp>
      <p:sp>
        <p:nvSpPr>
          <p:cNvPr id="24" name="object 22"/>
          <p:cNvSpPr/>
          <p:nvPr/>
        </p:nvSpPr>
        <p:spPr>
          <a:xfrm>
            <a:off x="852696" y="317078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SOLID / ASSORT PACKING </a:t>
            </a:r>
            <a:r>
              <a:rPr lang="ko-KR" altLang="en-US" sz="650" b="1" dirty="0">
                <a:latin typeface="+mn-ea"/>
              </a:rPr>
              <a:t>등록</a:t>
            </a:r>
            <a:endParaRPr sz="650" b="1" dirty="0">
              <a:latin typeface="+mn-ea"/>
            </a:endParaRPr>
          </a:p>
        </p:txBody>
      </p:sp>
      <p:sp>
        <p:nvSpPr>
          <p:cNvPr id="26" name="object 22"/>
          <p:cNvSpPr/>
          <p:nvPr/>
        </p:nvSpPr>
        <p:spPr>
          <a:xfrm>
            <a:off x="1934562" y="234823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PACKING </a:t>
            </a:r>
            <a:r>
              <a:rPr lang="ko-KR" altLang="en-US" sz="650" b="1" dirty="0">
                <a:latin typeface="+mn-ea"/>
              </a:rPr>
              <a:t>합의</a:t>
            </a:r>
            <a:endParaRPr sz="650" b="1" dirty="0">
              <a:latin typeface="+mn-ea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5076253" y="1695021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bject 22"/>
          <p:cNvSpPr/>
          <p:nvPr/>
        </p:nvSpPr>
        <p:spPr>
          <a:xfrm>
            <a:off x="4113698" y="235948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(4-1) Packing barcode Create</a:t>
            </a:r>
            <a:endParaRPr sz="650" b="1" dirty="0">
              <a:latin typeface="+mn-ea"/>
            </a:endParaRPr>
          </a:p>
        </p:txBody>
      </p:sp>
      <p:sp>
        <p:nvSpPr>
          <p:cNvPr id="30" name="object 22"/>
          <p:cNvSpPr/>
          <p:nvPr/>
        </p:nvSpPr>
        <p:spPr>
          <a:xfrm>
            <a:off x="4119690" y="288483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(4-2) Detail Packing</a:t>
            </a:r>
            <a:br>
              <a:rPr lang="en-US" altLang="ko-KR" sz="650" b="1" dirty="0">
                <a:latin typeface="+mn-ea"/>
              </a:rPr>
            </a:br>
            <a:r>
              <a:rPr lang="en-US" altLang="ko-KR" sz="650" b="1" dirty="0">
                <a:latin typeface="+mn-ea"/>
              </a:rPr>
              <a:t>(DPL)</a:t>
            </a:r>
            <a:endParaRPr sz="650" b="1" dirty="0">
              <a:latin typeface="+mn-ea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4573276" y="2580933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4571280" y="380120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bject 22"/>
          <p:cNvSpPr/>
          <p:nvPr/>
        </p:nvSpPr>
        <p:spPr>
          <a:xfrm>
            <a:off x="4123687" y="411109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(4-3) </a:t>
            </a:r>
            <a:r>
              <a:rPr lang="ko-KR" altLang="en-US" sz="650" b="1" dirty="0">
                <a:latin typeface="+mn-ea"/>
              </a:rPr>
              <a:t>제품 입고 요청</a:t>
            </a:r>
            <a:endParaRPr sz="650" b="1" dirty="0">
              <a:latin typeface="+mn-ea"/>
            </a:endParaRPr>
          </a:p>
        </p:txBody>
      </p:sp>
      <p:sp>
        <p:nvSpPr>
          <p:cNvPr id="35" name="object 22"/>
          <p:cNvSpPr/>
          <p:nvPr/>
        </p:nvSpPr>
        <p:spPr>
          <a:xfrm>
            <a:off x="5233137" y="410478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(5-1) </a:t>
            </a:r>
            <a:r>
              <a:rPr lang="ko-KR" altLang="en-US" sz="650" b="1" dirty="0">
                <a:latin typeface="+mn-ea"/>
              </a:rPr>
              <a:t>제품 입고 합의</a:t>
            </a:r>
            <a:endParaRPr sz="650" b="1" dirty="0">
              <a:latin typeface="+mn-ea"/>
            </a:endParaRPr>
          </a:p>
        </p:txBody>
      </p:sp>
      <p:sp>
        <p:nvSpPr>
          <p:cNvPr id="36" name="object 22"/>
          <p:cNvSpPr/>
          <p:nvPr/>
        </p:nvSpPr>
        <p:spPr>
          <a:xfrm>
            <a:off x="6390488" y="411909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(6-1) </a:t>
            </a:r>
            <a:r>
              <a:rPr lang="ko-KR" altLang="en-US" sz="650" b="1" dirty="0">
                <a:latin typeface="+mn-ea"/>
              </a:rPr>
              <a:t>입고 예정</a:t>
            </a:r>
            <a:endParaRPr sz="650" b="1" dirty="0">
              <a:latin typeface="+mn-ea"/>
            </a:endParaRPr>
          </a:p>
        </p:txBody>
      </p:sp>
      <p:sp>
        <p:nvSpPr>
          <p:cNvPr id="37" name="object 22"/>
          <p:cNvSpPr/>
          <p:nvPr/>
        </p:nvSpPr>
        <p:spPr>
          <a:xfrm>
            <a:off x="6382501" y="464434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(6-2) </a:t>
            </a:r>
            <a:r>
              <a:rPr lang="ko-KR" altLang="en-US" sz="650" b="1" dirty="0">
                <a:latin typeface="+mn-ea"/>
              </a:rPr>
              <a:t>입고 일괄 확정</a:t>
            </a:r>
            <a:endParaRPr sz="650" b="1" dirty="0">
              <a:latin typeface="+mn-ea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6822105" y="4332455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object 22"/>
          <p:cNvSpPr/>
          <p:nvPr/>
        </p:nvSpPr>
        <p:spPr>
          <a:xfrm>
            <a:off x="6374512" y="516361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(6-3) </a:t>
            </a:r>
            <a:r>
              <a:rPr lang="ko-KR" altLang="en-US" sz="650" b="1" dirty="0" err="1">
                <a:latin typeface="+mn-ea"/>
              </a:rPr>
              <a:t>생산처입고등록</a:t>
            </a:r>
            <a:endParaRPr sz="650" b="1" dirty="0">
              <a:latin typeface="+mn-ea"/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6826102" y="4863704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22"/>
          <p:cNvSpPr/>
          <p:nvPr/>
        </p:nvSpPr>
        <p:spPr>
          <a:xfrm>
            <a:off x="3587233" y="518558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(4-5) </a:t>
            </a:r>
            <a:r>
              <a:rPr lang="ko-KR" altLang="en-US" sz="650" b="1" dirty="0">
                <a:latin typeface="+mn-ea"/>
              </a:rPr>
              <a:t>제품 매입 의뢰</a:t>
            </a:r>
            <a:endParaRPr sz="650" b="1" dirty="0">
              <a:latin typeface="+mn-ea"/>
            </a:endParaRPr>
          </a:p>
        </p:txBody>
      </p:sp>
      <p:sp>
        <p:nvSpPr>
          <p:cNvPr id="43" name="object 22"/>
          <p:cNvSpPr/>
          <p:nvPr/>
        </p:nvSpPr>
        <p:spPr>
          <a:xfrm>
            <a:off x="1936783" y="518958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(3-4) </a:t>
            </a:r>
            <a:r>
              <a:rPr lang="ko-KR" altLang="en-US" sz="650" b="1" dirty="0">
                <a:latin typeface="+mn-ea"/>
              </a:rPr>
              <a:t>제품 매입 승인</a:t>
            </a:r>
            <a:endParaRPr sz="650" b="1" dirty="0">
              <a:latin typeface="+mn-ea"/>
            </a:endParaRPr>
          </a:p>
        </p:txBody>
      </p:sp>
      <p:sp>
        <p:nvSpPr>
          <p:cNvPr id="45" name="순서도: 판단 44"/>
          <p:cNvSpPr/>
          <p:nvPr/>
        </p:nvSpPr>
        <p:spPr>
          <a:xfrm>
            <a:off x="4138521" y="3420893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</a:rPr>
              <a:t>국내</a:t>
            </a:r>
            <a:endParaRPr lang="en-US" altLang="ko-KR" sz="65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650" b="1" dirty="0">
                <a:solidFill>
                  <a:schemeClr val="tx1"/>
                </a:solidFill>
              </a:rPr>
              <a:t>/ </a:t>
            </a:r>
            <a:r>
              <a:rPr lang="ko-KR" altLang="en-US" sz="650" b="1" dirty="0">
                <a:solidFill>
                  <a:schemeClr val="tx1"/>
                </a:solidFill>
              </a:rPr>
              <a:t>해외</a:t>
            </a: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4571279" y="3112182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39912" y="2761420"/>
            <a:ext cx="11115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사업부</a:t>
            </a:r>
          </a:p>
        </p:txBody>
      </p:sp>
      <p:sp>
        <p:nvSpPr>
          <p:cNvPr id="49" name="object 22"/>
          <p:cNvSpPr/>
          <p:nvPr/>
        </p:nvSpPr>
        <p:spPr>
          <a:xfrm>
            <a:off x="2989291" y="350994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(4-4) Invoice(DPL)</a:t>
            </a:r>
            <a:endParaRPr sz="650" b="1" dirty="0">
              <a:latin typeface="+mn-ea"/>
            </a:endParaRPr>
          </a:p>
        </p:txBody>
      </p:sp>
      <p:sp>
        <p:nvSpPr>
          <p:cNvPr id="50" name="object 22"/>
          <p:cNvSpPr/>
          <p:nvPr/>
        </p:nvSpPr>
        <p:spPr>
          <a:xfrm>
            <a:off x="1928791" y="409711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 </a:t>
            </a:r>
            <a:r>
              <a:rPr lang="ko-KR" altLang="en-US" sz="650" b="1" dirty="0">
                <a:latin typeface="+mn-ea"/>
              </a:rPr>
              <a:t>제품수입통관의뢰</a:t>
            </a:r>
            <a:endParaRPr sz="650" b="1" dirty="0">
              <a:latin typeface="+mn-ea"/>
            </a:endParaRPr>
          </a:p>
        </p:txBody>
      </p:sp>
      <p:sp>
        <p:nvSpPr>
          <p:cNvPr id="51" name="object 22"/>
          <p:cNvSpPr/>
          <p:nvPr/>
        </p:nvSpPr>
        <p:spPr>
          <a:xfrm>
            <a:off x="1932787" y="465233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 </a:t>
            </a:r>
            <a:r>
              <a:rPr lang="ko-KR" altLang="en-US" sz="650" b="1" dirty="0">
                <a:latin typeface="+mn-ea"/>
              </a:rPr>
              <a:t>수입 신고 관리</a:t>
            </a:r>
            <a:endParaRPr sz="650" b="1" dirty="0">
              <a:latin typeface="+mn-ea"/>
            </a:endParaRPr>
          </a:p>
        </p:txBody>
      </p:sp>
      <p:cxnSp>
        <p:nvCxnSpPr>
          <p:cNvPr id="53" name="직선 화살표 연결선 52"/>
          <p:cNvCxnSpPr/>
          <p:nvPr/>
        </p:nvCxnSpPr>
        <p:spPr>
          <a:xfrm>
            <a:off x="2382372" y="4329814"/>
            <a:ext cx="0" cy="321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809877" y="2434167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827850" y="3255007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56" name="꺾인 연결선 55"/>
          <p:cNvCxnSpPr>
            <a:stCxn id="54" idx="0"/>
            <a:endCxn id="55" idx="2"/>
          </p:cNvCxnSpPr>
          <p:nvPr/>
        </p:nvCxnSpPr>
        <p:spPr>
          <a:xfrm rot="16200000" flipH="1" flipV="1">
            <a:off x="408444" y="2853574"/>
            <a:ext cx="839413" cy="600"/>
          </a:xfrm>
          <a:prstGeom prst="bentConnector4">
            <a:avLst>
              <a:gd name="adj1" fmla="val 2141"/>
              <a:gd name="adj2" fmla="val 3402706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58"/>
          <p:cNvCxnSpPr/>
          <p:nvPr/>
        </p:nvCxnSpPr>
        <p:spPr>
          <a:xfrm rot="5400000" flipH="1" flipV="1">
            <a:off x="1712739" y="2603948"/>
            <a:ext cx="712268" cy="626999"/>
          </a:xfrm>
          <a:prstGeom prst="bentConnector3">
            <a:avLst>
              <a:gd name="adj1" fmla="val 3149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2837239" y="2434166"/>
            <a:ext cx="13012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45" idx="1"/>
          </p:cNvCxnSpPr>
          <p:nvPr/>
        </p:nvCxnSpPr>
        <p:spPr>
          <a:xfrm flipH="1">
            <a:off x="3891968" y="3613107"/>
            <a:ext cx="246553" cy="76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꺾인 연결선 73"/>
          <p:cNvCxnSpPr/>
          <p:nvPr/>
        </p:nvCxnSpPr>
        <p:spPr>
          <a:xfrm rot="10800000" flipV="1">
            <a:off x="2384632" y="3613107"/>
            <a:ext cx="604659" cy="486948"/>
          </a:xfrm>
          <a:prstGeom prst="bentConnector3">
            <a:avLst>
              <a:gd name="adj1" fmla="val 10152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>
            <a:off x="2841235" y="4211655"/>
            <a:ext cx="13012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3084799" y="4134832"/>
            <a:ext cx="719214" cy="152985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dirty="0" err="1">
                <a:solidFill>
                  <a:schemeClr val="tx1"/>
                </a:solidFill>
              </a:rPr>
              <a:t>수출입지원팀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flipH="1">
            <a:off x="5010204" y="4203659"/>
            <a:ext cx="22293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>
            <a:off x="6135814" y="4211323"/>
            <a:ext cx="2546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H="1">
            <a:off x="2831468" y="5292124"/>
            <a:ext cx="75498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 flipH="1">
            <a:off x="4489910" y="5270156"/>
            <a:ext cx="19005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2386365" y="5406291"/>
            <a:ext cx="0" cy="321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565958" y="3837384"/>
            <a:ext cx="352330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국내</a:t>
            </a:r>
            <a:endParaRPr lang="ko-KR" altLang="en-US" sz="65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3862950" y="3451929"/>
            <a:ext cx="352330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해외</a:t>
            </a:r>
            <a:endParaRPr lang="ko-KR" altLang="en-US" sz="650" b="1" dirty="0"/>
          </a:p>
        </p:txBody>
      </p:sp>
    </p:spTree>
    <p:extLst>
      <p:ext uri="{BB962C8B-B14F-4D97-AF65-F5344CB8AC3E}">
        <p14:creationId xmlns:p14="http://schemas.microsoft.com/office/powerpoint/2010/main" val="9935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5200" y="1495055"/>
            <a:ext cx="112261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 err="1">
                <a:solidFill>
                  <a:schemeClr val="tx1"/>
                </a:solidFill>
              </a:rPr>
              <a:t>생산처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5055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4298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입고관리 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물류센터 입고 프로세스</a:t>
            </a: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>
                <a:latin typeface="+mn-ea"/>
                <a:cs typeface="Malgun Gothic"/>
              </a:rPr>
              <a:t>물류센터 입고 프로세스 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>
                <a:latin typeface="+mn-ea"/>
                <a:cs typeface="Malgun Gothic"/>
              </a:rPr>
              <a:t>제품 입고 요청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매장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(2-1) </a:t>
            </a:r>
            <a:r>
              <a:rPr lang="ko-KR" altLang="en-US" sz="731" spc="-16" dirty="0">
                <a:latin typeface="+mn-ea"/>
                <a:cs typeface="Malgun Gothic"/>
              </a:rPr>
              <a:t>매장 반품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온라인</a:t>
            </a:r>
            <a:r>
              <a:rPr lang="en-US" altLang="ko-KR" sz="731" spc="-16" dirty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(3-1) </a:t>
            </a:r>
            <a:r>
              <a:rPr lang="ko-KR" altLang="en-US" sz="731" spc="-16" dirty="0">
                <a:latin typeface="+mn-ea"/>
                <a:cs typeface="Malgun Gothic"/>
              </a:rPr>
              <a:t>반품정보수집</a:t>
            </a:r>
            <a:r>
              <a:rPr lang="en-US" altLang="ko-KR" sz="731" spc="-16" dirty="0">
                <a:latin typeface="+mn-ea"/>
                <a:cs typeface="Malgun Gothic"/>
              </a:rPr>
              <a:t>(BO) -&gt; WMS </a:t>
            </a:r>
            <a:r>
              <a:rPr lang="ko-KR" altLang="en-US" sz="731" spc="-16" dirty="0">
                <a:latin typeface="+mn-ea"/>
                <a:cs typeface="Malgun Gothic"/>
              </a:rPr>
              <a:t>반품 </a:t>
            </a:r>
            <a:r>
              <a:rPr lang="en-US" altLang="ko-KR" sz="731" spc="-16" dirty="0">
                <a:latin typeface="+mn-ea"/>
                <a:cs typeface="Malgun Gothic"/>
              </a:rPr>
              <a:t>I/F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(3-2,3) </a:t>
            </a:r>
            <a:r>
              <a:rPr lang="ko-KR" altLang="en-US" sz="731" spc="-16" dirty="0">
                <a:latin typeface="+mn-ea"/>
                <a:cs typeface="Malgun Gothic"/>
              </a:rPr>
              <a:t>출고반품 생성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온라인출고반품 </a:t>
            </a:r>
            <a:r>
              <a:rPr lang="en-US" altLang="ko-KR" sz="731" spc="-16" dirty="0">
                <a:latin typeface="+mn-ea"/>
                <a:cs typeface="Malgun Gothic"/>
              </a:rPr>
              <a:t>I/F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ko-KR" altLang="en-US" sz="731" spc="-16" dirty="0">
                <a:latin typeface="+mn-ea"/>
                <a:cs typeface="Malgun Gothic"/>
              </a:rPr>
              <a:t>창고 수불</a:t>
            </a:r>
            <a:r>
              <a:rPr lang="en-US" altLang="ko-KR" sz="731" spc="-16" dirty="0">
                <a:latin typeface="+mn-ea"/>
                <a:cs typeface="Malgun Gothic"/>
              </a:rPr>
              <a:t> /</a:t>
            </a:r>
            <a:r>
              <a:rPr lang="ko-KR" altLang="en-US" sz="731" spc="-16" dirty="0">
                <a:latin typeface="+mn-ea"/>
                <a:cs typeface="Malgun Gothic"/>
              </a:rPr>
              <a:t> 재고</a:t>
            </a:r>
            <a:r>
              <a:rPr lang="en-US" altLang="ko-KR" sz="731" spc="-16" dirty="0">
                <a:latin typeface="+mn-ea"/>
                <a:cs typeface="Malgun Gothic"/>
              </a:rPr>
              <a:t>, </a:t>
            </a:r>
            <a:r>
              <a:rPr lang="ko-KR" altLang="en-US" sz="731" spc="-16" dirty="0">
                <a:latin typeface="+mn-ea"/>
                <a:cs typeface="Malgun Gothic"/>
              </a:rPr>
              <a:t>매장 수불</a:t>
            </a:r>
            <a:r>
              <a:rPr lang="en-US" altLang="ko-KR" sz="731" spc="-16" dirty="0">
                <a:latin typeface="+mn-ea"/>
                <a:cs typeface="Malgun Gothic"/>
              </a:rPr>
              <a:t>/</a:t>
            </a:r>
            <a:r>
              <a:rPr lang="ko-KR" altLang="en-US" sz="731" spc="-16" dirty="0">
                <a:latin typeface="+mn-ea"/>
                <a:cs typeface="Malgun Gothic"/>
              </a:rPr>
              <a:t>재고 조정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</a:t>
            </a:r>
            <a:r>
              <a:rPr lang="ko-KR" altLang="en-US" sz="731" spc="-16" dirty="0">
                <a:latin typeface="+mn-ea"/>
                <a:cs typeface="Malgun Gothic"/>
              </a:rPr>
              <a:t>물류 </a:t>
            </a:r>
            <a:r>
              <a:rPr lang="en-US" altLang="ko-KR" sz="731" spc="-16" dirty="0">
                <a:latin typeface="+mn-ea"/>
                <a:cs typeface="Malgun Gothic"/>
              </a:rPr>
              <a:t>FA-ONE]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(4-1) </a:t>
            </a:r>
            <a:r>
              <a:rPr lang="ko-KR" altLang="en-US" sz="731" spc="-16" dirty="0">
                <a:latin typeface="+mn-ea"/>
                <a:cs typeface="Malgun Gothic"/>
              </a:rPr>
              <a:t>제품 입고 합의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(4-2) </a:t>
            </a:r>
            <a:r>
              <a:rPr lang="ko-KR" altLang="en-US" sz="731" spc="-16" dirty="0">
                <a:latin typeface="+mn-ea"/>
                <a:cs typeface="Malgun Gothic"/>
              </a:rPr>
              <a:t>입고예정정보 확인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(4-3) </a:t>
            </a:r>
            <a:r>
              <a:rPr lang="ko-KR" altLang="en-US" sz="731" spc="-16" dirty="0" err="1">
                <a:latin typeface="+mn-ea"/>
                <a:cs typeface="Malgun Gothic"/>
              </a:rPr>
              <a:t>생산처</a:t>
            </a:r>
            <a:r>
              <a:rPr lang="ko-KR" altLang="en-US" sz="731" spc="-16" dirty="0">
                <a:latin typeface="+mn-ea"/>
                <a:cs typeface="Malgun Gothic"/>
              </a:rPr>
              <a:t> 입고 실적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(4-4) </a:t>
            </a:r>
            <a:r>
              <a:rPr lang="ko-KR" altLang="en-US" sz="731" spc="-16" dirty="0">
                <a:latin typeface="+mn-ea"/>
                <a:cs typeface="Malgun Gothic"/>
              </a:rPr>
              <a:t>창고간 이동정보 실적 등록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[OMS/WMS]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(5-1) </a:t>
            </a:r>
            <a:r>
              <a:rPr lang="ko-KR" altLang="en-US" sz="731" spc="-16" dirty="0">
                <a:latin typeface="+mn-ea"/>
                <a:cs typeface="Malgun Gothic"/>
              </a:rPr>
              <a:t>입고 예정 정보 접수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(5-2) </a:t>
            </a:r>
            <a:r>
              <a:rPr lang="ko-KR" altLang="en-US" sz="731" spc="-16" dirty="0">
                <a:latin typeface="+mn-ea"/>
                <a:cs typeface="Malgun Gothic"/>
              </a:rPr>
              <a:t>입고 실적 생성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(5-3) </a:t>
            </a:r>
            <a:r>
              <a:rPr lang="ko-KR" altLang="en-US" sz="731" spc="-16" dirty="0">
                <a:latin typeface="+mn-ea"/>
                <a:cs typeface="Malgun Gothic"/>
              </a:rPr>
              <a:t>입고 유형별 인터페이스 처리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(5-4) </a:t>
            </a:r>
            <a:r>
              <a:rPr lang="ko-KR" altLang="en-US" sz="731" spc="-16" dirty="0">
                <a:latin typeface="+mn-ea"/>
                <a:cs typeface="Malgun Gothic"/>
              </a:rPr>
              <a:t>센터간 이동 요청 접수 </a:t>
            </a:r>
            <a:r>
              <a:rPr lang="en-US" altLang="ko-KR" sz="731" spc="-16" dirty="0">
                <a:latin typeface="+mn-ea"/>
                <a:cs typeface="Malgun Gothic"/>
              </a:rPr>
              <a:t>/ </a:t>
            </a:r>
            <a:r>
              <a:rPr lang="ko-KR" altLang="en-US" sz="731" spc="-16" dirty="0">
                <a:latin typeface="+mn-ea"/>
                <a:cs typeface="Malgun Gothic"/>
              </a:rPr>
              <a:t>내부 이동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b="1" spc="-16" dirty="0">
                <a:latin typeface="+mn-ea"/>
                <a:cs typeface="Malgun Gothic"/>
              </a:rPr>
              <a:t>※ FA-ONE </a:t>
            </a:r>
            <a:r>
              <a:rPr lang="ko-KR" altLang="en-US" sz="731" b="1" spc="-16" dirty="0">
                <a:latin typeface="+mn-ea"/>
                <a:cs typeface="Malgun Gothic"/>
              </a:rPr>
              <a:t>과 </a:t>
            </a:r>
            <a:r>
              <a:rPr lang="en-US" altLang="ko-KR" sz="731" b="1" spc="-16" dirty="0">
                <a:latin typeface="+mn-ea"/>
                <a:cs typeface="Malgun Gothic"/>
              </a:rPr>
              <a:t>WMS </a:t>
            </a:r>
            <a:r>
              <a:rPr lang="ko-KR" altLang="en-US" sz="731" b="1" spc="-16" dirty="0">
                <a:latin typeface="+mn-ea"/>
                <a:cs typeface="Malgun Gothic"/>
              </a:rPr>
              <a:t>와의 창고 구분이 상이하여 창고간 이동</a:t>
            </a:r>
            <a:r>
              <a:rPr lang="en-US" altLang="ko-KR" sz="731" b="1" spc="-16" dirty="0">
                <a:latin typeface="+mn-ea"/>
                <a:cs typeface="Malgun Gothic"/>
              </a:rPr>
              <a:t>,</a:t>
            </a:r>
            <a:r>
              <a:rPr lang="ko-KR" altLang="en-US" sz="731" b="1" spc="-16" dirty="0">
                <a:latin typeface="+mn-ea"/>
                <a:cs typeface="Malgun Gothic"/>
              </a:rPr>
              <a:t> 온라인 수불 처리 모호</a:t>
            </a: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b="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b="1" spc="-16" dirty="0">
                <a:solidFill>
                  <a:srgbClr val="FF0000"/>
                </a:solidFill>
                <a:latin typeface="+mn-ea"/>
                <a:cs typeface="Malgun Gothic"/>
              </a:rPr>
              <a:t>* FA-ONE - WMS </a:t>
            </a:r>
            <a:r>
              <a:rPr lang="ko-KR" altLang="en-US" sz="731" b="1" spc="-16" dirty="0">
                <a:solidFill>
                  <a:srgbClr val="FF0000"/>
                </a:solidFill>
                <a:latin typeface="+mn-ea"/>
                <a:cs typeface="Malgun Gothic"/>
              </a:rPr>
              <a:t>창고 일원화 관리 필요</a:t>
            </a:r>
            <a:endParaRPr lang="en-US" altLang="ko-KR" sz="731" b="1" spc="-16" dirty="0">
              <a:solidFill>
                <a:srgbClr val="FF0000"/>
              </a:solidFill>
              <a:latin typeface="+mn-ea"/>
              <a:cs typeface="Malgun Gothic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853856" y="1495055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매장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2915306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0425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776424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846815" y="1689029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5039966" y="1495055"/>
            <a:ext cx="231586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OMS / 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3965267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2909143" y="1495055"/>
            <a:ext cx="105300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온라인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970256" y="1495055"/>
            <a:ext cx="1063530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>
                <a:solidFill>
                  <a:schemeClr val="tx1"/>
                </a:solidFill>
              </a:rPr>
              <a:t>FA-ONE(</a:t>
            </a:r>
            <a:r>
              <a:rPr lang="ko-KR" altLang="en-US" sz="894" b="1" dirty="0">
                <a:solidFill>
                  <a:schemeClr val="tx1"/>
                </a:solidFill>
              </a:rPr>
              <a:t>물류</a:t>
            </a:r>
            <a:r>
              <a:rPr lang="en-US" altLang="ko-KR" sz="894" b="1" dirty="0">
                <a:solidFill>
                  <a:schemeClr val="tx1"/>
                </a:solidFill>
              </a:rPr>
              <a:t>)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39" y="1787447"/>
            <a:ext cx="868127" cy="870653"/>
          </a:xfrm>
          <a:prstGeom prst="rect">
            <a:avLst/>
          </a:prstGeom>
        </p:spPr>
      </p:pic>
      <p:sp>
        <p:nvSpPr>
          <p:cNvPr id="64" name="object 25"/>
          <p:cNvSpPr/>
          <p:nvPr/>
        </p:nvSpPr>
        <p:spPr>
          <a:xfrm>
            <a:off x="1001364" y="1823825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sp>
        <p:nvSpPr>
          <p:cNvPr id="65" name="object 22"/>
          <p:cNvSpPr/>
          <p:nvPr/>
        </p:nvSpPr>
        <p:spPr>
          <a:xfrm>
            <a:off x="825872" y="227269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>
                <a:latin typeface="+mn-ea"/>
              </a:rPr>
              <a:t>제품 입고 요청</a:t>
            </a:r>
            <a:endParaRPr sz="650" b="1" dirty="0">
              <a:latin typeface="+mn-ea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>
            <a:off x="1273942" y="1994849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/>
          <p:cNvCxnSpPr/>
          <p:nvPr/>
        </p:nvCxnSpPr>
        <p:spPr>
          <a:xfrm>
            <a:off x="1734209" y="2371613"/>
            <a:ext cx="23219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object 22"/>
          <p:cNvSpPr/>
          <p:nvPr/>
        </p:nvSpPr>
        <p:spPr>
          <a:xfrm>
            <a:off x="4052177" y="227948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(4-1) </a:t>
            </a:r>
            <a:r>
              <a:rPr lang="ko-KR" altLang="en-US" sz="650" b="1" dirty="0">
                <a:latin typeface="+mn-ea"/>
              </a:rPr>
              <a:t>제품 입고 합의</a:t>
            </a:r>
            <a:endParaRPr sz="650" b="1" dirty="0">
              <a:latin typeface="+mn-ea"/>
            </a:endParaRPr>
          </a:p>
        </p:txBody>
      </p:sp>
      <p:sp>
        <p:nvSpPr>
          <p:cNvPr id="81" name="object 22"/>
          <p:cNvSpPr/>
          <p:nvPr/>
        </p:nvSpPr>
        <p:spPr>
          <a:xfrm>
            <a:off x="5320410" y="279834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(5-1) </a:t>
            </a:r>
            <a:r>
              <a:rPr lang="ko-KR" altLang="en-US" sz="650" b="1" dirty="0">
                <a:latin typeface="+mn-ea"/>
              </a:rPr>
              <a:t>입고 예정 정보</a:t>
            </a:r>
            <a:endParaRPr sz="650" b="1" dirty="0">
              <a:latin typeface="+mn-ea"/>
            </a:endParaRPr>
          </a:p>
        </p:txBody>
      </p:sp>
      <p:sp>
        <p:nvSpPr>
          <p:cNvPr id="82" name="object 22"/>
          <p:cNvSpPr/>
          <p:nvPr/>
        </p:nvSpPr>
        <p:spPr>
          <a:xfrm>
            <a:off x="5312424" y="333468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(5-2) </a:t>
            </a:r>
            <a:r>
              <a:rPr lang="ko-KR" altLang="en-US" sz="650" b="1" dirty="0">
                <a:latin typeface="+mn-ea"/>
              </a:rPr>
              <a:t>입고 실적 생성</a:t>
            </a:r>
            <a:endParaRPr sz="650" b="1" dirty="0">
              <a:latin typeface="+mn-ea"/>
            </a:endParaRP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5752028" y="3015337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순서도: 자기 디스크 88"/>
          <p:cNvSpPr/>
          <p:nvPr/>
        </p:nvSpPr>
        <p:spPr>
          <a:xfrm>
            <a:off x="4547895" y="4732603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창고수불</a:t>
            </a:r>
          </a:p>
        </p:txBody>
      </p:sp>
      <p:sp>
        <p:nvSpPr>
          <p:cNvPr id="90" name="순서도: 자기 디스크 89"/>
          <p:cNvSpPr/>
          <p:nvPr/>
        </p:nvSpPr>
        <p:spPr>
          <a:xfrm>
            <a:off x="4550743" y="5007229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창고재고</a:t>
            </a:r>
          </a:p>
        </p:txBody>
      </p:sp>
      <p:sp>
        <p:nvSpPr>
          <p:cNvPr id="92" name="object 22"/>
          <p:cNvSpPr/>
          <p:nvPr/>
        </p:nvSpPr>
        <p:spPr>
          <a:xfrm>
            <a:off x="4058133" y="280573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(4-2) </a:t>
            </a:r>
            <a:r>
              <a:rPr lang="ko-KR" altLang="en-US" sz="650" b="1" dirty="0">
                <a:latin typeface="+mn-ea"/>
              </a:rPr>
              <a:t>입고 예정 정보</a:t>
            </a:r>
            <a:endParaRPr sz="650" b="1" dirty="0">
              <a:latin typeface="+mn-ea"/>
            </a:endParaRPr>
          </a:p>
        </p:txBody>
      </p:sp>
      <p:cxnSp>
        <p:nvCxnSpPr>
          <p:cNvPr id="98" name="직선 화살표 연결선 97"/>
          <p:cNvCxnSpPr/>
          <p:nvPr/>
        </p:nvCxnSpPr>
        <p:spPr>
          <a:xfrm>
            <a:off x="4511926" y="2496012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4983384" y="2909419"/>
            <a:ext cx="336625" cy="55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0" name="object 22"/>
          <p:cNvSpPr/>
          <p:nvPr/>
        </p:nvSpPr>
        <p:spPr>
          <a:xfrm>
            <a:off x="1917929" y="280299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(2-1) </a:t>
            </a:r>
            <a:r>
              <a:rPr lang="ko-KR" altLang="en-US" sz="650" b="1" dirty="0">
                <a:latin typeface="+mn-ea"/>
              </a:rPr>
              <a:t>반품 등록</a:t>
            </a:r>
            <a:endParaRPr sz="650" b="1" dirty="0">
              <a:latin typeface="+mn-ea"/>
            </a:endParaRPr>
          </a:p>
        </p:txBody>
      </p:sp>
      <p:cxnSp>
        <p:nvCxnSpPr>
          <p:cNvPr id="101" name="직선 화살표 연결선 100"/>
          <p:cNvCxnSpPr/>
          <p:nvPr/>
        </p:nvCxnSpPr>
        <p:spPr>
          <a:xfrm flipV="1">
            <a:off x="2824837" y="2912192"/>
            <a:ext cx="1257134" cy="46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2" name="순서도: 판단 101"/>
          <p:cNvSpPr/>
          <p:nvPr/>
        </p:nvSpPr>
        <p:spPr>
          <a:xfrm>
            <a:off x="5308393" y="3879901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입고</a:t>
            </a:r>
            <a:endParaRPr lang="en-US" altLang="ko-KR" sz="65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유형</a:t>
            </a:r>
          </a:p>
        </p:txBody>
      </p:sp>
      <p:cxnSp>
        <p:nvCxnSpPr>
          <p:cNvPr id="103" name="직선 화살표 연결선 102"/>
          <p:cNvCxnSpPr/>
          <p:nvPr/>
        </p:nvCxnSpPr>
        <p:spPr>
          <a:xfrm>
            <a:off x="5748329" y="3554989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" name="순서도: 자기 디스크 103"/>
          <p:cNvSpPr/>
          <p:nvPr/>
        </p:nvSpPr>
        <p:spPr>
          <a:xfrm>
            <a:off x="2398316" y="4242589"/>
            <a:ext cx="444150" cy="239273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매장수불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971384" y="3893635"/>
            <a:ext cx="556014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매장반품</a:t>
            </a:r>
            <a:endParaRPr lang="ko-KR" altLang="en-US" sz="650" b="1" dirty="0"/>
          </a:p>
        </p:txBody>
      </p:sp>
      <p:sp>
        <p:nvSpPr>
          <p:cNvPr id="113" name="TextBox 112"/>
          <p:cNvSpPr txBox="1"/>
          <p:nvPr/>
        </p:nvSpPr>
        <p:spPr>
          <a:xfrm>
            <a:off x="5662622" y="4242589"/>
            <a:ext cx="564956" cy="267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err="1"/>
              <a:t>생산처입고</a:t>
            </a:r>
            <a:endParaRPr lang="ko-KR" altLang="en-US" sz="650" b="1" dirty="0"/>
          </a:p>
        </p:txBody>
      </p:sp>
      <p:sp>
        <p:nvSpPr>
          <p:cNvPr id="114" name="순서도: 자기 디스크 113"/>
          <p:cNvSpPr/>
          <p:nvPr/>
        </p:nvSpPr>
        <p:spPr>
          <a:xfrm>
            <a:off x="2399640" y="4532494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거래명세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117" name="순서도: 자기 디스크 116"/>
          <p:cNvSpPr/>
          <p:nvPr/>
        </p:nvSpPr>
        <p:spPr>
          <a:xfrm>
            <a:off x="2403338" y="4811351"/>
            <a:ext cx="444015" cy="23985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8" dirty="0">
                <a:solidFill>
                  <a:schemeClr val="tx1"/>
                </a:solidFill>
              </a:rPr>
              <a:t>매장재고</a:t>
            </a:r>
            <a:endParaRPr lang="ko-KR" altLang="en-US" sz="650" dirty="0">
              <a:solidFill>
                <a:schemeClr val="tx1"/>
              </a:solidFill>
            </a:endParaRPr>
          </a:p>
        </p:txBody>
      </p:sp>
      <p:sp>
        <p:nvSpPr>
          <p:cNvPr id="123" name="object 22"/>
          <p:cNvSpPr/>
          <p:nvPr/>
        </p:nvSpPr>
        <p:spPr>
          <a:xfrm>
            <a:off x="6420054" y="280018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(5-3) </a:t>
            </a:r>
            <a:r>
              <a:rPr lang="ko-KR" altLang="en-US" sz="650" b="1" dirty="0">
                <a:latin typeface="+mn-ea"/>
              </a:rPr>
              <a:t>센터간 이동</a:t>
            </a:r>
            <a:endParaRPr sz="650" b="1" dirty="0">
              <a:latin typeface="+mn-ea"/>
            </a:endParaRPr>
          </a:p>
        </p:txBody>
      </p:sp>
      <p:cxnSp>
        <p:nvCxnSpPr>
          <p:cNvPr id="127" name="직선 화살표 연결선 126"/>
          <p:cNvCxnSpPr/>
          <p:nvPr/>
        </p:nvCxnSpPr>
        <p:spPr>
          <a:xfrm flipH="1">
            <a:off x="6215100" y="2909419"/>
            <a:ext cx="2049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object 22"/>
          <p:cNvSpPr/>
          <p:nvPr/>
        </p:nvSpPr>
        <p:spPr>
          <a:xfrm>
            <a:off x="1919775" y="394569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>
                <a:latin typeface="+mn-ea"/>
              </a:rPr>
              <a:t>매장반품실적</a:t>
            </a:r>
            <a:endParaRPr sz="650" b="1" dirty="0">
              <a:latin typeface="+mn-ea"/>
            </a:endParaRPr>
          </a:p>
        </p:txBody>
      </p:sp>
      <p:sp>
        <p:nvSpPr>
          <p:cNvPr id="129" name="object 22"/>
          <p:cNvSpPr/>
          <p:nvPr/>
        </p:nvSpPr>
        <p:spPr>
          <a:xfrm>
            <a:off x="4056224" y="444099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(2-2) </a:t>
            </a:r>
            <a:r>
              <a:rPr lang="ko-KR" altLang="en-US" sz="650" b="1" dirty="0" err="1">
                <a:latin typeface="+mn-ea"/>
              </a:rPr>
              <a:t>생산처입고실적</a:t>
            </a:r>
            <a:endParaRPr sz="650" b="1" dirty="0">
              <a:latin typeface="+mn-ea"/>
            </a:endParaRPr>
          </a:p>
        </p:txBody>
      </p:sp>
      <p:cxnSp>
        <p:nvCxnSpPr>
          <p:cNvPr id="135" name="직선 화살표 연결선 134"/>
          <p:cNvCxnSpPr>
            <a:stCxn id="102" idx="1"/>
          </p:cNvCxnSpPr>
          <p:nvPr/>
        </p:nvCxnSpPr>
        <p:spPr>
          <a:xfrm flipH="1" flipV="1">
            <a:off x="2820605" y="4051567"/>
            <a:ext cx="2487787" cy="205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>
            <a:stCxn id="102" idx="2"/>
          </p:cNvCxnSpPr>
          <p:nvPr/>
        </p:nvCxnSpPr>
        <p:spPr>
          <a:xfrm rot="5400000">
            <a:off x="5209199" y="4009983"/>
            <a:ext cx="280690" cy="78938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9" name="꺾인 연결선 138"/>
          <p:cNvCxnSpPr/>
          <p:nvPr/>
        </p:nvCxnSpPr>
        <p:spPr>
          <a:xfrm>
            <a:off x="2091046" y="4158777"/>
            <a:ext cx="321468" cy="203449"/>
          </a:xfrm>
          <a:prstGeom prst="bentConnector3">
            <a:avLst>
              <a:gd name="adj1" fmla="val -405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1" name="꺾인 연결선 140"/>
          <p:cNvCxnSpPr/>
          <p:nvPr/>
        </p:nvCxnSpPr>
        <p:spPr>
          <a:xfrm rot="16200000" flipH="1">
            <a:off x="1988962" y="4250231"/>
            <a:ext cx="499215" cy="331909"/>
          </a:xfrm>
          <a:prstGeom prst="bentConnector3">
            <a:avLst>
              <a:gd name="adj1" fmla="val 100409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4" name="꺾인 연결선 143"/>
          <p:cNvCxnSpPr/>
          <p:nvPr/>
        </p:nvCxnSpPr>
        <p:spPr>
          <a:xfrm rot="16200000" flipH="1">
            <a:off x="1861772" y="4377421"/>
            <a:ext cx="761130" cy="339442"/>
          </a:xfrm>
          <a:prstGeom prst="bentConnector3">
            <a:avLst>
              <a:gd name="adj1" fmla="val 10116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8" name="object 22"/>
          <p:cNvSpPr/>
          <p:nvPr/>
        </p:nvSpPr>
        <p:spPr>
          <a:xfrm>
            <a:off x="6418057" y="3954558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(5-4) </a:t>
            </a:r>
            <a:r>
              <a:rPr lang="ko-KR" altLang="en-US" sz="650" b="1" dirty="0">
                <a:latin typeface="+mn-ea"/>
              </a:rPr>
              <a:t>내부 수불 처리</a:t>
            </a:r>
            <a:endParaRPr sz="650" b="1" dirty="0">
              <a:latin typeface="+mn-ea"/>
            </a:endParaRPr>
          </a:p>
        </p:txBody>
      </p:sp>
      <p:cxnSp>
        <p:nvCxnSpPr>
          <p:cNvPr id="150" name="직선 화살표 연결선 149"/>
          <p:cNvCxnSpPr>
            <a:stCxn id="102" idx="3"/>
          </p:cNvCxnSpPr>
          <p:nvPr/>
        </p:nvCxnSpPr>
        <p:spPr>
          <a:xfrm>
            <a:off x="6180076" y="4072115"/>
            <a:ext cx="2379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1" name="순서도: 판단 150"/>
          <p:cNvSpPr/>
          <p:nvPr/>
        </p:nvSpPr>
        <p:spPr>
          <a:xfrm>
            <a:off x="6396854" y="4477061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창고 </a:t>
            </a:r>
            <a:endParaRPr lang="en-US" altLang="ko-KR" sz="65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구분</a:t>
            </a:r>
          </a:p>
        </p:txBody>
      </p:sp>
      <p:cxnSp>
        <p:nvCxnSpPr>
          <p:cNvPr id="152" name="직선 화살표 연결선 151"/>
          <p:cNvCxnSpPr/>
          <p:nvPr/>
        </p:nvCxnSpPr>
        <p:spPr>
          <a:xfrm>
            <a:off x="6842783" y="4164128"/>
            <a:ext cx="0" cy="307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5" name="object 22"/>
          <p:cNvSpPr/>
          <p:nvPr/>
        </p:nvSpPr>
        <p:spPr>
          <a:xfrm>
            <a:off x="4054228" y="531976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(2-3) </a:t>
            </a:r>
            <a:r>
              <a:rPr lang="ko-KR" altLang="en-US" sz="650" b="1" dirty="0" err="1">
                <a:latin typeface="+mn-ea"/>
              </a:rPr>
              <a:t>창고간이동정보</a:t>
            </a:r>
            <a:endParaRPr sz="650" b="1" dirty="0">
              <a:latin typeface="+mn-ea"/>
            </a:endParaRPr>
          </a:p>
        </p:txBody>
      </p:sp>
      <p:cxnSp>
        <p:nvCxnSpPr>
          <p:cNvPr id="157" name="꺾인 연결선 156"/>
          <p:cNvCxnSpPr/>
          <p:nvPr/>
        </p:nvCxnSpPr>
        <p:spPr>
          <a:xfrm rot="5400000">
            <a:off x="5602919" y="4202517"/>
            <a:ext cx="564813" cy="189474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5928363" y="3843203"/>
            <a:ext cx="55601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 err="1"/>
              <a:t>센터간이동</a:t>
            </a:r>
            <a:endParaRPr lang="ko-KR" altLang="en-US" sz="650" b="1" dirty="0"/>
          </a:p>
        </p:txBody>
      </p:sp>
      <p:sp>
        <p:nvSpPr>
          <p:cNvPr id="159" name="TextBox 158"/>
          <p:cNvSpPr txBox="1"/>
          <p:nvPr/>
        </p:nvSpPr>
        <p:spPr>
          <a:xfrm>
            <a:off x="6399693" y="5009553"/>
            <a:ext cx="780509" cy="2923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창고 구분 수불 반영 기준 </a:t>
            </a:r>
          </a:p>
        </p:txBody>
      </p:sp>
      <p:sp>
        <p:nvSpPr>
          <p:cNvPr id="163" name="object 22"/>
          <p:cNvSpPr/>
          <p:nvPr/>
        </p:nvSpPr>
        <p:spPr>
          <a:xfrm>
            <a:off x="2943279" y="2533696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(3-1) </a:t>
            </a:r>
            <a:r>
              <a:rPr lang="ko-KR" altLang="en-US" sz="650" b="1" dirty="0">
                <a:latin typeface="+mn-ea"/>
              </a:rPr>
              <a:t>반품정보 수집</a:t>
            </a:r>
            <a:r>
              <a:rPr lang="en-US" altLang="ko-KR" sz="650" b="1" dirty="0">
                <a:latin typeface="+mn-ea"/>
              </a:rPr>
              <a:t>(BO)</a:t>
            </a:r>
            <a:endParaRPr sz="650" b="1" dirty="0">
              <a:latin typeface="+mn-ea"/>
            </a:endParaRPr>
          </a:p>
        </p:txBody>
      </p:sp>
      <p:cxnSp>
        <p:nvCxnSpPr>
          <p:cNvPr id="165" name="꺾인 연결선 164"/>
          <p:cNvCxnSpPr/>
          <p:nvPr/>
        </p:nvCxnSpPr>
        <p:spPr>
          <a:xfrm>
            <a:off x="4246731" y="4665334"/>
            <a:ext cx="321468" cy="203449"/>
          </a:xfrm>
          <a:prstGeom prst="bentConnector3">
            <a:avLst>
              <a:gd name="adj1" fmla="val -405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6" name="꺾인 연결선 165"/>
          <p:cNvCxnSpPr/>
          <p:nvPr/>
        </p:nvCxnSpPr>
        <p:spPr>
          <a:xfrm>
            <a:off x="4246731" y="4861489"/>
            <a:ext cx="327095" cy="243687"/>
          </a:xfrm>
          <a:prstGeom prst="bentConnector3">
            <a:avLst>
              <a:gd name="adj1" fmla="val -334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2" name="꺾인 연결선 171"/>
          <p:cNvCxnSpPr/>
          <p:nvPr/>
        </p:nvCxnSpPr>
        <p:spPr>
          <a:xfrm flipV="1">
            <a:off x="4241102" y="5104642"/>
            <a:ext cx="324195" cy="192606"/>
          </a:xfrm>
          <a:prstGeom prst="bentConnector3">
            <a:avLst>
              <a:gd name="adj1" fmla="val -2083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object 25"/>
          <p:cNvSpPr/>
          <p:nvPr/>
        </p:nvSpPr>
        <p:spPr>
          <a:xfrm>
            <a:off x="2121419" y="242043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시작</a:t>
            </a:r>
            <a:endParaRPr sz="650" b="1" dirty="0">
              <a:latin typeface="+mn-ea"/>
            </a:endParaRPr>
          </a:p>
        </p:txBody>
      </p:sp>
      <p:cxnSp>
        <p:nvCxnSpPr>
          <p:cNvPr id="175" name="직선 화살표 연결선 174"/>
          <p:cNvCxnSpPr/>
          <p:nvPr/>
        </p:nvCxnSpPr>
        <p:spPr>
          <a:xfrm>
            <a:off x="2388369" y="2609679"/>
            <a:ext cx="0" cy="199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object 25"/>
          <p:cNvSpPr/>
          <p:nvPr/>
        </p:nvSpPr>
        <p:spPr>
          <a:xfrm>
            <a:off x="2121159" y="5311376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177" name="object 25"/>
          <p:cNvSpPr/>
          <p:nvPr/>
        </p:nvSpPr>
        <p:spPr>
          <a:xfrm>
            <a:off x="4209303" y="5750390"/>
            <a:ext cx="522645" cy="174903"/>
          </a:xfrm>
          <a:custGeom>
            <a:avLst/>
            <a:gdLst/>
            <a:ahLst/>
            <a:cxnLst/>
            <a:rect l="l" t="t" r="r" b="b"/>
            <a:pathLst>
              <a:path w="643254" h="215264">
                <a:moveTo>
                  <a:pt x="103505" y="0"/>
                </a:moveTo>
                <a:lnTo>
                  <a:pt x="539622" y="0"/>
                </a:lnTo>
                <a:lnTo>
                  <a:pt x="579905" y="8447"/>
                </a:lnTo>
                <a:lnTo>
                  <a:pt x="612806" y="31480"/>
                </a:lnTo>
                <a:lnTo>
                  <a:pt x="634992" y="65633"/>
                </a:lnTo>
                <a:lnTo>
                  <a:pt x="643128" y="107441"/>
                </a:lnTo>
                <a:lnTo>
                  <a:pt x="634992" y="149250"/>
                </a:lnTo>
                <a:lnTo>
                  <a:pt x="612806" y="183403"/>
                </a:lnTo>
                <a:lnTo>
                  <a:pt x="579905" y="206436"/>
                </a:lnTo>
                <a:lnTo>
                  <a:pt x="539622" y="214884"/>
                </a:lnTo>
                <a:lnTo>
                  <a:pt x="103505" y="214884"/>
                </a:lnTo>
                <a:lnTo>
                  <a:pt x="63222" y="206436"/>
                </a:lnTo>
                <a:lnTo>
                  <a:pt x="30321" y="183403"/>
                </a:lnTo>
                <a:lnTo>
                  <a:pt x="8135" y="149250"/>
                </a:lnTo>
                <a:lnTo>
                  <a:pt x="0" y="107441"/>
                </a:lnTo>
                <a:lnTo>
                  <a:pt x="8135" y="65633"/>
                </a:lnTo>
                <a:lnTo>
                  <a:pt x="30321" y="31480"/>
                </a:lnTo>
                <a:lnTo>
                  <a:pt x="63222" y="8447"/>
                </a:lnTo>
                <a:lnTo>
                  <a:pt x="103505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650" b="1" dirty="0">
                <a:latin typeface="+mn-ea"/>
              </a:rPr>
              <a:t>끝</a:t>
            </a:r>
            <a:endParaRPr sz="650" b="1" dirty="0">
              <a:latin typeface="+mn-ea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4040954" y="4524128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90" name="타원 189"/>
          <p:cNvSpPr/>
          <p:nvPr/>
        </p:nvSpPr>
        <p:spPr>
          <a:xfrm>
            <a:off x="4446203" y="5722981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92" name="꺾인 연결선 191"/>
          <p:cNvCxnSpPr>
            <a:stCxn id="189" idx="2"/>
          </p:cNvCxnSpPr>
          <p:nvPr/>
        </p:nvCxnSpPr>
        <p:spPr>
          <a:xfrm rot="10800000" flipH="1" flipV="1">
            <a:off x="4040954" y="4542701"/>
            <a:ext cx="405249" cy="1180279"/>
          </a:xfrm>
          <a:prstGeom prst="bentConnector4">
            <a:avLst>
              <a:gd name="adj1" fmla="val -20833"/>
              <a:gd name="adj2" fmla="val 8941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타원 193"/>
          <p:cNvSpPr/>
          <p:nvPr/>
        </p:nvSpPr>
        <p:spPr>
          <a:xfrm>
            <a:off x="1902153" y="4034457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95" name="타원 194"/>
          <p:cNvSpPr/>
          <p:nvPr/>
        </p:nvSpPr>
        <p:spPr>
          <a:xfrm>
            <a:off x="2358055" y="5283962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204" name="타원 203"/>
          <p:cNvSpPr/>
          <p:nvPr/>
        </p:nvSpPr>
        <p:spPr>
          <a:xfrm>
            <a:off x="3911497" y="2616090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205" name="타원 204"/>
          <p:cNvSpPr/>
          <p:nvPr/>
        </p:nvSpPr>
        <p:spPr>
          <a:xfrm>
            <a:off x="5723854" y="2773686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207" name="꺾인 연결선 206"/>
          <p:cNvCxnSpPr/>
          <p:nvPr/>
        </p:nvCxnSpPr>
        <p:spPr>
          <a:xfrm>
            <a:off x="3941852" y="2642499"/>
            <a:ext cx="1803713" cy="148231"/>
          </a:xfrm>
          <a:prstGeom prst="bentConnector3">
            <a:avLst>
              <a:gd name="adj1" fmla="val 9992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1" name="object 22"/>
          <p:cNvSpPr/>
          <p:nvPr/>
        </p:nvSpPr>
        <p:spPr>
          <a:xfrm>
            <a:off x="3004213" y="428888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(3-2) </a:t>
            </a:r>
            <a:r>
              <a:rPr lang="ko-KR" altLang="en-US" sz="650" b="1" dirty="0">
                <a:latin typeface="+mn-ea"/>
              </a:rPr>
              <a:t>출고반품생성</a:t>
            </a:r>
            <a:r>
              <a:rPr lang="en-US" altLang="ko-KR" sz="650" b="1" dirty="0">
                <a:latin typeface="+mn-ea"/>
              </a:rPr>
              <a:t>(BO)</a:t>
            </a:r>
            <a:endParaRPr sz="650" b="1" dirty="0">
              <a:latin typeface="+mn-ea"/>
            </a:endParaRPr>
          </a:p>
        </p:txBody>
      </p:sp>
      <p:cxnSp>
        <p:nvCxnSpPr>
          <p:cNvPr id="213" name="직선 화살표 연결선 212"/>
          <p:cNvCxnSpPr/>
          <p:nvPr/>
        </p:nvCxnSpPr>
        <p:spPr>
          <a:xfrm flipH="1">
            <a:off x="3906890" y="3838216"/>
            <a:ext cx="17982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3901985" y="3699012"/>
            <a:ext cx="556013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온라인반품</a:t>
            </a:r>
            <a:endParaRPr lang="ko-KR" altLang="en-US" sz="650" b="1" dirty="0"/>
          </a:p>
        </p:txBody>
      </p:sp>
      <p:sp>
        <p:nvSpPr>
          <p:cNvPr id="215" name="순서도: 판단 214"/>
          <p:cNvSpPr/>
          <p:nvPr/>
        </p:nvSpPr>
        <p:spPr>
          <a:xfrm>
            <a:off x="3034511" y="3649133"/>
            <a:ext cx="871683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 b="1" dirty="0">
                <a:solidFill>
                  <a:schemeClr val="tx1"/>
                </a:solidFill>
                <a:latin typeface="+mn-ea"/>
              </a:rPr>
              <a:t>Blind</a:t>
            </a:r>
            <a:r>
              <a:rPr lang="ko-KR" altLang="en-US" sz="650" b="1" dirty="0">
                <a:solidFill>
                  <a:schemeClr val="tx1"/>
                </a:solidFill>
                <a:latin typeface="+mn-ea"/>
              </a:rPr>
              <a:t> 반품</a:t>
            </a:r>
          </a:p>
        </p:txBody>
      </p:sp>
      <p:cxnSp>
        <p:nvCxnSpPr>
          <p:cNvPr id="216" name="직선 화살표 연결선 215"/>
          <p:cNvCxnSpPr/>
          <p:nvPr/>
        </p:nvCxnSpPr>
        <p:spPr>
          <a:xfrm>
            <a:off x="3465040" y="4018402"/>
            <a:ext cx="0" cy="279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8" name="object 22"/>
          <p:cNvSpPr/>
          <p:nvPr/>
        </p:nvSpPr>
        <p:spPr>
          <a:xfrm>
            <a:off x="3009839" y="480107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(3-3) </a:t>
            </a:r>
            <a:r>
              <a:rPr lang="ko-KR" altLang="en-US" sz="650" b="1" dirty="0">
                <a:latin typeface="+mn-ea"/>
              </a:rPr>
              <a:t>온라인출고반품</a:t>
            </a:r>
            <a:r>
              <a:rPr lang="en-US" altLang="ko-KR" sz="650" b="1" dirty="0">
                <a:latin typeface="+mn-ea"/>
              </a:rPr>
              <a:t>I/F</a:t>
            </a:r>
            <a:endParaRPr sz="650" b="1" dirty="0">
              <a:latin typeface="+mn-ea"/>
            </a:endParaRPr>
          </a:p>
        </p:txBody>
      </p:sp>
      <p:cxnSp>
        <p:nvCxnSpPr>
          <p:cNvPr id="219" name="직선 화살표 연결선 218"/>
          <p:cNvCxnSpPr/>
          <p:nvPr/>
        </p:nvCxnSpPr>
        <p:spPr>
          <a:xfrm>
            <a:off x="3465040" y="4508074"/>
            <a:ext cx="0" cy="279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3" name="직선 화살표 연결선 222"/>
          <p:cNvCxnSpPr/>
          <p:nvPr/>
        </p:nvCxnSpPr>
        <p:spPr>
          <a:xfrm>
            <a:off x="3911498" y="4861489"/>
            <a:ext cx="3352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3460562" y="4073744"/>
            <a:ext cx="459515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/>
              <a:t>NO</a:t>
            </a:r>
            <a:endParaRPr lang="ko-KR" altLang="en-US" sz="650" b="1" dirty="0"/>
          </a:p>
        </p:txBody>
      </p:sp>
      <p:sp>
        <p:nvSpPr>
          <p:cNvPr id="225" name="TextBox 224"/>
          <p:cNvSpPr txBox="1"/>
          <p:nvPr/>
        </p:nvSpPr>
        <p:spPr>
          <a:xfrm>
            <a:off x="2906283" y="3273355"/>
            <a:ext cx="1100205" cy="3550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69" b="1" dirty="0">
                <a:latin typeface="+mn-ea"/>
              </a:rPr>
              <a:t>BLIND </a:t>
            </a:r>
            <a:r>
              <a:rPr lang="ko-KR" altLang="en-US" sz="569" b="1" dirty="0">
                <a:latin typeface="+mn-ea"/>
              </a:rPr>
              <a:t>반품 처리 프로세스 </a:t>
            </a:r>
            <a:r>
              <a:rPr lang="en-US" altLang="ko-KR" sz="569" b="1" dirty="0">
                <a:latin typeface="+mn-ea"/>
              </a:rPr>
              <a:t>X</a:t>
            </a:r>
          </a:p>
          <a:p>
            <a:r>
              <a:rPr lang="en-US" altLang="ko-KR" sz="569" b="1" dirty="0">
                <a:solidFill>
                  <a:srgbClr val="FF0000"/>
                </a:solidFill>
              </a:rPr>
              <a:t>* ‘26 7</a:t>
            </a:r>
            <a:r>
              <a:rPr lang="ko-KR" altLang="en-US" sz="569" b="1" dirty="0">
                <a:solidFill>
                  <a:srgbClr val="FF0000"/>
                </a:solidFill>
              </a:rPr>
              <a:t>月 개선 예정</a:t>
            </a:r>
            <a:endParaRPr lang="ko-KR" altLang="en-US" sz="569" b="1" dirty="0">
              <a:latin typeface="+mn-ea"/>
            </a:endParaRPr>
          </a:p>
        </p:txBody>
      </p:sp>
      <p:sp>
        <p:nvSpPr>
          <p:cNvPr id="226" name="TextBox 225"/>
          <p:cNvSpPr txBox="1"/>
          <p:nvPr/>
        </p:nvSpPr>
        <p:spPr>
          <a:xfrm>
            <a:off x="2953286" y="5044204"/>
            <a:ext cx="976070" cy="880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569" b="1" dirty="0"/>
              <a:t>▶ 온라인 창고</a:t>
            </a:r>
            <a:endParaRPr lang="en-US" altLang="ko-KR" sz="569" b="1" dirty="0"/>
          </a:p>
          <a:p>
            <a:endParaRPr lang="en-US" altLang="ko-KR" sz="569" b="1" dirty="0"/>
          </a:p>
          <a:p>
            <a:r>
              <a:rPr lang="ko-KR" altLang="en-US" sz="569" b="1" dirty="0">
                <a:solidFill>
                  <a:srgbClr val="FF0000"/>
                </a:solidFill>
              </a:rPr>
              <a:t>매장으로 운용</a:t>
            </a:r>
            <a:endParaRPr lang="en-US" altLang="ko-KR" sz="569" b="1" dirty="0">
              <a:solidFill>
                <a:srgbClr val="FF0000"/>
              </a:solidFill>
            </a:endParaRPr>
          </a:p>
          <a:p>
            <a:endParaRPr lang="en-US" altLang="ko-KR" sz="569" b="1" dirty="0"/>
          </a:p>
          <a:p>
            <a:r>
              <a:rPr lang="ko-KR" altLang="en-US" sz="569" b="1" dirty="0"/>
              <a:t>온라인 입출고 수불 관리를 위해 매장 </a:t>
            </a:r>
            <a:r>
              <a:rPr lang="en-US" altLang="ko-KR" sz="569" b="1" dirty="0"/>
              <a:t>&lt;-&gt;</a:t>
            </a:r>
            <a:r>
              <a:rPr lang="ko-KR" altLang="en-US" sz="569" b="1" dirty="0"/>
              <a:t>창고 이동하는 이력 생성</a:t>
            </a:r>
            <a:endParaRPr lang="en-US" altLang="ko-KR" sz="569" b="1" dirty="0"/>
          </a:p>
          <a:p>
            <a:r>
              <a:rPr lang="en-US" altLang="ko-KR" sz="569" b="1" dirty="0">
                <a:solidFill>
                  <a:srgbClr val="FF0000"/>
                </a:solidFill>
              </a:rPr>
              <a:t>* ‘26 7</a:t>
            </a:r>
            <a:r>
              <a:rPr lang="ko-KR" altLang="en-US" sz="569" b="1" dirty="0">
                <a:solidFill>
                  <a:srgbClr val="FF0000"/>
                </a:solidFill>
              </a:rPr>
              <a:t>月 개선 계획 </a:t>
            </a:r>
            <a:endParaRPr lang="en-US" altLang="ko-KR" sz="569" b="1" dirty="0">
              <a:solidFill>
                <a:srgbClr val="FF0000"/>
              </a:solidFill>
            </a:endParaRPr>
          </a:p>
          <a:p>
            <a:r>
              <a:rPr lang="en-US" altLang="ko-KR" sz="569" b="1" dirty="0">
                <a:solidFill>
                  <a:srgbClr val="FF0000"/>
                </a:solidFill>
              </a:rPr>
              <a:t>-&gt;</a:t>
            </a:r>
            <a:r>
              <a:rPr lang="ko-KR" altLang="en-US" sz="569" b="1" dirty="0">
                <a:solidFill>
                  <a:srgbClr val="FF0000"/>
                </a:solidFill>
              </a:rPr>
              <a:t> 변화 관리 필요</a:t>
            </a:r>
            <a:endParaRPr lang="ko-KR" altLang="en-US" sz="650" b="1" dirty="0">
              <a:solidFill>
                <a:srgbClr val="FF0000"/>
              </a:solidFill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5060935" y="5447463"/>
            <a:ext cx="2257839" cy="5723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이관 입출고 수불 실적 반영 </a:t>
            </a:r>
            <a:r>
              <a:rPr lang="en-US" altLang="ko-KR" sz="650" b="1" dirty="0"/>
              <a:t>CASE</a:t>
            </a:r>
          </a:p>
          <a:p>
            <a:r>
              <a:rPr lang="en-US" altLang="ko-KR" sz="650" b="1" dirty="0"/>
              <a:t> - B2B -&gt; B2B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/>
              <a:t>정상</a:t>
            </a:r>
            <a:r>
              <a:rPr lang="en-US" altLang="ko-KR" sz="650" b="1" dirty="0"/>
              <a:t>/</a:t>
            </a:r>
            <a:r>
              <a:rPr lang="ko-KR" altLang="en-US" sz="650" b="1" dirty="0"/>
              <a:t>불량 이동 시 반영</a:t>
            </a:r>
            <a:endParaRPr lang="en-US" altLang="ko-KR" sz="650" b="1" dirty="0"/>
          </a:p>
          <a:p>
            <a:r>
              <a:rPr lang="en-US" altLang="ko-KR" sz="650" b="1" dirty="0"/>
              <a:t> - B2B -&gt; B2C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/>
              <a:t>매장출고</a:t>
            </a:r>
            <a:r>
              <a:rPr lang="en-US" altLang="ko-KR" sz="650" b="1" dirty="0"/>
              <a:t>/</a:t>
            </a:r>
            <a:r>
              <a:rPr lang="ko-KR" altLang="en-US" sz="650" b="1" dirty="0"/>
              <a:t>매장수불 생성</a:t>
            </a:r>
            <a:endParaRPr lang="en-US" altLang="ko-KR" sz="650" b="1" dirty="0"/>
          </a:p>
          <a:p>
            <a:r>
              <a:rPr lang="en-US" altLang="ko-KR" sz="650" b="1" dirty="0"/>
              <a:t> - B2C -&gt; B2B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/>
              <a:t>매장반품 </a:t>
            </a:r>
            <a:r>
              <a:rPr lang="en-US" altLang="ko-KR" sz="650" b="1" dirty="0"/>
              <a:t>/ </a:t>
            </a:r>
            <a:r>
              <a:rPr lang="ko-KR" altLang="en-US" sz="650" b="1" dirty="0"/>
              <a:t>매장 수불 생성</a:t>
            </a:r>
            <a:endParaRPr lang="en-US" altLang="ko-KR" sz="650" b="1" dirty="0"/>
          </a:p>
          <a:p>
            <a:r>
              <a:rPr lang="en-US" altLang="ko-KR" sz="650" b="1" dirty="0"/>
              <a:t> - B2C -&gt; B2C </a:t>
            </a:r>
            <a:r>
              <a:rPr lang="ko-KR" altLang="en-US" sz="650" b="1" dirty="0"/>
              <a:t>이관입출고 </a:t>
            </a:r>
            <a:r>
              <a:rPr lang="en-US" altLang="ko-KR" sz="650" b="1" dirty="0"/>
              <a:t>: </a:t>
            </a:r>
            <a:r>
              <a:rPr lang="ko-KR" altLang="en-US" sz="650" b="1" dirty="0" err="1"/>
              <a:t>매장점간이동</a:t>
            </a:r>
            <a:r>
              <a:rPr lang="en-US" altLang="ko-KR" sz="650" b="1" dirty="0"/>
              <a:t>/</a:t>
            </a:r>
            <a:r>
              <a:rPr lang="ko-KR" altLang="en-US" sz="650" b="1" dirty="0"/>
              <a:t>매장수불생성</a:t>
            </a:r>
            <a:endParaRPr lang="en-US" altLang="ko-KR" sz="650" b="1" dirty="0"/>
          </a:p>
        </p:txBody>
      </p:sp>
      <p:sp>
        <p:nvSpPr>
          <p:cNvPr id="230" name="폭발 1 229"/>
          <p:cNvSpPr/>
          <p:nvPr/>
        </p:nvSpPr>
        <p:spPr>
          <a:xfrm>
            <a:off x="3546875" y="5023923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1" name="폭발 1 230"/>
          <p:cNvSpPr/>
          <p:nvPr/>
        </p:nvSpPr>
        <p:spPr>
          <a:xfrm>
            <a:off x="5963196" y="4960279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2" name="폭발 1 231"/>
          <p:cNvSpPr/>
          <p:nvPr/>
        </p:nvSpPr>
        <p:spPr>
          <a:xfrm>
            <a:off x="2548917" y="3113723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8" name="꺾인 연결선 17"/>
          <p:cNvCxnSpPr>
            <a:stCxn id="194" idx="1"/>
            <a:endCxn id="195" idx="5"/>
          </p:cNvCxnSpPr>
          <p:nvPr/>
        </p:nvCxnSpPr>
        <p:spPr>
          <a:xfrm rot="16200000" flipH="1">
            <a:off x="1510791" y="4436699"/>
            <a:ext cx="1275772" cy="482169"/>
          </a:xfrm>
          <a:prstGeom prst="bentConnector5">
            <a:avLst>
              <a:gd name="adj1" fmla="val 826"/>
              <a:gd name="adj2" fmla="val -28776"/>
              <a:gd name="adj3" fmla="val 8153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04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9682" y="1495055"/>
            <a:ext cx="218083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브랜드 기획</a:t>
            </a:r>
            <a:r>
              <a:rPr lang="en-US" altLang="ko-KR" sz="800" b="1" dirty="0" smtClean="0">
                <a:solidFill>
                  <a:schemeClr val="tx1"/>
                </a:solidFill>
              </a:rPr>
              <a:t> ·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브랜드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운영팀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(F/A-ONE)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5055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4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출고 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–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매장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(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판매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)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출고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출고 프로세스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기획팀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브랜드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운영팀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  <a:endParaRPr lang="ko-KR" altLang="en-US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관련 출고 요청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초도 배분 출고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반응 출고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판매분 출고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MOFL</a:t>
            </a:r>
            <a:r>
              <a:rPr lang="ko-KR" altLang="en-US" sz="731" spc="-16" dirty="0" smtClean="0">
                <a:latin typeface="+mn-ea"/>
                <a:cs typeface="Malgun Gothic"/>
              </a:rPr>
              <a:t>  활용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- </a:t>
            </a:r>
            <a:r>
              <a:rPr lang="ko-KR" altLang="en-US" sz="731" spc="-16" dirty="0" smtClean="0">
                <a:latin typeface="+mn-ea"/>
                <a:cs typeface="Malgun Gothic"/>
              </a:rPr>
              <a:t>기타 매장 출고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이월</a:t>
            </a:r>
            <a:r>
              <a:rPr lang="en-US" altLang="ko-KR" sz="731" spc="-16" dirty="0" smtClean="0">
                <a:latin typeface="+mn-ea"/>
                <a:cs typeface="Malgun Gothic"/>
              </a:rPr>
              <a:t>,</a:t>
            </a:r>
            <a:r>
              <a:rPr lang="ko-KR" altLang="en-US" sz="731" spc="-16" dirty="0" smtClean="0">
                <a:latin typeface="+mn-ea"/>
                <a:cs typeface="Malgun Gothic"/>
              </a:rPr>
              <a:t>신상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선작업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해외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b="1" spc="-16" dirty="0" smtClean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[ OMS 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(2-1)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지시 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요청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r>
              <a:rPr lang="ko-KR" altLang="en-US" sz="731" spc="-16" dirty="0" smtClean="0">
                <a:latin typeface="+mn-ea"/>
                <a:cs typeface="Malgun Gothic"/>
              </a:rPr>
              <a:t>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(2-2)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송신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(2-3) </a:t>
            </a:r>
            <a:r>
              <a:rPr lang="ko-KR" altLang="en-US" sz="731" spc="-16" dirty="0" smtClean="0">
                <a:latin typeface="+mn-ea"/>
                <a:cs typeface="Malgun Gothic"/>
              </a:rPr>
              <a:t>배송 실적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[ WMS 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지시 수신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(3-2)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피킹</a:t>
            </a:r>
            <a:r>
              <a:rPr lang="en-US" altLang="ko-KR" sz="731" spc="-16" dirty="0" smtClean="0">
                <a:latin typeface="+mn-ea"/>
                <a:cs typeface="Malgun Gothic"/>
              </a:rPr>
              <a:t>(</a:t>
            </a:r>
            <a:r>
              <a:rPr lang="ko-KR" altLang="en-US" sz="731" spc="-16" dirty="0" smtClean="0">
                <a:latin typeface="+mn-ea"/>
                <a:cs typeface="Malgun Gothic"/>
              </a:rPr>
              <a:t>할당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  <a:r>
              <a:rPr lang="ko-KR" altLang="en-US" sz="731" spc="-16" dirty="0" smtClean="0">
                <a:latin typeface="+mn-ea"/>
                <a:cs typeface="Malgun Gothic"/>
              </a:rPr>
              <a:t> 지시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(3-3~6)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대상 </a:t>
            </a:r>
            <a:r>
              <a:rPr lang="ko-KR" altLang="en-US" sz="731" spc="-16" dirty="0" err="1" smtClean="0">
                <a:latin typeface="+mn-ea"/>
                <a:cs typeface="Malgun Gothic"/>
              </a:rPr>
              <a:t>피킹</a:t>
            </a:r>
            <a:r>
              <a:rPr lang="ko-KR" altLang="en-US" sz="731" spc="-16" dirty="0" smtClean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패킹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분류 작업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(3-7)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확정 및 송장 발행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(3-8)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송신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인터페이스 </a:t>
            </a:r>
            <a:r>
              <a:rPr lang="en-US" altLang="ko-KR" sz="731" spc="-16" dirty="0" smtClean="0">
                <a:latin typeface="+mn-ea"/>
                <a:cs typeface="Malgun Gothic"/>
              </a:rPr>
              <a:t>)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[ F/A – ONE ]</a:t>
            </a: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 WMS</a:t>
            </a:r>
            <a:r>
              <a:rPr lang="ko-KR" altLang="en-US" sz="731" spc="-16" dirty="0" smtClean="0">
                <a:latin typeface="+mn-ea"/>
                <a:cs typeface="Malgun Gothic"/>
              </a:rPr>
              <a:t>출고 실적 수신 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  <a:spcBef>
                <a:spcPts val="4"/>
              </a:spcBef>
              <a:tabLst>
                <a:tab pos="199152" algn="l"/>
              </a:tabLst>
            </a:pPr>
            <a:r>
              <a:rPr lang="en-US" altLang="ko-KR" sz="731" spc="-16" dirty="0" smtClean="0">
                <a:latin typeface="+mn-ea"/>
                <a:cs typeface="Malgun Gothic"/>
              </a:rPr>
              <a:t> -&gt; </a:t>
            </a:r>
            <a:r>
              <a:rPr lang="ko-KR" altLang="en-US" sz="731" spc="-16" dirty="0" smtClean="0">
                <a:latin typeface="+mn-ea"/>
                <a:cs typeface="Malgun Gothic"/>
              </a:rPr>
              <a:t>수불 데이터 생성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창고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매장 재고 갱신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11073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0425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88684"/>
              </p:ext>
            </p:extLst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5039966" y="1495055"/>
            <a:ext cx="231586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913624" y="1495055"/>
            <a:ext cx="212553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OMS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825872" y="1924616"/>
            <a:ext cx="902677" cy="587308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매장 출고 요청</a:t>
            </a:r>
            <a:endParaRPr lang="en-US" altLang="ko-KR" sz="650" b="1" dirty="0" smtClean="0">
              <a:latin typeface="+mn-ea"/>
            </a:endParaRPr>
          </a:p>
          <a:p>
            <a:pPr algn="ctr"/>
            <a:endParaRPr lang="en-US" altLang="ko-KR" sz="650" b="1" dirty="0" smtClean="0">
              <a:latin typeface="+mn-ea"/>
            </a:endParaRPr>
          </a:p>
          <a:p>
            <a:r>
              <a:rPr lang="en-US" altLang="ko-KR" sz="650" b="1" dirty="0" smtClean="0">
                <a:latin typeface="+mn-ea"/>
              </a:rPr>
              <a:t> - </a:t>
            </a:r>
            <a:r>
              <a:rPr lang="ko-KR" altLang="en-US" sz="650" b="1" dirty="0" smtClean="0">
                <a:latin typeface="+mn-ea"/>
              </a:rPr>
              <a:t>초도 배분 출고</a:t>
            </a:r>
            <a:endParaRPr lang="en-US" altLang="ko-KR" sz="650" b="1" dirty="0" smtClean="0">
              <a:latin typeface="+mn-ea"/>
            </a:endParaRPr>
          </a:p>
          <a:p>
            <a:r>
              <a:rPr lang="en-US" altLang="ko-KR" sz="650" b="1" dirty="0" smtClean="0">
                <a:latin typeface="+mn-ea"/>
              </a:rPr>
              <a:t> - </a:t>
            </a:r>
            <a:r>
              <a:rPr lang="ko-KR" altLang="en-US" sz="650" b="1" dirty="0" smtClean="0">
                <a:latin typeface="+mn-ea"/>
              </a:rPr>
              <a:t>반응 출고</a:t>
            </a:r>
          </a:p>
          <a:p>
            <a:r>
              <a:rPr lang="en-US" altLang="ko-KR" sz="650" b="1" dirty="0" smtClean="0">
                <a:latin typeface="+mn-ea"/>
              </a:rPr>
              <a:t> - </a:t>
            </a:r>
            <a:r>
              <a:rPr lang="ko-KR" altLang="en-US" sz="650" b="1" dirty="0" smtClean="0">
                <a:latin typeface="+mn-ea"/>
              </a:rPr>
              <a:t>출고요청 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23420" y="4681415"/>
            <a:ext cx="2187097" cy="207716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 smtClean="0">
                <a:solidFill>
                  <a:schemeClr val="tx1"/>
                </a:solidFill>
              </a:rPr>
              <a:t>물류팀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object 22"/>
          <p:cNvSpPr/>
          <p:nvPr/>
        </p:nvSpPr>
        <p:spPr>
          <a:xfrm>
            <a:off x="1388514" y="528244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(6-1) </a:t>
            </a:r>
            <a:r>
              <a:rPr lang="en-US" altLang="ko-KR" sz="650" b="1" dirty="0" smtClean="0">
                <a:latin typeface="+mn-ea"/>
              </a:rPr>
              <a:t>WMS </a:t>
            </a:r>
            <a:r>
              <a:rPr lang="ko-KR" altLang="en-US" sz="650" b="1" dirty="0" smtClean="0">
                <a:latin typeface="+mn-ea"/>
              </a:rPr>
              <a:t>출고의뢰</a:t>
            </a:r>
            <a:endParaRPr sz="650" b="1" dirty="0">
              <a:latin typeface="+mn-ea"/>
            </a:endParaRPr>
          </a:p>
        </p:txBody>
      </p:sp>
      <p:sp>
        <p:nvSpPr>
          <p:cNvPr id="32" name="object 22"/>
          <p:cNvSpPr/>
          <p:nvPr/>
        </p:nvSpPr>
        <p:spPr>
          <a:xfrm>
            <a:off x="3557807" y="192249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출고지시 수신</a:t>
            </a:r>
            <a:endParaRPr sz="650" b="1" dirty="0">
              <a:latin typeface="+mn-ea"/>
            </a:endParaRPr>
          </a:p>
        </p:txBody>
      </p:sp>
      <p:sp>
        <p:nvSpPr>
          <p:cNvPr id="33" name="object 22"/>
          <p:cNvSpPr/>
          <p:nvPr/>
        </p:nvSpPr>
        <p:spPr>
          <a:xfrm>
            <a:off x="4082773" y="351298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909449" y="4681785"/>
            <a:ext cx="2125537" cy="201607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 smtClean="0">
                <a:solidFill>
                  <a:schemeClr val="tx1"/>
                </a:solidFill>
              </a:rPr>
              <a:t>배송사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36" name="object 22"/>
          <p:cNvSpPr/>
          <p:nvPr/>
        </p:nvSpPr>
        <p:spPr>
          <a:xfrm>
            <a:off x="2987581" y="424346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(2-3) </a:t>
            </a:r>
            <a:r>
              <a:rPr lang="ko-KR" altLang="en-US" sz="650" b="1" dirty="0" smtClean="0">
                <a:latin typeface="+mn-ea"/>
              </a:rPr>
              <a:t>배송실적 수신</a:t>
            </a:r>
            <a:endParaRPr sz="650" b="1" dirty="0">
              <a:latin typeface="+mn-ea"/>
            </a:endParaRPr>
          </a:p>
        </p:txBody>
      </p:sp>
      <p:sp>
        <p:nvSpPr>
          <p:cNvPr id="37" name="object 22"/>
          <p:cNvSpPr/>
          <p:nvPr/>
        </p:nvSpPr>
        <p:spPr>
          <a:xfrm>
            <a:off x="2982005" y="5137537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(5-1) </a:t>
            </a:r>
            <a:r>
              <a:rPr lang="ko-KR" altLang="en-US" sz="650" b="1" dirty="0" smtClean="0">
                <a:latin typeface="+mn-ea"/>
              </a:rPr>
              <a:t>배송실적 수신</a:t>
            </a:r>
            <a:endParaRPr sz="650" b="1" dirty="0">
              <a:latin typeface="+mn-ea"/>
            </a:endParaRPr>
          </a:p>
        </p:txBody>
      </p:sp>
      <p:sp>
        <p:nvSpPr>
          <p:cNvPr id="38" name="object 22"/>
          <p:cNvSpPr/>
          <p:nvPr/>
        </p:nvSpPr>
        <p:spPr>
          <a:xfrm>
            <a:off x="4086381" y="513336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(5-3) </a:t>
            </a:r>
            <a:r>
              <a:rPr lang="ko-KR" altLang="en-US" sz="650" b="1" dirty="0" smtClean="0">
                <a:latin typeface="+mn-ea"/>
              </a:rPr>
              <a:t>출고실적 수신</a:t>
            </a:r>
            <a:endParaRPr sz="650" b="1" dirty="0"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035336" y="4681843"/>
            <a:ext cx="2324669" cy="201607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DAS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40" name="object 22"/>
          <p:cNvSpPr/>
          <p:nvPr/>
        </p:nvSpPr>
        <p:spPr>
          <a:xfrm>
            <a:off x="5201195" y="513962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(4-3) </a:t>
            </a:r>
            <a:r>
              <a:rPr lang="ko-KR" altLang="en-US" sz="650" b="1" dirty="0" smtClean="0">
                <a:latin typeface="+mn-ea"/>
              </a:rPr>
              <a:t>분류실적 송신</a:t>
            </a:r>
            <a:endParaRPr sz="650" b="1" dirty="0">
              <a:latin typeface="+mn-ea"/>
            </a:endParaRPr>
          </a:p>
        </p:txBody>
      </p:sp>
      <p:sp>
        <p:nvSpPr>
          <p:cNvPr id="41" name="object 22"/>
          <p:cNvSpPr/>
          <p:nvPr/>
        </p:nvSpPr>
        <p:spPr>
          <a:xfrm>
            <a:off x="6305571" y="513545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(4-1) </a:t>
            </a:r>
            <a:r>
              <a:rPr lang="ko-KR" altLang="en-US" sz="650" b="1" dirty="0" smtClean="0">
                <a:latin typeface="+mn-ea"/>
              </a:rPr>
              <a:t>분류지시 수신</a:t>
            </a:r>
            <a:endParaRPr sz="650" b="1" dirty="0">
              <a:latin typeface="+mn-ea"/>
            </a:endParaRPr>
          </a:p>
        </p:txBody>
      </p:sp>
      <p:sp>
        <p:nvSpPr>
          <p:cNvPr id="43" name="object 22"/>
          <p:cNvSpPr/>
          <p:nvPr/>
        </p:nvSpPr>
        <p:spPr>
          <a:xfrm>
            <a:off x="5785742" y="558638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(4-2) </a:t>
            </a:r>
            <a:r>
              <a:rPr lang="ko-KR" altLang="en-US" sz="650" b="1" dirty="0" smtClean="0">
                <a:latin typeface="+mn-ea"/>
              </a:rPr>
              <a:t>분류작업 진행</a:t>
            </a:r>
            <a:endParaRPr sz="650" b="1" dirty="0">
              <a:latin typeface="+mn-ea"/>
            </a:endParaRPr>
          </a:p>
        </p:txBody>
      </p:sp>
      <p:sp>
        <p:nvSpPr>
          <p:cNvPr id="45" name="object 22"/>
          <p:cNvSpPr/>
          <p:nvPr/>
        </p:nvSpPr>
        <p:spPr>
          <a:xfrm>
            <a:off x="3537325" y="559264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(5-2) </a:t>
            </a:r>
            <a:r>
              <a:rPr lang="ko-KR" altLang="en-US" sz="650" b="1" dirty="0" smtClean="0">
                <a:latin typeface="+mn-ea"/>
              </a:rPr>
              <a:t>배송실적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한진</a:t>
            </a:r>
            <a:r>
              <a:rPr lang="en-US" altLang="ko-KR" sz="650" b="1" dirty="0" smtClean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sp>
        <p:nvSpPr>
          <p:cNvPr id="46" name="object 22"/>
          <p:cNvSpPr/>
          <p:nvPr/>
        </p:nvSpPr>
        <p:spPr>
          <a:xfrm>
            <a:off x="5742328" y="192239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 예정정보</a:t>
            </a:r>
            <a:endParaRPr sz="650" b="1" dirty="0">
              <a:latin typeface="+mn-ea"/>
            </a:endParaRPr>
          </a:p>
        </p:txBody>
      </p:sp>
      <p:sp>
        <p:nvSpPr>
          <p:cNvPr id="47" name="object 22"/>
          <p:cNvSpPr/>
          <p:nvPr/>
        </p:nvSpPr>
        <p:spPr>
          <a:xfrm>
            <a:off x="5742328" y="244531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</a:t>
            </a:r>
            <a:r>
              <a:rPr lang="ko-KR" altLang="en-US" sz="650" b="1" dirty="0" smtClean="0">
                <a:latin typeface="+mn-ea"/>
              </a:rPr>
              <a:t>지시</a:t>
            </a:r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할당</a:t>
            </a:r>
            <a:r>
              <a:rPr lang="en-US" altLang="ko-KR" sz="650" b="1" dirty="0" smtClean="0">
                <a:latin typeface="+mn-ea"/>
              </a:rPr>
              <a:t>)</a:t>
            </a:r>
            <a:endParaRPr sz="650" b="1" dirty="0">
              <a:latin typeface="+mn-ea"/>
            </a:endParaRPr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6192485" y="214098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object 22"/>
          <p:cNvSpPr/>
          <p:nvPr/>
        </p:nvSpPr>
        <p:spPr>
          <a:xfrm>
            <a:off x="5124379" y="2954702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(3-3)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패킹</a:t>
            </a:r>
            <a:endParaRPr sz="650" b="1" dirty="0">
              <a:latin typeface="+mn-ea"/>
            </a:endParaRPr>
          </a:p>
        </p:txBody>
      </p:sp>
      <p:sp>
        <p:nvSpPr>
          <p:cNvPr id="50" name="object 22"/>
          <p:cNvSpPr/>
          <p:nvPr/>
        </p:nvSpPr>
        <p:spPr>
          <a:xfrm>
            <a:off x="6297648" y="2956790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(3-4) </a:t>
            </a:r>
            <a:r>
              <a:rPr lang="ko-KR" altLang="en-US" sz="650" b="1" dirty="0" smtClean="0">
                <a:latin typeface="+mn-ea"/>
              </a:rPr>
              <a:t>총량 </a:t>
            </a:r>
            <a:r>
              <a:rPr lang="ko-KR" altLang="en-US" sz="650" b="1" dirty="0" err="1" smtClean="0">
                <a:latin typeface="+mn-ea"/>
              </a:rPr>
              <a:t>피킹</a:t>
            </a:r>
            <a:endParaRPr sz="650" b="1" dirty="0">
              <a:latin typeface="+mn-ea"/>
            </a:endParaRPr>
          </a:p>
        </p:txBody>
      </p:sp>
      <p:sp>
        <p:nvSpPr>
          <p:cNvPr id="51" name="object 22"/>
          <p:cNvSpPr/>
          <p:nvPr/>
        </p:nvSpPr>
        <p:spPr>
          <a:xfrm>
            <a:off x="5132730" y="347661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(3-7)</a:t>
            </a:r>
            <a:r>
              <a:rPr lang="ko-KR" altLang="en-US" sz="650" b="1" dirty="0" smtClean="0">
                <a:latin typeface="+mn-ea"/>
              </a:rPr>
              <a:t>출고확정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송장발행</a:t>
            </a:r>
            <a:endParaRPr sz="650" b="1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6751980" y="3170455"/>
            <a:ext cx="0" cy="818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>
            <a:off x="5576624" y="3172294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object 22"/>
          <p:cNvSpPr/>
          <p:nvPr/>
        </p:nvSpPr>
        <p:spPr>
          <a:xfrm>
            <a:off x="5141081" y="399853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(3-8)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cxnSp>
        <p:nvCxnSpPr>
          <p:cNvPr id="55" name="직선 화살표 연결선 54"/>
          <p:cNvCxnSpPr/>
          <p:nvPr/>
        </p:nvCxnSpPr>
        <p:spPr>
          <a:xfrm>
            <a:off x="5572449" y="368794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bject 22"/>
          <p:cNvSpPr/>
          <p:nvPr/>
        </p:nvSpPr>
        <p:spPr>
          <a:xfrm>
            <a:off x="5763206" y="4439034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(3-6) </a:t>
            </a:r>
            <a:r>
              <a:rPr lang="ko-KR" altLang="en-US" sz="650" b="1" dirty="0" smtClean="0">
                <a:latin typeface="+mn-ea"/>
              </a:rPr>
              <a:t>분류실적 수신</a:t>
            </a:r>
            <a:endParaRPr sz="650" b="1" dirty="0">
              <a:latin typeface="+mn-ea"/>
            </a:endParaRPr>
          </a:p>
        </p:txBody>
      </p:sp>
      <p:sp>
        <p:nvSpPr>
          <p:cNvPr id="57" name="object 22"/>
          <p:cNvSpPr/>
          <p:nvPr/>
        </p:nvSpPr>
        <p:spPr>
          <a:xfrm>
            <a:off x="6301824" y="399436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(3-5)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6181054" y="2635322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5542228" y="2935946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6725935" y="2942209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4" name="꺾인 연결선 13"/>
          <p:cNvCxnSpPr>
            <a:stCxn id="59" idx="4"/>
            <a:endCxn id="61" idx="0"/>
          </p:cNvCxnSpPr>
          <p:nvPr/>
        </p:nvCxnSpPr>
        <p:spPr>
          <a:xfrm rot="5400000">
            <a:off x="5748477" y="2484794"/>
            <a:ext cx="263477" cy="63882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59" idx="0"/>
            <a:endCxn id="62" idx="0"/>
          </p:cNvCxnSpPr>
          <p:nvPr/>
        </p:nvCxnSpPr>
        <p:spPr>
          <a:xfrm rot="16200000" flipH="1">
            <a:off x="6318624" y="2516325"/>
            <a:ext cx="306887" cy="544881"/>
          </a:xfrm>
          <a:prstGeom prst="bentConnector3">
            <a:avLst>
              <a:gd name="adj1" fmla="val 54082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6763082" y="4214788"/>
            <a:ext cx="0" cy="9185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6667878" y="5667281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5764364" y="5670914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84" name="꺾인 연결선 83"/>
          <p:cNvCxnSpPr>
            <a:endCxn id="80" idx="6"/>
          </p:cNvCxnSpPr>
          <p:nvPr/>
        </p:nvCxnSpPr>
        <p:spPr>
          <a:xfrm rot="5400000">
            <a:off x="6606365" y="5445105"/>
            <a:ext cx="339411" cy="14208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81" idx="2"/>
          </p:cNvCxnSpPr>
          <p:nvPr/>
        </p:nvCxnSpPr>
        <p:spPr>
          <a:xfrm rot="10800000">
            <a:off x="5638800" y="5346444"/>
            <a:ext cx="125564" cy="34304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꺾인 연결선 89"/>
          <p:cNvCxnSpPr/>
          <p:nvPr/>
        </p:nvCxnSpPr>
        <p:spPr>
          <a:xfrm rot="5400000" flipH="1" flipV="1">
            <a:off x="5405807" y="4775964"/>
            <a:ext cx="590391" cy="124407"/>
          </a:xfrm>
          <a:prstGeom prst="bentConnector3">
            <a:avLst>
              <a:gd name="adj1" fmla="val 10039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/>
          <p:nvPr/>
        </p:nvCxnSpPr>
        <p:spPr>
          <a:xfrm rot="16200000" flipV="1">
            <a:off x="5696720" y="3917552"/>
            <a:ext cx="868520" cy="174443"/>
          </a:xfrm>
          <a:prstGeom prst="bentConnector3">
            <a:avLst>
              <a:gd name="adj1" fmla="val 10013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꺾인 연결선 162"/>
          <p:cNvCxnSpPr/>
          <p:nvPr/>
        </p:nvCxnSpPr>
        <p:spPr>
          <a:xfrm rot="10800000">
            <a:off x="4651441" y="3726068"/>
            <a:ext cx="483129" cy="383653"/>
          </a:xfrm>
          <a:prstGeom prst="bentConnector3">
            <a:avLst>
              <a:gd name="adj1" fmla="val 9948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/>
          <p:cNvCxnSpPr/>
          <p:nvPr/>
        </p:nvCxnSpPr>
        <p:spPr>
          <a:xfrm>
            <a:off x="4548570" y="3726067"/>
            <a:ext cx="0" cy="1407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/>
          <p:nvPr/>
        </p:nvCxnSpPr>
        <p:spPr>
          <a:xfrm rot="5400000">
            <a:off x="4349687" y="5448807"/>
            <a:ext cx="399036" cy="194310"/>
          </a:xfrm>
          <a:prstGeom prst="bentConnector3">
            <a:avLst>
              <a:gd name="adj1" fmla="val 9837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꺾인 연결선 175"/>
          <p:cNvCxnSpPr/>
          <p:nvPr/>
        </p:nvCxnSpPr>
        <p:spPr>
          <a:xfrm rot="10800000">
            <a:off x="3292576" y="5354874"/>
            <a:ext cx="238934" cy="373352"/>
          </a:xfrm>
          <a:prstGeom prst="bentConnector3">
            <a:avLst>
              <a:gd name="adj1" fmla="val 10040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/>
          <p:nvPr/>
        </p:nvCxnSpPr>
        <p:spPr>
          <a:xfrm flipV="1">
            <a:off x="3292575" y="4456542"/>
            <a:ext cx="0" cy="6768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/>
          <p:nvPr/>
        </p:nvCxnSpPr>
        <p:spPr>
          <a:xfrm>
            <a:off x="1726462" y="2028932"/>
            <a:ext cx="1831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/>
          <p:nvPr/>
        </p:nvCxnSpPr>
        <p:spPr>
          <a:xfrm>
            <a:off x="4464588" y="2025864"/>
            <a:ext cx="12759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3" name="순서도: 자기 디스크 182"/>
          <p:cNvSpPr/>
          <p:nvPr/>
        </p:nvSpPr>
        <p:spPr>
          <a:xfrm>
            <a:off x="2210936" y="2904617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22" name="순서도: 자기 디스크 121"/>
          <p:cNvSpPr/>
          <p:nvPr/>
        </p:nvSpPr>
        <p:spPr>
          <a:xfrm>
            <a:off x="2210936" y="3258823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 </a:t>
            </a:r>
            <a:r>
              <a:rPr lang="en-US" altLang="ko-KR" sz="500" b="1" dirty="0" smtClean="0">
                <a:solidFill>
                  <a:schemeClr val="tx1"/>
                </a:solidFill>
              </a:rPr>
              <a:t>/ </a:t>
            </a:r>
          </a:p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23" name="순서도: 자기 디스크 122"/>
          <p:cNvSpPr/>
          <p:nvPr/>
        </p:nvSpPr>
        <p:spPr>
          <a:xfrm>
            <a:off x="2216016" y="3618228"/>
            <a:ext cx="484909" cy="31719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거래명세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1845361" y="2851658"/>
            <a:ext cx="932078" cy="113836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/>
          <p:cNvSpPr txBox="1"/>
          <p:nvPr/>
        </p:nvSpPr>
        <p:spPr>
          <a:xfrm>
            <a:off x="1924799" y="2939542"/>
            <a:ext cx="231237" cy="83367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출고 실적 반영</a:t>
            </a:r>
            <a:endParaRPr lang="ko-KR" altLang="en-US" sz="800" b="1" dirty="0"/>
          </a:p>
        </p:txBody>
      </p:sp>
      <p:cxnSp>
        <p:nvCxnSpPr>
          <p:cNvPr id="187" name="꺾인 연결선 186"/>
          <p:cNvCxnSpPr/>
          <p:nvPr/>
        </p:nvCxnSpPr>
        <p:spPr>
          <a:xfrm rot="10800000">
            <a:off x="2782277" y="3195177"/>
            <a:ext cx="1761456" cy="295822"/>
          </a:xfrm>
          <a:prstGeom prst="bentConnector3">
            <a:avLst>
              <a:gd name="adj1" fmla="val 13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838380" y="2546421"/>
            <a:ext cx="87125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판매분 출고</a:t>
            </a:r>
            <a:endParaRPr lang="en-US" altLang="ko-KR" sz="600" dirty="0" smtClean="0"/>
          </a:p>
          <a:p>
            <a:r>
              <a:rPr lang="en-US" altLang="ko-KR" sz="600" dirty="0" smtClean="0"/>
              <a:t> </a:t>
            </a:r>
            <a:r>
              <a:rPr lang="en-US" altLang="ko-KR" sz="600" dirty="0"/>
              <a:t>MOFL</a:t>
            </a:r>
            <a:r>
              <a:rPr lang="ko-KR" altLang="en-US" sz="600" dirty="0"/>
              <a:t> </a:t>
            </a:r>
            <a:r>
              <a:rPr lang="en-US" altLang="ko-KR" sz="600" dirty="0"/>
              <a:t>(AI</a:t>
            </a:r>
            <a:r>
              <a:rPr lang="en-US" altLang="ko-KR" sz="600" dirty="0" smtClean="0"/>
              <a:t>) </a:t>
            </a:r>
            <a:r>
              <a:rPr lang="ko-KR" altLang="en-US" sz="600" dirty="0" smtClean="0"/>
              <a:t> 출고 요청 </a:t>
            </a:r>
            <a:endParaRPr lang="en-US" altLang="ko-KR" sz="600" dirty="0" smtClean="0"/>
          </a:p>
          <a:p>
            <a:r>
              <a:rPr lang="ko-KR" altLang="en-US" sz="600" dirty="0" smtClean="0"/>
              <a:t>자료 생성</a:t>
            </a:r>
            <a:endParaRPr lang="ko-KR" altLang="en-US" sz="600" dirty="0"/>
          </a:p>
        </p:txBody>
      </p:sp>
      <p:sp>
        <p:nvSpPr>
          <p:cNvPr id="133" name="TextBox 132"/>
          <p:cNvSpPr txBox="1"/>
          <p:nvPr/>
        </p:nvSpPr>
        <p:spPr>
          <a:xfrm>
            <a:off x="1393256" y="5506349"/>
            <a:ext cx="897494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/>
              <a:t>센터 내부 출고 업무</a:t>
            </a:r>
            <a:endParaRPr lang="en-US" altLang="ko-KR" sz="600" dirty="0" smtClean="0"/>
          </a:p>
        </p:txBody>
      </p:sp>
      <p:sp>
        <p:nvSpPr>
          <p:cNvPr id="134" name="TextBox 133"/>
          <p:cNvSpPr txBox="1"/>
          <p:nvPr/>
        </p:nvSpPr>
        <p:spPr>
          <a:xfrm>
            <a:off x="3562530" y="2159071"/>
            <a:ext cx="871258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* </a:t>
            </a:r>
            <a:r>
              <a:rPr lang="ko-KR" altLang="en-US" sz="600" dirty="0" smtClean="0"/>
              <a:t>실 가용 재고 체크</a:t>
            </a:r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494210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714092" y="698247"/>
          <a:ext cx="8900231" cy="423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6914"/>
                <a:gridCol w="1673392"/>
                <a:gridCol w="2944315"/>
                <a:gridCol w="1309911"/>
                <a:gridCol w="1845699"/>
              </a:tblGrid>
              <a:tr h="217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프로젝트</a:t>
                      </a:r>
                      <a:r>
                        <a:rPr sz="700" spc="2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ko-KR" altLang="en-US" sz="700" b="1" spc="-10" dirty="0" smtClean="0">
                          <a:latin typeface="Malgun Gothic"/>
                          <a:cs typeface="Malgun Gothic"/>
                        </a:rPr>
                        <a:t>신성통상 </a:t>
                      </a:r>
                      <a:r>
                        <a:rPr lang="en-US" altLang="ko-KR" sz="700" b="1" spc="-10" dirty="0" smtClean="0">
                          <a:latin typeface="Malgun Gothic"/>
                          <a:cs typeface="Malgun Gothic"/>
                        </a:rPr>
                        <a:t>FA-ONE</a:t>
                      </a:r>
                      <a:endParaRPr lang="en-US" altLang="ko-KR"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4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862965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100" b="1" spc="-10" dirty="0">
                          <a:latin typeface="Malgun Gothic"/>
                          <a:cs typeface="Malgun Gothic"/>
                        </a:rPr>
                        <a:t>프로세스정의서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22793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20" dirty="0">
                          <a:latin typeface="Malgun Gothic"/>
                          <a:cs typeface="Malgun Gothic"/>
                        </a:rPr>
                        <a:t>작업일자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lang="en-US" sz="700" dirty="0" smtClean="0">
                          <a:latin typeface="Malgun Gothic"/>
                          <a:cs typeface="Malgun Gothic"/>
                        </a:rPr>
                        <a:t>2026-03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726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3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업무그룹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0" dirty="0"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ko-KR" altLang="en-US" sz="700" b="1" spc="-20" dirty="0" smtClean="0">
                          <a:latin typeface="Malgun Gothic"/>
                          <a:cs typeface="Malgun Gothic"/>
                        </a:rPr>
                        <a:t>물류관리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1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10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700" spc="-25" dirty="0" smtClean="0">
                          <a:latin typeface="Malgun Gothic"/>
                          <a:cs typeface="Malgun Gothic"/>
                        </a:rPr>
                        <a:t>1.</a:t>
                      </a:r>
                      <a:r>
                        <a:rPr lang="en-US" sz="700" spc="-25" dirty="0" smtClean="0">
                          <a:latin typeface="Malgun Gothic"/>
                          <a:cs typeface="Malgun Gothic"/>
                        </a:rPr>
                        <a:t>0</a:t>
                      </a:r>
                      <a:endParaRPr sz="700" dirty="0">
                        <a:latin typeface="Malgun Gothic"/>
                        <a:cs typeface="Malgun Gothic"/>
                      </a:endParaRPr>
                    </a:p>
                  </a:txBody>
                  <a:tcPr marL="0" marR="0" marT="5107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729682" y="1495055"/>
            <a:ext cx="2180835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tx1"/>
                </a:solidFill>
              </a:rPr>
              <a:t>각 사업부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/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영업관리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/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물류센터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356633" y="1495055"/>
            <a:ext cx="2246644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94" b="1" dirty="0">
                <a:solidFill>
                  <a:schemeClr val="tx1"/>
                </a:solidFill>
              </a:rPr>
              <a:t>설명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28440" y="1696832"/>
            <a:ext cx="6628309" cy="4339373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/>
        </p:nvSpPr>
        <p:spPr>
          <a:xfrm>
            <a:off x="7359856" y="1699585"/>
            <a:ext cx="2243421" cy="43366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71">
              <a:spcBef>
                <a:spcPts val="53"/>
              </a:spcBef>
            </a:pPr>
            <a:endParaRPr lang="ko-KR" altLang="en-US" sz="1463" dirty="0">
              <a:latin typeface="+mn-ea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6633" y="1765618"/>
            <a:ext cx="2246644" cy="385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71">
              <a:spcBef>
                <a:spcPts val="53"/>
              </a:spcBef>
            </a:pPr>
            <a:r>
              <a:rPr lang="en-US" altLang="ko-KR" sz="731" b="1" spc="-8" dirty="0">
                <a:solidFill>
                  <a:srgbClr val="006FC0"/>
                </a:solidFill>
                <a:latin typeface="+mn-ea"/>
                <a:cs typeface="Malgun Gothic"/>
              </a:rPr>
              <a:t>[</a:t>
            </a:r>
            <a:r>
              <a:rPr lang="ko-KR" altLang="en-US" sz="731" b="1" spc="-8" dirty="0">
                <a:solidFill>
                  <a:srgbClr val="006FC0"/>
                </a:solidFill>
                <a:latin typeface="+mn-ea"/>
                <a:cs typeface="Malgun Gothic"/>
              </a:rPr>
              <a:t>출고 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- </a:t>
            </a:r>
            <a:r>
              <a:rPr lang="ko-KR" altLang="en-US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기타 출고</a:t>
            </a:r>
            <a:r>
              <a:rPr lang="en-US" altLang="ko-KR" sz="731" b="1" spc="-8" dirty="0" smtClean="0">
                <a:solidFill>
                  <a:srgbClr val="006FC0"/>
                </a:solidFill>
                <a:latin typeface="+mn-ea"/>
                <a:cs typeface="Malgun Gothic"/>
              </a:rPr>
              <a:t>]</a:t>
            </a:r>
            <a:endParaRPr lang="ko-KR" altLang="en-US" sz="731" b="1" spc="-8" dirty="0">
              <a:solidFill>
                <a:srgbClr val="006FC0"/>
              </a:solidFill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출고를 제외한 기타 출고 유형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: </a:t>
            </a:r>
            <a:r>
              <a:rPr lang="ko-KR" altLang="en-US" sz="731" spc="-16" dirty="0" smtClean="0">
                <a:latin typeface="+mn-ea"/>
                <a:cs typeface="Malgun Gothic"/>
              </a:rPr>
              <a:t>업체</a:t>
            </a:r>
            <a:r>
              <a:rPr lang="en-US" altLang="ko-KR" sz="731" spc="-16" dirty="0" smtClean="0">
                <a:latin typeface="+mn-ea"/>
                <a:cs typeface="Malgun Gothic"/>
              </a:rPr>
              <a:t> / </a:t>
            </a:r>
            <a:r>
              <a:rPr lang="ko-KR" altLang="en-US" sz="731" spc="-16" dirty="0" smtClean="0">
                <a:latin typeface="+mn-ea"/>
                <a:cs typeface="Malgun Gothic"/>
              </a:rPr>
              <a:t>이관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재고조정 </a:t>
            </a:r>
            <a:r>
              <a:rPr lang="en-US" altLang="ko-KR" sz="731" spc="-16" dirty="0" smtClean="0">
                <a:latin typeface="+mn-ea"/>
                <a:cs typeface="Malgun Gothic"/>
              </a:rPr>
              <a:t>/ </a:t>
            </a:r>
            <a:r>
              <a:rPr lang="ko-KR" altLang="en-US" sz="731" spc="-16" dirty="0" smtClean="0">
                <a:latin typeface="+mn-ea"/>
                <a:cs typeface="Malgun Gothic"/>
              </a:rPr>
              <a:t>이동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업체 출고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출고요청서를 통해 업체출고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- </a:t>
            </a:r>
            <a:r>
              <a:rPr lang="ko-KR" altLang="en-US" sz="731" spc="-16" dirty="0" smtClean="0">
                <a:latin typeface="+mn-ea"/>
                <a:cs typeface="Malgun Gothic"/>
              </a:rPr>
              <a:t>클레임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부족분 처리를 위한 출고 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이관 입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출고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CASE1 – </a:t>
            </a:r>
            <a:r>
              <a:rPr lang="ko-KR" altLang="en-US" sz="731" spc="-16" dirty="0" smtClean="0">
                <a:latin typeface="+mn-ea"/>
                <a:cs typeface="Malgun Gothic"/>
              </a:rPr>
              <a:t>출고요청서 이관입출고등록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>
                <a:latin typeface="+mn-ea"/>
                <a:cs typeface="Malgun Gothic"/>
              </a:rPr>
              <a:t> </a:t>
            </a:r>
            <a:r>
              <a:rPr lang="en-US" altLang="ko-KR" sz="731" spc="-16" dirty="0" smtClean="0">
                <a:latin typeface="+mn-ea"/>
                <a:cs typeface="Malgun Gothic"/>
              </a:rPr>
              <a:t>      CASE2 – (OMS) </a:t>
            </a:r>
            <a:r>
              <a:rPr lang="ko-KR" altLang="en-US" sz="731" spc="-16" dirty="0" smtClean="0">
                <a:latin typeface="+mn-ea"/>
                <a:cs typeface="Malgun Gothic"/>
              </a:rPr>
              <a:t>센터 이관 주문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이관 출고</a:t>
            </a:r>
            <a:r>
              <a:rPr lang="en-US" altLang="ko-KR" sz="731" spc="-16" dirty="0" smtClean="0">
                <a:latin typeface="+mn-ea"/>
                <a:cs typeface="Malgun Gothic"/>
              </a:rPr>
              <a:t>/</a:t>
            </a:r>
            <a:r>
              <a:rPr lang="ko-KR" altLang="en-US" sz="731" spc="-16" dirty="0" smtClean="0">
                <a:latin typeface="+mn-ea"/>
                <a:cs typeface="Malgun Gothic"/>
              </a:rPr>
              <a:t>입고 수불 </a:t>
            </a:r>
            <a:r>
              <a:rPr lang="en-US" altLang="ko-KR" sz="731" spc="-16" dirty="0" smtClean="0">
                <a:latin typeface="+mn-ea"/>
                <a:cs typeface="Malgun Gothic"/>
              </a:rPr>
              <a:t>PAIR </a:t>
            </a:r>
            <a:r>
              <a:rPr lang="ko-KR" altLang="en-US" sz="731" spc="-16" dirty="0" smtClean="0">
                <a:latin typeface="+mn-ea"/>
                <a:cs typeface="Malgun Gothic"/>
              </a:rPr>
              <a:t>생성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입고 이슈와 같이</a:t>
            </a:r>
            <a:r>
              <a:rPr lang="en-US" altLang="ko-KR" sz="731" spc="-16" dirty="0" smtClean="0">
                <a:latin typeface="+mn-ea"/>
                <a:cs typeface="Malgun Gothic"/>
              </a:rPr>
              <a:t>, </a:t>
            </a:r>
            <a:r>
              <a:rPr lang="ko-KR" altLang="en-US" sz="731" spc="-16" dirty="0" smtClean="0">
                <a:latin typeface="+mn-ea"/>
                <a:cs typeface="Malgun Gothic"/>
              </a:rPr>
              <a:t>온라인</a:t>
            </a:r>
            <a:r>
              <a:rPr lang="en-US" altLang="ko-KR" sz="731" spc="-16" dirty="0" smtClean="0">
                <a:latin typeface="+mn-ea"/>
                <a:cs typeface="Malgun Gothic"/>
              </a:rPr>
              <a:t>(B2C) </a:t>
            </a:r>
            <a:r>
              <a:rPr lang="ko-KR" altLang="en-US" sz="731" spc="-16" dirty="0" smtClean="0">
                <a:latin typeface="+mn-ea"/>
                <a:cs typeface="Malgun Gothic"/>
              </a:rPr>
              <a:t>간 또는 정상 </a:t>
            </a:r>
            <a:r>
              <a:rPr lang="en-US" altLang="ko-KR" sz="731" spc="-16" dirty="0" smtClean="0">
                <a:latin typeface="+mn-ea"/>
                <a:cs typeface="Malgun Gothic"/>
              </a:rPr>
              <a:t>– </a:t>
            </a:r>
            <a:r>
              <a:rPr lang="ko-KR" altLang="en-US" sz="731" spc="-16" dirty="0" smtClean="0">
                <a:latin typeface="+mn-ea"/>
                <a:cs typeface="Malgun Gothic"/>
              </a:rPr>
              <a:t>불량 이관 시 수불 실적 반영 </a:t>
            </a:r>
            <a:r>
              <a:rPr lang="en-US" altLang="ko-KR" sz="731" spc="-16" dirty="0" smtClean="0">
                <a:latin typeface="+mn-ea"/>
                <a:cs typeface="Malgun Gothic"/>
              </a:rPr>
              <a:t>CASE </a:t>
            </a:r>
            <a:r>
              <a:rPr lang="ko-KR" altLang="en-US" sz="731" spc="-16" dirty="0" smtClean="0">
                <a:latin typeface="+mn-ea"/>
                <a:cs typeface="Malgun Gothic"/>
              </a:rPr>
              <a:t>이슈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[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출고</a:t>
            </a:r>
            <a:r>
              <a:rPr lang="en-US" altLang="ko-KR" sz="731" spc="-16" dirty="0" smtClean="0">
                <a:latin typeface="+mn-ea"/>
                <a:cs typeface="Malgun Gothic"/>
              </a:rPr>
              <a:t>]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(1-1) </a:t>
            </a:r>
            <a:r>
              <a:rPr lang="en-US" altLang="ko-KR" sz="731" spc="-16" dirty="0" smtClean="0">
                <a:latin typeface="+mn-ea"/>
                <a:cs typeface="Malgun Gothic"/>
              </a:rPr>
              <a:t>F/A-ONE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자가소모출고 등록을 통해 </a:t>
            </a:r>
            <a:r>
              <a:rPr lang="en-US" altLang="ko-KR" sz="731" spc="-16" dirty="0" smtClean="0">
                <a:latin typeface="+mn-ea"/>
                <a:cs typeface="Malgun Gothic"/>
              </a:rPr>
              <a:t>G/W </a:t>
            </a:r>
            <a:r>
              <a:rPr lang="ko-KR" altLang="en-US" sz="731" spc="-16" dirty="0" smtClean="0">
                <a:latin typeface="+mn-ea"/>
                <a:cs typeface="Malgun Gothic"/>
              </a:rPr>
              <a:t>전자결재 상신 결재 완료 시 </a:t>
            </a:r>
            <a:r>
              <a:rPr lang="en-US" altLang="ko-KR" sz="731" spc="-16" dirty="0" smtClean="0">
                <a:latin typeface="+mn-ea"/>
                <a:cs typeface="Malgun Gothic"/>
              </a:rPr>
              <a:t>OMS </a:t>
            </a:r>
            <a:r>
              <a:rPr lang="ko-KR" altLang="en-US" sz="731" spc="-16" dirty="0" smtClean="0">
                <a:latin typeface="+mn-ea"/>
                <a:cs typeface="Malgun Gothic"/>
              </a:rPr>
              <a:t>에 자동으로 출고지시 정보 </a:t>
            </a:r>
            <a:r>
              <a:rPr lang="en-US" altLang="ko-KR" sz="731" spc="-16" dirty="0" smtClean="0">
                <a:latin typeface="+mn-ea"/>
                <a:cs typeface="Malgun Gothic"/>
              </a:rPr>
              <a:t>I/F</a:t>
            </a:r>
            <a:r>
              <a:rPr lang="ko-KR" altLang="en-US" sz="731" spc="-16" dirty="0" smtClean="0">
                <a:latin typeface="+mn-ea"/>
                <a:cs typeface="Malgun Gothic"/>
              </a:rPr>
              <a:t>를 통해 프로세스 진행</a:t>
            </a:r>
            <a:endParaRPr lang="en-US" altLang="ko-KR" sz="731" spc="-16" dirty="0" smtClean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endParaRPr lang="en-US" altLang="ko-KR" sz="731" spc="-16" dirty="0">
              <a:latin typeface="+mn-ea"/>
              <a:cs typeface="Malgun Gothic"/>
            </a:endParaRPr>
          </a:p>
          <a:p>
            <a:pPr marL="8771" marR="265192">
              <a:lnSpc>
                <a:spcPct val="130000"/>
              </a:lnSpc>
            </a:pPr>
            <a:r>
              <a:rPr lang="ko-KR" altLang="en-US" sz="731" spc="-16" dirty="0" smtClean="0">
                <a:latin typeface="+mn-ea"/>
                <a:cs typeface="Malgun Gothic"/>
              </a:rPr>
              <a:t>매장 또는 온라인</a:t>
            </a:r>
            <a:r>
              <a:rPr lang="en-US" altLang="ko-KR" sz="731" spc="-16" dirty="0" smtClean="0">
                <a:latin typeface="+mn-ea"/>
                <a:cs typeface="Malgun Gothic"/>
              </a:rPr>
              <a:t>(B2C) </a:t>
            </a:r>
            <a:r>
              <a:rPr lang="ko-KR" altLang="en-US" sz="731" spc="-16" dirty="0" smtClean="0">
                <a:latin typeface="+mn-ea"/>
                <a:cs typeface="Malgun Gothic"/>
              </a:rPr>
              <a:t>자가소모 등록 시 재고 이동 </a:t>
            </a:r>
            <a:r>
              <a:rPr lang="en-US" altLang="ko-KR" sz="731" spc="-16" dirty="0" smtClean="0">
                <a:latin typeface="+mn-ea"/>
                <a:cs typeface="Malgun Gothic"/>
              </a:rPr>
              <a:t>( </a:t>
            </a:r>
            <a:r>
              <a:rPr lang="ko-KR" altLang="en-US" sz="731" spc="-16" dirty="0" smtClean="0">
                <a:latin typeface="+mn-ea"/>
                <a:cs typeface="Malgun Gothic"/>
              </a:rPr>
              <a:t>매장</a:t>
            </a:r>
            <a:r>
              <a:rPr lang="en-US" altLang="ko-KR" sz="731" spc="-16" dirty="0" smtClean="0">
                <a:latin typeface="+mn-ea"/>
                <a:cs typeface="Malgun Gothic"/>
              </a:rPr>
              <a:t>-&gt; </a:t>
            </a:r>
            <a:r>
              <a:rPr lang="ko-KR" altLang="en-US" sz="731" spc="-16" dirty="0" smtClean="0">
                <a:latin typeface="+mn-ea"/>
                <a:cs typeface="Malgun Gothic"/>
              </a:rPr>
              <a:t>창고 </a:t>
            </a:r>
            <a:r>
              <a:rPr lang="en-US" altLang="ko-KR" sz="731" spc="-16" dirty="0" smtClean="0">
                <a:latin typeface="+mn-ea"/>
                <a:cs typeface="Malgun Gothic"/>
              </a:rPr>
              <a:t>) </a:t>
            </a:r>
            <a:r>
              <a:rPr lang="ko-KR" altLang="en-US" sz="731" spc="-16" dirty="0" smtClean="0">
                <a:latin typeface="+mn-ea"/>
                <a:cs typeface="Malgun Gothic"/>
              </a:rPr>
              <a:t>후 진행</a:t>
            </a:r>
            <a:r>
              <a:rPr lang="en-US" altLang="ko-KR" sz="731" spc="-16" dirty="0" smtClean="0">
                <a:latin typeface="+mn-ea"/>
                <a:cs typeface="Malgun Gothic"/>
              </a:rPr>
              <a:t>,</a:t>
            </a:r>
          </a:p>
          <a:p>
            <a:pPr marL="8771" marR="265192">
              <a:lnSpc>
                <a:spcPct val="130000"/>
              </a:lnSpc>
            </a:pPr>
            <a:r>
              <a:rPr lang="en-US" altLang="ko-KR" sz="731" spc="-16" dirty="0" smtClean="0">
                <a:latin typeface="+mn-ea"/>
                <a:cs typeface="Malgun Gothic"/>
              </a:rPr>
              <a:t>* </a:t>
            </a:r>
            <a:r>
              <a:rPr lang="ko-KR" altLang="en-US" sz="731" spc="-16" dirty="0" smtClean="0">
                <a:latin typeface="+mn-ea"/>
                <a:cs typeface="Malgun Gothic"/>
              </a:rPr>
              <a:t>온라인 매장창고센터 자가소모 처리 이슈</a:t>
            </a:r>
            <a:endParaRPr lang="en-US" altLang="ko-KR" sz="731" spc="-16" dirty="0">
              <a:latin typeface="+mn-ea"/>
              <a:cs typeface="Malgun Gothic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911073" y="1685034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042558" y="1685033"/>
            <a:ext cx="0" cy="433937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3"/>
          <p:cNvGraphicFramePr>
            <a:graphicFrameLocks noGrp="1"/>
          </p:cNvGraphicFramePr>
          <p:nvPr>
            <p:extLst/>
          </p:nvPr>
        </p:nvGraphicFramePr>
        <p:xfrm>
          <a:off x="730238" y="1242250"/>
          <a:ext cx="8884085" cy="191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3365"/>
                <a:gridCol w="1074428"/>
                <a:gridCol w="931045"/>
                <a:gridCol w="931044"/>
                <a:gridCol w="1024091"/>
                <a:gridCol w="1214248"/>
                <a:gridCol w="1103469"/>
                <a:gridCol w="1632395"/>
              </a:tblGrid>
              <a:tr h="191929">
                <a:tc>
                  <a:txBody>
                    <a:bodyPr/>
                    <a:lstStyle/>
                    <a:p>
                      <a:pPr marL="26035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dirty="0" smtClean="0">
                          <a:latin typeface="+mn-ea"/>
                          <a:ea typeface="+mn-ea"/>
                          <a:cs typeface="Malgun Gothic"/>
                        </a:rPr>
                        <a:t>입고관리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smtClean="0">
                          <a:latin typeface="+mn-ea"/>
                          <a:ea typeface="+mn-ea"/>
                          <a:cs typeface="Malgun Gothic"/>
                        </a:rPr>
                        <a:t>출고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76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10" dirty="0" err="1" smtClean="0">
                          <a:latin typeface="+mn-ea"/>
                          <a:ea typeface="+mn-ea"/>
                          <a:cs typeface="Malgun Gothic"/>
                        </a:rPr>
                        <a:t>판부자재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0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ko-KR" altLang="en-US" sz="700" b="1" spc="-20" dirty="0" smtClean="0">
                          <a:latin typeface="+mn-ea"/>
                          <a:ea typeface="+mn-ea"/>
                          <a:cs typeface="Malgun Gothic"/>
                        </a:rPr>
                        <a:t>창고재고</a:t>
                      </a: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393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700" b="1" dirty="0">
                        <a:latin typeface="+mn-ea"/>
                        <a:ea typeface="+mn-ea"/>
                        <a:cs typeface="Malgun Gothic"/>
                      </a:endParaRPr>
                    </a:p>
                  </a:txBody>
                  <a:tcPr marL="0" marR="0" marT="28377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700" b="1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5039966" y="1495055"/>
            <a:ext cx="2315863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WMS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913624" y="1495055"/>
            <a:ext cx="2125537" cy="203623"/>
          </a:xfrm>
          <a:prstGeom prst="rect">
            <a:avLst/>
          </a:prstGeom>
          <a:solidFill>
            <a:srgbClr val="E6DFEB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94" b="1" dirty="0" smtClean="0">
                <a:solidFill>
                  <a:schemeClr val="tx1"/>
                </a:solidFill>
              </a:rPr>
              <a:t>OMS</a:t>
            </a:r>
            <a:endParaRPr lang="ko-KR" altLang="en-US" sz="894" b="1" dirty="0">
              <a:solidFill>
                <a:schemeClr val="tx1"/>
              </a:solidFill>
            </a:endParaRPr>
          </a:p>
        </p:txBody>
      </p:sp>
      <p:sp>
        <p:nvSpPr>
          <p:cNvPr id="68" name="object 22"/>
          <p:cNvSpPr/>
          <p:nvPr/>
        </p:nvSpPr>
        <p:spPr>
          <a:xfrm>
            <a:off x="1318117" y="1766187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출고요청서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69" name="object 22"/>
          <p:cNvSpPr/>
          <p:nvPr/>
        </p:nvSpPr>
        <p:spPr>
          <a:xfrm>
            <a:off x="3535373" y="1766187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출고지시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en-US" altLang="ko-KR" sz="650" b="1" dirty="0" smtClean="0">
                <a:latin typeface="+mn-ea"/>
              </a:rPr>
              <a:t>(</a:t>
            </a:r>
            <a:r>
              <a:rPr lang="ko-KR" altLang="en-US" sz="650" b="1" dirty="0" smtClean="0">
                <a:latin typeface="+mn-ea"/>
              </a:rPr>
              <a:t>예정정보</a:t>
            </a:r>
            <a:r>
              <a:rPr lang="en-US" altLang="ko-KR" sz="650" b="1" dirty="0" smtClean="0">
                <a:latin typeface="+mn-ea"/>
              </a:rPr>
              <a:t>)</a:t>
            </a:r>
            <a:r>
              <a:rPr lang="ko-KR" altLang="en-US" sz="650" b="1" dirty="0" smtClean="0">
                <a:latin typeface="+mn-ea"/>
              </a:rPr>
              <a:t> 수신</a:t>
            </a:r>
            <a:endParaRPr sz="650" b="1" dirty="0">
              <a:latin typeface="+mn-ea"/>
            </a:endParaRPr>
          </a:p>
        </p:txBody>
      </p:sp>
      <p:sp>
        <p:nvSpPr>
          <p:cNvPr id="70" name="object 22"/>
          <p:cNvSpPr/>
          <p:nvPr/>
        </p:nvSpPr>
        <p:spPr>
          <a:xfrm>
            <a:off x="5746558" y="1766187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(3-1</a:t>
            </a:r>
            <a:r>
              <a:rPr lang="en-US" altLang="ko-KR" sz="650" b="1" dirty="0">
                <a:latin typeface="+mn-ea"/>
              </a:rPr>
              <a:t>) </a:t>
            </a:r>
            <a:r>
              <a:rPr lang="ko-KR" altLang="en-US" sz="650" b="1" dirty="0" smtClean="0">
                <a:latin typeface="+mn-ea"/>
              </a:rPr>
              <a:t>출고 예정 정보</a:t>
            </a:r>
            <a:endParaRPr sz="650" b="1" dirty="0">
              <a:latin typeface="+mn-ea"/>
            </a:endParaRPr>
          </a:p>
        </p:txBody>
      </p:sp>
      <p:cxnSp>
        <p:nvCxnSpPr>
          <p:cNvPr id="71" name="직선 화살표 연결선 70"/>
          <p:cNvCxnSpPr/>
          <p:nvPr/>
        </p:nvCxnSpPr>
        <p:spPr>
          <a:xfrm>
            <a:off x="2310945" y="1859073"/>
            <a:ext cx="12313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4440141" y="1862461"/>
            <a:ext cx="13146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47285" y="1708750"/>
            <a:ext cx="5256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>
                <a:latin typeface="+mn-ea"/>
              </a:rPr>
              <a:t>업체 </a:t>
            </a:r>
            <a:endParaRPr lang="en-US" altLang="ko-KR" sz="600" dirty="0" smtClean="0">
              <a:latin typeface="+mn-ea"/>
            </a:endParaRPr>
          </a:p>
          <a:p>
            <a:r>
              <a:rPr lang="ko-KR" altLang="en-US" sz="600" dirty="0" smtClean="0">
                <a:latin typeface="+mn-ea"/>
              </a:rPr>
              <a:t>출고</a:t>
            </a:r>
            <a:endParaRPr lang="ko-KR" altLang="en-US" sz="600" dirty="0">
              <a:latin typeface="+mn-ea"/>
            </a:endParaRPr>
          </a:p>
        </p:txBody>
      </p:sp>
      <p:sp>
        <p:nvSpPr>
          <p:cNvPr id="75" name="object 22"/>
          <p:cNvSpPr/>
          <p:nvPr/>
        </p:nvSpPr>
        <p:spPr>
          <a:xfrm>
            <a:off x="5747525" y="2270071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(3-2) </a:t>
            </a:r>
            <a:r>
              <a:rPr lang="ko-KR" altLang="en-US" sz="650" b="1" dirty="0" err="1" smtClean="0">
                <a:latin typeface="+mn-ea"/>
              </a:rPr>
              <a:t>피킹</a:t>
            </a:r>
            <a:r>
              <a:rPr lang="ko-KR" altLang="en-US" sz="650" b="1" dirty="0" smtClean="0">
                <a:latin typeface="+mn-ea"/>
              </a:rPr>
              <a:t>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패킹</a:t>
            </a:r>
            <a:endParaRPr sz="650" b="1" dirty="0">
              <a:latin typeface="+mn-ea"/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6192485" y="1971126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object 22"/>
          <p:cNvSpPr/>
          <p:nvPr/>
        </p:nvSpPr>
        <p:spPr>
          <a:xfrm>
            <a:off x="5755367" y="278003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(3-3)</a:t>
            </a:r>
            <a:r>
              <a:rPr lang="ko-KR" altLang="en-US" sz="650" b="1" dirty="0" smtClean="0">
                <a:latin typeface="+mn-ea"/>
              </a:rPr>
              <a:t>출고확정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송장발행</a:t>
            </a:r>
            <a:endParaRPr sz="650" b="1" dirty="0">
              <a:latin typeface="+mn-ea"/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6189099" y="2475737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object 22"/>
          <p:cNvSpPr/>
          <p:nvPr/>
        </p:nvSpPr>
        <p:spPr>
          <a:xfrm>
            <a:off x="3549395" y="277393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(2-2) </a:t>
            </a:r>
            <a:r>
              <a:rPr lang="ko-KR" altLang="en-US" sz="650" b="1" dirty="0" smtClean="0">
                <a:latin typeface="+mn-ea"/>
              </a:rPr>
              <a:t>출고실적 송신</a:t>
            </a:r>
            <a:endParaRPr sz="650" b="1" dirty="0">
              <a:latin typeface="+mn-ea"/>
            </a:endParaRPr>
          </a:p>
        </p:txBody>
      </p:sp>
      <p:sp>
        <p:nvSpPr>
          <p:cNvPr id="83" name="순서도: 자기 디스크 82"/>
          <p:cNvSpPr/>
          <p:nvPr/>
        </p:nvSpPr>
        <p:spPr>
          <a:xfrm>
            <a:off x="1724977" y="2145917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85" name="순서도: 자기 디스크 84"/>
          <p:cNvSpPr/>
          <p:nvPr/>
        </p:nvSpPr>
        <p:spPr>
          <a:xfrm>
            <a:off x="1724977" y="2439166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 </a:t>
            </a:r>
            <a:r>
              <a:rPr lang="en-US" altLang="ko-KR" sz="500" b="1" dirty="0" smtClean="0">
                <a:solidFill>
                  <a:schemeClr val="tx1"/>
                </a:solidFill>
              </a:rPr>
              <a:t>/ </a:t>
            </a:r>
          </a:p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매장재고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86" name="순서도: 자기 디스크 85"/>
          <p:cNvSpPr/>
          <p:nvPr/>
        </p:nvSpPr>
        <p:spPr>
          <a:xfrm>
            <a:off x="1730057" y="2730836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거래명세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1337361" y="2099297"/>
            <a:ext cx="932078" cy="921556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1217149" y="2184382"/>
            <a:ext cx="430887" cy="598021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실적 반영</a:t>
            </a:r>
            <a:endParaRPr lang="ko-KR" altLang="en-US" sz="800" b="1" dirty="0"/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5461443" y="2878142"/>
            <a:ext cx="2736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 flipH="1">
            <a:off x="2263456" y="2874759"/>
            <a:ext cx="12753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V="1">
            <a:off x="737392" y="3072755"/>
            <a:ext cx="6602372" cy="972"/>
          </a:xfrm>
          <a:prstGeom prst="line">
            <a:avLst/>
          </a:prstGeom>
          <a:ln w="12700">
            <a:solidFill>
              <a:schemeClr val="bg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48799" y="3099716"/>
            <a:ext cx="525074" cy="2774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>
                <a:latin typeface="+mn-ea"/>
              </a:rPr>
              <a:t>이관</a:t>
            </a:r>
            <a:endParaRPr lang="en-US" altLang="ko-KR" sz="600" dirty="0" smtClean="0">
              <a:latin typeface="+mn-ea"/>
            </a:endParaRPr>
          </a:p>
          <a:p>
            <a:r>
              <a:rPr lang="ko-KR" altLang="en-US" sz="600" dirty="0" smtClean="0">
                <a:latin typeface="+mn-ea"/>
              </a:rPr>
              <a:t>입출고</a:t>
            </a:r>
            <a:endParaRPr lang="ko-KR" altLang="en-US" sz="600" dirty="0">
              <a:latin typeface="+mn-ea"/>
            </a:endParaRPr>
          </a:p>
        </p:txBody>
      </p:sp>
      <p:sp>
        <p:nvSpPr>
          <p:cNvPr id="101" name="object 22"/>
          <p:cNvSpPr/>
          <p:nvPr/>
        </p:nvSpPr>
        <p:spPr>
          <a:xfrm>
            <a:off x="1318116" y="3213993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출고요청서</a:t>
            </a:r>
            <a:r>
              <a:rPr lang="en-US" altLang="ko-KR" sz="650" b="1" dirty="0" smtClean="0">
                <a:latin typeface="+mn-ea"/>
              </a:rPr>
              <a:t>(WMS)</a:t>
            </a:r>
            <a:endParaRPr sz="650" b="1" dirty="0">
              <a:latin typeface="+mn-ea"/>
            </a:endParaRPr>
          </a:p>
        </p:txBody>
      </p:sp>
      <p:sp>
        <p:nvSpPr>
          <p:cNvPr id="103" name="object 22"/>
          <p:cNvSpPr/>
          <p:nvPr/>
        </p:nvSpPr>
        <p:spPr>
          <a:xfrm>
            <a:off x="3543064" y="322252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(2-3) </a:t>
            </a:r>
            <a:r>
              <a:rPr lang="ko-KR" altLang="en-US" sz="650" b="1" dirty="0" smtClean="0">
                <a:latin typeface="+mn-ea"/>
              </a:rPr>
              <a:t>출고 지시 등록</a:t>
            </a:r>
            <a:endParaRPr lang="en-US" altLang="ko-KR" sz="650" b="1" dirty="0" smtClean="0">
              <a:latin typeface="+mn-ea"/>
            </a:endParaRPr>
          </a:p>
          <a:p>
            <a:pPr algn="ctr"/>
            <a:r>
              <a:rPr lang="ko-KR" altLang="en-US" sz="650" b="1" dirty="0" smtClean="0">
                <a:latin typeface="+mn-ea"/>
              </a:rPr>
              <a:t>센터 이관 주문</a:t>
            </a:r>
            <a:endParaRPr sz="650" b="1" dirty="0">
              <a:latin typeface="+mn-ea"/>
            </a:endParaRPr>
          </a:p>
        </p:txBody>
      </p:sp>
      <p:sp>
        <p:nvSpPr>
          <p:cNvPr id="106" name="object 22"/>
          <p:cNvSpPr/>
          <p:nvPr/>
        </p:nvSpPr>
        <p:spPr>
          <a:xfrm>
            <a:off x="5746554" y="3219436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(3-4) </a:t>
            </a:r>
            <a:r>
              <a:rPr lang="ko-KR" altLang="en-US" sz="650" b="1" dirty="0" smtClean="0">
                <a:latin typeface="+mn-ea"/>
              </a:rPr>
              <a:t>입고 예정 </a:t>
            </a:r>
            <a:r>
              <a:rPr lang="en-US" altLang="ko-KR" sz="650" b="1" dirty="0" smtClean="0">
                <a:latin typeface="+mn-ea"/>
              </a:rPr>
              <a:t>WMS</a:t>
            </a:r>
            <a:endParaRPr sz="650" b="1" dirty="0">
              <a:latin typeface="+mn-ea"/>
            </a:endParaRPr>
          </a:p>
        </p:txBody>
      </p:sp>
      <p:sp>
        <p:nvSpPr>
          <p:cNvPr id="107" name="object 22"/>
          <p:cNvSpPr/>
          <p:nvPr/>
        </p:nvSpPr>
        <p:spPr>
          <a:xfrm>
            <a:off x="5755366" y="3733225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(3-5) </a:t>
            </a:r>
            <a:r>
              <a:rPr lang="ko-KR" altLang="en-US" sz="650" b="1" dirty="0" smtClean="0">
                <a:latin typeface="+mn-ea"/>
              </a:rPr>
              <a:t>입고확정 </a:t>
            </a:r>
            <a:r>
              <a:rPr lang="en-US" altLang="ko-KR" sz="650" b="1" dirty="0" smtClean="0">
                <a:latin typeface="+mn-ea"/>
              </a:rPr>
              <a:t>/ </a:t>
            </a:r>
            <a:r>
              <a:rPr lang="ko-KR" altLang="en-US" sz="650" b="1" dirty="0" smtClean="0">
                <a:latin typeface="+mn-ea"/>
              </a:rPr>
              <a:t>마감</a:t>
            </a:r>
            <a:endParaRPr sz="650" b="1" dirty="0">
              <a:latin typeface="+mn-ea"/>
            </a:endParaRPr>
          </a:p>
        </p:txBody>
      </p:sp>
      <p:cxnSp>
        <p:nvCxnSpPr>
          <p:cNvPr id="108" name="직선 화살표 연결선 107"/>
          <p:cNvCxnSpPr/>
          <p:nvPr/>
        </p:nvCxnSpPr>
        <p:spPr>
          <a:xfrm>
            <a:off x="6187039" y="3429820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9" name="object 22"/>
          <p:cNvSpPr/>
          <p:nvPr/>
        </p:nvSpPr>
        <p:spPr>
          <a:xfrm>
            <a:off x="3539433" y="3644239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(2-4) </a:t>
            </a:r>
            <a:r>
              <a:rPr lang="ko-KR" altLang="en-US" sz="650" b="1" dirty="0">
                <a:latin typeface="+mn-ea"/>
              </a:rPr>
              <a:t>입</a:t>
            </a:r>
            <a:r>
              <a:rPr lang="ko-KR" altLang="en-US" sz="650" b="1" dirty="0" smtClean="0">
                <a:latin typeface="+mn-ea"/>
              </a:rPr>
              <a:t>고 예정</a:t>
            </a:r>
            <a:r>
              <a:rPr lang="en-US" altLang="ko-KR" sz="650" b="1" dirty="0" smtClean="0">
                <a:latin typeface="+mn-ea"/>
              </a:rPr>
              <a:t>(OMS)</a:t>
            </a:r>
            <a:r>
              <a:rPr lang="ko-KR" altLang="en-US" sz="650" b="1" dirty="0" smtClean="0">
                <a:latin typeface="+mn-ea"/>
              </a:rPr>
              <a:t> </a:t>
            </a:r>
            <a:endParaRPr sz="650" b="1" dirty="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32126" y="3043387"/>
            <a:ext cx="451370" cy="167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CASE1</a:t>
            </a:r>
            <a:endParaRPr lang="ko-KR" altLang="en-US" sz="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441937" y="3054271"/>
            <a:ext cx="45137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CASE2</a:t>
            </a:r>
            <a:endParaRPr lang="ko-KR" altLang="en-US" sz="6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2289437" y="3300833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3519528" y="1842136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4417609" y="1842139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27" name="꺾인 연결선 126"/>
          <p:cNvCxnSpPr/>
          <p:nvPr/>
        </p:nvCxnSpPr>
        <p:spPr>
          <a:xfrm flipV="1">
            <a:off x="2320141" y="1860536"/>
            <a:ext cx="1215887" cy="144667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6" name="타원 145"/>
          <p:cNvSpPr/>
          <p:nvPr/>
        </p:nvSpPr>
        <p:spPr>
          <a:xfrm>
            <a:off x="3525624" y="3311272"/>
            <a:ext cx="37147" cy="37147"/>
          </a:xfrm>
          <a:prstGeom prst="ellipse">
            <a:avLst/>
          </a:pr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ko-KR" altLang="en-US" sz="650" b="1" dirty="0">
              <a:latin typeface="+mn-ea"/>
            </a:endParaRPr>
          </a:p>
        </p:txBody>
      </p:sp>
      <p:cxnSp>
        <p:nvCxnSpPr>
          <p:cNvPr id="129" name="꺾인 연결선 128"/>
          <p:cNvCxnSpPr/>
          <p:nvPr/>
        </p:nvCxnSpPr>
        <p:spPr>
          <a:xfrm rot="5400000" flipH="1">
            <a:off x="2780314" y="2585244"/>
            <a:ext cx="1495403" cy="7876"/>
          </a:xfrm>
          <a:prstGeom prst="bentConnector5">
            <a:avLst>
              <a:gd name="adj1" fmla="val 611"/>
              <a:gd name="adj2" fmla="val 3939239"/>
              <a:gd name="adj3" fmla="val 98981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순서도: 판단 151"/>
          <p:cNvSpPr/>
          <p:nvPr/>
        </p:nvSpPr>
        <p:spPr>
          <a:xfrm>
            <a:off x="4741232" y="2690933"/>
            <a:ext cx="720399" cy="384428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50" b="1" dirty="0" smtClean="0">
                <a:solidFill>
                  <a:schemeClr val="tx1"/>
                </a:solidFill>
                <a:latin typeface="+mn-ea"/>
              </a:rPr>
              <a:t>이관출고</a:t>
            </a:r>
            <a:endParaRPr lang="ko-KR" altLang="en-US" sz="65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H="1">
            <a:off x="4441905" y="2878142"/>
            <a:ext cx="3132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7" name="꺾인 연결선 136"/>
          <p:cNvCxnSpPr/>
          <p:nvPr/>
        </p:nvCxnSpPr>
        <p:spPr>
          <a:xfrm rot="5400000">
            <a:off x="4424299" y="3068866"/>
            <a:ext cx="669365" cy="65994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4466555" y="2672771"/>
            <a:ext cx="285324" cy="179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 smtClean="0"/>
              <a:t>NO</a:t>
            </a:r>
            <a:endParaRPr lang="ko-KR" altLang="en-US" sz="650" b="1" dirty="0"/>
          </a:p>
        </p:txBody>
      </p:sp>
      <p:sp>
        <p:nvSpPr>
          <p:cNvPr id="157" name="TextBox 156"/>
          <p:cNvSpPr txBox="1"/>
          <p:nvPr/>
        </p:nvSpPr>
        <p:spPr>
          <a:xfrm>
            <a:off x="5067985" y="3125810"/>
            <a:ext cx="313856" cy="166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69" b="1" dirty="0" smtClean="0"/>
              <a:t>YES</a:t>
            </a:r>
            <a:endParaRPr lang="ko-KR" altLang="en-US" sz="650" b="1" dirty="0"/>
          </a:p>
        </p:txBody>
      </p:sp>
      <p:cxnSp>
        <p:nvCxnSpPr>
          <p:cNvPr id="142" name="꺾인 연결선 141"/>
          <p:cNvCxnSpPr/>
          <p:nvPr/>
        </p:nvCxnSpPr>
        <p:spPr>
          <a:xfrm flipV="1">
            <a:off x="4454363" y="3325536"/>
            <a:ext cx="1288224" cy="405368"/>
          </a:xfrm>
          <a:prstGeom prst="bentConnector3">
            <a:avLst>
              <a:gd name="adj1" fmla="val 69875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1" name="object 22"/>
          <p:cNvSpPr/>
          <p:nvPr/>
        </p:nvSpPr>
        <p:spPr>
          <a:xfrm>
            <a:off x="3527241" y="4095343"/>
            <a:ext cx="902677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(2-5) </a:t>
            </a:r>
            <a:r>
              <a:rPr lang="ko-KR" altLang="en-US" sz="650" b="1" dirty="0" smtClean="0">
                <a:latin typeface="+mn-ea"/>
              </a:rPr>
              <a:t>입</a:t>
            </a:r>
            <a:r>
              <a:rPr lang="en-US" altLang="ko-KR" sz="650" b="1" dirty="0" smtClean="0">
                <a:latin typeface="+mn-ea"/>
              </a:rPr>
              <a:t>/</a:t>
            </a:r>
            <a:r>
              <a:rPr lang="ko-KR" altLang="en-US" sz="650" b="1" dirty="0" smtClean="0">
                <a:latin typeface="+mn-ea"/>
              </a:rPr>
              <a:t>출</a:t>
            </a:r>
            <a:r>
              <a:rPr lang="ko-KR" altLang="en-US" sz="650" b="1" dirty="0" smtClean="0">
                <a:latin typeface="+mn-ea"/>
              </a:rPr>
              <a:t>고 </a:t>
            </a:r>
            <a:r>
              <a:rPr lang="ko-KR" altLang="en-US" sz="650" b="1" dirty="0" smtClean="0">
                <a:latin typeface="+mn-ea"/>
              </a:rPr>
              <a:t>실적 </a:t>
            </a:r>
            <a:r>
              <a:rPr lang="en-US" altLang="ko-KR" sz="650" b="1" dirty="0" smtClean="0">
                <a:latin typeface="+mn-ea"/>
              </a:rPr>
              <a:t>I/F</a:t>
            </a:r>
            <a:endParaRPr sz="650" b="1" dirty="0">
              <a:latin typeface="+mn-ea"/>
            </a:endParaRPr>
          </a:p>
        </p:txBody>
      </p:sp>
      <p:cxnSp>
        <p:nvCxnSpPr>
          <p:cNvPr id="145" name="꺾인 연결선 144"/>
          <p:cNvCxnSpPr/>
          <p:nvPr/>
        </p:nvCxnSpPr>
        <p:spPr>
          <a:xfrm rot="10800000" flipV="1">
            <a:off x="4417609" y="3954327"/>
            <a:ext cx="1769430" cy="234153"/>
          </a:xfrm>
          <a:prstGeom prst="bentConnector3">
            <a:avLst>
              <a:gd name="adj1" fmla="val -64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5" name="모서리가 둥근 직사각형 164"/>
          <p:cNvSpPr/>
          <p:nvPr/>
        </p:nvSpPr>
        <p:spPr>
          <a:xfrm>
            <a:off x="1355649" y="3613507"/>
            <a:ext cx="932078" cy="72160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순서도: 자기 디스크 166"/>
          <p:cNvSpPr/>
          <p:nvPr/>
        </p:nvSpPr>
        <p:spPr>
          <a:xfrm>
            <a:off x="1724977" y="3694301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69" name="순서도: 자기 디스크 168"/>
          <p:cNvSpPr/>
          <p:nvPr/>
        </p:nvSpPr>
        <p:spPr>
          <a:xfrm>
            <a:off x="1724977" y="3987550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1217149" y="3690094"/>
            <a:ext cx="430887" cy="598021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실적 반영</a:t>
            </a:r>
            <a:endParaRPr lang="ko-KR" altLang="en-US" sz="800" b="1" dirty="0"/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2287727" y="4188481"/>
            <a:ext cx="12395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4469079" y="3718712"/>
            <a:ext cx="119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>
                <a:latin typeface="+mn-ea"/>
              </a:rPr>
              <a:t>* </a:t>
            </a:r>
            <a:r>
              <a:rPr lang="ko-KR" altLang="en-US" sz="600" dirty="0" smtClean="0">
                <a:latin typeface="+mn-ea"/>
              </a:rPr>
              <a:t>이관 출고 확정 시</a:t>
            </a:r>
            <a:endParaRPr lang="en-US" altLang="ko-KR" sz="600" dirty="0" smtClean="0">
              <a:latin typeface="+mn-ea"/>
            </a:endParaRPr>
          </a:p>
          <a:p>
            <a:r>
              <a:rPr lang="ko-KR" altLang="en-US" sz="600" dirty="0" smtClean="0">
                <a:latin typeface="+mn-ea"/>
              </a:rPr>
              <a:t>자동으로 </a:t>
            </a:r>
            <a:r>
              <a:rPr lang="en-US" altLang="ko-KR" sz="600" dirty="0" smtClean="0">
                <a:latin typeface="+mn-ea"/>
              </a:rPr>
              <a:t>OMS</a:t>
            </a:r>
            <a:r>
              <a:rPr lang="ko-KR" altLang="en-US" sz="600" dirty="0" smtClean="0">
                <a:latin typeface="+mn-ea"/>
              </a:rPr>
              <a:t>에 이관입고 예정정보 생성</a:t>
            </a:r>
            <a:endParaRPr lang="ko-KR" altLang="en-US" sz="600" dirty="0">
              <a:latin typeface="+mn-ea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310147" y="3478455"/>
            <a:ext cx="1200630" cy="192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수불 </a:t>
            </a:r>
            <a:r>
              <a:rPr lang="ko-KR" altLang="en-US" sz="650" b="1" dirty="0"/>
              <a:t>실적 반영 </a:t>
            </a:r>
            <a:r>
              <a:rPr lang="en-US" altLang="ko-KR" sz="650" b="1" dirty="0" smtClean="0"/>
              <a:t>CASE </a:t>
            </a:r>
            <a:r>
              <a:rPr lang="ko-KR" altLang="en-US" sz="650" b="1" dirty="0" smtClean="0"/>
              <a:t>확인</a:t>
            </a:r>
            <a:endParaRPr lang="en-US" altLang="ko-KR" sz="650" b="1" dirty="0"/>
          </a:p>
        </p:txBody>
      </p:sp>
      <p:cxnSp>
        <p:nvCxnSpPr>
          <p:cNvPr id="175" name="직선 연결선 174"/>
          <p:cNvCxnSpPr/>
          <p:nvPr/>
        </p:nvCxnSpPr>
        <p:spPr>
          <a:xfrm flipV="1">
            <a:off x="743488" y="4389491"/>
            <a:ext cx="6602372" cy="972"/>
          </a:xfrm>
          <a:prstGeom prst="line">
            <a:avLst/>
          </a:prstGeom>
          <a:ln w="12700">
            <a:solidFill>
              <a:schemeClr val="bg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748799" y="4422548"/>
            <a:ext cx="52507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600" dirty="0" smtClean="0">
                <a:latin typeface="+mn-ea"/>
              </a:rPr>
              <a:t>자가소모출고</a:t>
            </a:r>
            <a:endParaRPr lang="ko-KR" altLang="en-US" sz="600" dirty="0">
              <a:latin typeface="+mn-ea"/>
            </a:endParaRPr>
          </a:p>
        </p:txBody>
      </p:sp>
      <p:sp>
        <p:nvSpPr>
          <p:cNvPr id="178" name="object 22"/>
          <p:cNvSpPr/>
          <p:nvPr/>
        </p:nvSpPr>
        <p:spPr>
          <a:xfrm>
            <a:off x="1318116" y="4478801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(1-1) </a:t>
            </a:r>
            <a:r>
              <a:rPr lang="ko-KR" altLang="en-US" sz="650" b="1" dirty="0" smtClean="0">
                <a:latin typeface="+mn-ea"/>
              </a:rPr>
              <a:t>자가소모출고등록</a:t>
            </a:r>
            <a:endParaRPr sz="650" b="1" dirty="0">
              <a:latin typeface="+mn-ea"/>
            </a:endParaRPr>
          </a:p>
        </p:txBody>
      </p:sp>
      <p:sp>
        <p:nvSpPr>
          <p:cNvPr id="179" name="object 22"/>
          <p:cNvSpPr/>
          <p:nvPr/>
        </p:nvSpPr>
        <p:spPr>
          <a:xfrm>
            <a:off x="1310147" y="4999456"/>
            <a:ext cx="993600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>
                <a:latin typeface="+mn-ea"/>
              </a:rPr>
              <a:t>(1-2)G/W </a:t>
            </a:r>
            <a:r>
              <a:rPr lang="ko-KR" altLang="en-US" sz="650" b="1" dirty="0">
                <a:latin typeface="+mn-ea"/>
              </a:rPr>
              <a:t>전자결재 상신</a:t>
            </a:r>
            <a:endParaRPr sz="650" b="1" dirty="0">
              <a:latin typeface="+mn-ea"/>
            </a:endParaRPr>
          </a:p>
        </p:txBody>
      </p:sp>
      <p:cxnSp>
        <p:nvCxnSpPr>
          <p:cNvPr id="181" name="직선 화살표 연결선 180"/>
          <p:cNvCxnSpPr/>
          <p:nvPr/>
        </p:nvCxnSpPr>
        <p:spPr>
          <a:xfrm>
            <a:off x="1809461" y="469603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꺾인 연결선 185"/>
          <p:cNvCxnSpPr/>
          <p:nvPr/>
        </p:nvCxnSpPr>
        <p:spPr>
          <a:xfrm flipV="1">
            <a:off x="2314045" y="1860390"/>
            <a:ext cx="1215887" cy="322700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8" name="object 22"/>
          <p:cNvSpPr/>
          <p:nvPr/>
        </p:nvSpPr>
        <p:spPr>
          <a:xfrm>
            <a:off x="1318116" y="5521217"/>
            <a:ext cx="992945" cy="213082"/>
          </a:xfrm>
          <a:custGeom>
            <a:avLst/>
            <a:gdLst/>
            <a:ahLst/>
            <a:cxnLst/>
            <a:rect l="l" t="t" r="r" b="b"/>
            <a:pathLst>
              <a:path w="1344295" h="262255">
                <a:moveTo>
                  <a:pt x="1344168" y="0"/>
                </a:moveTo>
                <a:lnTo>
                  <a:pt x="0" y="0"/>
                </a:lnTo>
                <a:lnTo>
                  <a:pt x="0" y="262127"/>
                </a:lnTo>
                <a:lnTo>
                  <a:pt x="1344168" y="262127"/>
                </a:lnTo>
                <a:lnTo>
                  <a:pt x="1344168" y="0"/>
                </a:lnTo>
                <a:close/>
              </a:path>
            </a:pathLst>
          </a:custGeom>
          <a:solidFill>
            <a:srgbClr val="DCE6F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650" b="1" dirty="0" smtClean="0">
                <a:latin typeface="+mn-ea"/>
              </a:rPr>
              <a:t>(1-3) </a:t>
            </a:r>
            <a:r>
              <a:rPr lang="ko-KR" altLang="en-US" sz="650" b="1" dirty="0" smtClean="0">
                <a:latin typeface="+mn-ea"/>
              </a:rPr>
              <a:t>자가소모출고확정</a:t>
            </a:r>
            <a:endParaRPr sz="650" b="1" dirty="0">
              <a:latin typeface="+mn-ea"/>
            </a:endParaRPr>
          </a:p>
        </p:txBody>
      </p:sp>
      <p:cxnSp>
        <p:nvCxnSpPr>
          <p:cNvPr id="189" name="직선 화살표 연결선 188"/>
          <p:cNvCxnSpPr/>
          <p:nvPr/>
        </p:nvCxnSpPr>
        <p:spPr>
          <a:xfrm>
            <a:off x="1809461" y="5214198"/>
            <a:ext cx="0" cy="292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모서리가 둥근 직사각형 193"/>
          <p:cNvSpPr/>
          <p:nvPr/>
        </p:nvSpPr>
        <p:spPr>
          <a:xfrm>
            <a:off x="2410246" y="5259427"/>
            <a:ext cx="785796" cy="721608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순서도: 자기 디스크 194"/>
          <p:cNvSpPr/>
          <p:nvPr/>
        </p:nvSpPr>
        <p:spPr>
          <a:xfrm>
            <a:off x="2724721" y="5340221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창고수불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96" name="순서도: 자기 디스크 195"/>
          <p:cNvSpPr/>
          <p:nvPr/>
        </p:nvSpPr>
        <p:spPr>
          <a:xfrm>
            <a:off x="2724721" y="5633470"/>
            <a:ext cx="440826" cy="26214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 smtClean="0">
                <a:solidFill>
                  <a:schemeClr val="tx1"/>
                </a:solidFill>
              </a:rPr>
              <a:t>창고재고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425411" y="5336014"/>
            <a:ext cx="221114" cy="598021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vert="eaVert" wrap="square" rtlCol="0">
            <a:spAutoFit/>
          </a:bodyPr>
          <a:lstStyle/>
          <a:p>
            <a:r>
              <a:rPr lang="ko-KR" altLang="en-US" sz="800" b="1" dirty="0" smtClean="0"/>
              <a:t>실적 반영</a:t>
            </a:r>
            <a:endParaRPr lang="ko-KR" altLang="en-US" sz="800" b="1" dirty="0"/>
          </a:p>
        </p:txBody>
      </p:sp>
      <p:cxnSp>
        <p:nvCxnSpPr>
          <p:cNvPr id="154" name="꺾인 연결선 153"/>
          <p:cNvCxnSpPr>
            <a:endCxn id="194" idx="0"/>
          </p:cNvCxnSpPr>
          <p:nvPr/>
        </p:nvCxnSpPr>
        <p:spPr>
          <a:xfrm rot="5400000">
            <a:off x="1895546" y="3782358"/>
            <a:ext cx="2384667" cy="5694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3071601" y="4465214"/>
            <a:ext cx="1091482" cy="5924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650" b="1" dirty="0"/>
              <a:t>▶ </a:t>
            </a:r>
            <a:r>
              <a:rPr lang="ko-KR" altLang="en-US" sz="650" b="1" dirty="0" smtClean="0"/>
              <a:t>매장</a:t>
            </a:r>
            <a:r>
              <a:rPr lang="en-US" altLang="ko-KR" sz="650" b="1" dirty="0" smtClean="0"/>
              <a:t>/</a:t>
            </a:r>
            <a:r>
              <a:rPr lang="ko-KR" altLang="en-US" sz="650" b="1" dirty="0" smtClean="0"/>
              <a:t>온라인 </a:t>
            </a:r>
            <a:endParaRPr lang="en-US" altLang="ko-KR" sz="650" b="1" dirty="0" smtClean="0"/>
          </a:p>
          <a:p>
            <a:endParaRPr lang="en-US" altLang="ko-KR" sz="650" b="1" dirty="0" smtClean="0"/>
          </a:p>
          <a:p>
            <a:r>
              <a:rPr lang="en-US" altLang="ko-KR" sz="650" b="1" dirty="0"/>
              <a:t> </a:t>
            </a:r>
            <a:r>
              <a:rPr lang="ko-KR" altLang="en-US" sz="650" b="1" dirty="0" smtClean="0"/>
              <a:t>자가소모 처리 시 창고</a:t>
            </a:r>
            <a:r>
              <a:rPr lang="en-US" altLang="ko-KR" sz="650" b="1" dirty="0" smtClean="0"/>
              <a:t>(</a:t>
            </a:r>
            <a:r>
              <a:rPr lang="ko-KR" altLang="en-US" sz="650" b="1" dirty="0" smtClean="0"/>
              <a:t>물류센터</a:t>
            </a:r>
            <a:r>
              <a:rPr lang="en-US" altLang="ko-KR" sz="650" b="1" dirty="0" smtClean="0"/>
              <a:t>) </a:t>
            </a:r>
            <a:r>
              <a:rPr lang="ko-KR" altLang="en-US" sz="650" b="1" dirty="0" smtClean="0"/>
              <a:t>로 </a:t>
            </a:r>
            <a:endParaRPr lang="en-US" altLang="ko-KR" sz="650" b="1" dirty="0" smtClean="0"/>
          </a:p>
          <a:p>
            <a:r>
              <a:rPr lang="ko-KR" altLang="en-US" sz="650" b="1" dirty="0" smtClean="0"/>
              <a:t>선 이동 처리 </a:t>
            </a:r>
            <a:r>
              <a:rPr lang="en-US" altLang="ko-KR" sz="650" b="1" dirty="0"/>
              <a:t> </a:t>
            </a:r>
            <a:r>
              <a:rPr lang="ko-KR" altLang="en-US" sz="650" b="1" dirty="0" smtClean="0"/>
              <a:t>필요</a:t>
            </a:r>
            <a:endParaRPr lang="en-US" altLang="ko-KR" sz="650" b="1" dirty="0"/>
          </a:p>
        </p:txBody>
      </p:sp>
      <p:sp>
        <p:nvSpPr>
          <p:cNvPr id="199" name="폭발 1 198"/>
          <p:cNvSpPr/>
          <p:nvPr/>
        </p:nvSpPr>
        <p:spPr>
          <a:xfrm>
            <a:off x="2921292" y="4234855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0" name="폭발 1 199"/>
          <p:cNvSpPr/>
          <p:nvPr/>
        </p:nvSpPr>
        <p:spPr>
          <a:xfrm>
            <a:off x="903516" y="3448471"/>
            <a:ext cx="480222" cy="314214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650" b="1" dirty="0">
                <a:solidFill>
                  <a:srgbClr val="FF0000"/>
                </a:solidFill>
                <a:latin typeface="+mn-ea"/>
              </a:rPr>
              <a:t>ISSUE!!</a:t>
            </a:r>
            <a:endParaRPr lang="ko-KR" altLang="en-US" sz="65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5228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537" y="413269"/>
            <a:ext cx="5155427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b="1" dirty="0"/>
              <a:t>□ </a:t>
            </a:r>
            <a:r>
              <a:rPr lang="ko-KR" altLang="en-US" sz="1138" b="1" dirty="0" smtClean="0"/>
              <a:t>출고 유형</a:t>
            </a:r>
            <a:endParaRPr lang="ko-KR" altLang="en-US" sz="1138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140147" y="706913"/>
            <a:ext cx="1640951" cy="58468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813" dirty="0">
                <a:latin typeface="+mn-ea"/>
              </a:rPr>
              <a:t>□ 출고 지시는 </a:t>
            </a:r>
            <a:r>
              <a:rPr lang="en-US" altLang="ko-KR" sz="813" dirty="0">
                <a:latin typeface="+mn-ea"/>
              </a:rPr>
              <a:t>F/A – ONE </a:t>
            </a:r>
            <a:r>
              <a:rPr lang="ko-KR" altLang="en-US" sz="813" dirty="0">
                <a:latin typeface="+mn-ea"/>
              </a:rPr>
              <a:t>에서 생성되고 이관출고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 err="1">
                <a:latin typeface="+mn-ea"/>
              </a:rPr>
              <a:t>선작업의</a:t>
            </a:r>
            <a:r>
              <a:rPr lang="ko-KR" altLang="en-US" sz="813" dirty="0">
                <a:latin typeface="+mn-ea"/>
              </a:rPr>
              <a:t> 경우에만 </a:t>
            </a:r>
            <a:r>
              <a:rPr lang="en-US" altLang="ko-KR" sz="813" dirty="0">
                <a:latin typeface="+mn-ea"/>
              </a:rPr>
              <a:t>WMS</a:t>
            </a:r>
            <a:r>
              <a:rPr lang="ko-KR" altLang="en-US" sz="813" dirty="0">
                <a:latin typeface="+mn-ea"/>
              </a:rPr>
              <a:t>에서도 생성 가능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□ </a:t>
            </a:r>
            <a:r>
              <a:rPr lang="en-US" altLang="ko-KR" sz="813" dirty="0">
                <a:latin typeface="+mn-ea"/>
              </a:rPr>
              <a:t>‘</a:t>
            </a:r>
            <a:r>
              <a:rPr lang="ko-KR" altLang="en-US" sz="813" dirty="0">
                <a:latin typeface="+mn-ea"/>
              </a:rPr>
              <a:t>판매분 출고</a:t>
            </a:r>
            <a:r>
              <a:rPr lang="en-US" altLang="ko-KR" sz="813" dirty="0">
                <a:latin typeface="+mn-ea"/>
              </a:rPr>
              <a:t>’ </a:t>
            </a:r>
            <a:r>
              <a:rPr lang="ko-KR" altLang="en-US" sz="813" dirty="0">
                <a:latin typeface="+mn-ea"/>
              </a:rPr>
              <a:t>는 </a:t>
            </a:r>
            <a:r>
              <a:rPr lang="ko-KR" altLang="en-US" sz="813" dirty="0" err="1">
                <a:latin typeface="+mn-ea"/>
              </a:rPr>
              <a:t>모플</a:t>
            </a:r>
            <a:r>
              <a:rPr lang="ko-KR" altLang="en-US" sz="813" dirty="0">
                <a:latin typeface="+mn-ea"/>
              </a:rPr>
              <a:t> </a:t>
            </a:r>
            <a:r>
              <a:rPr lang="en-US" altLang="ko-KR" sz="813" dirty="0">
                <a:latin typeface="+mn-ea"/>
              </a:rPr>
              <a:t>(AI) </a:t>
            </a:r>
            <a:r>
              <a:rPr lang="ko-KR" altLang="en-US" sz="813" dirty="0">
                <a:latin typeface="+mn-ea"/>
              </a:rPr>
              <a:t>에서 생성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□ 모든 출고는 </a:t>
            </a:r>
            <a:r>
              <a:rPr lang="en-US" altLang="ko-KR" sz="813" dirty="0">
                <a:latin typeface="+mn-ea"/>
              </a:rPr>
              <a:t>WMS </a:t>
            </a:r>
            <a:r>
              <a:rPr lang="ko-KR" altLang="en-US" sz="813" dirty="0">
                <a:latin typeface="+mn-ea"/>
              </a:rPr>
              <a:t>의 실 가용수량 확인 후 가용 수량에 대해서만 출고지시 </a:t>
            </a:r>
            <a:r>
              <a:rPr lang="ko-KR" altLang="en-US" sz="813" dirty="0" smtClean="0">
                <a:latin typeface="+mn-ea"/>
              </a:rPr>
              <a:t>생성</a:t>
            </a:r>
            <a:endParaRPr lang="en-US" altLang="ko-KR" sz="813" dirty="0">
              <a:latin typeface="+mn-ea"/>
            </a:endParaRPr>
          </a:p>
          <a:p>
            <a:endParaRPr lang="en-US" altLang="ko-KR" sz="813" dirty="0" smtClean="0">
              <a:latin typeface="+mn-ea"/>
            </a:endParaRPr>
          </a:p>
          <a:p>
            <a:r>
              <a:rPr lang="ko-KR" altLang="en-US" sz="813" dirty="0" smtClean="0">
                <a:latin typeface="+mn-ea"/>
              </a:rPr>
              <a:t>□ 출고 유형</a:t>
            </a:r>
            <a:endParaRPr lang="en-US" altLang="ko-KR" sz="813" dirty="0" smtClean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매장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초도 출고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반응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판매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행사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 smtClean="0">
                <a:latin typeface="+mn-ea"/>
              </a:rPr>
              <a:t>선 작업</a:t>
            </a:r>
            <a:r>
              <a:rPr lang="en-US" altLang="ko-KR" sz="813" dirty="0">
                <a:latin typeface="+mn-ea"/>
              </a:rPr>
              <a:t>, B2C </a:t>
            </a:r>
            <a:r>
              <a:rPr lang="ko-KR" altLang="en-US" sz="813" dirty="0">
                <a:latin typeface="+mn-ea"/>
              </a:rPr>
              <a:t>행사출고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pPr marL="139303" indent="-139303">
              <a:buFontTx/>
              <a:buChar char="-"/>
            </a:pPr>
            <a:r>
              <a:rPr lang="ko-KR" altLang="en-US" sz="813" dirty="0">
                <a:latin typeface="+mn-ea"/>
              </a:rPr>
              <a:t>출고 유형과 실적은 </a:t>
            </a:r>
            <a:r>
              <a:rPr lang="ko-KR" altLang="en-US" sz="813" dirty="0" err="1">
                <a:latin typeface="+mn-ea"/>
              </a:rPr>
              <a:t>스케쥴러</a:t>
            </a:r>
            <a:r>
              <a:rPr lang="ko-KR" altLang="en-US" sz="813" dirty="0">
                <a:latin typeface="+mn-ea"/>
              </a:rPr>
              <a:t> 잡을 태 일정시간 마다 자동 생성 </a:t>
            </a:r>
            <a:r>
              <a:rPr lang="en-US" altLang="ko-KR" sz="813" dirty="0">
                <a:latin typeface="+mn-ea"/>
              </a:rPr>
              <a:t>( OMS </a:t>
            </a:r>
            <a:r>
              <a:rPr lang="ko-KR" altLang="en-US" sz="813" dirty="0">
                <a:latin typeface="+mn-ea"/>
              </a:rPr>
              <a:t>수집 </a:t>
            </a:r>
            <a:r>
              <a:rPr lang="en-US" altLang="ko-KR" sz="813" dirty="0">
                <a:latin typeface="+mn-ea"/>
              </a:rPr>
              <a:t>: 10</a:t>
            </a:r>
            <a:r>
              <a:rPr lang="ko-KR" altLang="en-US" sz="813" dirty="0">
                <a:latin typeface="+mn-ea"/>
              </a:rPr>
              <a:t>분</a:t>
            </a:r>
            <a:r>
              <a:rPr lang="en-US" altLang="ko-KR" sz="813" dirty="0">
                <a:latin typeface="+mn-ea"/>
              </a:rPr>
              <a:t>, WMS </a:t>
            </a:r>
            <a:r>
              <a:rPr lang="ko-KR" altLang="en-US" sz="813" dirty="0">
                <a:latin typeface="+mn-ea"/>
              </a:rPr>
              <a:t>수집 </a:t>
            </a:r>
            <a:r>
              <a:rPr lang="en-US" altLang="ko-KR" sz="813" dirty="0">
                <a:latin typeface="+mn-ea"/>
              </a:rPr>
              <a:t>: 1</a:t>
            </a:r>
            <a:r>
              <a:rPr lang="ko-KR" altLang="en-US" sz="813" dirty="0">
                <a:latin typeface="+mn-ea"/>
              </a:rPr>
              <a:t>분 주기 </a:t>
            </a:r>
            <a:r>
              <a:rPr lang="en-US" altLang="ko-KR" sz="813" dirty="0">
                <a:latin typeface="+mn-ea"/>
              </a:rPr>
              <a:t>)</a:t>
            </a: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업체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센터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>
                <a:latin typeface="+mn-ea"/>
              </a:rPr>
              <a:t>업체</a:t>
            </a:r>
            <a:r>
              <a:rPr lang="en-US" altLang="ko-KR" sz="813" dirty="0">
                <a:latin typeface="+mn-ea"/>
              </a:rPr>
              <a:t>(</a:t>
            </a:r>
            <a:r>
              <a:rPr lang="ko-KR" altLang="en-US" sz="813" dirty="0" err="1">
                <a:latin typeface="+mn-ea"/>
              </a:rPr>
              <a:t>생산처</a:t>
            </a:r>
            <a:r>
              <a:rPr lang="en-US" altLang="ko-KR" sz="813" dirty="0">
                <a:latin typeface="+mn-ea"/>
              </a:rPr>
              <a:t>) </a:t>
            </a:r>
            <a:r>
              <a:rPr lang="ko-KR" altLang="en-US" sz="813" dirty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B2B : </a:t>
            </a:r>
            <a:r>
              <a:rPr lang="ko-KR" altLang="en-US" sz="813" dirty="0">
                <a:latin typeface="+mn-ea"/>
              </a:rPr>
              <a:t>창고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 err="1">
                <a:latin typeface="+mn-ea"/>
              </a:rPr>
              <a:t>생산처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  B2C : </a:t>
            </a:r>
            <a:r>
              <a:rPr lang="ko-KR" altLang="en-US" sz="813" dirty="0">
                <a:latin typeface="+mn-ea"/>
              </a:rPr>
              <a:t>매장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>
                <a:latin typeface="+mn-ea"/>
              </a:rPr>
              <a:t>창고 </a:t>
            </a:r>
            <a:r>
              <a:rPr lang="en-US" altLang="ko-KR" sz="813" dirty="0">
                <a:latin typeface="+mn-ea"/>
              </a:rPr>
              <a:t>-&gt; </a:t>
            </a:r>
            <a:r>
              <a:rPr lang="ko-KR" altLang="en-US" sz="813" dirty="0" err="1">
                <a:latin typeface="+mn-ea"/>
              </a:rPr>
              <a:t>생산처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이관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창고 간 재고 </a:t>
            </a:r>
            <a:r>
              <a:rPr lang="ko-KR" altLang="en-US" sz="813" dirty="0" smtClean="0">
                <a:latin typeface="+mn-ea"/>
              </a:rPr>
              <a:t>이동</a:t>
            </a:r>
            <a:endParaRPr lang="en-US" altLang="ko-KR" sz="813" dirty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자가소모 </a:t>
            </a:r>
            <a:r>
              <a:rPr lang="ko-KR" altLang="en-US" sz="813" dirty="0" smtClean="0">
                <a:latin typeface="+mn-ea"/>
              </a:rPr>
              <a:t>출고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ko-KR" altLang="en-US" sz="813" dirty="0">
                <a:latin typeface="+mn-ea"/>
              </a:rPr>
              <a:t>증정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기부금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재고실사</a:t>
            </a:r>
            <a:r>
              <a:rPr lang="en-US" altLang="ko-KR" sz="813" dirty="0">
                <a:latin typeface="+mn-ea"/>
              </a:rPr>
              <a:t>, </a:t>
            </a:r>
            <a:r>
              <a:rPr lang="ko-KR" altLang="en-US" sz="813" dirty="0">
                <a:latin typeface="+mn-ea"/>
              </a:rPr>
              <a:t>기타</a:t>
            </a:r>
            <a:endParaRPr lang="en-US" altLang="ko-KR" sz="813" dirty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- </a:t>
            </a:r>
            <a:r>
              <a:rPr lang="en-US" altLang="ko-KR" sz="813" dirty="0" smtClean="0">
                <a:latin typeface="+mn-ea"/>
              </a:rPr>
              <a:t>F/A-ONE </a:t>
            </a:r>
            <a:r>
              <a:rPr lang="ko-KR" altLang="en-US" sz="813" dirty="0" smtClean="0">
                <a:latin typeface="+mn-ea"/>
              </a:rPr>
              <a:t>입력자료 </a:t>
            </a:r>
            <a:r>
              <a:rPr lang="en-US" altLang="ko-KR" sz="813" dirty="0" smtClean="0">
                <a:latin typeface="+mn-ea"/>
              </a:rPr>
              <a:t>I/F </a:t>
            </a:r>
            <a:r>
              <a:rPr lang="ko-KR" altLang="en-US" sz="813" dirty="0" err="1" smtClean="0">
                <a:latin typeface="+mn-ea"/>
              </a:rPr>
              <a:t>하여처리</a:t>
            </a:r>
            <a:r>
              <a:rPr lang="ko-KR" altLang="en-US" sz="813" dirty="0" smtClean="0">
                <a:latin typeface="+mn-ea"/>
              </a:rPr>
              <a:t> 후 자가소모 등록데이터 생성</a:t>
            </a:r>
            <a:endParaRPr lang="en-US" altLang="ko-KR" sz="813" dirty="0" smtClean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</a:t>
            </a:r>
            <a:r>
              <a:rPr lang="ko-KR" altLang="en-US" sz="813" dirty="0" smtClean="0">
                <a:latin typeface="+mn-ea"/>
              </a:rPr>
              <a:t>스타일 재고조정</a:t>
            </a:r>
            <a:endParaRPr lang="en-US" altLang="ko-KR" sz="813" dirty="0" smtClean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- </a:t>
            </a:r>
            <a:r>
              <a:rPr lang="ko-KR" altLang="en-US" sz="813" dirty="0" smtClean="0">
                <a:latin typeface="+mn-ea"/>
              </a:rPr>
              <a:t>스타일별</a:t>
            </a:r>
            <a:r>
              <a:rPr lang="en-US" altLang="ko-KR" sz="813" dirty="0">
                <a:latin typeface="+mn-ea"/>
              </a:rPr>
              <a:t> </a:t>
            </a:r>
            <a:r>
              <a:rPr lang="ko-KR" altLang="en-US" sz="813" dirty="0" smtClean="0">
                <a:latin typeface="+mn-ea"/>
              </a:rPr>
              <a:t>컬러</a:t>
            </a:r>
            <a:r>
              <a:rPr lang="en-US" altLang="ko-KR" sz="813" dirty="0" smtClean="0">
                <a:latin typeface="+mn-ea"/>
              </a:rPr>
              <a:t>,</a:t>
            </a:r>
            <a:r>
              <a:rPr lang="ko-KR" altLang="en-US" sz="813" dirty="0" smtClean="0">
                <a:latin typeface="+mn-ea"/>
              </a:rPr>
              <a:t>사이즈 수량 조정 시 </a:t>
            </a:r>
            <a:r>
              <a:rPr lang="en-US" altLang="ko-KR" sz="813" dirty="0" smtClean="0">
                <a:latin typeface="+mn-ea"/>
              </a:rPr>
              <a:t>WMS</a:t>
            </a:r>
            <a:r>
              <a:rPr lang="ko-KR" altLang="en-US" sz="813" dirty="0" smtClean="0">
                <a:latin typeface="+mn-ea"/>
              </a:rPr>
              <a:t>에서 조정처리 후 </a:t>
            </a:r>
            <a:r>
              <a:rPr lang="en-US" altLang="ko-KR" sz="813" dirty="0" smtClean="0">
                <a:latin typeface="+mn-ea"/>
              </a:rPr>
              <a:t>F/A-ONE </a:t>
            </a:r>
            <a:r>
              <a:rPr lang="ko-KR" altLang="en-US" sz="813" dirty="0" smtClean="0">
                <a:latin typeface="+mn-ea"/>
              </a:rPr>
              <a:t>에서 실적</a:t>
            </a:r>
            <a:r>
              <a:rPr lang="en-US" altLang="ko-KR" sz="813" dirty="0" smtClean="0">
                <a:latin typeface="+mn-ea"/>
              </a:rPr>
              <a:t>I/F</a:t>
            </a:r>
            <a:r>
              <a:rPr lang="ko-KR" altLang="en-US" sz="813" dirty="0" smtClean="0">
                <a:latin typeface="+mn-ea"/>
              </a:rPr>
              <a:t>받아 반영</a:t>
            </a:r>
            <a:endParaRPr lang="en-US" altLang="ko-KR" sz="813" dirty="0" smtClean="0">
              <a:latin typeface="+mn-ea"/>
            </a:endParaRPr>
          </a:p>
          <a:p>
            <a:endParaRPr lang="en-US" altLang="ko-KR" sz="813" dirty="0">
              <a:latin typeface="+mn-ea"/>
            </a:endParaRPr>
          </a:p>
          <a:p>
            <a:r>
              <a:rPr lang="ko-KR" altLang="en-US" sz="813" dirty="0">
                <a:latin typeface="+mn-ea"/>
              </a:rPr>
              <a:t>◇ </a:t>
            </a:r>
            <a:r>
              <a:rPr lang="ko-KR" altLang="en-US" sz="813" dirty="0" smtClean="0">
                <a:latin typeface="+mn-ea"/>
              </a:rPr>
              <a:t>재고 이동</a:t>
            </a:r>
            <a:endParaRPr lang="en-US" altLang="ko-KR" sz="813" dirty="0" smtClean="0">
              <a:latin typeface="+mn-ea"/>
            </a:endParaRPr>
          </a:p>
          <a:p>
            <a:r>
              <a:rPr lang="en-US" altLang="ko-KR" sz="813" dirty="0">
                <a:latin typeface="+mn-ea"/>
              </a:rPr>
              <a:t> </a:t>
            </a:r>
            <a:r>
              <a:rPr lang="en-US" altLang="ko-KR" sz="813" dirty="0" smtClean="0">
                <a:latin typeface="+mn-ea"/>
              </a:rPr>
              <a:t>- WMS </a:t>
            </a:r>
            <a:r>
              <a:rPr lang="ko-KR" altLang="en-US" sz="813" dirty="0" smtClean="0">
                <a:latin typeface="+mn-ea"/>
              </a:rPr>
              <a:t>재고 </a:t>
            </a:r>
            <a:r>
              <a:rPr lang="en-US" altLang="ko-KR" sz="813" dirty="0" smtClean="0">
                <a:latin typeface="+mn-ea"/>
              </a:rPr>
              <a:t>ZONE </a:t>
            </a:r>
            <a:r>
              <a:rPr lang="ko-KR" altLang="en-US" sz="813" dirty="0" smtClean="0">
                <a:latin typeface="+mn-ea"/>
              </a:rPr>
              <a:t>이동처리</a:t>
            </a:r>
            <a:endParaRPr lang="en-US" altLang="ko-KR" sz="813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9" y="651257"/>
            <a:ext cx="7951336" cy="3768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086" y="4516588"/>
            <a:ext cx="7893667" cy="1881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94" dirty="0">
                <a:latin typeface="+mn-ea"/>
              </a:rPr>
              <a:t>▶ </a:t>
            </a:r>
            <a:r>
              <a:rPr lang="ko-KR" altLang="en-US" sz="894" dirty="0" smtClean="0">
                <a:latin typeface="+mn-ea"/>
              </a:rPr>
              <a:t>출고 수불 유형은 크게 매장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판매</a:t>
            </a:r>
            <a:r>
              <a:rPr lang="en-US" altLang="ko-KR" sz="894" dirty="0" smtClean="0">
                <a:latin typeface="+mn-ea"/>
              </a:rPr>
              <a:t>)</a:t>
            </a:r>
            <a:r>
              <a:rPr lang="ko-KR" altLang="en-US" sz="894" dirty="0" smtClean="0">
                <a:latin typeface="+mn-ea"/>
              </a:rPr>
              <a:t> 출고 </a:t>
            </a:r>
            <a:r>
              <a:rPr lang="en-US" altLang="ko-KR" sz="894" dirty="0" smtClean="0">
                <a:latin typeface="+mn-ea"/>
              </a:rPr>
              <a:t>/ </a:t>
            </a:r>
            <a:r>
              <a:rPr lang="ko-KR" altLang="en-US" sz="894" dirty="0" smtClean="0">
                <a:latin typeface="+mn-ea"/>
              </a:rPr>
              <a:t>기타 출고 영역으로 구분되며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   </a:t>
            </a:r>
            <a:r>
              <a:rPr lang="ko-KR" altLang="en-US" sz="894" dirty="0" smtClean="0">
                <a:latin typeface="+mn-ea"/>
              </a:rPr>
              <a:t>매장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판매</a:t>
            </a:r>
            <a:r>
              <a:rPr lang="en-US" altLang="ko-KR" sz="894" dirty="0" smtClean="0">
                <a:latin typeface="+mn-ea"/>
              </a:rPr>
              <a:t>)</a:t>
            </a:r>
            <a:r>
              <a:rPr lang="ko-KR" altLang="en-US" sz="894" dirty="0" smtClean="0">
                <a:latin typeface="+mn-ea"/>
              </a:rPr>
              <a:t> 관련 출고 요청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지시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은 </a:t>
            </a:r>
            <a:r>
              <a:rPr lang="ko-KR" altLang="en-US" sz="894" b="1" dirty="0" smtClean="0">
                <a:latin typeface="+mn-ea"/>
              </a:rPr>
              <a:t>브랜드 기획팀</a:t>
            </a:r>
            <a:r>
              <a:rPr lang="en-US" altLang="ko-KR" sz="894" b="1" dirty="0" smtClean="0">
                <a:latin typeface="+mn-ea"/>
              </a:rPr>
              <a:t>/</a:t>
            </a:r>
            <a:r>
              <a:rPr lang="ko-KR" altLang="en-US" sz="894" b="1" dirty="0" smtClean="0">
                <a:latin typeface="+mn-ea"/>
              </a:rPr>
              <a:t>브랜드 </a:t>
            </a:r>
            <a:r>
              <a:rPr lang="ko-KR" altLang="en-US" sz="894" b="1" dirty="0" err="1" smtClean="0">
                <a:latin typeface="+mn-ea"/>
              </a:rPr>
              <a:t>운영팀</a:t>
            </a:r>
            <a:r>
              <a:rPr lang="ko-KR" altLang="en-US" sz="894" dirty="0" err="1" smtClean="0">
                <a:latin typeface="+mn-ea"/>
              </a:rPr>
              <a:t>에</a:t>
            </a:r>
            <a:r>
              <a:rPr lang="ko-KR" altLang="en-US" sz="894" dirty="0" smtClean="0">
                <a:latin typeface="+mn-ea"/>
              </a:rPr>
              <a:t> 의해 진행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b="1" dirty="0" smtClean="0">
                <a:latin typeface="+mn-ea"/>
              </a:rPr>
              <a:t>    </a:t>
            </a:r>
            <a:endParaRPr lang="en-US" altLang="ko-KR" sz="894" b="1" dirty="0">
              <a:latin typeface="+mn-ea"/>
            </a:endParaRPr>
          </a:p>
          <a:p>
            <a:r>
              <a:rPr lang="en-US" altLang="ko-KR" sz="894" b="1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출고 요청 확정 데이터는  </a:t>
            </a:r>
            <a:r>
              <a:rPr lang="en-US" altLang="ko-KR" sz="894" dirty="0" smtClean="0">
                <a:latin typeface="+mn-ea"/>
              </a:rPr>
              <a:t>OMS </a:t>
            </a:r>
            <a:r>
              <a:rPr lang="ko-KR" altLang="en-US" sz="894" dirty="0" smtClean="0">
                <a:latin typeface="+mn-ea"/>
              </a:rPr>
              <a:t>에서 실 가용수량 체크 이후 </a:t>
            </a:r>
            <a:r>
              <a:rPr lang="en-US" altLang="ko-KR" sz="894" dirty="0" smtClean="0">
                <a:latin typeface="+mn-ea"/>
              </a:rPr>
              <a:t>WMS</a:t>
            </a:r>
            <a:r>
              <a:rPr lang="ko-KR" altLang="en-US" sz="894" dirty="0" smtClean="0">
                <a:latin typeface="+mn-ea"/>
              </a:rPr>
              <a:t>의 출고 예정정보가 생성되어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이후 프로세스가 진행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출고대상 </a:t>
            </a:r>
            <a:r>
              <a:rPr lang="ko-KR" altLang="en-US" sz="894" dirty="0" err="1" smtClean="0">
                <a:latin typeface="+mn-ea"/>
              </a:rPr>
              <a:t>피킹</a:t>
            </a:r>
            <a:r>
              <a:rPr lang="en-US" altLang="ko-KR" sz="894" dirty="0" smtClean="0">
                <a:latin typeface="+mn-ea"/>
              </a:rPr>
              <a:t>/</a:t>
            </a:r>
            <a:r>
              <a:rPr lang="ko-KR" altLang="en-US" sz="894" dirty="0" smtClean="0">
                <a:latin typeface="+mn-ea"/>
              </a:rPr>
              <a:t>패킹 및 분류 작업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송장 발행 및 출고 확정 </a:t>
            </a:r>
            <a:r>
              <a:rPr lang="en-US" altLang="ko-KR" sz="894" dirty="0" smtClean="0">
                <a:latin typeface="+mn-ea"/>
              </a:rPr>
              <a:t>)</a:t>
            </a:r>
          </a:p>
          <a:p>
            <a:endParaRPr lang="en-US" altLang="ko-KR" sz="894" b="1" dirty="0">
              <a:latin typeface="+mn-ea"/>
            </a:endParaRPr>
          </a:p>
          <a:p>
            <a:r>
              <a:rPr lang="en-US" altLang="ko-KR" sz="894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출고 확정 자료는 </a:t>
            </a:r>
            <a:r>
              <a:rPr lang="en-US" altLang="ko-KR" sz="894" dirty="0" smtClean="0">
                <a:latin typeface="+mn-ea"/>
              </a:rPr>
              <a:t>OMS </a:t>
            </a:r>
            <a:r>
              <a:rPr lang="ko-KR" altLang="en-US" sz="894" dirty="0" smtClean="0">
                <a:latin typeface="+mn-ea"/>
              </a:rPr>
              <a:t>를 거쳐 </a:t>
            </a:r>
            <a:r>
              <a:rPr lang="en-US" altLang="ko-KR" sz="894" dirty="0" smtClean="0">
                <a:latin typeface="+mn-ea"/>
              </a:rPr>
              <a:t>F/A – ONE </a:t>
            </a:r>
            <a:r>
              <a:rPr lang="ko-KR" altLang="en-US" sz="894" dirty="0" smtClean="0">
                <a:latin typeface="+mn-ea"/>
              </a:rPr>
              <a:t>시스템에 출고 실적 정보를 인터페이스 하며 이를 통해 수불 데이터 및 재고 갱신</a:t>
            </a:r>
            <a:r>
              <a:rPr lang="en-US" altLang="ko-KR" sz="894" dirty="0" smtClean="0">
                <a:latin typeface="+mn-ea"/>
              </a:rPr>
              <a:t>(</a:t>
            </a:r>
            <a:r>
              <a:rPr lang="ko-KR" altLang="en-US" sz="894" dirty="0" smtClean="0">
                <a:latin typeface="+mn-ea"/>
              </a:rPr>
              <a:t>조정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작업이 수</a:t>
            </a:r>
            <a:r>
              <a:rPr lang="ko-KR" altLang="en-US" sz="894" dirty="0" smtClean="0">
                <a:latin typeface="+mn-ea"/>
              </a:rPr>
              <a:t>행됨</a:t>
            </a:r>
            <a:endParaRPr lang="en-US" altLang="ko-KR" sz="894" dirty="0" smtClean="0">
              <a:latin typeface="+mn-ea"/>
            </a:endParaRPr>
          </a:p>
          <a:p>
            <a:endParaRPr lang="en-US" altLang="ko-KR" sz="894" dirty="0">
              <a:latin typeface="+mn-ea"/>
            </a:endParaRPr>
          </a:p>
          <a:p>
            <a:r>
              <a:rPr lang="ko-KR" altLang="en-US" sz="894" dirty="0">
                <a:latin typeface="+mn-ea"/>
              </a:rPr>
              <a:t>▶ </a:t>
            </a:r>
            <a:r>
              <a:rPr lang="ko-KR" altLang="en-US" sz="894" dirty="0" smtClean="0">
                <a:latin typeface="+mn-ea"/>
              </a:rPr>
              <a:t>매장 출고 외 기타 출고 유형은 업체출고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이관출고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자가소모출고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재조조정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재고이동</a:t>
            </a:r>
            <a:endParaRPr lang="en-US" altLang="ko-KR" sz="894" dirty="0" smtClean="0">
              <a:latin typeface="+mn-ea"/>
            </a:endParaRPr>
          </a:p>
          <a:p>
            <a:endParaRPr lang="en-US" altLang="ko-KR" sz="894" dirty="0">
              <a:latin typeface="+mn-ea"/>
            </a:endParaRPr>
          </a:p>
          <a:p>
            <a:r>
              <a:rPr lang="en-US" altLang="ko-KR" sz="894" dirty="0" smtClean="0">
                <a:latin typeface="+mn-ea"/>
              </a:rPr>
              <a:t>    </a:t>
            </a:r>
            <a:r>
              <a:rPr lang="ko-KR" altLang="en-US" sz="894" dirty="0" smtClean="0">
                <a:latin typeface="+mn-ea"/>
              </a:rPr>
              <a:t>이관 입출고 처리 시 온라인창고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매장 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에 대한 이관 처리 시 물류센터로 이동처리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반품 </a:t>
            </a:r>
            <a:r>
              <a:rPr lang="en-US" altLang="ko-KR" sz="894" dirty="0" smtClean="0">
                <a:latin typeface="+mn-ea"/>
              </a:rPr>
              <a:t>/ </a:t>
            </a:r>
            <a:r>
              <a:rPr lang="ko-KR" altLang="en-US" sz="894" dirty="0" smtClean="0">
                <a:latin typeface="+mn-ea"/>
              </a:rPr>
              <a:t>출고 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하는 수불 발생</a:t>
            </a:r>
            <a:endParaRPr lang="en-US" altLang="ko-KR" sz="894" dirty="0" smtClean="0">
              <a:latin typeface="+mn-ea"/>
            </a:endParaRPr>
          </a:p>
          <a:p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   </a:t>
            </a:r>
          </a:p>
          <a:p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   </a:t>
            </a:r>
            <a:r>
              <a:rPr lang="ko-KR" altLang="en-US" sz="894" dirty="0" smtClean="0">
                <a:latin typeface="+mn-ea"/>
              </a:rPr>
              <a:t>자가 소모 처리는 반드시 물류센터에서 진행되게 되어 있어</a:t>
            </a:r>
            <a:r>
              <a:rPr lang="en-US" altLang="ko-KR" sz="894" dirty="0" smtClean="0">
                <a:latin typeface="+mn-ea"/>
              </a:rPr>
              <a:t>, </a:t>
            </a:r>
            <a:r>
              <a:rPr lang="ko-KR" altLang="en-US" sz="894" dirty="0" smtClean="0">
                <a:latin typeface="+mn-ea"/>
              </a:rPr>
              <a:t>창고로 재고 이동</a:t>
            </a:r>
            <a:r>
              <a:rPr lang="en-US" altLang="ko-KR" sz="894" dirty="0">
                <a:latin typeface="+mn-ea"/>
              </a:rPr>
              <a:t> </a:t>
            </a:r>
            <a:r>
              <a:rPr lang="en-US" altLang="ko-KR" sz="894" dirty="0" smtClean="0">
                <a:latin typeface="+mn-ea"/>
              </a:rPr>
              <a:t>( </a:t>
            </a:r>
            <a:r>
              <a:rPr lang="ko-KR" altLang="en-US" sz="894" dirty="0" smtClean="0">
                <a:latin typeface="+mn-ea"/>
              </a:rPr>
              <a:t>반품 </a:t>
            </a:r>
            <a:r>
              <a:rPr lang="en-US" altLang="ko-KR" sz="894" dirty="0" smtClean="0">
                <a:latin typeface="+mn-ea"/>
              </a:rPr>
              <a:t>) </a:t>
            </a:r>
            <a:r>
              <a:rPr lang="ko-KR" altLang="en-US" sz="894" dirty="0" smtClean="0">
                <a:latin typeface="+mn-ea"/>
              </a:rPr>
              <a:t>이 선 진행되어야 하며</a:t>
            </a:r>
            <a:r>
              <a:rPr lang="en-US" altLang="ko-KR" sz="894" dirty="0">
                <a:latin typeface="+mn-ea"/>
              </a:rPr>
              <a:t> </a:t>
            </a:r>
            <a:r>
              <a:rPr lang="ko-KR" altLang="en-US" sz="894" dirty="0" smtClean="0">
                <a:latin typeface="+mn-ea"/>
              </a:rPr>
              <a:t>온라인 창고 의 경우에도 동일</a:t>
            </a:r>
            <a:endParaRPr lang="ko-KR" altLang="en-US" sz="894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2058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4903</TotalTime>
  <Words>3985</Words>
  <Application>Microsoft Office PowerPoint</Application>
  <PresentationFormat>A4 용지(210x297mm)</PresentationFormat>
  <Paragraphs>896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Malgun Gothic</vt:lpstr>
      <vt:lpstr>Malgun Gothic</vt:lpstr>
      <vt:lpstr>Arial</vt:lpstr>
      <vt:lpstr>Calibri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user</cp:lastModifiedBy>
  <cp:revision>334</cp:revision>
  <cp:lastPrinted>2026-03-26T05:28:07Z</cp:lastPrinted>
  <dcterms:created xsi:type="dcterms:W3CDTF">2024-07-17T01:22:47Z</dcterms:created>
  <dcterms:modified xsi:type="dcterms:W3CDTF">2026-03-27T06:43:11Z</dcterms:modified>
</cp:coreProperties>
</file>