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4"/>
  </p:sldMasterIdLst>
  <p:notesMasterIdLst>
    <p:notesMasterId r:id="rId9"/>
  </p:notesMasterIdLst>
  <p:handoutMasterIdLst>
    <p:handoutMasterId r:id="rId10"/>
  </p:handoutMasterIdLst>
  <p:sldIdLst>
    <p:sldId id="1262" r:id="rId5"/>
    <p:sldId id="1456" r:id="rId6"/>
    <p:sldId id="1460" r:id="rId7"/>
    <p:sldId id="1463" r:id="rId8"/>
  </p:sldIdLst>
  <p:sldSz cx="9906000" cy="6858000" type="A4"/>
  <p:notesSz cx="6807200" cy="9939338"/>
  <p:custDataLst>
    <p:tags r:id="rId11"/>
  </p:custData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1pPr>
    <a:lvl2pPr marL="4556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2pPr>
    <a:lvl3pPr marL="9128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3pPr>
    <a:lvl4pPr marL="13700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4pPr>
    <a:lvl5pPr marL="18272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84" userDrawn="1">
          <p15:clr>
            <a:srgbClr val="A4A3A4"/>
          </p15:clr>
        </p15:guide>
        <p15:guide id="2" orient="horz" pos="4116">
          <p15:clr>
            <a:srgbClr val="A4A3A4"/>
          </p15:clr>
        </p15:guide>
        <p15:guide id="4" pos="143">
          <p15:clr>
            <a:srgbClr val="A4A3A4"/>
          </p15:clr>
        </p15:guide>
        <p15:guide id="5" pos="6097">
          <p15:clr>
            <a:srgbClr val="A4A3A4"/>
          </p15:clr>
        </p15:guide>
        <p15:guide id="6" pos="228">
          <p15:clr>
            <a:srgbClr val="A4A3A4"/>
          </p15:clr>
        </p15:guide>
        <p15:guide id="7" pos="3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54061"/>
    <a:srgbClr val="FFD200"/>
    <a:srgbClr val="333333"/>
    <a:srgbClr val="646464"/>
    <a:srgbClr val="808080"/>
    <a:srgbClr val="FDFF9B"/>
    <a:srgbClr val="FFFF6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74" autoAdjust="0"/>
    <p:restoredTop sz="98827" autoAdjust="0"/>
  </p:normalViewPr>
  <p:slideViewPr>
    <p:cSldViewPr>
      <p:cViewPr varScale="1">
        <p:scale>
          <a:sx n="113" d="100"/>
          <a:sy n="113" d="100"/>
        </p:scale>
        <p:origin x="1428" y="78"/>
      </p:cViewPr>
      <p:guideLst>
        <p:guide orient="horz" pos="884"/>
        <p:guide orient="horz" pos="4116"/>
        <p:guide pos="143"/>
        <p:guide pos="6097"/>
        <p:guide pos="228"/>
        <p:guide pos="3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954" y="96"/>
      </p:cViewPr>
      <p:guideLst>
        <p:guide orient="horz" pos="3130"/>
        <p:guide pos="2145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382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86388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834" y="4720987"/>
            <a:ext cx="5443534" cy="4473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1" tIns="47170" rIns="94341" bIns="471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 smtClean="0"/>
              <a:t>Click to edit Master text styles</a:t>
            </a:r>
          </a:p>
          <a:p>
            <a:pPr lvl="1"/>
            <a:r>
              <a:rPr lang="en-US" altLang="ko-KR" noProof="0" dirty="0" smtClean="0"/>
              <a:t>Second level</a:t>
            </a:r>
          </a:p>
          <a:p>
            <a:pPr lvl="2"/>
            <a:r>
              <a:rPr lang="en-US" altLang="ko-KR" noProof="0" dirty="0" smtClean="0"/>
              <a:t>Third level</a:t>
            </a:r>
          </a:p>
          <a:p>
            <a:pPr lvl="3"/>
            <a:r>
              <a:rPr lang="en-US" altLang="ko-KR" noProof="0" dirty="0" smtClean="0"/>
              <a:t>Fourth level</a:t>
            </a:r>
          </a:p>
          <a:p>
            <a:pPr lvl="4"/>
            <a:r>
              <a:rPr lang="en-US" altLang="ko-KR" noProof="0" dirty="0" smtClean="0"/>
              <a:t>Fifth level</a:t>
            </a:r>
          </a:p>
        </p:txBody>
      </p:sp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A5DC8-846E-407B-9A02-2F61D56EF1AE}" type="datetimeFigureOut">
              <a:rPr lang="ko-KR" altLang="en-US" smtClean="0"/>
              <a:t>2023-12-04</a:t>
            </a:fld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E582A-B70D-4F30-90C6-870CF28E198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724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1pPr>
    <a:lvl2pPr marL="1588" indent="177800"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2pPr>
    <a:lvl3pPr marL="358775" indent="188913"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3pPr>
    <a:lvl4pPr marL="722313" indent="176213"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4pPr>
    <a:lvl5pPr marL="1079500" indent="174625"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5pPr>
    <a:lvl6pPr marL="2285855" algn="l" defTabSz="91434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6" algn="l" defTabSz="91434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8" algn="l" defTabSz="91434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9" algn="l" defTabSz="91434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슬라이드 노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구축 배경</a:t>
            </a:r>
          </a:p>
          <a:p>
            <a:r>
              <a:rPr lang="ko-KR" altLang="en-US" dirty="0"/>
              <a:t>   ① 영업</a:t>
            </a:r>
            <a:r>
              <a:rPr lang="en-US" altLang="ko-KR" dirty="0"/>
              <a:t>/</a:t>
            </a:r>
            <a:r>
              <a:rPr lang="ko-KR" altLang="en-US" dirty="0"/>
              <a:t>물류 시스템의 이원화에 따른 자원의 분산</a:t>
            </a:r>
            <a:r>
              <a:rPr lang="en-US" altLang="ko-KR" dirty="0"/>
              <a:t>, </a:t>
            </a:r>
            <a:r>
              <a:rPr lang="ko-KR" altLang="en-US" dirty="0"/>
              <a:t>불필요한 이중 작업 및 데이터 검증의 한계</a:t>
            </a:r>
          </a:p>
          <a:p>
            <a:r>
              <a:rPr lang="ko-KR" altLang="en-US" dirty="0"/>
              <a:t>   ② 기준코드의 사용 한계</a:t>
            </a:r>
            <a:r>
              <a:rPr lang="en-US" altLang="ko-KR" dirty="0"/>
              <a:t>, </a:t>
            </a:r>
            <a:r>
              <a:rPr lang="ko-KR" altLang="en-US" dirty="0"/>
              <a:t>비 정규화에 따른 업무 공유의 제한 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구축 방향</a:t>
            </a:r>
          </a:p>
          <a:p>
            <a:r>
              <a:rPr lang="ko-KR" altLang="en-US" dirty="0"/>
              <a:t>   ① </a:t>
            </a:r>
            <a:r>
              <a:rPr lang="en-US" altLang="ko-KR" dirty="0"/>
              <a:t>Web </a:t>
            </a:r>
            <a:r>
              <a:rPr lang="ko-KR" altLang="en-US" dirty="0"/>
              <a:t>기반의 통합 전산 인프라 공유 체제 구축</a:t>
            </a:r>
          </a:p>
          <a:p>
            <a:r>
              <a:rPr lang="ko-KR" altLang="en-US" dirty="0"/>
              <a:t>   ② 기준 정보 표준화 및 프로세스 개선을 통한 업무 효율의 극대화</a:t>
            </a:r>
          </a:p>
          <a:p>
            <a:r>
              <a:rPr lang="ko-KR" altLang="en-US" dirty="0"/>
              <a:t>   ③ 데이터 표준화를 통한 정확한 자료 제공</a:t>
            </a:r>
            <a:r>
              <a:rPr lang="en-US" altLang="ko-KR" dirty="0"/>
              <a:t>(</a:t>
            </a:r>
            <a:r>
              <a:rPr lang="ko-KR" altLang="en-US" dirty="0"/>
              <a:t>분석 </a:t>
            </a:r>
            <a:r>
              <a:rPr lang="ko-KR" altLang="en-US" dirty="0" err="1"/>
              <a:t>관점별</a:t>
            </a:r>
            <a:r>
              <a:rPr lang="ko-KR" altLang="en-US" dirty="0"/>
              <a:t> 데이터 재 구성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계약 기간 </a:t>
            </a:r>
            <a:r>
              <a:rPr lang="en-US" altLang="ko-KR" dirty="0"/>
              <a:t>: 2010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월 </a:t>
            </a:r>
            <a:r>
              <a:rPr lang="en-US" altLang="ko-KR" dirty="0"/>
              <a:t>~ 2011</a:t>
            </a:r>
            <a:r>
              <a:rPr lang="ko-KR" altLang="en-US" dirty="0"/>
              <a:t>년 </a:t>
            </a:r>
            <a:r>
              <a:rPr lang="en-US" altLang="ko-KR" dirty="0"/>
              <a:t>3</a:t>
            </a:r>
            <a:r>
              <a:rPr lang="ko-KR" altLang="en-US" dirty="0"/>
              <a:t>월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개발 업체 </a:t>
            </a:r>
            <a:r>
              <a:rPr lang="en-US" altLang="ko-KR" dirty="0"/>
              <a:t>: </a:t>
            </a:r>
            <a:r>
              <a:rPr lang="ko-KR" altLang="en-US" dirty="0" err="1"/>
              <a:t>코오롱</a:t>
            </a:r>
            <a:r>
              <a:rPr lang="ko-KR" altLang="en-US" dirty="0"/>
              <a:t> </a:t>
            </a:r>
            <a:r>
              <a:rPr lang="ko-KR" altLang="en-US" dirty="0" err="1"/>
              <a:t>베니트</a:t>
            </a:r>
            <a:endParaRPr lang="ko-KR" altLang="en-US" dirty="0"/>
          </a:p>
          <a:p>
            <a:r>
              <a:rPr lang="en-US" altLang="ko-KR" dirty="0"/>
              <a:t>- </a:t>
            </a:r>
            <a:r>
              <a:rPr lang="ko-KR" altLang="en-US" dirty="0"/>
              <a:t>개발 환경 </a:t>
            </a:r>
            <a:r>
              <a:rPr lang="en-US" altLang="ko-KR" dirty="0"/>
              <a:t>: </a:t>
            </a:r>
            <a:r>
              <a:rPr lang="en-US" altLang="ko-KR" dirty="0" err="1"/>
              <a:t>Miplatform</a:t>
            </a:r>
            <a:r>
              <a:rPr lang="en-US" altLang="ko-KR" dirty="0"/>
              <a:t>, </a:t>
            </a:r>
            <a:r>
              <a:rPr lang="en-US" altLang="ko-KR" dirty="0" err="1"/>
              <a:t>Weblogic</a:t>
            </a:r>
            <a:r>
              <a:rPr lang="en-US" altLang="ko-KR" dirty="0"/>
              <a:t>, JAVA, Oracle 11g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구축 범위 </a:t>
            </a:r>
            <a:r>
              <a:rPr lang="en-US" altLang="ko-KR" dirty="0"/>
              <a:t>: </a:t>
            </a:r>
            <a:r>
              <a:rPr lang="ko-KR" altLang="en-US" dirty="0"/>
              <a:t>영업</a:t>
            </a:r>
            <a:r>
              <a:rPr lang="en-US" altLang="ko-KR" dirty="0"/>
              <a:t>(</a:t>
            </a:r>
            <a:r>
              <a:rPr lang="ko-KR" altLang="en-US" dirty="0"/>
              <a:t>패션</a:t>
            </a:r>
            <a:r>
              <a:rPr lang="en-US" altLang="ko-KR" dirty="0"/>
              <a:t>)</a:t>
            </a:r>
            <a:r>
              <a:rPr lang="ko-KR" altLang="en-US" dirty="0"/>
              <a:t>시스템 전체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9366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김영로\My Documents\가져갈 파일\파워포인트 양식\139\06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2365219"/>
            <a:ext cx="9731017" cy="4501950"/>
          </a:xfrm>
          <a:prstGeom prst="rect">
            <a:avLst/>
          </a:prstGeom>
          <a:noFill/>
        </p:spPr>
      </p:pic>
      <p:sp>
        <p:nvSpPr>
          <p:cNvPr id="6" name="직사각형 5"/>
          <p:cNvSpPr/>
          <p:nvPr userDrawn="1"/>
        </p:nvSpPr>
        <p:spPr>
          <a:xfrm>
            <a:off x="9731017" y="-4788"/>
            <a:ext cx="217538" cy="6865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1" hangingPunct="1"/>
            <a:endParaRPr lang="ko-KR" altLang="en-US" sz="1200" b="1" kern="1200">
              <a:solidFill>
                <a:schemeClr val="lt1"/>
              </a:solidFill>
              <a:latin typeface="Helvetica" pitchFamily="2" charset="0"/>
              <a:ea typeface="+mn-ea"/>
              <a:cs typeface="+mn-cs"/>
            </a:endParaRPr>
          </a:p>
        </p:txBody>
      </p:sp>
      <p:pic>
        <p:nvPicPr>
          <p:cNvPr id="7" name="그림 1" descr="1113396_83515382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0" y="0"/>
            <a:ext cx="4572000" cy="315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91883" y="3427812"/>
            <a:ext cx="5772723" cy="460832"/>
          </a:xfrm>
          <a:prstGeom prst="rect">
            <a:avLst/>
          </a:prstGeom>
        </p:spPr>
        <p:txBody>
          <a:bodyPr wrap="none" lIns="91434" tIns="0" rIns="91434" bIns="45718">
            <a:spAutoFit/>
          </a:bodyPr>
          <a:lstStyle>
            <a:lvl1pPr>
              <a:defRPr sz="3200" baseline="0"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en-US" altLang="ko-K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738393" y="4437112"/>
            <a:ext cx="3751682" cy="32846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85000"/>
              </a:lnSpc>
              <a:buFont typeface="Arial" charset="0"/>
              <a:buNone/>
              <a:defRPr sz="1800" baseline="0"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en-US" altLang="ko-KR" dirty="0" smtClean="0"/>
              <a:t>Click to edit Master subtitle style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46421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72480" y="728700"/>
            <a:ext cx="9359900" cy="5293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latinLnBrk="0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latinLnBrk="0"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latinLnBrk="0"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latinLnBrk="0"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3050" y="278650"/>
            <a:ext cx="6768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>
              <a:defRPr sz="1800" baseline="0">
                <a:solidFill>
                  <a:schemeClr val="accent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ko-KR" altLang="en-US" dirty="0"/>
          </a:p>
        </p:txBody>
      </p:sp>
      <p:sp>
        <p:nvSpPr>
          <p:cNvPr id="5" name="Content Placeholder 17"/>
          <p:cNvSpPr>
            <a:spLocks noGrp="1"/>
          </p:cNvSpPr>
          <p:nvPr>
            <p:ph sz="quarter" idx="12" hasCustomPrompt="1"/>
          </p:nvPr>
        </p:nvSpPr>
        <p:spPr>
          <a:xfrm>
            <a:off x="6285638" y="105389"/>
            <a:ext cx="3437892" cy="432061"/>
          </a:xfrm>
          <a:prstGeom prst="rect">
            <a:avLst/>
          </a:prstGeom>
        </p:spPr>
        <p:txBody>
          <a:bodyPr/>
          <a:lstStyle>
            <a:lvl1pPr marL="0" indent="0" algn="r" rtl="0" fontAlgn="base">
              <a:spcBef>
                <a:spcPts val="100"/>
              </a:spcBef>
              <a:spcAft>
                <a:spcPts val="100"/>
              </a:spcAft>
              <a:buClr>
                <a:srgbClr val="FFD200"/>
              </a:buClr>
              <a:buSzPct val="75000"/>
              <a:buNone/>
              <a:defRPr lang="en-US" altLang="ko-KR" sz="1000" b="0" kern="0" baseline="0" dirty="0" smtClean="0">
                <a:solidFill>
                  <a:schemeClr val="accent1">
                    <a:lumMod val="75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ko-KR" altLang="en-US" sz="1000" kern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 smtClean="0"/>
              <a:t>Lev.2 Lev.3 Lev.4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5056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3187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Line 11"/>
          <p:cNvSpPr>
            <a:spLocks noChangeShapeType="1"/>
          </p:cNvSpPr>
          <p:nvPr/>
        </p:nvSpPr>
        <p:spPr bwMode="auto">
          <a:xfrm>
            <a:off x="273050" y="6578600"/>
            <a:ext cx="9359900" cy="0"/>
          </a:xfrm>
          <a:prstGeom prst="line">
            <a:avLst/>
          </a:prstGeom>
          <a:noFill/>
          <a:ln w="31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91434" tIns="45718" rIns="91434" bIns="45718" anchor="ctr"/>
          <a:lstStyle/>
          <a:p>
            <a:pPr latinLnBrk="0">
              <a:lnSpc>
                <a:spcPct val="90000"/>
              </a:lnSpc>
              <a:buClr>
                <a:srgbClr val="7D0900"/>
              </a:buClr>
              <a:defRPr/>
            </a:pPr>
            <a:endParaRPr kumimoji="0" lang="ko-KR" altLang="en-US" dirty="0">
              <a:solidFill>
                <a:srgbClr val="646464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27" name="TextBox 19"/>
          <p:cNvSpPr txBox="1">
            <a:spLocks noChangeArrowheads="1"/>
          </p:cNvSpPr>
          <p:nvPr userDrawn="1"/>
        </p:nvSpPr>
        <p:spPr bwMode="auto">
          <a:xfrm>
            <a:off x="4991100" y="6613525"/>
            <a:ext cx="3556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4" tIns="45718" rIns="91434" bIns="45718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9pPr>
          </a:lstStyle>
          <a:p>
            <a:pPr algn="ctr" eaLnBrk="1" latinLnBrk="0" hangingPunct="1"/>
            <a:fld id="{C64E92E5-CD45-4384-8691-9106A4F9B511}" type="slidenum">
              <a:rPr kumimoji="0" lang="ko-KR" altLang="en-US" sz="1000">
                <a:solidFill>
                  <a:srgbClr val="646464"/>
                </a:solidFill>
                <a:latin typeface="JBold" pitchFamily="18" charset="-127"/>
                <a:ea typeface="JBold" pitchFamily="18" charset="-127"/>
                <a:cs typeface="JBold" pitchFamily="18" charset="-127"/>
              </a:rPr>
              <a:pPr algn="ctr" eaLnBrk="1" latinLnBrk="0" hangingPunct="1"/>
              <a:t>‹#›</a:t>
            </a:fld>
            <a:endParaRPr kumimoji="0" lang="en-US" altLang="ko-KR" sz="1000" dirty="0">
              <a:solidFill>
                <a:srgbClr val="646464"/>
              </a:solidFill>
              <a:latin typeface="JBold" pitchFamily="18" charset="-127"/>
              <a:ea typeface="JBold" pitchFamily="18" charset="-127"/>
              <a:cs typeface="JBold" pitchFamily="18" charset="-127"/>
            </a:endParaRPr>
          </a:p>
        </p:txBody>
      </p:sp>
      <p:sp>
        <p:nvSpPr>
          <p:cNvPr id="1028" name="AcnBodyText_ID_6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gray">
          <a:xfrm>
            <a:off x="179388" y="2200275"/>
            <a:ext cx="8780462" cy="33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34" tIns="45718" rIns="91434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ko-KR" altLang="en-US" dirty="0" smtClean="0"/>
          </a:p>
        </p:txBody>
      </p:sp>
      <p:cxnSp>
        <p:nvCxnSpPr>
          <p:cNvPr id="9" name="Straight Connector 11"/>
          <p:cNvCxnSpPr>
            <a:cxnSpLocks noChangeShapeType="1"/>
          </p:cNvCxnSpPr>
          <p:nvPr userDrawn="1"/>
        </p:nvCxnSpPr>
        <p:spPr bwMode="auto">
          <a:xfrm rot="16200000">
            <a:off x="9570535" y="325232"/>
            <a:ext cx="396000" cy="0"/>
          </a:xfrm>
          <a:prstGeom prst="line">
            <a:avLst/>
          </a:prstGeom>
          <a:noFill/>
          <a:ln w="57150" algn="ctr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</p:cxn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227475" y="668186"/>
            <a:ext cx="9469986" cy="0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91434" tIns="45718" rIns="91434" bIns="45718" anchor="ctr"/>
          <a:lstStyle/>
          <a:p>
            <a:pPr latinLnBrk="0">
              <a:lnSpc>
                <a:spcPct val="90000"/>
              </a:lnSpc>
              <a:buClr>
                <a:srgbClr val="7D0900"/>
              </a:buClr>
              <a:defRPr/>
            </a:pPr>
            <a:endParaRPr kumimoji="0" lang="ko-KR" altLang="en-US" dirty="0">
              <a:solidFill>
                <a:srgbClr val="646464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8" r:id="rId1"/>
    <p:sldLayoutId id="2147484456" r:id="rId2"/>
    <p:sldLayoutId id="2147484457" r:id="rId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  <a:ea typeface="맑은 고딕" pitchFamily="50" charset="-127"/>
        </a:defRPr>
      </a:lvl5pPr>
      <a:lvl6pPr marL="457171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342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513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684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58775" indent="-358775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•"/>
        <a:defRPr sz="14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1pPr>
      <a:lvl2pPr marL="715963" indent="-354013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–"/>
        <a:defRPr sz="1400">
          <a:solidFill>
            <a:schemeClr val="tx1"/>
          </a:solidFill>
          <a:latin typeface="나눔고딕" pitchFamily="50" charset="-127"/>
          <a:ea typeface="나눔고딕" pitchFamily="50" charset="-127"/>
        </a:defRPr>
      </a:lvl2pPr>
      <a:lvl3pPr marL="1079500" indent="-360363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•"/>
        <a:defRPr sz="1400">
          <a:solidFill>
            <a:schemeClr val="tx1"/>
          </a:solidFill>
          <a:latin typeface="나눔고딕" pitchFamily="50" charset="-127"/>
          <a:ea typeface="나눔고딕" pitchFamily="50" charset="-127"/>
        </a:defRPr>
      </a:lvl3pPr>
      <a:lvl4pPr marL="1439863" indent="-357188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–"/>
        <a:defRPr sz="1400">
          <a:solidFill>
            <a:schemeClr val="tx1"/>
          </a:solidFill>
          <a:latin typeface="나눔고딕" pitchFamily="50" charset="-127"/>
          <a:ea typeface="나눔고딕" pitchFamily="50" charset="-127"/>
        </a:defRPr>
      </a:lvl4pPr>
      <a:lvl5pPr marL="1798638" indent="-355600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»"/>
        <a:defRPr sz="1400">
          <a:solidFill>
            <a:schemeClr val="tx1"/>
          </a:solidFill>
          <a:latin typeface="나눔고딕" pitchFamily="50" charset="-127"/>
          <a:ea typeface="나눔고딕" pitchFamily="50" charset="-127"/>
        </a:defRPr>
      </a:lvl5pPr>
      <a:lvl6pPr marL="2257282" indent="-35716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453" indent="-35716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625" indent="-35716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8796" indent="-35716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ko-KR"/>
      </a:defPPr>
      <a:lvl1pPr marL="0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2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3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4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5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6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8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9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217975" y="3338990"/>
            <a:ext cx="4921528" cy="464741"/>
          </a:xfrm>
        </p:spPr>
        <p:txBody>
          <a:bodyPr/>
          <a:lstStyle/>
          <a:p>
            <a:pPr algn="r"/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  <a:cs typeface="JBold" pitchFamily="18" charset="-127"/>
              </a:rPr>
              <a:t>WMS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  <a:ea typeface="+mn-ea"/>
                <a:cs typeface="JBold" pitchFamily="18" charset="-127"/>
              </a:rPr>
              <a:t>센터별창고재고관리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  <a:cs typeface="JBold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 bwMode="auto">
          <a:xfrm>
            <a:off x="0" y="3143248"/>
            <a:ext cx="9768535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오른쪽 화살표 1"/>
          <p:cNvSpPr/>
          <p:nvPr/>
        </p:nvSpPr>
        <p:spPr>
          <a:xfrm>
            <a:off x="4097905" y="1943835"/>
            <a:ext cx="1935215" cy="1800199"/>
          </a:xfrm>
          <a:prstGeom prst="rightArrow">
            <a:avLst>
              <a:gd name="adj1" fmla="val 50000"/>
              <a:gd name="adj2" fmla="val 29682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endParaRPr lang="ko-KR" altLang="en-US" sz="12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1. </a:t>
            </a:r>
            <a:r>
              <a:rPr lang="ko-KR" altLang="en-US" dirty="0" smtClean="0">
                <a:latin typeface="+mn-ea"/>
                <a:ea typeface="+mn-ea"/>
              </a:rPr>
              <a:t>배경 및 목적</a:t>
            </a:r>
            <a:endParaRPr lang="ko-KR" altLang="en-US" sz="1400" dirty="0">
              <a:latin typeface="+mn-ea"/>
              <a:ea typeface="+mn-ea"/>
            </a:endParaRPr>
          </a:p>
        </p:txBody>
      </p:sp>
      <p:grpSp>
        <p:nvGrpSpPr>
          <p:cNvPr id="65" name="Group 21"/>
          <p:cNvGrpSpPr>
            <a:grpSpLocks/>
          </p:cNvGrpSpPr>
          <p:nvPr/>
        </p:nvGrpSpPr>
        <p:grpSpPr bwMode="auto">
          <a:xfrm>
            <a:off x="6113464" y="1594767"/>
            <a:ext cx="3497262" cy="2525713"/>
            <a:chOff x="720" y="2112"/>
            <a:chExt cx="1440" cy="1680"/>
          </a:xfrm>
        </p:grpSpPr>
        <p:sp>
          <p:nvSpPr>
            <p:cNvPr id="66" name="AutoShape 22"/>
            <p:cNvSpPr>
              <a:spLocks noChangeArrowheads="1"/>
            </p:cNvSpPr>
            <p:nvPr/>
          </p:nvSpPr>
          <p:spPr bwMode="auto">
            <a:xfrm>
              <a:off x="720" y="2112"/>
              <a:ext cx="1440" cy="1680"/>
            </a:xfrm>
            <a:prstGeom prst="roundRect">
              <a:avLst>
                <a:gd name="adj" fmla="val 9426"/>
              </a:avLst>
            </a:prstGeom>
            <a:noFill/>
            <a:ln w="38100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endParaRPr lang="ko-KR" altLang="ko-KR" sz="1800" b="0">
                <a:latin typeface="+mj-ea"/>
                <a:ea typeface="+mj-ea"/>
              </a:endParaRPr>
            </a:p>
          </p:txBody>
        </p:sp>
        <p:sp>
          <p:nvSpPr>
            <p:cNvPr id="67" name="Text Box 23"/>
            <p:cNvSpPr txBox="1">
              <a:spLocks noChangeArrowheads="1"/>
            </p:cNvSpPr>
            <p:nvPr/>
          </p:nvSpPr>
          <p:spPr bwMode="auto">
            <a:xfrm>
              <a:off x="780" y="2236"/>
              <a:ext cx="1284" cy="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EA7E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l"/>
              <a:endParaRPr lang="ko-KR" altLang="ko-KR" sz="1400" b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8" name="Rectangle 31"/>
          <p:cNvSpPr>
            <a:spLocks noChangeArrowheads="1"/>
          </p:cNvSpPr>
          <p:nvPr/>
        </p:nvSpPr>
        <p:spPr bwMode="auto">
          <a:xfrm>
            <a:off x="0" y="773113"/>
            <a:ext cx="3509963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958850">
              <a:lnSpc>
                <a:spcPct val="14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defTabSz="958850">
              <a:lnSpc>
                <a:spcPct val="16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defTabSz="958850">
              <a:lnSpc>
                <a:spcPct val="160000"/>
              </a:lnSpc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defTabSz="958850">
              <a:lnSpc>
                <a:spcPct val="160000"/>
              </a:lnSpc>
              <a:buClr>
                <a:srgbClr val="800000"/>
              </a:buClr>
              <a:buSzPct val="80000"/>
              <a:buFont typeface="Wingdings" panose="05000000000000000000" pitchFamily="2" charset="2"/>
              <a:buChar char="ü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defTabSz="958850">
              <a:lnSpc>
                <a:spcPct val="160000"/>
              </a:lnSpc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88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88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88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88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ko-KR" dirty="0">
                <a:latin typeface="+mn-ea"/>
                <a:ea typeface="+mn-ea"/>
                <a:cs typeface="Times New Roman" panose="02020603050405020304" pitchFamily="18" charset="0"/>
              </a:rPr>
              <a:t>  1.1 </a:t>
            </a:r>
            <a:r>
              <a:rPr lang="en-US" altLang="ko-KR" dirty="0" smtClean="0">
                <a:latin typeface="+mn-ea"/>
                <a:ea typeface="+mn-ea"/>
                <a:cs typeface="Times New Roman" panose="02020603050405020304" pitchFamily="18" charset="0"/>
              </a:rPr>
              <a:t>AS-IS / TO-BE</a:t>
            </a:r>
            <a:endParaRPr lang="ko-KR" altLang="en-US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69" name="Group 8"/>
          <p:cNvGrpSpPr>
            <a:grpSpLocks/>
          </p:cNvGrpSpPr>
          <p:nvPr/>
        </p:nvGrpSpPr>
        <p:grpSpPr bwMode="auto">
          <a:xfrm>
            <a:off x="352425" y="1594767"/>
            <a:ext cx="3603625" cy="3321332"/>
            <a:chOff x="720" y="2112"/>
            <a:chExt cx="1440" cy="1680"/>
          </a:xfrm>
        </p:grpSpPr>
        <p:sp>
          <p:nvSpPr>
            <p:cNvPr id="70" name="AutoShape 9"/>
            <p:cNvSpPr>
              <a:spLocks noChangeArrowheads="1"/>
            </p:cNvSpPr>
            <p:nvPr/>
          </p:nvSpPr>
          <p:spPr bwMode="auto">
            <a:xfrm>
              <a:off x="720" y="2112"/>
              <a:ext cx="1440" cy="1680"/>
            </a:xfrm>
            <a:prstGeom prst="roundRect">
              <a:avLst>
                <a:gd name="adj" fmla="val 7907"/>
              </a:avLst>
            </a:prstGeom>
            <a:noFill/>
            <a:ln w="38100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99CCFF"/>
                      </a:gs>
                      <a:gs pos="100000">
                        <a:srgbClr val="E3F1FF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endParaRPr lang="ko-KR" altLang="ko-KR" sz="1800" b="0">
                <a:latin typeface="+mj-ea"/>
                <a:ea typeface="+mj-ea"/>
              </a:endParaRPr>
            </a:p>
          </p:txBody>
        </p:sp>
        <p:sp>
          <p:nvSpPr>
            <p:cNvPr id="71" name="Text Box 10"/>
            <p:cNvSpPr txBox="1">
              <a:spLocks noChangeArrowheads="1"/>
            </p:cNvSpPr>
            <p:nvPr/>
          </p:nvSpPr>
          <p:spPr bwMode="auto">
            <a:xfrm>
              <a:off x="780" y="2237"/>
              <a:ext cx="1284" cy="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EA7E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l"/>
              <a:endParaRPr lang="ko-KR" altLang="ko-KR" sz="1400" b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2" name="Text Box 11"/>
          <p:cNvSpPr txBox="1">
            <a:spLocks noChangeArrowheads="1"/>
          </p:cNvSpPr>
          <p:nvPr/>
        </p:nvSpPr>
        <p:spPr bwMode="auto">
          <a:xfrm>
            <a:off x="371475" y="1943835"/>
            <a:ext cx="3584575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71450" indent="-171450">
              <a:lnSpc>
                <a:spcPct val="14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854075" indent="-285750">
              <a:lnSpc>
                <a:spcPct val="16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336675" indent="-198438">
              <a:lnSpc>
                <a:spcPct val="160000"/>
              </a:lnSpc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817688" indent="-192088">
              <a:lnSpc>
                <a:spcPct val="160000"/>
              </a:lnSpc>
              <a:buClr>
                <a:srgbClr val="800000"/>
              </a:buClr>
              <a:buSzPct val="80000"/>
              <a:buFont typeface="Wingdings" panose="05000000000000000000" pitchFamily="2" charset="2"/>
              <a:buChar char="ü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198688" indent="-190500">
              <a:lnSpc>
                <a:spcPct val="160000"/>
              </a:lnSpc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655888" indent="-1905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113088" indent="-1905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570288" indent="-1905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027488" indent="-1905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WMS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도입 이후 패션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E</a:t>
            </a:r>
            <a:r>
              <a:rPr lang="en-US" altLang="ko-KR" sz="1200" dirty="0" smtClean="0">
                <a:latin typeface="+mj-ea"/>
                <a:cs typeface="Times New Roman" panose="02020603050405020304" pitchFamily="18" charset="0"/>
              </a:rPr>
              <a:t>R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P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간 창고 수불 </a:t>
            </a:r>
            <a:r>
              <a:rPr lang="ko-KR" altLang="en-US" sz="1200" dirty="0" err="1" smtClean="0">
                <a:latin typeface="+mj-ea"/>
                <a:ea typeface="+mj-ea"/>
                <a:cs typeface="Times New Roman" panose="02020603050405020304" pitchFamily="18" charset="0"/>
              </a:rPr>
              <a:t>이격</a:t>
            </a:r>
            <a:endParaRPr lang="en-US" altLang="ko-KR" sz="12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None/>
            </a:pP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  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각 시스템 간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I/F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통한 창고 수불 관리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)</a:t>
            </a:r>
            <a:endParaRPr lang="en-US" altLang="ko-KR" sz="12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None/>
            </a:pP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1) WMS :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개별 창고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센터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)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 관리</a:t>
            </a:r>
            <a:endParaRPr lang="en-US" altLang="ko-KR" sz="12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ko-KR" sz="1200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    (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정상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불량 등 실물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Zone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으로 운영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ko-KR" sz="1200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    </a:t>
            </a:r>
            <a:r>
              <a:rPr lang="en-US" altLang="ko-KR" sz="1200" dirty="0" smtClean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cf.</a:t>
            </a:r>
          </a:p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    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패션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ERP : YA/YC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등 </a:t>
            </a:r>
            <a:r>
              <a:rPr lang="ko-KR" altLang="en-US" sz="1200" dirty="0" err="1" smtClean="0">
                <a:latin typeface="+mj-ea"/>
                <a:ea typeface="+mj-ea"/>
                <a:cs typeface="Times New Roman" panose="02020603050405020304" pitchFamily="18" charset="0"/>
              </a:rPr>
              <a:t>실창고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 및 </a:t>
            </a:r>
            <a:r>
              <a:rPr lang="ko-KR" altLang="en-US" sz="1200" dirty="0" err="1" smtClean="0">
                <a:latin typeface="+mj-ea"/>
                <a:ea typeface="+mj-ea"/>
                <a:cs typeface="Times New Roman" panose="02020603050405020304" pitchFamily="18" charset="0"/>
              </a:rPr>
              <a:t>가상창고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 운영</a:t>
            </a:r>
            <a:endParaRPr lang="en-US" altLang="ko-KR" sz="12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    </a:t>
            </a:r>
            <a:r>
              <a:rPr lang="en-US" altLang="ko-KR" sz="1200" dirty="0">
                <a:latin typeface="+mj-ea"/>
                <a:ea typeface="+mj-ea"/>
                <a:cs typeface="Times New Roman" panose="02020603050405020304" pitchFamily="18" charset="0"/>
              </a:rPr>
              <a:t>-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신성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14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개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, ATION 8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개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(WMS), YA/YC(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패션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)</a:t>
            </a:r>
            <a:endParaRPr lang="en-US" altLang="ko-KR" sz="12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None/>
            </a:pP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2)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전체 센터 별 창고 수불 조회 기능 없음</a:t>
            </a:r>
            <a:endParaRPr lang="en-US" altLang="ko-KR" sz="12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200" dirty="0">
                <a:latin typeface="+mj-ea"/>
                <a:ea typeface="+mj-ea"/>
                <a:cs typeface="Times New Roman" panose="02020603050405020304" pitchFamily="18" charset="0"/>
              </a:rPr>
              <a:t>   -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제품에 대한 전체 센터 별 창고 수불 현황</a:t>
            </a:r>
            <a:endParaRPr lang="en-US" altLang="ko-KR" sz="12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 3) B2C :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 센터코드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(WMS)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  <a:sym typeface="Wingdings" panose="05000000000000000000" pitchFamily="2" charset="2"/>
              </a:rPr>
              <a:t>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  <a:sym typeface="Wingdings" panose="05000000000000000000" pitchFamily="2" charset="2"/>
              </a:rPr>
              <a:t>매장코드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  <a:sym typeface="Wingdings" panose="05000000000000000000" pitchFamily="2" charset="2"/>
              </a:rPr>
              <a:t>패션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altLang="ko-KR" sz="12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3" name="AutoShape 12"/>
          <p:cNvSpPr>
            <a:spLocks noChangeArrowheads="1"/>
          </p:cNvSpPr>
          <p:nvPr/>
        </p:nvSpPr>
        <p:spPr bwMode="gray">
          <a:xfrm>
            <a:off x="1381125" y="1362992"/>
            <a:ext cx="1638300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3C052"/>
              </a:gs>
              <a:gs pos="100000">
                <a:srgbClr val="B4D386"/>
              </a:gs>
            </a:gsLst>
            <a:lin ang="0" scaled="1"/>
          </a:gra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/>
          <a:lstStyle>
            <a:lvl1pPr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400" dirty="0">
                <a:solidFill>
                  <a:srgbClr val="FFFFFF"/>
                </a:solidFill>
                <a:latin typeface="+mj-ea"/>
                <a:ea typeface="+mj-ea"/>
              </a:rPr>
              <a:t>현 상</a:t>
            </a:r>
          </a:p>
        </p:txBody>
      </p:sp>
      <p:sp>
        <p:nvSpPr>
          <p:cNvPr id="75" name="Text Box 15"/>
          <p:cNvSpPr txBox="1">
            <a:spLocks noChangeArrowheads="1"/>
          </p:cNvSpPr>
          <p:nvPr/>
        </p:nvSpPr>
        <p:spPr bwMode="auto">
          <a:xfrm>
            <a:off x="4232920" y="2618910"/>
            <a:ext cx="1530350" cy="501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1450" indent="-171450">
              <a:lnSpc>
                <a:spcPct val="14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854075" indent="-285750">
              <a:lnSpc>
                <a:spcPct val="16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336675" indent="-198438">
              <a:lnSpc>
                <a:spcPct val="160000"/>
              </a:lnSpc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817688" indent="-192088">
              <a:lnSpc>
                <a:spcPct val="160000"/>
              </a:lnSpc>
              <a:buClr>
                <a:srgbClr val="800000"/>
              </a:buClr>
              <a:buSzPct val="80000"/>
              <a:buFont typeface="Wingdings" panose="05000000000000000000" pitchFamily="2" charset="2"/>
              <a:buChar char="ü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198688" indent="-190500">
              <a:lnSpc>
                <a:spcPct val="160000"/>
              </a:lnSpc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655888" indent="-1905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3113088" indent="-1905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570288" indent="-1905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4027488" indent="-1905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400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창고수불</a:t>
            </a:r>
            <a:endParaRPr lang="en-US" altLang="ko-KR" sz="1400" dirty="0" smtClean="0">
              <a:solidFill>
                <a:srgbClr val="0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400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데이터관리 개선</a:t>
            </a:r>
            <a:endParaRPr lang="ko-KR" altLang="en-US" sz="1400" dirty="0">
              <a:solidFill>
                <a:srgbClr val="0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4" name="AutoShape 19"/>
          <p:cNvSpPr>
            <a:spLocks noChangeArrowheads="1"/>
          </p:cNvSpPr>
          <p:nvPr/>
        </p:nvSpPr>
        <p:spPr bwMode="gray">
          <a:xfrm>
            <a:off x="6985000" y="1340767"/>
            <a:ext cx="1462088" cy="431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EA7EA"/>
              </a:gs>
              <a:gs pos="100000">
                <a:srgbClr val="83C2F0"/>
              </a:gs>
            </a:gsLst>
            <a:lin ang="0" scaled="1"/>
          </a:gra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/>
          <a:lstStyle>
            <a:lvl1pPr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ko-KR" altLang="en-US" sz="1400" dirty="0">
                <a:solidFill>
                  <a:srgbClr val="FFFFFF"/>
                </a:solidFill>
                <a:latin typeface="+mj-ea"/>
                <a:ea typeface="+mj-ea"/>
              </a:rPr>
              <a:t>개선과제</a:t>
            </a:r>
            <a:r>
              <a:rPr lang="ko-KR" altLang="en-US" sz="1800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91" name="Text Box 20"/>
          <p:cNvSpPr txBox="1">
            <a:spLocks noChangeArrowheads="1"/>
          </p:cNvSpPr>
          <p:nvPr/>
        </p:nvSpPr>
        <p:spPr bwMode="auto">
          <a:xfrm>
            <a:off x="6123130" y="1943835"/>
            <a:ext cx="360838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71450" indent="-171450">
              <a:lnSpc>
                <a:spcPct val="14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q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628650" indent="-171450">
              <a:lnSpc>
                <a:spcPct val="160000"/>
              </a:lnSpc>
              <a:buClr>
                <a:schemeClr val="tx1"/>
              </a:buClr>
              <a:buSzPct val="80000"/>
              <a:buFont typeface="Wingdings" panose="05000000000000000000" pitchFamily="2" charset="2"/>
              <a:buChar char="v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085850" indent="-171450">
              <a:lnSpc>
                <a:spcPct val="160000"/>
              </a:lnSpc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543050" indent="-171450">
              <a:lnSpc>
                <a:spcPct val="160000"/>
              </a:lnSpc>
              <a:buClr>
                <a:srgbClr val="800000"/>
              </a:buClr>
              <a:buSzPct val="80000"/>
              <a:buFont typeface="Wingdings" panose="05000000000000000000" pitchFamily="2" charset="2"/>
              <a:buChar char="ü"/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00250" indent="-171450">
              <a:lnSpc>
                <a:spcPct val="160000"/>
              </a:lnSpc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457450" indent="-1714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14650" indent="-1714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371850" indent="-1714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29050" indent="-17145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>
                <a:srgbClr val="800000"/>
              </a:buClr>
              <a:buSzPct val="80000"/>
              <a:buFont typeface="Wingdings" panose="05000000000000000000" pitchFamily="2" charset="2"/>
              <a:buChar char="è"/>
              <a:defRPr kumimoji="1" sz="12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각 창고 재고의 시스템 간 동일 데이터 관리</a:t>
            </a:r>
            <a:endParaRPr lang="en-US" altLang="ko-KR" sz="12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ko-KR" sz="1200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  - WMS/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패션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ERP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창고 수불 정합성 일치 </a:t>
            </a:r>
            <a:endParaRPr lang="en-US" altLang="ko-KR" sz="12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패션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ERP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 대비 센터 별 창고수불 가시성 구현</a:t>
            </a:r>
            <a:endParaRPr lang="en-US" altLang="ko-KR" sz="12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ko-KR" sz="1200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  (AS-IS) </a:t>
            </a:r>
            <a:r>
              <a:rPr lang="ko-KR" altLang="en-US" sz="1200" dirty="0" err="1" smtClean="0">
                <a:latin typeface="+mj-ea"/>
                <a:ea typeface="+mj-ea"/>
                <a:cs typeface="Times New Roman" panose="02020603050405020304" pitchFamily="18" charset="0"/>
              </a:rPr>
              <a:t>전일자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 기준 재고</a:t>
            </a:r>
            <a:endParaRPr lang="en-US" altLang="ko-KR" sz="12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ko-KR" sz="1200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  (TO-BE)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준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)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실시간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재고 확인 최적화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구축</a:t>
            </a:r>
            <a:endParaRPr lang="en-US" altLang="ko-KR" sz="12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B2C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센터 매장코드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  <a:sym typeface="Wingdings" panose="05000000000000000000" pitchFamily="2" charset="2"/>
              </a:rPr>
              <a:t>창고코드 전환 관리</a:t>
            </a:r>
            <a:endParaRPr lang="en-US" altLang="ko-KR" sz="1200" dirty="0" smtClean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ko-KR" sz="1200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  - 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매장</a:t>
            </a:r>
            <a:r>
              <a:rPr lang="en-US" altLang="ko-KR" sz="1200" dirty="0" smtClean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ko-KR" altLang="en-US" sz="1200" dirty="0" smtClean="0">
                <a:latin typeface="+mj-ea"/>
                <a:ea typeface="+mj-ea"/>
                <a:cs typeface="Times New Roman" panose="02020603050405020304" pitchFamily="18" charset="0"/>
              </a:rPr>
              <a:t>창고 재고의 명확한 분리 관리</a:t>
            </a:r>
            <a:endParaRPr lang="en-US" altLang="ko-KR" sz="12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92" name="Group 33"/>
          <p:cNvGrpSpPr>
            <a:grpSpLocks/>
          </p:cNvGrpSpPr>
          <p:nvPr/>
        </p:nvGrpSpPr>
        <p:grpSpPr bwMode="auto">
          <a:xfrm>
            <a:off x="293688" y="5307685"/>
            <a:ext cx="9317037" cy="1136650"/>
            <a:chOff x="720" y="2112"/>
            <a:chExt cx="1440" cy="1680"/>
          </a:xfrm>
        </p:grpSpPr>
        <p:sp>
          <p:nvSpPr>
            <p:cNvPr id="93" name="AutoShape 34"/>
            <p:cNvSpPr>
              <a:spLocks noChangeArrowheads="1"/>
            </p:cNvSpPr>
            <p:nvPr/>
          </p:nvSpPr>
          <p:spPr bwMode="auto">
            <a:xfrm>
              <a:off x="720" y="2112"/>
              <a:ext cx="1440" cy="168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99CCFF"/>
                      </a:gs>
                      <a:gs pos="100000">
                        <a:srgbClr val="E3F1FF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endParaRPr lang="ko-KR" altLang="ko-KR" sz="1800" b="0">
                <a:latin typeface="+mj-ea"/>
                <a:ea typeface="+mj-ea"/>
              </a:endParaRPr>
            </a:p>
          </p:txBody>
        </p:sp>
        <p:sp>
          <p:nvSpPr>
            <p:cNvPr id="94" name="Text Box 35"/>
            <p:cNvSpPr txBox="1">
              <a:spLocks noChangeArrowheads="1"/>
            </p:cNvSpPr>
            <p:nvPr/>
          </p:nvSpPr>
          <p:spPr bwMode="auto">
            <a:xfrm>
              <a:off x="780" y="2236"/>
              <a:ext cx="1284" cy="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4EA7EA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algn="ctr"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l"/>
              <a:endParaRPr lang="ko-KR" altLang="ko-KR" sz="1400" b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5" name="Rectangle 39"/>
          <p:cNvSpPr>
            <a:spLocks noChangeArrowheads="1"/>
          </p:cNvSpPr>
          <p:nvPr/>
        </p:nvSpPr>
        <p:spPr bwMode="auto">
          <a:xfrm>
            <a:off x="371475" y="5454225"/>
            <a:ext cx="9239250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ctr"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kumimoji="1" lang="ko-KR" altLang="en-US" sz="1200" dirty="0" smtClean="0">
                <a:latin typeface="+mj-ea"/>
                <a:ea typeface="+mj-ea"/>
              </a:rPr>
              <a:t> 제품별 창고 수불의 데이터 관리 개선을 통하여 거점의 재고수량</a:t>
            </a:r>
            <a:r>
              <a:rPr lang="en-US" altLang="ko-KR" sz="1200" dirty="0" smtClean="0">
                <a:latin typeface="+mj-ea"/>
                <a:ea typeface="+mj-ea"/>
              </a:rPr>
              <a:t>, </a:t>
            </a:r>
            <a:r>
              <a:rPr lang="ko-KR" altLang="en-US" sz="1200" dirty="0" smtClean="0">
                <a:latin typeface="+mj-ea"/>
                <a:ea typeface="+mj-ea"/>
              </a:rPr>
              <a:t>이동중인 수량 등을 사용자에게 제공 함으로써 효율적인 재고 </a:t>
            </a:r>
            <a:endParaRPr lang="en-US" altLang="ko-KR" sz="1200" dirty="0" smtClean="0">
              <a:latin typeface="+mj-ea"/>
              <a:ea typeface="+mj-ea"/>
            </a:endParaRPr>
          </a:p>
          <a:p>
            <a:pPr algn="l" eaLnBrk="1" hangingPunct="1">
              <a:spcBef>
                <a:spcPct val="20000"/>
              </a:spcBef>
            </a:pP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en-US" altLang="ko-KR" sz="1200" dirty="0" smtClean="0">
                <a:latin typeface="+mj-ea"/>
                <a:ea typeface="+mj-ea"/>
              </a:rPr>
              <a:t> </a:t>
            </a:r>
            <a:r>
              <a:rPr lang="ko-KR" altLang="en-US" sz="1200" dirty="0" smtClean="0">
                <a:latin typeface="+mj-ea"/>
                <a:ea typeface="+mj-ea"/>
              </a:rPr>
              <a:t>운영이 가능할 수 있도록 한다</a:t>
            </a:r>
            <a:r>
              <a:rPr lang="en-US" altLang="ko-KR" sz="1200" dirty="0" smtClean="0">
                <a:latin typeface="+mj-ea"/>
                <a:ea typeface="+mj-ea"/>
              </a:rPr>
              <a:t>.</a:t>
            </a:r>
            <a:endParaRPr kumimoji="1" lang="en-US" altLang="ko-KR" sz="1200" b="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073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2. </a:t>
            </a:r>
            <a:r>
              <a:rPr lang="ko-KR" altLang="en-US" dirty="0" smtClean="0">
                <a:latin typeface="+mn-ea"/>
                <a:ea typeface="+mn-ea"/>
              </a:rPr>
              <a:t>추진과제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272480" y="882046"/>
            <a:ext cx="47625" cy="238125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>
              <a:solidFill>
                <a:schemeClr val="accent3">
                  <a:lumMod val="75000"/>
                </a:schemeClr>
              </a:solidFill>
              <a:latin typeface="+mn-ea"/>
              <a:cs typeface="JBold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80600" y="1084548"/>
            <a:ext cx="9252919" cy="724272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>
              <a:lnSpc>
                <a:spcPct val="150000"/>
              </a:lnSpc>
              <a:defRPr/>
            </a:pPr>
            <a:r>
              <a:rPr kumimoji="0" lang="ko-KR" altLang="en-US" sz="1400" b="1" dirty="0" smtClean="0">
                <a:solidFill>
                  <a:prstClr val="black"/>
                </a:solidFill>
                <a:latin typeface="+mn-ea"/>
                <a:cs typeface="JBold" pitchFamily="18" charset="-127"/>
              </a:rPr>
              <a:t>추진 </a:t>
            </a:r>
            <a:r>
              <a:rPr kumimoji="0" lang="ko-KR" altLang="en-US" sz="1400" b="1" dirty="0">
                <a:solidFill>
                  <a:prstClr val="black"/>
                </a:solidFill>
                <a:latin typeface="+mn-ea"/>
                <a:cs typeface="JBold" pitchFamily="18" charset="-127"/>
              </a:rPr>
              <a:t>과제</a:t>
            </a:r>
            <a:endParaRPr kumimoji="0" lang="en-US" altLang="ko-KR" sz="1400" b="1" dirty="0">
              <a:solidFill>
                <a:prstClr val="black"/>
              </a:solidFill>
              <a:latin typeface="+mn-ea"/>
              <a:cs typeface="JBold" pitchFamily="18" charset="-127"/>
            </a:endParaRPr>
          </a:p>
          <a:p>
            <a:pPr marL="342900" indent="-342900">
              <a:lnSpc>
                <a:spcPct val="150000"/>
              </a:lnSpc>
              <a:defRPr/>
            </a:pP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① </a:t>
            </a:r>
            <a:r>
              <a:rPr lang="en-US" altLang="ko-KR" sz="1300" b="1" dirty="0" smtClean="0">
                <a:solidFill>
                  <a:schemeClr val="tx1"/>
                </a:solidFill>
                <a:latin typeface="+mn-ea"/>
              </a:rPr>
              <a:t>WMS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에 발생한 실적을 패션</a:t>
            </a:r>
            <a:r>
              <a:rPr lang="en-US" altLang="ko-KR" sz="1300" b="1" dirty="0" smtClean="0">
                <a:solidFill>
                  <a:schemeClr val="tx1"/>
                </a:solidFill>
                <a:latin typeface="+mn-ea"/>
              </a:rPr>
              <a:t>ERP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로 실적 반영 시 </a:t>
            </a:r>
            <a:r>
              <a:rPr lang="en-US" altLang="ko-KR" sz="1300" b="1" dirty="0" smtClean="0">
                <a:solidFill>
                  <a:schemeClr val="tx1"/>
                </a:solidFill>
                <a:latin typeface="+mn-ea"/>
              </a:rPr>
              <a:t>WMS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센터 연동</a:t>
            </a:r>
            <a:endParaRPr lang="en-US" altLang="ko-KR" sz="13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defRPr/>
            </a:pPr>
            <a:r>
              <a:rPr lang="ko-KR" altLang="en-US" sz="1300" b="1" dirty="0" smtClean="0">
                <a:solidFill>
                  <a:schemeClr val="tx1"/>
                </a:solidFill>
                <a:latin typeface="+mn-ea"/>
                <a:cs typeface="JBold" pitchFamily="18" charset="-127"/>
                <a:sym typeface="Wingdings" pitchFamily="2" charset="2"/>
              </a:rPr>
              <a:t>② </a:t>
            </a:r>
            <a:r>
              <a:rPr lang="en-US" altLang="ko-KR" sz="1300" b="1" dirty="0" smtClean="0">
                <a:solidFill>
                  <a:schemeClr val="tx1"/>
                </a:solidFill>
                <a:latin typeface="+mn-ea"/>
              </a:rPr>
              <a:t>B2C 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센터의 </a:t>
            </a:r>
            <a:r>
              <a:rPr lang="ko-KR" altLang="en-US" sz="1300" b="1" dirty="0" err="1" smtClean="0">
                <a:solidFill>
                  <a:schemeClr val="tx1"/>
                </a:solidFill>
                <a:latin typeface="+mn-ea"/>
              </a:rPr>
              <a:t>매장코드를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 실물 </a:t>
            </a:r>
            <a:r>
              <a:rPr lang="ko-KR" altLang="en-US" sz="1300" b="1" dirty="0" err="1" smtClean="0">
                <a:solidFill>
                  <a:schemeClr val="tx1"/>
                </a:solidFill>
                <a:latin typeface="+mn-ea"/>
              </a:rPr>
              <a:t>창고코드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</a:rPr>
              <a:t> 전환으로 창고 데이터의 일치</a:t>
            </a:r>
            <a:endParaRPr lang="en-US" altLang="ko-KR" sz="1300" b="1" dirty="0" smtClean="0">
              <a:solidFill>
                <a:schemeClr val="tx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defRPr/>
            </a:pPr>
            <a:r>
              <a:rPr lang="ko-KR" altLang="en-US" sz="1300" b="1" dirty="0" smtClean="0">
                <a:solidFill>
                  <a:schemeClr val="tx1"/>
                </a:solidFill>
                <a:latin typeface="+mn-ea"/>
                <a:cs typeface="JBold" pitchFamily="18" charset="-127"/>
                <a:sym typeface="Wingdings" pitchFamily="2" charset="2"/>
              </a:rPr>
              <a:t>③ </a:t>
            </a:r>
            <a:r>
              <a:rPr lang="ko-KR" altLang="en-US" sz="1300" b="1" dirty="0" err="1" smtClean="0">
                <a:solidFill>
                  <a:schemeClr val="tx1"/>
                </a:solidFill>
                <a:latin typeface="+mn-ea"/>
                <a:cs typeface="JBold" pitchFamily="18" charset="-127"/>
                <a:sym typeface="Wingdings" pitchFamily="2" charset="2"/>
              </a:rPr>
              <a:t>창고수불의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  <a:cs typeface="JBold" pitchFamily="18" charset="-127"/>
                <a:sym typeface="Wingdings" pitchFamily="2" charset="2"/>
              </a:rPr>
              <a:t> 준</a:t>
            </a:r>
            <a:r>
              <a:rPr lang="en-US" altLang="ko-KR" sz="1300" b="1" dirty="0" smtClean="0">
                <a:solidFill>
                  <a:schemeClr val="tx1"/>
                </a:solidFill>
                <a:latin typeface="+mn-ea"/>
                <a:cs typeface="JBold" pitchFamily="18" charset="-127"/>
                <a:sym typeface="Wingdings" pitchFamily="2" charset="2"/>
              </a:rPr>
              <a:t>)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  <a:cs typeface="JBold" pitchFamily="18" charset="-127"/>
                <a:sym typeface="Wingdings" pitchFamily="2" charset="2"/>
              </a:rPr>
              <a:t>실시간 자료 제공</a:t>
            </a:r>
            <a:r>
              <a:rPr lang="en-US" altLang="ko-KR" sz="1300" b="1" dirty="0" smtClean="0">
                <a:solidFill>
                  <a:schemeClr val="tx1"/>
                </a:solidFill>
                <a:latin typeface="+mn-ea"/>
                <a:cs typeface="JBold" pitchFamily="18" charset="-127"/>
                <a:sym typeface="Wingdings" pitchFamily="2" charset="2"/>
              </a:rPr>
              <a:t> </a:t>
            </a:r>
            <a:r>
              <a:rPr lang="ko-KR" altLang="en-US" sz="1300" b="1" dirty="0" smtClean="0">
                <a:solidFill>
                  <a:schemeClr val="tx1"/>
                </a:solidFill>
                <a:latin typeface="+mn-ea"/>
                <a:cs typeface="JBold" pitchFamily="18" charset="-127"/>
                <a:sym typeface="Wingdings" pitchFamily="2" charset="2"/>
              </a:rPr>
              <a:t>및 재고 관리 및 운영 업무효율 개선</a:t>
            </a:r>
            <a:endParaRPr lang="en-US" altLang="ko-KR" sz="1300" b="1" dirty="0">
              <a:solidFill>
                <a:schemeClr val="tx1"/>
              </a:solidFill>
              <a:latin typeface="+mn-ea"/>
              <a:cs typeface="JBold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63897" y="2393885"/>
            <a:ext cx="9269621" cy="396044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597109" y="3460977"/>
            <a:ext cx="566545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1" name="직선 연결선 50"/>
          <p:cNvCxnSpPr/>
          <p:nvPr/>
        </p:nvCxnSpPr>
        <p:spPr>
          <a:xfrm>
            <a:off x="2164481" y="3845242"/>
            <a:ext cx="163325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2" name="직선 연결선 51"/>
          <p:cNvCxnSpPr/>
          <p:nvPr/>
        </p:nvCxnSpPr>
        <p:spPr>
          <a:xfrm>
            <a:off x="2162235" y="3470502"/>
            <a:ext cx="0" cy="369493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3" name="직선 연결선 52"/>
          <p:cNvCxnSpPr/>
          <p:nvPr/>
        </p:nvCxnSpPr>
        <p:spPr>
          <a:xfrm>
            <a:off x="1519785" y="3460977"/>
            <a:ext cx="123853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4" name="직사각형 53"/>
          <p:cNvSpPr/>
          <p:nvPr/>
        </p:nvSpPr>
        <p:spPr>
          <a:xfrm>
            <a:off x="802814" y="3191995"/>
            <a:ext cx="1224000" cy="648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kern="0" dirty="0">
                <a:solidFill>
                  <a:prstClr val="black"/>
                </a:solidFill>
                <a:latin typeface="+mn-ea"/>
                <a:ea typeface="+mn-ea"/>
              </a:rPr>
              <a:t>WMS/</a:t>
            </a:r>
            <a:r>
              <a:rPr kumimoji="0" lang="ko-KR" altLang="en-US" sz="1000" b="1" kern="0" dirty="0">
                <a:solidFill>
                  <a:prstClr val="black"/>
                </a:solidFill>
                <a:latin typeface="+mn-ea"/>
                <a:ea typeface="+mn-ea"/>
              </a:rPr>
              <a:t>패션</a:t>
            </a:r>
            <a:r>
              <a:rPr kumimoji="0" lang="en-US" altLang="ko-KR" sz="1000" b="1" kern="0" dirty="0">
                <a:solidFill>
                  <a:prstClr val="black"/>
                </a:solidFill>
                <a:latin typeface="+mn-ea"/>
                <a:ea typeface="+mn-ea"/>
              </a:rPr>
              <a:t>ERP </a:t>
            </a:r>
            <a:r>
              <a:rPr kumimoji="0" lang="ko-KR" altLang="en-US" sz="1000" b="1" kern="0" dirty="0" smtClean="0">
                <a:solidFill>
                  <a:prstClr val="black"/>
                </a:solidFill>
                <a:latin typeface="+mn-ea"/>
                <a:ea typeface="+mn-ea"/>
              </a:rPr>
              <a:t>창고수불 정합성 </a:t>
            </a:r>
            <a:endParaRPr kumimoji="0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2287521" y="3191994"/>
            <a:ext cx="1548000" cy="41297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kern="0" dirty="0" smtClean="0">
                <a:solidFill>
                  <a:prstClr val="black"/>
                </a:solidFill>
                <a:latin typeface="+mn-ea"/>
                <a:ea typeface="+mn-ea"/>
              </a:rPr>
              <a:t>I/F </a:t>
            </a:r>
            <a:r>
              <a:rPr kumimoji="0" lang="ko-KR" altLang="en-US" sz="1000" b="1" kern="0" dirty="0" smtClean="0">
                <a:solidFill>
                  <a:prstClr val="black"/>
                </a:solidFill>
                <a:latin typeface="+mn-ea"/>
                <a:ea typeface="+mn-ea"/>
              </a:rPr>
              <a:t>데이터  </a:t>
            </a:r>
            <a:r>
              <a:rPr kumimoji="0" lang="en-US" altLang="ko-KR" sz="1000" b="1" kern="0" dirty="0" smtClean="0">
                <a:solidFill>
                  <a:prstClr val="black"/>
                </a:solidFill>
                <a:latin typeface="+mn-ea"/>
                <a:ea typeface="+mn-ea"/>
              </a:rPr>
              <a:t>WMS</a:t>
            </a:r>
            <a:r>
              <a:rPr kumimoji="0" lang="ko-KR" altLang="en-US" sz="1000" b="1" kern="0" dirty="0" smtClean="0">
                <a:solidFill>
                  <a:prstClr val="black"/>
                </a:solidFill>
                <a:latin typeface="+mn-ea"/>
                <a:ea typeface="+mn-ea"/>
              </a:rPr>
              <a:t>센터코드 </a:t>
            </a:r>
            <a:r>
              <a:rPr kumimoji="0" lang="ko-KR" altLang="en-US" sz="1000" b="1" kern="0" dirty="0" err="1" smtClean="0">
                <a:solidFill>
                  <a:prstClr val="black"/>
                </a:solidFill>
                <a:latin typeface="+mn-ea"/>
                <a:ea typeface="+mn-ea"/>
              </a:rPr>
              <a:t>맵핑</a:t>
            </a:r>
            <a:r>
              <a:rPr kumimoji="0" lang="ko-KR" altLang="en-US" sz="1000" b="1" kern="0" dirty="0" smtClean="0">
                <a:solidFill>
                  <a:prstClr val="black"/>
                </a:solidFill>
                <a:latin typeface="+mn-ea"/>
                <a:ea typeface="+mn-ea"/>
              </a:rPr>
              <a:t> </a:t>
            </a:r>
            <a:endParaRPr kumimoji="0" lang="en-US" altLang="ko-KR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2286477" y="3683128"/>
            <a:ext cx="1548000" cy="36004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kern="0" dirty="0" smtClean="0">
                <a:solidFill>
                  <a:prstClr val="black"/>
                </a:solidFill>
                <a:latin typeface="+mn-ea"/>
                <a:ea typeface="+mn-ea"/>
              </a:rPr>
              <a:t>WMS </a:t>
            </a:r>
            <a:r>
              <a:rPr kumimoji="0" lang="ko-KR" altLang="en-US" sz="1000" b="1" kern="0" dirty="0" smtClean="0">
                <a:solidFill>
                  <a:prstClr val="black"/>
                </a:solidFill>
                <a:latin typeface="+mn-ea"/>
                <a:ea typeface="+mn-ea"/>
              </a:rPr>
              <a:t>센터간 이동 자료</a:t>
            </a:r>
            <a:endParaRPr kumimoji="0" lang="en-US" altLang="ko-KR" sz="1000" b="1" kern="0" dirty="0" smtClean="0">
              <a:solidFill>
                <a:prstClr val="black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패션</a:t>
            </a:r>
            <a:r>
              <a:rPr kumimoji="0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ERP </a:t>
            </a: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실적 추가 </a:t>
            </a:r>
            <a:endParaRPr kumimoji="0" lang="en-US" altLang="ko-KR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697692" y="3117373"/>
            <a:ext cx="216024" cy="216024"/>
          </a:xfrm>
          <a:prstGeom prst="rect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endParaRPr kumimoji="0" lang="ko-KR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597109" y="4447679"/>
            <a:ext cx="183600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1" name="직사각형 60"/>
          <p:cNvSpPr/>
          <p:nvPr/>
        </p:nvSpPr>
        <p:spPr>
          <a:xfrm>
            <a:off x="802814" y="4178697"/>
            <a:ext cx="1224000" cy="648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kern="0" dirty="0" smtClean="0">
                <a:solidFill>
                  <a:prstClr val="black"/>
                </a:solidFill>
                <a:latin typeface="+mn-ea"/>
                <a:ea typeface="+mn-ea"/>
              </a:rPr>
              <a:t>B2C </a:t>
            </a:r>
            <a:r>
              <a:rPr kumimoji="0" lang="ko-KR" altLang="en-US" sz="1000" b="1" kern="0" dirty="0" smtClean="0">
                <a:solidFill>
                  <a:prstClr val="black"/>
                </a:solidFill>
                <a:latin typeface="+mn-ea"/>
                <a:ea typeface="+mn-ea"/>
              </a:rPr>
              <a:t>센터매장코드의 </a:t>
            </a:r>
            <a:r>
              <a:rPr kumimoji="0" lang="ko-KR" altLang="en-US" sz="1000" b="1" kern="0" dirty="0" smtClean="0">
                <a:solidFill>
                  <a:prstClr val="black"/>
                </a:solidFill>
                <a:latin typeface="+mn-ea"/>
                <a:ea typeface="+mn-ea"/>
                <a:sym typeface="Wingdings" panose="05000000000000000000" pitchFamily="2" charset="2"/>
              </a:rPr>
              <a:t>창고 코드 전환</a:t>
            </a:r>
            <a:endParaRPr kumimoji="0" lang="en-US" altLang="ko-KR" sz="1000" b="1" kern="0" dirty="0" smtClean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287521" y="4235940"/>
            <a:ext cx="1548000" cy="55251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온라인 정산 업무 이관 </a:t>
            </a:r>
            <a:endParaRPr kumimoji="0" lang="en-US" altLang="ko-KR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697692" y="4104075"/>
            <a:ext cx="216024" cy="216024"/>
          </a:xfrm>
          <a:prstGeom prst="rect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endParaRPr kumimoji="0" lang="ko-KR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65" name="직선 연결선 64"/>
          <p:cNvCxnSpPr/>
          <p:nvPr/>
        </p:nvCxnSpPr>
        <p:spPr>
          <a:xfrm>
            <a:off x="587515" y="3470502"/>
            <a:ext cx="0" cy="1948843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66" name="Rectangle 41"/>
          <p:cNvSpPr>
            <a:spLocks noChangeArrowheads="1"/>
          </p:cNvSpPr>
          <p:nvPr/>
        </p:nvSpPr>
        <p:spPr bwMode="auto">
          <a:xfrm>
            <a:off x="711964" y="2785428"/>
            <a:ext cx="1440000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algn="ctr" defTabSz="957263" fontAlgn="auto">
              <a:spcBef>
                <a:spcPts val="0"/>
              </a:spcBef>
              <a:spcAft>
                <a:spcPts val="0"/>
              </a:spcAft>
              <a:buSzPct val="120000"/>
            </a:pPr>
            <a:r>
              <a:rPr kumimoji="0" lang="en-US" altLang="ko-KR" sz="1200" b="1" u="sng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&lt;</a:t>
            </a:r>
            <a:r>
              <a:rPr kumimoji="0" lang="ko-KR" altLang="en-US" sz="1200" b="1" u="sng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개선과제</a:t>
            </a:r>
            <a:r>
              <a:rPr kumimoji="0" lang="en-US" altLang="ko-KR" sz="1200" b="1" u="sng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&gt;</a:t>
            </a:r>
            <a:endParaRPr kumimoji="0" lang="en-US" altLang="ko-KR" sz="1200" b="1" u="sng" dirty="0">
              <a:solidFill>
                <a:prstClr val="black"/>
              </a:solidFill>
              <a:latin typeface="+mn-ea"/>
              <a:ea typeface="+mn-ea"/>
              <a:cs typeface="JBold" pitchFamily="18" charset="-127"/>
            </a:endParaRPr>
          </a:p>
        </p:txBody>
      </p:sp>
      <p:sp>
        <p:nvSpPr>
          <p:cNvPr id="67" name="Rectangle 41"/>
          <p:cNvSpPr>
            <a:spLocks noChangeArrowheads="1"/>
          </p:cNvSpPr>
          <p:nvPr/>
        </p:nvSpPr>
        <p:spPr bwMode="auto">
          <a:xfrm>
            <a:off x="2369811" y="2785428"/>
            <a:ext cx="1440000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algn="ctr" defTabSz="957263" fontAlgn="auto">
              <a:spcBef>
                <a:spcPts val="0"/>
              </a:spcBef>
              <a:spcAft>
                <a:spcPts val="0"/>
              </a:spcAft>
              <a:buSzPct val="120000"/>
            </a:pPr>
            <a:r>
              <a:rPr kumimoji="0" lang="en-US" altLang="ko-KR" sz="1200" b="1" u="sng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&lt;</a:t>
            </a:r>
            <a:r>
              <a:rPr kumimoji="0" lang="ko-KR" altLang="en-US" sz="1200" b="1" u="sng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핵심 전략</a:t>
            </a:r>
            <a:r>
              <a:rPr kumimoji="0" lang="en-US" altLang="ko-KR" sz="1200" b="1" u="sng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&gt;</a:t>
            </a:r>
            <a:endParaRPr kumimoji="0" lang="en-US" altLang="ko-KR" sz="1200" b="1" u="sng" dirty="0">
              <a:solidFill>
                <a:prstClr val="black"/>
              </a:solidFill>
              <a:latin typeface="+mn-ea"/>
              <a:ea typeface="+mn-ea"/>
              <a:cs typeface="JBold" pitchFamily="18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994841" y="3174083"/>
            <a:ext cx="5008609" cy="47705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·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패션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ERP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전표 생성 시 </a:t>
            </a:r>
            <a:r>
              <a:rPr kumimoji="0" lang="en-US" altLang="ko-KR" sz="1000" kern="0" noProof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WMS</a:t>
            </a:r>
            <a:r>
              <a:rPr kumimoji="0" lang="ko-KR" altLang="en-US" sz="1000" kern="0" noProof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센터 연동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  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 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모든 입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출고</a:t>
            </a:r>
            <a:r>
              <a:rPr kumimoji="0" lang="en-US" altLang="ko-KR" sz="1000" kern="0" noProof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 </a:t>
            </a:r>
            <a:r>
              <a:rPr kumimoji="0" lang="ko-KR" altLang="en-US" sz="1000" kern="0" noProof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실적 생성시 연동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· </a:t>
            </a:r>
            <a:r>
              <a:rPr lang="ko-KR" altLang="en-US" sz="1000" dirty="0" smtClean="0">
                <a:latin typeface="+mn-ea"/>
                <a:ea typeface="+mn-ea"/>
              </a:rPr>
              <a:t>창고 재고 데이터 재구성 </a:t>
            </a:r>
            <a:r>
              <a:rPr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> </a:t>
            </a:r>
            <a:r>
              <a:rPr lang="en-US" altLang="ko-KR" sz="1000" dirty="0" smtClean="0">
                <a:latin typeface="+mn-ea"/>
                <a:ea typeface="+mn-ea"/>
              </a:rPr>
              <a:t> 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WMS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센터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,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패션창고 코드 기준 데이터 생성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JBold" pitchFamily="18" charset="-127"/>
              <a:sym typeface="Wingdings" pitchFamily="2" charset="2"/>
            </a:endParaRPr>
          </a:p>
        </p:txBody>
      </p:sp>
      <p:sp>
        <p:nvSpPr>
          <p:cNvPr id="69" name="Rectangle 41"/>
          <p:cNvSpPr>
            <a:spLocks noChangeArrowheads="1"/>
          </p:cNvSpPr>
          <p:nvPr/>
        </p:nvSpPr>
        <p:spPr bwMode="auto">
          <a:xfrm>
            <a:off x="4171084" y="2785428"/>
            <a:ext cx="2627121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ctr" defTabSz="957263" fontAlgn="auto">
              <a:spcBef>
                <a:spcPts val="0"/>
              </a:spcBef>
              <a:spcAft>
                <a:spcPts val="0"/>
              </a:spcAft>
              <a:buSzPct val="120000"/>
            </a:pPr>
            <a:r>
              <a:rPr kumimoji="0" lang="en-US" altLang="ko-KR" sz="1200" b="1" u="sng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&lt;Action Plan&gt;</a:t>
            </a:r>
            <a:endParaRPr kumimoji="0" lang="en-US" altLang="ko-KR" sz="1200" b="1" u="sng" dirty="0">
              <a:solidFill>
                <a:prstClr val="black"/>
              </a:solidFill>
              <a:latin typeface="+mn-ea"/>
              <a:ea typeface="+mn-ea"/>
              <a:cs typeface="JBold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986743" y="3593118"/>
            <a:ext cx="5646775" cy="47705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· </a:t>
            </a:r>
            <a:r>
              <a:rPr kumimoji="0" lang="en-US" altLang="ko-KR" sz="1000" kern="0" noProof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WMS </a:t>
            </a:r>
            <a:r>
              <a:rPr kumimoji="0" lang="ko-KR" altLang="en-US" sz="1000" kern="0" noProof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센터간 이동 데이터 </a:t>
            </a:r>
            <a:r>
              <a:rPr kumimoji="0" lang="en-US" altLang="ko-KR" sz="1000" kern="0" noProof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I/F </a:t>
            </a:r>
            <a:r>
              <a:rPr kumimoji="0" lang="ko-KR" altLang="en-US" sz="1000" kern="0" noProof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추가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 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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현재 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WMS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센터간 이동 데이터는 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I/F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미수행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JBold" pitchFamily="18" charset="-127"/>
              <a:sym typeface="Wingdings" pitchFamily="2" charset="2"/>
            </a:endParaRPr>
          </a:p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· WMS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입고센터 확정 전 데이터 관리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anose="05000000000000000000" pitchFamily="2" charset="2"/>
              </a:rPr>
              <a:t>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이동중재고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,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실재고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,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전산재고 상세 관리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 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JBold" pitchFamily="18" charset="-127"/>
              <a:sym typeface="Wingdings" pitchFamily="2" charset="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000243" y="4199746"/>
            <a:ext cx="4058102" cy="669414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· DP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부문 </a:t>
            </a:r>
            <a:r>
              <a:rPr lang="ko-KR" altLang="en-US" sz="1000" dirty="0" err="1" smtClean="0">
                <a:latin typeface="+mn-ea"/>
                <a:ea typeface="+mn-ea"/>
              </a:rPr>
              <a:t>백앤드개발팀</a:t>
            </a:r>
            <a:r>
              <a:rPr lang="ko-KR" altLang="en-US" sz="1000" dirty="0" smtClean="0">
                <a:latin typeface="+mn-ea"/>
                <a:ea typeface="+mn-ea"/>
              </a:rPr>
              <a:t> </a:t>
            </a:r>
            <a:r>
              <a:rPr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> </a:t>
            </a:r>
            <a:r>
              <a:rPr lang="ko-KR" altLang="en-US" sz="1000" dirty="0" smtClean="0">
                <a:latin typeface="+mn-ea"/>
                <a:ea typeface="+mn-ea"/>
                <a:sym typeface="Wingdings" panose="05000000000000000000" pitchFamily="2" charset="2"/>
              </a:rPr>
              <a:t>패션</a:t>
            </a:r>
            <a:r>
              <a:rPr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>IT </a:t>
            </a:r>
            <a:r>
              <a:rPr lang="ko-KR" altLang="en-US" sz="1000" dirty="0" smtClean="0">
                <a:latin typeface="+mn-ea"/>
                <a:ea typeface="+mn-ea"/>
                <a:sym typeface="Wingdings" panose="05000000000000000000" pitchFamily="2" charset="2"/>
              </a:rPr>
              <a:t>이관 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JBold" pitchFamily="18" charset="-127"/>
              <a:sym typeface="Wingdings" pitchFamily="2" charset="2"/>
            </a:endParaRPr>
          </a:p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dirty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·</a:t>
            </a:r>
            <a:r>
              <a:rPr kumimoji="0" lang="en-US" altLang="ko-KR" sz="1000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 </a:t>
            </a:r>
            <a:r>
              <a:rPr kumimoji="0" lang="en-US" altLang="ko-KR" sz="1000" kern="0" noProof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B2C </a:t>
            </a:r>
            <a:r>
              <a:rPr kumimoji="0" lang="ko-KR" altLang="en-US" sz="1000" kern="0" noProof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매장코드에서 창고코드 전환 시 연계 </a:t>
            </a:r>
            <a:r>
              <a:rPr kumimoji="0" lang="en-US" altLang="ko-KR" sz="1000" kern="0" noProof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I/F </a:t>
            </a:r>
            <a:r>
              <a:rPr kumimoji="0" lang="ko-KR" altLang="en-US" sz="1000" kern="0" noProof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수정 보완</a:t>
            </a:r>
            <a:endParaRPr kumimoji="0" lang="en-US" altLang="ko-KR" sz="1000" kern="0" noProof="0" dirty="0" smtClean="0">
              <a:solidFill>
                <a:prstClr val="black"/>
              </a:solidFill>
              <a:latin typeface="+mn-ea"/>
              <a:ea typeface="+mn-ea"/>
              <a:cs typeface="JBold" pitchFamily="18" charset="-127"/>
              <a:sym typeface="Wingdings" pitchFamily="2" charset="2"/>
            </a:endParaRPr>
          </a:p>
          <a:p>
            <a:pPr fontAlgn="auto" latinLnBrk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· 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B2C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센터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,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패션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ERP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창고 </a:t>
            </a:r>
            <a:r>
              <a:rPr kumimoji="0" lang="ko-KR" altLang="en-US" sz="1000" kern="0" dirty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코드 기준 데이터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생성</a:t>
            </a:r>
            <a:endParaRPr kumimoji="0" lang="en-US" altLang="ko-KR" sz="1000" kern="0" dirty="0">
              <a:solidFill>
                <a:prstClr val="black"/>
              </a:solidFill>
              <a:latin typeface="+mn-ea"/>
              <a:ea typeface="+mn-ea"/>
              <a:cs typeface="JBold" pitchFamily="18" charset="-127"/>
              <a:sym typeface="Wingdings" pitchFamily="2" charset="2"/>
            </a:endParaRPr>
          </a:p>
        </p:txBody>
      </p:sp>
      <p:sp>
        <p:nvSpPr>
          <p:cNvPr id="73" name="Line 40"/>
          <p:cNvSpPr>
            <a:spLocks noChangeShapeType="1"/>
          </p:cNvSpPr>
          <p:nvPr/>
        </p:nvSpPr>
        <p:spPr bwMode="auto">
          <a:xfrm>
            <a:off x="380600" y="2213865"/>
            <a:ext cx="9252918" cy="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75" name="직선 연결선 74"/>
          <p:cNvCxnSpPr/>
          <p:nvPr/>
        </p:nvCxnSpPr>
        <p:spPr>
          <a:xfrm>
            <a:off x="595466" y="5419345"/>
            <a:ext cx="183600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4" name="직사각형 83"/>
          <p:cNvSpPr/>
          <p:nvPr/>
        </p:nvSpPr>
        <p:spPr>
          <a:xfrm>
            <a:off x="801171" y="5150363"/>
            <a:ext cx="1224000" cy="483882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dirty="0" smtClean="0">
                <a:solidFill>
                  <a:prstClr val="black"/>
                </a:solidFill>
                <a:latin typeface="+mn-ea"/>
                <a:ea typeface="+mn-ea"/>
              </a:rPr>
              <a:t>센터 별 </a:t>
            </a:r>
            <a:r>
              <a:rPr kumimoji="0" lang="ko-KR" altLang="en-US" sz="1000" b="1" kern="0" dirty="0">
                <a:solidFill>
                  <a:prstClr val="black"/>
                </a:solidFill>
                <a:latin typeface="+mn-ea"/>
                <a:ea typeface="+mn-ea"/>
              </a:rPr>
              <a:t>창고수불 가시성 구현</a:t>
            </a:r>
            <a:endParaRPr kumimoji="0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696049" y="5075741"/>
            <a:ext cx="216024" cy="216024"/>
          </a:xfrm>
          <a:prstGeom prst="rect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kern="0" dirty="0">
                <a:solidFill>
                  <a:prstClr val="white"/>
                </a:solidFill>
                <a:latin typeface="+mn-ea"/>
                <a:ea typeface="+mn-ea"/>
              </a:rPr>
              <a:t>3</a:t>
            </a:r>
            <a:endParaRPr kumimoji="0" lang="ko-KR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2297705" y="5208048"/>
            <a:ext cx="1548000" cy="42619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창고수불 관련 </a:t>
            </a:r>
            <a:endParaRPr kumimoji="0" lang="en-US" altLang="ko-KR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화면 개발</a:t>
            </a:r>
            <a:endParaRPr kumimoji="0" lang="en-US" altLang="ko-KR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987523" y="5274205"/>
            <a:ext cx="4070822" cy="28469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JBold" pitchFamily="18" charset="-127"/>
                <a:sym typeface="Wingdings" pitchFamily="2" charset="2"/>
              </a:rPr>
              <a:t>·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일별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,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  <a:sym typeface="Wingdings" pitchFamily="2" charset="2"/>
              </a:rPr>
              <a:t>월별 시점에 대한 화면 신규 개발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JBold" pitchFamily="18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2922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dirty="0" smtClean="0">
                <a:latin typeface="+mn-ea"/>
                <a:ea typeface="+mn-ea"/>
              </a:rPr>
              <a:t>. </a:t>
            </a:r>
            <a:r>
              <a:rPr lang="ko-KR" altLang="en-US" dirty="0" smtClean="0">
                <a:latin typeface="+mn-ea"/>
                <a:ea typeface="+mn-ea"/>
              </a:rPr>
              <a:t>별첨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34" name="Rectangle 41"/>
          <p:cNvSpPr>
            <a:spLocks noChangeArrowheads="1"/>
          </p:cNvSpPr>
          <p:nvPr/>
        </p:nvSpPr>
        <p:spPr bwMode="auto">
          <a:xfrm>
            <a:off x="407495" y="973791"/>
            <a:ext cx="4257675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defTabSz="957263" fontAlgn="auto">
              <a:spcBef>
                <a:spcPts val="0"/>
              </a:spcBef>
              <a:spcAft>
                <a:spcPts val="0"/>
              </a:spcAft>
              <a:buSzPct val="120000"/>
            </a:pPr>
            <a:r>
              <a:rPr kumimoji="0" lang="en-US" altLang="ko-KR" sz="1300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▶ </a:t>
            </a:r>
            <a:r>
              <a:rPr kumimoji="0" lang="ko-KR" altLang="en-US" sz="1100" b="1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창고 </a:t>
            </a:r>
            <a:r>
              <a:rPr kumimoji="0" lang="ko-KR" altLang="en-US" sz="1100" b="1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수불 현황    조회일자 </a:t>
            </a:r>
            <a:r>
              <a:rPr kumimoji="0" lang="en-US" altLang="ko-KR" sz="1100" b="1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: 2023-10-31 </a:t>
            </a:r>
            <a:r>
              <a:rPr kumimoji="0" lang="ko-KR" altLang="en-US" sz="1100" b="1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브랜드 </a:t>
            </a:r>
            <a:r>
              <a:rPr kumimoji="0" lang="en-US" altLang="ko-KR" sz="1100" b="1" dirty="0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: </a:t>
            </a:r>
            <a:r>
              <a:rPr kumimoji="0" lang="ko-KR" altLang="en-US" sz="1100" b="1" dirty="0" err="1" smtClean="0">
                <a:solidFill>
                  <a:prstClr val="black"/>
                </a:solidFill>
                <a:latin typeface="+mn-ea"/>
                <a:ea typeface="+mn-ea"/>
                <a:cs typeface="JBold" pitchFamily="18" charset="-127"/>
              </a:rPr>
              <a:t>탑텐</a:t>
            </a:r>
            <a:endParaRPr kumimoji="0" lang="en-US" altLang="ko-KR" sz="1100" b="1" dirty="0">
              <a:solidFill>
                <a:prstClr val="black"/>
              </a:solidFill>
              <a:latin typeface="+mn-ea"/>
              <a:ea typeface="+mn-ea"/>
              <a:cs typeface="JBold" pitchFamily="18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646756"/>
              </p:ext>
            </p:extLst>
          </p:nvPr>
        </p:nvGraphicFramePr>
        <p:xfrm>
          <a:off x="407500" y="1227666"/>
          <a:ext cx="9046001" cy="4974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340"/>
                <a:gridCol w="388945"/>
                <a:gridCol w="646143"/>
                <a:gridCol w="646143"/>
                <a:gridCol w="646143"/>
                <a:gridCol w="646143"/>
                <a:gridCol w="646143"/>
                <a:gridCol w="646143"/>
                <a:gridCol w="646143"/>
                <a:gridCol w="646143"/>
                <a:gridCol w="646143"/>
                <a:gridCol w="646143"/>
                <a:gridCol w="646143"/>
                <a:gridCol w="646143"/>
              </a:tblGrid>
              <a:tr h="18612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칼라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사이즈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WMS</a:t>
                      </a:r>
                    </a:p>
                    <a:p>
                      <a:pPr algn="ctr" latinLnBrk="1"/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센터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10">
                  <a:txBody>
                    <a:bodyPr/>
                    <a:lstStyle/>
                    <a:p>
                      <a:pPr marL="0" marR="0" lvl="0" indent="0" algn="ctr" defTabSz="91434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정상창고</a:t>
                      </a:r>
                      <a:r>
                        <a:rPr lang="en-US" altLang="ko-KR" sz="900" u="none" strike="noStrike" dirty="0" smtClean="0">
                          <a:effectLst/>
                          <a:latin typeface="+mn-ea"/>
                          <a:ea typeface="+mn-ea"/>
                        </a:rPr>
                        <a:t>(YA)</a:t>
                      </a:r>
                      <a:endParaRPr lang="en-US" altLang="ko-KR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140079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기초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입고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자가소모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센터이동</a:t>
                      </a:r>
                      <a:endParaRPr lang="en-US" altLang="ko-KR" sz="900" u="none" strike="noStrike" dirty="0" smtClean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입고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센터이동</a:t>
                      </a:r>
                      <a:endParaRPr lang="en-US" altLang="ko-KR" sz="900" u="none" strike="noStrike" dirty="0" smtClean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이동수량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이동재고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실재고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전산재고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525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SSTS070B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1,330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1,329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525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SSTS080B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335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335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525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제품합계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1,665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335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1,329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SSTS070B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SSTS080B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495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495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530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제품합계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497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495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540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SSTS070B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540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SSTS080B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452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452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540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제품합계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455 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452 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2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2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550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SSTS070B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339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339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550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SSTS080B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13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550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제품합계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352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12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339 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560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SSTS070B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336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336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560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SSTS080B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560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제품합계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352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16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336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SSTS070B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99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99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570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SSTS080B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39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39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570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제품합계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138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39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99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DKH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525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SSTS070B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1,799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1,798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DKH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525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SSTS080B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469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467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DKH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525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제품합계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2,268 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467 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1,798 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DKH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SSTS070B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1,946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1,945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DKH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SSTS080B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395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392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3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3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/>
                </a:tc>
              </a:tr>
              <a:tr h="1861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MBD1PP1204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>
                          <a:effectLst/>
                          <a:latin typeface="+mn-ea"/>
                          <a:ea typeface="+mn-ea"/>
                        </a:rPr>
                        <a:t>DKH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530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제품합계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2,341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392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1,945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772" marR="4772" marT="4772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15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N_DEFAULTS_TEXT_BOX_FRAME" val="TXTF_WIDTH$True|TXTF_HEIGHT$True|TXTF_TOP$True|TXTF_LEFT$True|TXTF_FILL_COLOR$True|TXTF_LINE_WEIGHT$False|TXTF_LINE_STYLE$False|TXTF_LINE_COLOR$False|TXTF_MARGIN_TOP$False|TXTF_MARGIN_BOTTOM$False|TXTF_MARGIN_LEFT$False|TXTF_MARGIN_RIGHT$False|TXTF_WORD_WRAP$True|TXTF_FIT_SHAPE$False|TXTF_ROTATION$True|TXTF_ANCHOR_POINT$False"/>
  <p:tag name="ACN_DEFAULTS_TEXT_BOX_TEXTRANGE" val="TXT_BOLD$False|TXT_ITALIC$False|TXT_UNDERLINE$False|TXT_FONT_TYPE$True|TXT_FONT_SIZE$True|TXT_FONT_COLOR$True|TXT_SHADOW$False|TXT_SCRIPT$True"/>
  <p:tag name="ACN_DEFAULTS_TEXT_BOX_PARAGRAPH" val="PARA_ALIGNMENT$False|PARA_LINE_SPACING$False|PARA_BEFORE_PARAGRAPH$False|PARA_AFTER_PARAGRAPH$False"/>
  <p:tag name="ACN_DEFAULTS_TEXT_BOX_INDENTLEVEL" val="IND_PRESERVE$True|IND_False$False|IND_ADD$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BodyText"/>
  <p:tag name="DATE" val="2012-05-14 오전 10:15:57"/>
</p:tagLst>
</file>

<file path=ppt/theme/theme1.xml><?xml version="1.0" encoding="utf-8"?>
<a:theme xmlns:a="http://schemas.openxmlformats.org/drawingml/2006/main" name="경영정보팀 주간보고서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solidFill>
            <a:schemeClr val="accent1"/>
          </a:solidFill>
        </a:ln>
      </a:spPr>
      <a:bodyPr wrap="square" rtlCol="0" anchor="ctr">
        <a:noAutofit/>
      </a:bodyPr>
      <a:lstStyle>
        <a:defPPr marL="268288" indent="-215900" algn="ctr">
          <a:spcBef>
            <a:spcPct val="20000"/>
          </a:spcBef>
          <a:buClr>
            <a:srgbClr val="FFD200"/>
          </a:buClr>
          <a:buSzPct val="75000"/>
          <a:defRPr sz="1200" b="1" kern="0" dirty="0" smtClean="0">
            <a:solidFill>
              <a:schemeClr val="bg1"/>
            </a:solidFill>
            <a:latin typeface="맑은 고딕" pitchFamily="50" charset="-127"/>
            <a:ea typeface="맑은 고딕" pitchFamily="50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 marL="268288" indent="-215900">
          <a:spcBef>
            <a:spcPct val="20000"/>
          </a:spcBef>
          <a:buClr>
            <a:srgbClr val="FFD200"/>
          </a:buClr>
          <a:buSzPct val="75000"/>
          <a:buFont typeface="Arial" charset="0"/>
          <a:buChar char="►"/>
          <a:defRPr sz="1400" kern="0" dirty="0" smtClean="0">
            <a:solidFill>
              <a:srgbClr val="646464">
                <a:lumMod val="50000"/>
              </a:srgbClr>
            </a:solidFill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000000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4799F8C061FF54FA9C3F03411021153" ma:contentTypeVersion="0" ma:contentTypeDescription="새 문서를 만듭니다." ma:contentTypeScope="" ma:versionID="785d639d16b9fcf75a50f3b6492efe30">
  <xsd:schema xmlns:xsd="http://www.w3.org/2001/XMLSchema" xmlns:p="http://schemas.microsoft.com/office/2006/metadata/properties" targetNamespace="http://schemas.microsoft.com/office/2006/metadata/properties" ma:root="true" ma:fieldsID="6d1ee5c80bf69a1ee28e268965e8a72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 ma:readOnly="true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8AE160-D632-463C-AAE1-DFCBE262CDA4}">
  <ds:schemaRefs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78FE0ED-DF9C-4FBE-81BA-D32F2B2E97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3096ECB2-C7A9-48BE-915A-90E7F0B570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60491</TotalTime>
  <Words>887</Words>
  <Application>Microsoft Office PowerPoint</Application>
  <PresentationFormat>A4 용지(210x297mm)</PresentationFormat>
  <Paragraphs>421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4" baseType="lpstr">
      <vt:lpstr>JBold</vt:lpstr>
      <vt:lpstr>굴림</vt:lpstr>
      <vt:lpstr>나눔고딕</vt:lpstr>
      <vt:lpstr>나눔고딕 ExtraBold</vt:lpstr>
      <vt:lpstr>맑은 고딕</vt:lpstr>
      <vt:lpstr>Arial</vt:lpstr>
      <vt:lpstr>Helvetica</vt:lpstr>
      <vt:lpstr>Times New Roman</vt:lpstr>
      <vt:lpstr>Wingdings</vt:lpstr>
      <vt:lpstr>경영정보팀 주간보고서</vt:lpstr>
      <vt:lpstr>WMS센터별창고재고관리</vt:lpstr>
      <vt:lpstr>1. 배경 및 목적</vt:lpstr>
      <vt:lpstr>2. 추진과제</vt:lpstr>
      <vt:lpstr>3. 별첨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패션시스템</dc:title>
  <dc:creator>Administrator</dc:creator>
  <dc:description/>
  <cp:lastModifiedBy>pid0324</cp:lastModifiedBy>
  <cp:revision>2549</cp:revision>
  <cp:lastPrinted>2016-03-16T07:17:05Z</cp:lastPrinted>
  <dcterms:created xsi:type="dcterms:W3CDTF">2010-03-03T04:03:39Z</dcterms:created>
  <dcterms:modified xsi:type="dcterms:W3CDTF">2023-12-04T08:47:22Z</dcterms:modified>
</cp:coreProperties>
</file>