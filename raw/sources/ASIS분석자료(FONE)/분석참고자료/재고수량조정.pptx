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7B49-7B66-4728-8DB2-461DAA45B86F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FABDC-48B9-41A7-B016-08DDC6C7E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155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7B49-7B66-4728-8DB2-461DAA45B86F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FABDC-48B9-41A7-B016-08DDC6C7E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65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7B49-7B66-4728-8DB2-461DAA45B86F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FABDC-48B9-41A7-B016-08DDC6C7E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695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7B49-7B66-4728-8DB2-461DAA45B86F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FABDC-48B9-41A7-B016-08DDC6C7E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528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7B49-7B66-4728-8DB2-461DAA45B86F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FABDC-48B9-41A7-B016-08DDC6C7E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5954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7B49-7B66-4728-8DB2-461DAA45B86F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FABDC-48B9-41A7-B016-08DDC6C7E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90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7B49-7B66-4728-8DB2-461DAA45B86F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FABDC-48B9-41A7-B016-08DDC6C7E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34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7B49-7B66-4728-8DB2-461DAA45B86F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FABDC-48B9-41A7-B016-08DDC6C7E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947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7B49-7B66-4728-8DB2-461DAA45B86F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FABDC-48B9-41A7-B016-08DDC6C7E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546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7B49-7B66-4728-8DB2-461DAA45B86F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FABDC-48B9-41A7-B016-08DDC6C7E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362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7B49-7B66-4728-8DB2-461DAA45B86F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FABDC-48B9-41A7-B016-08DDC6C7E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749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37B49-7B66-4728-8DB2-461DAA45B86F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FABDC-48B9-41A7-B016-08DDC6C7E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3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96425" y="171554"/>
            <a:ext cx="11493496" cy="65697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200" b="1" dirty="0" smtClean="0">
                <a:solidFill>
                  <a:schemeClr val="tx1"/>
                </a:solidFill>
              </a:rPr>
              <a:t>[WMS 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수량 조정 가능 프로그램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]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</a:rPr>
              <a:t>1. </a:t>
            </a:r>
            <a:r>
              <a:rPr lang="ko-KR" altLang="en-US" sz="1200" dirty="0" smtClean="0">
                <a:solidFill>
                  <a:schemeClr val="tx1"/>
                </a:solidFill>
              </a:rPr>
              <a:t>조정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 smtClean="0">
                <a:solidFill>
                  <a:schemeClr val="tx1"/>
                </a:solidFill>
              </a:rPr>
              <a:t>  </a:t>
            </a:r>
            <a:r>
              <a:rPr lang="en-US" altLang="ko-KR" sz="1200" dirty="0" smtClean="0">
                <a:solidFill>
                  <a:schemeClr val="tx1"/>
                </a:solidFill>
              </a:rPr>
              <a:t>1) </a:t>
            </a:r>
            <a:r>
              <a:rPr lang="ko-KR" altLang="en-US" sz="1200" dirty="0" smtClean="0">
                <a:solidFill>
                  <a:schemeClr val="tx1"/>
                </a:solidFill>
              </a:rPr>
              <a:t>물류관리</a:t>
            </a:r>
            <a:r>
              <a:rPr lang="en-US" altLang="ko-KR" sz="1200" dirty="0" smtClean="0">
                <a:solidFill>
                  <a:schemeClr val="tx1"/>
                </a:solidFill>
              </a:rPr>
              <a:t>&gt;</a:t>
            </a:r>
            <a:r>
              <a:rPr lang="ko-KR" altLang="en-US" sz="1200" dirty="0" smtClean="0">
                <a:solidFill>
                  <a:schemeClr val="tx1"/>
                </a:solidFill>
              </a:rPr>
              <a:t>재고</a:t>
            </a:r>
            <a:r>
              <a:rPr lang="en-US" altLang="ko-KR" sz="1200" dirty="0" smtClean="0">
                <a:solidFill>
                  <a:schemeClr val="tx1"/>
                </a:solidFill>
              </a:rPr>
              <a:t>&gt;</a:t>
            </a:r>
            <a:r>
              <a:rPr lang="ko-KR" altLang="en-US" sz="1200" dirty="0" smtClean="0">
                <a:solidFill>
                  <a:schemeClr val="tx1"/>
                </a:solidFill>
              </a:rPr>
              <a:t>작업관리</a:t>
            </a:r>
            <a:r>
              <a:rPr lang="en-US" altLang="ko-KR" sz="1200" dirty="0" smtClean="0">
                <a:solidFill>
                  <a:schemeClr val="tx1"/>
                </a:solidFill>
              </a:rPr>
              <a:t>&gt;</a:t>
            </a:r>
            <a:r>
              <a:rPr lang="ko-KR" altLang="en-US" sz="1200" dirty="0" smtClean="0">
                <a:solidFill>
                  <a:schemeClr val="tx1"/>
                </a:solidFill>
              </a:rPr>
              <a:t>조정</a:t>
            </a:r>
            <a:r>
              <a:rPr lang="en-US" altLang="ko-KR" sz="1200" dirty="0" smtClean="0">
                <a:solidFill>
                  <a:schemeClr val="tx1"/>
                </a:solidFill>
              </a:rPr>
              <a:t>&gt;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수량조정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</a:rPr>
              <a:t>     - </a:t>
            </a:r>
            <a:r>
              <a:rPr lang="ko-KR" altLang="en-US" sz="1200" dirty="0" smtClean="0">
                <a:solidFill>
                  <a:schemeClr val="tx1"/>
                </a:solidFill>
              </a:rPr>
              <a:t>보유 재고 있는 스타일의 수량을 조정 가능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</a:rPr>
              <a:t>   </a:t>
            </a:r>
            <a:r>
              <a:rPr lang="en-US" altLang="ko-KR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해당 스타일</a:t>
            </a:r>
            <a:r>
              <a:rPr lang="en-US" altLang="ko-KR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컬러</a:t>
            </a:r>
            <a:r>
              <a:rPr lang="en-US" altLang="ko-KR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사이즈의 수량을 조정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          : </a:t>
            </a:r>
            <a:r>
              <a:rPr lang="ko-KR" altLang="en-US" sz="1200" dirty="0" smtClean="0">
                <a:solidFill>
                  <a:schemeClr val="tx1"/>
                </a:solidFill>
              </a:rPr>
              <a:t>미개발 </a:t>
            </a:r>
            <a:r>
              <a:rPr lang="en-US" altLang="ko-KR" sz="1200" dirty="0" smtClean="0">
                <a:solidFill>
                  <a:schemeClr val="tx1"/>
                </a:solidFill>
              </a:rPr>
              <a:t>(5</a:t>
            </a:r>
            <a:r>
              <a:rPr lang="ko-KR" altLang="en-US" sz="1200" dirty="0" smtClean="0">
                <a:solidFill>
                  <a:schemeClr val="tx1"/>
                </a:solidFill>
              </a:rPr>
              <a:t>월 </a:t>
            </a:r>
            <a:r>
              <a:rPr lang="en-US" altLang="ko-KR" sz="1200" dirty="0" smtClean="0">
                <a:solidFill>
                  <a:schemeClr val="tx1"/>
                </a:solidFill>
              </a:rPr>
              <a:t>~ 8</a:t>
            </a:r>
            <a:r>
              <a:rPr lang="ko-KR" altLang="en-US" sz="1200" dirty="0" smtClean="0">
                <a:solidFill>
                  <a:schemeClr val="tx1"/>
                </a:solidFill>
              </a:rPr>
              <a:t>월</a:t>
            </a:r>
            <a:r>
              <a:rPr lang="en-US" altLang="ko-KR" sz="1200" dirty="0" smtClean="0">
                <a:solidFill>
                  <a:schemeClr val="tx1"/>
                </a:solidFill>
              </a:rPr>
              <a:t>,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진소현</a:t>
            </a:r>
            <a:r>
              <a:rPr lang="en-US" altLang="ko-KR" sz="1200" dirty="0" smtClean="0">
                <a:solidFill>
                  <a:schemeClr val="tx1"/>
                </a:solidFill>
              </a:rPr>
              <a:t>D)</a:t>
            </a:r>
          </a:p>
          <a:p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ko-KR" altLang="en-US" sz="1200" dirty="0" smtClean="0">
                <a:solidFill>
                  <a:schemeClr val="tx1"/>
                </a:solidFill>
              </a:rPr>
              <a:t>  </a:t>
            </a:r>
            <a:r>
              <a:rPr lang="en-US" altLang="ko-KR" sz="1200" dirty="0" smtClean="0">
                <a:solidFill>
                  <a:schemeClr val="tx1"/>
                </a:solidFill>
              </a:rPr>
              <a:t>2) </a:t>
            </a:r>
            <a:r>
              <a:rPr lang="ko-KR" altLang="en-US" sz="1200" dirty="0" smtClean="0">
                <a:solidFill>
                  <a:schemeClr val="tx1"/>
                </a:solidFill>
              </a:rPr>
              <a:t>물류관리</a:t>
            </a:r>
            <a:r>
              <a:rPr lang="en-US" altLang="ko-KR" sz="1200" dirty="0" smtClean="0">
                <a:solidFill>
                  <a:schemeClr val="tx1"/>
                </a:solidFill>
              </a:rPr>
              <a:t>&gt;</a:t>
            </a:r>
            <a:r>
              <a:rPr lang="ko-KR" altLang="en-US" sz="1200" dirty="0" smtClean="0">
                <a:solidFill>
                  <a:schemeClr val="tx1"/>
                </a:solidFill>
              </a:rPr>
              <a:t>재고</a:t>
            </a:r>
            <a:r>
              <a:rPr lang="en-US" altLang="ko-KR" sz="1200" dirty="0" smtClean="0">
                <a:solidFill>
                  <a:schemeClr val="tx1"/>
                </a:solidFill>
              </a:rPr>
              <a:t>&gt;</a:t>
            </a:r>
            <a:r>
              <a:rPr lang="ko-KR" altLang="en-US" sz="1200" dirty="0" smtClean="0">
                <a:solidFill>
                  <a:schemeClr val="tx1"/>
                </a:solidFill>
              </a:rPr>
              <a:t>작업관리</a:t>
            </a:r>
            <a:r>
              <a:rPr lang="en-US" altLang="ko-KR" sz="1200" dirty="0" smtClean="0">
                <a:solidFill>
                  <a:schemeClr val="tx1"/>
                </a:solidFill>
              </a:rPr>
              <a:t>&gt;</a:t>
            </a:r>
            <a:r>
              <a:rPr lang="ko-KR" altLang="en-US" sz="1200" dirty="0" smtClean="0">
                <a:solidFill>
                  <a:schemeClr val="tx1"/>
                </a:solidFill>
              </a:rPr>
              <a:t>조정</a:t>
            </a:r>
            <a:r>
              <a:rPr lang="en-US" altLang="ko-KR" sz="1200" dirty="0" smtClean="0">
                <a:solidFill>
                  <a:schemeClr val="tx1"/>
                </a:solidFill>
              </a:rPr>
              <a:t>&gt;</a:t>
            </a:r>
            <a:r>
              <a:rPr lang="ko-KR" altLang="en-US" sz="1200" dirty="0" smtClean="0">
                <a:solidFill>
                  <a:schemeClr val="tx1"/>
                </a:solidFill>
              </a:rPr>
              <a:t>스타일수량조정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</a:rPr>
              <a:t>    - </a:t>
            </a:r>
            <a:r>
              <a:rPr lang="ko-KR" altLang="en-US" sz="1200" dirty="0" smtClean="0">
                <a:solidFill>
                  <a:schemeClr val="tx1"/>
                </a:solidFill>
              </a:rPr>
              <a:t>보유 재고 있는 스타일 내 </a:t>
            </a:r>
            <a:r>
              <a:rPr lang="en-US" altLang="ko-KR" sz="1200" dirty="0" smtClean="0">
                <a:solidFill>
                  <a:schemeClr val="tx1"/>
                </a:solidFill>
              </a:rPr>
              <a:t>(+/-)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합산값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0</a:t>
            </a:r>
            <a:r>
              <a:rPr lang="ko-KR" altLang="en-US" sz="1200" dirty="0" smtClean="0">
                <a:solidFill>
                  <a:schemeClr val="tx1"/>
                </a:solidFill>
              </a:rPr>
              <a:t>일 경우 수량 조정 가능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    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해당 스타일 선택 후 컬러</a:t>
            </a:r>
            <a:r>
              <a:rPr lang="en-US" altLang="ko-KR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사이즈에 수량을 조정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</a:rPr>
              <a:t>          : FONE </a:t>
            </a:r>
            <a:r>
              <a:rPr lang="ko-KR" altLang="en-US" sz="1200" dirty="0" smtClean="0">
                <a:solidFill>
                  <a:schemeClr val="tx1"/>
                </a:solidFill>
              </a:rPr>
              <a:t>인터페이스 개발 완료</a:t>
            </a:r>
            <a:r>
              <a:rPr lang="en-US" altLang="ko-KR" sz="1200" dirty="0" smtClean="0">
                <a:solidFill>
                  <a:schemeClr val="tx1"/>
                </a:solidFill>
              </a:rPr>
              <a:t>(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자가소모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+/- </a:t>
            </a:r>
            <a:r>
              <a:rPr lang="ko-KR" altLang="en-US" sz="1200" dirty="0" smtClean="0">
                <a:solidFill>
                  <a:schemeClr val="tx1"/>
                </a:solidFill>
              </a:rPr>
              <a:t>인터페이스</a:t>
            </a:r>
            <a:r>
              <a:rPr lang="en-US" altLang="ko-KR" sz="1200" dirty="0" smtClean="0">
                <a:solidFill>
                  <a:schemeClr val="tx1"/>
                </a:solidFill>
              </a:rPr>
              <a:t>)</a:t>
            </a:r>
          </a:p>
          <a:p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</a:rPr>
              <a:t>2. </a:t>
            </a:r>
            <a:r>
              <a:rPr lang="ko-KR" altLang="en-US" sz="1200" dirty="0" smtClean="0">
                <a:solidFill>
                  <a:schemeClr val="tx1"/>
                </a:solidFill>
              </a:rPr>
              <a:t>재고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ko-KR" altLang="en-US" sz="1200" dirty="0" smtClean="0">
                <a:solidFill>
                  <a:schemeClr val="tx1"/>
                </a:solidFill>
              </a:rPr>
              <a:t>  </a:t>
            </a:r>
            <a:r>
              <a:rPr lang="en-US" altLang="ko-KR" sz="1200" dirty="0" smtClean="0">
                <a:solidFill>
                  <a:schemeClr val="tx1"/>
                </a:solidFill>
              </a:rPr>
              <a:t>1) </a:t>
            </a:r>
            <a:r>
              <a:rPr lang="ko-KR" altLang="en-US" sz="1200" dirty="0" smtClean="0">
                <a:solidFill>
                  <a:schemeClr val="tx1"/>
                </a:solidFill>
              </a:rPr>
              <a:t>물류관리</a:t>
            </a:r>
            <a:r>
              <a:rPr lang="en-US" altLang="ko-KR" sz="1200" dirty="0" smtClean="0">
                <a:solidFill>
                  <a:schemeClr val="tx1"/>
                </a:solidFill>
              </a:rPr>
              <a:t>&gt;</a:t>
            </a:r>
            <a:r>
              <a:rPr lang="ko-KR" altLang="en-US" sz="1200" dirty="0" smtClean="0">
                <a:solidFill>
                  <a:schemeClr val="tx1"/>
                </a:solidFill>
              </a:rPr>
              <a:t>재고</a:t>
            </a:r>
            <a:r>
              <a:rPr lang="en-US" altLang="ko-KR" sz="1200" dirty="0" smtClean="0">
                <a:solidFill>
                  <a:schemeClr val="tx1"/>
                </a:solidFill>
              </a:rPr>
              <a:t>&gt;</a:t>
            </a:r>
            <a:r>
              <a:rPr lang="ko-KR" altLang="en-US" sz="1200" dirty="0" smtClean="0">
                <a:solidFill>
                  <a:schemeClr val="tx1"/>
                </a:solidFill>
              </a:rPr>
              <a:t>작업관리</a:t>
            </a:r>
            <a:r>
              <a:rPr lang="en-US" altLang="ko-KR" sz="1200" dirty="0" smtClean="0">
                <a:solidFill>
                  <a:schemeClr val="tx1"/>
                </a:solidFill>
              </a:rPr>
              <a:t>&gt;</a:t>
            </a:r>
            <a:r>
              <a:rPr lang="ko-KR" altLang="en-US" sz="1200" dirty="0" smtClean="0">
                <a:solidFill>
                  <a:schemeClr val="tx1"/>
                </a:solidFill>
              </a:rPr>
              <a:t>재고조사</a:t>
            </a:r>
            <a:r>
              <a:rPr lang="en-US" altLang="ko-KR" sz="1200" dirty="0" smtClean="0">
                <a:solidFill>
                  <a:schemeClr val="tx1"/>
                </a:solidFill>
              </a:rPr>
              <a:t>&gt;</a:t>
            </a:r>
            <a:r>
              <a:rPr lang="ko-KR" altLang="en-US" sz="1200" dirty="0" smtClean="0">
                <a:solidFill>
                  <a:schemeClr val="tx1"/>
                </a:solidFill>
              </a:rPr>
              <a:t>누락재고추가관리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</a:rPr>
              <a:t>    - </a:t>
            </a:r>
            <a:r>
              <a:rPr lang="ko-KR" altLang="en-US" sz="1200" dirty="0" smtClean="0">
                <a:solidFill>
                  <a:schemeClr val="tx1"/>
                </a:solidFill>
              </a:rPr>
              <a:t>재고 존재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미존재의</a:t>
            </a:r>
            <a:r>
              <a:rPr lang="ko-KR" altLang="en-US" sz="1200" dirty="0" smtClean="0">
                <a:solidFill>
                  <a:schemeClr val="tx1"/>
                </a:solidFill>
              </a:rPr>
              <a:t> 여부 상관 없이 재고 생성 가능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    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특정 스타일</a:t>
            </a:r>
            <a:r>
              <a:rPr lang="en-US" altLang="ko-KR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컬러</a:t>
            </a:r>
            <a:r>
              <a:rPr lang="en-US" altLang="ko-KR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사이즈의 수량을 생성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</a:rPr>
              <a:t>          : </a:t>
            </a:r>
            <a:r>
              <a:rPr lang="ko-KR" altLang="en-US" sz="1200" dirty="0" smtClean="0">
                <a:solidFill>
                  <a:schemeClr val="tx1"/>
                </a:solidFill>
              </a:rPr>
              <a:t>미개발 </a:t>
            </a:r>
            <a:r>
              <a:rPr lang="en-US" altLang="ko-KR" sz="1200" dirty="0" smtClean="0">
                <a:solidFill>
                  <a:schemeClr val="tx1"/>
                </a:solidFill>
              </a:rPr>
              <a:t>(5</a:t>
            </a:r>
            <a:r>
              <a:rPr lang="ko-KR" altLang="en-US" sz="1200" dirty="0" smtClean="0">
                <a:solidFill>
                  <a:schemeClr val="tx1"/>
                </a:solidFill>
              </a:rPr>
              <a:t>월 </a:t>
            </a:r>
            <a:r>
              <a:rPr lang="en-US" altLang="ko-KR" sz="1200" dirty="0" smtClean="0">
                <a:solidFill>
                  <a:schemeClr val="tx1"/>
                </a:solidFill>
              </a:rPr>
              <a:t>~ 8</a:t>
            </a:r>
            <a:r>
              <a:rPr lang="ko-KR" altLang="en-US" sz="1200" dirty="0" smtClean="0">
                <a:solidFill>
                  <a:schemeClr val="tx1"/>
                </a:solidFill>
              </a:rPr>
              <a:t>월</a:t>
            </a:r>
            <a:r>
              <a:rPr lang="en-US" altLang="ko-KR" sz="1200" dirty="0" smtClean="0">
                <a:solidFill>
                  <a:schemeClr val="tx1"/>
                </a:solidFill>
              </a:rPr>
              <a:t> ,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진소현</a:t>
            </a:r>
            <a:r>
              <a:rPr lang="en-US" altLang="ko-KR" sz="1200" dirty="0" smtClean="0">
                <a:solidFill>
                  <a:schemeClr val="tx1"/>
                </a:solidFill>
              </a:rPr>
              <a:t>D)</a:t>
            </a:r>
          </a:p>
          <a:p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b="1" dirty="0" smtClean="0">
                <a:solidFill>
                  <a:schemeClr val="tx1"/>
                </a:solidFill>
              </a:rPr>
              <a:t>[FONE 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수량 조정 가능 프로그램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]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</a:rPr>
              <a:t>1. </a:t>
            </a:r>
            <a:r>
              <a:rPr lang="ko-KR" altLang="en-US" sz="1200" dirty="0" smtClean="0">
                <a:solidFill>
                  <a:schemeClr val="tx1"/>
                </a:solidFill>
              </a:rPr>
              <a:t>실물 창고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</a:rPr>
              <a:t>   </a:t>
            </a:r>
            <a:r>
              <a:rPr lang="en-US" altLang="ko-KR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WMS</a:t>
            </a:r>
            <a:r>
              <a:rPr lang="ko-KR" altLang="en-US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 이관</a:t>
            </a:r>
            <a:r>
              <a:rPr lang="en-US" altLang="ko-KR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실물 창고</a:t>
            </a:r>
            <a:r>
              <a:rPr lang="en-US" altLang="ko-KR" sz="1200" dirty="0" smtClean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</a:p>
          <a:p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</a:rPr>
              <a:t>2. </a:t>
            </a:r>
            <a:r>
              <a:rPr lang="ko-KR" altLang="en-US" sz="1200" dirty="0" smtClean="0">
                <a:solidFill>
                  <a:schemeClr val="tx1"/>
                </a:solidFill>
              </a:rPr>
              <a:t>가상 창고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ko-KR" altLang="en-US" sz="1200" dirty="0" smtClean="0">
                <a:solidFill>
                  <a:schemeClr val="tx1"/>
                </a:solidFill>
              </a:rPr>
              <a:t>  </a:t>
            </a:r>
            <a:r>
              <a:rPr lang="en-US" altLang="ko-KR" sz="1200" dirty="0" smtClean="0">
                <a:solidFill>
                  <a:schemeClr val="tx1"/>
                </a:solidFill>
              </a:rPr>
              <a:t>1)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샘플창고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</a:rPr>
              <a:t>재고 수정할 경우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    -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생산처</a:t>
            </a:r>
            <a:r>
              <a:rPr lang="ko-KR" altLang="en-US" sz="1200" dirty="0" smtClean="0">
                <a:solidFill>
                  <a:schemeClr val="tx1"/>
                </a:solidFill>
              </a:rPr>
              <a:t> 입고 등록에 </a:t>
            </a:r>
            <a:r>
              <a:rPr lang="en-US" altLang="ko-KR" sz="1200" dirty="0" smtClean="0">
                <a:solidFill>
                  <a:schemeClr val="tx1"/>
                </a:solidFill>
              </a:rPr>
              <a:t>(+/-)</a:t>
            </a:r>
            <a:r>
              <a:rPr lang="ko-KR" altLang="en-US" sz="1200" dirty="0" smtClean="0">
                <a:solidFill>
                  <a:schemeClr val="tx1"/>
                </a:solidFill>
              </a:rPr>
              <a:t> 수량 등록하여 조정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</a:rPr>
              <a:t>  2)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수선실</a:t>
            </a:r>
            <a:r>
              <a:rPr lang="ko-KR" altLang="en-US" sz="1200" dirty="0" smtClean="0">
                <a:solidFill>
                  <a:schemeClr val="tx1"/>
                </a:solidFill>
              </a:rPr>
              <a:t> 창고 재고 수정할 경우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    - </a:t>
            </a:r>
            <a:r>
              <a:rPr lang="ko-KR" altLang="en-US" sz="1200" dirty="0" smtClean="0">
                <a:solidFill>
                  <a:schemeClr val="tx1"/>
                </a:solidFill>
              </a:rPr>
              <a:t>매장 반품 후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재입고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</a:rPr>
              <a:t>3. </a:t>
            </a:r>
            <a:r>
              <a:rPr lang="ko-KR" altLang="en-US" sz="1200" dirty="0" smtClean="0">
                <a:solidFill>
                  <a:schemeClr val="tx1"/>
                </a:solidFill>
              </a:rPr>
              <a:t>매장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 1) </a:t>
            </a:r>
            <a:r>
              <a:rPr lang="ko-KR" altLang="en-US" sz="1200" dirty="0" smtClean="0">
                <a:solidFill>
                  <a:schemeClr val="tx1"/>
                </a:solidFill>
              </a:rPr>
              <a:t>매장 스타일이 재고 실사 후 수정할 경우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</a:rPr>
              <a:t>     - </a:t>
            </a:r>
            <a:r>
              <a:rPr lang="ko-KR" altLang="en-US" sz="1200" dirty="0" smtClean="0">
                <a:solidFill>
                  <a:schemeClr val="tx1"/>
                </a:solidFill>
              </a:rPr>
              <a:t>판매 등록 후 스타일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</a:rPr>
              <a:t>컬러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</a:rPr>
              <a:t>사이즈를 바꿔 반품 처리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 2) </a:t>
            </a:r>
            <a:r>
              <a:rPr lang="ko-KR" altLang="en-US" sz="1200" dirty="0" smtClean="0">
                <a:solidFill>
                  <a:schemeClr val="tx1"/>
                </a:solidFill>
              </a:rPr>
              <a:t>매장 스타일의 컬러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</a:rPr>
              <a:t>사이즈 재고 수정할 경우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    - </a:t>
            </a:r>
            <a:r>
              <a:rPr lang="ko-KR" altLang="en-US" sz="1200" dirty="0" smtClean="0">
                <a:solidFill>
                  <a:schemeClr val="tx1"/>
                </a:solidFill>
              </a:rPr>
              <a:t>판매 등록 후 컬러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</a:rPr>
              <a:t>사이즈를 바꿔 반품 처리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807412" y="4591455"/>
            <a:ext cx="4435814" cy="1420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smtClean="0"/>
              <a:t>매장의 스타일</a:t>
            </a:r>
            <a:r>
              <a:rPr lang="en-US" altLang="ko-KR" sz="1000" dirty="0" smtClean="0"/>
              <a:t>/</a:t>
            </a:r>
            <a:r>
              <a:rPr lang="ko-KR" altLang="en-US" sz="1000" dirty="0" smtClean="0"/>
              <a:t>컬러</a:t>
            </a:r>
            <a:r>
              <a:rPr lang="en-US" altLang="ko-KR" sz="1000" dirty="0" smtClean="0"/>
              <a:t>/</a:t>
            </a:r>
            <a:r>
              <a:rPr lang="ko-KR" altLang="en-US" sz="1000" dirty="0" smtClean="0"/>
              <a:t>사이즈이 다를 경우 </a:t>
            </a:r>
            <a:r>
              <a:rPr lang="en-US" altLang="ko-KR" sz="1000" dirty="0" smtClean="0"/>
              <a:t>-&gt; </a:t>
            </a:r>
            <a:r>
              <a:rPr lang="ko-KR" altLang="en-US" sz="1000" dirty="0" smtClean="0"/>
              <a:t>대체 입고</a:t>
            </a:r>
            <a:r>
              <a:rPr lang="en-US" altLang="ko-KR" sz="1000" dirty="0" smtClean="0"/>
              <a:t>/</a:t>
            </a:r>
            <a:r>
              <a:rPr lang="ko-KR" altLang="en-US" sz="1000" dirty="0" smtClean="0"/>
              <a:t>출고 </a:t>
            </a:r>
            <a:r>
              <a:rPr lang="en-US" altLang="ko-KR" sz="1000" dirty="0" smtClean="0"/>
              <a:t>transaction</a:t>
            </a:r>
          </a:p>
          <a:p>
            <a:endParaRPr lang="en-US" altLang="ko-KR" sz="1000" dirty="0"/>
          </a:p>
          <a:p>
            <a:r>
              <a:rPr lang="ko-KR" altLang="en-US" sz="1000" dirty="0" smtClean="0"/>
              <a:t>매장의 재고가 없거나 추가가 있을 경우</a:t>
            </a:r>
            <a:endParaRPr lang="en-US" altLang="ko-KR" sz="1000" dirty="0" smtClean="0"/>
          </a:p>
          <a:p>
            <a:r>
              <a:rPr lang="en-US" altLang="ko-KR" sz="1000" dirty="0" smtClean="0">
                <a:sym typeface="Wingdings" panose="05000000000000000000" pitchFamily="2" charset="2"/>
              </a:rPr>
              <a:t> </a:t>
            </a:r>
            <a:r>
              <a:rPr lang="ko-KR" altLang="en-US" sz="1000" dirty="0" smtClean="0"/>
              <a:t>재고 삭제</a:t>
            </a:r>
            <a:r>
              <a:rPr lang="en-US" altLang="ko-KR" sz="1000" dirty="0" smtClean="0"/>
              <a:t>/</a:t>
            </a:r>
            <a:r>
              <a:rPr lang="ko-KR" altLang="en-US" sz="1000" dirty="0" smtClean="0"/>
              <a:t>추가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현재 반품으로 재고 생성</a:t>
            </a:r>
            <a:r>
              <a:rPr lang="en-US" altLang="ko-KR" sz="1000" dirty="0" smtClean="0"/>
              <a:t>)</a:t>
            </a:r>
          </a:p>
          <a:p>
            <a:r>
              <a:rPr lang="en-US" altLang="ko-KR" sz="1000" dirty="0" smtClean="0">
                <a:sym typeface="Wingdings" panose="05000000000000000000" pitchFamily="2" charset="2"/>
              </a:rPr>
              <a:t> </a:t>
            </a:r>
            <a:r>
              <a:rPr lang="ko-KR" altLang="en-US" sz="1000" dirty="0" smtClean="0">
                <a:sym typeface="Wingdings" panose="05000000000000000000" pitchFamily="2" charset="2"/>
              </a:rPr>
              <a:t>매장 </a:t>
            </a:r>
            <a:r>
              <a:rPr lang="en-US" altLang="ko-KR" sz="1000" dirty="0" smtClean="0">
                <a:sym typeface="Wingdings" panose="05000000000000000000" pitchFamily="2" charset="2"/>
              </a:rPr>
              <a:t>play </a:t>
            </a:r>
            <a:r>
              <a:rPr lang="ko-KR" altLang="en-US" sz="1000" dirty="0" smtClean="0">
                <a:sym typeface="Wingdings" panose="05000000000000000000" pitchFamily="2" charset="2"/>
              </a:rPr>
              <a:t>이슈가 너무 많음</a:t>
            </a:r>
            <a:r>
              <a:rPr lang="en-US" altLang="ko-KR" sz="1000" dirty="0" smtClean="0">
                <a:sym typeface="Wingdings" panose="05000000000000000000" pitchFamily="2" charset="2"/>
              </a:rPr>
              <a:t>(</a:t>
            </a:r>
            <a:r>
              <a:rPr lang="ko-KR" altLang="en-US" sz="1000" dirty="0" smtClean="0">
                <a:sym typeface="Wingdings" panose="05000000000000000000" pitchFamily="2" charset="2"/>
              </a:rPr>
              <a:t>영수증 없이 교환</a:t>
            </a:r>
            <a:r>
              <a:rPr lang="en-US" altLang="ko-KR" sz="1000" dirty="0" smtClean="0">
                <a:sym typeface="Wingdings" panose="05000000000000000000" pitchFamily="2" charset="2"/>
              </a:rPr>
              <a:t>[</a:t>
            </a:r>
            <a:r>
              <a:rPr lang="ko-KR" altLang="en-US" sz="1000" dirty="0" smtClean="0">
                <a:sym typeface="Wingdings" panose="05000000000000000000" pitchFamily="2" charset="2"/>
              </a:rPr>
              <a:t>선물</a:t>
            </a:r>
            <a:r>
              <a:rPr lang="en-US" altLang="ko-KR" sz="1000" dirty="0" smtClean="0">
                <a:sym typeface="Wingdings" panose="05000000000000000000" pitchFamily="2" charset="2"/>
              </a:rPr>
              <a:t>], </a:t>
            </a:r>
            <a:r>
              <a:rPr lang="ko-KR" altLang="en-US" sz="1000" dirty="0" err="1" smtClean="0">
                <a:sym typeface="Wingdings" panose="05000000000000000000" pitchFamily="2" charset="2"/>
              </a:rPr>
              <a:t>타매장</a:t>
            </a:r>
            <a:r>
              <a:rPr lang="ko-KR" altLang="en-US" sz="1000" dirty="0" smtClean="0">
                <a:sym typeface="Wingdings" panose="05000000000000000000" pitchFamily="2" charset="2"/>
              </a:rPr>
              <a:t> 반품 등</a:t>
            </a:r>
            <a:r>
              <a:rPr lang="en-US" altLang="ko-KR" sz="1000" dirty="0" smtClean="0">
                <a:sym typeface="Wingdings" panose="05000000000000000000" pitchFamily="2" charset="2"/>
              </a:rPr>
              <a:t>)</a:t>
            </a:r>
            <a:r>
              <a:rPr lang="ko-KR" altLang="en-US" sz="1000" dirty="0" smtClean="0">
                <a:sym typeface="Wingdings" panose="05000000000000000000" pitchFamily="2" charset="2"/>
              </a:rPr>
              <a:t>으로 판매 반품으로 정의함</a:t>
            </a:r>
            <a:r>
              <a:rPr lang="en-US" altLang="ko-KR" sz="1000" dirty="0" smtClean="0">
                <a:sym typeface="Wingdings" panose="05000000000000000000" pitchFamily="2" charset="2"/>
              </a:rPr>
              <a:t>.</a:t>
            </a:r>
          </a:p>
          <a:p>
            <a:endParaRPr lang="ko-KR" altLang="en-US" sz="1000" dirty="0"/>
          </a:p>
        </p:txBody>
      </p:sp>
      <p:sp>
        <p:nvSpPr>
          <p:cNvPr id="7" name="직사각형 6"/>
          <p:cNvSpPr/>
          <p:nvPr/>
        </p:nvSpPr>
        <p:spPr>
          <a:xfrm>
            <a:off x="5807412" y="2928025"/>
            <a:ext cx="4435814" cy="1420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smtClean="0"/>
              <a:t>가상 창고 제거 대상 확정 </a:t>
            </a:r>
            <a:r>
              <a:rPr lang="en-US" altLang="ko-KR" sz="1000" dirty="0" smtClean="0"/>
              <a:t>(</a:t>
            </a:r>
            <a:r>
              <a:rPr lang="ko-KR" altLang="en-US" sz="1000" dirty="0" err="1" smtClean="0"/>
              <a:t>다음장</a:t>
            </a:r>
            <a:r>
              <a:rPr lang="en-US" altLang="ko-KR" sz="1000" dirty="0" smtClean="0"/>
              <a:t>)</a:t>
            </a:r>
          </a:p>
          <a:p>
            <a:endParaRPr lang="en-US" altLang="ko-KR" sz="1000" dirty="0" smtClean="0"/>
          </a:p>
          <a:p>
            <a:r>
              <a:rPr lang="ko-KR" altLang="en-US" sz="1000" dirty="0" smtClean="0">
                <a:solidFill>
                  <a:srgbClr val="FF0000"/>
                </a:solidFill>
              </a:rPr>
              <a:t>가상 매장 제거 여부 확인 필요</a:t>
            </a:r>
            <a:r>
              <a:rPr lang="en-US" altLang="ko-KR" sz="1000" dirty="0" smtClean="0">
                <a:solidFill>
                  <a:srgbClr val="FF0000"/>
                </a:solidFill>
              </a:rPr>
              <a:t>!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16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01" y="476930"/>
            <a:ext cx="8810625" cy="4695825"/>
          </a:xfrm>
          <a:prstGeom prst="rect">
            <a:avLst/>
          </a:prstGeom>
        </p:spPr>
      </p:pic>
      <p:cxnSp>
        <p:nvCxnSpPr>
          <p:cNvPr id="7" name="직선 화살표 연결선 6"/>
          <p:cNvCxnSpPr>
            <a:endCxn id="8" idx="1"/>
          </p:cNvCxnSpPr>
          <p:nvPr/>
        </p:nvCxnSpPr>
        <p:spPr>
          <a:xfrm flipV="1">
            <a:off x="5155660" y="2973472"/>
            <a:ext cx="4062512" cy="56739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218172" y="2788806"/>
            <a:ext cx="2738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회계팀과</a:t>
            </a:r>
            <a:r>
              <a:rPr lang="ko-KR" altLang="en-US" b="1" dirty="0" smtClean="0">
                <a:solidFill>
                  <a:srgbClr val="FF0000"/>
                </a:solidFill>
              </a:rPr>
              <a:t> 삭제 협의 완료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84401" y="1729047"/>
            <a:ext cx="8810625" cy="28263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84401" y="3622970"/>
            <a:ext cx="8810625" cy="28263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9195026" y="1685697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FONE</a:t>
            </a:r>
            <a:r>
              <a:rPr lang="ko-KR" altLang="en-US" b="1" dirty="0" smtClean="0">
                <a:solidFill>
                  <a:srgbClr val="FF0000"/>
                </a:solidFill>
              </a:rPr>
              <a:t>에 별도 기능 구현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218172" y="3620414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FONE</a:t>
            </a:r>
            <a:r>
              <a:rPr lang="ko-KR" altLang="en-US" b="1" dirty="0" smtClean="0">
                <a:solidFill>
                  <a:srgbClr val="FF0000"/>
                </a:solidFill>
              </a:rPr>
              <a:t>에 별도 기능 구현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93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363114"/>
              </p:ext>
            </p:extLst>
          </p:nvPr>
        </p:nvGraphicFramePr>
        <p:xfrm>
          <a:off x="310549" y="184829"/>
          <a:ext cx="11611162" cy="618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1"/>
                <a:gridCol w="2001329"/>
                <a:gridCol w="621102"/>
                <a:gridCol w="621102"/>
                <a:gridCol w="828135"/>
                <a:gridCol w="3053752"/>
                <a:gridCol w="2536166"/>
                <a:gridCol w="1492375"/>
              </a:tblGrid>
              <a:tr h="3962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창고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코드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창고명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현재창고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B2B,B2C(SSTS027)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향후창고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DEPOT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REMARK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용도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3962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실물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관리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F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F – 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생산팀창고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미사용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X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X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조정창고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 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영업관리팀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 내장 자가소모 이동 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불필요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자가소모등록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화면에서 사용</a:t>
                      </a:r>
                      <a:endParaRPr lang="en-US" altLang="ko-KR" sz="900" b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매장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재고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정리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자가소모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증정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협찬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이벤트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유니폼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광고선전비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등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본사에서 비용 처리시 사용되는 가상 창고</a:t>
                      </a:r>
                      <a:endParaRPr lang="en-US" altLang="ko-KR" sz="900" b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매장의 재고에 대한 본사 비용 처리시</a:t>
                      </a:r>
                      <a:endParaRPr lang="en-US" altLang="ko-KR" sz="900" b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  예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유니폼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증정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협찬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매장에서 수취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900" b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1-1)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거래명세서 등록 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: 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매장 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X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창고 선택</a:t>
                      </a:r>
                      <a:endParaRPr lang="en-US" altLang="ko-KR" sz="900" b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      매장재고 감소 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 X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창고 재고 증가</a:t>
                      </a:r>
                      <a:endParaRPr lang="en-US" altLang="ko-KR" sz="900" b="0" baseline="0" dirty="0" smtClean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latinLnBrk="1"/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1-2)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자가소모 등록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: X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창고 선택 </a:t>
                      </a:r>
                      <a:endParaRPr lang="en-US" altLang="ko-KR" sz="900" b="0" baseline="0" dirty="0" smtClean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latinLnBrk="1"/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     :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수량이 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이면 재고 차감</a:t>
                      </a:r>
                      <a:endParaRPr lang="en-US" altLang="ko-KR" sz="900" b="0" baseline="0" dirty="0" smtClean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latinLnBrk="1"/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      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수량이 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–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이면 재고 증가</a:t>
                      </a:r>
                      <a:endParaRPr lang="en-US" altLang="ko-KR" sz="900" b="0" baseline="0" dirty="0" smtClean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latinLnBrk="1"/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2.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창고의 재고 증감 발생</a:t>
                      </a:r>
                      <a:endParaRPr lang="en-US" altLang="ko-KR" sz="900" b="0" baseline="0" dirty="0" smtClean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latinLnBrk="1"/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  :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재고 실사 분 반영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기부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0" baseline="0" dirty="0" err="1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증정시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창고에서 </a:t>
                      </a:r>
                      <a:endParaRPr lang="en-US" altLang="ko-KR" sz="900" b="0" baseline="0" dirty="0" smtClean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latinLnBrk="1"/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   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물량 </a:t>
                      </a:r>
                      <a:r>
                        <a:rPr lang="ko-KR" altLang="en-US" sz="900" b="0" baseline="0" dirty="0" err="1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이동시</a:t>
                      </a:r>
                      <a:endParaRPr lang="en-US" altLang="ko-KR" sz="900" b="0" baseline="0" dirty="0" smtClean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latinLnBrk="1"/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2-1.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창고물량이동 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출고창고 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YA 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입고 창</a:t>
                      </a:r>
                      <a:endParaRPr lang="en-US" altLang="ko-KR" sz="900" b="0" baseline="0" dirty="0" smtClean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latinLnBrk="1"/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    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고 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X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창고 선택 후 등록</a:t>
                      </a:r>
                      <a:endParaRPr lang="en-US" altLang="ko-KR" sz="900" b="0" baseline="0" dirty="0" smtClean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latinLnBrk="1"/>
                      <a:r>
                        <a:rPr lang="en-US" altLang="ko-KR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2-2.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자가소모 등록 동일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 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B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B – 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재매입창고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폐점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 매장 금액 조정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거래명세서 생성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매장 재고 금액 조정 처리 시 사용</a:t>
                      </a:r>
                      <a:endParaRPr lang="en-US" altLang="ko-KR" sz="900" b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재고감가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폐점 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재매입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 등 매장 재고금액에 대한 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조정시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 사용</a:t>
                      </a:r>
                      <a:endParaRPr lang="en-US" altLang="ko-KR" sz="900" b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1.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배치를 통해 거래명세서 생성시 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B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창고 </a:t>
                      </a:r>
                      <a:r>
                        <a:rPr lang="ko-KR" altLang="en-US" sz="900" b="0" baseline="0" dirty="0" err="1" smtClean="0">
                          <a:latin typeface="+mn-ea"/>
                          <a:ea typeface="+mn-ea"/>
                        </a:rPr>
                        <a:t>셋팅</a:t>
                      </a:r>
                      <a:endParaRPr lang="en-US" altLang="ko-KR" sz="900" b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거래명세서에서 등록 가능 하나 잘 사용하지 않음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  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C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C –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불량창고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Y</a:t>
                      </a:r>
                      <a:endParaRPr lang="ko-KR" altLang="en-US" sz="9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WH(C)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소비자 상담실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A/S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등록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에서 사용되며 </a:t>
                      </a:r>
                      <a:r>
                        <a:rPr lang="ko-KR" altLang="en-US" sz="900" b="0" baseline="0" dirty="0" err="1" smtClean="0">
                          <a:latin typeface="+mn-ea"/>
                          <a:ea typeface="+mn-ea"/>
                        </a:rPr>
                        <a:t>수선품에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 대한 원인 확인 후 불량반품 확정을 통해 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C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창고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불량창고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로 반품 거래명세서가 발생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FON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에 별도 기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능구현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Z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Z – 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점간창고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SHOP to SHOP(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거래명세서 발행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매장 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매장으로 이동되는 제품에 대한 거래명세서를 발행 하기 위한 가상창고</a:t>
                      </a:r>
                      <a:endParaRPr lang="en-US" altLang="ko-KR" sz="900" b="0" dirty="0" smtClean="0"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1.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점간시지등록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제품을 받는 매장에서 확정</a:t>
                      </a:r>
                      <a:endParaRPr lang="en-US" altLang="ko-KR" sz="900" b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   시 주는 매장은 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Z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창고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점간창고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로 반품 거</a:t>
                      </a:r>
                      <a:endParaRPr lang="en-US" altLang="ko-KR" sz="900" b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래명세서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 발생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입고 매장은 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Z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창고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점간창고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에서 출고 거래명세서 발생</a:t>
                      </a:r>
                      <a:endParaRPr lang="en-US" altLang="ko-KR" sz="900" b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점간거래명세서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 등록에서 출고이동 매장과 </a:t>
                      </a:r>
                      <a:endParaRPr lang="en-US" altLang="ko-KR" sz="900" b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입고이동 매장 선택 후  등록</a:t>
                      </a:r>
                      <a:endParaRPr lang="en-US" altLang="ko-KR" sz="900" b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해당 화면의 사용 빈도는 낮음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05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289019"/>
              </p:ext>
            </p:extLst>
          </p:nvPr>
        </p:nvGraphicFramePr>
        <p:xfrm>
          <a:off x="310549" y="184829"/>
          <a:ext cx="11611162" cy="577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1"/>
                <a:gridCol w="2001329"/>
                <a:gridCol w="621102"/>
                <a:gridCol w="621102"/>
                <a:gridCol w="828135"/>
                <a:gridCol w="3053752"/>
                <a:gridCol w="2536166"/>
                <a:gridCol w="1492375"/>
              </a:tblGrid>
              <a:tr h="3962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창고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코드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창고명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현재창고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B2B,B2C(SSTS027)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향후창고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DEPOT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REMARK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용도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3962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실물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관리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PP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PP – 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판부자재창고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Y</a:t>
                      </a:r>
                      <a:endParaRPr lang="ko-KR" altLang="en-US" sz="9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WH(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향후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판부자재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WMS </a:t>
                      </a:r>
                      <a:r>
                        <a:rPr lang="ko-KR" altLang="en-US" sz="900" b="0" baseline="0" dirty="0" err="1" smtClean="0">
                          <a:latin typeface="+mn-ea"/>
                          <a:ea typeface="+mn-ea"/>
                        </a:rPr>
                        <a:t>미관리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 대상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상품 속성 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OR ZONE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관리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판부자재에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 대한 재고 관리를 위한 가상창고</a:t>
                      </a:r>
                      <a:endParaRPr lang="en-US" altLang="ko-KR" sz="900" b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판부자재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 입고등록</a:t>
                      </a:r>
                      <a:endParaRPr lang="en-US" altLang="ko-KR" sz="900" b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2.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baseline="0" dirty="0" err="1" smtClean="0">
                          <a:latin typeface="+mn-ea"/>
                          <a:ea typeface="+mn-ea"/>
                        </a:rPr>
                        <a:t>판부자재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 출고등록</a:t>
                      </a:r>
                      <a:endParaRPr lang="en-US" altLang="ko-KR" sz="900" b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900" b="0" baseline="0" dirty="0" err="1" smtClean="0">
                          <a:latin typeface="+mn-ea"/>
                          <a:ea typeface="+mn-ea"/>
                        </a:rPr>
                        <a:t>판부자재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 소모비용등록에서 사용</a:t>
                      </a:r>
                      <a:endParaRPr lang="en-US" altLang="ko-KR" sz="900" b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   :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제품의 자가소모와 동일 기능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YA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YA – 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양주신창고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Y</a:t>
                      </a:r>
                      <a:endParaRPr lang="ko-KR" altLang="en-US" sz="9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Y</a:t>
                      </a:r>
                      <a:endParaRPr lang="ko-KR" altLang="en-US" sz="9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WH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B2B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통합 물류 창고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실물창고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YC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YC –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양주불량창고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Y</a:t>
                      </a:r>
                      <a:endParaRPr lang="ko-KR" altLang="en-US" sz="9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Y</a:t>
                      </a:r>
                      <a:endParaRPr lang="ko-KR" altLang="en-US" sz="9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WH(ZONE)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B2B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통합 불량 창고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(ZONE)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GA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GA –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물류임시창고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미사용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GC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GC –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재고부족관리창고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Y</a:t>
                      </a:r>
                      <a:endParaRPr lang="ko-KR" altLang="en-US" sz="9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Y</a:t>
                      </a:r>
                      <a:endParaRPr lang="ko-KR" altLang="en-US" sz="9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WH(ZONE)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B2B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입고 부족 창고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(ZONE)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입고시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 실물수량과 입고 서류 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차이시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 등록 </a:t>
                      </a:r>
                      <a:endParaRPr lang="en-US" altLang="ko-KR" sz="900" b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WMS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와 연계하여 창고물량이동으로 사용</a:t>
                      </a:r>
                      <a:endParaRPr lang="en-US" altLang="ko-KR" sz="900" b="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I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I –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수입창고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제품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미사용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CN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CN –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중국물량창고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Y</a:t>
                      </a:r>
                      <a:endParaRPr lang="ko-KR" altLang="en-US" sz="9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?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주무왕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손지선 차장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회계팀과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 삭제 협의 완료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KN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KN –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국내물량창고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Y</a:t>
                      </a:r>
                      <a:endParaRPr lang="ko-KR" altLang="en-US" sz="9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WH(KN)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샘플창고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샘플에 대한 정보 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등록시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 발생</a:t>
                      </a:r>
                      <a:endParaRPr lang="en-US" altLang="ko-KR" sz="900" b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샘플제품 관리에서 등록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영관팀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 사용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   :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브랜드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기획년도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입고일자등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등록시</a:t>
                      </a:r>
                      <a:r>
                        <a:rPr lang="ko-KR" altLang="en-US" sz="900" b="0" smtClean="0">
                          <a:latin typeface="+mn-ea"/>
                          <a:ea typeface="+mn-ea"/>
                        </a:rPr>
                        <a:t> 발생</a:t>
                      </a:r>
                      <a:r>
                        <a:rPr lang="en-US" altLang="ko-KR" sz="900" b="0" baseline="0" smtClean="0">
                          <a:latin typeface="+mn-ea"/>
                          <a:ea typeface="+mn-ea"/>
                        </a:rPr>
                        <a:t> 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FONE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에 별도 기능구현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ON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ON –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온라인정산창고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미사용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OS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OS –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온라인임시창고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외부마켓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미사용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OT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OT –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온라인임시창고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탑텐몰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월말 온라인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IT/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영관팀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 정리 완료 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미사용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M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M –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계산서이월창고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백화점 정산 이월 창고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백화점 매장에서 발생 </a:t>
                      </a:r>
                      <a:endParaRPr lang="en-US" altLang="ko-KR" sz="900" b="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-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백화점은 특정 기간에 매장으로 입고된 제품</a:t>
                      </a:r>
                      <a:endParaRPr lang="en-US" altLang="ko-KR" sz="900" b="0" baseline="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  에 대해 매입을 확정하며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예 익월 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 ~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당</a:t>
                      </a:r>
                      <a:endParaRPr lang="en-US" altLang="ko-KR" sz="900" b="0" baseline="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 해당 기간 이후 발생된 내역은 차</a:t>
                      </a:r>
                      <a:endParaRPr lang="en-US" altLang="ko-KR" sz="900" b="0" baseline="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월로 이월 처리 하는데 백화점 정산에서 발</a:t>
                      </a:r>
                      <a:endParaRPr lang="en-US" altLang="ko-KR" sz="900" b="0" baseline="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생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baseline="0" dirty="0" err="1" smtClean="0">
                          <a:latin typeface="+mn-ea"/>
                          <a:ea typeface="+mn-ea"/>
                        </a:rPr>
                        <a:t>영관팀</a:t>
                      </a:r>
                      <a:r>
                        <a:rPr lang="ko-KR" altLang="en-US" sz="900" b="0" baseline="0" dirty="0" smtClean="0">
                          <a:latin typeface="+mn-ea"/>
                          <a:ea typeface="+mn-ea"/>
                        </a:rPr>
                        <a:t> 사용</a:t>
                      </a:r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900" b="0" baseline="0" dirty="0" smtClean="0">
                          <a:latin typeface="+mn-ea"/>
                          <a:ea typeface="+mn-ea"/>
                        </a:rPr>
                        <a:t>  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JA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JA - AMAZONJPAN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창고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TARGET AMAZONE JAPAN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창고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0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OA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OA – </a:t>
                      </a:r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온라인통합센터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 err="1" smtClean="0">
                          <a:latin typeface="+mn-ea"/>
                          <a:ea typeface="+mn-ea"/>
                        </a:rPr>
                        <a:t>남안성</a:t>
                      </a:r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smtClean="0">
                          <a:latin typeface="+mn-ea"/>
                          <a:ea typeface="+mn-ea"/>
                        </a:rPr>
                        <a:t>온라인 점간 이동창고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4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1741</TotalTime>
  <Words>968</Words>
  <Application>Microsoft Office PowerPoint</Application>
  <PresentationFormat>와이드스크린</PresentationFormat>
  <Paragraphs>232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pid0324</cp:lastModifiedBy>
  <cp:revision>22</cp:revision>
  <cp:lastPrinted>2024-05-13T01:04:47Z</cp:lastPrinted>
  <dcterms:created xsi:type="dcterms:W3CDTF">2024-05-13T00:32:30Z</dcterms:created>
  <dcterms:modified xsi:type="dcterms:W3CDTF">2024-05-31T05:21:11Z</dcterms:modified>
</cp:coreProperties>
</file>