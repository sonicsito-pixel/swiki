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4"/>
  </p:sldMasterIdLst>
  <p:notesMasterIdLst>
    <p:notesMasterId r:id="rId12"/>
  </p:notesMasterIdLst>
  <p:handoutMasterIdLst>
    <p:handoutMasterId r:id="rId13"/>
  </p:handoutMasterIdLst>
  <p:sldIdLst>
    <p:sldId id="1262" r:id="rId5"/>
    <p:sldId id="1468" r:id="rId6"/>
    <p:sldId id="1465" r:id="rId7"/>
    <p:sldId id="1467" r:id="rId8"/>
    <p:sldId id="1469" r:id="rId9"/>
    <p:sldId id="1466" r:id="rId10"/>
    <p:sldId id="1470" r:id="rId11"/>
  </p:sldIdLst>
  <p:sldSz cx="9906000" cy="6858000" type="A4"/>
  <p:notesSz cx="6807200" cy="9939338"/>
  <p:custDataLst>
    <p:tags r:id="rId14"/>
  </p:custData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1pPr>
    <a:lvl2pPr marL="4556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2pPr>
    <a:lvl3pPr marL="9128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3pPr>
    <a:lvl4pPr marL="13700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4pPr>
    <a:lvl5pPr marL="18272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84" userDrawn="1">
          <p15:clr>
            <a:srgbClr val="A4A3A4"/>
          </p15:clr>
        </p15:guide>
        <p15:guide id="2" orient="horz" pos="4116">
          <p15:clr>
            <a:srgbClr val="A4A3A4"/>
          </p15:clr>
        </p15:guide>
        <p15:guide id="4" pos="143">
          <p15:clr>
            <a:srgbClr val="A4A3A4"/>
          </p15:clr>
        </p15:guide>
        <p15:guide id="5" pos="6097">
          <p15:clr>
            <a:srgbClr val="A4A3A4"/>
          </p15:clr>
        </p15:guide>
        <p15:guide id="6" pos="228">
          <p15:clr>
            <a:srgbClr val="A4A3A4"/>
          </p15:clr>
        </p15:guide>
        <p15:guide id="7" pos="3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4061"/>
    <a:srgbClr val="000000"/>
    <a:srgbClr val="FFD200"/>
    <a:srgbClr val="333333"/>
    <a:srgbClr val="646464"/>
    <a:srgbClr val="808080"/>
    <a:srgbClr val="FDFF9B"/>
    <a:srgbClr val="FFFF6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74" autoAdjust="0"/>
    <p:restoredTop sz="98827" autoAdjust="0"/>
  </p:normalViewPr>
  <p:slideViewPr>
    <p:cSldViewPr>
      <p:cViewPr>
        <p:scale>
          <a:sx n="125" d="100"/>
          <a:sy n="125" d="100"/>
        </p:scale>
        <p:origin x="282" y="-198"/>
      </p:cViewPr>
      <p:guideLst>
        <p:guide orient="horz" pos="884"/>
        <p:guide orient="horz" pos="4116"/>
        <p:guide pos="143"/>
        <p:guide pos="6097"/>
        <p:guide pos="228"/>
        <p:guide pos="3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954" y="96"/>
      </p:cViewPr>
      <p:guideLst>
        <p:guide orient="horz" pos="3130"/>
        <p:guide pos="2145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382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6388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834" y="4720987"/>
            <a:ext cx="5443534" cy="4473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1" tIns="47170" rIns="94341" bIns="471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 smtClean="0"/>
              <a:t>Click to edit Master text styles</a:t>
            </a:r>
          </a:p>
          <a:p>
            <a:pPr lvl="1"/>
            <a:r>
              <a:rPr lang="en-US" altLang="ko-KR" noProof="0" dirty="0" smtClean="0"/>
              <a:t>Second level</a:t>
            </a:r>
          </a:p>
          <a:p>
            <a:pPr lvl="2"/>
            <a:r>
              <a:rPr lang="en-US" altLang="ko-KR" noProof="0" dirty="0" smtClean="0"/>
              <a:t>Third level</a:t>
            </a:r>
          </a:p>
          <a:p>
            <a:pPr lvl="3"/>
            <a:r>
              <a:rPr lang="en-US" altLang="ko-KR" noProof="0" dirty="0" smtClean="0"/>
              <a:t>Fourth level</a:t>
            </a:r>
          </a:p>
          <a:p>
            <a:pPr lvl="4"/>
            <a:r>
              <a:rPr lang="en-US" altLang="ko-KR" noProof="0" dirty="0" smtClean="0"/>
              <a:t>Fifth level</a:t>
            </a:r>
          </a:p>
        </p:txBody>
      </p:sp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A5DC8-846E-407B-9A02-2F61D56EF1AE}" type="datetimeFigureOut">
              <a:rPr lang="ko-KR" altLang="en-US" smtClean="0"/>
              <a:t>2026-03-23</a:t>
            </a:fld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E582A-B70D-4F30-90C6-870CF28E198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724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1pPr>
    <a:lvl2pPr marL="1588" indent="177800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2pPr>
    <a:lvl3pPr marL="358775" indent="188913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3pPr>
    <a:lvl4pPr marL="722313" indent="176213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4pPr>
    <a:lvl5pPr marL="1079500" indent="174625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5pPr>
    <a:lvl6pPr marL="2285855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6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8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9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슬라이드 노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구축 배경</a:t>
            </a:r>
          </a:p>
          <a:p>
            <a:r>
              <a:rPr lang="ko-KR" altLang="en-US" dirty="0"/>
              <a:t>   ① 영업</a:t>
            </a:r>
            <a:r>
              <a:rPr lang="en-US" altLang="ko-KR" dirty="0"/>
              <a:t>/</a:t>
            </a:r>
            <a:r>
              <a:rPr lang="ko-KR" altLang="en-US" dirty="0"/>
              <a:t>물류 시스템의 이원화에 따른 자원의 분산</a:t>
            </a:r>
            <a:r>
              <a:rPr lang="en-US" altLang="ko-KR" dirty="0"/>
              <a:t>, </a:t>
            </a:r>
            <a:r>
              <a:rPr lang="ko-KR" altLang="en-US" dirty="0"/>
              <a:t>불필요한 이중 작업 및 데이터 검증의 한계</a:t>
            </a:r>
          </a:p>
          <a:p>
            <a:r>
              <a:rPr lang="ko-KR" altLang="en-US" dirty="0"/>
              <a:t>   ② 기준코드의 사용 한계</a:t>
            </a:r>
            <a:r>
              <a:rPr lang="en-US" altLang="ko-KR" dirty="0"/>
              <a:t>, </a:t>
            </a:r>
            <a:r>
              <a:rPr lang="ko-KR" altLang="en-US" dirty="0"/>
              <a:t>비 정규화에 따른 업무 공유의 제한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구축 방향</a:t>
            </a:r>
          </a:p>
          <a:p>
            <a:r>
              <a:rPr lang="ko-KR" altLang="en-US" dirty="0"/>
              <a:t>   ① </a:t>
            </a:r>
            <a:r>
              <a:rPr lang="en-US" altLang="ko-KR" dirty="0"/>
              <a:t>Web </a:t>
            </a:r>
            <a:r>
              <a:rPr lang="ko-KR" altLang="en-US" dirty="0"/>
              <a:t>기반의 통합 전산 인프라 공유 체제 구축</a:t>
            </a:r>
          </a:p>
          <a:p>
            <a:r>
              <a:rPr lang="ko-KR" altLang="en-US" dirty="0"/>
              <a:t>   ② 기준 정보 표준화 및 프로세스 개선을 통한 업무 효율의 극대화</a:t>
            </a:r>
          </a:p>
          <a:p>
            <a:r>
              <a:rPr lang="ko-KR" altLang="en-US" dirty="0"/>
              <a:t>   ③ 데이터 표준화를 통한 정확한 자료 제공</a:t>
            </a:r>
            <a:r>
              <a:rPr lang="en-US" altLang="ko-KR" dirty="0"/>
              <a:t>(</a:t>
            </a:r>
            <a:r>
              <a:rPr lang="ko-KR" altLang="en-US" dirty="0"/>
              <a:t>분석 </a:t>
            </a:r>
            <a:r>
              <a:rPr lang="ko-KR" altLang="en-US" dirty="0" err="1"/>
              <a:t>관점별</a:t>
            </a:r>
            <a:r>
              <a:rPr lang="ko-KR" altLang="en-US" dirty="0"/>
              <a:t> 데이터 재 구성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계약 기간 </a:t>
            </a:r>
            <a:r>
              <a:rPr lang="en-US" altLang="ko-KR" dirty="0"/>
              <a:t>: 2010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월 </a:t>
            </a:r>
            <a:r>
              <a:rPr lang="en-US" altLang="ko-KR" dirty="0"/>
              <a:t>~ 2011</a:t>
            </a:r>
            <a:r>
              <a:rPr lang="ko-KR" altLang="en-US" dirty="0"/>
              <a:t>년 </a:t>
            </a:r>
            <a:r>
              <a:rPr lang="en-US" altLang="ko-KR" dirty="0"/>
              <a:t>3</a:t>
            </a:r>
            <a:r>
              <a:rPr lang="ko-KR" altLang="en-US" dirty="0"/>
              <a:t>월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개발 업체 </a:t>
            </a:r>
            <a:r>
              <a:rPr lang="en-US" altLang="ko-KR" dirty="0"/>
              <a:t>: </a:t>
            </a:r>
            <a:r>
              <a:rPr lang="ko-KR" altLang="en-US" dirty="0" err="1"/>
              <a:t>코오롱</a:t>
            </a:r>
            <a:r>
              <a:rPr lang="ko-KR" altLang="en-US" dirty="0"/>
              <a:t> </a:t>
            </a:r>
            <a:r>
              <a:rPr lang="ko-KR" altLang="en-US" dirty="0" err="1"/>
              <a:t>베니트</a:t>
            </a:r>
            <a:endParaRPr lang="ko-KR" altLang="en-US" dirty="0"/>
          </a:p>
          <a:p>
            <a:r>
              <a:rPr lang="en-US" altLang="ko-KR" dirty="0"/>
              <a:t>- </a:t>
            </a:r>
            <a:r>
              <a:rPr lang="ko-KR" altLang="en-US" dirty="0"/>
              <a:t>개발 환경 </a:t>
            </a:r>
            <a:r>
              <a:rPr lang="en-US" altLang="ko-KR" dirty="0"/>
              <a:t>: </a:t>
            </a:r>
            <a:r>
              <a:rPr lang="en-US" altLang="ko-KR" dirty="0" err="1"/>
              <a:t>Miplatform</a:t>
            </a:r>
            <a:r>
              <a:rPr lang="en-US" altLang="ko-KR" dirty="0"/>
              <a:t>, </a:t>
            </a:r>
            <a:r>
              <a:rPr lang="en-US" altLang="ko-KR" dirty="0" err="1"/>
              <a:t>Weblogic</a:t>
            </a:r>
            <a:r>
              <a:rPr lang="en-US" altLang="ko-KR" dirty="0"/>
              <a:t>, JAVA, Oracle 11g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구축 범위 </a:t>
            </a:r>
            <a:r>
              <a:rPr lang="en-US" altLang="ko-KR" dirty="0"/>
              <a:t>: </a:t>
            </a:r>
            <a:r>
              <a:rPr lang="ko-KR" altLang="en-US" dirty="0"/>
              <a:t>영업</a:t>
            </a:r>
            <a:r>
              <a:rPr lang="en-US" altLang="ko-KR" dirty="0"/>
              <a:t>(</a:t>
            </a:r>
            <a:r>
              <a:rPr lang="ko-KR" altLang="en-US" dirty="0"/>
              <a:t>패션</a:t>
            </a:r>
            <a:r>
              <a:rPr lang="en-US" altLang="ko-KR" dirty="0"/>
              <a:t>)</a:t>
            </a:r>
            <a:r>
              <a:rPr lang="ko-KR" altLang="en-US" dirty="0"/>
              <a:t>시스템 전체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936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김영로\My Documents\가져갈 파일\파워포인트 양식\139\06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2365219"/>
            <a:ext cx="9731017" cy="4501950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 userDrawn="1"/>
        </p:nvSpPr>
        <p:spPr>
          <a:xfrm>
            <a:off x="9731017" y="-4788"/>
            <a:ext cx="217538" cy="6865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1" hangingPunct="1"/>
            <a:endParaRPr lang="ko-KR" altLang="en-US" sz="1200" b="1" kern="1200">
              <a:solidFill>
                <a:schemeClr val="lt1"/>
              </a:solidFill>
              <a:latin typeface="Helvetica" pitchFamily="2" charset="0"/>
              <a:ea typeface="+mn-ea"/>
              <a:cs typeface="+mn-cs"/>
            </a:endParaRPr>
          </a:p>
        </p:txBody>
      </p:sp>
      <p:pic>
        <p:nvPicPr>
          <p:cNvPr id="7" name="그림 1" descr="1113396_83515382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0" y="0"/>
            <a:ext cx="4572000" cy="315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91883" y="3427812"/>
            <a:ext cx="5772723" cy="460832"/>
          </a:xfrm>
          <a:prstGeom prst="rect">
            <a:avLst/>
          </a:prstGeom>
        </p:spPr>
        <p:txBody>
          <a:bodyPr wrap="none" lIns="91434" tIns="0" rIns="91434" bIns="45718">
            <a:spAutoFit/>
          </a:bodyPr>
          <a:lstStyle>
            <a:lvl1pPr>
              <a:defRPr sz="3200" baseline="0"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en-US" altLang="ko-K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738393" y="4437112"/>
            <a:ext cx="3751682" cy="32846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85000"/>
              </a:lnSpc>
              <a:buFont typeface="Arial" charset="0"/>
              <a:buNone/>
              <a:defRPr sz="1800" baseline="0"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en-US" altLang="ko-KR" dirty="0" smtClean="0"/>
              <a:t>Click to edit Master subtitle style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46421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72480" y="728700"/>
            <a:ext cx="9359900" cy="5293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latinLnBrk="0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latinLnBrk="0"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latinLnBrk="0"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latinLnBrk="0"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3050" y="278650"/>
            <a:ext cx="6768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>
              <a:defRPr sz="1800" baseline="0">
                <a:solidFill>
                  <a:schemeClr val="accent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sp>
        <p:nvSpPr>
          <p:cNvPr id="5" name="Content Placeholder 17"/>
          <p:cNvSpPr>
            <a:spLocks noGrp="1"/>
          </p:cNvSpPr>
          <p:nvPr>
            <p:ph sz="quarter" idx="12" hasCustomPrompt="1"/>
          </p:nvPr>
        </p:nvSpPr>
        <p:spPr>
          <a:xfrm>
            <a:off x="6285638" y="105389"/>
            <a:ext cx="3437892" cy="432061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ts val="100"/>
              </a:spcBef>
              <a:spcAft>
                <a:spcPts val="100"/>
              </a:spcAft>
              <a:buClr>
                <a:srgbClr val="FFD200"/>
              </a:buClr>
              <a:buSzPct val="75000"/>
              <a:buNone/>
              <a:defRPr lang="en-US" altLang="ko-KR" sz="1000" b="0" kern="0" baseline="0" dirty="0" smtClean="0">
                <a:solidFill>
                  <a:schemeClr val="accent1">
                    <a:lumMod val="75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ko-KR" altLang="en-US" sz="1000" kern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 smtClean="0"/>
              <a:t>Lev.2 Lev.3 Lev.4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5056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3187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273050" y="6578600"/>
            <a:ext cx="9359900" cy="0"/>
          </a:xfrm>
          <a:prstGeom prst="line">
            <a:avLst/>
          </a:prstGeom>
          <a:noFill/>
          <a:ln w="31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91434" tIns="45718" rIns="91434" bIns="45718" anchor="ctr"/>
          <a:lstStyle/>
          <a:p>
            <a:pPr latinLnBrk="0">
              <a:lnSpc>
                <a:spcPct val="90000"/>
              </a:lnSpc>
              <a:buClr>
                <a:srgbClr val="7D0900"/>
              </a:buClr>
              <a:defRPr/>
            </a:pPr>
            <a:endParaRPr kumimoji="0" lang="ko-KR" altLang="en-US" dirty="0">
              <a:solidFill>
                <a:srgbClr val="646464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27" name="TextBox 19"/>
          <p:cNvSpPr txBox="1">
            <a:spLocks noChangeArrowheads="1"/>
          </p:cNvSpPr>
          <p:nvPr userDrawn="1"/>
        </p:nvSpPr>
        <p:spPr bwMode="auto">
          <a:xfrm>
            <a:off x="4991100" y="6613525"/>
            <a:ext cx="3556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4" tIns="45718" rIns="91434" bIns="45718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9pPr>
          </a:lstStyle>
          <a:p>
            <a:pPr algn="ctr" eaLnBrk="1" latinLnBrk="0" hangingPunct="1"/>
            <a:fld id="{C64E92E5-CD45-4384-8691-9106A4F9B511}" type="slidenum">
              <a:rPr kumimoji="0" lang="ko-KR" altLang="en-US" sz="1000">
                <a:solidFill>
                  <a:srgbClr val="646464"/>
                </a:solidFill>
                <a:latin typeface="JBold" pitchFamily="18" charset="-127"/>
                <a:ea typeface="JBold" pitchFamily="18" charset="-127"/>
                <a:cs typeface="JBold" pitchFamily="18" charset="-127"/>
              </a:rPr>
              <a:pPr algn="ctr" eaLnBrk="1" latinLnBrk="0" hangingPunct="1"/>
              <a:t>‹#›</a:t>
            </a:fld>
            <a:endParaRPr kumimoji="0" lang="en-US" altLang="ko-KR" sz="1000" dirty="0">
              <a:solidFill>
                <a:srgbClr val="646464"/>
              </a:solidFill>
              <a:latin typeface="JBold" pitchFamily="18" charset="-127"/>
              <a:ea typeface="JBold" pitchFamily="18" charset="-127"/>
              <a:cs typeface="JBold" pitchFamily="18" charset="-127"/>
            </a:endParaRPr>
          </a:p>
        </p:txBody>
      </p:sp>
      <p:sp>
        <p:nvSpPr>
          <p:cNvPr id="1028" name="AcnBodyText_ID_6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gray">
          <a:xfrm>
            <a:off x="179388" y="2200275"/>
            <a:ext cx="8780462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34" tIns="45718" rIns="91434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ko-KR" altLang="en-US" dirty="0" smtClean="0"/>
          </a:p>
        </p:txBody>
      </p:sp>
      <p:cxnSp>
        <p:nvCxnSpPr>
          <p:cNvPr id="9" name="Straight Connector 11"/>
          <p:cNvCxnSpPr>
            <a:cxnSpLocks noChangeShapeType="1"/>
          </p:cNvCxnSpPr>
          <p:nvPr userDrawn="1"/>
        </p:nvCxnSpPr>
        <p:spPr bwMode="auto">
          <a:xfrm rot="16200000">
            <a:off x="9570535" y="325232"/>
            <a:ext cx="396000" cy="0"/>
          </a:xfrm>
          <a:prstGeom prst="line">
            <a:avLst/>
          </a:prstGeom>
          <a:noFill/>
          <a:ln w="57150" algn="ctr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</p:cxn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227475" y="668186"/>
            <a:ext cx="9469986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91434" tIns="45718" rIns="91434" bIns="45718" anchor="ctr"/>
          <a:lstStyle/>
          <a:p>
            <a:pPr latinLnBrk="0">
              <a:lnSpc>
                <a:spcPct val="90000"/>
              </a:lnSpc>
              <a:buClr>
                <a:srgbClr val="7D0900"/>
              </a:buClr>
              <a:defRPr/>
            </a:pPr>
            <a:endParaRPr kumimoji="0" lang="ko-KR" altLang="en-US" dirty="0">
              <a:solidFill>
                <a:srgbClr val="646464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8" r:id="rId1"/>
    <p:sldLayoutId id="2147484456" r:id="rId2"/>
    <p:sldLayoutId id="2147484457" r:id="rId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5pPr>
      <a:lvl6pPr marL="457171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342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513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684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58775" indent="-358775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•"/>
        <a:defRPr sz="14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15963" indent="-354013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–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2pPr>
      <a:lvl3pPr marL="1079500" indent="-360363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•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3pPr>
      <a:lvl4pPr marL="1439863" indent="-357188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–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4pPr>
      <a:lvl5pPr marL="1798638" indent="-355600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»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5pPr>
      <a:lvl6pPr marL="2257282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453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625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8796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ko-KR"/>
      </a:defPPr>
      <a:lvl1pPr marL="0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4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5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6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8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9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174694" y="3338990"/>
            <a:ext cx="4964809" cy="464741"/>
          </a:xfrm>
        </p:spPr>
        <p:txBody>
          <a:bodyPr/>
          <a:lstStyle/>
          <a:p>
            <a:pPr algn="r"/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  <a:cs typeface="JBold" pitchFamily="18" charset="-127"/>
              </a:rPr>
              <a:t>온라인 정산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  <a:cs typeface="JBold" pitchFamily="18" charset="-127"/>
              </a:rPr>
              <a:t>AS-IS/TO-BE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  <a:cs typeface="JBold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 bwMode="auto">
          <a:xfrm>
            <a:off x="0" y="3143248"/>
            <a:ext cx="9768535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</a:t>
            </a:r>
            <a:r>
              <a:rPr lang="en-US" altLang="ko-KR" dirty="0" smtClean="0">
                <a:latin typeface="+mn-ea"/>
                <a:ea typeface="+mn-ea"/>
              </a:rPr>
              <a:t>. </a:t>
            </a:r>
            <a:r>
              <a:rPr lang="ko-KR" altLang="en-US" dirty="0" smtClean="0">
                <a:latin typeface="+mn-ea"/>
                <a:ea typeface="+mn-ea"/>
              </a:rPr>
              <a:t>온라인 </a:t>
            </a:r>
            <a:r>
              <a:rPr lang="ko-KR" altLang="en-US" dirty="0" smtClean="0">
                <a:latin typeface="+mn-ea"/>
                <a:ea typeface="+mn-ea"/>
              </a:rPr>
              <a:t>출고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1" name="Rectangle 120"/>
          <p:cNvSpPr>
            <a:spLocks noChangeArrowheads="1"/>
          </p:cNvSpPr>
          <p:nvPr/>
        </p:nvSpPr>
        <p:spPr bwMode="gray">
          <a:xfrm>
            <a:off x="227919" y="728699"/>
            <a:ext cx="9450606" cy="580564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215182" y="1088471"/>
            <a:ext cx="1092024" cy="392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자사</a:t>
            </a:r>
            <a:r>
              <a:rPr lang="en-US" altLang="ko-KR" sz="1100" b="1" kern="0" dirty="0" smtClean="0">
                <a:latin typeface="+mn-ea"/>
                <a:ea typeface="+mn-ea"/>
              </a:rPr>
              <a:t>/</a:t>
            </a:r>
            <a:r>
              <a:rPr lang="ko-KR" altLang="en-US" sz="1100" b="1" kern="0" dirty="0" err="1" smtClean="0">
                <a:latin typeface="+mn-ea"/>
                <a:ea typeface="+mn-ea"/>
              </a:rPr>
              <a:t>제휴몰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주문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210544" y="1764923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주문정보수집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56" name="직선 화살표 연결선 155"/>
          <p:cNvCxnSpPr>
            <a:stCxn id="152" idx="2"/>
            <a:endCxn id="155" idx="0"/>
          </p:cNvCxnSpPr>
          <p:nvPr/>
        </p:nvCxnSpPr>
        <p:spPr bwMode="auto">
          <a:xfrm rot="5400000">
            <a:off x="4618343" y="1622072"/>
            <a:ext cx="284052" cy="165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1" name="모서리가 둥근 직사각형 160"/>
          <p:cNvSpPr/>
          <p:nvPr/>
        </p:nvSpPr>
        <p:spPr>
          <a:xfrm>
            <a:off x="4209617" y="2420927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I/F </a:t>
            </a:r>
            <a:r>
              <a:rPr lang="ko-KR" altLang="en-US" sz="1100" b="1" kern="0" dirty="0" smtClean="0">
                <a:latin typeface="+mn-ea"/>
                <a:ea typeface="+mn-ea"/>
              </a:rPr>
              <a:t>전송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62" name="직선 화살표 연결선 155"/>
          <p:cNvCxnSpPr>
            <a:stCxn id="155" idx="2"/>
            <a:endCxn id="161" idx="0"/>
          </p:cNvCxnSpPr>
          <p:nvPr/>
        </p:nvCxnSpPr>
        <p:spPr bwMode="auto">
          <a:xfrm flipH="1">
            <a:off x="4758617" y="2157487"/>
            <a:ext cx="927" cy="2634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3" name="모서리가 둥근 직사각형 162"/>
          <p:cNvSpPr/>
          <p:nvPr/>
        </p:nvSpPr>
        <p:spPr>
          <a:xfrm>
            <a:off x="4209617" y="3076931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  <a:r>
              <a:rPr lang="ko-KR" altLang="en-US" sz="1100" b="1" kern="0" dirty="0" smtClean="0">
                <a:latin typeface="+mn-ea"/>
                <a:ea typeface="+mn-ea"/>
              </a:rPr>
              <a:t>출고작업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64" name="직선 화살표 연결선 155"/>
          <p:cNvCxnSpPr>
            <a:stCxn id="161" idx="2"/>
            <a:endCxn id="163" idx="0"/>
          </p:cNvCxnSpPr>
          <p:nvPr/>
        </p:nvCxnSpPr>
        <p:spPr bwMode="auto">
          <a:xfrm>
            <a:off x="4758617" y="2813491"/>
            <a:ext cx="0" cy="2634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5" name="모서리가 둥근 직사각형 164"/>
          <p:cNvSpPr/>
          <p:nvPr/>
        </p:nvSpPr>
        <p:spPr>
          <a:xfrm>
            <a:off x="4209617" y="3732935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</a:t>
            </a:r>
            <a:r>
              <a:rPr lang="ko-KR" altLang="en-US" sz="1100" b="1" kern="0" dirty="0" smtClean="0">
                <a:latin typeface="+mn-ea"/>
                <a:ea typeface="+mn-ea"/>
              </a:rPr>
              <a:t>실적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66" name="직선 화살표 연결선 155"/>
          <p:cNvCxnSpPr>
            <a:stCxn id="163" idx="2"/>
            <a:endCxn id="165" idx="0"/>
          </p:cNvCxnSpPr>
          <p:nvPr/>
        </p:nvCxnSpPr>
        <p:spPr bwMode="auto">
          <a:xfrm>
            <a:off x="4758617" y="3469495"/>
            <a:ext cx="0" cy="2634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7" name="모서리가 둥근 직사각형 166"/>
          <p:cNvSpPr/>
          <p:nvPr/>
        </p:nvSpPr>
        <p:spPr>
          <a:xfrm>
            <a:off x="4209617" y="4388939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</a:t>
            </a:r>
            <a:r>
              <a:rPr lang="ko-KR" altLang="en-US" sz="1100" b="1" kern="0" dirty="0" smtClean="0">
                <a:latin typeface="+mn-ea"/>
                <a:ea typeface="+mn-ea"/>
              </a:rPr>
              <a:t>실적생성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68" name="직선 화살표 연결선 155"/>
          <p:cNvCxnSpPr>
            <a:stCxn id="165" idx="2"/>
            <a:endCxn id="167" idx="0"/>
          </p:cNvCxnSpPr>
          <p:nvPr/>
        </p:nvCxnSpPr>
        <p:spPr bwMode="auto">
          <a:xfrm>
            <a:off x="4758617" y="4125499"/>
            <a:ext cx="0" cy="2634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9" name="모서리가 둥근 직사각형 168"/>
          <p:cNvSpPr/>
          <p:nvPr/>
        </p:nvSpPr>
        <p:spPr>
          <a:xfrm>
            <a:off x="4209617" y="5044943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온라인</a:t>
            </a:r>
            <a:r>
              <a:rPr lang="ko-KR" altLang="en-US" sz="1100" b="1" kern="0" dirty="0" smtClean="0">
                <a:latin typeface="+mn-ea"/>
                <a:ea typeface="+mn-ea"/>
              </a:rPr>
              <a:t>출고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70" name="직선 화살표 연결선 155"/>
          <p:cNvCxnSpPr>
            <a:stCxn id="167" idx="2"/>
            <a:endCxn id="169" idx="0"/>
          </p:cNvCxnSpPr>
          <p:nvPr/>
        </p:nvCxnSpPr>
        <p:spPr bwMode="auto">
          <a:xfrm>
            <a:off x="4758617" y="4781503"/>
            <a:ext cx="0" cy="2634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1" name="모서리가 둥근 직사각형 170"/>
          <p:cNvSpPr/>
          <p:nvPr/>
        </p:nvSpPr>
        <p:spPr>
          <a:xfrm>
            <a:off x="4209206" y="5826746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cxnSp>
        <p:nvCxnSpPr>
          <p:cNvPr id="172" name="직선 화살표 연결선 155"/>
          <p:cNvCxnSpPr>
            <a:stCxn id="169" idx="2"/>
            <a:endCxn id="171" idx="0"/>
          </p:cNvCxnSpPr>
          <p:nvPr/>
        </p:nvCxnSpPr>
        <p:spPr bwMode="auto">
          <a:xfrm flipH="1">
            <a:off x="4758206" y="5437507"/>
            <a:ext cx="411" cy="38923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3" name="AutoShape 86"/>
          <p:cNvSpPr>
            <a:spLocks noChangeArrowheads="1"/>
          </p:cNvSpPr>
          <p:nvPr/>
        </p:nvSpPr>
        <p:spPr bwMode="auto">
          <a:xfrm>
            <a:off x="3303811" y="500150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T_GWM_RNDS_OUTB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74" name="직선 화살표 연결선 155"/>
          <p:cNvCxnSpPr>
            <a:stCxn id="169" idx="1"/>
            <a:endCxn id="173" idx="4"/>
          </p:cNvCxnSpPr>
          <p:nvPr/>
        </p:nvCxnSpPr>
        <p:spPr bwMode="auto">
          <a:xfrm flipH="1">
            <a:off x="3870549" y="5241225"/>
            <a:ext cx="339068" cy="415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75" name="AutoShape 86"/>
          <p:cNvSpPr>
            <a:spLocks noChangeArrowheads="1"/>
          </p:cNvSpPr>
          <p:nvPr/>
        </p:nvSpPr>
        <p:spPr bwMode="auto">
          <a:xfrm>
            <a:off x="1865982" y="531921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매장수불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T_SHOP_RNDS_BASE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76" name="직선 화살표 연결선 155"/>
          <p:cNvCxnSpPr>
            <a:stCxn id="191" idx="2"/>
            <a:endCxn id="186" idx="1"/>
          </p:cNvCxnSpPr>
          <p:nvPr/>
        </p:nvCxnSpPr>
        <p:spPr bwMode="auto">
          <a:xfrm rot="5400000">
            <a:off x="1298071" y="4924475"/>
            <a:ext cx="372593" cy="41687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84" name="Rectangle 224"/>
          <p:cNvSpPr>
            <a:spLocks noChangeArrowheads="1"/>
          </p:cNvSpPr>
          <p:nvPr/>
        </p:nvSpPr>
        <p:spPr bwMode="auto">
          <a:xfrm>
            <a:off x="271197" y="765128"/>
            <a:ext cx="1566523" cy="269981"/>
          </a:xfrm>
          <a:prstGeom prst="rect">
            <a:avLst/>
          </a:prstGeom>
          <a:solidFill>
            <a:srgbClr val="0070C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AS-IS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5" name="Rectangle 224"/>
          <p:cNvSpPr>
            <a:spLocks noChangeArrowheads="1"/>
          </p:cNvSpPr>
          <p:nvPr/>
        </p:nvSpPr>
        <p:spPr bwMode="auto">
          <a:xfrm>
            <a:off x="8075354" y="768660"/>
            <a:ext cx="1566523" cy="2699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TO-BE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6" name="AutoShape 86"/>
          <p:cNvSpPr>
            <a:spLocks noChangeArrowheads="1"/>
          </p:cNvSpPr>
          <p:nvPr/>
        </p:nvSpPr>
        <p:spPr bwMode="auto">
          <a:xfrm>
            <a:off x="992560" y="531921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출고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T_TRAN_SPEC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87" name="AutoShape 86"/>
          <p:cNvSpPr>
            <a:spLocks noChangeArrowheads="1"/>
          </p:cNvSpPr>
          <p:nvPr/>
        </p:nvSpPr>
        <p:spPr bwMode="auto">
          <a:xfrm>
            <a:off x="6713905" y="582415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온라인출고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T_ONLIE_DELV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88" name="직선 화살표 연결선 155"/>
          <p:cNvCxnSpPr>
            <a:stCxn id="227" idx="1"/>
            <a:endCxn id="187" idx="4"/>
          </p:cNvCxnSpPr>
          <p:nvPr/>
        </p:nvCxnSpPr>
        <p:spPr bwMode="auto">
          <a:xfrm flipH="1">
            <a:off x="7280643" y="6068033"/>
            <a:ext cx="53126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91" name="모서리가 둥근 직사각형 190"/>
          <p:cNvSpPr/>
          <p:nvPr/>
        </p:nvSpPr>
        <p:spPr>
          <a:xfrm>
            <a:off x="1143805" y="4554053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cxnSp>
        <p:nvCxnSpPr>
          <p:cNvPr id="198" name="직선 화살표 연결선 155"/>
          <p:cNvCxnSpPr>
            <a:stCxn id="57" idx="2"/>
            <a:endCxn id="60" idx="0"/>
          </p:cNvCxnSpPr>
          <p:nvPr/>
        </p:nvCxnSpPr>
        <p:spPr bwMode="auto">
          <a:xfrm rot="10800000" flipV="1">
            <a:off x="1063128" y="1633867"/>
            <a:ext cx="526329" cy="456928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5" name="Rectangle 49"/>
          <p:cNvSpPr>
            <a:spLocks noChangeArrowheads="1"/>
          </p:cNvSpPr>
          <p:nvPr/>
        </p:nvSpPr>
        <p:spPr bwMode="gray">
          <a:xfrm>
            <a:off x="2253777" y="2831262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 </a:t>
            </a:r>
            <a:r>
              <a:rPr lang="ko-KR" altLang="en-US" sz="800" b="1" dirty="0" smtClean="0">
                <a:latin typeface="+mn-ea"/>
                <a:ea typeface="+mn-ea"/>
              </a:rPr>
              <a:t>매장 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206" name="Rectangle 49"/>
          <p:cNvSpPr>
            <a:spLocks noChangeArrowheads="1"/>
          </p:cNvSpPr>
          <p:nvPr/>
        </p:nvSpPr>
        <p:spPr bwMode="gray">
          <a:xfrm>
            <a:off x="1272697" y="2831262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b="1" dirty="0" smtClean="0">
                <a:latin typeface="+mn-ea"/>
                <a:ea typeface="+mn-ea"/>
              </a:rPr>
              <a:t>STS027 </a:t>
            </a:r>
            <a:r>
              <a:rPr lang="ko-KR" altLang="en-US" sz="800" b="1" dirty="0" smtClean="0">
                <a:latin typeface="+mn-ea"/>
                <a:ea typeface="+mn-ea"/>
              </a:rPr>
              <a:t>매장 반품 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210" name="직선 화살표 연결선 155"/>
          <p:cNvCxnSpPr>
            <a:stCxn id="60" idx="3"/>
            <a:endCxn id="206" idx="0"/>
          </p:cNvCxnSpPr>
          <p:nvPr/>
        </p:nvCxnSpPr>
        <p:spPr bwMode="auto">
          <a:xfrm>
            <a:off x="1478989" y="2328126"/>
            <a:ext cx="215680" cy="503136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7" name="모서리가 둥근 직사각형 226"/>
          <p:cNvSpPr/>
          <p:nvPr/>
        </p:nvSpPr>
        <p:spPr>
          <a:xfrm>
            <a:off x="7811905" y="5871751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cxnSp>
        <p:nvCxnSpPr>
          <p:cNvPr id="231" name="직선 화살표 연결선 155"/>
          <p:cNvCxnSpPr>
            <a:stCxn id="91" idx="3"/>
            <a:endCxn id="234" idx="0"/>
          </p:cNvCxnSpPr>
          <p:nvPr/>
        </p:nvCxnSpPr>
        <p:spPr bwMode="auto">
          <a:xfrm>
            <a:off x="8665223" y="1891533"/>
            <a:ext cx="0" cy="31545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2" name="Rectangle 49"/>
          <p:cNvSpPr>
            <a:spLocks noChangeArrowheads="1"/>
          </p:cNvSpPr>
          <p:nvPr/>
        </p:nvSpPr>
        <p:spPr bwMode="gray">
          <a:xfrm>
            <a:off x="7158245" y="3906832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거점 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 반품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234" name="Rectangle 49"/>
          <p:cNvSpPr>
            <a:spLocks noChangeArrowheads="1"/>
          </p:cNvSpPr>
          <p:nvPr/>
        </p:nvSpPr>
        <p:spPr bwMode="gray">
          <a:xfrm>
            <a:off x="8243251" y="2206992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매장출고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59" name="직선 화살표 연결선 155"/>
          <p:cNvCxnSpPr>
            <a:stCxn id="155" idx="3"/>
            <a:endCxn id="105" idx="2"/>
          </p:cNvCxnSpPr>
          <p:nvPr/>
        </p:nvCxnSpPr>
        <p:spPr bwMode="auto">
          <a:xfrm>
            <a:off x="5308544" y="1961205"/>
            <a:ext cx="40119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63" name="TextBox 94"/>
          <p:cNvSpPr txBox="1">
            <a:spLocks noChangeArrowheads="1"/>
          </p:cNvSpPr>
          <p:nvPr/>
        </p:nvSpPr>
        <p:spPr bwMode="auto">
          <a:xfrm>
            <a:off x="1224238" y="1149298"/>
            <a:ext cx="14215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>
                <a:latin typeface="+mn-ea"/>
                <a:ea typeface="+mn-ea"/>
              </a:rPr>
              <a:t>SP_GWM_RNDS_OUTB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64" name="TextBox 94"/>
          <p:cNvSpPr txBox="1">
            <a:spLocks noChangeArrowheads="1"/>
          </p:cNvSpPr>
          <p:nvPr/>
        </p:nvSpPr>
        <p:spPr bwMode="auto">
          <a:xfrm>
            <a:off x="7594715" y="2768381"/>
            <a:ext cx="15323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SP_IFT_ONLINE_DELV_RST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65" name="AutoShape 86"/>
          <p:cNvSpPr>
            <a:spLocks noChangeArrowheads="1"/>
          </p:cNvSpPr>
          <p:nvPr/>
        </p:nvSpPr>
        <p:spPr bwMode="auto">
          <a:xfrm>
            <a:off x="5709734" y="368533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B2C</a:t>
            </a:r>
            <a:r>
              <a:rPr lang="ko-KR" altLang="en-US" sz="600" b="1" dirty="0" smtClean="0">
                <a:latin typeface="+mn-ea"/>
                <a:ea typeface="+mn-ea"/>
              </a:rPr>
              <a:t>출고실적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IFT_B2C_OUTB_RST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66" name="직선 화살표 연결선 155"/>
          <p:cNvCxnSpPr>
            <a:stCxn id="165" idx="3"/>
            <a:endCxn id="65" idx="2"/>
          </p:cNvCxnSpPr>
          <p:nvPr/>
        </p:nvCxnSpPr>
        <p:spPr bwMode="auto">
          <a:xfrm>
            <a:off x="5307617" y="3929217"/>
            <a:ext cx="402117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68" name="TextBox 94"/>
          <p:cNvSpPr txBox="1">
            <a:spLocks noChangeArrowheads="1"/>
          </p:cNvSpPr>
          <p:nvPr/>
        </p:nvSpPr>
        <p:spPr bwMode="auto">
          <a:xfrm>
            <a:off x="7535211" y="1111383"/>
            <a:ext cx="15323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SP_B2C_ONLINE_OUTB_RST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57" name="AutoShape 86"/>
          <p:cNvSpPr>
            <a:spLocks noChangeArrowheads="1"/>
          </p:cNvSpPr>
          <p:nvPr/>
        </p:nvSpPr>
        <p:spPr bwMode="auto">
          <a:xfrm>
            <a:off x="1589456" y="138998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T_GWM_RNDS_OUTB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60" name="AutoShape 73"/>
          <p:cNvSpPr>
            <a:spLocks noChangeArrowheads="1"/>
          </p:cNvSpPr>
          <p:nvPr/>
        </p:nvSpPr>
        <p:spPr bwMode="auto">
          <a:xfrm>
            <a:off x="647265" y="2090795"/>
            <a:ext cx="831724" cy="47466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bIns="0" anchor="ctr" anchorCtr="1"/>
          <a:lstStyle/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거점출고</a:t>
            </a:r>
            <a:endParaRPr lang="en-US" altLang="ko-KR" sz="800" dirty="0" smtClean="0">
              <a:latin typeface="+mn-ea"/>
              <a:ea typeface="+mn-ea"/>
            </a:endParaRPr>
          </a:p>
        </p:txBody>
      </p:sp>
      <p:sp>
        <p:nvSpPr>
          <p:cNvPr id="61" name="Rectangle 49"/>
          <p:cNvSpPr>
            <a:spLocks noChangeArrowheads="1"/>
          </p:cNvSpPr>
          <p:nvPr/>
        </p:nvSpPr>
        <p:spPr bwMode="gray">
          <a:xfrm>
            <a:off x="290736" y="2834309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거점매장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반품 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67" name="TextBox 94"/>
          <p:cNvSpPr txBox="1">
            <a:spLocks noChangeArrowheads="1"/>
          </p:cNvSpPr>
          <p:nvPr/>
        </p:nvSpPr>
        <p:spPr bwMode="auto">
          <a:xfrm>
            <a:off x="1072768" y="1808820"/>
            <a:ext cx="1539558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거점출고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</a:p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WH_SHOP_ID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가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STS027 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이외</a:t>
            </a:r>
            <a:endParaRPr lang="en-US" altLang="ko-KR" sz="800" dirty="0" smtClean="0"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69" name="Text Box 82"/>
          <p:cNvSpPr txBox="1">
            <a:spLocks noChangeArrowheads="1"/>
          </p:cNvSpPr>
          <p:nvPr/>
        </p:nvSpPr>
        <p:spPr bwMode="gray">
          <a:xfrm>
            <a:off x="643878" y="2473317"/>
            <a:ext cx="35137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800" dirty="0" smtClean="0">
                <a:latin typeface="+mn-ea"/>
                <a:ea typeface="+mn-ea"/>
              </a:rPr>
              <a:t>YES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70" name="Text Box 82"/>
          <p:cNvSpPr txBox="1">
            <a:spLocks noChangeArrowheads="1"/>
          </p:cNvSpPr>
          <p:nvPr/>
        </p:nvSpPr>
        <p:spPr bwMode="gray">
          <a:xfrm>
            <a:off x="1331440" y="2379395"/>
            <a:ext cx="34336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800" dirty="0" smtClean="0">
                <a:latin typeface="+mn-ea"/>
                <a:ea typeface="+mn-ea"/>
              </a:rPr>
              <a:t>NO</a:t>
            </a:r>
            <a:endParaRPr lang="en-US" altLang="ko-KR" sz="800" dirty="0">
              <a:latin typeface="+mn-ea"/>
              <a:ea typeface="+mn-ea"/>
            </a:endParaRPr>
          </a:p>
        </p:txBody>
      </p:sp>
      <p:cxnSp>
        <p:nvCxnSpPr>
          <p:cNvPr id="71" name="직선 화살표 연결선 155"/>
          <p:cNvCxnSpPr>
            <a:stCxn id="60" idx="2"/>
            <a:endCxn id="61" idx="0"/>
          </p:cNvCxnSpPr>
          <p:nvPr/>
        </p:nvCxnSpPr>
        <p:spPr bwMode="auto">
          <a:xfrm rot="5400000">
            <a:off x="753492" y="2524674"/>
            <a:ext cx="268852" cy="35041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직선 화살표 연결선 155"/>
          <p:cNvCxnSpPr>
            <a:stCxn id="57" idx="4"/>
            <a:endCxn id="205" idx="0"/>
          </p:cNvCxnSpPr>
          <p:nvPr/>
        </p:nvCxnSpPr>
        <p:spPr bwMode="auto">
          <a:xfrm>
            <a:off x="2156194" y="1633867"/>
            <a:ext cx="519555" cy="1197395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1" name="AutoShape 86"/>
          <p:cNvSpPr>
            <a:spLocks noChangeArrowheads="1"/>
          </p:cNvSpPr>
          <p:nvPr/>
        </p:nvSpPr>
        <p:spPr bwMode="auto">
          <a:xfrm>
            <a:off x="8381854" y="140377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B2C</a:t>
            </a:r>
            <a:r>
              <a:rPr lang="ko-KR" altLang="en-US" sz="600" b="1" dirty="0" smtClean="0">
                <a:latin typeface="+mn-ea"/>
                <a:ea typeface="+mn-ea"/>
              </a:rPr>
              <a:t>출고실적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IFT_B2C_OUTB_RST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96" name="AutoShape 86"/>
          <p:cNvSpPr>
            <a:spLocks noChangeArrowheads="1"/>
          </p:cNvSpPr>
          <p:nvPr/>
        </p:nvSpPr>
        <p:spPr bwMode="auto">
          <a:xfrm>
            <a:off x="8426859" y="304294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T_GWM_RNDS_OUTB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97" name="AutoShape 86"/>
          <p:cNvSpPr>
            <a:spLocks noChangeArrowheads="1"/>
          </p:cNvSpPr>
          <p:nvPr/>
        </p:nvSpPr>
        <p:spPr bwMode="auto">
          <a:xfrm>
            <a:off x="7349791" y="213670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T_GWM_RNDS_OUTB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98" name="직선 화살표 연결선 155"/>
          <p:cNvCxnSpPr>
            <a:stCxn id="234" idx="1"/>
            <a:endCxn id="97" idx="4"/>
          </p:cNvCxnSpPr>
          <p:nvPr/>
        </p:nvCxnSpPr>
        <p:spPr bwMode="auto">
          <a:xfrm flipH="1">
            <a:off x="7916529" y="2377360"/>
            <a:ext cx="326722" cy="322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1" name="TextBox 94"/>
          <p:cNvSpPr txBox="1">
            <a:spLocks noChangeArrowheads="1"/>
          </p:cNvSpPr>
          <p:nvPr/>
        </p:nvSpPr>
        <p:spPr bwMode="auto">
          <a:xfrm>
            <a:off x="7465629" y="1998421"/>
            <a:ext cx="132857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WMS </a:t>
            </a:r>
            <a:r>
              <a:rPr lang="ko-KR" altLang="en-US" sz="800" dirty="0" err="1" smtClean="0">
                <a:latin typeface="+mn-ea"/>
                <a:ea typeface="+mn-ea"/>
                <a:sym typeface="Wingdings" panose="05000000000000000000" pitchFamily="2" charset="2"/>
              </a:rPr>
              <a:t>출고분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UPDATE</a:t>
            </a:r>
            <a:endParaRPr lang="en-US" altLang="ko-KR" sz="800" dirty="0" smtClean="0"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105" name="AutoShape 86"/>
          <p:cNvSpPr>
            <a:spLocks noChangeArrowheads="1"/>
          </p:cNvSpPr>
          <p:nvPr/>
        </p:nvSpPr>
        <p:spPr bwMode="auto">
          <a:xfrm>
            <a:off x="5709734" y="1717326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클레임정보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T_GWM_IF_CLM_IFO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06" name="AutoShape 86"/>
          <p:cNvSpPr>
            <a:spLocks noChangeArrowheads="1"/>
          </p:cNvSpPr>
          <p:nvPr/>
        </p:nvSpPr>
        <p:spPr bwMode="auto">
          <a:xfrm>
            <a:off x="7597360" y="140377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클레임정보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T_GWM_IF_CLM_IFO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07" name="직선 화살표 연결선 155"/>
          <p:cNvCxnSpPr>
            <a:stCxn id="106" idx="3"/>
            <a:endCxn id="234" idx="0"/>
          </p:cNvCxnSpPr>
          <p:nvPr/>
        </p:nvCxnSpPr>
        <p:spPr bwMode="auto">
          <a:xfrm rot="16200000" flipH="1">
            <a:off x="8115247" y="1657015"/>
            <a:ext cx="315459" cy="78449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1" name="AutoShape 73"/>
          <p:cNvSpPr>
            <a:spLocks noChangeArrowheads="1"/>
          </p:cNvSpPr>
          <p:nvPr/>
        </p:nvSpPr>
        <p:spPr bwMode="auto">
          <a:xfrm>
            <a:off x="8295371" y="3841839"/>
            <a:ext cx="831724" cy="47466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bIns="0" anchor="ctr" anchorCtr="1"/>
          <a:lstStyle/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거점출고</a:t>
            </a:r>
            <a:endParaRPr lang="en-US" altLang="ko-KR" sz="800" dirty="0" smtClean="0">
              <a:latin typeface="+mn-ea"/>
              <a:ea typeface="+mn-ea"/>
            </a:endParaRPr>
          </a:p>
        </p:txBody>
      </p:sp>
      <p:cxnSp>
        <p:nvCxnSpPr>
          <p:cNvPr id="112" name="직선 화살표 연결선 155"/>
          <p:cNvCxnSpPr>
            <a:stCxn id="96" idx="3"/>
            <a:endCxn id="111" idx="0"/>
          </p:cNvCxnSpPr>
          <p:nvPr/>
        </p:nvCxnSpPr>
        <p:spPr bwMode="auto">
          <a:xfrm>
            <a:off x="8710228" y="3530698"/>
            <a:ext cx="1005" cy="31114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직선 화살표 연결선 155"/>
          <p:cNvCxnSpPr>
            <a:stCxn id="111" idx="1"/>
            <a:endCxn id="232" idx="3"/>
          </p:cNvCxnSpPr>
          <p:nvPr/>
        </p:nvCxnSpPr>
        <p:spPr bwMode="auto">
          <a:xfrm rot="10800000">
            <a:off x="8002189" y="4077200"/>
            <a:ext cx="293183" cy="197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8" name="Text Box 82"/>
          <p:cNvSpPr txBox="1">
            <a:spLocks noChangeArrowheads="1"/>
          </p:cNvSpPr>
          <p:nvPr/>
        </p:nvSpPr>
        <p:spPr bwMode="gray">
          <a:xfrm>
            <a:off x="8048992" y="3863725"/>
            <a:ext cx="35137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800" dirty="0" smtClean="0">
                <a:latin typeface="+mn-ea"/>
                <a:ea typeface="+mn-ea"/>
              </a:rPr>
              <a:t>YES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19" name="Rectangle 49"/>
          <p:cNvSpPr>
            <a:spLocks noChangeArrowheads="1"/>
          </p:cNvSpPr>
          <p:nvPr/>
        </p:nvSpPr>
        <p:spPr bwMode="gray">
          <a:xfrm>
            <a:off x="7787131" y="4432237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매장출고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20" name="직선 화살표 연결선 155"/>
          <p:cNvCxnSpPr>
            <a:stCxn id="111" idx="1"/>
            <a:endCxn id="119" idx="0"/>
          </p:cNvCxnSpPr>
          <p:nvPr/>
        </p:nvCxnSpPr>
        <p:spPr bwMode="auto">
          <a:xfrm rot="10800000" flipV="1">
            <a:off x="8209103" y="4079169"/>
            <a:ext cx="86268" cy="353067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8" name="TextBox 94"/>
          <p:cNvSpPr txBox="1">
            <a:spLocks noChangeArrowheads="1"/>
          </p:cNvSpPr>
          <p:nvPr/>
        </p:nvSpPr>
        <p:spPr bwMode="auto">
          <a:xfrm>
            <a:off x="7678165" y="3546800"/>
            <a:ext cx="10620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WMS </a:t>
            </a:r>
            <a:r>
              <a:rPr lang="ko-KR" altLang="en-US" sz="800" dirty="0" err="1" smtClean="0">
                <a:latin typeface="+mn-ea"/>
                <a:ea typeface="+mn-ea"/>
                <a:sym typeface="Wingdings" panose="05000000000000000000" pitchFamily="2" charset="2"/>
              </a:rPr>
              <a:t>출고분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제외</a:t>
            </a:r>
            <a:endParaRPr lang="en-US" altLang="ko-KR" sz="800" dirty="0" smtClean="0"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129" name="Rectangle 49"/>
          <p:cNvSpPr>
            <a:spLocks noChangeArrowheads="1"/>
          </p:cNvSpPr>
          <p:nvPr/>
        </p:nvSpPr>
        <p:spPr bwMode="gray">
          <a:xfrm>
            <a:off x="299476" y="3454381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b="1" dirty="0" smtClean="0">
                <a:latin typeface="+mn-ea"/>
                <a:ea typeface="+mn-ea"/>
              </a:rPr>
              <a:t>STS027 </a:t>
            </a:r>
            <a:r>
              <a:rPr lang="ko-KR" altLang="en-US" sz="800" b="1" dirty="0" smtClean="0">
                <a:latin typeface="+mn-ea"/>
                <a:ea typeface="+mn-ea"/>
              </a:rPr>
              <a:t>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반품 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30" name="Rectangle 49"/>
          <p:cNvSpPr>
            <a:spLocks noChangeArrowheads="1"/>
          </p:cNvSpPr>
          <p:nvPr/>
        </p:nvSpPr>
        <p:spPr bwMode="gray">
          <a:xfrm>
            <a:off x="1441511" y="3456376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창고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800" b="1" dirty="0" smtClean="0">
                <a:latin typeface="+mn-ea"/>
                <a:ea typeface="+mn-ea"/>
              </a:rPr>
              <a:t>(OA)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31" name="Rectangle 49"/>
          <p:cNvSpPr>
            <a:spLocks noChangeArrowheads="1"/>
          </p:cNvSpPr>
          <p:nvPr/>
        </p:nvSpPr>
        <p:spPr bwMode="gray">
          <a:xfrm>
            <a:off x="2626518" y="3454270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 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32" name="직선 화살표 연결선 155"/>
          <p:cNvCxnSpPr>
            <a:stCxn id="129" idx="3"/>
            <a:endCxn id="130" idx="1"/>
          </p:cNvCxnSpPr>
          <p:nvPr/>
        </p:nvCxnSpPr>
        <p:spPr bwMode="auto">
          <a:xfrm>
            <a:off x="1143419" y="3624749"/>
            <a:ext cx="298092" cy="199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6" name="직선 화살표 연결선 155"/>
          <p:cNvCxnSpPr>
            <a:stCxn id="130" idx="3"/>
            <a:endCxn id="131" idx="1"/>
          </p:cNvCxnSpPr>
          <p:nvPr/>
        </p:nvCxnSpPr>
        <p:spPr bwMode="auto">
          <a:xfrm flipV="1">
            <a:off x="2285454" y="3624638"/>
            <a:ext cx="341064" cy="210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1" name="Rectangle 49"/>
          <p:cNvSpPr>
            <a:spLocks noChangeArrowheads="1"/>
          </p:cNvSpPr>
          <p:nvPr/>
        </p:nvSpPr>
        <p:spPr bwMode="gray">
          <a:xfrm>
            <a:off x="1436319" y="3978203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>
                <a:latin typeface="+mn-ea"/>
                <a:ea typeface="+mn-ea"/>
              </a:rPr>
              <a:t>거점</a:t>
            </a:r>
            <a:r>
              <a:rPr lang="en-US" altLang="ko-KR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매장</a:t>
            </a:r>
            <a:endParaRPr lang="en-US" altLang="ko-KR" sz="800" b="1" dirty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반품 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43" name="직선 화살표 연결선 155"/>
          <p:cNvCxnSpPr>
            <a:stCxn id="141" idx="0"/>
            <a:endCxn id="130" idx="2"/>
          </p:cNvCxnSpPr>
          <p:nvPr/>
        </p:nvCxnSpPr>
        <p:spPr bwMode="auto">
          <a:xfrm flipV="1">
            <a:off x="1858291" y="3797111"/>
            <a:ext cx="5192" cy="18109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6" name="Rectangle 49"/>
          <p:cNvSpPr>
            <a:spLocks noChangeArrowheads="1"/>
          </p:cNvSpPr>
          <p:nvPr/>
        </p:nvSpPr>
        <p:spPr bwMode="gray">
          <a:xfrm>
            <a:off x="7521696" y="4927044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창고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800" b="1" dirty="0" smtClean="0">
                <a:latin typeface="+mn-ea"/>
                <a:ea typeface="+mn-ea"/>
              </a:rPr>
              <a:t>(ON)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47" name="Rectangle 49"/>
          <p:cNvSpPr>
            <a:spLocks noChangeArrowheads="1"/>
          </p:cNvSpPr>
          <p:nvPr/>
        </p:nvSpPr>
        <p:spPr bwMode="gray">
          <a:xfrm>
            <a:off x="8706703" y="4924938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 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49" name="직선 화살표 연결선 155"/>
          <p:cNvCxnSpPr>
            <a:stCxn id="146" idx="3"/>
            <a:endCxn id="147" idx="1"/>
          </p:cNvCxnSpPr>
          <p:nvPr/>
        </p:nvCxnSpPr>
        <p:spPr bwMode="auto">
          <a:xfrm flipV="1">
            <a:off x="8365639" y="5095306"/>
            <a:ext cx="341064" cy="210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1" name="Rectangle 49"/>
          <p:cNvSpPr>
            <a:spLocks noChangeArrowheads="1"/>
          </p:cNvSpPr>
          <p:nvPr/>
        </p:nvSpPr>
        <p:spPr bwMode="gray">
          <a:xfrm>
            <a:off x="7516962" y="5448871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>
                <a:latin typeface="+mn-ea"/>
                <a:ea typeface="+mn-ea"/>
              </a:rPr>
              <a:t>거점</a:t>
            </a:r>
            <a:r>
              <a:rPr lang="en-US" altLang="ko-KR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매장</a:t>
            </a:r>
            <a:endParaRPr lang="en-US" altLang="ko-KR" sz="800" b="1" dirty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반품 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57" name="직선 화살표 연결선 155"/>
          <p:cNvCxnSpPr>
            <a:stCxn id="151" idx="0"/>
            <a:endCxn id="146" idx="2"/>
          </p:cNvCxnSpPr>
          <p:nvPr/>
        </p:nvCxnSpPr>
        <p:spPr bwMode="auto">
          <a:xfrm flipV="1">
            <a:off x="7938934" y="5267779"/>
            <a:ext cx="4734" cy="18109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7" name="직선 화살표 연결선 155"/>
          <p:cNvCxnSpPr>
            <a:stCxn id="191" idx="2"/>
            <a:endCxn id="175" idx="1"/>
          </p:cNvCxnSpPr>
          <p:nvPr/>
        </p:nvCxnSpPr>
        <p:spPr bwMode="auto">
          <a:xfrm rot="16200000" flipH="1">
            <a:off x="1734782" y="4904640"/>
            <a:ext cx="372593" cy="45654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7064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2. </a:t>
            </a:r>
            <a:r>
              <a:rPr lang="ko-KR" altLang="en-US" dirty="0" smtClean="0">
                <a:latin typeface="+mn-ea"/>
                <a:ea typeface="+mn-ea"/>
              </a:rPr>
              <a:t>온라인 </a:t>
            </a:r>
            <a:r>
              <a:rPr lang="ko-KR" altLang="en-US" dirty="0" smtClean="0">
                <a:latin typeface="+mn-ea"/>
                <a:ea typeface="+mn-ea"/>
              </a:rPr>
              <a:t>출고 반품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1" name="Rectangle 120"/>
          <p:cNvSpPr>
            <a:spLocks noChangeArrowheads="1"/>
          </p:cNvSpPr>
          <p:nvPr/>
        </p:nvSpPr>
        <p:spPr bwMode="gray">
          <a:xfrm>
            <a:off x="227919" y="728699"/>
            <a:ext cx="9450606" cy="580564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2998" y="1709504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r>
              <a:rPr lang="ko-KR" altLang="en-US" sz="1100" b="1" kern="0" dirty="0" smtClean="0">
                <a:latin typeface="+mn-ea"/>
                <a:ea typeface="+mn-ea"/>
              </a:rPr>
              <a:t>정보수집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56" name="직선 화살표 연결선 155"/>
          <p:cNvCxnSpPr>
            <a:stCxn id="259" idx="2"/>
            <a:endCxn id="155" idx="0"/>
          </p:cNvCxnSpPr>
          <p:nvPr/>
        </p:nvCxnSpPr>
        <p:spPr bwMode="auto">
          <a:xfrm>
            <a:off x="4861998" y="1480871"/>
            <a:ext cx="0" cy="22863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3" name="모서리가 둥근 직사각형 162"/>
          <p:cNvSpPr/>
          <p:nvPr/>
        </p:nvSpPr>
        <p:spPr>
          <a:xfrm>
            <a:off x="4312998" y="2330701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3758658" y="2965254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반품검수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4438445" y="4310078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출고반품</a:t>
            </a:r>
            <a:r>
              <a:rPr lang="ko-KR" altLang="en-US" sz="1100" b="1" kern="0" dirty="0" smtClean="0">
                <a:latin typeface="+mn-ea"/>
                <a:ea typeface="+mn-ea"/>
              </a:rPr>
              <a:t>생성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184" name="Rectangle 224"/>
          <p:cNvSpPr>
            <a:spLocks noChangeArrowheads="1"/>
          </p:cNvSpPr>
          <p:nvPr/>
        </p:nvSpPr>
        <p:spPr bwMode="auto">
          <a:xfrm>
            <a:off x="271197" y="765128"/>
            <a:ext cx="1566523" cy="269981"/>
          </a:xfrm>
          <a:prstGeom prst="rect">
            <a:avLst/>
          </a:prstGeom>
          <a:solidFill>
            <a:srgbClr val="0070C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AS-IS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5" name="Rectangle 224"/>
          <p:cNvSpPr>
            <a:spLocks noChangeArrowheads="1"/>
          </p:cNvSpPr>
          <p:nvPr/>
        </p:nvSpPr>
        <p:spPr bwMode="auto">
          <a:xfrm>
            <a:off x="8075354" y="768660"/>
            <a:ext cx="1566523" cy="2699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TO-BE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42" name="모서리가 둥근 직사각형 241"/>
          <p:cNvSpPr/>
          <p:nvPr/>
        </p:nvSpPr>
        <p:spPr>
          <a:xfrm>
            <a:off x="5116423" y="3552662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블라인드실적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5116423" y="2965254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반품등록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245" name="직선 화살표 연결선 155"/>
          <p:cNvCxnSpPr>
            <a:stCxn id="163" idx="2"/>
            <a:endCxn id="165" idx="0"/>
          </p:cNvCxnSpPr>
          <p:nvPr/>
        </p:nvCxnSpPr>
        <p:spPr bwMode="auto">
          <a:xfrm rot="5400000">
            <a:off x="4463834" y="2567089"/>
            <a:ext cx="241989" cy="55434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9" name="모서리가 둥근 직사각형 248"/>
          <p:cNvSpPr/>
          <p:nvPr/>
        </p:nvSpPr>
        <p:spPr>
          <a:xfrm>
            <a:off x="3758658" y="3550122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반품실적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259" name="모서리가 둥근 직사각형 258"/>
          <p:cNvSpPr/>
          <p:nvPr/>
        </p:nvSpPr>
        <p:spPr>
          <a:xfrm>
            <a:off x="4312998" y="1088471"/>
            <a:ext cx="1098000" cy="392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자사</a:t>
            </a:r>
            <a:r>
              <a:rPr lang="en-US" altLang="ko-KR" sz="1100" b="1" kern="0" dirty="0" smtClean="0">
                <a:latin typeface="+mn-ea"/>
                <a:ea typeface="+mn-ea"/>
              </a:rPr>
              <a:t>/</a:t>
            </a:r>
            <a:r>
              <a:rPr lang="ko-KR" altLang="en-US" sz="1100" b="1" kern="0" dirty="0" err="1" smtClean="0">
                <a:latin typeface="+mn-ea"/>
                <a:ea typeface="+mn-ea"/>
              </a:rPr>
              <a:t>제휴몰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275" name="직선 화살표 연결선 274"/>
          <p:cNvCxnSpPr>
            <a:stCxn id="165" idx="2"/>
            <a:endCxn id="249" idx="0"/>
          </p:cNvCxnSpPr>
          <p:nvPr/>
        </p:nvCxnSpPr>
        <p:spPr bwMode="auto">
          <a:xfrm>
            <a:off x="4307658" y="3357818"/>
            <a:ext cx="0" cy="19230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8" name="직선 화살표 연결선 277"/>
          <p:cNvCxnSpPr>
            <a:stCxn id="249" idx="2"/>
            <a:endCxn id="167" idx="0"/>
          </p:cNvCxnSpPr>
          <p:nvPr/>
        </p:nvCxnSpPr>
        <p:spPr bwMode="auto">
          <a:xfrm rot="16200000" flipH="1">
            <a:off x="4463855" y="3786488"/>
            <a:ext cx="367392" cy="67978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1" name="직선 화살표 연결선 280"/>
          <p:cNvCxnSpPr>
            <a:stCxn id="243" idx="2"/>
            <a:endCxn id="242" idx="0"/>
          </p:cNvCxnSpPr>
          <p:nvPr/>
        </p:nvCxnSpPr>
        <p:spPr bwMode="auto">
          <a:xfrm>
            <a:off x="5665423" y="3357818"/>
            <a:ext cx="0" cy="19484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4" name="직선 화살표 연결선 283"/>
          <p:cNvCxnSpPr>
            <a:stCxn id="242" idx="2"/>
            <a:endCxn id="167" idx="0"/>
          </p:cNvCxnSpPr>
          <p:nvPr/>
        </p:nvCxnSpPr>
        <p:spPr bwMode="auto">
          <a:xfrm rot="5400000">
            <a:off x="5144008" y="3788663"/>
            <a:ext cx="364852" cy="67797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9" name="모서리가 둥근 직사각형 298"/>
          <p:cNvSpPr/>
          <p:nvPr/>
        </p:nvSpPr>
        <p:spPr>
          <a:xfrm>
            <a:off x="4438445" y="5005527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온라인</a:t>
            </a:r>
            <a:r>
              <a:rPr lang="ko-KR" altLang="en-US" sz="1100" b="1" kern="0" dirty="0" smtClean="0">
                <a:latin typeface="+mn-ea"/>
                <a:ea typeface="+mn-ea"/>
              </a:rPr>
              <a:t>출고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r>
              <a:rPr lang="en-US" altLang="ko-KR" sz="1100" b="1" kern="0" dirty="0" smtClean="0">
                <a:latin typeface="+mn-ea"/>
                <a:ea typeface="+mn-ea"/>
              </a:rPr>
              <a:t>I/F(BO)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300" name="직선 화살표 연결선 155"/>
          <p:cNvCxnSpPr>
            <a:stCxn id="167" idx="2"/>
            <a:endCxn id="299" idx="0"/>
          </p:cNvCxnSpPr>
          <p:nvPr/>
        </p:nvCxnSpPr>
        <p:spPr bwMode="auto">
          <a:xfrm>
            <a:off x="4987445" y="4702642"/>
            <a:ext cx="0" cy="30288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1" name="모서리가 둥근 직사각형 300"/>
          <p:cNvSpPr/>
          <p:nvPr/>
        </p:nvSpPr>
        <p:spPr>
          <a:xfrm>
            <a:off x="4438034" y="5871751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 반품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cxnSp>
        <p:nvCxnSpPr>
          <p:cNvPr id="302" name="직선 화살표 연결선 155"/>
          <p:cNvCxnSpPr>
            <a:stCxn id="299" idx="2"/>
            <a:endCxn id="301" idx="0"/>
          </p:cNvCxnSpPr>
          <p:nvPr/>
        </p:nvCxnSpPr>
        <p:spPr bwMode="auto">
          <a:xfrm flipH="1">
            <a:off x="4987034" y="5398091"/>
            <a:ext cx="411" cy="47366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3" name="AutoShape 86"/>
          <p:cNvSpPr>
            <a:spLocks noChangeArrowheads="1"/>
          </p:cNvSpPr>
          <p:nvPr/>
        </p:nvSpPr>
        <p:spPr bwMode="auto">
          <a:xfrm>
            <a:off x="6100032" y="5538296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T_GWM_RNDS_RETURN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304" name="직선 화살표 연결선 155"/>
          <p:cNvCxnSpPr>
            <a:stCxn id="299" idx="3"/>
            <a:endCxn id="303" idx="2"/>
          </p:cNvCxnSpPr>
          <p:nvPr/>
        </p:nvCxnSpPr>
        <p:spPr bwMode="auto">
          <a:xfrm>
            <a:off x="5536445" y="5201809"/>
            <a:ext cx="563587" cy="58036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305" name="AutoShape 86"/>
          <p:cNvSpPr>
            <a:spLocks noChangeArrowheads="1"/>
          </p:cNvSpPr>
          <p:nvPr/>
        </p:nvSpPr>
        <p:spPr bwMode="auto">
          <a:xfrm>
            <a:off x="1431523" y="577655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매장수불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T_SHOP_RNDS_BASE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306" name="직선 화살표 연결선 155"/>
          <p:cNvCxnSpPr>
            <a:stCxn id="346" idx="2"/>
            <a:endCxn id="307" idx="1"/>
          </p:cNvCxnSpPr>
          <p:nvPr/>
        </p:nvCxnSpPr>
        <p:spPr bwMode="auto">
          <a:xfrm rot="5400000">
            <a:off x="980163" y="5389952"/>
            <a:ext cx="322332" cy="45087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307" name="AutoShape 86"/>
          <p:cNvSpPr>
            <a:spLocks noChangeArrowheads="1"/>
          </p:cNvSpPr>
          <p:nvPr/>
        </p:nvSpPr>
        <p:spPr bwMode="auto">
          <a:xfrm>
            <a:off x="632520" y="577655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출고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T_TRAN_SPEC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308" name="AutoShape 86"/>
          <p:cNvSpPr>
            <a:spLocks noChangeArrowheads="1"/>
          </p:cNvSpPr>
          <p:nvPr/>
        </p:nvSpPr>
        <p:spPr bwMode="auto">
          <a:xfrm>
            <a:off x="8249055" y="5541383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온라인출고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T_ONLIE_DELV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309" name="직선 화살표 연결선 155"/>
          <p:cNvCxnSpPr>
            <a:stCxn id="361" idx="2"/>
            <a:endCxn id="308" idx="1"/>
          </p:cNvCxnSpPr>
          <p:nvPr/>
        </p:nvCxnSpPr>
        <p:spPr bwMode="auto">
          <a:xfrm>
            <a:off x="8522515" y="5216719"/>
            <a:ext cx="9909" cy="32466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319" name="AutoShape 86"/>
          <p:cNvSpPr>
            <a:spLocks noChangeArrowheads="1"/>
          </p:cNvSpPr>
          <p:nvPr/>
        </p:nvSpPr>
        <p:spPr bwMode="auto">
          <a:xfrm>
            <a:off x="3801197" y="530937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온라인판매반품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T_GWM_RNDS_REFUND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320" name="직선 화살표 연결선 155"/>
          <p:cNvCxnSpPr>
            <a:stCxn id="378" idx="3"/>
            <a:endCxn id="319" idx="1"/>
          </p:cNvCxnSpPr>
          <p:nvPr/>
        </p:nvCxnSpPr>
        <p:spPr bwMode="auto">
          <a:xfrm>
            <a:off x="3962890" y="4882174"/>
            <a:ext cx="121676" cy="42720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323" name="AutoShape 86"/>
          <p:cNvSpPr>
            <a:spLocks noChangeArrowheads="1"/>
          </p:cNvSpPr>
          <p:nvPr/>
        </p:nvSpPr>
        <p:spPr bwMode="auto">
          <a:xfrm>
            <a:off x="6100032" y="499927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 smtClean="0">
                <a:latin typeface="+mn-ea"/>
                <a:ea typeface="+mn-ea"/>
              </a:rPr>
              <a:t>블라인드주문매칭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T_GWM_IF_RET_FAK_MATCH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325" name="Rectangle 49"/>
          <p:cNvSpPr>
            <a:spLocks noChangeArrowheads="1"/>
          </p:cNvSpPr>
          <p:nvPr/>
        </p:nvSpPr>
        <p:spPr bwMode="gray">
          <a:xfrm>
            <a:off x="542510" y="2213865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b="1" dirty="0" smtClean="0">
                <a:latin typeface="+mn-ea"/>
                <a:ea typeface="+mn-ea"/>
              </a:rPr>
              <a:t>STS027 </a:t>
            </a:r>
            <a:r>
              <a:rPr lang="ko-KR" altLang="en-US" sz="800" b="1" dirty="0" smtClean="0">
                <a:latin typeface="+mn-ea"/>
                <a:ea typeface="+mn-ea"/>
              </a:rPr>
              <a:t>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28" name="TextBox 94"/>
          <p:cNvSpPr txBox="1">
            <a:spLocks noChangeArrowheads="1"/>
          </p:cNvSpPr>
          <p:nvPr/>
        </p:nvSpPr>
        <p:spPr bwMode="auto">
          <a:xfrm>
            <a:off x="762179" y="1196239"/>
            <a:ext cx="14215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SP_GWM_RNDS_</a:t>
            </a:r>
            <a:r>
              <a:rPr lang="en-US" altLang="ko-KR" sz="800" b="1" dirty="0" smtClean="0">
                <a:latin typeface="+mn-ea"/>
                <a:ea typeface="+mn-ea"/>
              </a:rPr>
              <a:t>RETURN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29" name="AutoShape 86"/>
          <p:cNvSpPr>
            <a:spLocks noChangeArrowheads="1"/>
          </p:cNvSpPr>
          <p:nvPr/>
        </p:nvSpPr>
        <p:spPr bwMode="auto">
          <a:xfrm>
            <a:off x="681112" y="1463891"/>
            <a:ext cx="566738" cy="491226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T_GWM_RNDS_RETURN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336" name="직선 화살표 연결선 155"/>
          <p:cNvCxnSpPr>
            <a:stCxn id="329" idx="3"/>
            <a:endCxn id="325" idx="0"/>
          </p:cNvCxnSpPr>
          <p:nvPr/>
        </p:nvCxnSpPr>
        <p:spPr bwMode="auto">
          <a:xfrm>
            <a:off x="964481" y="1955117"/>
            <a:ext cx="1" cy="2587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6" name="모서리가 둥근 직사각형 345"/>
          <p:cNvSpPr/>
          <p:nvPr/>
        </p:nvSpPr>
        <p:spPr>
          <a:xfrm>
            <a:off x="817768" y="5061661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 반품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sp>
        <p:nvSpPr>
          <p:cNvPr id="347" name="TextBox 94"/>
          <p:cNvSpPr txBox="1">
            <a:spLocks noChangeArrowheads="1"/>
          </p:cNvSpPr>
          <p:nvPr/>
        </p:nvSpPr>
        <p:spPr bwMode="auto">
          <a:xfrm>
            <a:off x="346969" y="2615774"/>
            <a:ext cx="1361875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smtClean="0">
                <a:latin typeface="+mn-ea"/>
                <a:ea typeface="+mn-ea"/>
              </a:rPr>
              <a:t>반품 수량</a:t>
            </a: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ko-KR" altLang="en-US" sz="800" dirty="0" smtClean="0">
                <a:latin typeface="+mn-ea"/>
                <a:ea typeface="+mn-ea"/>
              </a:rPr>
              <a:t>금액 </a:t>
            </a:r>
            <a:r>
              <a:rPr lang="en-US" altLang="ko-KR" sz="800" dirty="0" smtClean="0">
                <a:latin typeface="+mn-ea"/>
                <a:ea typeface="+mn-ea"/>
              </a:rPr>
              <a:t>X)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endParaRPr lang="en-US" altLang="ko-KR" sz="800" dirty="0" smtClean="0">
              <a:latin typeface="+mn-ea"/>
              <a:ea typeface="+mn-ea"/>
            </a:endParaRPr>
          </a:p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smtClean="0">
                <a:latin typeface="+mn-ea"/>
                <a:ea typeface="+mn-ea"/>
              </a:rPr>
              <a:t>창고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</a:t>
            </a:r>
            <a:r>
              <a:rPr lang="ko-KR" altLang="en-US" sz="800" dirty="0" smtClean="0">
                <a:latin typeface="+mn-ea"/>
                <a:ea typeface="+mn-ea"/>
              </a:rPr>
              <a:t> 매장출고</a:t>
            </a: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en-US" altLang="ko-KR" sz="800" dirty="0" smtClean="0">
                <a:latin typeface="+mn-ea"/>
              </a:rPr>
              <a:t>STS027)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48" name="AutoShape 86"/>
          <p:cNvSpPr>
            <a:spLocks noChangeArrowheads="1"/>
          </p:cNvSpPr>
          <p:nvPr/>
        </p:nvSpPr>
        <p:spPr bwMode="auto">
          <a:xfrm>
            <a:off x="8071626" y="135130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온라인판매반품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T_GWM_RNDS_REFUND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351" name="직선 화살표 연결선 155"/>
          <p:cNvCxnSpPr>
            <a:stCxn id="348" idx="3"/>
            <a:endCxn id="356" idx="0"/>
          </p:cNvCxnSpPr>
          <p:nvPr/>
        </p:nvCxnSpPr>
        <p:spPr bwMode="auto">
          <a:xfrm>
            <a:off x="8354995" y="1839066"/>
            <a:ext cx="1424" cy="28904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6" name="Rectangle 49"/>
          <p:cNvSpPr>
            <a:spLocks noChangeArrowheads="1"/>
          </p:cNvSpPr>
          <p:nvPr/>
        </p:nvSpPr>
        <p:spPr bwMode="gray">
          <a:xfrm>
            <a:off x="7934447" y="2128107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 반품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61" name="모서리가 둥근 직사각형 360"/>
          <p:cNvSpPr/>
          <p:nvPr/>
        </p:nvSpPr>
        <p:spPr>
          <a:xfrm>
            <a:off x="7973515" y="4824155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 반품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sp>
        <p:nvSpPr>
          <p:cNvPr id="362" name="Rectangle 49"/>
          <p:cNvSpPr>
            <a:spLocks noChangeArrowheads="1"/>
          </p:cNvSpPr>
          <p:nvPr/>
        </p:nvSpPr>
        <p:spPr bwMode="gray">
          <a:xfrm>
            <a:off x="452500" y="3894455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>
                <a:latin typeface="+mn-ea"/>
                <a:ea typeface="+mn-ea"/>
              </a:rPr>
              <a:t>창고</a:t>
            </a:r>
            <a:endParaRPr lang="en-US" altLang="ko-KR" sz="800" b="1" dirty="0">
              <a:latin typeface="+mn-ea"/>
              <a:ea typeface="+mn-ea"/>
            </a:endParaRPr>
          </a:p>
          <a:p>
            <a:pPr algn="ctr"/>
            <a:r>
              <a:rPr lang="en-US" altLang="ko-KR" sz="800" b="1" dirty="0">
                <a:latin typeface="+mn-ea"/>
                <a:ea typeface="+mn-ea"/>
              </a:rPr>
              <a:t>(OA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63" name="Rectangle 49"/>
          <p:cNvSpPr>
            <a:spLocks noChangeArrowheads="1"/>
          </p:cNvSpPr>
          <p:nvPr/>
        </p:nvSpPr>
        <p:spPr bwMode="gray">
          <a:xfrm>
            <a:off x="1588408" y="3898355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b="1" dirty="0">
                <a:latin typeface="+mn-ea"/>
                <a:ea typeface="+mn-ea"/>
              </a:rPr>
              <a:t>STS027 </a:t>
            </a:r>
            <a:r>
              <a:rPr lang="ko-KR" altLang="en-US" sz="800" b="1" dirty="0" smtClean="0">
                <a:latin typeface="+mn-ea"/>
                <a:ea typeface="+mn-ea"/>
              </a:rPr>
              <a:t>매장출고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364" name="직선 화살표 연결선 155"/>
          <p:cNvCxnSpPr>
            <a:stCxn id="362" idx="3"/>
            <a:endCxn id="363" idx="1"/>
          </p:cNvCxnSpPr>
          <p:nvPr/>
        </p:nvCxnSpPr>
        <p:spPr bwMode="auto">
          <a:xfrm>
            <a:off x="1296443" y="4064823"/>
            <a:ext cx="291965" cy="39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9" name="TextBox 94"/>
          <p:cNvSpPr txBox="1">
            <a:spLocks noChangeArrowheads="1"/>
          </p:cNvSpPr>
          <p:nvPr/>
        </p:nvSpPr>
        <p:spPr bwMode="auto">
          <a:xfrm>
            <a:off x="7606085" y="1091909"/>
            <a:ext cx="15323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SP_IFT_ONLINE_DELV_RST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70" name="TextBox 94"/>
          <p:cNvSpPr txBox="1">
            <a:spLocks noChangeArrowheads="1"/>
          </p:cNvSpPr>
          <p:nvPr/>
        </p:nvSpPr>
        <p:spPr bwMode="auto">
          <a:xfrm>
            <a:off x="5516012" y="2546836"/>
            <a:ext cx="996620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err="1" smtClean="0">
                <a:latin typeface="+mn-ea"/>
                <a:ea typeface="+mn-ea"/>
              </a:rPr>
              <a:t>고객반품미예약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ko-KR" altLang="en-US" sz="800" dirty="0" err="1" smtClean="0">
                <a:latin typeface="+mn-ea"/>
                <a:ea typeface="+mn-ea"/>
              </a:rPr>
              <a:t>가입고</a:t>
            </a: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ko-KR" altLang="en-US" sz="800" dirty="0" smtClean="0">
                <a:latin typeface="+mn-ea"/>
                <a:ea typeface="+mn-ea"/>
              </a:rPr>
              <a:t>블라인드</a:t>
            </a:r>
            <a:r>
              <a:rPr lang="en-US" altLang="ko-KR" sz="800" dirty="0" smtClean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71" name="TextBox 94"/>
          <p:cNvSpPr txBox="1">
            <a:spLocks noChangeArrowheads="1"/>
          </p:cNvSpPr>
          <p:nvPr/>
        </p:nvSpPr>
        <p:spPr bwMode="auto">
          <a:xfrm>
            <a:off x="3598359" y="2391221"/>
            <a:ext cx="805519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smtClean="0">
                <a:latin typeface="+mn-ea"/>
                <a:ea typeface="+mn-ea"/>
              </a:rPr>
              <a:t>고객반품예약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ko-KR" altLang="en-US" sz="800" dirty="0" err="1" smtClean="0">
                <a:latin typeface="+mn-ea"/>
                <a:ea typeface="+mn-ea"/>
              </a:rPr>
              <a:t>가확정</a:t>
            </a:r>
            <a:r>
              <a:rPr lang="en-US" altLang="ko-KR" sz="800" dirty="0" smtClean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74" name="직선 화살표 연결선 155"/>
          <p:cNvCxnSpPr>
            <a:stCxn id="155" idx="2"/>
            <a:endCxn id="163" idx="0"/>
          </p:cNvCxnSpPr>
          <p:nvPr/>
        </p:nvCxnSpPr>
        <p:spPr bwMode="auto">
          <a:xfrm>
            <a:off x="4861998" y="2102068"/>
            <a:ext cx="0" cy="22863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8" name="모서리가 둥근 직사각형 377"/>
          <p:cNvSpPr/>
          <p:nvPr/>
        </p:nvSpPr>
        <p:spPr>
          <a:xfrm>
            <a:off x="2864890" y="4685892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판매 반품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379" name="직선 화살표 연결선 155"/>
          <p:cNvCxnSpPr>
            <a:stCxn id="155" idx="1"/>
            <a:endCxn id="378" idx="0"/>
          </p:cNvCxnSpPr>
          <p:nvPr/>
        </p:nvCxnSpPr>
        <p:spPr bwMode="auto">
          <a:xfrm rot="10800000" flipV="1">
            <a:off x="3413890" y="1905786"/>
            <a:ext cx="899108" cy="2780106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3" name="모서리가 둥근 직사각형 392"/>
          <p:cNvSpPr/>
          <p:nvPr/>
        </p:nvSpPr>
        <p:spPr>
          <a:xfrm>
            <a:off x="5835220" y="4310078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블라인드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395" name="직선 화살표 연결선 155"/>
          <p:cNvCxnSpPr>
            <a:stCxn id="242" idx="3"/>
            <a:endCxn id="393" idx="0"/>
          </p:cNvCxnSpPr>
          <p:nvPr/>
        </p:nvCxnSpPr>
        <p:spPr bwMode="auto">
          <a:xfrm>
            <a:off x="6214423" y="3748944"/>
            <a:ext cx="169797" cy="561134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6" name="직선 화살표 연결선 155"/>
          <p:cNvCxnSpPr>
            <a:stCxn id="393" idx="2"/>
            <a:endCxn id="323" idx="1"/>
          </p:cNvCxnSpPr>
          <p:nvPr/>
        </p:nvCxnSpPr>
        <p:spPr bwMode="auto">
          <a:xfrm flipH="1">
            <a:off x="6383401" y="4702642"/>
            <a:ext cx="819" cy="29662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410" name="TextBox 94"/>
          <p:cNvSpPr txBox="1">
            <a:spLocks noChangeArrowheads="1"/>
          </p:cNvSpPr>
          <p:nvPr/>
        </p:nvSpPr>
        <p:spPr bwMode="auto">
          <a:xfrm>
            <a:off x="7580304" y="2618910"/>
            <a:ext cx="18474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SP_IFT_ONLINE_BLIND_STOR_SPEC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11" name="AutoShape 86"/>
          <p:cNvSpPr>
            <a:spLocks noChangeArrowheads="1"/>
          </p:cNvSpPr>
          <p:nvPr/>
        </p:nvSpPr>
        <p:spPr bwMode="auto">
          <a:xfrm>
            <a:off x="8616732" y="2887153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 smtClean="0">
                <a:latin typeface="+mn-ea"/>
                <a:ea typeface="+mn-ea"/>
              </a:rPr>
              <a:t>블라인드주문매칭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T_GWM_IF_RET_FAK_MATCH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412" name="직선 화살표 연결선 155"/>
          <p:cNvCxnSpPr>
            <a:stCxn id="411" idx="3"/>
            <a:endCxn id="413" idx="0"/>
          </p:cNvCxnSpPr>
          <p:nvPr/>
        </p:nvCxnSpPr>
        <p:spPr bwMode="auto">
          <a:xfrm rot="5400000">
            <a:off x="8510330" y="3342940"/>
            <a:ext cx="357801" cy="42174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3" name="Rectangle 49"/>
          <p:cNvSpPr>
            <a:spLocks noChangeArrowheads="1"/>
          </p:cNvSpPr>
          <p:nvPr/>
        </p:nvSpPr>
        <p:spPr bwMode="gray">
          <a:xfrm>
            <a:off x="8056386" y="3732712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출고반품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15" name="Rectangle 49"/>
          <p:cNvSpPr>
            <a:spLocks noChangeArrowheads="1"/>
          </p:cNvSpPr>
          <p:nvPr/>
        </p:nvSpPr>
        <p:spPr bwMode="gray">
          <a:xfrm>
            <a:off x="7508955" y="4278433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 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 반품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16" name="Rectangle 49"/>
          <p:cNvSpPr>
            <a:spLocks noChangeArrowheads="1"/>
          </p:cNvSpPr>
          <p:nvPr/>
        </p:nvSpPr>
        <p:spPr bwMode="gray">
          <a:xfrm>
            <a:off x="8649543" y="4278433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창고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800" b="1" dirty="0" smtClean="0">
                <a:latin typeface="+mn-ea"/>
                <a:ea typeface="+mn-ea"/>
              </a:rPr>
              <a:t>(ON)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417" name="직선 화살표 연결선 155"/>
          <p:cNvCxnSpPr>
            <a:stCxn id="415" idx="3"/>
          </p:cNvCxnSpPr>
          <p:nvPr/>
        </p:nvCxnSpPr>
        <p:spPr bwMode="auto">
          <a:xfrm>
            <a:off x="8352898" y="4448801"/>
            <a:ext cx="298092" cy="199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4" name="AutoShape 86"/>
          <p:cNvSpPr>
            <a:spLocks noChangeArrowheads="1"/>
          </p:cNvSpPr>
          <p:nvPr/>
        </p:nvSpPr>
        <p:spPr bwMode="auto">
          <a:xfrm>
            <a:off x="1753112" y="146359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온라인출고반품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T_GWM_RNDS_RETURN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425" name="AutoShape 73"/>
          <p:cNvSpPr>
            <a:spLocks noChangeArrowheads="1"/>
          </p:cNvSpPr>
          <p:nvPr/>
        </p:nvSpPr>
        <p:spPr bwMode="auto">
          <a:xfrm>
            <a:off x="1622630" y="2144248"/>
            <a:ext cx="831724" cy="47466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bIns="0" anchor="ctr" anchorCtr="1"/>
          <a:lstStyle/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err="1" smtClean="0">
                <a:latin typeface="+mn-ea"/>
                <a:ea typeface="+mn-ea"/>
              </a:rPr>
              <a:t>자사몰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여부</a:t>
            </a:r>
            <a:endParaRPr lang="en-US" altLang="ko-KR" sz="800" dirty="0" smtClean="0">
              <a:latin typeface="+mn-ea"/>
              <a:ea typeface="+mn-ea"/>
            </a:endParaRPr>
          </a:p>
        </p:txBody>
      </p:sp>
      <p:sp>
        <p:nvSpPr>
          <p:cNvPr id="426" name="Text Box 82"/>
          <p:cNvSpPr txBox="1">
            <a:spLocks noChangeArrowheads="1"/>
          </p:cNvSpPr>
          <p:nvPr/>
        </p:nvSpPr>
        <p:spPr bwMode="gray">
          <a:xfrm>
            <a:off x="2112881" y="2547297"/>
            <a:ext cx="34336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800" dirty="0" smtClean="0">
                <a:latin typeface="+mn-ea"/>
                <a:ea typeface="+mn-ea"/>
              </a:rPr>
              <a:t>NO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27" name="Rectangle 49"/>
          <p:cNvSpPr>
            <a:spLocks noChangeArrowheads="1"/>
          </p:cNvSpPr>
          <p:nvPr/>
        </p:nvSpPr>
        <p:spPr bwMode="gray">
          <a:xfrm>
            <a:off x="2265623" y="2905048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출고반품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428" name="직선 화살표 연결선 155"/>
          <p:cNvCxnSpPr>
            <a:stCxn id="424" idx="3"/>
            <a:endCxn id="425" idx="0"/>
          </p:cNvCxnSpPr>
          <p:nvPr/>
        </p:nvCxnSpPr>
        <p:spPr bwMode="auto">
          <a:xfrm>
            <a:off x="2036481" y="1951353"/>
            <a:ext cx="2011" cy="19289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1" name="직선 화살표 연결선 155"/>
          <p:cNvCxnSpPr>
            <a:stCxn id="425" idx="2"/>
            <a:endCxn id="427" idx="1"/>
          </p:cNvCxnSpPr>
          <p:nvPr/>
        </p:nvCxnSpPr>
        <p:spPr bwMode="auto">
          <a:xfrm rot="16200000" flipH="1">
            <a:off x="1923804" y="2733597"/>
            <a:ext cx="456506" cy="227131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4" name="직선 화살표 연결선 155"/>
          <p:cNvCxnSpPr>
            <a:stCxn id="425" idx="2"/>
            <a:endCxn id="437" idx="1"/>
          </p:cNvCxnSpPr>
          <p:nvPr/>
        </p:nvCxnSpPr>
        <p:spPr bwMode="auto">
          <a:xfrm rot="16200000" flipH="1">
            <a:off x="1716499" y="2940902"/>
            <a:ext cx="871117" cy="227131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7" name="Rectangle 49"/>
          <p:cNvSpPr>
            <a:spLocks noChangeArrowheads="1"/>
          </p:cNvSpPr>
          <p:nvPr/>
        </p:nvSpPr>
        <p:spPr bwMode="gray">
          <a:xfrm>
            <a:off x="2265623" y="3319659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b="1" dirty="0" smtClean="0">
                <a:latin typeface="+mn-ea"/>
                <a:ea typeface="+mn-ea"/>
              </a:rPr>
              <a:t>STS027</a:t>
            </a: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매장</a:t>
            </a:r>
            <a:r>
              <a:rPr lang="ko-KR" altLang="en-US" sz="800" b="1" dirty="0" smtClean="0">
                <a:latin typeface="+mn-ea"/>
                <a:ea typeface="+mn-ea"/>
              </a:rPr>
              <a:t>출고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442" name="TextBox 94"/>
          <p:cNvSpPr txBox="1">
            <a:spLocks noChangeArrowheads="1"/>
          </p:cNvSpPr>
          <p:nvPr/>
        </p:nvSpPr>
        <p:spPr bwMode="auto">
          <a:xfrm>
            <a:off x="961543" y="3399818"/>
            <a:ext cx="1361875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smtClean="0">
                <a:latin typeface="+mn-ea"/>
                <a:ea typeface="+mn-ea"/>
              </a:rPr>
              <a:t>반품 금액</a:t>
            </a: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ko-KR" altLang="en-US" sz="800" dirty="0" smtClean="0">
                <a:latin typeface="+mn-ea"/>
                <a:ea typeface="+mn-ea"/>
              </a:rPr>
              <a:t>수량 </a:t>
            </a:r>
            <a:r>
              <a:rPr lang="en-US" altLang="ko-KR" sz="800" dirty="0" smtClean="0">
                <a:latin typeface="+mn-ea"/>
                <a:ea typeface="+mn-ea"/>
              </a:rPr>
              <a:t>X)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endParaRPr lang="en-US" altLang="ko-KR" sz="800" dirty="0" smtClean="0">
              <a:latin typeface="+mn-ea"/>
              <a:ea typeface="+mn-ea"/>
            </a:endParaRPr>
          </a:p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smtClean="0">
                <a:latin typeface="+mn-ea"/>
                <a:ea typeface="+mn-ea"/>
              </a:rPr>
              <a:t>창고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</a:t>
            </a:r>
            <a:r>
              <a:rPr lang="ko-KR" altLang="en-US" sz="800" dirty="0" smtClean="0">
                <a:latin typeface="+mn-ea"/>
                <a:ea typeface="+mn-ea"/>
              </a:rPr>
              <a:t> 매장출고</a:t>
            </a: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en-US" altLang="ko-KR" sz="800" dirty="0" smtClean="0">
                <a:latin typeface="+mn-ea"/>
              </a:rPr>
              <a:t>STS027)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43" name="Rectangle 49"/>
          <p:cNvSpPr>
            <a:spLocks noChangeArrowheads="1"/>
          </p:cNvSpPr>
          <p:nvPr/>
        </p:nvSpPr>
        <p:spPr bwMode="gray">
          <a:xfrm>
            <a:off x="452500" y="4448800"/>
            <a:ext cx="843943" cy="3407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</a:t>
            </a:r>
            <a:r>
              <a:rPr lang="en-US" altLang="ko-KR" sz="800" b="1" dirty="0" smtClean="0">
                <a:latin typeface="+mn-ea"/>
                <a:ea typeface="+mn-ea"/>
              </a:rPr>
              <a:t> </a:t>
            </a:r>
            <a:r>
              <a:rPr lang="ko-KR" altLang="en-US" sz="800" b="1" dirty="0" smtClean="0">
                <a:latin typeface="+mn-ea"/>
                <a:ea typeface="+mn-ea"/>
              </a:rPr>
              <a:t>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 반품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444" name="직선 화살표 연결선 155"/>
          <p:cNvCxnSpPr>
            <a:stCxn id="443" idx="0"/>
            <a:endCxn id="362" idx="2"/>
          </p:cNvCxnSpPr>
          <p:nvPr/>
        </p:nvCxnSpPr>
        <p:spPr bwMode="auto">
          <a:xfrm flipV="1">
            <a:off x="874472" y="4235190"/>
            <a:ext cx="0" cy="21361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9" name="직선 화살표 연결선 155"/>
          <p:cNvCxnSpPr>
            <a:stCxn id="378" idx="2"/>
            <a:endCxn id="301" idx="1"/>
          </p:cNvCxnSpPr>
          <p:nvPr/>
        </p:nvCxnSpPr>
        <p:spPr bwMode="auto">
          <a:xfrm rot="16200000" flipH="1">
            <a:off x="3431174" y="5061172"/>
            <a:ext cx="989577" cy="1024144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8" name="직선 화살표 연결선 155"/>
          <p:cNvCxnSpPr>
            <a:stCxn id="346" idx="2"/>
            <a:endCxn id="305" idx="1"/>
          </p:cNvCxnSpPr>
          <p:nvPr/>
        </p:nvCxnSpPr>
        <p:spPr bwMode="auto">
          <a:xfrm rot="16200000" flipH="1">
            <a:off x="1379664" y="5441329"/>
            <a:ext cx="322332" cy="34812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501" name="AutoShape 86"/>
          <p:cNvSpPr>
            <a:spLocks noChangeArrowheads="1"/>
          </p:cNvSpPr>
          <p:nvPr/>
        </p:nvSpPr>
        <p:spPr bwMode="auto">
          <a:xfrm>
            <a:off x="7628253" y="2887153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온라인블라인드입고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T_ONLINE_BLIND_STOR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502" name="직선 화살표 연결선 155"/>
          <p:cNvCxnSpPr>
            <a:stCxn id="501" idx="3"/>
            <a:endCxn id="413" idx="0"/>
          </p:cNvCxnSpPr>
          <p:nvPr/>
        </p:nvCxnSpPr>
        <p:spPr bwMode="auto">
          <a:xfrm rot="16200000" flipH="1">
            <a:off x="8016090" y="3270443"/>
            <a:ext cx="357801" cy="56673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9330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3</a:t>
            </a:r>
            <a:r>
              <a:rPr lang="en-US" altLang="ko-KR" dirty="0" smtClean="0">
                <a:latin typeface="+mn-ea"/>
                <a:ea typeface="+mn-ea"/>
              </a:rPr>
              <a:t>. </a:t>
            </a:r>
            <a:r>
              <a:rPr lang="ko-KR" altLang="en-US" dirty="0" smtClean="0">
                <a:latin typeface="+mn-ea"/>
                <a:ea typeface="+mn-ea"/>
              </a:rPr>
              <a:t>온라인 </a:t>
            </a:r>
            <a:r>
              <a:rPr lang="ko-KR" altLang="en-US" dirty="0" smtClean="0">
                <a:latin typeface="+mn-ea"/>
                <a:ea typeface="+mn-ea"/>
              </a:rPr>
              <a:t>판매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1" name="Rectangle 120"/>
          <p:cNvSpPr>
            <a:spLocks noChangeArrowheads="1"/>
          </p:cNvSpPr>
          <p:nvPr/>
        </p:nvSpPr>
        <p:spPr bwMode="gray">
          <a:xfrm>
            <a:off x="227919" y="728699"/>
            <a:ext cx="9450606" cy="580564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106845" y="1313496"/>
            <a:ext cx="1092024" cy="392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자사</a:t>
            </a:r>
            <a:r>
              <a:rPr lang="en-US" altLang="ko-KR" sz="1100" b="1" kern="0" dirty="0" smtClean="0">
                <a:latin typeface="+mn-ea"/>
                <a:ea typeface="+mn-ea"/>
              </a:rPr>
              <a:t>/</a:t>
            </a:r>
            <a:r>
              <a:rPr lang="ko-KR" altLang="en-US" sz="1100" b="1" kern="0" dirty="0" err="1" smtClean="0">
                <a:latin typeface="+mn-ea"/>
                <a:ea typeface="+mn-ea"/>
              </a:rPr>
              <a:t>제휴몰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주문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4101280" y="1982250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</a:t>
            </a:r>
            <a:r>
              <a:rPr lang="ko-KR" altLang="en-US" sz="1100" b="1" kern="0" dirty="0" smtClean="0">
                <a:latin typeface="+mn-ea"/>
                <a:ea typeface="+mn-ea"/>
              </a:rPr>
              <a:t>실적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66" name="직선 화살표 연결선 155"/>
          <p:cNvCxnSpPr>
            <a:stCxn id="152" idx="2"/>
            <a:endCxn id="165" idx="0"/>
          </p:cNvCxnSpPr>
          <p:nvPr/>
        </p:nvCxnSpPr>
        <p:spPr bwMode="auto">
          <a:xfrm flipH="1">
            <a:off x="4650280" y="1705896"/>
            <a:ext cx="2577" cy="27635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7" name="모서리가 둥근 직사각형 166"/>
          <p:cNvSpPr/>
          <p:nvPr/>
        </p:nvSpPr>
        <p:spPr>
          <a:xfrm>
            <a:off x="4101280" y="2638254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</a:t>
            </a:r>
            <a:r>
              <a:rPr lang="ko-KR" altLang="en-US" sz="1100" b="1" kern="0" dirty="0" smtClean="0">
                <a:latin typeface="+mn-ea"/>
                <a:ea typeface="+mn-ea"/>
              </a:rPr>
              <a:t>실적생성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68" name="직선 화살표 연결선 155"/>
          <p:cNvCxnSpPr>
            <a:stCxn id="165" idx="2"/>
            <a:endCxn id="167" idx="0"/>
          </p:cNvCxnSpPr>
          <p:nvPr/>
        </p:nvCxnSpPr>
        <p:spPr bwMode="auto">
          <a:xfrm>
            <a:off x="4650280" y="2374814"/>
            <a:ext cx="0" cy="2634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9" name="모서리가 둥근 직사각형 168"/>
          <p:cNvSpPr/>
          <p:nvPr/>
        </p:nvSpPr>
        <p:spPr>
          <a:xfrm>
            <a:off x="4101280" y="3294258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온라인</a:t>
            </a:r>
            <a:r>
              <a:rPr lang="ko-KR" altLang="en-US" sz="1100" b="1" kern="0" dirty="0" smtClean="0">
                <a:latin typeface="+mn-ea"/>
                <a:ea typeface="+mn-ea"/>
              </a:rPr>
              <a:t>출고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70" name="직선 화살표 연결선 155"/>
          <p:cNvCxnSpPr>
            <a:stCxn id="167" idx="2"/>
            <a:endCxn id="169" idx="0"/>
          </p:cNvCxnSpPr>
          <p:nvPr/>
        </p:nvCxnSpPr>
        <p:spPr bwMode="auto">
          <a:xfrm>
            <a:off x="4650280" y="3030818"/>
            <a:ext cx="0" cy="2634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1" name="모서리가 둥근 직사각형 170"/>
          <p:cNvSpPr/>
          <p:nvPr/>
        </p:nvSpPr>
        <p:spPr>
          <a:xfrm>
            <a:off x="4100869" y="5286686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판매실적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sp>
        <p:nvSpPr>
          <p:cNvPr id="173" name="AutoShape 86"/>
          <p:cNvSpPr>
            <a:spLocks noChangeArrowheads="1"/>
          </p:cNvSpPr>
          <p:nvPr/>
        </p:nvSpPr>
        <p:spPr bwMode="auto">
          <a:xfrm>
            <a:off x="3216132" y="324666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T_GWM_RNDS_OUTB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74" name="직선 화살표 연결선 155"/>
          <p:cNvCxnSpPr>
            <a:stCxn id="169" idx="1"/>
            <a:endCxn id="173" idx="4"/>
          </p:cNvCxnSpPr>
          <p:nvPr/>
        </p:nvCxnSpPr>
        <p:spPr bwMode="auto">
          <a:xfrm flipH="1">
            <a:off x="3782870" y="3490540"/>
            <a:ext cx="31841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75" name="AutoShape 86"/>
          <p:cNvSpPr>
            <a:spLocks noChangeArrowheads="1"/>
          </p:cNvSpPr>
          <p:nvPr/>
        </p:nvSpPr>
        <p:spPr bwMode="auto">
          <a:xfrm>
            <a:off x="1775972" y="3609793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매장수불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T_SHOP_RNDS_BASE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76" name="직선 화살표 연결선 155"/>
          <p:cNvCxnSpPr>
            <a:stCxn id="123" idx="2"/>
            <a:endCxn id="175" idx="1"/>
          </p:cNvCxnSpPr>
          <p:nvPr/>
        </p:nvCxnSpPr>
        <p:spPr bwMode="auto">
          <a:xfrm rot="16200000" flipH="1">
            <a:off x="1645086" y="3195538"/>
            <a:ext cx="365652" cy="46285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84" name="Rectangle 224"/>
          <p:cNvSpPr>
            <a:spLocks noChangeArrowheads="1"/>
          </p:cNvSpPr>
          <p:nvPr/>
        </p:nvSpPr>
        <p:spPr bwMode="auto">
          <a:xfrm>
            <a:off x="271197" y="765128"/>
            <a:ext cx="1566523" cy="269981"/>
          </a:xfrm>
          <a:prstGeom prst="rect">
            <a:avLst/>
          </a:prstGeom>
          <a:solidFill>
            <a:srgbClr val="0070C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AS-IS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5" name="Rectangle 224"/>
          <p:cNvSpPr>
            <a:spLocks noChangeArrowheads="1"/>
          </p:cNvSpPr>
          <p:nvPr/>
        </p:nvSpPr>
        <p:spPr bwMode="auto">
          <a:xfrm>
            <a:off x="8075354" y="768660"/>
            <a:ext cx="1566523" cy="2699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TO-BE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6" name="AutoShape 86"/>
          <p:cNvSpPr>
            <a:spLocks noChangeArrowheads="1"/>
          </p:cNvSpPr>
          <p:nvPr/>
        </p:nvSpPr>
        <p:spPr bwMode="auto">
          <a:xfrm>
            <a:off x="812540" y="3609793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판매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T_SALE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227" name="모서리가 둥근 직사각형 226"/>
          <p:cNvSpPr/>
          <p:nvPr/>
        </p:nvSpPr>
        <p:spPr>
          <a:xfrm>
            <a:off x="7940013" y="2851577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판매실적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sp>
        <p:nvSpPr>
          <p:cNvPr id="64" name="TextBox 94"/>
          <p:cNvSpPr txBox="1">
            <a:spLocks noChangeArrowheads="1"/>
          </p:cNvSpPr>
          <p:nvPr/>
        </p:nvSpPr>
        <p:spPr bwMode="auto">
          <a:xfrm>
            <a:off x="7653300" y="1175572"/>
            <a:ext cx="15323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SP_IFT_ONLINE_SALE_RST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65" name="AutoShape 86"/>
          <p:cNvSpPr>
            <a:spLocks noChangeArrowheads="1"/>
          </p:cNvSpPr>
          <p:nvPr/>
        </p:nvSpPr>
        <p:spPr bwMode="auto">
          <a:xfrm>
            <a:off x="6463493" y="389934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 smtClean="0">
                <a:latin typeface="+mn-ea"/>
                <a:ea typeface="+mn-ea"/>
              </a:rPr>
              <a:t>자사몰판매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T_GWM_SALE_SHOP_RNDS</a:t>
            </a:r>
            <a:endParaRPr lang="en-US" altLang="ko-KR" sz="600" b="1" dirty="0">
              <a:latin typeface="+mn-ea"/>
              <a:ea typeface="+mn-ea"/>
            </a:endParaRPr>
          </a:p>
        </p:txBody>
      </p:sp>
      <p:cxnSp>
        <p:nvCxnSpPr>
          <p:cNvPr id="66" name="직선 화살표 연결선 155"/>
          <p:cNvCxnSpPr>
            <a:stCxn id="74" idx="3"/>
            <a:endCxn id="65" idx="2"/>
          </p:cNvCxnSpPr>
          <p:nvPr/>
        </p:nvCxnSpPr>
        <p:spPr bwMode="auto">
          <a:xfrm flipV="1">
            <a:off x="6046675" y="4143228"/>
            <a:ext cx="416818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74" name="모서리가 둥근 직사각형 73"/>
          <p:cNvSpPr/>
          <p:nvPr/>
        </p:nvSpPr>
        <p:spPr>
          <a:xfrm>
            <a:off x="4948675" y="3946947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err="1" smtClean="0">
                <a:latin typeface="+mn-ea"/>
                <a:ea typeface="+mn-ea"/>
              </a:rPr>
              <a:t>자사몰판매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85" name="직선 화살표 연결선 155"/>
          <p:cNvCxnSpPr>
            <a:stCxn id="74" idx="1"/>
            <a:endCxn id="171" idx="0"/>
          </p:cNvCxnSpPr>
          <p:nvPr/>
        </p:nvCxnSpPr>
        <p:spPr bwMode="auto">
          <a:xfrm rot="10800000" flipV="1">
            <a:off x="4649869" y="4143228"/>
            <a:ext cx="298806" cy="1143457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" name="직선 화살표 연결선 155"/>
          <p:cNvCxnSpPr>
            <a:stCxn id="152" idx="3"/>
            <a:endCxn id="74" idx="0"/>
          </p:cNvCxnSpPr>
          <p:nvPr/>
        </p:nvCxnSpPr>
        <p:spPr bwMode="auto">
          <a:xfrm>
            <a:off x="5198869" y="1509696"/>
            <a:ext cx="298806" cy="2437251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3" name="직선 화살표 연결선 155"/>
          <p:cNvCxnSpPr>
            <a:stCxn id="169" idx="2"/>
            <a:endCxn id="171" idx="0"/>
          </p:cNvCxnSpPr>
          <p:nvPr/>
        </p:nvCxnSpPr>
        <p:spPr bwMode="auto">
          <a:xfrm flipH="1">
            <a:off x="4649869" y="3686822"/>
            <a:ext cx="411" cy="159986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0" name="AutoShape 86"/>
          <p:cNvSpPr>
            <a:spLocks noChangeArrowheads="1"/>
          </p:cNvSpPr>
          <p:nvPr/>
        </p:nvSpPr>
        <p:spPr bwMode="auto">
          <a:xfrm>
            <a:off x="8208057" y="363152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온라인판매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T_ONLIE_SALE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11" name="직선 화살표 연결선 155"/>
          <p:cNvCxnSpPr>
            <a:stCxn id="227" idx="2"/>
            <a:endCxn id="110" idx="1"/>
          </p:cNvCxnSpPr>
          <p:nvPr/>
        </p:nvCxnSpPr>
        <p:spPr bwMode="auto">
          <a:xfrm>
            <a:off x="8489013" y="3244141"/>
            <a:ext cx="2413" cy="3873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14" name="TextBox 94"/>
          <p:cNvSpPr txBox="1">
            <a:spLocks noChangeArrowheads="1"/>
          </p:cNvSpPr>
          <p:nvPr/>
        </p:nvSpPr>
        <p:spPr bwMode="auto">
          <a:xfrm>
            <a:off x="407495" y="1176949"/>
            <a:ext cx="14215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>
                <a:latin typeface="+mn-ea"/>
                <a:ea typeface="+mn-ea"/>
              </a:rPr>
              <a:t>SP_GWM_RNDS_OUTB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15" name="AutoShape 86"/>
          <p:cNvSpPr>
            <a:spLocks noChangeArrowheads="1"/>
          </p:cNvSpPr>
          <p:nvPr/>
        </p:nvSpPr>
        <p:spPr bwMode="auto">
          <a:xfrm>
            <a:off x="673136" y="145898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T_GWM_RNDS_OUTB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16" name="Rectangle 49"/>
          <p:cNvSpPr>
            <a:spLocks noChangeArrowheads="1"/>
          </p:cNvSpPr>
          <p:nvPr/>
        </p:nvSpPr>
        <p:spPr bwMode="gray">
          <a:xfrm>
            <a:off x="533295" y="2274469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 매장</a:t>
            </a:r>
            <a:endParaRPr lang="ko-KR" altLang="en-US" sz="800" b="1" dirty="0">
              <a:latin typeface="+mn-ea"/>
              <a:ea typeface="+mn-ea"/>
            </a:endParaRPr>
          </a:p>
          <a:p>
            <a:pPr algn="ctr"/>
            <a:r>
              <a:rPr lang="ko-KR" altLang="en-US" sz="800" b="1" dirty="0">
                <a:latin typeface="+mn-ea"/>
                <a:ea typeface="+mn-ea"/>
              </a:rPr>
              <a:t>판매</a:t>
            </a:r>
            <a:r>
              <a:rPr lang="en-US" altLang="ko-KR" sz="800" b="1" dirty="0">
                <a:latin typeface="+mn-ea"/>
                <a:ea typeface="+mn-ea"/>
              </a:rPr>
              <a:t>(</a:t>
            </a:r>
            <a:r>
              <a:rPr lang="ko-KR" altLang="en-US" sz="800" b="1" dirty="0">
                <a:latin typeface="+mn-ea"/>
                <a:ea typeface="+mn-ea"/>
              </a:rPr>
              <a:t>제휴</a:t>
            </a:r>
            <a:r>
              <a:rPr lang="en-US" altLang="ko-KR" sz="800" b="1" dirty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17" name="직선 화살표 연결선 155"/>
          <p:cNvCxnSpPr>
            <a:stCxn id="115" idx="3"/>
            <a:endCxn id="116" idx="0"/>
          </p:cNvCxnSpPr>
          <p:nvPr/>
        </p:nvCxnSpPr>
        <p:spPr bwMode="auto">
          <a:xfrm flipH="1">
            <a:off x="955267" y="1946739"/>
            <a:ext cx="1238" cy="3277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9" name="TextBox 94"/>
          <p:cNvSpPr txBox="1">
            <a:spLocks noChangeArrowheads="1"/>
          </p:cNvSpPr>
          <p:nvPr/>
        </p:nvSpPr>
        <p:spPr bwMode="auto">
          <a:xfrm>
            <a:off x="1766411" y="1175572"/>
            <a:ext cx="170142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>
                <a:latin typeface="+mn-ea"/>
                <a:ea typeface="+mn-ea"/>
              </a:rPr>
              <a:t>SP_GWM_SALE_SHOP_RNDS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20" name="AutoShape 86"/>
          <p:cNvSpPr>
            <a:spLocks noChangeArrowheads="1"/>
          </p:cNvSpPr>
          <p:nvPr/>
        </p:nvSpPr>
        <p:spPr bwMode="auto">
          <a:xfrm>
            <a:off x="2173284" y="145830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>
                <a:latin typeface="+mn-ea"/>
                <a:ea typeface="+mn-ea"/>
              </a:rPr>
              <a:t>자사몰판매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T_GWM_SALE_SHOP_RNDS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21" name="Rectangle 49"/>
          <p:cNvSpPr>
            <a:spLocks noChangeArrowheads="1"/>
          </p:cNvSpPr>
          <p:nvPr/>
        </p:nvSpPr>
        <p:spPr bwMode="gray">
          <a:xfrm>
            <a:off x="2033443" y="2273792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 매장</a:t>
            </a:r>
            <a:endParaRPr lang="ko-KR" altLang="en-US" sz="800" b="1" dirty="0">
              <a:latin typeface="+mn-ea"/>
              <a:ea typeface="+mn-ea"/>
            </a:endParaRPr>
          </a:p>
          <a:p>
            <a:pPr algn="ctr"/>
            <a:r>
              <a:rPr lang="ko-KR" altLang="en-US" sz="800" b="1" dirty="0">
                <a:latin typeface="+mn-ea"/>
                <a:ea typeface="+mn-ea"/>
              </a:rPr>
              <a:t>판매</a:t>
            </a:r>
            <a:r>
              <a:rPr lang="en-US" altLang="ko-KR" sz="800" b="1" dirty="0">
                <a:latin typeface="+mn-ea"/>
                <a:ea typeface="+mn-ea"/>
              </a:rPr>
              <a:t>(</a:t>
            </a:r>
            <a:r>
              <a:rPr lang="ko-KR" altLang="en-US" sz="800" b="1" dirty="0">
                <a:latin typeface="+mn-ea"/>
                <a:ea typeface="+mn-ea"/>
              </a:rPr>
              <a:t>자사</a:t>
            </a:r>
            <a:r>
              <a:rPr lang="en-US" altLang="ko-KR" sz="800" b="1" dirty="0">
                <a:latin typeface="+mn-ea"/>
                <a:ea typeface="+mn-ea"/>
              </a:rPr>
              <a:t>)</a:t>
            </a:r>
          </a:p>
        </p:txBody>
      </p:sp>
      <p:cxnSp>
        <p:nvCxnSpPr>
          <p:cNvPr id="122" name="직선 화살표 연결선 155"/>
          <p:cNvCxnSpPr>
            <a:stCxn id="120" idx="3"/>
            <a:endCxn id="121" idx="0"/>
          </p:cNvCxnSpPr>
          <p:nvPr/>
        </p:nvCxnSpPr>
        <p:spPr bwMode="auto">
          <a:xfrm flipH="1">
            <a:off x="2455415" y="1946062"/>
            <a:ext cx="1238" cy="3277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3" name="모서리가 둥근 직사각형 122"/>
          <p:cNvSpPr/>
          <p:nvPr/>
        </p:nvSpPr>
        <p:spPr>
          <a:xfrm>
            <a:off x="1047483" y="2851577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판매실적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sp>
        <p:nvSpPr>
          <p:cNvPr id="124" name="AutoShape 86"/>
          <p:cNvSpPr>
            <a:spLocks noChangeArrowheads="1"/>
          </p:cNvSpPr>
          <p:nvPr/>
        </p:nvSpPr>
        <p:spPr bwMode="auto">
          <a:xfrm>
            <a:off x="7656645" y="144878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T_GWM_RNDS_OUTB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25" name="Rectangle 49"/>
          <p:cNvSpPr>
            <a:spLocks noChangeArrowheads="1"/>
          </p:cNvSpPr>
          <p:nvPr/>
        </p:nvSpPr>
        <p:spPr bwMode="gray">
          <a:xfrm>
            <a:off x="7518042" y="2258575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 </a:t>
            </a:r>
            <a:r>
              <a:rPr lang="ko-KR" altLang="en-US" sz="800" b="1" dirty="0" smtClean="0">
                <a:latin typeface="+mn-ea"/>
                <a:ea typeface="+mn-ea"/>
              </a:rPr>
              <a:t>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판매</a:t>
            </a:r>
            <a:r>
              <a:rPr lang="en-US" altLang="ko-KR" sz="800" b="1" dirty="0" smtClean="0">
                <a:latin typeface="+mn-ea"/>
                <a:ea typeface="+mn-ea"/>
              </a:rPr>
              <a:t>(</a:t>
            </a:r>
            <a:r>
              <a:rPr lang="ko-KR" altLang="en-US" sz="800" b="1" dirty="0" smtClean="0">
                <a:latin typeface="+mn-ea"/>
                <a:ea typeface="+mn-ea"/>
              </a:rPr>
              <a:t>제휴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26" name="직선 화살표 연결선 155"/>
          <p:cNvCxnSpPr>
            <a:stCxn id="124" idx="3"/>
            <a:endCxn id="125" idx="0"/>
          </p:cNvCxnSpPr>
          <p:nvPr/>
        </p:nvCxnSpPr>
        <p:spPr bwMode="auto">
          <a:xfrm>
            <a:off x="7940014" y="1936538"/>
            <a:ext cx="0" cy="32203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9" name="AutoShape 86"/>
          <p:cNvSpPr>
            <a:spLocks noChangeArrowheads="1"/>
          </p:cNvSpPr>
          <p:nvPr/>
        </p:nvSpPr>
        <p:spPr bwMode="auto">
          <a:xfrm>
            <a:off x="8767039" y="144878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>
                <a:latin typeface="+mn-ea"/>
                <a:ea typeface="+mn-ea"/>
              </a:rPr>
              <a:t>자사몰판매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T_GWM_SALE_SHOP_RNDS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30" name="Rectangle 49"/>
          <p:cNvSpPr>
            <a:spLocks noChangeArrowheads="1"/>
          </p:cNvSpPr>
          <p:nvPr/>
        </p:nvSpPr>
        <p:spPr bwMode="gray">
          <a:xfrm>
            <a:off x="8627198" y="2264268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 </a:t>
            </a:r>
            <a:r>
              <a:rPr lang="ko-KR" altLang="en-US" sz="800" b="1" dirty="0" smtClean="0">
                <a:latin typeface="+mn-ea"/>
                <a:ea typeface="+mn-ea"/>
              </a:rPr>
              <a:t>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판매</a:t>
            </a:r>
            <a:r>
              <a:rPr lang="en-US" altLang="ko-KR" sz="800" b="1" dirty="0" smtClean="0">
                <a:latin typeface="+mn-ea"/>
                <a:ea typeface="+mn-ea"/>
              </a:rPr>
              <a:t>(</a:t>
            </a:r>
            <a:r>
              <a:rPr lang="ko-KR" altLang="en-US" sz="800" b="1" dirty="0" smtClean="0">
                <a:latin typeface="+mn-ea"/>
                <a:ea typeface="+mn-ea"/>
              </a:rPr>
              <a:t>자사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31" name="직선 화살표 연결선 155"/>
          <p:cNvCxnSpPr>
            <a:stCxn id="129" idx="3"/>
            <a:endCxn id="130" idx="0"/>
          </p:cNvCxnSpPr>
          <p:nvPr/>
        </p:nvCxnSpPr>
        <p:spPr bwMode="auto">
          <a:xfrm flipH="1">
            <a:off x="9049170" y="1936538"/>
            <a:ext cx="1238" cy="3277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0" name="직선 화살표 연결선 155"/>
          <p:cNvCxnSpPr>
            <a:stCxn id="123" idx="2"/>
            <a:endCxn id="186" idx="1"/>
          </p:cNvCxnSpPr>
          <p:nvPr/>
        </p:nvCxnSpPr>
        <p:spPr bwMode="auto">
          <a:xfrm rot="5400000">
            <a:off x="1163370" y="3176680"/>
            <a:ext cx="365652" cy="50057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6363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ko-KR" altLang="en-US" dirty="0">
                <a:latin typeface="+mn-ea"/>
                <a:ea typeface="+mn-ea"/>
              </a:rPr>
              <a:t>온라인 판매 반품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1" name="Rectangle 120"/>
          <p:cNvSpPr>
            <a:spLocks noChangeArrowheads="1"/>
          </p:cNvSpPr>
          <p:nvPr/>
        </p:nvSpPr>
        <p:spPr bwMode="gray">
          <a:xfrm>
            <a:off x="227919" y="728699"/>
            <a:ext cx="9450606" cy="580564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235463" y="1967222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r>
              <a:rPr lang="ko-KR" altLang="en-US" sz="1100" b="1" kern="0" dirty="0" smtClean="0">
                <a:latin typeface="+mn-ea"/>
                <a:ea typeface="+mn-ea"/>
              </a:rPr>
              <a:t>정보수집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56" name="직선 화살표 연결선 155"/>
          <p:cNvCxnSpPr>
            <a:stCxn id="259" idx="2"/>
            <a:endCxn id="155" idx="0"/>
          </p:cNvCxnSpPr>
          <p:nvPr/>
        </p:nvCxnSpPr>
        <p:spPr bwMode="auto">
          <a:xfrm>
            <a:off x="4781108" y="1738589"/>
            <a:ext cx="3355" cy="22863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4" name="Rectangle 224"/>
          <p:cNvSpPr>
            <a:spLocks noChangeArrowheads="1"/>
          </p:cNvSpPr>
          <p:nvPr/>
        </p:nvSpPr>
        <p:spPr bwMode="auto">
          <a:xfrm>
            <a:off x="271197" y="765128"/>
            <a:ext cx="1566523" cy="269981"/>
          </a:xfrm>
          <a:prstGeom prst="rect">
            <a:avLst/>
          </a:prstGeom>
          <a:solidFill>
            <a:srgbClr val="0070C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AS-IS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5" name="Rectangle 224"/>
          <p:cNvSpPr>
            <a:spLocks noChangeArrowheads="1"/>
          </p:cNvSpPr>
          <p:nvPr/>
        </p:nvSpPr>
        <p:spPr bwMode="auto">
          <a:xfrm>
            <a:off x="8075354" y="768660"/>
            <a:ext cx="1566523" cy="2699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TO-BE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9" name="모서리가 둥근 직사각형 258"/>
          <p:cNvSpPr/>
          <p:nvPr/>
        </p:nvSpPr>
        <p:spPr>
          <a:xfrm>
            <a:off x="4232108" y="1346189"/>
            <a:ext cx="1098000" cy="392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자사</a:t>
            </a:r>
            <a:r>
              <a:rPr lang="en-US" altLang="ko-KR" sz="1100" b="1" kern="0" dirty="0" smtClean="0">
                <a:latin typeface="+mn-ea"/>
                <a:ea typeface="+mn-ea"/>
              </a:rPr>
              <a:t>/</a:t>
            </a:r>
            <a:r>
              <a:rPr lang="ko-KR" altLang="en-US" sz="1100" b="1" kern="0" dirty="0" err="1" smtClean="0">
                <a:latin typeface="+mn-ea"/>
                <a:ea typeface="+mn-ea"/>
              </a:rPr>
              <a:t>제휴몰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301" name="모서리가 둥근 직사각형 300"/>
          <p:cNvSpPr/>
          <p:nvPr/>
        </p:nvSpPr>
        <p:spPr>
          <a:xfrm>
            <a:off x="4227535" y="3641523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 출고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sp>
        <p:nvSpPr>
          <p:cNvPr id="303" name="AutoShape 86"/>
          <p:cNvSpPr>
            <a:spLocks noChangeArrowheads="1"/>
          </p:cNvSpPr>
          <p:nvPr/>
        </p:nvSpPr>
        <p:spPr bwMode="auto">
          <a:xfrm>
            <a:off x="5829954" y="367654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온라인판매반품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T_GWM_RNDS_REFUND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305" name="AutoShape 86"/>
          <p:cNvSpPr>
            <a:spLocks noChangeArrowheads="1"/>
          </p:cNvSpPr>
          <p:nvPr/>
        </p:nvSpPr>
        <p:spPr bwMode="auto">
          <a:xfrm>
            <a:off x="1468159" y="417397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매장수불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T_SHOP_RNDS_BASE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306" name="직선 화살표 연결선 155"/>
          <p:cNvCxnSpPr>
            <a:stCxn id="346" idx="2"/>
            <a:endCxn id="307" idx="1"/>
          </p:cNvCxnSpPr>
          <p:nvPr/>
        </p:nvCxnSpPr>
        <p:spPr bwMode="auto">
          <a:xfrm rot="5400000">
            <a:off x="1016799" y="3787374"/>
            <a:ext cx="322332" cy="45087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307" name="AutoShape 86"/>
          <p:cNvSpPr>
            <a:spLocks noChangeArrowheads="1"/>
          </p:cNvSpPr>
          <p:nvPr/>
        </p:nvSpPr>
        <p:spPr bwMode="auto">
          <a:xfrm>
            <a:off x="669156" y="417397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판매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T_SALE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308" name="AutoShape 86"/>
          <p:cNvSpPr>
            <a:spLocks noChangeArrowheads="1"/>
          </p:cNvSpPr>
          <p:nvPr/>
        </p:nvSpPr>
        <p:spPr bwMode="auto">
          <a:xfrm>
            <a:off x="8400453" y="417770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온라인판매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T_ONLIE_SALE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309" name="직선 화살표 연결선 155"/>
          <p:cNvCxnSpPr>
            <a:stCxn id="361" idx="2"/>
            <a:endCxn id="308" idx="1"/>
          </p:cNvCxnSpPr>
          <p:nvPr/>
        </p:nvCxnSpPr>
        <p:spPr bwMode="auto">
          <a:xfrm>
            <a:off x="8683822" y="3851647"/>
            <a:ext cx="0" cy="32605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325" name="Rectangle 49"/>
          <p:cNvSpPr>
            <a:spLocks noChangeArrowheads="1"/>
          </p:cNvSpPr>
          <p:nvPr/>
        </p:nvSpPr>
        <p:spPr bwMode="gray">
          <a:xfrm>
            <a:off x="542510" y="2213865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판매</a:t>
            </a:r>
            <a:r>
              <a:rPr lang="ko-KR" altLang="en-US" sz="800" b="1" dirty="0" smtClean="0">
                <a:latin typeface="+mn-ea"/>
                <a:ea typeface="+mn-ea"/>
              </a:rPr>
              <a:t>반품</a:t>
            </a:r>
            <a:r>
              <a:rPr lang="en-US" altLang="ko-KR" sz="800" b="1" dirty="0" smtClean="0">
                <a:latin typeface="+mn-ea"/>
                <a:ea typeface="+mn-ea"/>
              </a:rPr>
              <a:t>(</a:t>
            </a:r>
            <a:r>
              <a:rPr lang="ko-KR" altLang="en-US" sz="800" b="1" dirty="0" smtClean="0">
                <a:latin typeface="+mn-ea"/>
                <a:ea typeface="+mn-ea"/>
              </a:rPr>
              <a:t>자사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28" name="TextBox 94"/>
          <p:cNvSpPr txBox="1">
            <a:spLocks noChangeArrowheads="1"/>
          </p:cNvSpPr>
          <p:nvPr/>
        </p:nvSpPr>
        <p:spPr bwMode="auto">
          <a:xfrm>
            <a:off x="214500" y="1167916"/>
            <a:ext cx="173790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</a:rPr>
              <a:t>SP_GWM_SALE_SHOP_RNDS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29" name="AutoShape 86"/>
          <p:cNvSpPr>
            <a:spLocks noChangeArrowheads="1"/>
          </p:cNvSpPr>
          <p:nvPr/>
        </p:nvSpPr>
        <p:spPr bwMode="auto">
          <a:xfrm>
            <a:off x="681112" y="1463891"/>
            <a:ext cx="566738" cy="491226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>
                <a:latin typeface="+mn-ea"/>
                <a:ea typeface="+mn-ea"/>
              </a:rPr>
              <a:t>자사몰판매</a:t>
            </a:r>
            <a:endParaRPr lang="ko-KR" altLang="en-US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T_GWM_SALE_SHOP_RNDS</a:t>
            </a:r>
          </a:p>
        </p:txBody>
      </p:sp>
      <p:cxnSp>
        <p:nvCxnSpPr>
          <p:cNvPr id="336" name="직선 화살표 연결선 155"/>
          <p:cNvCxnSpPr>
            <a:stCxn id="329" idx="3"/>
            <a:endCxn id="325" idx="0"/>
          </p:cNvCxnSpPr>
          <p:nvPr/>
        </p:nvCxnSpPr>
        <p:spPr bwMode="auto">
          <a:xfrm>
            <a:off x="964481" y="1955117"/>
            <a:ext cx="1" cy="25874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6" name="모서리가 둥근 직사각형 345"/>
          <p:cNvSpPr/>
          <p:nvPr/>
        </p:nvSpPr>
        <p:spPr>
          <a:xfrm>
            <a:off x="854404" y="3459083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 판매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sp>
        <p:nvSpPr>
          <p:cNvPr id="348" name="AutoShape 86"/>
          <p:cNvSpPr>
            <a:spLocks noChangeArrowheads="1"/>
          </p:cNvSpPr>
          <p:nvPr/>
        </p:nvSpPr>
        <p:spPr bwMode="auto">
          <a:xfrm>
            <a:off x="7430439" y="135130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>
                <a:latin typeface="+mn-ea"/>
                <a:ea typeface="+mn-ea"/>
              </a:rPr>
              <a:t>자사몰판매</a:t>
            </a:r>
            <a:endParaRPr lang="ko-KR" altLang="en-US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T_GWM_SALE_SHOP_RNDS</a:t>
            </a:r>
          </a:p>
        </p:txBody>
      </p:sp>
      <p:cxnSp>
        <p:nvCxnSpPr>
          <p:cNvPr id="351" name="직선 화살표 연결선 155"/>
          <p:cNvCxnSpPr>
            <a:stCxn id="348" idx="3"/>
            <a:endCxn id="356" idx="0"/>
          </p:cNvCxnSpPr>
          <p:nvPr/>
        </p:nvCxnSpPr>
        <p:spPr bwMode="auto">
          <a:xfrm>
            <a:off x="7713808" y="1839066"/>
            <a:ext cx="1424" cy="28904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6" name="Rectangle 49"/>
          <p:cNvSpPr>
            <a:spLocks noChangeArrowheads="1"/>
          </p:cNvSpPr>
          <p:nvPr/>
        </p:nvSpPr>
        <p:spPr bwMode="gray">
          <a:xfrm>
            <a:off x="7293260" y="2128107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출고반품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361" name="모서리가 둥근 직사각형 360"/>
          <p:cNvSpPr/>
          <p:nvPr/>
        </p:nvSpPr>
        <p:spPr>
          <a:xfrm>
            <a:off x="8134822" y="3459083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 판매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sp>
        <p:nvSpPr>
          <p:cNvPr id="369" name="TextBox 94"/>
          <p:cNvSpPr txBox="1">
            <a:spLocks noChangeArrowheads="1"/>
          </p:cNvSpPr>
          <p:nvPr/>
        </p:nvSpPr>
        <p:spPr bwMode="auto">
          <a:xfrm>
            <a:off x="7606085" y="1091909"/>
            <a:ext cx="15323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SP_IFT_ONLINE_SALE_RST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374" name="직선 화살표 연결선 155"/>
          <p:cNvCxnSpPr>
            <a:stCxn id="155" idx="2"/>
            <a:endCxn id="378" idx="0"/>
          </p:cNvCxnSpPr>
          <p:nvPr/>
        </p:nvCxnSpPr>
        <p:spPr bwMode="auto">
          <a:xfrm rot="16200000" flipH="1">
            <a:off x="4868132" y="2276117"/>
            <a:ext cx="373734" cy="54107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8" name="모서리가 둥근 직사각형 377"/>
          <p:cNvSpPr/>
          <p:nvPr/>
        </p:nvSpPr>
        <p:spPr>
          <a:xfrm>
            <a:off x="4776535" y="2733520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판매반품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424" name="AutoShape 86"/>
          <p:cNvSpPr>
            <a:spLocks noChangeArrowheads="1"/>
          </p:cNvSpPr>
          <p:nvPr/>
        </p:nvSpPr>
        <p:spPr bwMode="auto">
          <a:xfrm>
            <a:off x="2042414" y="146389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온라인판매반품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T_GWM_RNDS_REFUND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425" name="AutoShape 73"/>
          <p:cNvSpPr>
            <a:spLocks noChangeArrowheads="1"/>
          </p:cNvSpPr>
          <p:nvPr/>
        </p:nvSpPr>
        <p:spPr bwMode="auto">
          <a:xfrm>
            <a:off x="1912486" y="2144248"/>
            <a:ext cx="831724" cy="47466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bIns="0" anchor="ctr" anchorCtr="1"/>
          <a:lstStyle/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err="1" smtClean="0">
                <a:latin typeface="+mn-ea"/>
                <a:ea typeface="+mn-ea"/>
              </a:rPr>
              <a:t>자사몰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여부</a:t>
            </a:r>
            <a:endParaRPr lang="en-US" altLang="ko-KR" sz="800" dirty="0" smtClean="0">
              <a:latin typeface="+mn-ea"/>
              <a:ea typeface="+mn-ea"/>
            </a:endParaRPr>
          </a:p>
        </p:txBody>
      </p:sp>
      <p:sp>
        <p:nvSpPr>
          <p:cNvPr id="426" name="Text Box 82"/>
          <p:cNvSpPr txBox="1">
            <a:spLocks noChangeArrowheads="1"/>
          </p:cNvSpPr>
          <p:nvPr/>
        </p:nvSpPr>
        <p:spPr bwMode="gray">
          <a:xfrm>
            <a:off x="2312727" y="2547297"/>
            <a:ext cx="34336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800" dirty="0" smtClean="0">
                <a:latin typeface="+mn-ea"/>
                <a:ea typeface="+mn-ea"/>
              </a:rPr>
              <a:t>NO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27" name="Rectangle 49"/>
          <p:cNvSpPr>
            <a:spLocks noChangeArrowheads="1"/>
          </p:cNvSpPr>
          <p:nvPr/>
        </p:nvSpPr>
        <p:spPr bwMode="gray">
          <a:xfrm>
            <a:off x="1903812" y="2918045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판매</a:t>
            </a:r>
            <a:r>
              <a:rPr lang="ko-KR" altLang="en-US" sz="800" b="1" dirty="0" smtClean="0">
                <a:latin typeface="+mn-ea"/>
                <a:ea typeface="+mn-ea"/>
              </a:rPr>
              <a:t>반품</a:t>
            </a:r>
            <a:r>
              <a:rPr lang="en-US" altLang="ko-KR" sz="800" b="1" dirty="0" smtClean="0">
                <a:latin typeface="+mn-ea"/>
                <a:ea typeface="+mn-ea"/>
              </a:rPr>
              <a:t>(</a:t>
            </a:r>
            <a:r>
              <a:rPr lang="ko-KR" altLang="en-US" sz="800" b="1" dirty="0" smtClean="0">
                <a:latin typeface="+mn-ea"/>
                <a:ea typeface="+mn-ea"/>
              </a:rPr>
              <a:t>제휴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428" name="직선 화살표 연결선 155"/>
          <p:cNvCxnSpPr>
            <a:stCxn id="424" idx="3"/>
            <a:endCxn id="425" idx="0"/>
          </p:cNvCxnSpPr>
          <p:nvPr/>
        </p:nvCxnSpPr>
        <p:spPr bwMode="auto">
          <a:xfrm>
            <a:off x="2325783" y="1951649"/>
            <a:ext cx="2565" cy="1925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1" name="직선 화살표 연결선 155"/>
          <p:cNvCxnSpPr>
            <a:stCxn id="425" idx="2"/>
            <a:endCxn id="427" idx="0"/>
          </p:cNvCxnSpPr>
          <p:nvPr/>
        </p:nvCxnSpPr>
        <p:spPr bwMode="auto">
          <a:xfrm flipH="1">
            <a:off x="2325784" y="2618910"/>
            <a:ext cx="2564" cy="29913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8" name="직선 화살표 연결선 155"/>
          <p:cNvCxnSpPr>
            <a:stCxn id="346" idx="2"/>
            <a:endCxn id="305" idx="1"/>
          </p:cNvCxnSpPr>
          <p:nvPr/>
        </p:nvCxnSpPr>
        <p:spPr bwMode="auto">
          <a:xfrm rot="16200000" flipH="1">
            <a:off x="1416300" y="3838751"/>
            <a:ext cx="322332" cy="34812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87" name="직선 화살표 연결선 155"/>
          <p:cNvCxnSpPr>
            <a:stCxn id="378" idx="3"/>
            <a:endCxn id="303" idx="1"/>
          </p:cNvCxnSpPr>
          <p:nvPr/>
        </p:nvCxnSpPr>
        <p:spPr bwMode="auto">
          <a:xfrm>
            <a:off x="5874535" y="2929802"/>
            <a:ext cx="238788" cy="746747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93" name="모서리가 둥근 직사각형 92"/>
          <p:cNvSpPr/>
          <p:nvPr/>
        </p:nvSpPr>
        <p:spPr>
          <a:xfrm>
            <a:off x="3637774" y="2733520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자사판매반품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99" name="직선 화살표 연결선 155"/>
          <p:cNvCxnSpPr>
            <a:stCxn id="155" idx="2"/>
            <a:endCxn id="93" idx="0"/>
          </p:cNvCxnSpPr>
          <p:nvPr/>
        </p:nvCxnSpPr>
        <p:spPr bwMode="auto">
          <a:xfrm rot="5400000">
            <a:off x="4298752" y="2247809"/>
            <a:ext cx="373734" cy="59768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3" name="AutoShape 86"/>
          <p:cNvSpPr>
            <a:spLocks noChangeArrowheads="1"/>
          </p:cNvSpPr>
          <p:nvPr/>
        </p:nvSpPr>
        <p:spPr bwMode="auto">
          <a:xfrm>
            <a:off x="3156378" y="368900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>
                <a:latin typeface="+mn-ea"/>
                <a:ea typeface="+mn-ea"/>
              </a:rPr>
              <a:t>자사몰판매</a:t>
            </a:r>
            <a:endParaRPr lang="ko-KR" altLang="en-US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T_GWM_SALE_SHOP_RNDS</a:t>
            </a:r>
          </a:p>
        </p:txBody>
      </p:sp>
      <p:cxnSp>
        <p:nvCxnSpPr>
          <p:cNvPr id="104" name="직선 화살표 연결선 155"/>
          <p:cNvCxnSpPr>
            <a:stCxn id="93" idx="1"/>
            <a:endCxn id="103" idx="1"/>
          </p:cNvCxnSpPr>
          <p:nvPr/>
        </p:nvCxnSpPr>
        <p:spPr bwMode="auto">
          <a:xfrm rot="10800000" flipV="1">
            <a:off x="3439748" y="2929801"/>
            <a:ext cx="198027" cy="75920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110" name="직선 화살표 연결선 155"/>
          <p:cNvCxnSpPr>
            <a:stCxn id="378" idx="2"/>
            <a:endCxn id="301" idx="0"/>
          </p:cNvCxnSpPr>
          <p:nvPr/>
        </p:nvCxnSpPr>
        <p:spPr bwMode="auto">
          <a:xfrm rot="5400000">
            <a:off x="4793316" y="3109303"/>
            <a:ext cx="515439" cy="5490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3" name="직선 화살표 연결선 155"/>
          <p:cNvCxnSpPr>
            <a:stCxn id="93" idx="2"/>
            <a:endCxn id="301" idx="0"/>
          </p:cNvCxnSpPr>
          <p:nvPr/>
        </p:nvCxnSpPr>
        <p:spPr bwMode="auto">
          <a:xfrm rot="16200000" flipH="1">
            <a:off x="4223935" y="3088922"/>
            <a:ext cx="515439" cy="5897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8" name="TextBox 94"/>
          <p:cNvSpPr txBox="1">
            <a:spLocks noChangeArrowheads="1"/>
          </p:cNvSpPr>
          <p:nvPr/>
        </p:nvSpPr>
        <p:spPr bwMode="auto">
          <a:xfrm>
            <a:off x="1784485" y="1167916"/>
            <a:ext cx="141332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</a:rPr>
              <a:t>SP_GWM_RNDS_REFUND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2" name="AutoShape 86"/>
          <p:cNvSpPr>
            <a:spLocks noChangeArrowheads="1"/>
          </p:cNvSpPr>
          <p:nvPr/>
        </p:nvSpPr>
        <p:spPr bwMode="auto">
          <a:xfrm>
            <a:off x="8613144" y="135130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온라인판매반품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T_GWM_RNDS_REFUND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43" name="AutoShape 73"/>
          <p:cNvSpPr>
            <a:spLocks noChangeArrowheads="1"/>
          </p:cNvSpPr>
          <p:nvPr/>
        </p:nvSpPr>
        <p:spPr bwMode="auto">
          <a:xfrm>
            <a:off x="8483216" y="2031665"/>
            <a:ext cx="831724" cy="47466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bIns="0" anchor="ctr" anchorCtr="1"/>
          <a:lstStyle/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err="1" smtClean="0">
                <a:latin typeface="+mn-ea"/>
                <a:ea typeface="+mn-ea"/>
              </a:rPr>
              <a:t>자사몰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여부</a:t>
            </a:r>
            <a:endParaRPr lang="en-US" altLang="ko-KR" sz="800" dirty="0" smtClean="0">
              <a:latin typeface="+mn-ea"/>
              <a:ea typeface="+mn-ea"/>
            </a:endParaRPr>
          </a:p>
        </p:txBody>
      </p:sp>
      <p:sp>
        <p:nvSpPr>
          <p:cNvPr id="144" name="Text Box 82"/>
          <p:cNvSpPr txBox="1">
            <a:spLocks noChangeArrowheads="1"/>
          </p:cNvSpPr>
          <p:nvPr/>
        </p:nvSpPr>
        <p:spPr bwMode="gray">
          <a:xfrm>
            <a:off x="8906879" y="2439575"/>
            <a:ext cx="34336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800" dirty="0" smtClean="0">
                <a:latin typeface="+mn-ea"/>
                <a:ea typeface="+mn-ea"/>
              </a:rPr>
              <a:t>NO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45" name="Rectangle 49"/>
          <p:cNvSpPr>
            <a:spLocks noChangeArrowheads="1"/>
          </p:cNvSpPr>
          <p:nvPr/>
        </p:nvSpPr>
        <p:spPr bwMode="gray">
          <a:xfrm>
            <a:off x="8474542" y="2805462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판매</a:t>
            </a:r>
            <a:r>
              <a:rPr lang="ko-KR" altLang="en-US" sz="800" b="1" dirty="0" smtClean="0">
                <a:latin typeface="+mn-ea"/>
                <a:ea typeface="+mn-ea"/>
              </a:rPr>
              <a:t>반품</a:t>
            </a:r>
            <a:r>
              <a:rPr lang="en-US" altLang="ko-KR" sz="800" b="1" dirty="0" smtClean="0">
                <a:latin typeface="+mn-ea"/>
                <a:ea typeface="+mn-ea"/>
              </a:rPr>
              <a:t>(</a:t>
            </a:r>
            <a:r>
              <a:rPr lang="ko-KR" altLang="en-US" sz="800" b="1" dirty="0" smtClean="0">
                <a:latin typeface="+mn-ea"/>
                <a:ea typeface="+mn-ea"/>
              </a:rPr>
              <a:t>제휴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46" name="직선 화살표 연결선 155"/>
          <p:cNvCxnSpPr>
            <a:stCxn id="142" idx="3"/>
            <a:endCxn id="143" idx="0"/>
          </p:cNvCxnSpPr>
          <p:nvPr/>
        </p:nvCxnSpPr>
        <p:spPr bwMode="auto">
          <a:xfrm>
            <a:off x="8896513" y="1839066"/>
            <a:ext cx="2565" cy="1925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7" name="직선 화살표 연결선 155"/>
          <p:cNvCxnSpPr>
            <a:stCxn id="143" idx="2"/>
            <a:endCxn id="145" idx="0"/>
          </p:cNvCxnSpPr>
          <p:nvPr/>
        </p:nvCxnSpPr>
        <p:spPr bwMode="auto">
          <a:xfrm flipH="1">
            <a:off x="8896514" y="2506327"/>
            <a:ext cx="2564" cy="29913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9" name="Rectangle 49"/>
          <p:cNvSpPr>
            <a:spLocks noChangeArrowheads="1"/>
          </p:cNvSpPr>
          <p:nvPr/>
        </p:nvSpPr>
        <p:spPr bwMode="gray">
          <a:xfrm>
            <a:off x="7518673" y="2805462"/>
            <a:ext cx="843943" cy="34073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출고반품</a:t>
            </a:r>
            <a:r>
              <a:rPr lang="en-US" altLang="ko-KR" sz="800" b="1" dirty="0" smtClean="0">
                <a:latin typeface="+mn-ea"/>
                <a:ea typeface="+mn-ea"/>
              </a:rPr>
              <a:t>(</a:t>
            </a:r>
            <a:r>
              <a:rPr lang="ko-KR" altLang="en-US" sz="800" b="1" dirty="0" smtClean="0">
                <a:latin typeface="+mn-ea"/>
                <a:ea typeface="+mn-ea"/>
              </a:rPr>
              <a:t>제휴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50" name="직선 화살표 연결선 155"/>
          <p:cNvCxnSpPr>
            <a:stCxn id="143" idx="2"/>
            <a:endCxn id="149" idx="0"/>
          </p:cNvCxnSpPr>
          <p:nvPr/>
        </p:nvCxnSpPr>
        <p:spPr bwMode="auto">
          <a:xfrm rot="5400000">
            <a:off x="8270295" y="2176678"/>
            <a:ext cx="299135" cy="95843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3903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5</a:t>
            </a:r>
            <a:r>
              <a:rPr lang="en-US" altLang="ko-KR" dirty="0" smtClean="0">
                <a:latin typeface="+mn-ea"/>
                <a:ea typeface="+mn-ea"/>
              </a:rPr>
              <a:t>. </a:t>
            </a:r>
            <a:r>
              <a:rPr lang="ko-KR" altLang="en-US" dirty="0" smtClean="0">
                <a:latin typeface="+mn-ea"/>
                <a:ea typeface="+mn-ea"/>
              </a:rPr>
              <a:t>블라인드 입고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1" name="Rectangle 120"/>
          <p:cNvSpPr>
            <a:spLocks noChangeArrowheads="1"/>
          </p:cNvSpPr>
          <p:nvPr/>
        </p:nvSpPr>
        <p:spPr bwMode="gray">
          <a:xfrm>
            <a:off x="227919" y="728699"/>
            <a:ext cx="9450606" cy="580564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" name="Rectangle 224"/>
          <p:cNvSpPr>
            <a:spLocks noChangeArrowheads="1"/>
          </p:cNvSpPr>
          <p:nvPr/>
        </p:nvSpPr>
        <p:spPr bwMode="auto">
          <a:xfrm>
            <a:off x="271197" y="765128"/>
            <a:ext cx="1566523" cy="269981"/>
          </a:xfrm>
          <a:prstGeom prst="rect">
            <a:avLst/>
          </a:prstGeom>
          <a:solidFill>
            <a:srgbClr val="0070C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AS-IS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5" name="Rectangle 224"/>
          <p:cNvSpPr>
            <a:spLocks noChangeArrowheads="1"/>
          </p:cNvSpPr>
          <p:nvPr/>
        </p:nvSpPr>
        <p:spPr bwMode="auto">
          <a:xfrm>
            <a:off x="8075354" y="768660"/>
            <a:ext cx="1566523" cy="2699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TO-BE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2771266" y="1709504"/>
            <a:ext cx="1098000" cy="3925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r>
              <a:rPr lang="ko-KR" altLang="en-US" sz="1100" b="1" kern="0" dirty="0" smtClean="0">
                <a:latin typeface="+mn-ea"/>
                <a:ea typeface="+mn-ea"/>
              </a:rPr>
              <a:t>정보수집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57" name="직선 화살표 연결선 56"/>
          <p:cNvCxnSpPr>
            <a:stCxn id="65" idx="2"/>
            <a:endCxn id="56" idx="0"/>
          </p:cNvCxnSpPr>
          <p:nvPr/>
        </p:nvCxnSpPr>
        <p:spPr bwMode="auto">
          <a:xfrm>
            <a:off x="3320266" y="1480871"/>
            <a:ext cx="0" cy="22863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모서리가 둥근 직사각형 57"/>
          <p:cNvSpPr/>
          <p:nvPr/>
        </p:nvSpPr>
        <p:spPr>
          <a:xfrm>
            <a:off x="2771266" y="2330701"/>
            <a:ext cx="1098000" cy="3925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2216926" y="2965254"/>
            <a:ext cx="1098000" cy="3925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반품검수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896713" y="4310078"/>
            <a:ext cx="1098000" cy="3925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출고반품</a:t>
            </a:r>
            <a:r>
              <a:rPr lang="ko-KR" altLang="en-US" sz="1100" b="1" kern="0" dirty="0" smtClean="0">
                <a:latin typeface="+mn-ea"/>
                <a:ea typeface="+mn-ea"/>
              </a:rPr>
              <a:t>생성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574691" y="3552662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블라인드실적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3574691" y="2965254"/>
            <a:ext cx="1098000" cy="392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반품등록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63" name="직선 화살표 연결선 155"/>
          <p:cNvCxnSpPr>
            <a:stCxn id="58" idx="2"/>
            <a:endCxn id="59" idx="0"/>
          </p:cNvCxnSpPr>
          <p:nvPr/>
        </p:nvCxnSpPr>
        <p:spPr bwMode="auto">
          <a:xfrm rot="5400000">
            <a:off x="2922102" y="2567089"/>
            <a:ext cx="241989" cy="55434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모서리가 둥근 직사각형 63"/>
          <p:cNvSpPr/>
          <p:nvPr/>
        </p:nvSpPr>
        <p:spPr>
          <a:xfrm>
            <a:off x="2216926" y="3550122"/>
            <a:ext cx="1098000" cy="3925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WMS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반품실적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2771266" y="1088471"/>
            <a:ext cx="1098000" cy="392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자사</a:t>
            </a:r>
            <a:r>
              <a:rPr lang="en-US" altLang="ko-KR" sz="1100" b="1" kern="0" dirty="0" smtClean="0">
                <a:latin typeface="+mn-ea"/>
                <a:ea typeface="+mn-ea"/>
              </a:rPr>
              <a:t>/</a:t>
            </a:r>
            <a:r>
              <a:rPr lang="ko-KR" altLang="en-US" sz="1100" b="1" kern="0" dirty="0" err="1" smtClean="0">
                <a:latin typeface="+mn-ea"/>
                <a:ea typeface="+mn-ea"/>
              </a:rPr>
              <a:t>제휴몰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66" name="직선 화살표 연결선 65"/>
          <p:cNvCxnSpPr>
            <a:stCxn id="59" idx="2"/>
            <a:endCxn id="64" idx="0"/>
          </p:cNvCxnSpPr>
          <p:nvPr/>
        </p:nvCxnSpPr>
        <p:spPr bwMode="auto">
          <a:xfrm>
            <a:off x="2765926" y="3357818"/>
            <a:ext cx="0" cy="19230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7" name="직선 화살표 연결선 277"/>
          <p:cNvCxnSpPr>
            <a:stCxn id="64" idx="2"/>
            <a:endCxn id="60" idx="0"/>
          </p:cNvCxnSpPr>
          <p:nvPr/>
        </p:nvCxnSpPr>
        <p:spPr bwMode="auto">
          <a:xfrm rot="16200000" flipH="1">
            <a:off x="2922123" y="3786488"/>
            <a:ext cx="367392" cy="67978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8" name="직선 화살표 연결선 67"/>
          <p:cNvCxnSpPr>
            <a:stCxn id="62" idx="2"/>
            <a:endCxn id="61" idx="0"/>
          </p:cNvCxnSpPr>
          <p:nvPr/>
        </p:nvCxnSpPr>
        <p:spPr bwMode="auto">
          <a:xfrm>
            <a:off x="4123691" y="3357818"/>
            <a:ext cx="0" cy="19484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9" name="직선 화살표 연결선 283"/>
          <p:cNvCxnSpPr>
            <a:stCxn id="61" idx="2"/>
            <a:endCxn id="60" idx="0"/>
          </p:cNvCxnSpPr>
          <p:nvPr/>
        </p:nvCxnSpPr>
        <p:spPr bwMode="auto">
          <a:xfrm rot="5400000">
            <a:off x="3602276" y="3788663"/>
            <a:ext cx="364852" cy="67797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모서리가 둥근 직사각형 69"/>
          <p:cNvSpPr/>
          <p:nvPr/>
        </p:nvSpPr>
        <p:spPr>
          <a:xfrm>
            <a:off x="2896713" y="5005527"/>
            <a:ext cx="1098000" cy="3925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온라인출고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</a:t>
            </a:r>
            <a:r>
              <a:rPr lang="en-US" altLang="ko-KR" sz="1100" b="1" kern="0" dirty="0" smtClean="0">
                <a:latin typeface="+mn-ea"/>
                <a:ea typeface="+mn-ea"/>
              </a:rPr>
              <a:t>I/F(BO)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71" name="직선 화살표 연결선 155"/>
          <p:cNvCxnSpPr>
            <a:stCxn id="60" idx="2"/>
            <a:endCxn id="70" idx="0"/>
          </p:cNvCxnSpPr>
          <p:nvPr/>
        </p:nvCxnSpPr>
        <p:spPr bwMode="auto">
          <a:xfrm>
            <a:off x="3445713" y="4702642"/>
            <a:ext cx="0" cy="30288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2" name="모서리가 둥근 직사각형 71"/>
          <p:cNvSpPr/>
          <p:nvPr/>
        </p:nvSpPr>
        <p:spPr>
          <a:xfrm>
            <a:off x="2896302" y="5871751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 출고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cxnSp>
        <p:nvCxnSpPr>
          <p:cNvPr id="73" name="직선 화살표 연결선 155"/>
          <p:cNvCxnSpPr>
            <a:stCxn id="70" idx="2"/>
            <a:endCxn id="72" idx="0"/>
          </p:cNvCxnSpPr>
          <p:nvPr/>
        </p:nvCxnSpPr>
        <p:spPr bwMode="auto">
          <a:xfrm flipH="1">
            <a:off x="3445302" y="5398091"/>
            <a:ext cx="411" cy="47366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4" name="AutoShape 86"/>
          <p:cNvSpPr>
            <a:spLocks noChangeArrowheads="1"/>
          </p:cNvSpPr>
          <p:nvPr/>
        </p:nvSpPr>
        <p:spPr bwMode="auto">
          <a:xfrm>
            <a:off x="1892660" y="496208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온라인출고반품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T_GWM_RNDS_RETURN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75" name="직선 화살표 연결선 155"/>
          <p:cNvCxnSpPr>
            <a:stCxn id="70" idx="1"/>
            <a:endCxn id="74" idx="4"/>
          </p:cNvCxnSpPr>
          <p:nvPr/>
        </p:nvCxnSpPr>
        <p:spPr bwMode="auto">
          <a:xfrm flipH="1">
            <a:off x="2459398" y="5201809"/>
            <a:ext cx="437315" cy="415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83" name="AutoShape 86"/>
          <p:cNvSpPr>
            <a:spLocks noChangeArrowheads="1"/>
          </p:cNvSpPr>
          <p:nvPr/>
        </p:nvSpPr>
        <p:spPr bwMode="auto">
          <a:xfrm>
            <a:off x="4558300" y="499883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 smtClean="0">
                <a:latin typeface="+mn-ea"/>
                <a:ea typeface="+mn-ea"/>
              </a:rPr>
              <a:t>블라인드주문매칭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T_GWM_IF_RET_FAK_MATCH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90" name="AutoShape 86"/>
          <p:cNvSpPr>
            <a:spLocks noChangeArrowheads="1"/>
          </p:cNvSpPr>
          <p:nvPr/>
        </p:nvSpPr>
        <p:spPr bwMode="auto">
          <a:xfrm>
            <a:off x="7942158" y="134488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온라인출고반품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T_GWM_RNDS_RETURN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91" name="직선 화살표 연결선 155"/>
          <p:cNvCxnSpPr>
            <a:stCxn id="90" idx="3"/>
            <a:endCxn id="126" idx="0"/>
          </p:cNvCxnSpPr>
          <p:nvPr/>
        </p:nvCxnSpPr>
        <p:spPr bwMode="auto">
          <a:xfrm>
            <a:off x="8225527" y="1832638"/>
            <a:ext cx="6793" cy="30518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7" name="TextBox 94"/>
          <p:cNvSpPr txBox="1">
            <a:spLocks noChangeArrowheads="1"/>
          </p:cNvSpPr>
          <p:nvPr/>
        </p:nvSpPr>
        <p:spPr bwMode="auto">
          <a:xfrm>
            <a:off x="7499871" y="1063955"/>
            <a:ext cx="157236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SP_IFT_ONLINE_BLIND_STOR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98" name="TextBox 94"/>
          <p:cNvSpPr txBox="1">
            <a:spLocks noChangeArrowheads="1"/>
          </p:cNvSpPr>
          <p:nvPr/>
        </p:nvSpPr>
        <p:spPr bwMode="auto">
          <a:xfrm>
            <a:off x="3899843" y="2616772"/>
            <a:ext cx="1027271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err="1" smtClean="0">
                <a:latin typeface="+mn-ea"/>
                <a:ea typeface="+mn-ea"/>
              </a:rPr>
              <a:t>고객반품미예약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ko-KR" altLang="en-US" sz="800" dirty="0" err="1" smtClean="0">
                <a:latin typeface="+mn-ea"/>
                <a:ea typeface="+mn-ea"/>
              </a:rPr>
              <a:t>가입고</a:t>
            </a: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ko-KR" altLang="en-US" sz="800" dirty="0" smtClean="0">
                <a:latin typeface="+mn-ea"/>
                <a:ea typeface="+mn-ea"/>
              </a:rPr>
              <a:t>블라인드</a:t>
            </a:r>
            <a:r>
              <a:rPr lang="en-US" altLang="ko-KR" sz="800" dirty="0" smtClean="0">
                <a:latin typeface="+mn-ea"/>
                <a:ea typeface="+mn-ea"/>
              </a:rPr>
              <a:t>))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99" name="TextBox 94"/>
          <p:cNvSpPr txBox="1">
            <a:spLocks noChangeArrowheads="1"/>
          </p:cNvSpPr>
          <p:nvPr/>
        </p:nvSpPr>
        <p:spPr bwMode="auto">
          <a:xfrm>
            <a:off x="1982670" y="1798064"/>
            <a:ext cx="80551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smtClean="0">
                <a:latin typeface="+mn-ea"/>
                <a:ea typeface="+mn-ea"/>
              </a:rPr>
              <a:t>고객반품예약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00" name="직선 화살표 연결선 155"/>
          <p:cNvCxnSpPr>
            <a:stCxn id="56" idx="2"/>
            <a:endCxn id="58" idx="0"/>
          </p:cNvCxnSpPr>
          <p:nvPr/>
        </p:nvCxnSpPr>
        <p:spPr bwMode="auto">
          <a:xfrm>
            <a:off x="3320266" y="2102068"/>
            <a:ext cx="0" cy="22863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3" name="모서리가 둥근 직사각형 102"/>
          <p:cNvSpPr/>
          <p:nvPr/>
        </p:nvSpPr>
        <p:spPr>
          <a:xfrm>
            <a:off x="4293488" y="4310078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블라인드</a:t>
            </a:r>
            <a:r>
              <a:rPr lang="en-US" altLang="ko-KR" sz="1100" b="1" kern="0" dirty="0" smtClean="0">
                <a:latin typeface="+mn-ea"/>
                <a:ea typeface="+mn-ea"/>
              </a:rPr>
              <a:t>I/F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104" name="직선 화살표 연결선 155"/>
          <p:cNvCxnSpPr>
            <a:stCxn id="61" idx="3"/>
            <a:endCxn id="103" idx="0"/>
          </p:cNvCxnSpPr>
          <p:nvPr/>
        </p:nvCxnSpPr>
        <p:spPr bwMode="auto">
          <a:xfrm>
            <a:off x="4672691" y="3748944"/>
            <a:ext cx="169797" cy="561134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직선 화살표 연결선 155"/>
          <p:cNvCxnSpPr>
            <a:stCxn id="103" idx="3"/>
            <a:endCxn id="83" idx="4"/>
          </p:cNvCxnSpPr>
          <p:nvPr/>
        </p:nvCxnSpPr>
        <p:spPr bwMode="auto">
          <a:xfrm flipH="1">
            <a:off x="5125038" y="4506360"/>
            <a:ext cx="266450" cy="736356"/>
          </a:xfrm>
          <a:prstGeom prst="bentConnector3">
            <a:avLst>
              <a:gd name="adj1" fmla="val -85795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26" name="AutoShape 73"/>
          <p:cNvSpPr>
            <a:spLocks noChangeArrowheads="1"/>
          </p:cNvSpPr>
          <p:nvPr/>
        </p:nvSpPr>
        <p:spPr bwMode="auto">
          <a:xfrm>
            <a:off x="7816458" y="2137820"/>
            <a:ext cx="831724" cy="47466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bIns="0" anchor="ctr" anchorCtr="1"/>
          <a:lstStyle/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err="1" smtClean="0">
                <a:latin typeface="+mn-ea"/>
                <a:ea typeface="+mn-ea"/>
              </a:rPr>
              <a:t>가입고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여부</a:t>
            </a:r>
            <a:endParaRPr lang="en-US" altLang="ko-KR" sz="800" dirty="0" smtClean="0">
              <a:latin typeface="+mn-ea"/>
              <a:ea typeface="+mn-ea"/>
            </a:endParaRPr>
          </a:p>
        </p:txBody>
      </p:sp>
      <p:sp>
        <p:nvSpPr>
          <p:cNvPr id="127" name="Text Box 82"/>
          <p:cNvSpPr txBox="1">
            <a:spLocks noChangeArrowheads="1"/>
          </p:cNvSpPr>
          <p:nvPr/>
        </p:nvSpPr>
        <p:spPr bwMode="gray">
          <a:xfrm>
            <a:off x="8562590" y="2172013"/>
            <a:ext cx="35137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800" dirty="0" smtClean="0">
                <a:latin typeface="+mn-ea"/>
                <a:ea typeface="+mn-ea"/>
              </a:rPr>
              <a:t>YES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8" name="AutoShape 86"/>
          <p:cNvSpPr>
            <a:spLocks noChangeArrowheads="1"/>
          </p:cNvSpPr>
          <p:nvPr/>
        </p:nvSpPr>
        <p:spPr bwMode="auto">
          <a:xfrm>
            <a:off x="8839817" y="169687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온라인블라인드입고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T_ONLINE_BLIND_STOR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35" name="TextBox 94"/>
          <p:cNvSpPr txBox="1">
            <a:spLocks noChangeArrowheads="1"/>
          </p:cNvSpPr>
          <p:nvPr/>
        </p:nvSpPr>
        <p:spPr bwMode="auto">
          <a:xfrm>
            <a:off x="6726998" y="1781054"/>
            <a:ext cx="1411116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err="1" smtClean="0">
                <a:latin typeface="+mn-ea"/>
                <a:ea typeface="+mn-ea"/>
                <a:sym typeface="Wingdings" panose="05000000000000000000" pitchFamily="2" charset="2"/>
              </a:rPr>
              <a:t>가입고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: REGISTER_NO (O)</a:t>
            </a:r>
          </a:p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dirty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          ORDER_ID (X)</a:t>
            </a:r>
            <a:endParaRPr lang="en-US" altLang="ko-KR" sz="800" dirty="0" smtClean="0">
              <a:latin typeface="+mn-ea"/>
              <a:ea typeface="+mn-ea"/>
              <a:sym typeface="Wingdings" panose="05000000000000000000" pitchFamily="2" charset="2"/>
            </a:endParaRPr>
          </a:p>
        </p:txBody>
      </p:sp>
      <p:cxnSp>
        <p:nvCxnSpPr>
          <p:cNvPr id="136" name="직선 화살표 연결선 155"/>
          <p:cNvCxnSpPr>
            <a:stCxn id="126" idx="3"/>
            <a:endCxn id="128" idx="3"/>
          </p:cNvCxnSpPr>
          <p:nvPr/>
        </p:nvCxnSpPr>
        <p:spPr bwMode="auto">
          <a:xfrm flipV="1">
            <a:off x="8648182" y="2184633"/>
            <a:ext cx="475004" cy="190518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0" name="TextBox 94"/>
          <p:cNvSpPr txBox="1">
            <a:spLocks noChangeArrowheads="1"/>
          </p:cNvSpPr>
          <p:nvPr/>
        </p:nvSpPr>
        <p:spPr bwMode="auto">
          <a:xfrm>
            <a:off x="7378269" y="2774786"/>
            <a:ext cx="184741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SP_IFT_ONLINE_BLIND_STOR_SPEC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41" name="AutoShape 86"/>
          <p:cNvSpPr>
            <a:spLocks noChangeArrowheads="1"/>
          </p:cNvSpPr>
          <p:nvPr/>
        </p:nvSpPr>
        <p:spPr bwMode="auto">
          <a:xfrm>
            <a:off x="8414697" y="304302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 smtClean="0">
                <a:latin typeface="+mn-ea"/>
                <a:ea typeface="+mn-ea"/>
              </a:rPr>
              <a:t>블라인드주문매칭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T_GWM_IF_RET_FAK_MATCH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42" name="직선 화살표 연결선 155"/>
          <p:cNvCxnSpPr>
            <a:stCxn id="141" idx="3"/>
            <a:endCxn id="178" idx="0"/>
          </p:cNvCxnSpPr>
          <p:nvPr/>
        </p:nvCxnSpPr>
        <p:spPr bwMode="auto">
          <a:xfrm rot="5400000">
            <a:off x="8275072" y="3457215"/>
            <a:ext cx="349422" cy="49656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3" name="Rectangle 49"/>
          <p:cNvSpPr>
            <a:spLocks noChangeArrowheads="1"/>
          </p:cNvSpPr>
          <p:nvPr/>
        </p:nvSpPr>
        <p:spPr bwMode="gray">
          <a:xfrm>
            <a:off x="6609635" y="3745919"/>
            <a:ext cx="843943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온라인매장</a:t>
            </a:r>
            <a:endParaRPr lang="en-US" altLang="ko-KR" sz="800" b="1" dirty="0" smtClean="0">
              <a:latin typeface="+mn-ea"/>
              <a:ea typeface="+mn-ea"/>
            </a:endParaRPr>
          </a:p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출고반품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44" name="AutoShape 86"/>
          <p:cNvSpPr>
            <a:spLocks noChangeArrowheads="1"/>
          </p:cNvSpPr>
          <p:nvPr/>
        </p:nvSpPr>
        <p:spPr bwMode="auto">
          <a:xfrm>
            <a:off x="7426218" y="304302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온라인블라인드입고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T_ONLINE_BLIND_STOR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45" name="직선 화살표 연결선 155"/>
          <p:cNvCxnSpPr>
            <a:stCxn id="144" idx="3"/>
            <a:endCxn id="178" idx="0"/>
          </p:cNvCxnSpPr>
          <p:nvPr/>
        </p:nvCxnSpPr>
        <p:spPr bwMode="auto">
          <a:xfrm rot="16200000" flipH="1">
            <a:off x="7780832" y="3459541"/>
            <a:ext cx="349422" cy="49191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8" name="AutoShape 86"/>
          <p:cNvSpPr>
            <a:spLocks noChangeArrowheads="1"/>
          </p:cNvSpPr>
          <p:nvPr/>
        </p:nvSpPr>
        <p:spPr bwMode="auto">
          <a:xfrm>
            <a:off x="8522004" y="482415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 smtClean="0">
                <a:latin typeface="+mn-ea"/>
                <a:ea typeface="+mn-ea"/>
              </a:rPr>
              <a:t>블라인드주문</a:t>
            </a:r>
            <a:r>
              <a:rPr lang="ko-KR" altLang="en-US" sz="600" b="1" dirty="0" err="1">
                <a:latin typeface="+mn-ea"/>
                <a:ea typeface="+mn-ea"/>
              </a:rPr>
              <a:t>미</a:t>
            </a:r>
            <a:r>
              <a:rPr lang="ko-KR" altLang="en-US" sz="600" b="1" dirty="0" err="1" smtClean="0">
                <a:latin typeface="+mn-ea"/>
                <a:ea typeface="+mn-ea"/>
              </a:rPr>
              <a:t>매칭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T_GWM_IF_RET_FAK_</a:t>
            </a: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MATCH_MISS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49" name="직선 화살표 연결선 155"/>
          <p:cNvCxnSpPr>
            <a:stCxn id="148" idx="3"/>
            <a:endCxn id="150" idx="0"/>
          </p:cNvCxnSpPr>
          <p:nvPr/>
        </p:nvCxnSpPr>
        <p:spPr bwMode="auto">
          <a:xfrm rot="5400000">
            <a:off x="8301126" y="5394418"/>
            <a:ext cx="586753" cy="42174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0" name="Rectangle 49"/>
          <p:cNvSpPr>
            <a:spLocks noChangeArrowheads="1"/>
          </p:cNvSpPr>
          <p:nvPr/>
        </p:nvSpPr>
        <p:spPr bwMode="gray">
          <a:xfrm>
            <a:off x="7961658" y="5898666"/>
            <a:ext cx="843943" cy="217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블라인드 종결</a:t>
            </a:r>
            <a:endParaRPr lang="ko-KR" altLang="en-US" sz="800" b="1" dirty="0">
              <a:latin typeface="+mn-ea"/>
              <a:ea typeface="+mn-ea"/>
            </a:endParaRPr>
          </a:p>
        </p:txBody>
      </p:sp>
      <p:sp>
        <p:nvSpPr>
          <p:cNvPr id="151" name="AutoShape 86"/>
          <p:cNvSpPr>
            <a:spLocks noChangeArrowheads="1"/>
          </p:cNvSpPr>
          <p:nvPr/>
        </p:nvSpPr>
        <p:spPr bwMode="auto">
          <a:xfrm>
            <a:off x="7533525" y="482415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온라인블라인드입고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T_ONLINE_BLIND_STOR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53" name="직선 화살표 연결선 155"/>
          <p:cNvCxnSpPr>
            <a:stCxn id="151" idx="3"/>
            <a:endCxn id="150" idx="0"/>
          </p:cNvCxnSpPr>
          <p:nvPr/>
        </p:nvCxnSpPr>
        <p:spPr bwMode="auto">
          <a:xfrm rot="16200000" flipH="1">
            <a:off x="7806886" y="5321921"/>
            <a:ext cx="586753" cy="56673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8" name="AutoShape 86"/>
          <p:cNvSpPr>
            <a:spLocks noChangeArrowheads="1"/>
          </p:cNvSpPr>
          <p:nvPr/>
        </p:nvSpPr>
        <p:spPr bwMode="auto">
          <a:xfrm>
            <a:off x="4539838" y="554501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>
                <a:latin typeface="+mn-ea"/>
                <a:ea typeface="+mn-ea"/>
              </a:rPr>
              <a:t>블라인드주문미매칭</a:t>
            </a:r>
            <a:endParaRPr lang="ko-KR" altLang="en-US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T_GWM_IF_RET_FAK_</a:t>
            </a: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MATCH_MISS</a:t>
            </a:r>
          </a:p>
        </p:txBody>
      </p:sp>
      <p:cxnSp>
        <p:nvCxnSpPr>
          <p:cNvPr id="159" name="직선 화살표 연결선 155"/>
          <p:cNvCxnSpPr>
            <a:stCxn id="103" idx="3"/>
            <a:endCxn id="158" idx="4"/>
          </p:cNvCxnSpPr>
          <p:nvPr/>
        </p:nvCxnSpPr>
        <p:spPr bwMode="auto">
          <a:xfrm flipH="1">
            <a:off x="5106576" y="4506360"/>
            <a:ext cx="284912" cy="1282533"/>
          </a:xfrm>
          <a:prstGeom prst="bentConnector3">
            <a:avLst>
              <a:gd name="adj1" fmla="val -80235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77" name="TextBox 94"/>
          <p:cNvSpPr txBox="1">
            <a:spLocks noChangeArrowheads="1"/>
          </p:cNvSpPr>
          <p:nvPr/>
        </p:nvSpPr>
        <p:spPr bwMode="auto">
          <a:xfrm>
            <a:off x="4668870" y="2972934"/>
            <a:ext cx="10272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err="1" smtClean="0">
                <a:latin typeface="+mn-ea"/>
                <a:ea typeface="+mn-ea"/>
              </a:rPr>
              <a:t>가입고</a:t>
            </a:r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ko-KR" altLang="en-US" sz="800" dirty="0" smtClean="0">
                <a:latin typeface="+mn-ea"/>
                <a:ea typeface="+mn-ea"/>
              </a:rPr>
              <a:t>블라인드</a:t>
            </a:r>
            <a:r>
              <a:rPr lang="en-US" altLang="ko-KR" sz="800" dirty="0" smtClean="0">
                <a:latin typeface="+mn-ea"/>
                <a:ea typeface="+mn-ea"/>
              </a:rPr>
              <a:t>) </a:t>
            </a:r>
            <a:r>
              <a:rPr lang="ko-KR" altLang="en-US" sz="800" dirty="0" err="1" smtClean="0">
                <a:latin typeface="+mn-ea"/>
                <a:ea typeface="+mn-ea"/>
              </a:rPr>
              <a:t>입고시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r>
              <a:rPr lang="ko-KR" altLang="en-US" sz="800" dirty="0" err="1" smtClean="0">
                <a:latin typeface="+mn-ea"/>
                <a:ea typeface="+mn-ea"/>
              </a:rPr>
              <a:t>플필먼트</a:t>
            </a:r>
            <a:r>
              <a:rPr lang="ko-KR" altLang="en-US" sz="800" dirty="0" smtClean="0">
                <a:latin typeface="+mn-ea"/>
                <a:ea typeface="+mn-ea"/>
              </a:rPr>
              <a:t> 관련 반품이 포함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78" name="AutoShape 73"/>
          <p:cNvSpPr>
            <a:spLocks noChangeArrowheads="1"/>
          </p:cNvSpPr>
          <p:nvPr/>
        </p:nvSpPr>
        <p:spPr bwMode="auto">
          <a:xfrm>
            <a:off x="7785638" y="3880209"/>
            <a:ext cx="831724" cy="47466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bIns="0" anchor="ctr" anchorCtr="1"/>
          <a:lstStyle/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ko-KR" altLang="en-US" sz="800" dirty="0" smtClean="0">
                <a:latin typeface="+mn-ea"/>
                <a:ea typeface="+mn-ea"/>
              </a:rPr>
              <a:t>반품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생성여부</a:t>
            </a:r>
            <a:endParaRPr lang="en-US" altLang="ko-KR" sz="800" dirty="0" smtClean="0">
              <a:latin typeface="+mn-ea"/>
              <a:ea typeface="+mn-ea"/>
            </a:endParaRPr>
          </a:p>
        </p:txBody>
      </p:sp>
      <p:cxnSp>
        <p:nvCxnSpPr>
          <p:cNvPr id="179" name="직선 화살표 연결선 155"/>
          <p:cNvCxnSpPr>
            <a:stCxn id="178" idx="1"/>
            <a:endCxn id="143" idx="3"/>
          </p:cNvCxnSpPr>
          <p:nvPr/>
        </p:nvCxnSpPr>
        <p:spPr bwMode="auto">
          <a:xfrm rot="10800000">
            <a:off x="7453578" y="3916288"/>
            <a:ext cx="332060" cy="20125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9" name="Text Box 82"/>
          <p:cNvSpPr txBox="1">
            <a:spLocks noChangeArrowheads="1"/>
          </p:cNvSpPr>
          <p:nvPr/>
        </p:nvSpPr>
        <p:spPr bwMode="gray">
          <a:xfrm>
            <a:off x="7596528" y="3871210"/>
            <a:ext cx="34336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800" dirty="0" smtClean="0">
                <a:latin typeface="+mn-ea"/>
                <a:ea typeface="+mn-ea"/>
              </a:rPr>
              <a:t>NO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90" name="Rectangle 49"/>
          <p:cNvSpPr>
            <a:spLocks noChangeArrowheads="1"/>
          </p:cNvSpPr>
          <p:nvPr/>
        </p:nvSpPr>
        <p:spPr bwMode="gray">
          <a:xfrm>
            <a:off x="8662114" y="4275726"/>
            <a:ext cx="843943" cy="217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b="1" dirty="0" smtClean="0">
                <a:latin typeface="+mn-ea"/>
                <a:ea typeface="+mn-ea"/>
              </a:rPr>
              <a:t>블라인드 종결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95" name="직선 화살표 연결선 155"/>
          <p:cNvCxnSpPr>
            <a:stCxn id="178" idx="3"/>
            <a:endCxn id="190" idx="0"/>
          </p:cNvCxnSpPr>
          <p:nvPr/>
        </p:nvCxnSpPr>
        <p:spPr bwMode="auto">
          <a:xfrm>
            <a:off x="8617362" y="4117540"/>
            <a:ext cx="466724" cy="158186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6" name="Text Box 82"/>
          <p:cNvSpPr txBox="1">
            <a:spLocks noChangeArrowheads="1"/>
          </p:cNvSpPr>
          <p:nvPr/>
        </p:nvSpPr>
        <p:spPr bwMode="gray">
          <a:xfrm>
            <a:off x="8486425" y="3885571"/>
            <a:ext cx="35137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800" dirty="0" smtClean="0">
                <a:latin typeface="+mn-ea"/>
                <a:ea typeface="+mn-ea"/>
              </a:rPr>
              <a:t>YES</a:t>
            </a:r>
            <a:endParaRPr lang="en-US" altLang="ko-KR" sz="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251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5</a:t>
            </a:r>
            <a:r>
              <a:rPr lang="en-US" altLang="ko-KR" dirty="0" smtClean="0">
                <a:latin typeface="+mn-ea"/>
                <a:ea typeface="+mn-ea"/>
              </a:rPr>
              <a:t>. </a:t>
            </a:r>
            <a:r>
              <a:rPr lang="ko-KR" altLang="en-US" dirty="0" smtClean="0">
                <a:latin typeface="+mn-ea"/>
                <a:ea typeface="+mn-ea"/>
              </a:rPr>
              <a:t>자사 몰 구매 확정 </a:t>
            </a:r>
            <a:r>
              <a:rPr lang="en-US" altLang="ko-KR" dirty="0" smtClean="0">
                <a:latin typeface="+mn-ea"/>
                <a:ea typeface="+mn-ea"/>
              </a:rPr>
              <a:t>/</a:t>
            </a:r>
            <a:r>
              <a:rPr lang="ko-KR" altLang="en-US" dirty="0" smtClean="0">
                <a:latin typeface="+mn-ea"/>
                <a:ea typeface="+mn-ea"/>
              </a:rPr>
              <a:t>제휴 몰 정산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51" name="Rectangle 120"/>
          <p:cNvSpPr>
            <a:spLocks noChangeArrowheads="1"/>
          </p:cNvSpPr>
          <p:nvPr/>
        </p:nvSpPr>
        <p:spPr bwMode="gray">
          <a:xfrm>
            <a:off x="227919" y="728699"/>
            <a:ext cx="9450606" cy="580564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4" name="Rectangle 224"/>
          <p:cNvSpPr>
            <a:spLocks noChangeArrowheads="1"/>
          </p:cNvSpPr>
          <p:nvPr/>
        </p:nvSpPr>
        <p:spPr bwMode="auto">
          <a:xfrm>
            <a:off x="271197" y="765128"/>
            <a:ext cx="1566523" cy="269981"/>
          </a:xfrm>
          <a:prstGeom prst="rect">
            <a:avLst/>
          </a:prstGeom>
          <a:solidFill>
            <a:srgbClr val="0070C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AS-IS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5" name="Rectangle 224"/>
          <p:cNvSpPr>
            <a:spLocks noChangeArrowheads="1"/>
          </p:cNvSpPr>
          <p:nvPr/>
        </p:nvSpPr>
        <p:spPr bwMode="auto">
          <a:xfrm>
            <a:off x="8075354" y="768660"/>
            <a:ext cx="1566523" cy="2699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none" anchor="ctr"/>
          <a:lstStyle/>
          <a:p>
            <a:pPr algn="ctr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0" lang="en-US" altLang="ko-KR" sz="1000" b="1" dirty="0" smtClean="0">
                <a:solidFill>
                  <a:schemeClr val="bg1"/>
                </a:solidFill>
                <a:latin typeface="+mn-ea"/>
                <a:ea typeface="+mn-ea"/>
              </a:rPr>
              <a:t>TO-BE</a:t>
            </a:r>
            <a:endParaRPr kumimoji="0" lang="en-US" altLang="ko-KR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4209292" y="1893040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err="1" smtClean="0">
                <a:latin typeface="+mn-ea"/>
                <a:ea typeface="+mn-ea"/>
              </a:rPr>
              <a:t>주문매칭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57" name="직선 화살표 연결선 56"/>
          <p:cNvCxnSpPr>
            <a:stCxn id="65" idx="2"/>
            <a:endCxn id="56" idx="0"/>
          </p:cNvCxnSpPr>
          <p:nvPr/>
        </p:nvCxnSpPr>
        <p:spPr bwMode="auto">
          <a:xfrm>
            <a:off x="4758292" y="1664407"/>
            <a:ext cx="0" cy="22863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5" name="모서리가 둥근 직사각형 64"/>
          <p:cNvSpPr/>
          <p:nvPr/>
        </p:nvSpPr>
        <p:spPr>
          <a:xfrm>
            <a:off x="4209292" y="1272007"/>
            <a:ext cx="1098000" cy="392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err="1" smtClean="0">
                <a:latin typeface="+mn-ea"/>
                <a:ea typeface="+mn-ea"/>
              </a:rPr>
              <a:t>제휴몰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정산등록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97" name="TextBox 94"/>
          <p:cNvSpPr txBox="1">
            <a:spLocks noChangeArrowheads="1"/>
          </p:cNvSpPr>
          <p:nvPr/>
        </p:nvSpPr>
        <p:spPr bwMode="auto">
          <a:xfrm>
            <a:off x="7656109" y="1091909"/>
            <a:ext cx="1662376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SP_IFT_ONLINE_SALE_STLM</a:t>
            </a:r>
          </a:p>
          <a:p>
            <a:pPr algn="ctr"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(</a:t>
            </a:r>
            <a:r>
              <a:rPr lang="ko-KR" altLang="en-US" sz="800" b="1" dirty="0" err="1" smtClean="0">
                <a:latin typeface="+mn-ea"/>
                <a:ea typeface="+mn-ea"/>
              </a:rPr>
              <a:t>제휴몰</a:t>
            </a:r>
            <a:r>
              <a:rPr lang="en-US" altLang="ko-KR" sz="800" b="1" dirty="0" smtClean="0">
                <a:latin typeface="+mn-ea"/>
                <a:ea typeface="+mn-ea"/>
              </a:rPr>
              <a:t> </a:t>
            </a:r>
            <a:r>
              <a:rPr lang="ko-KR" altLang="en-US" sz="800" b="1" dirty="0" smtClean="0">
                <a:latin typeface="+mn-ea"/>
                <a:ea typeface="+mn-ea"/>
              </a:rPr>
              <a:t>정산</a:t>
            </a:r>
            <a:r>
              <a:rPr lang="en-US" altLang="ko-KR" sz="800" b="1" dirty="0" smtClean="0">
                <a:latin typeface="+mn-ea"/>
                <a:ea typeface="+mn-ea"/>
              </a:rPr>
              <a:t>/ </a:t>
            </a:r>
            <a:r>
              <a:rPr lang="ko-KR" altLang="en-US" sz="800" b="1" dirty="0" err="1" smtClean="0">
                <a:latin typeface="+mn-ea"/>
                <a:ea typeface="+mn-ea"/>
              </a:rPr>
              <a:t>자사몰</a:t>
            </a:r>
            <a:r>
              <a:rPr lang="ko-KR" altLang="en-US" sz="800" b="1" dirty="0" smtClean="0">
                <a:latin typeface="+mn-ea"/>
                <a:ea typeface="+mn-ea"/>
              </a:rPr>
              <a:t> 구매확정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  <a:endParaRPr lang="ko-KR" altLang="en-US" sz="800" b="1" dirty="0">
              <a:latin typeface="+mn-ea"/>
              <a:ea typeface="+mn-ea"/>
            </a:endParaRPr>
          </a:p>
        </p:txBody>
      </p:sp>
      <p:cxnSp>
        <p:nvCxnSpPr>
          <p:cNvPr id="100" name="직선 화살표 연결선 155"/>
          <p:cNvCxnSpPr>
            <a:stCxn id="56" idx="2"/>
            <a:endCxn id="53" idx="0"/>
          </p:cNvCxnSpPr>
          <p:nvPr/>
        </p:nvCxnSpPr>
        <p:spPr bwMode="auto">
          <a:xfrm>
            <a:off x="4758292" y="2285604"/>
            <a:ext cx="1683" cy="16073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모서리가 둥근 직사각형 52"/>
          <p:cNvSpPr/>
          <p:nvPr/>
        </p:nvSpPr>
        <p:spPr>
          <a:xfrm>
            <a:off x="4210975" y="2446343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err="1" smtClean="0">
                <a:latin typeface="+mn-ea"/>
                <a:ea typeface="+mn-ea"/>
              </a:rPr>
              <a:t>판매매칭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4215040" y="3036436"/>
            <a:ext cx="1098000" cy="3925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err="1" smtClean="0">
                <a:latin typeface="+mn-ea"/>
                <a:ea typeface="+mn-ea"/>
              </a:rPr>
              <a:t>주문미</a:t>
            </a:r>
            <a:r>
              <a:rPr lang="ko-KR" altLang="en-US" sz="1100" b="1" kern="0" dirty="0" err="1" smtClean="0">
                <a:latin typeface="+mn-ea"/>
                <a:ea typeface="+mn-ea"/>
              </a:rPr>
              <a:t>매칭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수집</a:t>
            </a:r>
            <a:r>
              <a:rPr lang="en-US" altLang="ko-KR" sz="1100" b="1" kern="0" dirty="0" smtClean="0">
                <a:latin typeface="+mn-ea"/>
                <a:ea typeface="+mn-ea"/>
              </a:rPr>
              <a:t>(BO)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cxnSp>
        <p:nvCxnSpPr>
          <p:cNvPr id="76" name="직선 화살표 연결선 155"/>
          <p:cNvCxnSpPr>
            <a:stCxn id="53" idx="2"/>
            <a:endCxn id="55" idx="0"/>
          </p:cNvCxnSpPr>
          <p:nvPr/>
        </p:nvCxnSpPr>
        <p:spPr bwMode="auto">
          <a:xfrm>
            <a:off x="4759975" y="2838907"/>
            <a:ext cx="4065" cy="19752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7" name="AutoShape 86"/>
          <p:cNvSpPr>
            <a:spLocks noChangeArrowheads="1"/>
          </p:cNvSpPr>
          <p:nvPr/>
        </p:nvSpPr>
        <p:spPr bwMode="auto">
          <a:xfrm>
            <a:off x="2927775" y="2406366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온라인정산기본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T_ONLINE_STLM_BASE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78" name="직선 화살표 연결선 155"/>
          <p:cNvCxnSpPr>
            <a:stCxn id="56" idx="1"/>
            <a:endCxn id="77" idx="4"/>
          </p:cNvCxnSpPr>
          <p:nvPr/>
        </p:nvCxnSpPr>
        <p:spPr bwMode="auto">
          <a:xfrm rot="10800000" flipV="1">
            <a:off x="3494514" y="2089321"/>
            <a:ext cx="714779" cy="56092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79" name="직선 화살표 연결선 155"/>
          <p:cNvCxnSpPr>
            <a:stCxn id="53" idx="1"/>
            <a:endCxn id="77" idx="4"/>
          </p:cNvCxnSpPr>
          <p:nvPr/>
        </p:nvCxnSpPr>
        <p:spPr bwMode="auto">
          <a:xfrm rot="10800000" flipV="1">
            <a:off x="3494513" y="2642625"/>
            <a:ext cx="716462" cy="762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80" name="직선 화살표 연결선 155"/>
          <p:cNvCxnSpPr>
            <a:stCxn id="55" idx="1"/>
            <a:endCxn id="77" idx="4"/>
          </p:cNvCxnSpPr>
          <p:nvPr/>
        </p:nvCxnSpPr>
        <p:spPr bwMode="auto">
          <a:xfrm rot="10800000">
            <a:off x="3494514" y="2650246"/>
            <a:ext cx="720527" cy="58247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82" name="AutoShape 86"/>
          <p:cNvSpPr>
            <a:spLocks noChangeArrowheads="1"/>
          </p:cNvSpPr>
          <p:nvPr/>
        </p:nvSpPr>
        <p:spPr bwMode="auto">
          <a:xfrm>
            <a:off x="1046077" y="140528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온라인정산기본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T_ONLINE_STLM_BASE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85" name="직선 화살표 연결선 84"/>
          <p:cNvCxnSpPr>
            <a:stCxn id="82" idx="3"/>
            <a:endCxn id="114" idx="0"/>
          </p:cNvCxnSpPr>
          <p:nvPr/>
        </p:nvCxnSpPr>
        <p:spPr bwMode="auto">
          <a:xfrm>
            <a:off x="1329446" y="1893040"/>
            <a:ext cx="0" cy="2933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4" name="Rectangle 49"/>
          <p:cNvSpPr>
            <a:spLocks noChangeArrowheads="1"/>
          </p:cNvSpPr>
          <p:nvPr/>
        </p:nvSpPr>
        <p:spPr bwMode="gray">
          <a:xfrm>
            <a:off x="406191" y="2186438"/>
            <a:ext cx="1846509" cy="46384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1. </a:t>
            </a:r>
            <a:r>
              <a:rPr lang="ko-KR" altLang="en-US" sz="800" dirty="0" smtClean="0">
                <a:latin typeface="+mn-ea"/>
                <a:ea typeface="+mn-ea"/>
              </a:rPr>
              <a:t>정산서 미 </a:t>
            </a:r>
            <a:r>
              <a:rPr lang="ko-KR" altLang="en-US" sz="800" dirty="0" err="1" smtClean="0">
                <a:latin typeface="+mn-ea"/>
                <a:ea typeface="+mn-ea"/>
              </a:rPr>
              <a:t>포함시</a:t>
            </a:r>
            <a:r>
              <a:rPr lang="ko-KR" altLang="en-US" sz="800" dirty="0" smtClean="0">
                <a:latin typeface="+mn-ea"/>
                <a:ea typeface="+mn-ea"/>
              </a:rPr>
              <a:t> 이월 등록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- </a:t>
            </a:r>
            <a:r>
              <a:rPr lang="ko-KR" altLang="en-US" sz="800" dirty="0" err="1" smtClean="0">
                <a:latin typeface="+mn-ea"/>
                <a:ea typeface="+mn-ea"/>
              </a:rPr>
              <a:t>마지막일자에</a:t>
            </a:r>
            <a:r>
              <a:rPr lang="ko-KR" altLang="en-US" sz="800" dirty="0" smtClean="0">
                <a:latin typeface="+mn-ea"/>
                <a:ea typeface="+mn-ea"/>
              </a:rPr>
              <a:t> 판매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 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판매반품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- </a:t>
            </a:r>
            <a:r>
              <a:rPr lang="ko-KR" altLang="en-US" sz="800" dirty="0" smtClean="0">
                <a:latin typeface="+mn-ea"/>
                <a:ea typeface="+mn-ea"/>
              </a:rPr>
              <a:t>익월 </a:t>
            </a:r>
            <a:r>
              <a:rPr lang="en-US" altLang="ko-KR" sz="800" dirty="0" smtClean="0">
                <a:latin typeface="+mn-ea"/>
                <a:ea typeface="+mn-ea"/>
              </a:rPr>
              <a:t>1</a:t>
            </a:r>
            <a:r>
              <a:rPr lang="ko-KR" altLang="en-US" sz="800" dirty="0" smtClean="0">
                <a:latin typeface="+mn-ea"/>
                <a:ea typeface="+mn-ea"/>
              </a:rPr>
              <a:t>일에 </a:t>
            </a:r>
            <a:r>
              <a:rPr lang="ko-KR" altLang="en-US" sz="800" dirty="0" smtClean="0">
                <a:latin typeface="+mn-ea"/>
                <a:ea typeface="+mn-ea"/>
              </a:rPr>
              <a:t>판매 재 등록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15" name="Rectangle 49"/>
          <p:cNvSpPr>
            <a:spLocks noChangeArrowheads="1"/>
          </p:cNvSpPr>
          <p:nvPr/>
        </p:nvSpPr>
        <p:spPr bwMode="gray">
          <a:xfrm>
            <a:off x="410863" y="2948970"/>
            <a:ext cx="1841837" cy="71006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2. </a:t>
            </a:r>
            <a:r>
              <a:rPr lang="en-US" altLang="ko-KR" sz="800" dirty="0" smtClean="0">
                <a:latin typeface="+mn-ea"/>
                <a:ea typeface="+mn-ea"/>
              </a:rPr>
              <a:t>BO </a:t>
            </a:r>
            <a:r>
              <a:rPr lang="ko-KR" altLang="en-US" sz="800" dirty="0" smtClean="0">
                <a:latin typeface="+mn-ea"/>
                <a:ea typeface="+mn-ea"/>
              </a:rPr>
              <a:t>와</a:t>
            </a:r>
            <a:r>
              <a:rPr lang="ko-KR" altLang="en-US" sz="800" dirty="0" smtClean="0">
                <a:latin typeface="+mn-ea"/>
                <a:ea typeface="+mn-ea"/>
              </a:rPr>
              <a:t> 정산서 모두 존재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2-1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) 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정산서 수량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 X, 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금액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O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- </a:t>
            </a:r>
            <a:r>
              <a:rPr lang="ko-KR" altLang="en-US" sz="800" dirty="0" smtClean="0">
                <a:latin typeface="+mn-ea"/>
                <a:ea typeface="+mn-ea"/>
              </a:rPr>
              <a:t>마지막 일자로 </a:t>
            </a:r>
            <a:r>
              <a:rPr lang="ko-KR" altLang="en-US" sz="800" dirty="0" err="1" smtClean="0">
                <a:latin typeface="+mn-ea"/>
                <a:ea typeface="+mn-ea"/>
              </a:rPr>
              <a:t>가품번</a:t>
            </a:r>
            <a:r>
              <a:rPr lang="ko-KR" altLang="en-US" sz="800" dirty="0" smtClean="0">
                <a:latin typeface="+mn-ea"/>
                <a:ea typeface="+mn-ea"/>
              </a:rPr>
              <a:t> 금액 등록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 </a:t>
            </a:r>
            <a:r>
              <a:rPr lang="en-US" altLang="ko-KR" sz="800" dirty="0" smtClean="0">
                <a:latin typeface="+mn-ea"/>
                <a:ea typeface="+mn-ea"/>
              </a:rPr>
              <a:t>2-2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) </a:t>
            </a:r>
            <a:r>
              <a:rPr lang="ko-KR" altLang="en-US" sz="800" dirty="0">
                <a:latin typeface="+mn-ea"/>
                <a:ea typeface="+mn-ea"/>
                <a:sym typeface="Wingdings" panose="05000000000000000000" pitchFamily="2" charset="2"/>
              </a:rPr>
              <a:t>정산서 수량</a:t>
            </a:r>
            <a:r>
              <a:rPr lang="en-US" altLang="ko-KR" sz="800" dirty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O, 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금액 불 일치</a:t>
            </a:r>
            <a:endParaRPr lang="en-US" altLang="ko-KR" sz="800" dirty="0" smtClean="0">
              <a:latin typeface="+mn-ea"/>
              <a:ea typeface="+mn-ea"/>
              <a:sym typeface="Wingdings" panose="05000000000000000000" pitchFamily="2" charset="2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  </a:t>
            </a:r>
            <a:r>
              <a:rPr lang="en-US" altLang="ko-KR" sz="800" dirty="0" smtClean="0">
                <a:latin typeface="+mn-ea"/>
                <a:ea typeface="+mn-ea"/>
              </a:rPr>
              <a:t>- </a:t>
            </a:r>
            <a:r>
              <a:rPr lang="ko-KR" altLang="en-US" sz="800" dirty="0" smtClean="0">
                <a:latin typeface="+mn-ea"/>
                <a:ea typeface="+mn-ea"/>
              </a:rPr>
              <a:t>판매일자 차이 금액 등록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16" name="직선 화살표 연결선 115"/>
          <p:cNvCxnSpPr>
            <a:stCxn id="114" idx="2"/>
            <a:endCxn id="115" idx="0"/>
          </p:cNvCxnSpPr>
          <p:nvPr/>
        </p:nvCxnSpPr>
        <p:spPr bwMode="auto">
          <a:xfrm>
            <a:off x="1329446" y="2650284"/>
            <a:ext cx="2336" cy="29868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7" name="Rectangle 49"/>
          <p:cNvSpPr>
            <a:spLocks noChangeArrowheads="1"/>
          </p:cNvSpPr>
          <p:nvPr/>
        </p:nvSpPr>
        <p:spPr bwMode="gray">
          <a:xfrm>
            <a:off x="413179" y="3943360"/>
            <a:ext cx="1839521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3. </a:t>
            </a:r>
            <a:r>
              <a:rPr lang="ko-KR" altLang="en-US" sz="800" dirty="0" smtClean="0">
                <a:latin typeface="+mn-ea"/>
                <a:ea typeface="+mn-ea"/>
              </a:rPr>
              <a:t>주문번호가 없고 금액 존재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- </a:t>
            </a:r>
            <a:r>
              <a:rPr lang="ko-KR" altLang="en-US" sz="800" dirty="0" smtClean="0">
                <a:latin typeface="+mn-ea"/>
                <a:ea typeface="+mn-ea"/>
              </a:rPr>
              <a:t>마지막 일자에 </a:t>
            </a:r>
            <a:r>
              <a:rPr lang="ko-KR" altLang="en-US" sz="800" dirty="0" err="1" smtClean="0">
                <a:latin typeface="+mn-ea"/>
                <a:ea typeface="+mn-ea"/>
              </a:rPr>
              <a:t>가품번</a:t>
            </a:r>
            <a:r>
              <a:rPr lang="ko-KR" altLang="en-US" sz="800" dirty="0" smtClean="0">
                <a:latin typeface="+mn-ea"/>
                <a:ea typeface="+mn-ea"/>
              </a:rPr>
              <a:t> 금액 등록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18" name="직선 화살표 연결선 117"/>
          <p:cNvCxnSpPr>
            <a:stCxn id="115" idx="2"/>
            <a:endCxn id="117" idx="0"/>
          </p:cNvCxnSpPr>
          <p:nvPr/>
        </p:nvCxnSpPr>
        <p:spPr bwMode="auto">
          <a:xfrm>
            <a:off x="1331782" y="3659037"/>
            <a:ext cx="1158" cy="28432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2" name="TextBox 94"/>
          <p:cNvSpPr txBox="1">
            <a:spLocks noChangeArrowheads="1"/>
          </p:cNvSpPr>
          <p:nvPr/>
        </p:nvSpPr>
        <p:spPr bwMode="auto">
          <a:xfrm>
            <a:off x="573933" y="1043735"/>
            <a:ext cx="1363732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SP_ONLINE_STLM_BASE</a:t>
            </a:r>
          </a:p>
          <a:p>
            <a:pPr algn="ctr"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 smtClean="0">
                <a:latin typeface="+mn-ea"/>
                <a:ea typeface="+mn-ea"/>
              </a:rPr>
              <a:t>(</a:t>
            </a:r>
            <a:r>
              <a:rPr lang="ko-KR" altLang="en-US" sz="800" b="1" dirty="0" err="1" smtClean="0">
                <a:latin typeface="+mn-ea"/>
                <a:ea typeface="+mn-ea"/>
              </a:rPr>
              <a:t>제휴몰</a:t>
            </a:r>
            <a:r>
              <a:rPr lang="ko-KR" altLang="en-US" sz="800" b="1" dirty="0" smtClean="0">
                <a:latin typeface="+mn-ea"/>
                <a:ea typeface="+mn-ea"/>
              </a:rPr>
              <a:t> 정산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30" name="Rectangle 49"/>
          <p:cNvSpPr>
            <a:spLocks noChangeArrowheads="1"/>
          </p:cNvSpPr>
          <p:nvPr/>
        </p:nvSpPr>
        <p:spPr bwMode="gray">
          <a:xfrm>
            <a:off x="413179" y="4557382"/>
            <a:ext cx="1839521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4</a:t>
            </a:r>
            <a:r>
              <a:rPr lang="en-US" altLang="ko-KR" sz="800" dirty="0" smtClean="0">
                <a:latin typeface="+mn-ea"/>
                <a:ea typeface="+mn-ea"/>
              </a:rPr>
              <a:t> </a:t>
            </a:r>
            <a:r>
              <a:rPr lang="ko-KR" altLang="en-US" sz="800" dirty="0" smtClean="0">
                <a:latin typeface="+mn-ea"/>
                <a:ea typeface="+mn-ea"/>
              </a:rPr>
              <a:t>주문번호가 정산서 만 존재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- </a:t>
            </a:r>
            <a:r>
              <a:rPr lang="ko-KR" altLang="en-US" sz="800" dirty="0" smtClean="0">
                <a:latin typeface="+mn-ea"/>
                <a:ea typeface="+mn-ea"/>
              </a:rPr>
              <a:t>마지막 일자에 </a:t>
            </a:r>
            <a:r>
              <a:rPr lang="ko-KR" altLang="en-US" sz="800" dirty="0" err="1" smtClean="0">
                <a:latin typeface="+mn-ea"/>
                <a:ea typeface="+mn-ea"/>
              </a:rPr>
              <a:t>가품번</a:t>
            </a:r>
            <a:r>
              <a:rPr lang="ko-KR" altLang="en-US" sz="800" dirty="0" smtClean="0">
                <a:latin typeface="+mn-ea"/>
                <a:ea typeface="+mn-ea"/>
              </a:rPr>
              <a:t> 금액 등록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31" name="직선 화살표 연결선 130"/>
          <p:cNvCxnSpPr>
            <a:stCxn id="117" idx="2"/>
            <a:endCxn id="130" idx="0"/>
          </p:cNvCxnSpPr>
          <p:nvPr/>
        </p:nvCxnSpPr>
        <p:spPr bwMode="auto">
          <a:xfrm>
            <a:off x="1332940" y="4284095"/>
            <a:ext cx="0" cy="27328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7" name="AutoShape 86"/>
          <p:cNvSpPr>
            <a:spLocks noChangeArrowheads="1"/>
          </p:cNvSpPr>
          <p:nvPr/>
        </p:nvSpPr>
        <p:spPr bwMode="auto">
          <a:xfrm>
            <a:off x="1394201" y="582156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매장수불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T_SHOP_RNDS_BASE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38" name="직선 화살표 연결선 155"/>
          <p:cNvCxnSpPr>
            <a:stCxn id="146" idx="2"/>
            <a:endCxn id="139" idx="1"/>
          </p:cNvCxnSpPr>
          <p:nvPr/>
        </p:nvCxnSpPr>
        <p:spPr bwMode="auto">
          <a:xfrm rot="5400000">
            <a:off x="942841" y="5434957"/>
            <a:ext cx="322332" cy="45087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39" name="AutoShape 86"/>
          <p:cNvSpPr>
            <a:spLocks noChangeArrowheads="1"/>
          </p:cNvSpPr>
          <p:nvPr/>
        </p:nvSpPr>
        <p:spPr bwMode="auto">
          <a:xfrm>
            <a:off x="595198" y="582156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판매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T_SALE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780446" y="5106666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판매실적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cxnSp>
        <p:nvCxnSpPr>
          <p:cNvPr id="147" name="직선 화살표 연결선 155"/>
          <p:cNvCxnSpPr>
            <a:stCxn id="146" idx="2"/>
            <a:endCxn id="137" idx="1"/>
          </p:cNvCxnSpPr>
          <p:nvPr/>
        </p:nvCxnSpPr>
        <p:spPr bwMode="auto">
          <a:xfrm rot="16200000" flipH="1">
            <a:off x="1342342" y="5486334"/>
            <a:ext cx="322332" cy="34812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54" name="AutoShape 86"/>
          <p:cNvSpPr>
            <a:spLocks noChangeArrowheads="1"/>
          </p:cNvSpPr>
          <p:nvPr/>
        </p:nvSpPr>
        <p:spPr bwMode="auto">
          <a:xfrm>
            <a:off x="8323842" y="148812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>
                <a:latin typeface="+mn-ea"/>
                <a:ea typeface="+mn-ea"/>
              </a:rPr>
              <a:t>온라인정산기본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T_ONLINE_STLM_BASE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55" name="직선 화살표 연결선 154"/>
          <p:cNvCxnSpPr>
            <a:stCxn id="154" idx="3"/>
            <a:endCxn id="156" idx="0"/>
          </p:cNvCxnSpPr>
          <p:nvPr/>
        </p:nvCxnSpPr>
        <p:spPr bwMode="auto">
          <a:xfrm flipH="1">
            <a:off x="8606520" y="1975887"/>
            <a:ext cx="691" cy="18832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6" name="Rectangle 49"/>
          <p:cNvSpPr>
            <a:spLocks noChangeArrowheads="1"/>
          </p:cNvSpPr>
          <p:nvPr/>
        </p:nvSpPr>
        <p:spPr bwMode="gray">
          <a:xfrm>
            <a:off x="7624525" y="2164213"/>
            <a:ext cx="1963990" cy="5869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1. </a:t>
            </a:r>
            <a:r>
              <a:rPr lang="ko-KR" altLang="en-US" sz="800" dirty="0" smtClean="0">
                <a:latin typeface="+mn-ea"/>
                <a:ea typeface="+mn-ea"/>
              </a:rPr>
              <a:t>정산서 미 </a:t>
            </a:r>
            <a:r>
              <a:rPr lang="ko-KR" altLang="en-US" sz="800" dirty="0" err="1" smtClean="0">
                <a:latin typeface="+mn-ea"/>
                <a:ea typeface="+mn-ea"/>
              </a:rPr>
              <a:t>포함시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 1) </a:t>
            </a:r>
            <a:r>
              <a:rPr lang="ko-KR" altLang="en-US" sz="800" dirty="0" smtClean="0">
                <a:latin typeface="+mn-ea"/>
                <a:ea typeface="+mn-ea"/>
              </a:rPr>
              <a:t>주문번호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주문순번의 금액 합이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0 </a:t>
            </a:r>
            <a:r>
              <a:rPr lang="ko-KR" altLang="en-US" sz="800" dirty="0" smtClean="0">
                <a:latin typeface="+mn-ea"/>
                <a:ea typeface="+mn-ea"/>
              </a:rPr>
              <a:t>이면 최종 발생일자로 확정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2) </a:t>
            </a:r>
            <a:r>
              <a:rPr lang="ko-KR" altLang="en-US" sz="800" dirty="0" smtClean="0">
                <a:latin typeface="+mn-ea"/>
                <a:ea typeface="+mn-ea"/>
              </a:rPr>
              <a:t>그 외 </a:t>
            </a:r>
            <a:r>
              <a:rPr lang="en-US" altLang="ko-KR" sz="800" dirty="0" smtClean="0">
                <a:latin typeface="+mn-ea"/>
                <a:ea typeface="+mn-ea"/>
              </a:rPr>
              <a:t>SKIP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57" name="Rectangle 49"/>
          <p:cNvSpPr>
            <a:spLocks noChangeArrowheads="1"/>
          </p:cNvSpPr>
          <p:nvPr/>
        </p:nvSpPr>
        <p:spPr bwMode="gray">
          <a:xfrm>
            <a:off x="7629197" y="2977636"/>
            <a:ext cx="1959318" cy="15718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2. </a:t>
            </a:r>
            <a:r>
              <a:rPr lang="ko-KR" altLang="en-US" sz="800" dirty="0" smtClean="0">
                <a:latin typeface="+mn-ea"/>
                <a:ea typeface="+mn-ea"/>
              </a:rPr>
              <a:t>주문 판매내역</a:t>
            </a:r>
            <a:r>
              <a:rPr lang="en-US" altLang="ko-KR" sz="800" dirty="0" smtClean="0">
                <a:latin typeface="+mn-ea"/>
                <a:ea typeface="+mn-ea"/>
              </a:rPr>
              <a:t>,</a:t>
            </a:r>
            <a:r>
              <a:rPr lang="en-US" altLang="ko-KR" sz="800" dirty="0" smtClean="0">
                <a:latin typeface="+mn-ea"/>
                <a:ea typeface="+mn-ea"/>
              </a:rPr>
              <a:t> </a:t>
            </a:r>
            <a:r>
              <a:rPr lang="ko-KR" altLang="en-US" sz="800" dirty="0" smtClean="0">
                <a:latin typeface="+mn-ea"/>
                <a:ea typeface="+mn-ea"/>
              </a:rPr>
              <a:t>정산서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r>
              <a:rPr lang="ko-KR" altLang="en-US" sz="800" dirty="0" err="1" smtClean="0">
                <a:latin typeface="+mn-ea"/>
                <a:ea typeface="+mn-ea"/>
              </a:rPr>
              <a:t>매칭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O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2-1) </a:t>
            </a:r>
            <a:r>
              <a:rPr lang="ko-KR" altLang="en-US" sz="800" dirty="0" smtClean="0">
                <a:latin typeface="+mn-ea"/>
                <a:ea typeface="+mn-ea"/>
              </a:rPr>
              <a:t>주문금액 </a:t>
            </a:r>
            <a:r>
              <a:rPr lang="en-US" altLang="ko-KR" sz="800" dirty="0" smtClean="0">
                <a:latin typeface="+mn-ea"/>
                <a:ea typeface="+mn-ea"/>
              </a:rPr>
              <a:t>&lt;&gt; </a:t>
            </a:r>
            <a:r>
              <a:rPr lang="ko-KR" altLang="en-US" sz="800" dirty="0" smtClean="0">
                <a:latin typeface="+mn-ea"/>
                <a:ea typeface="+mn-ea"/>
              </a:rPr>
              <a:t>정산금액 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1) </a:t>
            </a:r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정산 월 이전 정산내역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X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 - </a:t>
            </a:r>
            <a:r>
              <a:rPr lang="ko-KR" altLang="en-US" sz="800" dirty="0" smtClean="0">
                <a:latin typeface="+mn-ea"/>
                <a:ea typeface="+mn-ea"/>
              </a:rPr>
              <a:t>정산서 구매 확정일로 정산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2) </a:t>
            </a:r>
            <a:r>
              <a:rPr lang="ko-KR" altLang="en-US" sz="800" dirty="0" smtClean="0">
                <a:latin typeface="+mn-ea"/>
                <a:ea typeface="+mn-ea"/>
              </a:rPr>
              <a:t>정산 월 </a:t>
            </a:r>
            <a:r>
              <a:rPr lang="ko-KR" altLang="en-US" sz="800" dirty="0">
                <a:latin typeface="+mn-ea"/>
                <a:ea typeface="+mn-ea"/>
              </a:rPr>
              <a:t>이전 정산내역 </a:t>
            </a:r>
            <a:r>
              <a:rPr lang="en-US" altLang="ko-KR" sz="800" dirty="0" smtClean="0">
                <a:latin typeface="+mn-ea"/>
                <a:ea typeface="+mn-ea"/>
              </a:rPr>
              <a:t>O </a:t>
            </a: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 - </a:t>
            </a:r>
            <a:r>
              <a:rPr lang="ko-KR" altLang="en-US" sz="800" dirty="0" smtClean="0">
                <a:latin typeface="+mn-ea"/>
                <a:ea typeface="+mn-ea"/>
              </a:rPr>
              <a:t>정산금액 만 마지막 일자</a:t>
            </a:r>
            <a:r>
              <a:rPr lang="en-US" altLang="ko-KR" sz="800" dirty="0" smtClean="0">
                <a:latin typeface="+mn-ea"/>
                <a:ea typeface="+mn-ea"/>
              </a:rPr>
              <a:t> </a:t>
            </a:r>
            <a:r>
              <a:rPr lang="ko-KR" altLang="en-US" sz="800" dirty="0" smtClean="0">
                <a:latin typeface="+mn-ea"/>
                <a:ea typeface="+mn-ea"/>
              </a:rPr>
              <a:t>구매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   </a:t>
            </a:r>
            <a:r>
              <a:rPr lang="ko-KR" altLang="en-US" sz="800" dirty="0" smtClean="0">
                <a:latin typeface="+mn-ea"/>
                <a:ea typeface="+mn-ea"/>
              </a:rPr>
              <a:t>확정 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2-2) </a:t>
            </a:r>
            <a:r>
              <a:rPr lang="ko-KR" altLang="en-US" sz="800" dirty="0">
                <a:latin typeface="+mn-ea"/>
                <a:ea typeface="+mn-ea"/>
              </a:rPr>
              <a:t>구매금액 </a:t>
            </a:r>
            <a:r>
              <a:rPr lang="en-US" altLang="ko-KR" sz="800" dirty="0" smtClean="0">
                <a:latin typeface="+mn-ea"/>
                <a:ea typeface="+mn-ea"/>
              </a:rPr>
              <a:t>= </a:t>
            </a:r>
            <a:r>
              <a:rPr lang="ko-KR" altLang="en-US" sz="800" dirty="0">
                <a:latin typeface="+mn-ea"/>
                <a:ea typeface="+mn-ea"/>
              </a:rPr>
              <a:t>정산금액</a:t>
            </a:r>
            <a:r>
              <a:rPr lang="en-US" altLang="ko-KR" sz="800" dirty="0" smtClean="0">
                <a:latin typeface="+mn-ea"/>
                <a:ea typeface="+mn-ea"/>
              </a:rPr>
              <a:t> </a:t>
            </a:r>
          </a:p>
          <a:p>
            <a:r>
              <a:rPr lang="en-US" altLang="ko-KR" sz="800" dirty="0">
                <a:latin typeface="+mn-ea"/>
                <a:ea typeface="+mn-ea"/>
              </a:rPr>
              <a:t>      1) </a:t>
            </a:r>
            <a:r>
              <a:rPr lang="ko-KR" altLang="en-US" sz="800" dirty="0">
                <a:latin typeface="+mn-ea"/>
                <a:ea typeface="+mn-ea"/>
              </a:rPr>
              <a:t>정산 월 이전 정산내역 </a:t>
            </a:r>
            <a:r>
              <a:rPr lang="en-US" altLang="ko-KR" sz="800" dirty="0" smtClean="0">
                <a:latin typeface="+mn-ea"/>
                <a:ea typeface="+mn-ea"/>
              </a:rPr>
              <a:t>X</a:t>
            </a: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 - </a:t>
            </a:r>
            <a:r>
              <a:rPr lang="ko-KR" altLang="en-US" sz="800" dirty="0" smtClean="0">
                <a:latin typeface="+mn-ea"/>
                <a:ea typeface="+mn-ea"/>
              </a:rPr>
              <a:t>정산일자로 구매 확정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     2</a:t>
            </a:r>
            <a:r>
              <a:rPr lang="en-US" altLang="ko-KR" sz="800" dirty="0">
                <a:latin typeface="+mn-ea"/>
                <a:ea typeface="+mn-ea"/>
              </a:rPr>
              <a:t>) </a:t>
            </a:r>
            <a:r>
              <a:rPr lang="ko-KR" altLang="en-US" sz="800" dirty="0">
                <a:latin typeface="+mn-ea"/>
                <a:ea typeface="+mn-ea"/>
              </a:rPr>
              <a:t>정산 월 이전 정산내역 </a:t>
            </a:r>
            <a:r>
              <a:rPr lang="en-US" altLang="ko-KR" sz="800" dirty="0">
                <a:latin typeface="+mn-ea"/>
                <a:ea typeface="+mn-ea"/>
              </a:rPr>
              <a:t>O </a:t>
            </a:r>
          </a:p>
          <a:p>
            <a:r>
              <a:rPr lang="en-US" altLang="ko-KR" sz="800" dirty="0">
                <a:latin typeface="+mn-ea"/>
                <a:ea typeface="+mn-ea"/>
              </a:rPr>
              <a:t>      </a:t>
            </a:r>
            <a:r>
              <a:rPr lang="en-US" altLang="ko-KR" sz="800" dirty="0" smtClean="0">
                <a:latin typeface="+mn-ea"/>
                <a:ea typeface="+mn-ea"/>
              </a:rPr>
              <a:t>- </a:t>
            </a:r>
            <a:r>
              <a:rPr lang="ko-KR" altLang="en-US" sz="800" dirty="0" smtClean="0">
                <a:latin typeface="+mn-ea"/>
                <a:ea typeface="+mn-ea"/>
              </a:rPr>
              <a:t>구매 확정 </a:t>
            </a:r>
            <a:r>
              <a:rPr lang="en-US" altLang="ko-KR" sz="800" dirty="0" smtClean="0">
                <a:latin typeface="+mn-ea"/>
                <a:ea typeface="+mn-ea"/>
              </a:rPr>
              <a:t>SKIP(</a:t>
            </a:r>
            <a:r>
              <a:rPr lang="ko-KR" altLang="en-US" sz="800" dirty="0" smtClean="0">
                <a:latin typeface="+mn-ea"/>
                <a:ea typeface="+mn-ea"/>
              </a:rPr>
              <a:t>종결</a:t>
            </a:r>
            <a:r>
              <a:rPr lang="en-US" altLang="ko-KR" sz="800" dirty="0" smtClean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58" name="직선 화살표 연결선 157"/>
          <p:cNvCxnSpPr>
            <a:stCxn id="156" idx="2"/>
            <a:endCxn id="157" idx="0"/>
          </p:cNvCxnSpPr>
          <p:nvPr/>
        </p:nvCxnSpPr>
        <p:spPr bwMode="auto">
          <a:xfrm>
            <a:off x="8606520" y="2751170"/>
            <a:ext cx="2336" cy="22646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9" name="Rectangle 49"/>
          <p:cNvSpPr>
            <a:spLocks noChangeArrowheads="1"/>
          </p:cNvSpPr>
          <p:nvPr/>
        </p:nvSpPr>
        <p:spPr bwMode="gray">
          <a:xfrm>
            <a:off x="7631513" y="4739511"/>
            <a:ext cx="1957002" cy="71006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3. </a:t>
            </a:r>
            <a:r>
              <a:rPr lang="ko-KR" altLang="en-US" sz="800" dirty="0">
                <a:latin typeface="+mn-ea"/>
                <a:ea typeface="+mn-ea"/>
              </a:rPr>
              <a:t>주문 판매내역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정산서 </a:t>
            </a:r>
            <a:r>
              <a:rPr lang="ko-KR" altLang="en-US" sz="800" dirty="0" err="1">
                <a:latin typeface="+mn-ea"/>
                <a:ea typeface="+mn-ea"/>
              </a:rPr>
              <a:t>매칭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X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3</a:t>
            </a:r>
            <a:r>
              <a:rPr lang="en-US" altLang="ko-KR" sz="800" dirty="0" smtClean="0">
                <a:latin typeface="+mn-ea"/>
                <a:ea typeface="+mn-ea"/>
              </a:rPr>
              <a:t>-1</a:t>
            </a:r>
            <a:r>
              <a:rPr lang="en-US" altLang="ko-KR" sz="800" dirty="0">
                <a:latin typeface="+mn-ea"/>
                <a:ea typeface="+mn-ea"/>
              </a:rPr>
              <a:t>) </a:t>
            </a:r>
            <a:r>
              <a:rPr lang="ko-KR" altLang="en-US" sz="800" dirty="0">
                <a:latin typeface="+mn-ea"/>
                <a:ea typeface="+mn-ea"/>
              </a:rPr>
              <a:t>주문금액 </a:t>
            </a:r>
            <a:r>
              <a:rPr lang="en-US" altLang="ko-KR" sz="800" dirty="0">
                <a:latin typeface="+mn-ea"/>
                <a:ea typeface="+mn-ea"/>
              </a:rPr>
              <a:t>&lt;&gt; </a:t>
            </a:r>
            <a:r>
              <a:rPr lang="ko-KR" altLang="en-US" sz="800" dirty="0" smtClean="0">
                <a:latin typeface="+mn-ea"/>
                <a:ea typeface="+mn-ea"/>
              </a:rPr>
              <a:t>정산금액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- </a:t>
            </a:r>
            <a:r>
              <a:rPr lang="ko-KR" altLang="en-US" sz="800" dirty="0" smtClean="0">
                <a:latin typeface="+mn-ea"/>
                <a:ea typeface="+mn-ea"/>
              </a:rPr>
              <a:t>마지막 일자로 </a:t>
            </a:r>
            <a:r>
              <a:rPr lang="ko-KR" altLang="en-US" sz="800" dirty="0" err="1" smtClean="0">
                <a:latin typeface="+mn-ea"/>
                <a:ea typeface="+mn-ea"/>
              </a:rPr>
              <a:t>가품번</a:t>
            </a:r>
            <a:r>
              <a:rPr lang="ko-KR" altLang="en-US" sz="800" dirty="0" smtClean="0">
                <a:latin typeface="+mn-ea"/>
                <a:ea typeface="+mn-ea"/>
              </a:rPr>
              <a:t> 금액 등록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3-2) </a:t>
            </a:r>
            <a:r>
              <a:rPr lang="ko-KR" altLang="en-US" sz="800" dirty="0" smtClean="0">
                <a:latin typeface="+mn-ea"/>
                <a:ea typeface="+mn-ea"/>
              </a:rPr>
              <a:t>주문금액 </a:t>
            </a:r>
            <a:r>
              <a:rPr lang="en-US" altLang="ko-KR" sz="800" dirty="0" smtClean="0">
                <a:latin typeface="+mn-ea"/>
                <a:ea typeface="+mn-ea"/>
              </a:rPr>
              <a:t>= </a:t>
            </a:r>
            <a:r>
              <a:rPr lang="ko-KR" altLang="en-US" sz="800" dirty="0" smtClean="0">
                <a:latin typeface="+mn-ea"/>
                <a:ea typeface="+mn-ea"/>
              </a:rPr>
              <a:t>정산금액 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- </a:t>
            </a:r>
            <a:r>
              <a:rPr lang="ko-KR" altLang="en-US" sz="800" dirty="0" smtClean="0">
                <a:latin typeface="+mn-ea"/>
                <a:ea typeface="+mn-ea"/>
              </a:rPr>
              <a:t>구매 확정 </a:t>
            </a:r>
            <a:r>
              <a:rPr lang="en-US" altLang="ko-KR" sz="800" dirty="0" smtClean="0">
                <a:latin typeface="+mn-ea"/>
                <a:ea typeface="+mn-ea"/>
              </a:rPr>
              <a:t>SKIP(</a:t>
            </a:r>
            <a:r>
              <a:rPr lang="ko-KR" altLang="en-US" sz="800" dirty="0" smtClean="0">
                <a:latin typeface="+mn-ea"/>
                <a:ea typeface="+mn-ea"/>
              </a:rPr>
              <a:t>종결</a:t>
            </a:r>
            <a:r>
              <a:rPr lang="en-US" altLang="ko-KR" sz="800" dirty="0" smtClean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60" name="직선 화살표 연결선 159"/>
          <p:cNvCxnSpPr>
            <a:stCxn id="157" idx="2"/>
            <a:endCxn id="159" idx="0"/>
          </p:cNvCxnSpPr>
          <p:nvPr/>
        </p:nvCxnSpPr>
        <p:spPr bwMode="auto">
          <a:xfrm>
            <a:off x="8608856" y="4549478"/>
            <a:ext cx="1158" cy="19003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1" name="Rectangle 49"/>
          <p:cNvSpPr>
            <a:spLocks noChangeArrowheads="1"/>
          </p:cNvSpPr>
          <p:nvPr/>
        </p:nvSpPr>
        <p:spPr bwMode="gray">
          <a:xfrm>
            <a:off x="7631513" y="5689263"/>
            <a:ext cx="1957002" cy="71006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4</a:t>
            </a:r>
            <a:r>
              <a:rPr lang="en-US" altLang="ko-KR" sz="800" dirty="0" smtClean="0">
                <a:latin typeface="+mn-ea"/>
                <a:ea typeface="+mn-ea"/>
              </a:rPr>
              <a:t> </a:t>
            </a:r>
            <a:r>
              <a:rPr lang="ko-KR" altLang="en-US" sz="800" dirty="0" smtClean="0">
                <a:latin typeface="+mn-ea"/>
                <a:ea typeface="+mn-ea"/>
              </a:rPr>
              <a:t>주문번호 </a:t>
            </a:r>
            <a:r>
              <a:rPr lang="en-US" altLang="ko-KR" sz="800" dirty="0" smtClean="0">
                <a:latin typeface="+mn-ea"/>
                <a:ea typeface="+mn-ea"/>
              </a:rPr>
              <a:t>X OR </a:t>
            </a:r>
            <a:r>
              <a:rPr lang="ko-KR" altLang="en-US" sz="800" dirty="0" smtClean="0">
                <a:latin typeface="+mn-ea"/>
                <a:ea typeface="+mn-ea"/>
              </a:rPr>
              <a:t>정산 수량 </a:t>
            </a:r>
            <a:r>
              <a:rPr lang="en-US" altLang="ko-KR" sz="800" dirty="0" smtClean="0">
                <a:latin typeface="+mn-ea"/>
                <a:ea typeface="+mn-ea"/>
              </a:rPr>
              <a:t>= 0</a:t>
            </a: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4-1) </a:t>
            </a:r>
            <a:r>
              <a:rPr lang="ko-KR" altLang="en-US" sz="800" dirty="0" err="1" smtClean="0">
                <a:latin typeface="+mn-ea"/>
                <a:ea typeface="+mn-ea"/>
              </a:rPr>
              <a:t>매장별</a:t>
            </a:r>
            <a:r>
              <a:rPr lang="ko-KR" altLang="en-US" sz="800" dirty="0" smtClean="0">
                <a:latin typeface="+mn-ea"/>
                <a:ea typeface="+mn-ea"/>
              </a:rPr>
              <a:t> 정산금액 합 </a:t>
            </a:r>
            <a:r>
              <a:rPr lang="en-US" altLang="ko-KR" sz="800" dirty="0" smtClean="0">
                <a:latin typeface="+mn-ea"/>
                <a:ea typeface="+mn-ea"/>
              </a:rPr>
              <a:t>!=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0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    - </a:t>
            </a:r>
            <a:r>
              <a:rPr lang="ko-KR" altLang="en-US" sz="800" dirty="0" err="1" smtClean="0">
                <a:latin typeface="+mn-ea"/>
                <a:ea typeface="+mn-ea"/>
              </a:rPr>
              <a:t>마지막일자에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r>
              <a:rPr lang="ko-KR" altLang="en-US" sz="800" dirty="0" err="1" smtClean="0">
                <a:latin typeface="+mn-ea"/>
                <a:ea typeface="+mn-ea"/>
              </a:rPr>
              <a:t>가품번</a:t>
            </a:r>
            <a:r>
              <a:rPr lang="ko-KR" altLang="en-US" sz="800" dirty="0" smtClean="0">
                <a:latin typeface="+mn-ea"/>
                <a:ea typeface="+mn-ea"/>
              </a:rPr>
              <a:t> 금액 등록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4-2) </a:t>
            </a:r>
            <a:r>
              <a:rPr lang="ko-KR" altLang="en-US" sz="800" dirty="0" err="1">
                <a:latin typeface="+mn-ea"/>
                <a:ea typeface="+mn-ea"/>
              </a:rPr>
              <a:t>매장별</a:t>
            </a:r>
            <a:r>
              <a:rPr lang="ko-KR" altLang="en-US" sz="800" dirty="0">
                <a:latin typeface="+mn-ea"/>
                <a:ea typeface="+mn-ea"/>
              </a:rPr>
              <a:t> 정산금액 합 </a:t>
            </a:r>
            <a:r>
              <a:rPr lang="en-US" altLang="ko-KR" sz="800" dirty="0" smtClean="0">
                <a:latin typeface="+mn-ea"/>
                <a:ea typeface="+mn-ea"/>
              </a:rPr>
              <a:t>=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0</a:t>
            </a: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- </a:t>
            </a:r>
            <a:r>
              <a:rPr lang="ko-KR" altLang="en-US" sz="800" dirty="0" smtClean="0">
                <a:latin typeface="+mn-ea"/>
                <a:ea typeface="+mn-ea"/>
              </a:rPr>
              <a:t>구매 확정 </a:t>
            </a:r>
            <a:r>
              <a:rPr lang="en-US" altLang="ko-KR" sz="800" dirty="0" smtClean="0">
                <a:latin typeface="+mn-ea"/>
                <a:ea typeface="+mn-ea"/>
              </a:rPr>
              <a:t>SKIP(</a:t>
            </a:r>
            <a:r>
              <a:rPr lang="ko-KR" altLang="en-US" sz="800" dirty="0" smtClean="0">
                <a:latin typeface="+mn-ea"/>
                <a:ea typeface="+mn-ea"/>
              </a:rPr>
              <a:t>종결</a:t>
            </a:r>
            <a:r>
              <a:rPr lang="en-US" altLang="ko-KR" sz="800" dirty="0" smtClean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62" name="직선 화살표 연결선 161"/>
          <p:cNvCxnSpPr>
            <a:stCxn id="159" idx="2"/>
            <a:endCxn id="161" idx="0"/>
          </p:cNvCxnSpPr>
          <p:nvPr/>
        </p:nvCxnSpPr>
        <p:spPr bwMode="auto">
          <a:xfrm>
            <a:off x="8610014" y="5449578"/>
            <a:ext cx="0" cy="23968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6" name="AutoShape 86"/>
          <p:cNvSpPr>
            <a:spLocks noChangeArrowheads="1"/>
          </p:cNvSpPr>
          <p:nvPr/>
        </p:nvSpPr>
        <p:spPr bwMode="auto">
          <a:xfrm>
            <a:off x="5209585" y="586021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smtClean="0">
                <a:latin typeface="+mn-ea"/>
                <a:ea typeface="+mn-ea"/>
              </a:rPr>
              <a:t>온라인판매</a:t>
            </a:r>
            <a:endParaRPr lang="en-US" altLang="ko-KR" sz="6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600" b="1" dirty="0" smtClean="0">
                <a:latin typeface="+mn-ea"/>
                <a:ea typeface="+mn-ea"/>
              </a:rPr>
              <a:t>T_ONLIE_SALE</a:t>
            </a:r>
            <a:endParaRPr lang="ko-KR" altLang="en-US" sz="600" b="1" dirty="0">
              <a:latin typeface="+mn-ea"/>
              <a:ea typeface="+mn-ea"/>
            </a:endParaRPr>
          </a:p>
        </p:txBody>
      </p:sp>
      <p:cxnSp>
        <p:nvCxnSpPr>
          <p:cNvPr id="167" name="직선 화살표 연결선 155"/>
          <p:cNvCxnSpPr>
            <a:stCxn id="168" idx="1"/>
            <a:endCxn id="166" idx="4"/>
          </p:cNvCxnSpPr>
          <p:nvPr/>
        </p:nvCxnSpPr>
        <p:spPr bwMode="auto">
          <a:xfrm flipH="1" flipV="1">
            <a:off x="5776323" y="6104096"/>
            <a:ext cx="441309" cy="89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25406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168" name="모서리가 둥근 직사각형 167"/>
          <p:cNvSpPr/>
          <p:nvPr/>
        </p:nvSpPr>
        <p:spPr>
          <a:xfrm>
            <a:off x="6217632" y="5916756"/>
            <a:ext cx="1098000" cy="3925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1100" b="1" kern="0" dirty="0" smtClean="0">
                <a:latin typeface="+mn-ea"/>
                <a:ea typeface="+mn-ea"/>
              </a:rPr>
              <a:t>F-ONE </a:t>
            </a: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반품 판매 실적</a:t>
            </a:r>
            <a:endParaRPr lang="en-US" altLang="ko-KR" sz="1100" b="1" kern="0" dirty="0" smtClean="0">
              <a:latin typeface="+mn-ea"/>
              <a:ea typeface="+mn-ea"/>
            </a:endParaRP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2604411" y="1266595"/>
            <a:ext cx="1098000" cy="392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err="1" smtClean="0">
                <a:latin typeface="+mn-ea"/>
                <a:ea typeface="+mn-ea"/>
              </a:rPr>
              <a:t>자사몰</a:t>
            </a:r>
            <a:endParaRPr lang="en-US" altLang="ko-KR" sz="1100" b="1" kern="0" dirty="0" smtClean="0">
              <a:latin typeface="+mn-ea"/>
              <a:ea typeface="+mn-ea"/>
            </a:endParaRPr>
          </a:p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1100" b="1" kern="0" dirty="0" smtClean="0">
                <a:latin typeface="+mn-ea"/>
                <a:ea typeface="+mn-ea"/>
              </a:rPr>
              <a:t>구매확정</a:t>
            </a:r>
            <a:endParaRPr lang="ko-KR" altLang="en-US" sz="1100" b="1" kern="0" dirty="0" smtClean="0">
              <a:latin typeface="+mn-ea"/>
              <a:ea typeface="+mn-ea"/>
            </a:endParaRPr>
          </a:p>
        </p:txBody>
      </p:sp>
      <p:sp>
        <p:nvSpPr>
          <p:cNvPr id="170" name="AutoShape 86"/>
          <p:cNvSpPr>
            <a:spLocks noChangeArrowheads="1"/>
          </p:cNvSpPr>
          <p:nvPr/>
        </p:nvSpPr>
        <p:spPr bwMode="auto">
          <a:xfrm>
            <a:off x="2926091" y="174344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>
                <a:latin typeface="+mn-ea"/>
                <a:ea typeface="+mn-ea"/>
              </a:rPr>
              <a:t>자사몰</a:t>
            </a:r>
            <a:r>
              <a:rPr lang="ko-KR" altLang="en-US" sz="600" b="1" dirty="0">
                <a:latin typeface="+mn-ea"/>
                <a:ea typeface="+mn-ea"/>
              </a:rPr>
              <a:t> 구매확정 </a:t>
            </a:r>
            <a:r>
              <a:rPr lang="en-US" altLang="ko-KR" sz="600" b="1" dirty="0">
                <a:latin typeface="+mn-ea"/>
                <a:ea typeface="+mn-ea"/>
              </a:rPr>
              <a:t>I/F</a:t>
            </a:r>
            <a:r>
              <a:rPr lang="ko-KR" altLang="en-US" sz="600" b="1" dirty="0">
                <a:latin typeface="+mn-ea"/>
                <a:ea typeface="+mn-ea"/>
              </a:rPr>
              <a:t>테이블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(</a:t>
            </a:r>
            <a:r>
              <a:rPr lang="ko-KR" altLang="en-US" sz="600" b="1" dirty="0" err="1">
                <a:latin typeface="+mn-ea"/>
                <a:ea typeface="+mn-ea"/>
              </a:rPr>
              <a:t>굿웨어몰</a:t>
            </a:r>
            <a:r>
              <a:rPr lang="en-US" altLang="ko-KR" sz="600" b="1" dirty="0">
                <a:latin typeface="+mn-ea"/>
                <a:ea typeface="+mn-ea"/>
              </a:rPr>
              <a:t>BO)</a:t>
            </a: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T_GWM_IF_CAL_ORD_CLM_GOD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71" name="AutoShape 86"/>
          <p:cNvSpPr>
            <a:spLocks noChangeArrowheads="1"/>
          </p:cNvSpPr>
          <p:nvPr/>
        </p:nvSpPr>
        <p:spPr bwMode="auto">
          <a:xfrm>
            <a:off x="2749055" y="379633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>
                <a:latin typeface="+mn-ea"/>
                <a:ea typeface="+mn-ea"/>
              </a:rPr>
              <a:t>자사몰</a:t>
            </a:r>
            <a:r>
              <a:rPr lang="ko-KR" altLang="en-US" sz="600" b="1" dirty="0">
                <a:latin typeface="+mn-ea"/>
                <a:ea typeface="+mn-ea"/>
              </a:rPr>
              <a:t> 구매확정 </a:t>
            </a:r>
            <a:r>
              <a:rPr lang="en-US" altLang="ko-KR" sz="600" b="1" dirty="0">
                <a:latin typeface="+mn-ea"/>
                <a:ea typeface="+mn-ea"/>
              </a:rPr>
              <a:t>I/F</a:t>
            </a:r>
            <a:r>
              <a:rPr lang="ko-KR" altLang="en-US" sz="600" b="1" dirty="0">
                <a:latin typeface="+mn-ea"/>
                <a:ea typeface="+mn-ea"/>
              </a:rPr>
              <a:t>테이블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(</a:t>
            </a:r>
            <a:r>
              <a:rPr lang="ko-KR" altLang="en-US" sz="600" b="1" dirty="0" err="1">
                <a:latin typeface="+mn-ea"/>
                <a:ea typeface="+mn-ea"/>
              </a:rPr>
              <a:t>굿웨어몰</a:t>
            </a:r>
            <a:r>
              <a:rPr lang="en-US" altLang="ko-KR" sz="600" b="1" dirty="0">
                <a:latin typeface="+mn-ea"/>
                <a:ea typeface="+mn-ea"/>
              </a:rPr>
              <a:t>BO)</a:t>
            </a: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T_GWM_IF_CAL_ORD_CLM_GOD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73" name="TextBox 94"/>
          <p:cNvSpPr txBox="1">
            <a:spLocks noChangeArrowheads="1"/>
          </p:cNvSpPr>
          <p:nvPr/>
        </p:nvSpPr>
        <p:spPr bwMode="auto">
          <a:xfrm>
            <a:off x="2342710" y="3525676"/>
            <a:ext cx="207023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en-US" altLang="ko-KR" sz="800" b="1" dirty="0">
                <a:latin typeface="+mn-ea"/>
                <a:ea typeface="+mn-ea"/>
              </a:rPr>
              <a:t>SP_GWM_SALE_SHOP_RNDS_CONFIRM</a:t>
            </a:r>
          </a:p>
        </p:txBody>
      </p:sp>
      <p:sp>
        <p:nvSpPr>
          <p:cNvPr id="174" name="Rectangle 49"/>
          <p:cNvSpPr>
            <a:spLocks noChangeArrowheads="1"/>
          </p:cNvSpPr>
          <p:nvPr/>
        </p:nvSpPr>
        <p:spPr bwMode="gray">
          <a:xfrm>
            <a:off x="2437959" y="4556937"/>
            <a:ext cx="1833281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1. </a:t>
            </a:r>
            <a:r>
              <a:rPr lang="ko-KR" altLang="en-US" sz="800" dirty="0" smtClean="0">
                <a:latin typeface="+mn-ea"/>
                <a:ea typeface="+mn-ea"/>
              </a:rPr>
              <a:t>매장수불 결제 기준 내역 삭제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 : DEL Flag </a:t>
            </a:r>
            <a:r>
              <a:rPr lang="ko-KR" altLang="en-US" sz="800" dirty="0" smtClean="0">
                <a:latin typeface="+mn-ea"/>
                <a:ea typeface="+mn-ea"/>
              </a:rPr>
              <a:t>처리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75" name="직선 화살표 연결선 174"/>
          <p:cNvCxnSpPr>
            <a:stCxn id="171" idx="3"/>
            <a:endCxn id="174" idx="0"/>
          </p:cNvCxnSpPr>
          <p:nvPr/>
        </p:nvCxnSpPr>
        <p:spPr bwMode="auto">
          <a:xfrm rot="16200000" flipH="1">
            <a:off x="3057091" y="4259428"/>
            <a:ext cx="272842" cy="32217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0" name="Rectangle 49"/>
          <p:cNvSpPr>
            <a:spLocks noChangeArrowheads="1"/>
          </p:cNvSpPr>
          <p:nvPr/>
        </p:nvSpPr>
        <p:spPr bwMode="gray">
          <a:xfrm>
            <a:off x="2431720" y="5139478"/>
            <a:ext cx="1839521" cy="217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2</a:t>
            </a:r>
            <a:r>
              <a:rPr lang="en-US" altLang="ko-KR" sz="800" dirty="0" smtClean="0">
                <a:latin typeface="+mn-ea"/>
                <a:ea typeface="+mn-ea"/>
              </a:rPr>
              <a:t> </a:t>
            </a:r>
            <a:r>
              <a:rPr lang="ko-KR" altLang="en-US" sz="800" dirty="0" smtClean="0">
                <a:latin typeface="+mn-ea"/>
                <a:ea typeface="+mn-ea"/>
              </a:rPr>
              <a:t>구매 확정 일자로 판매 재 생성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81" name="직선 화살표 연결선 180"/>
          <p:cNvCxnSpPr>
            <a:stCxn id="174" idx="2"/>
            <a:endCxn id="180" idx="0"/>
          </p:cNvCxnSpPr>
          <p:nvPr/>
        </p:nvCxnSpPr>
        <p:spPr bwMode="auto">
          <a:xfrm flipH="1">
            <a:off x="3351481" y="4897672"/>
            <a:ext cx="3119" cy="24180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7" name="AutoShape 86"/>
          <p:cNvSpPr>
            <a:spLocks noChangeArrowheads="1"/>
          </p:cNvSpPr>
          <p:nvPr/>
        </p:nvSpPr>
        <p:spPr bwMode="auto">
          <a:xfrm>
            <a:off x="6281150" y="149963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600" b="1" dirty="0" err="1">
                <a:latin typeface="+mn-ea"/>
                <a:ea typeface="+mn-ea"/>
              </a:rPr>
              <a:t>자사몰</a:t>
            </a:r>
            <a:r>
              <a:rPr lang="ko-KR" altLang="en-US" sz="600" b="1" dirty="0">
                <a:latin typeface="+mn-ea"/>
                <a:ea typeface="+mn-ea"/>
              </a:rPr>
              <a:t> 구매확정 </a:t>
            </a:r>
            <a:r>
              <a:rPr lang="en-US" altLang="ko-KR" sz="600" b="1" dirty="0">
                <a:latin typeface="+mn-ea"/>
                <a:ea typeface="+mn-ea"/>
              </a:rPr>
              <a:t>I/F</a:t>
            </a:r>
            <a:r>
              <a:rPr lang="ko-KR" altLang="en-US" sz="600" b="1" dirty="0">
                <a:latin typeface="+mn-ea"/>
                <a:ea typeface="+mn-ea"/>
              </a:rPr>
              <a:t>테이블</a:t>
            </a:r>
            <a:endParaRPr lang="en-US" altLang="ko-KR" sz="600" b="1" dirty="0">
              <a:latin typeface="+mn-ea"/>
              <a:ea typeface="+mn-ea"/>
            </a:endParaRP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(</a:t>
            </a:r>
            <a:r>
              <a:rPr lang="ko-KR" altLang="en-US" sz="600" b="1" dirty="0" err="1">
                <a:latin typeface="+mn-ea"/>
                <a:ea typeface="+mn-ea"/>
              </a:rPr>
              <a:t>굿웨어몰</a:t>
            </a:r>
            <a:r>
              <a:rPr lang="en-US" altLang="ko-KR" sz="600" b="1" dirty="0">
                <a:latin typeface="+mn-ea"/>
                <a:ea typeface="+mn-ea"/>
              </a:rPr>
              <a:t>BO)</a:t>
            </a:r>
          </a:p>
          <a:p>
            <a:pPr algn="ctr"/>
            <a:r>
              <a:rPr lang="en-US" altLang="ko-KR" sz="600" b="1" dirty="0">
                <a:latin typeface="+mn-ea"/>
                <a:ea typeface="+mn-ea"/>
              </a:rPr>
              <a:t>T_GWM_IF_CAL_ORD_CLM_GOD</a:t>
            </a:r>
            <a:endParaRPr lang="ko-KR" altLang="en-US" sz="600" b="1" dirty="0">
              <a:latin typeface="+mn-ea"/>
              <a:ea typeface="+mn-ea"/>
            </a:endParaRPr>
          </a:p>
        </p:txBody>
      </p:sp>
      <p:sp>
        <p:nvSpPr>
          <p:cNvPr id="188" name="Rectangle 49"/>
          <p:cNvSpPr>
            <a:spLocks noChangeArrowheads="1"/>
          </p:cNvSpPr>
          <p:nvPr/>
        </p:nvSpPr>
        <p:spPr bwMode="gray">
          <a:xfrm>
            <a:off x="5582524" y="2164481"/>
            <a:ext cx="1963990" cy="9562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1. </a:t>
            </a:r>
            <a:r>
              <a:rPr lang="ko-KR" altLang="en-US" sz="800" dirty="0" smtClean="0">
                <a:latin typeface="+mn-ea"/>
                <a:ea typeface="+mn-ea"/>
              </a:rPr>
              <a:t>주문 판매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구매 확정 내역 </a:t>
            </a:r>
            <a:r>
              <a:rPr lang="ko-KR" altLang="en-US" sz="800" dirty="0" err="1" smtClean="0">
                <a:latin typeface="+mn-ea"/>
                <a:ea typeface="+mn-ea"/>
              </a:rPr>
              <a:t>매칭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O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 1) </a:t>
            </a:r>
            <a:r>
              <a:rPr lang="ko-KR" altLang="en-US" sz="800" dirty="0" smtClean="0">
                <a:latin typeface="+mn-ea"/>
                <a:ea typeface="+mn-ea"/>
              </a:rPr>
              <a:t>주문 </a:t>
            </a:r>
            <a:r>
              <a:rPr lang="ko-KR" altLang="en-US" sz="800" dirty="0" smtClean="0">
                <a:latin typeface="+mn-ea"/>
                <a:ea typeface="+mn-ea"/>
              </a:rPr>
              <a:t>판매 수량 </a:t>
            </a:r>
            <a:r>
              <a:rPr lang="en-US" altLang="ko-KR" sz="800" dirty="0" smtClean="0">
                <a:latin typeface="+mn-ea"/>
                <a:ea typeface="+mn-ea"/>
              </a:rPr>
              <a:t>= </a:t>
            </a:r>
            <a:r>
              <a:rPr lang="ko-KR" altLang="en-US" sz="800" dirty="0" smtClean="0">
                <a:latin typeface="+mn-ea"/>
                <a:ea typeface="+mn-ea"/>
              </a:rPr>
              <a:t>구매 확정 수량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    - </a:t>
            </a:r>
            <a:r>
              <a:rPr lang="ko-KR" altLang="en-US" sz="800" dirty="0" smtClean="0">
                <a:latin typeface="+mn-ea"/>
                <a:ea typeface="+mn-ea"/>
              </a:rPr>
              <a:t>구매 확정일자로 주문 판매 항목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  </a:t>
            </a:r>
            <a:r>
              <a:rPr lang="ko-KR" altLang="en-US" sz="800" dirty="0" smtClean="0">
                <a:latin typeface="+mn-ea"/>
                <a:ea typeface="+mn-ea"/>
              </a:rPr>
              <a:t>으로 확정  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2) </a:t>
            </a:r>
            <a:r>
              <a:rPr lang="ko-KR" altLang="en-US" sz="800" dirty="0">
                <a:latin typeface="+mn-ea"/>
                <a:ea typeface="+mn-ea"/>
              </a:rPr>
              <a:t>주문 판매 수량 </a:t>
            </a:r>
            <a:r>
              <a:rPr lang="en-US" altLang="ko-KR" sz="800" dirty="0" smtClean="0">
                <a:latin typeface="+mn-ea"/>
                <a:ea typeface="+mn-ea"/>
              </a:rPr>
              <a:t>!= </a:t>
            </a:r>
            <a:r>
              <a:rPr lang="ko-KR" altLang="en-US" sz="800" dirty="0">
                <a:latin typeface="+mn-ea"/>
                <a:ea typeface="+mn-ea"/>
              </a:rPr>
              <a:t>구매 확정 </a:t>
            </a:r>
            <a:r>
              <a:rPr lang="ko-KR" altLang="en-US" sz="800" dirty="0" smtClean="0">
                <a:latin typeface="+mn-ea"/>
                <a:ea typeface="+mn-ea"/>
              </a:rPr>
              <a:t>수량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- </a:t>
            </a:r>
            <a:r>
              <a:rPr lang="ko-KR" altLang="en-US" sz="800" dirty="0" smtClean="0">
                <a:latin typeface="+mn-ea"/>
                <a:ea typeface="+mn-ea"/>
              </a:rPr>
              <a:t>구매 확정 일자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구매 확정 내역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  </a:t>
            </a:r>
            <a:r>
              <a:rPr lang="ko-KR" altLang="en-US" sz="800" dirty="0" smtClean="0">
                <a:latin typeface="+mn-ea"/>
                <a:ea typeface="+mn-ea"/>
              </a:rPr>
              <a:t>으로 확정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89" name="직선 화살표 연결선 188"/>
          <p:cNvCxnSpPr>
            <a:stCxn id="187" idx="3"/>
            <a:endCxn id="188" idx="0"/>
          </p:cNvCxnSpPr>
          <p:nvPr/>
        </p:nvCxnSpPr>
        <p:spPr bwMode="auto">
          <a:xfrm>
            <a:off x="6564519" y="1987390"/>
            <a:ext cx="0" cy="17709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6" name="Rectangle 49"/>
          <p:cNvSpPr>
            <a:spLocks noChangeArrowheads="1"/>
          </p:cNvSpPr>
          <p:nvPr/>
        </p:nvSpPr>
        <p:spPr bwMode="gray">
          <a:xfrm>
            <a:off x="5582524" y="3289473"/>
            <a:ext cx="1963990" cy="71006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 smtClean="0">
                <a:latin typeface="+mn-ea"/>
                <a:ea typeface="+mn-ea"/>
              </a:rPr>
              <a:t>2. </a:t>
            </a:r>
            <a:r>
              <a:rPr lang="ko-KR" altLang="en-US" sz="800" dirty="0">
                <a:latin typeface="+mn-ea"/>
                <a:ea typeface="+mn-ea"/>
              </a:rPr>
              <a:t>클레임 </a:t>
            </a:r>
            <a:r>
              <a:rPr lang="ko-KR" altLang="en-US" sz="800" dirty="0" err="1" smtClean="0">
                <a:latin typeface="+mn-ea"/>
                <a:ea typeface="+mn-ea"/>
              </a:rPr>
              <a:t>교환분의</a:t>
            </a:r>
            <a:r>
              <a:rPr lang="ko-KR" altLang="en-US" sz="800" dirty="0" smtClean="0">
                <a:latin typeface="+mn-ea"/>
                <a:ea typeface="+mn-ea"/>
              </a:rPr>
              <a:t> 선 판매 구매 확정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1) </a:t>
            </a:r>
            <a:r>
              <a:rPr lang="ko-KR" altLang="en-US" sz="800" dirty="0" smtClean="0">
                <a:latin typeface="+mn-ea"/>
                <a:ea typeface="+mn-ea"/>
              </a:rPr>
              <a:t>구매 확정 전 결제 기준으로 익월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 </a:t>
            </a:r>
            <a:r>
              <a:rPr lang="ko-KR" altLang="en-US" sz="800" dirty="0" smtClean="0">
                <a:latin typeface="+mn-ea"/>
                <a:ea typeface="+mn-ea"/>
              </a:rPr>
              <a:t>선 반영 될 수 있음</a:t>
            </a:r>
            <a:r>
              <a:rPr lang="en-US" altLang="ko-KR" sz="800" dirty="0" smtClean="0">
                <a:latin typeface="+mn-ea"/>
                <a:ea typeface="+mn-ea"/>
              </a:rPr>
              <a:t>.</a:t>
            </a:r>
            <a:r>
              <a:rPr lang="ko-KR" altLang="en-US" sz="800" dirty="0" smtClean="0">
                <a:latin typeface="+mn-ea"/>
                <a:ea typeface="+mn-ea"/>
              </a:rPr>
              <a:t> 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- </a:t>
            </a:r>
            <a:r>
              <a:rPr lang="ko-KR" altLang="en-US" sz="800" dirty="0">
                <a:latin typeface="+mn-ea"/>
                <a:ea typeface="+mn-ea"/>
              </a:rPr>
              <a:t>판매일자는 당월</a:t>
            </a:r>
            <a:r>
              <a:rPr lang="en-US" altLang="ko-KR" sz="800" dirty="0" smtClean="0">
                <a:latin typeface="+mn-ea"/>
                <a:ea typeface="+mn-ea"/>
              </a:rPr>
              <a:t>(20250205)</a:t>
            </a:r>
          </a:p>
          <a:p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en-US" altLang="ko-KR" sz="800" dirty="0" smtClean="0">
                <a:latin typeface="+mn-ea"/>
                <a:ea typeface="+mn-ea"/>
              </a:rPr>
              <a:t>    </a:t>
            </a:r>
            <a:r>
              <a:rPr lang="ko-KR" altLang="en-US" sz="800" dirty="0" smtClean="0">
                <a:latin typeface="+mn-ea"/>
                <a:ea typeface="+mn-ea"/>
              </a:rPr>
              <a:t> 구매확정은 전월</a:t>
            </a:r>
            <a:r>
              <a:rPr lang="en-US" altLang="ko-KR" sz="800" dirty="0">
                <a:latin typeface="+mn-ea"/>
                <a:ea typeface="+mn-ea"/>
              </a:rPr>
              <a:t>(20250131)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97" name="직선 화살표 연결선 196"/>
          <p:cNvCxnSpPr>
            <a:stCxn id="188" idx="2"/>
            <a:endCxn id="196" idx="0"/>
          </p:cNvCxnSpPr>
          <p:nvPr/>
        </p:nvCxnSpPr>
        <p:spPr bwMode="auto">
          <a:xfrm>
            <a:off x="6564519" y="3120769"/>
            <a:ext cx="0" cy="16870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1" name="Rectangle 49"/>
          <p:cNvSpPr>
            <a:spLocks noChangeArrowheads="1"/>
          </p:cNvSpPr>
          <p:nvPr/>
        </p:nvSpPr>
        <p:spPr bwMode="gray">
          <a:xfrm>
            <a:off x="5582524" y="4180289"/>
            <a:ext cx="1963990" cy="46384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3</a:t>
            </a:r>
            <a:r>
              <a:rPr lang="en-US" altLang="ko-KR" sz="800" dirty="0" smtClean="0">
                <a:latin typeface="+mn-ea"/>
                <a:ea typeface="+mn-ea"/>
              </a:rPr>
              <a:t>. </a:t>
            </a:r>
            <a:r>
              <a:rPr lang="ko-KR" altLang="en-US" sz="800" dirty="0" smtClean="0">
                <a:latin typeface="+mn-ea"/>
                <a:ea typeface="+mn-ea"/>
              </a:rPr>
              <a:t>구매 확정 내역 </a:t>
            </a:r>
            <a:r>
              <a:rPr lang="en-US" altLang="ko-KR" sz="800" dirty="0" smtClean="0">
                <a:latin typeface="+mn-ea"/>
                <a:ea typeface="+mn-ea"/>
              </a:rPr>
              <a:t>X, </a:t>
            </a:r>
            <a:r>
              <a:rPr lang="ko-KR" altLang="en-US" sz="800" dirty="0" smtClean="0">
                <a:latin typeface="+mn-ea"/>
                <a:ea typeface="+mn-ea"/>
              </a:rPr>
              <a:t>부분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전체 취소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   주문 판매</a:t>
            </a:r>
            <a:r>
              <a:rPr lang="en-US" altLang="ko-KR" sz="800" dirty="0" smtClean="0">
                <a:latin typeface="+mn-ea"/>
                <a:ea typeface="+mn-ea"/>
              </a:rPr>
              <a:t> </a:t>
            </a:r>
            <a:r>
              <a:rPr lang="ko-KR" altLang="en-US" sz="800" dirty="0" smtClean="0">
                <a:latin typeface="+mn-ea"/>
                <a:ea typeface="+mn-ea"/>
              </a:rPr>
              <a:t>후 판매 반품 건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en-US" altLang="ko-KR" sz="800" dirty="0" smtClean="0">
                <a:latin typeface="+mn-ea"/>
                <a:ea typeface="+mn-ea"/>
              </a:rPr>
              <a:t>  - </a:t>
            </a:r>
            <a:r>
              <a:rPr lang="ko-KR" altLang="en-US" sz="800" dirty="0" smtClean="0">
                <a:latin typeface="+mn-ea"/>
                <a:ea typeface="+mn-ea"/>
              </a:rPr>
              <a:t>해당 주문 발생 최종일로 확정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02" name="직선 화살표 연결선 201"/>
          <p:cNvCxnSpPr>
            <a:stCxn id="196" idx="2"/>
            <a:endCxn id="201" idx="0"/>
          </p:cNvCxnSpPr>
          <p:nvPr/>
        </p:nvCxnSpPr>
        <p:spPr bwMode="auto">
          <a:xfrm>
            <a:off x="6564519" y="3999540"/>
            <a:ext cx="0" cy="18074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9" name="Rectangle 49"/>
          <p:cNvSpPr>
            <a:spLocks noChangeArrowheads="1"/>
          </p:cNvSpPr>
          <p:nvPr/>
        </p:nvSpPr>
        <p:spPr bwMode="gray">
          <a:xfrm>
            <a:off x="5577513" y="4845056"/>
            <a:ext cx="1963990" cy="3407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3</a:t>
            </a:r>
            <a:r>
              <a:rPr lang="en-US" altLang="ko-KR" sz="800" dirty="0" smtClean="0">
                <a:latin typeface="+mn-ea"/>
                <a:ea typeface="+mn-ea"/>
              </a:rPr>
              <a:t>. </a:t>
            </a:r>
            <a:r>
              <a:rPr lang="ko-KR" altLang="en-US" sz="800" dirty="0" smtClean="0">
                <a:latin typeface="+mn-ea"/>
                <a:ea typeface="+mn-ea"/>
              </a:rPr>
              <a:t>결제 기준 보다 구매 확정 선 발생</a:t>
            </a:r>
            <a:r>
              <a:rPr lang="en-US" altLang="ko-KR" sz="800" dirty="0" smtClean="0">
                <a:latin typeface="+mn-ea"/>
                <a:ea typeface="+mn-ea"/>
              </a:rPr>
              <a:t>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  </a:t>
            </a:r>
            <a:r>
              <a:rPr lang="en-US" altLang="ko-KR" sz="800" dirty="0" smtClean="0">
                <a:latin typeface="+mn-ea"/>
                <a:ea typeface="+mn-ea"/>
              </a:rPr>
              <a:t>- </a:t>
            </a:r>
            <a:r>
              <a:rPr lang="ko-KR" altLang="en-US" sz="800" dirty="0" smtClean="0">
                <a:latin typeface="+mn-ea"/>
                <a:ea typeface="+mn-ea"/>
              </a:rPr>
              <a:t>마지막 일자로 주문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구매 확정 등록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10" name="직선 화살표 연결선 209"/>
          <p:cNvCxnSpPr>
            <a:stCxn id="201" idx="2"/>
            <a:endCxn id="209" idx="0"/>
          </p:cNvCxnSpPr>
          <p:nvPr/>
        </p:nvCxnSpPr>
        <p:spPr bwMode="auto">
          <a:xfrm flipH="1">
            <a:off x="6559508" y="4644135"/>
            <a:ext cx="5011" cy="20092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9783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N_DEFAULTS_TEXT_BOX_FRAME" val="TXTF_WIDTH$True|TXTF_HEIGHT$True|TXTF_TOP$True|TXTF_LEFT$True|TXTF_FILL_COLOR$True|TXTF_LINE_WEIGHT$False|TXTF_LINE_STYLE$False|TXTF_LINE_COLOR$False|TXTF_MARGIN_TOP$False|TXTF_MARGIN_BOTTOM$False|TXTF_MARGIN_LEFT$False|TXTF_MARGIN_RIGHT$False|TXTF_WORD_WRAP$True|TXTF_FIT_SHAPE$False|TXTF_ROTATION$True|TXTF_ANCHOR_POINT$False"/>
  <p:tag name="ACN_DEFAULTS_TEXT_BOX_TEXTRANGE" val="TXT_BOLD$False|TXT_ITALIC$False|TXT_UNDERLINE$False|TXT_FONT_TYPE$True|TXT_FONT_SIZE$True|TXT_FONT_COLOR$True|TXT_SHADOW$False|TXT_SCRIPT$True"/>
  <p:tag name="ACN_DEFAULTS_TEXT_BOX_PARAGRAPH" val="PARA_ALIGNMENT$False|PARA_LINE_SPACING$False|PARA_BEFORE_PARAGRAPH$False|PARA_AFTER_PARAGRAPH$False"/>
  <p:tag name="ACN_DEFAULTS_TEXT_BOX_INDENTLEVEL" val="IND_PRESERVE$True|IND_False$False|IND_ADD$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BodyText"/>
  <p:tag name="DATE" val="2012-05-14 오전 10:15:57"/>
</p:tagLst>
</file>

<file path=ppt/theme/theme1.xml><?xml version="1.0" encoding="utf-8"?>
<a:theme xmlns:a="http://schemas.openxmlformats.org/drawingml/2006/main" name="경영정보팀 주간보고서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solidFill>
            <a:schemeClr val="accent1"/>
          </a:solidFill>
        </a:ln>
      </a:spPr>
      <a:bodyPr wrap="square" rtlCol="0" anchor="ctr">
        <a:noAutofit/>
      </a:bodyPr>
      <a:lstStyle>
        <a:defPPr marL="268288" indent="-215900" algn="ctr">
          <a:spcBef>
            <a:spcPct val="20000"/>
          </a:spcBef>
          <a:buClr>
            <a:srgbClr val="FFD200"/>
          </a:buClr>
          <a:buSzPct val="75000"/>
          <a:defRPr sz="1200" b="1" kern="0" dirty="0" smtClean="0">
            <a:solidFill>
              <a:schemeClr val="bg1"/>
            </a:solidFill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 marL="268288" indent="-215900">
          <a:spcBef>
            <a:spcPct val="20000"/>
          </a:spcBef>
          <a:buClr>
            <a:srgbClr val="FFD200"/>
          </a:buClr>
          <a:buSzPct val="75000"/>
          <a:buFont typeface="Arial" charset="0"/>
          <a:buChar char="►"/>
          <a:defRPr sz="1400" kern="0" dirty="0" smtClean="0">
            <a:solidFill>
              <a:srgbClr val="646464">
                <a:lumMod val="50000"/>
              </a:srgbClr>
            </a:solidFill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000000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4799F8C061FF54FA9C3F03411021153" ma:contentTypeVersion="0" ma:contentTypeDescription="새 문서를 만듭니다." ma:contentTypeScope="" ma:versionID="785d639d16b9fcf75a50f3b6492efe30">
  <xsd:schema xmlns:xsd="http://www.w3.org/2001/XMLSchema" xmlns:p="http://schemas.microsoft.com/office/2006/metadata/properties" targetNamespace="http://schemas.microsoft.com/office/2006/metadata/properties" ma:root="true" ma:fieldsID="6d1ee5c80bf69a1ee28e268965e8a72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 ma:readOnly="true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E68AE160-D632-463C-AAE1-DFCBE262CDA4}">
  <ds:schemaRefs>
    <ds:schemaRef ds:uri="http://schemas.microsoft.com/office/2006/documentManagement/types"/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096ECB2-C7A9-48BE-915A-90E7F0B570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8FE0ED-DF9C-4FBE-81BA-D32F2B2E97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77688</TotalTime>
  <Words>1166</Words>
  <Application>Microsoft Office PowerPoint</Application>
  <PresentationFormat>A4 용지(210x297mm)</PresentationFormat>
  <Paragraphs>442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JBold</vt:lpstr>
      <vt:lpstr>굴림</vt:lpstr>
      <vt:lpstr>나눔고딕</vt:lpstr>
      <vt:lpstr>나눔고딕 ExtraBold</vt:lpstr>
      <vt:lpstr>맑은 고딕</vt:lpstr>
      <vt:lpstr>Arial</vt:lpstr>
      <vt:lpstr>Helvetica</vt:lpstr>
      <vt:lpstr>Wingdings</vt:lpstr>
      <vt:lpstr>경영정보팀 주간보고서</vt:lpstr>
      <vt:lpstr>온라인 정산 AS-IS/TO-BE</vt:lpstr>
      <vt:lpstr>1. 온라인 출고</vt:lpstr>
      <vt:lpstr>2. 온라인 출고 반품</vt:lpstr>
      <vt:lpstr>3. 온라인 판매</vt:lpstr>
      <vt:lpstr>4. 온라인 판매 반품</vt:lpstr>
      <vt:lpstr>5. 블라인드 입고</vt:lpstr>
      <vt:lpstr>5. 자사 몰 구매 확정 /제휴 몰 정산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패션시스템</dc:title>
  <dc:creator>Administrator</dc:creator>
  <dc:description/>
  <cp:lastModifiedBy>pid0324</cp:lastModifiedBy>
  <cp:revision>2808</cp:revision>
  <cp:lastPrinted>2016-03-16T07:17:05Z</cp:lastPrinted>
  <dcterms:created xsi:type="dcterms:W3CDTF">2010-03-03T04:03:39Z</dcterms:created>
  <dcterms:modified xsi:type="dcterms:W3CDTF">2026-03-25T07:45:42Z</dcterms:modified>
</cp:coreProperties>
</file>