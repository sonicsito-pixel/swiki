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70" r:id="rId4"/>
  </p:sldMasterIdLst>
  <p:notesMasterIdLst>
    <p:notesMasterId r:id="rId48"/>
  </p:notesMasterIdLst>
  <p:handoutMasterIdLst>
    <p:handoutMasterId r:id="rId49"/>
  </p:handoutMasterIdLst>
  <p:sldIdLst>
    <p:sldId id="1262" r:id="rId5"/>
    <p:sldId id="1401" r:id="rId6"/>
    <p:sldId id="1406" r:id="rId7"/>
    <p:sldId id="1409" r:id="rId8"/>
    <p:sldId id="1410" r:id="rId9"/>
    <p:sldId id="1446" r:id="rId10"/>
    <p:sldId id="1447" r:id="rId11"/>
    <p:sldId id="1411" r:id="rId12"/>
    <p:sldId id="1414" r:id="rId13"/>
    <p:sldId id="1426" r:id="rId14"/>
    <p:sldId id="1412" r:id="rId15"/>
    <p:sldId id="1415" r:id="rId16"/>
    <p:sldId id="1416" r:id="rId17"/>
    <p:sldId id="1418" r:id="rId18"/>
    <p:sldId id="1417" r:id="rId19"/>
    <p:sldId id="1419" r:id="rId20"/>
    <p:sldId id="1422" r:id="rId21"/>
    <p:sldId id="1423" r:id="rId22"/>
    <p:sldId id="1433" r:id="rId23"/>
    <p:sldId id="1431" r:id="rId24"/>
    <p:sldId id="1432" r:id="rId25"/>
    <p:sldId id="1458" r:id="rId26"/>
    <p:sldId id="1459" r:id="rId27"/>
    <p:sldId id="1427" r:id="rId28"/>
    <p:sldId id="1434" r:id="rId29"/>
    <p:sldId id="1430" r:id="rId30"/>
    <p:sldId id="1435" r:id="rId31"/>
    <p:sldId id="1436" r:id="rId32"/>
    <p:sldId id="1452" r:id="rId33"/>
    <p:sldId id="1453" r:id="rId34"/>
    <p:sldId id="1455" r:id="rId35"/>
    <p:sldId id="1456" r:id="rId36"/>
    <p:sldId id="1457" r:id="rId37"/>
    <p:sldId id="1450" r:id="rId38"/>
    <p:sldId id="1445" r:id="rId39"/>
    <p:sldId id="1454" r:id="rId40"/>
    <p:sldId id="1394" r:id="rId41"/>
    <p:sldId id="1439" r:id="rId42"/>
    <p:sldId id="1440" r:id="rId43"/>
    <p:sldId id="1441" r:id="rId44"/>
    <p:sldId id="1398" r:id="rId45"/>
    <p:sldId id="1443" r:id="rId46"/>
    <p:sldId id="1444" r:id="rId47"/>
  </p:sldIdLst>
  <p:sldSz cx="9906000" cy="6858000" type="A4"/>
  <p:notesSz cx="6807200" cy="9939338"/>
  <p:embeddedFontLst>
    <p:embeddedFont>
      <p:font typeface="맑은 고딕" panose="020B0503020000020004" pitchFamily="50" charset="-127"/>
      <p:regular r:id="rId50"/>
      <p:bold r:id="rId51"/>
    </p:embeddedFont>
    <p:embeddedFont>
      <p:font typeface="나눔고딕 ExtraBold" panose="020B0600000101010101" charset="-127"/>
      <p:bold r:id="rId52"/>
    </p:embeddedFont>
    <p:embeddedFont>
      <p:font typeface="Helvetica" panose="020B0604020202020204" pitchFamily="34" charset="0"/>
      <p:regular r:id="rId53"/>
      <p:bold r:id="rId54"/>
      <p:italic r:id="rId55"/>
      <p:boldItalic r:id="rId56"/>
    </p:embeddedFont>
    <p:embeddedFont>
      <p:font typeface="Calibri" panose="020F0502020204030204" pitchFamily="34" charset="0"/>
      <p:regular r:id="rId57"/>
      <p:bold r:id="rId58"/>
      <p:italic r:id="rId59"/>
      <p:boldItalic r:id="rId60"/>
    </p:embeddedFont>
    <p:embeddedFont>
      <p:font typeface="나눔고딕" panose="020B0600000101010101" charset="-127"/>
      <p:regular r:id="rId61"/>
      <p:bold r:id="rId62"/>
    </p:embeddedFont>
    <p:embeddedFont>
      <p:font typeface="JBold" panose="020B0600000101010101" charset="-127"/>
      <p:regular r:id="rId63"/>
    </p:embeddedFont>
  </p:embeddedFontLst>
  <p:custDataLst>
    <p:tags r:id="rId64"/>
  </p:custData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1pPr>
    <a:lvl2pPr marL="4556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2pPr>
    <a:lvl3pPr marL="9128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3pPr>
    <a:lvl4pPr marL="13700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4pPr>
    <a:lvl5pPr marL="1827213" indent="1588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Arial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84" userDrawn="1">
          <p15:clr>
            <a:srgbClr val="A4A3A4"/>
          </p15:clr>
        </p15:guide>
        <p15:guide id="2" orient="horz" pos="4116">
          <p15:clr>
            <a:srgbClr val="A4A3A4"/>
          </p15:clr>
        </p15:guide>
        <p15:guide id="4" pos="143">
          <p15:clr>
            <a:srgbClr val="A4A3A4"/>
          </p15:clr>
        </p15:guide>
        <p15:guide id="5" pos="6097">
          <p15:clr>
            <a:srgbClr val="A4A3A4"/>
          </p15:clr>
        </p15:guide>
        <p15:guide id="6" pos="228">
          <p15:clr>
            <a:srgbClr val="A4A3A4"/>
          </p15:clr>
        </p15:guide>
        <p15:guide id="7" pos="3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0"/>
    <a:srgbClr val="000000"/>
    <a:srgbClr val="FFFFFF"/>
    <a:srgbClr val="FFFF61"/>
    <a:srgbClr val="254061"/>
    <a:srgbClr val="333333"/>
    <a:srgbClr val="646464"/>
    <a:srgbClr val="808080"/>
    <a:srgbClr val="FDFF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74" autoAdjust="0"/>
    <p:restoredTop sz="98827" autoAdjust="0"/>
  </p:normalViewPr>
  <p:slideViewPr>
    <p:cSldViewPr>
      <p:cViewPr varScale="1">
        <p:scale>
          <a:sx n="116" d="100"/>
          <a:sy n="116" d="100"/>
        </p:scale>
        <p:origin x="1410" y="108"/>
      </p:cViewPr>
      <p:guideLst>
        <p:guide orient="horz" pos="884"/>
        <p:guide orient="horz" pos="4116"/>
        <p:guide pos="143"/>
        <p:guide pos="6097"/>
        <p:guide pos="228"/>
        <p:guide pos="3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954" y="96"/>
      </p:cViewPr>
      <p:guideLst>
        <p:guide orient="horz" pos="3130"/>
        <p:guide pos="2145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2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0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23828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6388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834" y="4720987"/>
            <a:ext cx="5443534" cy="4473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1" tIns="47170" rIns="94341" bIns="471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 smtClean="0"/>
              <a:t>Click to edit Master text styles</a:t>
            </a:r>
          </a:p>
          <a:p>
            <a:pPr lvl="1"/>
            <a:r>
              <a:rPr lang="en-US" altLang="ko-KR" noProof="0" dirty="0" smtClean="0"/>
              <a:t>Second level</a:t>
            </a:r>
          </a:p>
          <a:p>
            <a:pPr lvl="2"/>
            <a:r>
              <a:rPr lang="en-US" altLang="ko-KR" noProof="0" dirty="0" smtClean="0"/>
              <a:t>Third level</a:t>
            </a:r>
          </a:p>
          <a:p>
            <a:pPr lvl="3"/>
            <a:r>
              <a:rPr lang="en-US" altLang="ko-KR" noProof="0" dirty="0" smtClean="0"/>
              <a:t>Fourth level</a:t>
            </a:r>
          </a:p>
          <a:p>
            <a:pPr lvl="4"/>
            <a:r>
              <a:rPr lang="en-US" altLang="ko-KR" noProof="0" dirty="0" smtClean="0"/>
              <a:t>Fifth level</a:t>
            </a:r>
          </a:p>
        </p:txBody>
      </p:sp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A5DC8-846E-407B-9A02-2F61D56EF1AE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E582A-B70D-4F30-90C6-870CF28E198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724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1pPr>
    <a:lvl2pPr marL="1588" indent="177800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2pPr>
    <a:lvl3pPr marL="358775" indent="1889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3pPr>
    <a:lvl4pPr marL="722313" indent="176213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4pPr>
    <a:lvl5pPr marL="1079500" indent="174625" algn="l" rtl="0" eaLnBrk="0" fontAlgn="base" hangingPunct="0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나눔고딕" pitchFamily="50" charset="-127"/>
        <a:cs typeface="+mn-cs"/>
      </a:defRPr>
    </a:lvl5pPr>
    <a:lvl6pPr marL="2285855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슬라이드 노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구축 배경</a:t>
            </a:r>
          </a:p>
          <a:p>
            <a:r>
              <a:rPr lang="ko-KR" altLang="en-US" dirty="0"/>
              <a:t>   ① 영업</a:t>
            </a:r>
            <a:r>
              <a:rPr lang="en-US" altLang="ko-KR" dirty="0"/>
              <a:t>/</a:t>
            </a:r>
            <a:r>
              <a:rPr lang="ko-KR" altLang="en-US" dirty="0"/>
              <a:t>물류 시스템의 이원화에 따른 자원의 분산</a:t>
            </a:r>
            <a:r>
              <a:rPr lang="en-US" altLang="ko-KR" dirty="0"/>
              <a:t>, </a:t>
            </a:r>
            <a:r>
              <a:rPr lang="ko-KR" altLang="en-US" dirty="0"/>
              <a:t>불필요한 이중 작업 및 데이터 검증의 한계</a:t>
            </a:r>
          </a:p>
          <a:p>
            <a:r>
              <a:rPr lang="ko-KR" altLang="en-US" dirty="0"/>
              <a:t>   ② 기준코드의 사용 한계</a:t>
            </a:r>
            <a:r>
              <a:rPr lang="en-US" altLang="ko-KR" dirty="0"/>
              <a:t>, </a:t>
            </a:r>
            <a:r>
              <a:rPr lang="ko-KR" altLang="en-US" dirty="0"/>
              <a:t>비 정규화에 따른 업무 공유의 제한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방향</a:t>
            </a:r>
          </a:p>
          <a:p>
            <a:r>
              <a:rPr lang="ko-KR" altLang="en-US" dirty="0"/>
              <a:t>   ① </a:t>
            </a:r>
            <a:r>
              <a:rPr lang="en-US" altLang="ko-KR" dirty="0"/>
              <a:t>Web </a:t>
            </a:r>
            <a:r>
              <a:rPr lang="ko-KR" altLang="en-US" dirty="0"/>
              <a:t>기반의 통합 전산 인프라 공유 체제 구축</a:t>
            </a:r>
          </a:p>
          <a:p>
            <a:r>
              <a:rPr lang="ko-KR" altLang="en-US" dirty="0"/>
              <a:t>   ② 기준 정보 표준화 및 프로세스 개선을 통한 업무 효율의 극대화</a:t>
            </a:r>
          </a:p>
          <a:p>
            <a:r>
              <a:rPr lang="ko-KR" altLang="en-US" dirty="0"/>
              <a:t>   ③ 데이터 표준화를 통한 정확한 자료 제공</a:t>
            </a:r>
            <a:r>
              <a:rPr lang="en-US" altLang="ko-KR" dirty="0"/>
              <a:t>(</a:t>
            </a:r>
            <a:r>
              <a:rPr lang="ko-KR" altLang="en-US" dirty="0"/>
              <a:t>분석 </a:t>
            </a:r>
            <a:r>
              <a:rPr lang="ko-KR" altLang="en-US" dirty="0" err="1"/>
              <a:t>관점별</a:t>
            </a:r>
            <a:r>
              <a:rPr lang="ko-KR" altLang="en-US" dirty="0"/>
              <a:t> 데이터 재 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계약 기간 </a:t>
            </a:r>
            <a:r>
              <a:rPr lang="en-US" altLang="ko-KR" dirty="0"/>
              <a:t>: 2010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 </a:t>
            </a:r>
            <a:r>
              <a:rPr lang="en-US" altLang="ko-KR" dirty="0"/>
              <a:t>~ 2011</a:t>
            </a:r>
            <a:r>
              <a:rPr lang="ko-KR" altLang="en-US" dirty="0"/>
              <a:t>년 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개발 업체 </a:t>
            </a:r>
            <a:r>
              <a:rPr lang="en-US" altLang="ko-KR" dirty="0"/>
              <a:t>: </a:t>
            </a:r>
            <a:r>
              <a:rPr lang="ko-KR" altLang="en-US" dirty="0" err="1"/>
              <a:t>코오롱</a:t>
            </a:r>
            <a:r>
              <a:rPr lang="ko-KR" altLang="en-US" dirty="0"/>
              <a:t> </a:t>
            </a:r>
            <a:r>
              <a:rPr lang="ko-KR" altLang="en-US" dirty="0" err="1"/>
              <a:t>베니트</a:t>
            </a:r>
            <a:endParaRPr lang="ko-KR" altLang="en-US" dirty="0"/>
          </a:p>
          <a:p>
            <a:r>
              <a:rPr lang="en-US" altLang="ko-KR" dirty="0"/>
              <a:t>- </a:t>
            </a:r>
            <a:r>
              <a:rPr lang="ko-KR" altLang="en-US" dirty="0"/>
              <a:t>개발 환경 </a:t>
            </a:r>
            <a:r>
              <a:rPr lang="en-US" altLang="ko-KR" dirty="0"/>
              <a:t>: </a:t>
            </a:r>
            <a:r>
              <a:rPr lang="en-US" altLang="ko-KR" dirty="0" err="1"/>
              <a:t>Miplatform</a:t>
            </a:r>
            <a:r>
              <a:rPr lang="en-US" altLang="ko-KR" dirty="0"/>
              <a:t>, </a:t>
            </a:r>
            <a:r>
              <a:rPr lang="en-US" altLang="ko-KR" dirty="0" err="1"/>
              <a:t>Weblogic</a:t>
            </a:r>
            <a:r>
              <a:rPr lang="en-US" altLang="ko-KR" dirty="0"/>
              <a:t>, JAVA, Oracle 11g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구축 범위 </a:t>
            </a:r>
            <a:r>
              <a:rPr lang="en-US" altLang="ko-KR" dirty="0"/>
              <a:t>: </a:t>
            </a:r>
            <a:r>
              <a:rPr lang="ko-KR" altLang="en-US" dirty="0"/>
              <a:t>영업</a:t>
            </a:r>
            <a:r>
              <a:rPr lang="en-US" altLang="ko-KR" dirty="0"/>
              <a:t>(</a:t>
            </a:r>
            <a:r>
              <a:rPr lang="ko-KR" altLang="en-US" dirty="0"/>
              <a:t>패션</a:t>
            </a:r>
            <a:r>
              <a:rPr lang="en-US" altLang="ko-KR" dirty="0"/>
              <a:t>)</a:t>
            </a:r>
            <a:r>
              <a:rPr lang="ko-KR" altLang="en-US" dirty="0"/>
              <a:t>시스템 전체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936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Documents and Settings\김영로\My Documents\가져갈 파일\파워포인트 양식\139\06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2365219"/>
            <a:ext cx="9731017" cy="4501950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 userDrawn="1"/>
        </p:nvSpPr>
        <p:spPr>
          <a:xfrm>
            <a:off x="9731017" y="-4788"/>
            <a:ext cx="217538" cy="6865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1" hangingPunct="1"/>
            <a:endParaRPr lang="ko-KR" altLang="en-US" sz="1200" b="1" kern="1200">
              <a:solidFill>
                <a:schemeClr val="lt1"/>
              </a:solidFill>
              <a:latin typeface="Helvetica" pitchFamily="2" charset="0"/>
              <a:ea typeface="+mn-ea"/>
              <a:cs typeface="+mn-cs"/>
            </a:endParaRPr>
          </a:p>
        </p:txBody>
      </p:sp>
      <p:pic>
        <p:nvPicPr>
          <p:cNvPr id="7" name="그림 1" descr="1113396_83515382.jp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0" y="0"/>
            <a:ext cx="4572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91883" y="3427812"/>
            <a:ext cx="5772723" cy="460832"/>
          </a:xfrm>
          <a:prstGeom prst="rect">
            <a:avLst/>
          </a:prstGeom>
        </p:spPr>
        <p:txBody>
          <a:bodyPr wrap="none" lIns="91434" tIns="0" rIns="91434" bIns="45718">
            <a:spAutoFit/>
          </a:bodyPr>
          <a:lstStyle>
            <a:lvl1pPr>
              <a:defRPr sz="3200" baseline="0">
                <a:latin typeface="나눔고딕 ExtraBold" pitchFamily="50" charset="-127"/>
                <a:ea typeface="나눔고딕 ExtraBold" pitchFamily="50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38393" y="4437112"/>
            <a:ext cx="3751682" cy="328469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85000"/>
              </a:lnSpc>
              <a:buFont typeface="Arial" charset="0"/>
              <a:buNone/>
              <a:defRPr sz="1800" baseline="0">
                <a:latin typeface="나눔고딕" pitchFamily="50" charset="-127"/>
                <a:ea typeface="나눔고딕" pitchFamily="50" charset="-127"/>
              </a:defRPr>
            </a:lvl1pPr>
          </a:lstStyle>
          <a:p>
            <a:r>
              <a:rPr lang="en-US" altLang="ko-KR" dirty="0" smtClean="0"/>
              <a:t>Click to edit Master subtitle style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46421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2480" y="728700"/>
            <a:ext cx="9359900" cy="529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latinLnBrk="0"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latinLnBrk="0"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latinLnBrk="0"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050" y="278650"/>
            <a:ext cx="6768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800" baseline="0">
                <a:solidFill>
                  <a:schemeClr val="accent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</a:lstStyle>
          <a:p>
            <a:r>
              <a:rPr lang="en-US" altLang="ko-KR" dirty="0" smtClean="0"/>
              <a:t>Click to edit Master title style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285638" y="105389"/>
            <a:ext cx="3437892" cy="43206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100"/>
              </a:spcBef>
              <a:spcAft>
                <a:spcPts val="100"/>
              </a:spcAft>
              <a:buClr>
                <a:srgbClr val="FFD200"/>
              </a:buClr>
              <a:buSzPct val="75000"/>
              <a:buNone/>
              <a:defRPr lang="en-US" altLang="ko-KR" sz="1000" b="0" kern="0" baseline="0" dirty="0" smtClean="0">
                <a:solidFill>
                  <a:schemeClr val="accent1">
                    <a:lumMod val="75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100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5056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3187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72480" y="728700"/>
            <a:ext cx="9359900" cy="5293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latinLnBrk="0">
              <a:buClr>
                <a:schemeClr val="accent1">
                  <a:lumMod val="75000"/>
                </a:schemeClr>
              </a:buClr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latinLnBrk="0"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latinLnBrk="0"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latinLnBrk="0"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3050" y="278650"/>
            <a:ext cx="6768000" cy="334313"/>
          </a:xfrm>
          <a:prstGeom prst="rect">
            <a:avLst/>
          </a:prstGeom>
        </p:spPr>
        <p:txBody>
          <a:bodyPr wrap="square" lIns="39597" tIns="35997" rIns="39597" bIns="35997">
            <a:noAutofit/>
          </a:bodyPr>
          <a:lstStyle>
            <a:lvl1pPr>
              <a:defRPr sz="1800" baseline="0">
                <a:solidFill>
                  <a:schemeClr val="accent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5" name="Content Placeholder 17"/>
          <p:cNvSpPr>
            <a:spLocks noGrp="1"/>
          </p:cNvSpPr>
          <p:nvPr>
            <p:ph sz="quarter" idx="12" hasCustomPrompt="1"/>
          </p:nvPr>
        </p:nvSpPr>
        <p:spPr>
          <a:xfrm>
            <a:off x="6285638" y="105389"/>
            <a:ext cx="3437892" cy="432061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ts val="100"/>
              </a:spcBef>
              <a:spcAft>
                <a:spcPts val="100"/>
              </a:spcAft>
              <a:buClr>
                <a:srgbClr val="FFD200"/>
              </a:buClr>
              <a:buSzPct val="75000"/>
              <a:buNone/>
              <a:defRPr lang="en-US" altLang="ko-KR" sz="1000" b="0" kern="0" baseline="0" dirty="0" smtClean="0">
                <a:solidFill>
                  <a:schemeClr val="accent1">
                    <a:lumMod val="75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en-US" altLang="ko-KR" sz="1000" kern="0" dirty="0" smtClean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r" rtl="0" fontAlgn="base">
              <a:spcBef>
                <a:spcPts val="0"/>
              </a:spcBef>
              <a:spcAft>
                <a:spcPct val="0"/>
              </a:spcAft>
              <a:buClr>
                <a:srgbClr val="FFD200"/>
              </a:buClr>
              <a:buSzPct val="75000"/>
              <a:buNone/>
              <a:defRPr lang="ko-KR" altLang="en-US" sz="1000" kern="0" dirty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 smtClean="0"/>
              <a:t>Lev.2 Lev.3 Lev.4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54404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273050" y="6578600"/>
            <a:ext cx="9359900" cy="0"/>
          </a:xfrm>
          <a:prstGeom prst="line">
            <a:avLst/>
          </a:prstGeom>
          <a:noFill/>
          <a:ln w="31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27" name="TextBox 19"/>
          <p:cNvSpPr txBox="1">
            <a:spLocks noChangeArrowheads="1"/>
          </p:cNvSpPr>
          <p:nvPr userDrawn="1"/>
        </p:nvSpPr>
        <p:spPr bwMode="auto">
          <a:xfrm>
            <a:off x="4991100" y="6613525"/>
            <a:ext cx="3556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4" tIns="45718" rIns="91434" bIns="45718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9pPr>
          </a:lstStyle>
          <a:p>
            <a:pPr algn="ctr" eaLnBrk="1" latinLnBrk="0" hangingPunct="1"/>
            <a:fld id="{C64E92E5-CD45-4384-8691-9106A4F9B511}" type="slidenum">
              <a:rPr kumimoji="0" lang="ko-KR" altLang="en-US" sz="1000">
                <a:solidFill>
                  <a:srgbClr val="646464"/>
                </a:solidFill>
                <a:latin typeface="JBold" pitchFamily="18" charset="-127"/>
                <a:ea typeface="JBold" pitchFamily="18" charset="-127"/>
                <a:cs typeface="JBold" pitchFamily="18" charset="-127"/>
              </a:rPr>
              <a:pPr algn="ctr" eaLnBrk="1" latinLnBrk="0" hangingPunct="1"/>
              <a:t>‹#›</a:t>
            </a:fld>
            <a:endParaRPr kumimoji="0" lang="en-US" altLang="ko-KR" sz="1000" dirty="0">
              <a:solidFill>
                <a:srgbClr val="646464"/>
              </a:solidFill>
              <a:latin typeface="JBold" pitchFamily="18" charset="-127"/>
              <a:ea typeface="JBold" pitchFamily="18" charset="-127"/>
              <a:cs typeface="JBold" pitchFamily="18" charset="-127"/>
            </a:endParaRPr>
          </a:p>
        </p:txBody>
      </p:sp>
      <p:sp>
        <p:nvSpPr>
          <p:cNvPr id="1028" name="AcnBodyText_ID_6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 bwMode="gray">
          <a:xfrm>
            <a:off x="179388" y="2200275"/>
            <a:ext cx="8780462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34" tIns="45718" rIns="91434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Click to edit 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  <a:endParaRPr lang="ko-KR" altLang="en-US" dirty="0" smtClean="0"/>
          </a:p>
        </p:txBody>
      </p:sp>
      <p:cxnSp>
        <p:nvCxnSpPr>
          <p:cNvPr id="9" name="Straight Connector 11"/>
          <p:cNvCxnSpPr>
            <a:cxnSpLocks noChangeShapeType="1"/>
          </p:cNvCxnSpPr>
          <p:nvPr userDrawn="1"/>
        </p:nvCxnSpPr>
        <p:spPr bwMode="auto">
          <a:xfrm rot="16200000">
            <a:off x="9570535" y="325232"/>
            <a:ext cx="396000" cy="0"/>
          </a:xfrm>
          <a:prstGeom prst="line">
            <a:avLst/>
          </a:prstGeom>
          <a:noFill/>
          <a:ln w="57150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</p:cxnSp>
      <p:sp>
        <p:nvSpPr>
          <p:cNvPr id="10" name="Line 11"/>
          <p:cNvSpPr>
            <a:spLocks noChangeShapeType="1"/>
          </p:cNvSpPr>
          <p:nvPr userDrawn="1"/>
        </p:nvSpPr>
        <p:spPr bwMode="auto">
          <a:xfrm>
            <a:off x="227475" y="668186"/>
            <a:ext cx="9469986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91434" tIns="45718" rIns="91434" bIns="45718" anchor="ctr"/>
          <a:lstStyle/>
          <a:p>
            <a:pPr latinLnBrk="0">
              <a:lnSpc>
                <a:spcPct val="90000"/>
              </a:lnSpc>
              <a:buClr>
                <a:srgbClr val="7D0900"/>
              </a:buClr>
              <a:defRPr/>
            </a:pPr>
            <a:endParaRPr kumimoji="0" lang="ko-KR" altLang="en-US" dirty="0">
              <a:solidFill>
                <a:srgbClr val="646464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8" r:id="rId1"/>
    <p:sldLayoutId id="2147484456" r:id="rId2"/>
    <p:sldLayoutId id="2147484457" r:id="rId3"/>
    <p:sldLayoutId id="2147484459" r:id="rId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  <a:ea typeface="맑은 고딕" pitchFamily="50" charset="-127"/>
        </a:defRPr>
      </a:lvl5pPr>
      <a:lvl6pPr marL="457171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342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513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684" algn="l" rtl="0" eaLnBrk="1" fontAlgn="base" latinLnBrk="1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58775" indent="-358775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1pPr>
      <a:lvl2pPr marL="715963" indent="-35401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2pPr>
      <a:lvl3pPr marL="1079500" indent="-360363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•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3pPr>
      <a:lvl4pPr marL="1439863" indent="-357188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–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4pPr>
      <a:lvl5pPr marL="1798638" indent="-355600" algn="l" rtl="0" eaLnBrk="0" fontAlgn="base" latinLnBrk="1" hangingPunct="0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»"/>
        <a:defRPr sz="1400">
          <a:solidFill>
            <a:schemeClr val="tx1"/>
          </a:solidFill>
          <a:latin typeface="나눔고딕" pitchFamily="50" charset="-127"/>
          <a:ea typeface="나눔고딕" pitchFamily="50" charset="-127"/>
        </a:defRPr>
      </a:lvl5pPr>
      <a:lvl6pPr marL="2257282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453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625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8796" indent="-357165" algn="l" rtl="0" eaLnBrk="1" fontAlgn="base" latinLnBrk="1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ko-KR"/>
      </a:defPPr>
      <a:lvl1pPr marL="0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9.jpeg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10" Type="http://schemas.openxmlformats.org/officeDocument/2006/relationships/image" Target="../media/image11.jpeg"/><Relationship Id="rId4" Type="http://schemas.openxmlformats.org/officeDocument/2006/relationships/image" Target="../media/image14.png"/><Relationship Id="rId9" Type="http://schemas.openxmlformats.org/officeDocument/2006/relationships/image" Target="../media/image9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903004" y="3338990"/>
            <a:ext cx="2236499" cy="464741"/>
          </a:xfrm>
        </p:spPr>
        <p:txBody>
          <a:bodyPr/>
          <a:lstStyle/>
          <a:p>
            <a:pPr algn="r"/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  <a:cs typeface="JBold" pitchFamily="18" charset="-127"/>
              </a:rPr>
              <a:t>패션시스템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  <a:cs typeface="JBold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 bwMode="auto">
          <a:xfrm>
            <a:off x="0" y="3143248"/>
            <a:ext cx="976853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6280945" y="3709971"/>
            <a:ext cx="2857520" cy="61912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180000" rtlCol="0" anchor="ctr" anchorCtr="0"/>
          <a:lstStyle/>
          <a:p>
            <a:pPr algn="r">
              <a:lnSpc>
                <a:spcPct val="200000"/>
              </a:lnSpc>
            </a:pPr>
            <a:r>
              <a:rPr lang="ko-KR" altLang="en-US" dirty="0" smtClean="0">
                <a:solidFill>
                  <a:schemeClr val="tx1"/>
                </a:solidFill>
                <a:latin typeface="+mn-ea"/>
                <a:cs typeface="JBold" pitchFamily="18" charset="-127"/>
              </a:rPr>
              <a:t>패션 시스템 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cs typeface="JBold" pitchFamily="18" charset="-127"/>
              </a:rPr>
              <a:t>Process</a:t>
            </a:r>
            <a:endParaRPr lang="ko-KR" altLang="en-US" dirty="0" smtClean="0">
              <a:solidFill>
                <a:schemeClr val="tx1"/>
              </a:solidFill>
              <a:latin typeface="+mn-ea"/>
              <a:cs typeface="JBold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패션시스템 구성도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시스템 현황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j-ea"/>
                <a:ea typeface="+mj-ea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+mj-ea"/>
                <a:ea typeface="+mj-ea"/>
              </a:rPr>
              <a:t>시스템 구성도</a:t>
            </a:r>
            <a:endParaRPr lang="ko-KR" altLang="en-US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1" name="AutoShape 35"/>
          <p:cNvSpPr>
            <a:spLocks noChangeArrowheads="1"/>
          </p:cNvSpPr>
          <p:nvPr/>
        </p:nvSpPr>
        <p:spPr bwMode="auto">
          <a:xfrm>
            <a:off x="344488" y="981075"/>
            <a:ext cx="9288462" cy="5484813"/>
          </a:xfrm>
          <a:prstGeom prst="roundRect">
            <a:avLst>
              <a:gd name="adj" fmla="val 1250"/>
            </a:avLst>
          </a:prstGeom>
          <a:gradFill rotWithShape="1">
            <a:gsLst>
              <a:gs pos="0">
                <a:srgbClr val="FFFFFF"/>
              </a:gs>
              <a:gs pos="100000">
                <a:srgbClr val="B8DCF2">
                  <a:alpha val="82999"/>
                </a:srgbClr>
              </a:gs>
            </a:gsLst>
            <a:lin ang="5400000" scaled="1"/>
          </a:gradFill>
          <a:ln w="12700" algn="ctr">
            <a:solidFill>
              <a:srgbClr val="386FB1"/>
            </a:solidFill>
            <a:round/>
            <a:headEnd/>
            <a:tailEnd/>
          </a:ln>
        </p:spPr>
        <p:txBody>
          <a:bodyPr lIns="91411" tIns="0" rIns="91411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endParaRPr lang="ko-KR" altLang="ko-KR" sz="1000" b="1">
              <a:solidFill>
                <a:srgbClr val="666666"/>
              </a:solidFill>
            </a:endParaRPr>
          </a:p>
        </p:txBody>
      </p:sp>
      <p:sp>
        <p:nvSpPr>
          <p:cNvPr id="42" name="AutoShape 92"/>
          <p:cNvSpPr>
            <a:spLocks noChangeArrowheads="1"/>
          </p:cNvSpPr>
          <p:nvPr/>
        </p:nvSpPr>
        <p:spPr bwMode="auto">
          <a:xfrm>
            <a:off x="417513" y="1092201"/>
            <a:ext cx="9107487" cy="3056880"/>
          </a:xfrm>
          <a:prstGeom prst="roundRect">
            <a:avLst>
              <a:gd name="adj" fmla="val 2417"/>
            </a:avLst>
          </a:prstGeom>
          <a:solidFill>
            <a:srgbClr val="E7F3FF"/>
          </a:solidFill>
          <a:ln w="9525">
            <a:solidFill>
              <a:srgbClr val="B6CF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/>
            <a:endParaRPr kumimoji="0" lang="ko-KR" altLang="en-US" sz="1000">
              <a:solidFill>
                <a:srgbClr val="000000"/>
              </a:solidFill>
            </a:endParaRPr>
          </a:p>
        </p:txBody>
      </p:sp>
      <p:sp>
        <p:nvSpPr>
          <p:cNvPr id="43" name="AutoShape 17"/>
          <p:cNvSpPr>
            <a:spLocks noChangeArrowheads="1"/>
          </p:cNvSpPr>
          <p:nvPr/>
        </p:nvSpPr>
        <p:spPr bwMode="auto">
          <a:xfrm>
            <a:off x="490538" y="1144588"/>
            <a:ext cx="723900" cy="2801460"/>
          </a:xfrm>
          <a:prstGeom prst="roundRect">
            <a:avLst>
              <a:gd name="adj" fmla="val 16667"/>
            </a:avLst>
          </a:prstGeom>
          <a:solidFill>
            <a:srgbClr val="ADD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</a:pPr>
            <a:r>
              <a:rPr kumimoji="0" lang="ko-KR" altLang="en-US" sz="1000" dirty="0" smtClean="0">
                <a:solidFill>
                  <a:srgbClr val="000000"/>
                </a:solidFill>
              </a:rPr>
              <a:t>내부</a:t>
            </a:r>
            <a:endParaRPr kumimoji="0" lang="en-US" altLang="ko-KR" sz="1000" dirty="0" smtClean="0">
              <a:solidFill>
                <a:srgbClr val="000000"/>
              </a:solidFill>
            </a:endParaRPr>
          </a:p>
          <a:p>
            <a:pPr algn="ctr" eaLnBrk="1" latinLnBrk="0" hangingPunct="1">
              <a:buClr>
                <a:srgbClr val="000000"/>
              </a:buClr>
            </a:pPr>
            <a:r>
              <a:rPr kumimoji="0" lang="ko-KR" altLang="en-US" sz="1000" dirty="0" smtClean="0">
                <a:solidFill>
                  <a:srgbClr val="000000"/>
                </a:solidFill>
              </a:rPr>
              <a:t>사용자</a:t>
            </a:r>
            <a:endParaRPr kumimoji="0" lang="en-US" altLang="ko-KR" sz="1000" dirty="0">
              <a:solidFill>
                <a:srgbClr val="000000"/>
              </a:solidFill>
            </a:endParaRPr>
          </a:p>
          <a:p>
            <a:pPr algn="ctr" eaLnBrk="1" latinLnBrk="0" hangingPunct="1">
              <a:buClr>
                <a:srgbClr val="000000"/>
              </a:buClr>
            </a:pPr>
            <a:endParaRPr kumimoji="0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63" name="Rectangle 131"/>
          <p:cNvSpPr>
            <a:spLocks noChangeArrowheads="1"/>
          </p:cNvSpPr>
          <p:nvPr/>
        </p:nvSpPr>
        <p:spPr bwMode="auto">
          <a:xfrm>
            <a:off x="1311275" y="1144588"/>
            <a:ext cx="4283075" cy="2914482"/>
          </a:xfrm>
          <a:prstGeom prst="roundRect">
            <a:avLst>
              <a:gd name="adj" fmla="val 5292"/>
            </a:avLst>
          </a:prstGeom>
          <a:gradFill rotWithShape="1">
            <a:gsLst>
              <a:gs pos="0">
                <a:schemeClr val="bg1">
                  <a:alpha val="40999"/>
                </a:schemeClr>
              </a:gs>
              <a:gs pos="100000">
                <a:schemeClr val="bg1"/>
              </a:gs>
            </a:gsLst>
            <a:lin ang="5400000" scaled="1"/>
          </a:gradFill>
          <a:ln w="2540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wrap="none" lIns="46800" tIns="180000" rIns="46800" bIns="90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ko-KR" altLang="en-US" sz="1000" b="1"/>
          </a:p>
        </p:txBody>
      </p:sp>
      <p:grpSp>
        <p:nvGrpSpPr>
          <p:cNvPr id="71" name="그룹 440"/>
          <p:cNvGrpSpPr>
            <a:grpSpLocks/>
          </p:cNvGrpSpPr>
          <p:nvPr/>
        </p:nvGrpSpPr>
        <p:grpSpPr bwMode="auto">
          <a:xfrm>
            <a:off x="1338263" y="1989138"/>
            <a:ext cx="1354137" cy="427037"/>
            <a:chOff x="1278997" y="2147729"/>
            <a:chExt cx="1584325" cy="478634"/>
          </a:xfrm>
        </p:grpSpPr>
        <p:pic>
          <p:nvPicPr>
            <p:cNvPr id="81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AutoShape 138"/>
            <p:cNvSpPr>
              <a:spLocks noChangeArrowheads="1"/>
            </p:cNvSpPr>
            <p:nvPr/>
          </p:nvSpPr>
          <p:spPr bwMode="auto">
            <a:xfrm>
              <a:off x="1340128" y="2147729"/>
              <a:ext cx="1473699" cy="430797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수출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</a:t>
              </a:r>
              <a:r>
                <a:rPr lang="ko-KR" altLang="en-US" sz="1000" dirty="0" err="1" smtClean="0">
                  <a:solidFill>
                    <a:srgbClr val="000066"/>
                  </a:solidFill>
                </a:rPr>
                <a:t>소싱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)/Export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84" name="그룹 455"/>
          <p:cNvGrpSpPr>
            <a:grpSpLocks/>
          </p:cNvGrpSpPr>
          <p:nvPr/>
        </p:nvGrpSpPr>
        <p:grpSpPr bwMode="auto">
          <a:xfrm>
            <a:off x="2717800" y="1501775"/>
            <a:ext cx="1401763" cy="404813"/>
            <a:chOff x="1278997" y="2172338"/>
            <a:chExt cx="1584325" cy="454025"/>
          </a:xfrm>
        </p:grpSpPr>
        <p:pic>
          <p:nvPicPr>
            <p:cNvPr id="85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정보관리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87" name="그룹 470"/>
          <p:cNvGrpSpPr>
            <a:grpSpLocks/>
          </p:cNvGrpSpPr>
          <p:nvPr/>
        </p:nvGrpSpPr>
        <p:grpSpPr bwMode="auto">
          <a:xfrm>
            <a:off x="4143375" y="1501775"/>
            <a:ext cx="1354138" cy="404813"/>
            <a:chOff x="1278997" y="2172338"/>
            <a:chExt cx="1584325" cy="454025"/>
          </a:xfrm>
        </p:grpSpPr>
        <p:pic>
          <p:nvPicPr>
            <p:cNvPr id="88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상품기획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90" name="그룹 443"/>
          <p:cNvGrpSpPr>
            <a:grpSpLocks/>
          </p:cNvGrpSpPr>
          <p:nvPr/>
        </p:nvGrpSpPr>
        <p:grpSpPr bwMode="auto">
          <a:xfrm>
            <a:off x="1338263" y="2501900"/>
            <a:ext cx="1354137" cy="427038"/>
            <a:chOff x="1278997" y="2147729"/>
            <a:chExt cx="1584325" cy="478634"/>
          </a:xfrm>
        </p:grpSpPr>
        <p:pic>
          <p:nvPicPr>
            <p:cNvPr id="91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AutoShape 138"/>
            <p:cNvSpPr>
              <a:spLocks noChangeArrowheads="1"/>
            </p:cNvSpPr>
            <p:nvPr/>
          </p:nvSpPr>
          <p:spPr bwMode="auto">
            <a:xfrm>
              <a:off x="1340128" y="2147729"/>
              <a:ext cx="1473699" cy="430807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영업기획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93" name="그룹 458"/>
          <p:cNvGrpSpPr>
            <a:grpSpLocks/>
          </p:cNvGrpSpPr>
          <p:nvPr/>
        </p:nvGrpSpPr>
        <p:grpSpPr bwMode="auto">
          <a:xfrm>
            <a:off x="2717800" y="2014538"/>
            <a:ext cx="1401763" cy="404812"/>
            <a:chOff x="1278997" y="2172338"/>
            <a:chExt cx="1584325" cy="454025"/>
          </a:xfrm>
        </p:grpSpPr>
        <p:pic>
          <p:nvPicPr>
            <p:cNvPr id="94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발주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/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구매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97" name="그룹 473"/>
          <p:cNvGrpSpPr>
            <a:grpSpLocks/>
          </p:cNvGrpSpPr>
          <p:nvPr/>
        </p:nvGrpSpPr>
        <p:grpSpPr bwMode="auto">
          <a:xfrm>
            <a:off x="4143375" y="2014538"/>
            <a:ext cx="1354138" cy="404812"/>
            <a:chOff x="1278997" y="2172338"/>
            <a:chExt cx="1584325" cy="454025"/>
          </a:xfrm>
        </p:grpSpPr>
        <p:pic>
          <p:nvPicPr>
            <p:cNvPr id="98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물류관리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0" name="그룹 446"/>
          <p:cNvGrpSpPr>
            <a:grpSpLocks/>
          </p:cNvGrpSpPr>
          <p:nvPr/>
        </p:nvGrpSpPr>
        <p:grpSpPr bwMode="auto">
          <a:xfrm>
            <a:off x="1338263" y="3013075"/>
            <a:ext cx="1354137" cy="427038"/>
            <a:chOff x="1278997" y="2147730"/>
            <a:chExt cx="1584325" cy="478633"/>
          </a:xfrm>
        </p:grpSpPr>
        <p:pic>
          <p:nvPicPr>
            <p:cNvPr id="101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" name="AutoShape 138"/>
            <p:cNvSpPr>
              <a:spLocks noChangeArrowheads="1"/>
            </p:cNvSpPr>
            <p:nvPr/>
          </p:nvSpPr>
          <p:spPr bwMode="auto">
            <a:xfrm>
              <a:off x="1340128" y="2147730"/>
              <a:ext cx="1473699" cy="43080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고객관리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3" name="그룹 461"/>
          <p:cNvGrpSpPr>
            <a:grpSpLocks/>
          </p:cNvGrpSpPr>
          <p:nvPr/>
        </p:nvGrpSpPr>
        <p:grpSpPr bwMode="auto">
          <a:xfrm>
            <a:off x="2717800" y="2525713"/>
            <a:ext cx="1401763" cy="404812"/>
            <a:chOff x="1278997" y="2172338"/>
            <a:chExt cx="1584325" cy="454025"/>
          </a:xfrm>
        </p:grpSpPr>
        <p:pic>
          <p:nvPicPr>
            <p:cNvPr id="104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영업관리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06" name="그룹 476"/>
          <p:cNvGrpSpPr>
            <a:grpSpLocks/>
          </p:cNvGrpSpPr>
          <p:nvPr/>
        </p:nvGrpSpPr>
        <p:grpSpPr bwMode="auto">
          <a:xfrm>
            <a:off x="4143375" y="2525713"/>
            <a:ext cx="1354138" cy="404812"/>
            <a:chOff x="1278997" y="2172338"/>
            <a:chExt cx="1584325" cy="454025"/>
          </a:xfrm>
        </p:grpSpPr>
        <p:pic>
          <p:nvPicPr>
            <p:cNvPr id="107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8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54000" rIns="54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F-POS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12" name="그룹 464"/>
          <p:cNvGrpSpPr>
            <a:grpSpLocks/>
          </p:cNvGrpSpPr>
          <p:nvPr/>
        </p:nvGrpSpPr>
        <p:grpSpPr bwMode="auto">
          <a:xfrm>
            <a:off x="2717800" y="3038475"/>
            <a:ext cx="1401763" cy="404813"/>
            <a:chOff x="1278997" y="2172338"/>
            <a:chExt cx="1584325" cy="454025"/>
          </a:xfrm>
        </p:grpSpPr>
        <p:pic>
          <p:nvPicPr>
            <p:cNvPr id="113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4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A/S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15" name="그룹 479"/>
          <p:cNvGrpSpPr>
            <a:grpSpLocks/>
          </p:cNvGrpSpPr>
          <p:nvPr/>
        </p:nvGrpSpPr>
        <p:grpSpPr bwMode="auto">
          <a:xfrm>
            <a:off x="4143375" y="3038475"/>
            <a:ext cx="1354138" cy="404813"/>
            <a:chOff x="1278997" y="2172338"/>
            <a:chExt cx="1584325" cy="454025"/>
          </a:xfrm>
        </p:grpSpPr>
        <p:pic>
          <p:nvPicPr>
            <p:cNvPr id="116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게시판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pic>
        <p:nvPicPr>
          <p:cNvPr id="119" name="Picture 134" descr="네모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796" y="3540966"/>
            <a:ext cx="1354137" cy="405082"/>
          </a:xfrm>
          <a:prstGeom prst="rect">
            <a:avLst/>
          </a:prstGeom>
          <a:solidFill>
            <a:schemeClr val="accent3">
              <a:lumMod val="20000"/>
              <a:lumOff val="80000"/>
              <a:alpha val="69000"/>
            </a:schemeClr>
          </a:solidFill>
          <a:ln>
            <a:noFill/>
          </a:ln>
        </p:spPr>
      </p:pic>
      <p:sp>
        <p:nvSpPr>
          <p:cNvPr id="120" name="AutoShape 138"/>
          <p:cNvSpPr>
            <a:spLocks noChangeArrowheads="1"/>
          </p:cNvSpPr>
          <p:nvPr/>
        </p:nvSpPr>
        <p:spPr bwMode="auto">
          <a:xfrm>
            <a:off x="1382045" y="3519010"/>
            <a:ext cx="1259584" cy="384365"/>
          </a:xfrm>
          <a:prstGeom prst="roundRect">
            <a:avLst>
              <a:gd name="adj" fmla="val 5829"/>
            </a:avLst>
          </a:prstGeom>
          <a:noFill/>
          <a:ln>
            <a:noFill/>
          </a:ln>
          <a:effectLst>
            <a:prstShdw prst="shdw17" dist="17961" dir="13500000">
              <a:srgbClr val="8792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rIns="90000" anchor="ctr"/>
          <a:lstStyle>
            <a:lvl1pPr marL="82550" indent="-8255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r>
              <a:rPr lang="ko-KR" altLang="en-US" sz="1000" dirty="0" smtClean="0">
                <a:solidFill>
                  <a:srgbClr val="000066"/>
                </a:solidFill>
              </a:rPr>
              <a:t>협력업체</a:t>
            </a:r>
            <a:endParaRPr lang="ko-KR" altLang="en-US" sz="1000" dirty="0">
              <a:solidFill>
                <a:srgbClr val="000066"/>
              </a:solidFill>
            </a:endParaRPr>
          </a:p>
        </p:txBody>
      </p:sp>
      <p:sp>
        <p:nvSpPr>
          <p:cNvPr id="127" name="AutoShape 45"/>
          <p:cNvSpPr>
            <a:spLocks noChangeArrowheads="1"/>
          </p:cNvSpPr>
          <p:nvPr/>
        </p:nvSpPr>
        <p:spPr bwMode="auto">
          <a:xfrm>
            <a:off x="1329796" y="1135063"/>
            <a:ext cx="4249701" cy="277812"/>
          </a:xfrm>
          <a:prstGeom prst="roundRect">
            <a:avLst>
              <a:gd name="adj" fmla="val 300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r>
              <a:rPr lang="ko-KR" altLang="en-US" sz="1200" b="1" dirty="0" smtClean="0">
                <a:solidFill>
                  <a:srgbClr val="000066"/>
                </a:solidFill>
              </a:rPr>
              <a:t>신성</a:t>
            </a:r>
            <a:r>
              <a:rPr lang="en-US" altLang="ko-KR" sz="1200" b="1" dirty="0" smtClean="0">
                <a:solidFill>
                  <a:srgbClr val="000066"/>
                </a:solidFill>
              </a:rPr>
              <a:t>/</a:t>
            </a:r>
            <a:r>
              <a:rPr lang="ko-KR" altLang="en-US" sz="1200" b="1" dirty="0" err="1" smtClean="0">
                <a:solidFill>
                  <a:srgbClr val="000066"/>
                </a:solidFill>
              </a:rPr>
              <a:t>에이션</a:t>
            </a:r>
            <a:r>
              <a:rPr lang="ko-KR" altLang="en-US" sz="1200" b="1" dirty="0" smtClean="0">
                <a:solidFill>
                  <a:srgbClr val="000066"/>
                </a:solidFill>
              </a:rPr>
              <a:t> 패션</a:t>
            </a:r>
            <a:r>
              <a:rPr lang="en-US" altLang="ko-KR" sz="1200" b="1" dirty="0" smtClean="0">
                <a:solidFill>
                  <a:srgbClr val="000066"/>
                </a:solidFill>
              </a:rPr>
              <a:t> </a:t>
            </a:r>
            <a:r>
              <a:rPr lang="ko-KR" altLang="en-US" sz="1200" b="1" dirty="0" smtClean="0">
                <a:solidFill>
                  <a:srgbClr val="000066"/>
                </a:solidFill>
              </a:rPr>
              <a:t>시스템</a:t>
            </a:r>
            <a:endParaRPr lang="ko-KR" altLang="en-US" sz="1200" b="1" dirty="0">
              <a:solidFill>
                <a:srgbClr val="000066"/>
              </a:solidFill>
            </a:endParaRPr>
          </a:p>
        </p:txBody>
      </p:sp>
      <p:sp>
        <p:nvSpPr>
          <p:cNvPr id="136" name="Rectangle 131"/>
          <p:cNvSpPr>
            <a:spLocks noChangeArrowheads="1"/>
          </p:cNvSpPr>
          <p:nvPr/>
        </p:nvSpPr>
        <p:spPr bwMode="auto">
          <a:xfrm>
            <a:off x="5697537" y="1144588"/>
            <a:ext cx="3717925" cy="2914482"/>
          </a:xfrm>
          <a:prstGeom prst="roundRect">
            <a:avLst>
              <a:gd name="adj" fmla="val 5292"/>
            </a:avLst>
          </a:prstGeom>
          <a:gradFill rotWithShape="1">
            <a:gsLst>
              <a:gs pos="0">
                <a:schemeClr val="bg1">
                  <a:alpha val="40999"/>
                </a:schemeClr>
              </a:gs>
              <a:gs pos="100000">
                <a:schemeClr val="bg1"/>
              </a:gs>
            </a:gsLst>
            <a:lin ang="5400000" scaled="1"/>
          </a:gradFill>
          <a:ln w="2540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wrap="none" lIns="46800" tIns="180000" rIns="46800" bIns="90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ko-KR" altLang="en-US" sz="1000" b="1"/>
          </a:p>
        </p:txBody>
      </p:sp>
      <p:grpSp>
        <p:nvGrpSpPr>
          <p:cNvPr id="137" name="그룹 500"/>
          <p:cNvGrpSpPr>
            <a:grpSpLocks/>
          </p:cNvGrpSpPr>
          <p:nvPr/>
        </p:nvGrpSpPr>
        <p:grpSpPr bwMode="auto">
          <a:xfrm>
            <a:off x="5808663" y="1501775"/>
            <a:ext cx="1885950" cy="404813"/>
            <a:chOff x="1278997" y="2172338"/>
            <a:chExt cx="1584325" cy="454025"/>
          </a:xfrm>
        </p:grpSpPr>
        <p:pic>
          <p:nvPicPr>
            <p:cNvPr id="138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AutoShape 138"/>
            <p:cNvSpPr>
              <a:spLocks noChangeArrowheads="1"/>
            </p:cNvSpPr>
            <p:nvPr/>
          </p:nvSpPr>
          <p:spPr bwMode="auto">
            <a:xfrm>
              <a:off x="1339463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회계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(K-ONE)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40" name="그룹 503"/>
          <p:cNvGrpSpPr>
            <a:grpSpLocks/>
          </p:cNvGrpSpPr>
          <p:nvPr/>
        </p:nvGrpSpPr>
        <p:grpSpPr bwMode="auto">
          <a:xfrm>
            <a:off x="5808663" y="2014538"/>
            <a:ext cx="1885950" cy="404812"/>
            <a:chOff x="1278997" y="2172338"/>
            <a:chExt cx="1584325" cy="454025"/>
          </a:xfrm>
        </p:grpSpPr>
        <p:pic>
          <p:nvPicPr>
            <p:cNvPr id="141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2" name="AutoShape 138"/>
            <p:cNvSpPr>
              <a:spLocks noChangeArrowheads="1"/>
            </p:cNvSpPr>
            <p:nvPr/>
          </p:nvSpPr>
          <p:spPr bwMode="auto">
            <a:xfrm>
              <a:off x="1339463" y="2176338"/>
              <a:ext cx="1473697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err="1" smtClean="0">
                  <a:solidFill>
                    <a:srgbClr val="000066"/>
                  </a:solidFill>
                </a:rPr>
                <a:t>gHR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인사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)</a:t>
              </a:r>
            </a:p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S-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인사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인사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, 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계약직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)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43" name="그룹 506"/>
          <p:cNvGrpSpPr>
            <a:grpSpLocks/>
          </p:cNvGrpSpPr>
          <p:nvPr/>
        </p:nvGrpSpPr>
        <p:grpSpPr bwMode="auto">
          <a:xfrm>
            <a:off x="5808663" y="2525713"/>
            <a:ext cx="1885950" cy="404812"/>
            <a:chOff x="1278997" y="2172338"/>
            <a:chExt cx="1584325" cy="454025"/>
          </a:xfrm>
        </p:grpSpPr>
        <p:pic>
          <p:nvPicPr>
            <p:cNvPr id="144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5" name="AutoShape 138"/>
            <p:cNvSpPr>
              <a:spLocks noChangeArrowheads="1"/>
            </p:cNvSpPr>
            <p:nvPr/>
          </p:nvSpPr>
          <p:spPr bwMode="auto">
            <a:xfrm>
              <a:off x="1339463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물류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(WMS)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146" name="AutoShape 45"/>
          <p:cNvSpPr>
            <a:spLocks noChangeArrowheads="1"/>
          </p:cNvSpPr>
          <p:nvPr/>
        </p:nvSpPr>
        <p:spPr bwMode="auto">
          <a:xfrm>
            <a:off x="5745163" y="1127125"/>
            <a:ext cx="3670299" cy="277813"/>
          </a:xfrm>
          <a:prstGeom prst="roundRect">
            <a:avLst>
              <a:gd name="adj" fmla="val 300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r>
              <a:rPr lang="en-US" altLang="ko-KR" sz="1200" b="1" dirty="0">
                <a:solidFill>
                  <a:srgbClr val="000066"/>
                </a:solidFill>
              </a:rPr>
              <a:t>Interface</a:t>
            </a:r>
          </a:p>
        </p:txBody>
      </p:sp>
      <p:sp>
        <p:nvSpPr>
          <p:cNvPr id="147" name="AutoShape 332"/>
          <p:cNvSpPr>
            <a:spLocks noChangeArrowheads="1"/>
          </p:cNvSpPr>
          <p:nvPr/>
        </p:nvSpPr>
        <p:spPr bwMode="auto">
          <a:xfrm>
            <a:off x="5497513" y="2438400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sp>
        <p:nvSpPr>
          <p:cNvPr id="148" name="AutoShape 333"/>
          <p:cNvSpPr>
            <a:spLocks noChangeArrowheads="1"/>
          </p:cNvSpPr>
          <p:nvPr/>
        </p:nvSpPr>
        <p:spPr bwMode="auto">
          <a:xfrm>
            <a:off x="5497513" y="1733550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grpSp>
        <p:nvGrpSpPr>
          <p:cNvPr id="149" name="그룹 488"/>
          <p:cNvGrpSpPr>
            <a:grpSpLocks/>
          </p:cNvGrpSpPr>
          <p:nvPr/>
        </p:nvGrpSpPr>
        <p:grpSpPr bwMode="auto">
          <a:xfrm>
            <a:off x="7891025" y="2501900"/>
            <a:ext cx="1328737" cy="404813"/>
            <a:chOff x="1278997" y="2172338"/>
            <a:chExt cx="1584325" cy="454025"/>
          </a:xfrm>
        </p:grpSpPr>
        <p:pic>
          <p:nvPicPr>
            <p:cNvPr id="150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1" name="AutoShape 138"/>
            <p:cNvSpPr>
              <a:spLocks noChangeArrowheads="1"/>
            </p:cNvSpPr>
            <p:nvPr/>
          </p:nvSpPr>
          <p:spPr bwMode="auto">
            <a:xfrm>
              <a:off x="1339489" y="2176337"/>
              <a:ext cx="1473696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endParaRPr lang="ko-KR" altLang="en-US" sz="1000">
                <a:solidFill>
                  <a:srgbClr val="000066"/>
                </a:solidFill>
              </a:endParaRPr>
            </a:p>
          </p:txBody>
        </p:sp>
      </p:grpSp>
      <p:grpSp>
        <p:nvGrpSpPr>
          <p:cNvPr id="155" name="그룹 506"/>
          <p:cNvGrpSpPr>
            <a:grpSpLocks/>
          </p:cNvGrpSpPr>
          <p:nvPr/>
        </p:nvGrpSpPr>
        <p:grpSpPr bwMode="auto">
          <a:xfrm>
            <a:off x="5808663" y="3041650"/>
            <a:ext cx="1885950" cy="404813"/>
            <a:chOff x="1278997" y="2172338"/>
            <a:chExt cx="1584325" cy="454025"/>
          </a:xfrm>
        </p:grpSpPr>
        <p:pic>
          <p:nvPicPr>
            <p:cNvPr id="156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" name="AutoShape 138"/>
            <p:cNvSpPr>
              <a:spLocks noChangeArrowheads="1"/>
            </p:cNvSpPr>
            <p:nvPr/>
          </p:nvSpPr>
          <p:spPr bwMode="auto">
            <a:xfrm>
              <a:off x="1339463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>
                  <a:solidFill>
                    <a:srgbClr val="000066"/>
                  </a:solidFill>
                </a:rPr>
                <a:t>SMS,VAN</a:t>
              </a:r>
              <a:r>
                <a:rPr lang="ko-KR" altLang="en-US" sz="1000" dirty="0">
                  <a:solidFill>
                    <a:srgbClr val="000066"/>
                  </a:solidFill>
                </a:rPr>
                <a:t>사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158" name="AutoShape 340"/>
          <p:cNvSpPr>
            <a:spLocks noChangeArrowheads="1"/>
          </p:cNvSpPr>
          <p:nvPr/>
        </p:nvSpPr>
        <p:spPr bwMode="auto">
          <a:xfrm>
            <a:off x="5497513" y="3163888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sp>
        <p:nvSpPr>
          <p:cNvPr id="159" name="AutoShape 138"/>
          <p:cNvSpPr>
            <a:spLocks noChangeArrowheads="1"/>
          </p:cNvSpPr>
          <p:nvPr/>
        </p:nvSpPr>
        <p:spPr bwMode="auto">
          <a:xfrm>
            <a:off x="7923330" y="2522538"/>
            <a:ext cx="1236663" cy="384175"/>
          </a:xfrm>
          <a:prstGeom prst="roundRect">
            <a:avLst>
              <a:gd name="adj" fmla="val 5829"/>
            </a:avLst>
          </a:prstGeom>
          <a:noFill/>
          <a:ln>
            <a:noFill/>
          </a:ln>
          <a:effectLst>
            <a:prstShdw prst="shdw17" dist="17961" dir="13500000">
              <a:srgbClr val="8792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rIns="90000" anchor="ctr"/>
          <a:lstStyle>
            <a:lvl1pPr marL="82550" indent="-8255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839788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defTabSz="83978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r>
              <a:rPr lang="ko-KR" altLang="en-US" sz="1000" dirty="0" err="1">
                <a:solidFill>
                  <a:srgbClr val="000066"/>
                </a:solidFill>
              </a:rPr>
              <a:t>태</a:t>
            </a:r>
            <a:r>
              <a:rPr lang="ko-KR" altLang="en-US" sz="1000" dirty="0" err="1" smtClean="0">
                <a:solidFill>
                  <a:srgbClr val="000066"/>
                </a:solidFill>
              </a:rPr>
              <a:t>블로</a:t>
            </a:r>
            <a:endParaRPr lang="en-US" altLang="ko-KR" sz="1000" dirty="0">
              <a:solidFill>
                <a:srgbClr val="000066"/>
              </a:solidFill>
            </a:endParaRPr>
          </a:p>
        </p:txBody>
      </p:sp>
      <p:grpSp>
        <p:nvGrpSpPr>
          <p:cNvPr id="160" name="그룹 440"/>
          <p:cNvGrpSpPr>
            <a:grpSpLocks/>
          </p:cNvGrpSpPr>
          <p:nvPr/>
        </p:nvGrpSpPr>
        <p:grpSpPr bwMode="auto">
          <a:xfrm>
            <a:off x="1333500" y="1489075"/>
            <a:ext cx="1354138" cy="427038"/>
            <a:chOff x="1278997" y="2147729"/>
            <a:chExt cx="1584325" cy="478634"/>
          </a:xfrm>
        </p:grpSpPr>
        <p:pic>
          <p:nvPicPr>
            <p:cNvPr id="161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" name="AutoShape 138"/>
            <p:cNvSpPr>
              <a:spLocks noChangeArrowheads="1"/>
            </p:cNvSpPr>
            <p:nvPr/>
          </p:nvSpPr>
          <p:spPr bwMode="auto">
            <a:xfrm>
              <a:off x="1340128" y="2147729"/>
              <a:ext cx="1473699" cy="430797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공통관리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64" name="그룹 464"/>
          <p:cNvGrpSpPr>
            <a:grpSpLocks/>
          </p:cNvGrpSpPr>
          <p:nvPr/>
        </p:nvGrpSpPr>
        <p:grpSpPr bwMode="auto">
          <a:xfrm>
            <a:off x="2706158" y="3519010"/>
            <a:ext cx="1401763" cy="404812"/>
            <a:chOff x="1278997" y="2172338"/>
            <a:chExt cx="1584325" cy="454025"/>
          </a:xfrm>
        </p:grpSpPr>
        <p:pic>
          <p:nvPicPr>
            <p:cNvPr id="165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수출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(</a:t>
              </a:r>
              <a:r>
                <a:rPr lang="ko-KR" altLang="en-US" sz="1000" dirty="0" err="1" smtClean="0">
                  <a:solidFill>
                    <a:srgbClr val="000066"/>
                  </a:solidFill>
                </a:rPr>
                <a:t>소싱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)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현황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29" name="그룹 485"/>
          <p:cNvGrpSpPr>
            <a:grpSpLocks/>
          </p:cNvGrpSpPr>
          <p:nvPr/>
        </p:nvGrpSpPr>
        <p:grpSpPr bwMode="auto">
          <a:xfrm>
            <a:off x="7878325" y="1512888"/>
            <a:ext cx="1328737" cy="404812"/>
            <a:chOff x="1278997" y="2172338"/>
            <a:chExt cx="1584325" cy="454025"/>
          </a:xfrm>
        </p:grpSpPr>
        <p:pic>
          <p:nvPicPr>
            <p:cNvPr id="130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" name="AutoShape 138"/>
            <p:cNvSpPr>
              <a:spLocks noChangeArrowheads="1"/>
            </p:cNvSpPr>
            <p:nvPr/>
          </p:nvSpPr>
          <p:spPr bwMode="auto">
            <a:xfrm>
              <a:off x="1339489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블랙워터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32" name="그룹 488"/>
          <p:cNvGrpSpPr>
            <a:grpSpLocks/>
          </p:cNvGrpSpPr>
          <p:nvPr/>
        </p:nvGrpSpPr>
        <p:grpSpPr bwMode="auto">
          <a:xfrm>
            <a:off x="7891025" y="1997075"/>
            <a:ext cx="1328737" cy="404813"/>
            <a:chOff x="1278997" y="2172338"/>
            <a:chExt cx="1584325" cy="454025"/>
          </a:xfrm>
        </p:grpSpPr>
        <p:pic>
          <p:nvPicPr>
            <p:cNvPr id="133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" name="AutoShape 138"/>
            <p:cNvSpPr>
              <a:spLocks noChangeArrowheads="1"/>
            </p:cNvSpPr>
            <p:nvPr/>
          </p:nvSpPr>
          <p:spPr bwMode="auto">
            <a:xfrm>
              <a:off x="1339489" y="2176338"/>
              <a:ext cx="1473697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Mobile</a:t>
              </a:r>
            </a:p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(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매장관리</a:t>
              </a:r>
              <a:r>
                <a:rPr lang="en-US" altLang="ko-KR" sz="1000" dirty="0" smtClean="0">
                  <a:solidFill>
                    <a:srgbClr val="000066"/>
                  </a:solidFill>
                </a:rPr>
                <a:t>App)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176" name="AutoShape 92"/>
          <p:cNvSpPr>
            <a:spLocks noChangeArrowheads="1"/>
          </p:cNvSpPr>
          <p:nvPr/>
        </p:nvSpPr>
        <p:spPr bwMode="auto">
          <a:xfrm>
            <a:off x="426508" y="4471832"/>
            <a:ext cx="9107487" cy="1685269"/>
          </a:xfrm>
          <a:prstGeom prst="roundRect">
            <a:avLst>
              <a:gd name="adj" fmla="val 2417"/>
            </a:avLst>
          </a:prstGeom>
          <a:solidFill>
            <a:srgbClr val="E7F3FF"/>
          </a:solidFill>
          <a:ln w="9525">
            <a:solidFill>
              <a:srgbClr val="B6CFD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/>
            <a:endParaRPr kumimoji="0" lang="ko-KR" altLang="en-US" sz="1000">
              <a:solidFill>
                <a:srgbClr val="000000"/>
              </a:solidFill>
            </a:endParaRPr>
          </a:p>
        </p:txBody>
      </p:sp>
      <p:sp>
        <p:nvSpPr>
          <p:cNvPr id="177" name="AutoShape 17"/>
          <p:cNvSpPr>
            <a:spLocks noChangeArrowheads="1"/>
          </p:cNvSpPr>
          <p:nvPr/>
        </p:nvSpPr>
        <p:spPr bwMode="auto">
          <a:xfrm>
            <a:off x="475686" y="4549620"/>
            <a:ext cx="723900" cy="1491773"/>
          </a:xfrm>
          <a:prstGeom prst="roundRect">
            <a:avLst>
              <a:gd name="adj" fmla="val 16667"/>
            </a:avLst>
          </a:prstGeom>
          <a:solidFill>
            <a:srgbClr val="ADD3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buClr>
                <a:srgbClr val="000000"/>
              </a:buClr>
            </a:pPr>
            <a:r>
              <a:rPr kumimoji="0" lang="ko-KR" altLang="en-US" sz="1000" dirty="0" smtClean="0">
                <a:solidFill>
                  <a:srgbClr val="000000"/>
                </a:solidFill>
              </a:rPr>
              <a:t>외부</a:t>
            </a:r>
            <a:endParaRPr kumimoji="0" lang="en-US" altLang="ko-KR" sz="1000" dirty="0" smtClean="0">
              <a:solidFill>
                <a:srgbClr val="000000"/>
              </a:solidFill>
            </a:endParaRPr>
          </a:p>
          <a:p>
            <a:pPr algn="ctr" eaLnBrk="1" latinLnBrk="0" hangingPunct="1">
              <a:buClr>
                <a:srgbClr val="000000"/>
              </a:buClr>
            </a:pPr>
            <a:r>
              <a:rPr kumimoji="0" lang="ko-KR" altLang="en-US" sz="1000" dirty="0" smtClean="0">
                <a:solidFill>
                  <a:srgbClr val="000000"/>
                </a:solidFill>
              </a:rPr>
              <a:t>사용자</a:t>
            </a:r>
            <a:endParaRPr kumimoji="0" lang="en-US" altLang="ko-KR" sz="1000" dirty="0">
              <a:solidFill>
                <a:srgbClr val="000000"/>
              </a:solidFill>
            </a:endParaRPr>
          </a:p>
          <a:p>
            <a:pPr algn="ctr" eaLnBrk="1" latinLnBrk="0" hangingPunct="1">
              <a:buClr>
                <a:srgbClr val="000000"/>
              </a:buClr>
            </a:pPr>
            <a:endParaRPr kumimoji="0" lang="ko-KR" altLang="en-US" sz="1000" dirty="0">
              <a:solidFill>
                <a:srgbClr val="000000"/>
              </a:solidFill>
            </a:endParaRPr>
          </a:p>
        </p:txBody>
      </p:sp>
      <p:sp>
        <p:nvSpPr>
          <p:cNvPr id="178" name="Rectangle 131"/>
          <p:cNvSpPr>
            <a:spLocks noChangeArrowheads="1"/>
          </p:cNvSpPr>
          <p:nvPr/>
        </p:nvSpPr>
        <p:spPr bwMode="auto">
          <a:xfrm>
            <a:off x="1296423" y="4549620"/>
            <a:ext cx="4283075" cy="1491773"/>
          </a:xfrm>
          <a:prstGeom prst="roundRect">
            <a:avLst>
              <a:gd name="adj" fmla="val 5292"/>
            </a:avLst>
          </a:prstGeom>
          <a:gradFill rotWithShape="1">
            <a:gsLst>
              <a:gs pos="0">
                <a:schemeClr val="bg1">
                  <a:alpha val="40999"/>
                </a:schemeClr>
              </a:gs>
              <a:gs pos="100000">
                <a:schemeClr val="bg1"/>
              </a:gs>
            </a:gsLst>
            <a:lin ang="5400000" scaled="1"/>
          </a:gradFill>
          <a:ln w="25400" algn="ctr">
            <a:solidFill>
              <a:srgbClr val="FF6600"/>
            </a:solidFill>
            <a:prstDash val="sysDot"/>
            <a:round/>
            <a:headEnd/>
            <a:tailEnd/>
          </a:ln>
        </p:spPr>
        <p:txBody>
          <a:bodyPr wrap="none" lIns="46800" tIns="180000" rIns="46800" bIns="9000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spcBef>
                <a:spcPts val="200"/>
              </a:spcBef>
              <a:buFont typeface="Arial" panose="020B0604020202020204" pitchFamily="34" charset="0"/>
              <a:buNone/>
            </a:pPr>
            <a:endParaRPr lang="ko-KR" altLang="en-US" sz="1000" b="1"/>
          </a:p>
        </p:txBody>
      </p:sp>
      <p:grpSp>
        <p:nvGrpSpPr>
          <p:cNvPr id="179" name="그룹 440"/>
          <p:cNvGrpSpPr>
            <a:grpSpLocks/>
          </p:cNvGrpSpPr>
          <p:nvPr/>
        </p:nvGrpSpPr>
        <p:grpSpPr bwMode="auto">
          <a:xfrm>
            <a:off x="1323411" y="5394170"/>
            <a:ext cx="1354137" cy="427037"/>
            <a:chOff x="1278997" y="2147729"/>
            <a:chExt cx="1584325" cy="478634"/>
          </a:xfrm>
        </p:grpSpPr>
        <p:pic>
          <p:nvPicPr>
            <p:cNvPr id="180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AutoShape 138"/>
            <p:cNvSpPr>
              <a:spLocks noChangeArrowheads="1"/>
            </p:cNvSpPr>
            <p:nvPr/>
          </p:nvSpPr>
          <p:spPr bwMode="auto">
            <a:xfrm>
              <a:off x="1340128" y="2147729"/>
              <a:ext cx="1473699" cy="430797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A/S</a:t>
              </a:r>
              <a:r>
                <a:rPr lang="ko-KR" altLang="en-US" sz="1000" dirty="0" smtClean="0">
                  <a:solidFill>
                    <a:srgbClr val="000066"/>
                  </a:solidFill>
                </a:rPr>
                <a:t>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82" name="그룹 455"/>
          <p:cNvGrpSpPr>
            <a:grpSpLocks/>
          </p:cNvGrpSpPr>
          <p:nvPr/>
        </p:nvGrpSpPr>
        <p:grpSpPr bwMode="auto">
          <a:xfrm>
            <a:off x="2702948" y="4906807"/>
            <a:ext cx="1401763" cy="404813"/>
            <a:chOff x="1278997" y="2172338"/>
            <a:chExt cx="1584325" cy="454025"/>
          </a:xfrm>
        </p:grpSpPr>
        <p:pic>
          <p:nvPicPr>
            <p:cNvPr id="183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en-US" altLang="ko-KR" sz="1000" dirty="0" smtClean="0">
                  <a:solidFill>
                    <a:srgbClr val="000066"/>
                  </a:solidFill>
                </a:rPr>
                <a:t>F-POS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85" name="그룹 470"/>
          <p:cNvGrpSpPr>
            <a:grpSpLocks/>
          </p:cNvGrpSpPr>
          <p:nvPr/>
        </p:nvGrpSpPr>
        <p:grpSpPr bwMode="auto">
          <a:xfrm>
            <a:off x="4128523" y="4906807"/>
            <a:ext cx="1354138" cy="404813"/>
            <a:chOff x="1278997" y="2172338"/>
            <a:chExt cx="1584325" cy="454025"/>
          </a:xfrm>
        </p:grpSpPr>
        <p:pic>
          <p:nvPicPr>
            <p:cNvPr id="188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0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고객관리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197" name="그룹 458"/>
          <p:cNvGrpSpPr>
            <a:grpSpLocks/>
          </p:cNvGrpSpPr>
          <p:nvPr/>
        </p:nvGrpSpPr>
        <p:grpSpPr bwMode="auto">
          <a:xfrm>
            <a:off x="2702948" y="5419570"/>
            <a:ext cx="1401763" cy="404812"/>
            <a:chOff x="1278997" y="2172338"/>
            <a:chExt cx="1584325" cy="454025"/>
          </a:xfrm>
        </p:grpSpPr>
        <p:pic>
          <p:nvPicPr>
            <p:cNvPr id="198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9" name="AutoShape 138"/>
            <p:cNvSpPr>
              <a:spLocks noChangeArrowheads="1"/>
            </p:cNvSpPr>
            <p:nvPr/>
          </p:nvSpPr>
          <p:spPr bwMode="auto">
            <a:xfrm>
              <a:off x="1340874" y="2176338"/>
              <a:ext cx="1471515" cy="432024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게시판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sp>
        <p:nvSpPr>
          <p:cNvPr id="221" name="AutoShape 45"/>
          <p:cNvSpPr>
            <a:spLocks noChangeArrowheads="1"/>
          </p:cNvSpPr>
          <p:nvPr/>
        </p:nvSpPr>
        <p:spPr bwMode="auto">
          <a:xfrm>
            <a:off x="1296423" y="4540095"/>
            <a:ext cx="4283074" cy="277812"/>
          </a:xfrm>
          <a:prstGeom prst="roundRect">
            <a:avLst>
              <a:gd name="adj" fmla="val 300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0" hangingPunct="1">
              <a:lnSpc>
                <a:spcPct val="120000"/>
              </a:lnSpc>
              <a:buFont typeface="Times New Roman" panose="02020603050405020304" pitchFamily="18" charset="0"/>
              <a:buNone/>
            </a:pPr>
            <a:r>
              <a:rPr lang="ko-KR" altLang="en-US" sz="1200" b="1" dirty="0" smtClean="0">
                <a:solidFill>
                  <a:srgbClr val="000066"/>
                </a:solidFill>
              </a:rPr>
              <a:t>신성</a:t>
            </a:r>
            <a:r>
              <a:rPr lang="en-US" altLang="ko-KR" sz="1200" b="1" dirty="0" smtClean="0">
                <a:solidFill>
                  <a:srgbClr val="000066"/>
                </a:solidFill>
              </a:rPr>
              <a:t>/</a:t>
            </a:r>
            <a:r>
              <a:rPr lang="ko-KR" altLang="en-US" sz="1200" b="1" dirty="0" err="1" smtClean="0">
                <a:solidFill>
                  <a:srgbClr val="000066"/>
                </a:solidFill>
              </a:rPr>
              <a:t>에이션</a:t>
            </a:r>
            <a:r>
              <a:rPr lang="ko-KR" altLang="en-US" sz="1200" b="1" dirty="0" smtClean="0">
                <a:solidFill>
                  <a:srgbClr val="000066"/>
                </a:solidFill>
              </a:rPr>
              <a:t> 매장</a:t>
            </a:r>
            <a:r>
              <a:rPr lang="en-US" altLang="ko-KR" sz="1200" b="1" dirty="0" smtClean="0">
                <a:solidFill>
                  <a:srgbClr val="000066"/>
                </a:solidFill>
              </a:rPr>
              <a:t> </a:t>
            </a:r>
            <a:r>
              <a:rPr lang="ko-KR" altLang="en-US" sz="1200" b="1" dirty="0" smtClean="0">
                <a:solidFill>
                  <a:srgbClr val="000066"/>
                </a:solidFill>
              </a:rPr>
              <a:t>시스템</a:t>
            </a:r>
            <a:endParaRPr lang="ko-KR" altLang="en-US" sz="1200" b="1" dirty="0">
              <a:solidFill>
                <a:srgbClr val="000066"/>
              </a:solidFill>
            </a:endParaRPr>
          </a:p>
        </p:txBody>
      </p:sp>
      <p:sp>
        <p:nvSpPr>
          <p:cNvPr id="233" name="AutoShape 332"/>
          <p:cNvSpPr>
            <a:spLocks noChangeArrowheads="1"/>
          </p:cNvSpPr>
          <p:nvPr/>
        </p:nvSpPr>
        <p:spPr bwMode="auto">
          <a:xfrm rot="16200000">
            <a:off x="3248254" y="4137418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sp>
        <p:nvSpPr>
          <p:cNvPr id="234" name="AutoShape 333"/>
          <p:cNvSpPr>
            <a:spLocks noChangeArrowheads="1"/>
          </p:cNvSpPr>
          <p:nvPr/>
        </p:nvSpPr>
        <p:spPr bwMode="auto">
          <a:xfrm rot="16200000">
            <a:off x="1560743" y="4131522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sp>
        <p:nvSpPr>
          <p:cNvPr id="241" name="AutoShape 340"/>
          <p:cNvSpPr>
            <a:spLocks noChangeArrowheads="1"/>
          </p:cNvSpPr>
          <p:nvPr/>
        </p:nvSpPr>
        <p:spPr bwMode="auto">
          <a:xfrm rot="16200000">
            <a:off x="4932290" y="4135071"/>
            <a:ext cx="311150" cy="346075"/>
          </a:xfrm>
          <a:prstGeom prst="leftRightArrow">
            <a:avLst>
              <a:gd name="adj1" fmla="val 49620"/>
              <a:gd name="adj2" fmla="val 33472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58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/>
            <a:endParaRPr lang="ko-KR" altLang="en-US" sz="1000"/>
          </a:p>
        </p:txBody>
      </p:sp>
      <p:grpSp>
        <p:nvGrpSpPr>
          <p:cNvPr id="243" name="그룹 440"/>
          <p:cNvGrpSpPr>
            <a:grpSpLocks/>
          </p:cNvGrpSpPr>
          <p:nvPr/>
        </p:nvGrpSpPr>
        <p:grpSpPr bwMode="auto">
          <a:xfrm>
            <a:off x="1318648" y="4894107"/>
            <a:ext cx="1354138" cy="427038"/>
            <a:chOff x="1278997" y="2147729"/>
            <a:chExt cx="1584325" cy="478634"/>
          </a:xfrm>
        </p:grpSpPr>
        <p:pic>
          <p:nvPicPr>
            <p:cNvPr id="244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" name="AutoShape 138"/>
            <p:cNvSpPr>
              <a:spLocks noChangeArrowheads="1"/>
            </p:cNvSpPr>
            <p:nvPr/>
          </p:nvSpPr>
          <p:spPr bwMode="auto">
            <a:xfrm>
              <a:off x="1340128" y="2147729"/>
              <a:ext cx="1473699" cy="430797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공통관리</a:t>
              </a:r>
              <a:endParaRPr lang="ko-KR" altLang="en-US" sz="1000" dirty="0">
                <a:solidFill>
                  <a:srgbClr val="000066"/>
                </a:solidFill>
              </a:endParaRPr>
            </a:p>
          </p:txBody>
        </p:sp>
      </p:grpSp>
      <p:grpSp>
        <p:nvGrpSpPr>
          <p:cNvPr id="255" name="그룹 470"/>
          <p:cNvGrpSpPr>
            <a:grpSpLocks/>
          </p:cNvGrpSpPr>
          <p:nvPr/>
        </p:nvGrpSpPr>
        <p:grpSpPr bwMode="auto">
          <a:xfrm>
            <a:off x="4141667" y="5416126"/>
            <a:ext cx="1354138" cy="404813"/>
            <a:chOff x="1278997" y="2172338"/>
            <a:chExt cx="1584325" cy="454025"/>
          </a:xfrm>
        </p:grpSpPr>
        <p:pic>
          <p:nvPicPr>
            <p:cNvPr id="256" name="Picture 134" descr="네모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8997" y="2172338"/>
              <a:ext cx="1584325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7" name="AutoShape 138"/>
            <p:cNvSpPr>
              <a:spLocks noChangeArrowheads="1"/>
            </p:cNvSpPr>
            <p:nvPr/>
          </p:nvSpPr>
          <p:spPr bwMode="auto">
            <a:xfrm>
              <a:off x="1339435" y="2176338"/>
              <a:ext cx="1473697" cy="432023"/>
            </a:xfrm>
            <a:prstGeom prst="roundRect">
              <a:avLst>
                <a:gd name="adj" fmla="val 5829"/>
              </a:avLst>
            </a:prstGeom>
            <a:noFill/>
            <a:ln>
              <a:noFill/>
            </a:ln>
            <a:effectLst>
              <a:prstShdw prst="shdw17" dist="17961" dir="13500000">
                <a:srgbClr val="8792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rIns="90000" anchor="ctr"/>
            <a:lstStyle>
              <a:lvl1pPr marL="82550" indent="-825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defTabSz="839788" eaLnBrk="0" hangingPunct="0"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algn="ctr" defTabSz="839788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0" hangingPunct="1">
                <a:lnSpc>
                  <a:spcPct val="120000"/>
                </a:lnSpc>
                <a:buFont typeface="Times New Roman" panose="02020603050405020304" pitchFamily="18" charset="0"/>
                <a:buNone/>
              </a:pPr>
              <a:r>
                <a:rPr lang="ko-KR" altLang="en-US" sz="1000" dirty="0" smtClean="0">
                  <a:solidFill>
                    <a:srgbClr val="000066"/>
                  </a:solidFill>
                </a:rPr>
                <a:t>인사관리</a:t>
              </a:r>
              <a:endParaRPr lang="en-US" altLang="ko-KR" sz="1000" dirty="0">
                <a:solidFill>
                  <a:srgbClr val="000066"/>
                </a:solidFill>
              </a:endParaRPr>
            </a:p>
          </p:txBody>
        </p:sp>
      </p:grpSp>
      <p:pic>
        <p:nvPicPr>
          <p:cNvPr id="259" name="Picture 320" descr="C:\Documents and Settings\kej\Local Settings\Temporary Internet Files\Content.IE5\E147QLU5\MCj04413620000[1]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396076" y="3546205"/>
            <a:ext cx="261642" cy="258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0" name="Picture 320" descr="C:\Documents and Settings\kej\Local Settings\Temporary Internet Files\Content.IE5\E147QLU5\MCj04413620000[1]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868811" y="3512665"/>
            <a:ext cx="261642" cy="258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1" name="Picture 320" descr="C:\Documents and Settings\kej\Local Settings\Temporary Internet Files\Content.IE5\E147QLU5\MCj04413620000[1].png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199735" y="5409171"/>
            <a:ext cx="261642" cy="258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62" name="그룹 261"/>
          <p:cNvGrpSpPr/>
          <p:nvPr/>
        </p:nvGrpSpPr>
        <p:grpSpPr>
          <a:xfrm>
            <a:off x="5729409" y="4540095"/>
            <a:ext cx="3686053" cy="1501298"/>
            <a:chOff x="4692002" y="1101976"/>
            <a:chExt cx="1398587" cy="534121"/>
          </a:xfrm>
        </p:grpSpPr>
        <p:sp>
          <p:nvSpPr>
            <p:cNvPr id="263" name="모서리가 둥근 직사각형 39"/>
            <p:cNvSpPr>
              <a:spLocks noChangeArrowheads="1"/>
            </p:cNvSpPr>
            <p:nvPr/>
          </p:nvSpPr>
          <p:spPr bwMode="auto">
            <a:xfrm>
              <a:off x="4692002" y="1101976"/>
              <a:ext cx="1398587" cy="534121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+mj-ea"/>
                <a:ea typeface="+mj-ea"/>
              </a:endParaRPr>
            </a:p>
          </p:txBody>
        </p:sp>
        <p:sp>
          <p:nvSpPr>
            <p:cNvPr id="264" name="모서리가 둥근 직사각형 41"/>
            <p:cNvSpPr>
              <a:spLocks noChangeArrowheads="1"/>
            </p:cNvSpPr>
            <p:nvPr/>
          </p:nvSpPr>
          <p:spPr bwMode="auto">
            <a:xfrm>
              <a:off x="4747564" y="1142746"/>
              <a:ext cx="1304925" cy="457673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>
                  <a:latin typeface="+mn-ea"/>
                  <a:ea typeface="+mn-ea"/>
                </a:rPr>
                <a:t>신성</a:t>
              </a:r>
              <a:r>
                <a:rPr lang="en-US" altLang="ko-KR" sz="900" dirty="0">
                  <a:latin typeface="+mn-ea"/>
                  <a:ea typeface="+mn-ea"/>
                </a:rPr>
                <a:t>/</a:t>
              </a:r>
              <a:r>
                <a:rPr lang="ko-KR" altLang="en-US" sz="900" dirty="0" err="1">
                  <a:latin typeface="+mn-ea"/>
                  <a:ea typeface="+mn-ea"/>
                </a:rPr>
                <a:t>에이션</a:t>
              </a:r>
              <a:r>
                <a:rPr lang="ko-KR" altLang="en-US" sz="900" dirty="0">
                  <a:latin typeface="+mn-ea"/>
                  <a:ea typeface="+mn-ea"/>
                </a:rPr>
                <a:t> </a:t>
              </a:r>
              <a:r>
                <a:rPr lang="en-US" altLang="ko-KR" sz="900" dirty="0" smtClean="0">
                  <a:latin typeface="+mn-ea"/>
                  <a:ea typeface="+mn-ea"/>
                </a:rPr>
                <a:t>WAS </a:t>
              </a:r>
              <a:r>
                <a:rPr lang="ko-KR" altLang="en-US" sz="900" dirty="0" smtClean="0">
                  <a:latin typeface="+mn-ea"/>
                  <a:ea typeface="+mn-ea"/>
                </a:rPr>
                <a:t>및 테이블 분리 운영 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marL="82550" indent="-82550"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>
                  <a:latin typeface="+mn-ea"/>
                  <a:ea typeface="+mn-ea"/>
                </a:rPr>
                <a:t>전체 프로세스는 동일하나 </a:t>
              </a:r>
              <a:r>
                <a:rPr lang="ko-KR" altLang="en-US" sz="900" dirty="0" smtClean="0">
                  <a:latin typeface="+mn-ea"/>
                  <a:ea typeface="+mn-ea"/>
                </a:rPr>
                <a:t>일부 업무 프로세스는 차이가 </a:t>
              </a:r>
              <a:r>
                <a:rPr lang="ko-KR" altLang="en-US" sz="900" dirty="0">
                  <a:latin typeface="+mn-ea"/>
                  <a:ea typeface="+mn-ea"/>
                </a:rPr>
                <a:t>있음</a:t>
              </a:r>
              <a:r>
                <a:rPr lang="en-US" altLang="ko-KR" sz="900" dirty="0" smtClean="0">
                  <a:latin typeface="+mn-ea"/>
                  <a:ea typeface="+mn-ea"/>
                </a:rPr>
                <a:t>.</a:t>
              </a:r>
              <a:endParaRPr lang="en-US" altLang="ko-KR" sz="900" b="0" dirty="0" smtClean="0">
                <a:latin typeface="+mn-ea"/>
                <a:ea typeface="+mn-ea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b="0" dirty="0" smtClean="0">
                  <a:latin typeface="+mn-ea"/>
                  <a:ea typeface="+mn-ea"/>
                </a:rPr>
                <a:t>데이터 표준화</a:t>
              </a:r>
              <a:r>
                <a:rPr lang="en-US" altLang="ko-KR" sz="900" b="0" dirty="0" smtClean="0">
                  <a:latin typeface="+mn-ea"/>
                  <a:ea typeface="+mn-ea"/>
                </a:rPr>
                <a:t>(</a:t>
              </a:r>
              <a:r>
                <a:rPr lang="ko-KR" altLang="en-US" sz="900" b="0" dirty="0" smtClean="0">
                  <a:latin typeface="+mn-ea"/>
                  <a:ea typeface="+mn-ea"/>
                </a:rPr>
                <a:t>신성</a:t>
              </a:r>
              <a:r>
                <a:rPr lang="en-US" altLang="ko-KR" sz="900" b="0" dirty="0" smtClean="0">
                  <a:latin typeface="+mn-ea"/>
                  <a:ea typeface="+mn-ea"/>
                </a:rPr>
                <a:t>/</a:t>
              </a:r>
              <a:r>
                <a:rPr lang="ko-KR" altLang="en-US" sz="900" b="0" dirty="0" err="1" smtClean="0">
                  <a:latin typeface="+mn-ea"/>
                  <a:ea typeface="+mn-ea"/>
                </a:rPr>
                <a:t>에이션</a:t>
              </a:r>
              <a:r>
                <a:rPr lang="en-US" altLang="ko-KR" sz="900" b="0" dirty="0" smtClean="0">
                  <a:latin typeface="+mn-ea"/>
                  <a:ea typeface="+mn-ea"/>
                </a:rPr>
                <a:t>)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n-ea"/>
                  <a:ea typeface="+mn-ea"/>
                </a:rPr>
                <a:t>물류 업무는 </a:t>
              </a:r>
              <a:r>
                <a:rPr lang="en-US" altLang="ko-KR" sz="900" dirty="0" smtClean="0">
                  <a:latin typeface="+mn-ea"/>
                  <a:ea typeface="+mn-ea"/>
                </a:rPr>
                <a:t>WMS </a:t>
              </a:r>
              <a:r>
                <a:rPr lang="ko-KR" altLang="en-US" sz="900" dirty="0" smtClean="0">
                  <a:latin typeface="+mn-ea"/>
                  <a:ea typeface="+mn-ea"/>
                </a:rPr>
                <a:t>시스템과 패션시스템으로 이원화 시스템으로 운영되고 있으며 패션 시스템과 인터페이스로 동기화  </a:t>
              </a:r>
              <a:endParaRPr lang="ko-KR" altLang="en-US" sz="900" b="0" dirty="0">
                <a:latin typeface="+mn-ea"/>
                <a:ea typeface="+mn-ea"/>
              </a:endParaRPr>
            </a:p>
          </p:txBody>
        </p:sp>
      </p:grpSp>
      <p:sp>
        <p:nvSpPr>
          <p:cNvPr id="109" name="직사각형 108"/>
          <p:cNvSpPr/>
          <p:nvPr/>
        </p:nvSpPr>
        <p:spPr>
          <a:xfrm>
            <a:off x="6705264" y="4365738"/>
            <a:ext cx="2474321" cy="4856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 →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임가공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→ 완제품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신성에서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임가공된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완제품을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에이션에서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매입</a:t>
            </a:r>
          </a:p>
        </p:txBody>
      </p:sp>
    </p:spTree>
    <p:extLst>
      <p:ext uri="{BB962C8B-B14F-4D97-AF65-F5344CB8AC3E}">
        <p14:creationId xmlns:p14="http://schemas.microsoft.com/office/powerpoint/2010/main" val="223121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2. </a:t>
            </a:r>
            <a:r>
              <a:rPr lang="ko-KR" altLang="en-US" dirty="0" smtClean="0">
                <a:latin typeface="+mj-ea"/>
                <a:ea typeface="+mj-ea"/>
              </a:rPr>
              <a:t>공통 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2. </a:t>
            </a:r>
            <a:r>
              <a:rPr lang="ko-KR" altLang="en-US" dirty="0" smtClean="0">
                <a:latin typeface="+mj-ea"/>
                <a:ea typeface="+mj-ea"/>
              </a:rPr>
              <a:t>공통관리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52" name="타원 151"/>
          <p:cNvSpPr/>
          <p:nvPr/>
        </p:nvSpPr>
        <p:spPr bwMode="auto">
          <a:xfrm>
            <a:off x="350101" y="1832516"/>
            <a:ext cx="755650" cy="544513"/>
          </a:xfrm>
          <a:prstGeom prst="ellipse">
            <a:avLst/>
          </a:prstGeom>
          <a:solidFill>
            <a:schemeClr val="accent3">
              <a:lumMod val="6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+mj-ea"/>
                <a:ea typeface="+mj-ea"/>
              </a:rPr>
              <a:t>공통관리</a:t>
            </a:r>
            <a:endParaRPr lang="en-US" altLang="ko-KR" sz="1000" dirty="0" smtClean="0">
              <a:latin typeface="+mj-ea"/>
              <a:ea typeface="+mj-ea"/>
            </a:endParaRPr>
          </a:p>
        </p:txBody>
      </p:sp>
      <p:cxnSp>
        <p:nvCxnSpPr>
          <p:cNvPr id="154" name="직선 연결선 153"/>
          <p:cNvCxnSpPr/>
          <p:nvPr/>
        </p:nvCxnSpPr>
        <p:spPr bwMode="auto">
          <a:xfrm>
            <a:off x="1389063" y="1628800"/>
            <a:ext cx="0" cy="477053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628800"/>
            <a:ext cx="9429750" cy="4860540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j-ea"/>
              <a:ea typeface="+mj-ea"/>
            </a:endParaRPr>
          </a:p>
        </p:txBody>
      </p:sp>
      <p:sp>
        <p:nvSpPr>
          <p:cNvPr id="173" name="AutoShape 129"/>
          <p:cNvSpPr>
            <a:spLocks noChangeArrowheads="1"/>
          </p:cNvSpPr>
          <p:nvPr/>
        </p:nvSpPr>
        <p:spPr bwMode="auto">
          <a:xfrm>
            <a:off x="1964668" y="1804605"/>
            <a:ext cx="828092" cy="312737"/>
          </a:xfrm>
          <a:prstGeom prst="flowChartAlternateProcess">
            <a:avLst/>
          </a:prstGeom>
          <a:gradFill rotWithShape="0">
            <a:gsLst>
              <a:gs pos="0">
                <a:srgbClr val="DCFFB9">
                  <a:gamma/>
                  <a:shade val="85882"/>
                  <a:invGamma/>
                </a:srgbClr>
              </a:gs>
              <a:gs pos="50000">
                <a:srgbClr val="DCFFB9"/>
              </a:gs>
              <a:gs pos="100000">
                <a:srgbClr val="DCFFB9">
                  <a:gamma/>
                  <a:shade val="85882"/>
                  <a:invGamma/>
                </a:srgbClr>
              </a:gs>
            </a:gsLst>
            <a:lin ang="5400000" scaled="1"/>
          </a:gradFill>
          <a:ln w="0">
            <a:solidFill>
              <a:srgbClr val="68D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t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ko-KR" altLang="en-US" sz="900" b="1" dirty="0" smtClean="0">
                <a:latin typeface="+mj-ea"/>
                <a:ea typeface="+mj-ea"/>
              </a:rPr>
              <a:t>업무</a:t>
            </a:r>
            <a:endParaRPr kumimoji="1" lang="ko-KR" altLang="en-US" sz="900" b="1" dirty="0">
              <a:latin typeface="+mj-ea"/>
              <a:ea typeface="+mj-ea"/>
            </a:endParaRPr>
          </a:p>
        </p:txBody>
      </p:sp>
      <p:sp>
        <p:nvSpPr>
          <p:cNvPr id="174" name="AutoShape 129"/>
          <p:cNvSpPr>
            <a:spLocks noChangeArrowheads="1"/>
          </p:cNvSpPr>
          <p:nvPr/>
        </p:nvSpPr>
        <p:spPr bwMode="auto">
          <a:xfrm>
            <a:off x="1964667" y="3241341"/>
            <a:ext cx="828092" cy="312737"/>
          </a:xfrm>
          <a:prstGeom prst="flowChartAlternateProcess">
            <a:avLst/>
          </a:prstGeom>
          <a:gradFill rotWithShape="0">
            <a:gsLst>
              <a:gs pos="0">
                <a:srgbClr val="DCFFB9">
                  <a:gamma/>
                  <a:shade val="85882"/>
                  <a:invGamma/>
                </a:srgbClr>
              </a:gs>
              <a:gs pos="50000">
                <a:srgbClr val="DCFFB9"/>
              </a:gs>
              <a:gs pos="100000">
                <a:srgbClr val="DCFFB9">
                  <a:gamma/>
                  <a:shade val="85882"/>
                  <a:invGamma/>
                </a:srgbClr>
              </a:gs>
            </a:gsLst>
            <a:lin ang="5400000" scaled="1"/>
          </a:gradFill>
          <a:ln w="0">
            <a:solidFill>
              <a:srgbClr val="68D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t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ko-KR" altLang="en-US" sz="900" b="1" dirty="0" smtClean="0">
                <a:latin typeface="+mj-ea"/>
                <a:ea typeface="+mj-ea"/>
              </a:rPr>
              <a:t>시스템</a:t>
            </a:r>
            <a:r>
              <a:rPr kumimoji="1" lang="ko-KR" altLang="en-US" sz="900" b="1" dirty="0" smtClean="0">
                <a:latin typeface="+mj-ea"/>
                <a:ea typeface="+mj-ea"/>
              </a:rPr>
              <a:t> </a:t>
            </a:r>
            <a:endParaRPr kumimoji="1" lang="ko-KR" altLang="en-US" sz="900" b="1" dirty="0">
              <a:latin typeface="+mj-ea"/>
              <a:ea typeface="+mj-ea"/>
            </a:endParaRPr>
          </a:p>
        </p:txBody>
      </p:sp>
      <p:sp>
        <p:nvSpPr>
          <p:cNvPr id="186" name="AutoShape 46"/>
          <p:cNvSpPr>
            <a:spLocks noChangeArrowheads="1"/>
          </p:cNvSpPr>
          <p:nvPr/>
        </p:nvSpPr>
        <p:spPr bwMode="gray">
          <a:xfrm>
            <a:off x="2841819" y="1777590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비밀번호변경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7" name="AutoShape 46"/>
          <p:cNvSpPr>
            <a:spLocks noChangeArrowheads="1"/>
          </p:cNvSpPr>
          <p:nvPr/>
        </p:nvSpPr>
        <p:spPr bwMode="gray">
          <a:xfrm>
            <a:off x="4010066" y="1777589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공통코드관리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9" name="Rectangle 4"/>
          <p:cNvSpPr>
            <a:spLocks noChangeArrowheads="1"/>
          </p:cNvSpPr>
          <p:nvPr/>
        </p:nvSpPr>
        <p:spPr bwMode="auto">
          <a:xfrm>
            <a:off x="1892659" y="1694013"/>
            <a:ext cx="5656148" cy="505110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898980" y="2213865"/>
            <a:ext cx="5649827" cy="905633"/>
            <a:chOff x="4692002" y="1081339"/>
            <a:chExt cx="1398587" cy="554758"/>
          </a:xfrm>
        </p:grpSpPr>
        <p:sp>
          <p:nvSpPr>
            <p:cNvPr id="193" name="모서리가 둥근 직사각형 39"/>
            <p:cNvSpPr>
              <a:spLocks noChangeArrowheads="1"/>
            </p:cNvSpPr>
            <p:nvPr/>
          </p:nvSpPr>
          <p:spPr bwMode="auto">
            <a:xfrm>
              <a:off x="4692002" y="1101976"/>
              <a:ext cx="1398587" cy="534121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+mj-ea"/>
                <a:ea typeface="+mj-ea"/>
              </a:endParaRPr>
            </a:p>
          </p:txBody>
        </p:sp>
        <p:sp>
          <p:nvSpPr>
            <p:cNvPr id="194" name="TextBox 97"/>
            <p:cNvSpPr txBox="1">
              <a:spLocks noChangeArrowheads="1"/>
            </p:cNvSpPr>
            <p:nvPr/>
          </p:nvSpPr>
          <p:spPr bwMode="auto">
            <a:xfrm>
              <a:off x="4747564" y="1081339"/>
              <a:ext cx="140272" cy="150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195" name="모서리가 둥근 직사각형 41"/>
            <p:cNvSpPr>
              <a:spLocks noChangeArrowheads="1"/>
            </p:cNvSpPr>
            <p:nvPr/>
          </p:nvSpPr>
          <p:spPr bwMode="auto">
            <a:xfrm>
              <a:off x="4747564" y="1131625"/>
              <a:ext cx="1304925" cy="479252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b="0" dirty="0" smtClean="0">
                  <a:latin typeface="+mj-ea"/>
                  <a:ea typeface="+mj-ea"/>
                </a:rPr>
                <a:t>사용자 비밀번호 변경</a:t>
              </a:r>
              <a:r>
                <a:rPr lang="ko-KR" altLang="en-US" sz="900" dirty="0" smtClean="0">
                  <a:latin typeface="+mj-ea"/>
                  <a:ea typeface="+mj-ea"/>
                </a:rPr>
                <a:t>  </a:t>
              </a:r>
              <a:endParaRPr lang="en-US" altLang="ko-KR" sz="900" b="0" dirty="0" smtClean="0">
                <a:latin typeface="+mj-ea"/>
                <a:ea typeface="+mj-ea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b="0" dirty="0" smtClean="0">
                  <a:latin typeface="+mj-ea"/>
                  <a:ea typeface="+mj-ea"/>
                </a:rPr>
                <a:t>패션시스템은 코드는 공통코드 테이블로 데이터 관리</a:t>
              </a:r>
              <a:r>
                <a:rPr lang="en-US" altLang="ko-KR" sz="900" b="0" dirty="0" smtClean="0">
                  <a:latin typeface="+mj-ea"/>
                  <a:ea typeface="+mj-ea"/>
                </a:rPr>
                <a:t>(T_COMN_CD)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j-ea"/>
                  <a:ea typeface="+mj-ea"/>
                </a:rPr>
                <a:t>사용자가 </a:t>
              </a:r>
              <a:r>
                <a:rPr lang="en-US" altLang="ko-KR" sz="900" dirty="0" smtClean="0">
                  <a:latin typeface="+mj-ea"/>
                  <a:ea typeface="+mj-ea"/>
                </a:rPr>
                <a:t>POP UP </a:t>
              </a:r>
              <a:r>
                <a:rPr lang="ko-KR" altLang="en-US" sz="900" dirty="0" smtClean="0">
                  <a:latin typeface="+mj-ea"/>
                  <a:ea typeface="+mj-ea"/>
                </a:rPr>
                <a:t>형태로 약식 데이터를 검색 되는 화면이 자료사전 </a:t>
              </a:r>
              <a:endParaRPr lang="en-US" altLang="ko-KR" sz="900" dirty="0" smtClean="0">
                <a:latin typeface="+mj-ea"/>
                <a:ea typeface="+mj-ea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en-US" altLang="ko-KR" sz="900" b="0" dirty="0">
                  <a:latin typeface="+mj-ea"/>
                  <a:ea typeface="+mj-ea"/>
                </a:rPr>
                <a:t> </a:t>
              </a:r>
              <a:r>
                <a:rPr lang="ko-KR" altLang="en-US" sz="900" b="0" dirty="0" smtClean="0">
                  <a:latin typeface="+mj-ea"/>
                  <a:ea typeface="+mj-ea"/>
                </a:rPr>
                <a:t>카드사관리는 카드번호 정보로 카드사 분류</a:t>
              </a:r>
              <a:r>
                <a:rPr lang="en-US" altLang="ko-KR" sz="900" b="0" dirty="0" smtClean="0">
                  <a:latin typeface="+mj-ea"/>
                  <a:ea typeface="+mj-ea"/>
                </a:rPr>
                <a:t>(</a:t>
              </a:r>
              <a:r>
                <a:rPr lang="ko-KR" altLang="en-US" sz="900" b="0" dirty="0" smtClean="0">
                  <a:latin typeface="+mj-ea"/>
                  <a:ea typeface="+mj-ea"/>
                </a:rPr>
                <a:t>현재 사용하지 않음</a:t>
              </a:r>
              <a:r>
                <a:rPr lang="en-US" altLang="ko-KR" sz="900" b="0" dirty="0" smtClean="0">
                  <a:latin typeface="+mj-ea"/>
                  <a:ea typeface="+mj-ea"/>
                </a:rPr>
                <a:t>.)</a:t>
              </a:r>
              <a:endParaRPr lang="ko-KR" altLang="en-US" sz="900" b="0" dirty="0">
                <a:latin typeface="+mj-ea"/>
                <a:ea typeface="+mj-ea"/>
              </a:endParaRPr>
            </a:p>
          </p:txBody>
        </p:sp>
      </p:grpSp>
      <p:cxnSp>
        <p:nvCxnSpPr>
          <p:cNvPr id="175" name="꺾인 연결선 174"/>
          <p:cNvCxnSpPr>
            <a:stCxn id="152" idx="6"/>
            <a:endCxn id="174" idx="1"/>
          </p:cNvCxnSpPr>
          <p:nvPr/>
        </p:nvCxnSpPr>
        <p:spPr bwMode="auto">
          <a:xfrm>
            <a:off x="1105751" y="2104773"/>
            <a:ext cx="858916" cy="129293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cxnSp>
        <p:nvCxnSpPr>
          <p:cNvPr id="153" name="꺾인 연결선 152"/>
          <p:cNvCxnSpPr>
            <a:stCxn id="152" idx="6"/>
            <a:endCxn id="173" idx="1"/>
          </p:cNvCxnSpPr>
          <p:nvPr/>
        </p:nvCxnSpPr>
        <p:spPr bwMode="auto">
          <a:xfrm flipV="1">
            <a:off x="1105751" y="1960974"/>
            <a:ext cx="858917" cy="143799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sp>
        <p:nvSpPr>
          <p:cNvPr id="54" name="AutoShape 46"/>
          <p:cNvSpPr>
            <a:spLocks noChangeArrowheads="1"/>
          </p:cNvSpPr>
          <p:nvPr/>
        </p:nvSpPr>
        <p:spPr bwMode="gray">
          <a:xfrm>
            <a:off x="6346560" y="1777587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자료사전관리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5" name="AutoShape 46"/>
          <p:cNvSpPr>
            <a:spLocks noChangeArrowheads="1"/>
          </p:cNvSpPr>
          <p:nvPr/>
        </p:nvSpPr>
        <p:spPr bwMode="gray">
          <a:xfrm>
            <a:off x="5178313" y="1777588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공통코드관리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5" name="AutoShape 46"/>
          <p:cNvSpPr>
            <a:spLocks noChangeArrowheads="1"/>
          </p:cNvSpPr>
          <p:nvPr/>
        </p:nvSpPr>
        <p:spPr bwMode="gray">
          <a:xfrm>
            <a:off x="2842775" y="3234129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공통메시지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6" name="AutoShape 46"/>
          <p:cNvSpPr>
            <a:spLocks noChangeArrowheads="1"/>
          </p:cNvSpPr>
          <p:nvPr/>
        </p:nvSpPr>
        <p:spPr bwMode="gray">
          <a:xfrm>
            <a:off x="4010066" y="3217527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용어사전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7" name="AutoShape 46"/>
          <p:cNvSpPr>
            <a:spLocks noChangeArrowheads="1"/>
          </p:cNvSpPr>
          <p:nvPr/>
        </p:nvSpPr>
        <p:spPr bwMode="gray">
          <a:xfrm>
            <a:off x="6346560" y="3192628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사용자</a:t>
            </a:r>
            <a:r>
              <a:rPr lang="en-US" altLang="ko-KR" sz="900" dirty="0" smtClean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사원관리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8" name="AutoShape 46"/>
          <p:cNvSpPr>
            <a:spLocks noChangeArrowheads="1"/>
          </p:cNvSpPr>
          <p:nvPr/>
        </p:nvSpPr>
        <p:spPr bwMode="gray">
          <a:xfrm>
            <a:off x="5184972" y="3217526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메뉴</a:t>
            </a:r>
            <a:r>
              <a:rPr lang="en-US" altLang="ko-KR" sz="900" dirty="0" smtClean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r>
              <a:rPr lang="ko-KR" altLang="en-US" sz="900" dirty="0" err="1" smtClean="0">
                <a:solidFill>
                  <a:srgbClr val="000000"/>
                </a:solidFill>
                <a:latin typeface="+mj-ea"/>
                <a:ea typeface="+mj-ea"/>
              </a:rPr>
              <a:t>메뉴셋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70" name="Rectangle 4"/>
          <p:cNvSpPr>
            <a:spLocks noChangeArrowheads="1"/>
          </p:cNvSpPr>
          <p:nvPr/>
        </p:nvSpPr>
        <p:spPr bwMode="auto">
          <a:xfrm>
            <a:off x="1892659" y="3158970"/>
            <a:ext cx="5656148" cy="936756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5" y="738114"/>
            <a:ext cx="9594685" cy="82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 업무공통과 시스템공통으로 관리</a:t>
            </a:r>
            <a:endParaRPr kumimoji="0" lang="en-US" altLang="ko-KR" sz="1200" b="1" dirty="0" smtClean="0">
              <a:latin typeface="+mn-ea"/>
              <a:ea typeface="+mn-ea"/>
            </a:endParaRPr>
          </a:p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 업무 공통 </a:t>
            </a:r>
            <a:r>
              <a:rPr kumimoji="0" lang="en-US" altLang="ko-KR" sz="1200" b="1" dirty="0" smtClean="0">
                <a:latin typeface="+mn-ea"/>
                <a:ea typeface="+mn-ea"/>
              </a:rPr>
              <a:t>: </a:t>
            </a:r>
            <a:r>
              <a:rPr kumimoji="0" lang="ko-KR" altLang="en-US" sz="1200" b="1" dirty="0" smtClean="0">
                <a:latin typeface="+mn-ea"/>
                <a:ea typeface="+mn-ea"/>
              </a:rPr>
              <a:t>비밀번호변경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공통코드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자료사전에 대한 정보를 관리 하는 화면</a:t>
            </a:r>
            <a:endParaRPr kumimoji="0" lang="en-US" altLang="ko-KR" sz="1200" b="1" dirty="0" smtClean="0">
              <a:latin typeface="+mn-ea"/>
              <a:ea typeface="+mn-ea"/>
            </a:endParaRPr>
          </a:p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en-US" altLang="ko-KR" sz="1200" b="1" dirty="0" smtClean="0">
                <a:latin typeface="+mn-ea"/>
                <a:ea typeface="+mn-ea"/>
              </a:rPr>
              <a:t> </a:t>
            </a:r>
            <a:r>
              <a:rPr kumimoji="0" lang="ko-KR" altLang="en-US" sz="1200" b="1" dirty="0" smtClean="0">
                <a:latin typeface="+mn-ea"/>
                <a:ea typeface="+mn-ea"/>
              </a:rPr>
              <a:t>시스템공통 </a:t>
            </a:r>
            <a:r>
              <a:rPr kumimoji="0" lang="en-US" altLang="ko-KR" sz="1200" b="1" dirty="0" smtClean="0">
                <a:latin typeface="+mn-ea"/>
                <a:ea typeface="+mn-ea"/>
              </a:rPr>
              <a:t>: </a:t>
            </a:r>
            <a:r>
              <a:rPr kumimoji="0" lang="ko-KR" altLang="en-US" sz="1200" b="1" dirty="0" smtClean="0">
                <a:latin typeface="+mn-ea"/>
                <a:ea typeface="+mn-ea"/>
              </a:rPr>
              <a:t>공통메시지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용어사전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사용자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사원정보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메뉴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권한관리 화면이 있음</a:t>
            </a:r>
            <a:r>
              <a:rPr kumimoji="0" lang="en-US" altLang="ko-KR" sz="1200" b="1" dirty="0" smtClean="0">
                <a:latin typeface="+mn-ea"/>
                <a:ea typeface="+mn-ea"/>
              </a:rPr>
              <a:t>.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86" y="1667444"/>
            <a:ext cx="1903070" cy="1904920"/>
          </a:xfrm>
          <a:prstGeom prst="rect">
            <a:avLst/>
          </a:prstGeom>
        </p:spPr>
      </p:pic>
      <p:sp>
        <p:nvSpPr>
          <p:cNvPr id="43" name="AutoShape 46"/>
          <p:cNvSpPr>
            <a:spLocks noChangeArrowheads="1"/>
          </p:cNvSpPr>
          <p:nvPr/>
        </p:nvSpPr>
        <p:spPr bwMode="gray">
          <a:xfrm>
            <a:off x="2841819" y="3643914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그룹관리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4" name="AutoShape 46"/>
          <p:cNvSpPr>
            <a:spLocks noChangeArrowheads="1"/>
          </p:cNvSpPr>
          <p:nvPr/>
        </p:nvSpPr>
        <p:spPr bwMode="gray">
          <a:xfrm>
            <a:off x="4010066" y="3643914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err="1" smtClean="0">
                <a:solidFill>
                  <a:srgbClr val="000000"/>
                </a:solidFill>
                <a:latin typeface="+mj-ea"/>
                <a:ea typeface="+mj-ea"/>
              </a:rPr>
              <a:t>패션앱관리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898980" y="4104075"/>
            <a:ext cx="5649827" cy="905633"/>
            <a:chOff x="4692002" y="1081339"/>
            <a:chExt cx="1398587" cy="554758"/>
          </a:xfrm>
        </p:grpSpPr>
        <p:sp>
          <p:nvSpPr>
            <p:cNvPr id="46" name="모서리가 둥근 직사각형 39"/>
            <p:cNvSpPr>
              <a:spLocks noChangeArrowheads="1"/>
            </p:cNvSpPr>
            <p:nvPr/>
          </p:nvSpPr>
          <p:spPr bwMode="auto">
            <a:xfrm>
              <a:off x="4692002" y="1101976"/>
              <a:ext cx="1398587" cy="534121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+mj-ea"/>
                <a:ea typeface="+mj-ea"/>
              </a:endParaRPr>
            </a:p>
          </p:txBody>
        </p:sp>
        <p:sp>
          <p:nvSpPr>
            <p:cNvPr id="47" name="TextBox 97"/>
            <p:cNvSpPr txBox="1">
              <a:spLocks noChangeArrowheads="1"/>
            </p:cNvSpPr>
            <p:nvPr/>
          </p:nvSpPr>
          <p:spPr bwMode="auto">
            <a:xfrm>
              <a:off x="4747564" y="1081339"/>
              <a:ext cx="140272" cy="150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48" name="모서리가 둥근 직사각형 41"/>
            <p:cNvSpPr>
              <a:spLocks noChangeArrowheads="1"/>
            </p:cNvSpPr>
            <p:nvPr/>
          </p:nvSpPr>
          <p:spPr bwMode="auto">
            <a:xfrm>
              <a:off x="4747564" y="1131625"/>
              <a:ext cx="1304925" cy="479252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j-ea"/>
                  <a:ea typeface="+mj-ea"/>
                </a:rPr>
                <a:t>시스템에서 표시되는 성공</a:t>
              </a:r>
              <a:r>
                <a:rPr lang="en-US" altLang="ko-KR" sz="900" dirty="0" smtClean="0">
                  <a:latin typeface="+mj-ea"/>
                  <a:ea typeface="+mj-ea"/>
                </a:rPr>
                <a:t>/</a:t>
              </a:r>
              <a:r>
                <a:rPr lang="ko-KR" altLang="en-US" sz="900" dirty="0" smtClean="0">
                  <a:latin typeface="+mj-ea"/>
                  <a:ea typeface="+mj-ea"/>
                </a:rPr>
                <a:t>실패에 대한 메시지를 데이터로 관리  </a:t>
              </a:r>
              <a:endParaRPr lang="en-US" altLang="ko-KR" sz="900" dirty="0" smtClean="0">
                <a:latin typeface="+mj-ea"/>
                <a:ea typeface="+mj-ea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b="0" dirty="0" smtClean="0">
                  <a:latin typeface="+mj-ea"/>
                  <a:ea typeface="+mj-ea"/>
                </a:rPr>
                <a:t>각 </a:t>
              </a:r>
              <a:r>
                <a:rPr lang="en-US" altLang="ko-KR" sz="900" b="0" dirty="0" smtClean="0">
                  <a:latin typeface="+mj-ea"/>
                  <a:ea typeface="+mj-ea"/>
                </a:rPr>
                <a:t>P/G</a:t>
              </a:r>
              <a:r>
                <a:rPr lang="ko-KR" altLang="en-US" sz="900" b="0" dirty="0" smtClean="0">
                  <a:latin typeface="+mj-ea"/>
                  <a:ea typeface="+mj-ea"/>
                </a:rPr>
                <a:t>는 메뉴등록을 통해 등록하며 내</a:t>
              </a:r>
              <a:r>
                <a:rPr lang="en-US" altLang="ko-KR" sz="900" b="0" dirty="0" smtClean="0">
                  <a:latin typeface="+mj-ea"/>
                  <a:ea typeface="+mj-ea"/>
                </a:rPr>
                <a:t>/</a:t>
              </a:r>
              <a:r>
                <a:rPr lang="ko-KR" altLang="en-US" sz="900" b="0" dirty="0" smtClean="0">
                  <a:latin typeface="+mj-ea"/>
                  <a:ea typeface="+mj-ea"/>
                </a:rPr>
                <a:t>외부</a:t>
              </a:r>
              <a:r>
                <a:rPr lang="en-US" altLang="ko-KR" sz="900" b="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부서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관리자 권한에 따는 화면권한 존재</a:t>
              </a:r>
              <a:endParaRPr lang="en-US" altLang="ko-KR" sz="900" dirty="0" smtClean="0">
                <a:latin typeface="+mj-ea"/>
                <a:ea typeface="+mj-ea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j-ea"/>
                  <a:ea typeface="+mj-ea"/>
                </a:rPr>
                <a:t>업무별</a:t>
              </a:r>
              <a:r>
                <a:rPr lang="en-US" altLang="ko-KR" sz="900" dirty="0" smtClean="0">
                  <a:latin typeface="+mj-ea"/>
                  <a:ea typeface="+mj-ea"/>
                </a:rPr>
                <a:t>(</a:t>
              </a:r>
              <a:r>
                <a:rPr lang="ko-KR" altLang="en-US" sz="900" dirty="0" smtClean="0">
                  <a:latin typeface="+mj-ea"/>
                  <a:ea typeface="+mj-ea"/>
                </a:rPr>
                <a:t>기획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물류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조회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관리자</a:t>
              </a:r>
              <a:r>
                <a:rPr lang="en-US" altLang="ko-KR" sz="900" dirty="0" smtClean="0">
                  <a:latin typeface="+mj-ea"/>
                  <a:ea typeface="+mj-ea"/>
                </a:rPr>
                <a:t>) </a:t>
              </a:r>
              <a:r>
                <a:rPr lang="ko-KR" altLang="en-US" sz="900" dirty="0" smtClean="0">
                  <a:latin typeface="+mj-ea"/>
                  <a:ea typeface="+mj-ea"/>
                </a:rPr>
                <a:t>권한을 통한 화면제어</a:t>
              </a:r>
              <a:endParaRPr lang="en-US" altLang="ko-KR" sz="900" dirty="0" smtClean="0">
                <a:latin typeface="+mj-ea"/>
                <a:ea typeface="+mj-ea"/>
              </a:endParaRPr>
            </a:p>
            <a:p>
              <a:pPr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</a:pPr>
              <a:r>
                <a:rPr lang="en-US" altLang="ko-KR" sz="900" dirty="0">
                  <a:latin typeface="+mj-ea"/>
                  <a:ea typeface="+mj-ea"/>
                </a:rPr>
                <a:t> </a:t>
              </a:r>
              <a:r>
                <a:rPr lang="en-US" altLang="ko-KR" sz="900" dirty="0" smtClean="0">
                  <a:latin typeface="+mj-ea"/>
                  <a:ea typeface="+mj-ea"/>
                </a:rPr>
                <a:t> - </a:t>
              </a:r>
              <a:r>
                <a:rPr lang="ko-KR" altLang="en-US" sz="900" dirty="0" smtClean="0">
                  <a:latin typeface="+mj-ea"/>
                  <a:ea typeface="+mj-ea"/>
                </a:rPr>
                <a:t>특정 화면에 특정 권한 사용자 관리에 대한 개선은 필요함</a:t>
              </a:r>
              <a:r>
                <a:rPr lang="en-US" altLang="ko-KR" sz="900" dirty="0" smtClean="0">
                  <a:latin typeface="+mj-ea"/>
                  <a:ea typeface="+mj-ea"/>
                </a:rPr>
                <a:t>.(</a:t>
              </a:r>
              <a:r>
                <a:rPr lang="ko-KR" altLang="en-US" sz="900" dirty="0" smtClean="0">
                  <a:latin typeface="+mj-ea"/>
                  <a:ea typeface="+mj-ea"/>
                </a:rPr>
                <a:t>화면에 대한 그룹권한과 개별권한</a:t>
              </a:r>
              <a:r>
                <a:rPr lang="en-US" altLang="ko-KR" sz="900" dirty="0" smtClean="0">
                  <a:latin typeface="+mj-ea"/>
                  <a:ea typeface="+mj-ea"/>
                </a:rPr>
                <a:t>)</a:t>
              </a:r>
              <a:endParaRPr lang="en-US" altLang="ko-KR" sz="900" b="0" dirty="0" smtClean="0">
                <a:latin typeface="+mj-ea"/>
                <a:ea typeface="+mj-ea"/>
              </a:endParaRPr>
            </a:p>
          </p:txBody>
        </p:sp>
      </p:grpSp>
      <p:sp>
        <p:nvSpPr>
          <p:cNvPr id="49" name="AutoShape 129"/>
          <p:cNvSpPr>
            <a:spLocks noChangeArrowheads="1"/>
          </p:cNvSpPr>
          <p:nvPr/>
        </p:nvSpPr>
        <p:spPr bwMode="auto">
          <a:xfrm>
            <a:off x="1964667" y="5131551"/>
            <a:ext cx="828092" cy="312737"/>
          </a:xfrm>
          <a:prstGeom prst="flowChartAlternateProcess">
            <a:avLst/>
          </a:prstGeom>
          <a:gradFill rotWithShape="0">
            <a:gsLst>
              <a:gs pos="0">
                <a:srgbClr val="DCFFB9">
                  <a:gamma/>
                  <a:shade val="85882"/>
                  <a:invGamma/>
                </a:srgbClr>
              </a:gs>
              <a:gs pos="50000">
                <a:srgbClr val="DCFFB9"/>
              </a:gs>
              <a:gs pos="100000">
                <a:srgbClr val="DCFFB9">
                  <a:gamma/>
                  <a:shade val="85882"/>
                  <a:invGamma/>
                </a:srgbClr>
              </a:gs>
            </a:gsLst>
            <a:lin ang="5400000" scaled="1"/>
          </a:gradFill>
          <a:ln w="0">
            <a:solidFill>
              <a:srgbClr val="68D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t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ko-KR" altLang="en-US" sz="900" b="1" dirty="0" smtClean="0">
                <a:latin typeface="+mj-ea"/>
                <a:ea typeface="+mj-ea"/>
              </a:rPr>
              <a:t>마감</a:t>
            </a:r>
            <a:r>
              <a:rPr kumimoji="1" lang="ko-KR" altLang="en-US" sz="900" b="1" dirty="0" smtClean="0">
                <a:latin typeface="+mj-ea"/>
                <a:ea typeface="+mj-ea"/>
              </a:rPr>
              <a:t> </a:t>
            </a:r>
            <a:endParaRPr kumimoji="1" lang="ko-KR" altLang="en-US" sz="900" b="1" dirty="0">
              <a:latin typeface="+mj-ea"/>
              <a:ea typeface="+mj-ea"/>
            </a:endParaRPr>
          </a:p>
        </p:txBody>
      </p:sp>
      <p:sp>
        <p:nvSpPr>
          <p:cNvPr id="50" name="AutoShape 46"/>
          <p:cNvSpPr>
            <a:spLocks noChangeArrowheads="1"/>
          </p:cNvSpPr>
          <p:nvPr/>
        </p:nvSpPr>
        <p:spPr bwMode="gray">
          <a:xfrm>
            <a:off x="2842775" y="5124339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마감진행현황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1" name="AutoShape 46"/>
          <p:cNvSpPr>
            <a:spLocks noChangeArrowheads="1"/>
          </p:cNvSpPr>
          <p:nvPr/>
        </p:nvSpPr>
        <p:spPr bwMode="gray">
          <a:xfrm>
            <a:off x="4010066" y="5107737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j-ea"/>
                <a:ea typeface="+mj-ea"/>
              </a:rPr>
              <a:t>마감제어</a:t>
            </a:r>
            <a:endParaRPr lang="ko-KR" altLang="en-US" sz="90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6" name="Rectangle 4"/>
          <p:cNvSpPr>
            <a:spLocks noChangeArrowheads="1"/>
          </p:cNvSpPr>
          <p:nvPr/>
        </p:nvSpPr>
        <p:spPr bwMode="auto">
          <a:xfrm>
            <a:off x="1892659" y="5049180"/>
            <a:ext cx="5656148" cy="495055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grpSp>
        <p:nvGrpSpPr>
          <p:cNvPr id="59" name="그룹 58"/>
          <p:cNvGrpSpPr/>
          <p:nvPr/>
        </p:nvGrpSpPr>
        <p:grpSpPr>
          <a:xfrm>
            <a:off x="1898980" y="5609299"/>
            <a:ext cx="5649827" cy="790032"/>
            <a:chOff x="4692002" y="1081339"/>
            <a:chExt cx="1398587" cy="483945"/>
          </a:xfrm>
        </p:grpSpPr>
        <p:sp>
          <p:nvSpPr>
            <p:cNvPr id="60" name="모서리가 둥근 직사각형 39"/>
            <p:cNvSpPr>
              <a:spLocks noChangeArrowheads="1"/>
            </p:cNvSpPr>
            <p:nvPr/>
          </p:nvSpPr>
          <p:spPr bwMode="auto">
            <a:xfrm>
              <a:off x="4692002" y="1101976"/>
              <a:ext cx="1398587" cy="463308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+mj-ea"/>
                <a:ea typeface="+mj-ea"/>
              </a:endParaRPr>
            </a:p>
          </p:txBody>
        </p:sp>
        <p:sp>
          <p:nvSpPr>
            <p:cNvPr id="63" name="TextBox 97"/>
            <p:cNvSpPr txBox="1">
              <a:spLocks noChangeArrowheads="1"/>
            </p:cNvSpPr>
            <p:nvPr/>
          </p:nvSpPr>
          <p:spPr bwMode="auto">
            <a:xfrm>
              <a:off x="4747564" y="1081339"/>
              <a:ext cx="140272" cy="150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endParaRPr lang="ko-KR" altLang="en-US" sz="1000" b="0" dirty="0">
                <a:latin typeface="+mj-ea"/>
                <a:ea typeface="+mj-ea"/>
              </a:endParaRPr>
            </a:p>
          </p:txBody>
        </p:sp>
        <p:sp>
          <p:nvSpPr>
            <p:cNvPr id="71" name="모서리가 둥근 직사각형 41"/>
            <p:cNvSpPr>
              <a:spLocks noChangeArrowheads="1"/>
            </p:cNvSpPr>
            <p:nvPr/>
          </p:nvSpPr>
          <p:spPr bwMode="auto">
            <a:xfrm>
              <a:off x="4747564" y="1131625"/>
              <a:ext cx="1304925" cy="378522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j-ea"/>
                  <a:ea typeface="+mj-ea"/>
                </a:rPr>
                <a:t>주요 업무별 월 마감일을 관리 하며 브랜드 별로 관리 하고 있음</a:t>
              </a:r>
              <a:r>
                <a:rPr lang="en-US" altLang="ko-KR" sz="900" dirty="0" smtClean="0">
                  <a:latin typeface="+mj-ea"/>
                  <a:ea typeface="+mj-ea"/>
                </a:rPr>
                <a:t>.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dirty="0" smtClean="0">
                  <a:latin typeface="+mj-ea"/>
                  <a:ea typeface="+mj-ea"/>
                </a:rPr>
                <a:t>마감일을 등록 하며 등록 시 마감일 이전 일자에 대한 등록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수정</a:t>
              </a:r>
              <a:r>
                <a:rPr lang="en-US" altLang="ko-KR" sz="900" dirty="0" smtClean="0">
                  <a:latin typeface="+mj-ea"/>
                  <a:ea typeface="+mj-ea"/>
                </a:rPr>
                <a:t>, </a:t>
              </a:r>
              <a:r>
                <a:rPr lang="ko-KR" altLang="en-US" sz="900" dirty="0" smtClean="0">
                  <a:latin typeface="+mj-ea"/>
                  <a:ea typeface="+mj-ea"/>
                </a:rPr>
                <a:t>삭제 제한</a:t>
              </a:r>
              <a:r>
                <a:rPr lang="en-US" altLang="ko-KR" sz="900" dirty="0" smtClean="0">
                  <a:latin typeface="+mj-ea"/>
                  <a:ea typeface="+mj-ea"/>
                </a:rPr>
                <a:t>.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900" b="0" dirty="0" smtClean="0">
                  <a:latin typeface="+mj-ea"/>
                  <a:ea typeface="+mj-ea"/>
                </a:rPr>
                <a:t>마감 이전 수불</a:t>
              </a:r>
              <a:r>
                <a:rPr lang="en-US" altLang="ko-KR" sz="900" b="0" dirty="0" smtClean="0">
                  <a:latin typeface="+mj-ea"/>
                  <a:ea typeface="+mj-ea"/>
                </a:rPr>
                <a:t>(</a:t>
              </a:r>
              <a:r>
                <a:rPr lang="ko-KR" altLang="en-US" sz="900" b="0" dirty="0" smtClean="0">
                  <a:latin typeface="+mj-ea"/>
                  <a:ea typeface="+mj-ea"/>
                </a:rPr>
                <a:t>입고</a:t>
              </a:r>
              <a:r>
                <a:rPr lang="en-US" altLang="ko-KR" sz="900" b="0" dirty="0" smtClean="0">
                  <a:latin typeface="+mj-ea"/>
                  <a:ea typeface="+mj-ea"/>
                </a:rPr>
                <a:t>, </a:t>
              </a:r>
              <a:r>
                <a:rPr lang="ko-KR" altLang="en-US" sz="900" b="0" dirty="0" smtClean="0">
                  <a:latin typeface="+mj-ea"/>
                  <a:ea typeface="+mj-ea"/>
                </a:rPr>
                <a:t>출고</a:t>
              </a:r>
              <a:r>
                <a:rPr lang="en-US" altLang="ko-KR" sz="900" b="0" dirty="0" smtClean="0">
                  <a:latin typeface="+mj-ea"/>
                  <a:ea typeface="+mj-ea"/>
                </a:rPr>
                <a:t>, </a:t>
              </a:r>
              <a:r>
                <a:rPr lang="ko-KR" altLang="en-US" sz="900" b="0" dirty="0" smtClean="0">
                  <a:latin typeface="+mj-ea"/>
                  <a:ea typeface="+mj-ea"/>
                </a:rPr>
                <a:t>판매</a:t>
              </a:r>
              <a:r>
                <a:rPr lang="en-US" altLang="ko-KR" sz="900" dirty="0">
                  <a:latin typeface="+mj-ea"/>
                  <a:ea typeface="+mj-ea"/>
                </a:rPr>
                <a:t> </a:t>
              </a:r>
              <a:r>
                <a:rPr lang="ko-KR" altLang="en-US" sz="900" dirty="0" smtClean="0">
                  <a:latin typeface="+mj-ea"/>
                  <a:ea typeface="+mj-ea"/>
                </a:rPr>
                <a:t>등</a:t>
              </a:r>
              <a:r>
                <a:rPr lang="en-US" altLang="ko-KR" sz="900" dirty="0" smtClean="0">
                  <a:latin typeface="+mj-ea"/>
                  <a:ea typeface="+mj-ea"/>
                </a:rPr>
                <a:t>) </a:t>
              </a:r>
              <a:r>
                <a:rPr lang="ko-KR" altLang="en-US" sz="900" dirty="0" smtClean="0">
                  <a:latin typeface="+mj-ea"/>
                  <a:ea typeface="+mj-ea"/>
                </a:rPr>
                <a:t>데이터 수정 시 관련 분석집계</a:t>
              </a:r>
              <a:r>
                <a:rPr lang="en-US" altLang="ko-KR" sz="900" dirty="0" smtClean="0">
                  <a:latin typeface="+mj-ea"/>
                  <a:ea typeface="+mj-ea"/>
                </a:rPr>
                <a:t>/</a:t>
              </a:r>
              <a:r>
                <a:rPr lang="ko-KR" altLang="en-US" sz="900" dirty="0" smtClean="0">
                  <a:latin typeface="+mj-ea"/>
                  <a:ea typeface="+mj-ea"/>
                </a:rPr>
                <a:t>재고</a:t>
              </a:r>
              <a:r>
                <a:rPr lang="en-US" altLang="ko-KR" sz="900" dirty="0" smtClean="0">
                  <a:latin typeface="+mj-ea"/>
                  <a:ea typeface="+mj-ea"/>
                </a:rPr>
                <a:t>/ </a:t>
              </a:r>
              <a:r>
                <a:rPr lang="ko-KR" altLang="en-US" sz="900" dirty="0" smtClean="0">
                  <a:latin typeface="+mj-ea"/>
                  <a:ea typeface="+mj-ea"/>
                </a:rPr>
                <a:t>원가관련 작업 재실행</a:t>
              </a:r>
              <a:endParaRPr lang="en-US" altLang="ko-KR" sz="900" b="0" dirty="0" smtClean="0">
                <a:latin typeface="+mj-ea"/>
                <a:ea typeface="+mj-ea"/>
              </a:endParaRPr>
            </a:p>
          </p:txBody>
        </p:sp>
      </p:grpSp>
      <p:sp>
        <p:nvSpPr>
          <p:cNvPr id="52" name="사각형 설명선 51"/>
          <p:cNvSpPr/>
          <p:nvPr/>
        </p:nvSpPr>
        <p:spPr>
          <a:xfrm>
            <a:off x="5309942" y="5107737"/>
            <a:ext cx="2568383" cy="408989"/>
          </a:xfrm>
          <a:prstGeom prst="wedgeRectCallout">
            <a:avLst>
              <a:gd name="adj1" fmla="val -69379"/>
              <a:gd name="adj2" fmla="val -618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현재는 마감을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월단위로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진행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일자별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마감 불가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마감월의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마지막 일자를 기준으로 마감 처리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43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5" y="738114"/>
            <a:ext cx="9594685" cy="56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 패션시스템에 필요한 정보를 관리 하는 메뉴로 제품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조직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거래선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프로모션 등 메뉴로 구성</a:t>
            </a:r>
            <a:r>
              <a:rPr kumimoji="0" lang="en-US" altLang="ko-KR" sz="1200" b="1" dirty="0" smtClean="0">
                <a:latin typeface="+mn-ea"/>
                <a:ea typeface="+mn-ea"/>
              </a:rPr>
              <a:t>   </a:t>
            </a:r>
          </a:p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 제품기획에 필요한 각 기준정보와 생산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판매를 위한 기준정보를 관리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sp>
        <p:nvSpPr>
          <p:cNvPr id="6" name="Rectangle 40"/>
          <p:cNvSpPr>
            <a:spLocks noChangeArrowheads="1"/>
          </p:cNvSpPr>
          <p:nvPr/>
        </p:nvSpPr>
        <p:spPr bwMode="gray">
          <a:xfrm>
            <a:off x="1630363" y="3536067"/>
            <a:ext cx="868362" cy="279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제품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8" name="Rectangle 42"/>
          <p:cNvSpPr>
            <a:spLocks noChangeArrowheads="1"/>
          </p:cNvSpPr>
          <p:nvPr/>
        </p:nvSpPr>
        <p:spPr bwMode="gray">
          <a:xfrm>
            <a:off x="1504950" y="2051754"/>
            <a:ext cx="868363" cy="279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조직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gray">
          <a:xfrm>
            <a:off x="1586778" y="5123567"/>
            <a:ext cx="954087" cy="279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거래선관리</a:t>
            </a:r>
            <a:endParaRPr lang="ko-KR" altLang="en-US" sz="1200" b="1" dirty="0">
              <a:latin typeface="+mn-ea"/>
              <a:ea typeface="+mn-ea"/>
            </a:endParaRPr>
          </a:p>
        </p:txBody>
      </p:sp>
      <p:cxnSp>
        <p:nvCxnSpPr>
          <p:cNvPr id="13" name="AutoShape 47"/>
          <p:cNvCxnSpPr>
            <a:cxnSpLocks noChangeShapeType="1"/>
            <a:endCxn id="9" idx="2"/>
          </p:cNvCxnSpPr>
          <p:nvPr/>
        </p:nvCxnSpPr>
        <p:spPr bwMode="gray">
          <a:xfrm flipH="1" flipV="1">
            <a:off x="2063822" y="5402747"/>
            <a:ext cx="794" cy="54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 Box 48"/>
          <p:cNvSpPr txBox="1">
            <a:spLocks noChangeArrowheads="1"/>
          </p:cNvSpPr>
          <p:nvPr/>
        </p:nvSpPr>
        <p:spPr bwMode="gray">
          <a:xfrm>
            <a:off x="1653453" y="5939432"/>
            <a:ext cx="76174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정보담당자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8" name="Text Box 56"/>
          <p:cNvSpPr txBox="1">
            <a:spLocks noChangeArrowheads="1"/>
          </p:cNvSpPr>
          <p:nvPr/>
        </p:nvSpPr>
        <p:spPr bwMode="gray">
          <a:xfrm>
            <a:off x="2702338" y="5307647"/>
            <a:ext cx="11255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사업자정보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구매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err="1" smtClean="0">
                <a:latin typeface="+mn-ea"/>
                <a:ea typeface="+mn-ea"/>
              </a:rPr>
              <a:t>생산처정보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매장정보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중간관리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0" name="AutoShape 60"/>
          <p:cNvCxnSpPr>
            <a:cxnSpLocks noChangeShapeType="1"/>
            <a:stCxn id="21" idx="0"/>
            <a:endCxn id="8" idx="2"/>
          </p:cNvCxnSpPr>
          <p:nvPr/>
        </p:nvCxnSpPr>
        <p:spPr bwMode="gray">
          <a:xfrm flipV="1">
            <a:off x="1938895" y="2330934"/>
            <a:ext cx="237" cy="47152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xt Box 61"/>
          <p:cNvSpPr txBox="1">
            <a:spLocks noChangeArrowheads="1"/>
          </p:cNvSpPr>
          <p:nvPr/>
        </p:nvSpPr>
        <p:spPr bwMode="gray">
          <a:xfrm>
            <a:off x="1558021" y="2802458"/>
            <a:ext cx="76174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정보담당자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5" name="Text Box 84"/>
          <p:cNvSpPr txBox="1">
            <a:spLocks noChangeArrowheads="1"/>
          </p:cNvSpPr>
          <p:nvPr/>
        </p:nvSpPr>
        <p:spPr bwMode="gray">
          <a:xfrm>
            <a:off x="1617663" y="4237632"/>
            <a:ext cx="76174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기획담당자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6" name="AutoShape 86"/>
          <p:cNvCxnSpPr>
            <a:cxnSpLocks noChangeShapeType="1"/>
          </p:cNvCxnSpPr>
          <p:nvPr/>
        </p:nvCxnSpPr>
        <p:spPr bwMode="gray">
          <a:xfrm flipV="1">
            <a:off x="2049463" y="3897907"/>
            <a:ext cx="1587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87"/>
          <p:cNvCxnSpPr>
            <a:cxnSpLocks noChangeShapeType="1"/>
          </p:cNvCxnSpPr>
          <p:nvPr/>
        </p:nvCxnSpPr>
        <p:spPr bwMode="gray">
          <a:xfrm flipV="1">
            <a:off x="346940" y="5250457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94"/>
          <p:cNvCxnSpPr>
            <a:cxnSpLocks noChangeShapeType="1"/>
          </p:cNvCxnSpPr>
          <p:nvPr/>
        </p:nvCxnSpPr>
        <p:spPr bwMode="gray">
          <a:xfrm flipV="1">
            <a:off x="2553565" y="5266332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95"/>
          <p:cNvCxnSpPr>
            <a:cxnSpLocks noChangeShapeType="1"/>
          </p:cNvCxnSpPr>
          <p:nvPr/>
        </p:nvCxnSpPr>
        <p:spPr bwMode="gray">
          <a:xfrm flipV="1">
            <a:off x="2495550" y="3672482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 type="none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AutoShape 97"/>
          <p:cNvCxnSpPr>
            <a:cxnSpLocks noChangeShapeType="1"/>
          </p:cNvCxnSpPr>
          <p:nvPr/>
        </p:nvCxnSpPr>
        <p:spPr bwMode="gray">
          <a:xfrm flipV="1">
            <a:off x="374650" y="3656607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" name="AutoShape 114"/>
          <p:cNvCxnSpPr>
            <a:cxnSpLocks noChangeShapeType="1"/>
          </p:cNvCxnSpPr>
          <p:nvPr/>
        </p:nvCxnSpPr>
        <p:spPr bwMode="gray">
          <a:xfrm flipV="1">
            <a:off x="2387715" y="2167272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Text Box 96"/>
          <p:cNvSpPr txBox="1">
            <a:spLocks noChangeArrowheads="1"/>
          </p:cNvSpPr>
          <p:nvPr/>
        </p:nvSpPr>
        <p:spPr bwMode="gray">
          <a:xfrm>
            <a:off x="2406387" y="2198607"/>
            <a:ext cx="112553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조직정보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부서</a:t>
            </a:r>
            <a:r>
              <a:rPr lang="en-US" altLang="ko-KR" sz="900" dirty="0">
                <a:latin typeface="+mn-ea"/>
                <a:ea typeface="+mn-ea"/>
              </a:rPr>
              <a:t>/</a:t>
            </a:r>
            <a:r>
              <a:rPr lang="ko-KR" altLang="en-US" sz="900" dirty="0">
                <a:latin typeface="+mn-ea"/>
                <a:ea typeface="+mn-ea"/>
              </a:rPr>
              <a:t>브랜드정보</a:t>
            </a:r>
          </a:p>
          <a:p>
            <a:pPr algn="l"/>
            <a:r>
              <a:rPr lang="ko-KR" altLang="en-US" sz="900" dirty="0">
                <a:latin typeface="+mn-ea"/>
                <a:ea typeface="+mn-ea"/>
              </a:rPr>
              <a:t>품종정보</a:t>
            </a:r>
          </a:p>
          <a:p>
            <a:pPr algn="l"/>
            <a:r>
              <a:rPr lang="ko-KR" altLang="en-US" sz="900" dirty="0">
                <a:latin typeface="+mn-ea"/>
                <a:ea typeface="+mn-ea"/>
              </a:rPr>
              <a:t>칼라</a:t>
            </a:r>
            <a:r>
              <a:rPr lang="en-US" altLang="ko-KR" sz="900" dirty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사이즈정보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기획사이즈정보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59" name="AutoShape 97"/>
          <p:cNvCxnSpPr>
            <a:cxnSpLocks noChangeShapeType="1"/>
          </p:cNvCxnSpPr>
          <p:nvPr/>
        </p:nvCxnSpPr>
        <p:spPr bwMode="gray">
          <a:xfrm flipV="1">
            <a:off x="248848" y="2114150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Text Box 53"/>
          <p:cNvSpPr txBox="1">
            <a:spLocks noChangeArrowheads="1"/>
          </p:cNvSpPr>
          <p:nvPr/>
        </p:nvSpPr>
        <p:spPr bwMode="gray">
          <a:xfrm>
            <a:off x="166527" y="1839333"/>
            <a:ext cx="136609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회계</a:t>
            </a:r>
            <a:r>
              <a:rPr lang="en-US" altLang="ko-KR" sz="900" dirty="0" smtClean="0">
                <a:latin typeface="+mn-ea"/>
                <a:ea typeface="+mn-ea"/>
              </a:rPr>
              <a:t>DATA</a:t>
            </a:r>
            <a:r>
              <a:rPr lang="ko-KR" altLang="en-US" sz="900" dirty="0" smtClean="0">
                <a:latin typeface="+mn-ea"/>
                <a:ea typeface="+mn-ea"/>
              </a:rPr>
              <a:t> 정보연계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1" name="Text Box 59"/>
          <p:cNvSpPr txBox="1">
            <a:spLocks noChangeArrowheads="1"/>
          </p:cNvSpPr>
          <p:nvPr/>
        </p:nvSpPr>
        <p:spPr bwMode="gray">
          <a:xfrm>
            <a:off x="273050" y="3068518"/>
            <a:ext cx="141128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 algn="l"/>
            <a:r>
              <a:rPr lang="ko-KR" altLang="en-US" sz="900" dirty="0">
                <a:latin typeface="+mn-ea"/>
                <a:ea typeface="+mn-ea"/>
              </a:rPr>
              <a:t>패션동향파악</a:t>
            </a:r>
          </a:p>
          <a:p>
            <a:pPr algn="l"/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패션쇼</a:t>
            </a:r>
            <a:r>
              <a:rPr lang="en-US" altLang="ko-KR" sz="900" dirty="0">
                <a:latin typeface="+mn-ea"/>
                <a:ea typeface="+mn-ea"/>
              </a:rPr>
              <a:t>,</a:t>
            </a:r>
            <a:r>
              <a:rPr lang="ko-KR" altLang="en-US" sz="900" dirty="0">
                <a:latin typeface="+mn-ea"/>
                <a:ea typeface="+mn-ea"/>
              </a:rPr>
              <a:t>전년판매분석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</a:p>
          <a:p>
            <a:pPr algn="l"/>
            <a:r>
              <a:rPr lang="ko-KR" altLang="en-US" sz="900" dirty="0">
                <a:latin typeface="+mn-ea"/>
                <a:ea typeface="+mn-ea"/>
              </a:rPr>
              <a:t>판매전략 수립</a:t>
            </a:r>
          </a:p>
        </p:txBody>
      </p:sp>
      <p:sp>
        <p:nvSpPr>
          <p:cNvPr id="62" name="Text Box 53"/>
          <p:cNvSpPr txBox="1">
            <a:spLocks noChangeArrowheads="1"/>
          </p:cNvSpPr>
          <p:nvPr/>
        </p:nvSpPr>
        <p:spPr bwMode="gray">
          <a:xfrm>
            <a:off x="240417" y="4960496"/>
            <a:ext cx="136609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1000" dirty="0" smtClean="0">
                <a:latin typeface="+mn-ea"/>
                <a:ea typeface="+mn-ea"/>
              </a:rPr>
              <a:t>회계</a:t>
            </a:r>
            <a:r>
              <a:rPr lang="en-US" altLang="ko-KR" sz="1000" dirty="0" smtClean="0">
                <a:latin typeface="+mn-ea"/>
                <a:ea typeface="+mn-ea"/>
              </a:rPr>
              <a:t>DATA</a:t>
            </a:r>
            <a:r>
              <a:rPr lang="ko-KR" altLang="en-US" sz="1000" dirty="0" smtClean="0">
                <a:latin typeface="+mn-ea"/>
                <a:ea typeface="+mn-ea"/>
              </a:rPr>
              <a:t> 정보연계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63" name="Rectangle 40"/>
          <p:cNvSpPr>
            <a:spLocks noChangeArrowheads="1"/>
          </p:cNvSpPr>
          <p:nvPr/>
        </p:nvSpPr>
        <p:spPr bwMode="gray">
          <a:xfrm>
            <a:off x="6473078" y="2029269"/>
            <a:ext cx="868362" cy="279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판부자재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64" name="Text Box 84"/>
          <p:cNvSpPr txBox="1">
            <a:spLocks noChangeArrowheads="1"/>
          </p:cNvSpPr>
          <p:nvPr/>
        </p:nvSpPr>
        <p:spPr bwMode="gray">
          <a:xfrm>
            <a:off x="6193490" y="2730834"/>
            <a:ext cx="161614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물류담당자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영업관리담당자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65" name="AutoShape 86"/>
          <p:cNvCxnSpPr>
            <a:cxnSpLocks noChangeShapeType="1"/>
          </p:cNvCxnSpPr>
          <p:nvPr/>
        </p:nvCxnSpPr>
        <p:spPr bwMode="gray">
          <a:xfrm flipV="1">
            <a:off x="6892178" y="2391109"/>
            <a:ext cx="1587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AutoShape 95"/>
          <p:cNvCxnSpPr>
            <a:cxnSpLocks noChangeShapeType="1"/>
          </p:cNvCxnSpPr>
          <p:nvPr/>
        </p:nvCxnSpPr>
        <p:spPr bwMode="gray">
          <a:xfrm flipV="1">
            <a:off x="7338265" y="2165684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AutoShape 97"/>
          <p:cNvCxnSpPr>
            <a:cxnSpLocks noChangeShapeType="1"/>
          </p:cNvCxnSpPr>
          <p:nvPr/>
        </p:nvCxnSpPr>
        <p:spPr bwMode="gray">
          <a:xfrm flipV="1">
            <a:off x="5217365" y="2149809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Text Box 59"/>
          <p:cNvSpPr txBox="1">
            <a:spLocks noChangeArrowheads="1"/>
          </p:cNvSpPr>
          <p:nvPr/>
        </p:nvSpPr>
        <p:spPr bwMode="gray">
          <a:xfrm>
            <a:off x="7390285" y="2254325"/>
            <a:ext cx="1028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판부자재정보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판부자재분담율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9" name="Rectangle 40"/>
          <p:cNvSpPr>
            <a:spLocks noChangeArrowheads="1"/>
          </p:cNvSpPr>
          <p:nvPr/>
        </p:nvSpPr>
        <p:spPr bwMode="gray">
          <a:xfrm>
            <a:off x="6525098" y="4191404"/>
            <a:ext cx="868362" cy="27918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프로모션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70" name="Text Box 84"/>
          <p:cNvSpPr txBox="1">
            <a:spLocks noChangeArrowheads="1"/>
          </p:cNvSpPr>
          <p:nvPr/>
        </p:nvSpPr>
        <p:spPr bwMode="gray">
          <a:xfrm>
            <a:off x="6512398" y="4892969"/>
            <a:ext cx="8771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브랜드담당자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71" name="AutoShape 86"/>
          <p:cNvCxnSpPr>
            <a:cxnSpLocks noChangeShapeType="1"/>
          </p:cNvCxnSpPr>
          <p:nvPr/>
        </p:nvCxnSpPr>
        <p:spPr bwMode="gray">
          <a:xfrm flipV="1">
            <a:off x="6944198" y="4553244"/>
            <a:ext cx="1587" cy="382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AutoShape 95"/>
          <p:cNvCxnSpPr>
            <a:cxnSpLocks noChangeShapeType="1"/>
          </p:cNvCxnSpPr>
          <p:nvPr/>
        </p:nvCxnSpPr>
        <p:spPr bwMode="gray">
          <a:xfrm flipV="1">
            <a:off x="7390285" y="4327819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AutoShape 97"/>
          <p:cNvCxnSpPr>
            <a:cxnSpLocks noChangeShapeType="1"/>
          </p:cNvCxnSpPr>
          <p:nvPr/>
        </p:nvCxnSpPr>
        <p:spPr bwMode="gray">
          <a:xfrm flipV="1">
            <a:off x="5269385" y="4311944"/>
            <a:ext cx="1249363" cy="1588"/>
          </a:xfrm>
          <a:prstGeom prst="bentConnector3">
            <a:avLst>
              <a:gd name="adj1" fmla="val 49935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Text Box 59"/>
          <p:cNvSpPr txBox="1">
            <a:spLocks noChangeArrowheads="1"/>
          </p:cNvSpPr>
          <p:nvPr/>
        </p:nvSpPr>
        <p:spPr bwMode="gray">
          <a:xfrm>
            <a:off x="5032768" y="3619933"/>
            <a:ext cx="172259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1000" dirty="0" smtClean="0">
                <a:latin typeface="+mn-ea"/>
                <a:ea typeface="+mn-ea"/>
              </a:rPr>
              <a:t>판매전략 수립</a:t>
            </a:r>
            <a:endParaRPr lang="en-US" altLang="ko-KR" sz="1000" dirty="0" smtClean="0">
              <a:latin typeface="+mn-ea"/>
              <a:ea typeface="+mn-ea"/>
            </a:endParaRPr>
          </a:p>
          <a:p>
            <a:r>
              <a:rPr lang="ko-KR" altLang="en-US" sz="1000" dirty="0">
                <a:latin typeface="+mn-ea"/>
                <a:ea typeface="+mn-ea"/>
              </a:rPr>
              <a:t>행사</a:t>
            </a:r>
            <a:r>
              <a:rPr lang="en-US" altLang="ko-KR" sz="1000" dirty="0">
                <a:latin typeface="+mn-ea"/>
                <a:ea typeface="+mn-ea"/>
              </a:rPr>
              <a:t>/</a:t>
            </a:r>
            <a:r>
              <a:rPr lang="ko-KR" altLang="en-US" sz="1000" dirty="0" smtClean="0">
                <a:latin typeface="+mn-ea"/>
                <a:ea typeface="+mn-ea"/>
              </a:rPr>
              <a:t>이벤트 기간</a:t>
            </a:r>
            <a:endParaRPr lang="en-US" altLang="ko-KR" sz="1000" dirty="0" smtClean="0">
              <a:latin typeface="+mn-ea"/>
              <a:ea typeface="+mn-ea"/>
            </a:endParaRPr>
          </a:p>
          <a:p>
            <a:pPr algn="l"/>
            <a:r>
              <a:rPr lang="ko-KR" altLang="en-US" sz="1000" dirty="0" smtClean="0">
                <a:latin typeface="+mn-ea"/>
                <a:ea typeface="+mn-ea"/>
              </a:rPr>
              <a:t>행사</a:t>
            </a:r>
            <a:r>
              <a:rPr lang="en-US" altLang="ko-KR" sz="1000" dirty="0" smtClean="0">
                <a:latin typeface="+mn-ea"/>
                <a:ea typeface="+mn-ea"/>
              </a:rPr>
              <a:t>/</a:t>
            </a:r>
            <a:r>
              <a:rPr lang="ko-KR" altLang="en-US" sz="1000" dirty="0" smtClean="0">
                <a:latin typeface="+mn-ea"/>
                <a:ea typeface="+mn-ea"/>
              </a:rPr>
              <a:t>이벤트 대상자</a:t>
            </a:r>
            <a:endParaRPr lang="en-US" altLang="ko-KR" sz="1000" dirty="0" smtClean="0">
              <a:latin typeface="+mn-ea"/>
              <a:ea typeface="+mn-ea"/>
            </a:endParaRPr>
          </a:p>
          <a:p>
            <a:pPr algn="l"/>
            <a:r>
              <a:rPr lang="ko-KR" altLang="en-US" sz="1000" dirty="0" smtClean="0">
                <a:latin typeface="+mn-ea"/>
                <a:ea typeface="+mn-ea"/>
              </a:rPr>
              <a:t>행사</a:t>
            </a:r>
            <a:r>
              <a:rPr lang="en-US" altLang="ko-KR" sz="1000" dirty="0" smtClean="0">
                <a:latin typeface="+mn-ea"/>
                <a:ea typeface="+mn-ea"/>
              </a:rPr>
              <a:t>/</a:t>
            </a:r>
            <a:r>
              <a:rPr lang="ko-KR" altLang="en-US" sz="1000" dirty="0" smtClean="0">
                <a:latin typeface="+mn-ea"/>
                <a:ea typeface="+mn-ea"/>
              </a:rPr>
              <a:t>이벤트 제품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매장</a:t>
            </a:r>
            <a:endParaRPr lang="en-US" altLang="ko-KR" sz="1000" dirty="0" smtClean="0">
              <a:latin typeface="+mn-ea"/>
              <a:ea typeface="+mn-ea"/>
            </a:endParaRPr>
          </a:p>
        </p:txBody>
      </p:sp>
      <p:sp>
        <p:nvSpPr>
          <p:cNvPr id="81" name="Text Box 111"/>
          <p:cNvSpPr txBox="1">
            <a:spLocks noChangeArrowheads="1"/>
          </p:cNvSpPr>
          <p:nvPr/>
        </p:nvSpPr>
        <p:spPr bwMode="gray">
          <a:xfrm>
            <a:off x="359019" y="3715387"/>
            <a:ext cx="76174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샘플제작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제품디자인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작업지시서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82" name="Text Box 56"/>
          <p:cNvSpPr txBox="1">
            <a:spLocks noChangeArrowheads="1"/>
          </p:cNvSpPr>
          <p:nvPr/>
        </p:nvSpPr>
        <p:spPr bwMode="gray">
          <a:xfrm>
            <a:off x="2561547" y="3734495"/>
            <a:ext cx="19864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제품기획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제품코드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제품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제품 </a:t>
            </a:r>
            <a:r>
              <a:rPr lang="en-US" altLang="ko-KR" sz="900" dirty="0" smtClean="0">
                <a:latin typeface="+mn-ea"/>
                <a:ea typeface="+mn-ea"/>
              </a:rPr>
              <a:t>+ </a:t>
            </a:r>
            <a:r>
              <a:rPr lang="ko-KR" altLang="en-US" sz="900" dirty="0" smtClean="0">
                <a:latin typeface="+mn-ea"/>
                <a:ea typeface="+mn-ea"/>
              </a:rPr>
              <a:t>칼라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스타일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제품 </a:t>
            </a:r>
            <a:r>
              <a:rPr lang="en-US" altLang="ko-KR" sz="900" dirty="0" smtClean="0">
                <a:latin typeface="+mn-ea"/>
                <a:ea typeface="+mn-ea"/>
              </a:rPr>
              <a:t>+ </a:t>
            </a:r>
            <a:r>
              <a:rPr lang="ko-KR" altLang="en-US" sz="900" dirty="0" smtClean="0">
                <a:latin typeface="+mn-ea"/>
                <a:ea typeface="+mn-ea"/>
              </a:rPr>
              <a:t>칼라 </a:t>
            </a:r>
            <a:r>
              <a:rPr lang="en-US" altLang="ko-KR" sz="900" dirty="0" smtClean="0">
                <a:latin typeface="+mn-ea"/>
                <a:ea typeface="+mn-ea"/>
              </a:rPr>
              <a:t>+ </a:t>
            </a:r>
            <a:r>
              <a:rPr lang="ko-KR" altLang="en-US" sz="900" dirty="0" smtClean="0">
                <a:latin typeface="+mn-ea"/>
                <a:ea typeface="+mn-ea"/>
              </a:rPr>
              <a:t>생산차수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스타일사이즈</a:t>
            </a:r>
            <a:r>
              <a:rPr lang="en-US" altLang="ko-KR" sz="900" dirty="0" smtClean="0">
                <a:latin typeface="+mn-ea"/>
                <a:ea typeface="+mn-ea"/>
              </a:rPr>
              <a:t>(</a:t>
            </a:r>
            <a:r>
              <a:rPr lang="ko-KR" altLang="en-US" sz="900" dirty="0" smtClean="0">
                <a:latin typeface="+mn-ea"/>
                <a:ea typeface="+mn-ea"/>
              </a:rPr>
              <a:t>스타일 </a:t>
            </a:r>
            <a:r>
              <a:rPr lang="en-US" altLang="ko-KR" sz="900" dirty="0" smtClean="0">
                <a:latin typeface="+mn-ea"/>
                <a:ea typeface="+mn-ea"/>
              </a:rPr>
              <a:t>+ </a:t>
            </a:r>
            <a:r>
              <a:rPr lang="ko-KR" altLang="en-US" sz="900" dirty="0" smtClean="0">
                <a:latin typeface="+mn-ea"/>
                <a:ea typeface="+mn-ea"/>
              </a:rPr>
              <a:t>사이즈</a:t>
            </a:r>
            <a:r>
              <a:rPr lang="en-US" altLang="ko-KR" sz="900" dirty="0" smtClean="0">
                <a:latin typeface="+mn-ea"/>
                <a:ea typeface="+mn-ea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3" name="Text Box 59"/>
          <p:cNvSpPr txBox="1">
            <a:spLocks noChangeArrowheads="1"/>
          </p:cNvSpPr>
          <p:nvPr/>
        </p:nvSpPr>
        <p:spPr bwMode="gray">
          <a:xfrm>
            <a:off x="4978019" y="1744818"/>
            <a:ext cx="15918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관리대상 판매 부자재 분류</a:t>
            </a:r>
            <a:endParaRPr lang="en-US" altLang="ko-KR" sz="900" dirty="0">
              <a:latin typeface="+mn-ea"/>
              <a:ea typeface="+mn-ea"/>
            </a:endParaRPr>
          </a:p>
          <a:p>
            <a:pPr algn="l"/>
            <a:r>
              <a:rPr lang="en-US" altLang="ko-KR" sz="900" dirty="0" smtClean="0">
                <a:latin typeface="+mn-ea"/>
                <a:ea typeface="+mn-ea"/>
              </a:rPr>
              <a:t> - </a:t>
            </a:r>
            <a:r>
              <a:rPr lang="ko-KR" altLang="en-US" sz="900" dirty="0" smtClean="0">
                <a:latin typeface="+mn-ea"/>
                <a:ea typeface="+mn-ea"/>
              </a:rPr>
              <a:t>쇼핑백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박스테이프 등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4" name="Text Box 59"/>
          <p:cNvSpPr txBox="1">
            <a:spLocks noChangeArrowheads="1"/>
          </p:cNvSpPr>
          <p:nvPr/>
        </p:nvSpPr>
        <p:spPr bwMode="gray">
          <a:xfrm>
            <a:off x="7637334" y="4428740"/>
            <a:ext cx="7810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매장정보</a:t>
            </a:r>
            <a:endParaRPr lang="en-US" altLang="ko-KR" sz="900" dirty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고객정보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품번정보</a:t>
            </a:r>
            <a:endParaRPr lang="en-US" altLang="ko-KR" sz="900" dirty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쿠폰정보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41" name="사각형 설명선 40"/>
          <p:cNvSpPr/>
          <p:nvPr/>
        </p:nvSpPr>
        <p:spPr>
          <a:xfrm>
            <a:off x="2373313" y="3052457"/>
            <a:ext cx="1893308" cy="266269"/>
          </a:xfrm>
          <a:prstGeom prst="wedgeRectCallout">
            <a:avLst>
              <a:gd name="adj1" fmla="val -71554"/>
              <a:gd name="adj2" fmla="val -6806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패션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IT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상품기획팀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전략기획팀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034326" y="1392903"/>
            <a:ext cx="2634411" cy="62318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조직정보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부서정보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K-ONE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으로부터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I/F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브랜드정보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품종정보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사이즈정보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FIT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에서 등록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칼라정보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전략기획팀에서 등록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기획사이즈정보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상품기획팀에서 등록</a:t>
            </a:r>
          </a:p>
        </p:txBody>
      </p:sp>
      <p:sp>
        <p:nvSpPr>
          <p:cNvPr id="45" name="사각형 설명선 44"/>
          <p:cNvSpPr/>
          <p:nvPr/>
        </p:nvSpPr>
        <p:spPr>
          <a:xfrm>
            <a:off x="2411299" y="4482457"/>
            <a:ext cx="2496696" cy="266269"/>
          </a:xfrm>
          <a:prstGeom prst="wedgeRectCallout">
            <a:avLst>
              <a:gd name="adj1" fmla="val -65615"/>
              <a:gd name="adj2" fmla="val -6496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상품기획팀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작업지시서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디자인팀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제품디자인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46" name="사각형 설명선 45"/>
          <p:cNvSpPr/>
          <p:nvPr/>
        </p:nvSpPr>
        <p:spPr>
          <a:xfrm>
            <a:off x="2415200" y="6173088"/>
            <a:ext cx="872615" cy="266269"/>
          </a:xfrm>
          <a:prstGeom prst="wedgeRectCallout">
            <a:avLst>
              <a:gd name="adj1" fmla="val -90160"/>
              <a:gd name="adj2" fmla="val -6187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영업관리팀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98991" y="5319222"/>
            <a:ext cx="2694169" cy="4050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사업자정보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구매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생산처정보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K-ONE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으로부터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I/F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매장정보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중간관리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영업관리팀에서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등록</a:t>
            </a:r>
          </a:p>
        </p:txBody>
      </p:sp>
      <p:sp>
        <p:nvSpPr>
          <p:cNvPr id="48" name="사각형 설명선 47"/>
          <p:cNvSpPr/>
          <p:nvPr/>
        </p:nvSpPr>
        <p:spPr>
          <a:xfrm>
            <a:off x="7293260" y="5130022"/>
            <a:ext cx="1415556" cy="266269"/>
          </a:xfrm>
          <a:prstGeom prst="wedgeRectCallout">
            <a:avLst>
              <a:gd name="adj1" fmla="val -73866"/>
              <a:gd name="adj2" fmla="val -6187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브랜드기획담당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107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5" y="738114"/>
            <a:ext cx="9594685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 smtClean="0">
                <a:latin typeface="+mn-ea"/>
                <a:ea typeface="+mn-ea"/>
              </a:rPr>
              <a:t> 회사에서 운영하는 부서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브랜드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칼라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사이즈 등 공통데이터를 관리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89765" y="1413570"/>
            <a:ext cx="1071929" cy="347821"/>
            <a:chOff x="1074208" y="1567755"/>
            <a:chExt cx="1071929" cy="347821"/>
          </a:xfrm>
        </p:grpSpPr>
        <p:sp>
          <p:nvSpPr>
            <p:cNvPr id="261" name="Text Box 55"/>
            <p:cNvSpPr txBox="1">
              <a:spLocks noChangeArrowheads="1"/>
            </p:cNvSpPr>
            <p:nvPr/>
          </p:nvSpPr>
          <p:spPr bwMode="gray">
            <a:xfrm>
              <a:off x="1320270" y="1669355"/>
              <a:ext cx="82586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rgbClr val="0000CC"/>
                  </a:solidFill>
                  <a:latin typeface="+mn-ea"/>
                  <a:ea typeface="+mn-ea"/>
                </a:rPr>
                <a:t>정보담당자</a:t>
              </a:r>
            </a:p>
          </p:txBody>
        </p:sp>
        <p:grpSp>
          <p:nvGrpSpPr>
            <p:cNvPr id="262" name="Group 100"/>
            <p:cNvGrpSpPr>
              <a:grpSpLocks/>
            </p:cNvGrpSpPr>
            <p:nvPr/>
          </p:nvGrpSpPr>
          <p:grpSpPr bwMode="auto">
            <a:xfrm>
              <a:off x="1074208" y="1567755"/>
              <a:ext cx="274637" cy="323850"/>
              <a:chOff x="395" y="2124"/>
              <a:chExt cx="209" cy="318"/>
            </a:xfrm>
          </p:grpSpPr>
          <p:grpSp>
            <p:nvGrpSpPr>
              <p:cNvPr id="263" name="Group 101"/>
              <p:cNvGrpSpPr>
                <a:grpSpLocks/>
              </p:cNvGrpSpPr>
              <p:nvPr/>
            </p:nvGrpSpPr>
            <p:grpSpPr bwMode="auto">
              <a:xfrm>
                <a:off x="420" y="2124"/>
                <a:ext cx="184" cy="318"/>
                <a:chOff x="282" y="3570"/>
                <a:chExt cx="240" cy="474"/>
              </a:xfrm>
            </p:grpSpPr>
            <p:sp>
              <p:nvSpPr>
                <p:cNvPr id="276" name="Oval 102"/>
                <p:cNvSpPr>
                  <a:spLocks noChangeArrowheads="1"/>
                </p:cNvSpPr>
                <p:nvPr/>
              </p:nvSpPr>
              <p:spPr bwMode="gray">
                <a:xfrm>
                  <a:off x="330" y="3570"/>
                  <a:ext cx="132" cy="13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7" name="Line 103"/>
                <p:cNvSpPr>
                  <a:spLocks noChangeShapeType="1"/>
                </p:cNvSpPr>
                <p:nvPr/>
              </p:nvSpPr>
              <p:spPr bwMode="gray">
                <a:xfrm>
                  <a:off x="282" y="37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8" name="Line 104"/>
                <p:cNvSpPr>
                  <a:spLocks noChangeShapeType="1"/>
                </p:cNvSpPr>
                <p:nvPr/>
              </p:nvSpPr>
              <p:spPr bwMode="gray">
                <a:xfrm>
                  <a:off x="396" y="3708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9" name="Line 105"/>
                <p:cNvSpPr>
                  <a:spLocks noChangeShapeType="1"/>
                </p:cNvSpPr>
                <p:nvPr/>
              </p:nvSpPr>
              <p:spPr bwMode="gray">
                <a:xfrm flipH="1">
                  <a:off x="288" y="3906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80" name="Line 106"/>
                <p:cNvSpPr>
                  <a:spLocks noChangeShapeType="1"/>
                </p:cNvSpPr>
                <p:nvPr/>
              </p:nvSpPr>
              <p:spPr bwMode="gray">
                <a:xfrm>
                  <a:off x="400" y="3904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4" name="Group 107"/>
              <p:cNvGrpSpPr>
                <a:grpSpLocks/>
              </p:cNvGrpSpPr>
              <p:nvPr/>
            </p:nvGrpSpPr>
            <p:grpSpPr bwMode="auto">
              <a:xfrm>
                <a:off x="395" y="2180"/>
                <a:ext cx="45" cy="127"/>
                <a:chOff x="2597" y="1682"/>
                <a:chExt cx="183" cy="403"/>
              </a:xfrm>
            </p:grpSpPr>
            <p:sp>
              <p:nvSpPr>
                <p:cNvPr id="272" name="Freeform 108"/>
                <p:cNvSpPr>
                  <a:spLocks/>
                </p:cNvSpPr>
                <p:nvPr/>
              </p:nvSpPr>
              <p:spPr bwMode="auto">
                <a:xfrm>
                  <a:off x="2632" y="1739"/>
                  <a:ext cx="84" cy="62"/>
                </a:xfrm>
                <a:custGeom>
                  <a:avLst/>
                  <a:gdLst>
                    <a:gd name="T0" fmla="*/ 45 w 169"/>
                    <a:gd name="T1" fmla="*/ 0 h 124"/>
                    <a:gd name="T2" fmla="*/ 0 w 169"/>
                    <a:gd name="T3" fmla="*/ 57 h 124"/>
                    <a:gd name="T4" fmla="*/ 34 w 169"/>
                    <a:gd name="T5" fmla="*/ 124 h 124"/>
                    <a:gd name="T6" fmla="*/ 78 w 169"/>
                    <a:gd name="T7" fmla="*/ 103 h 124"/>
                    <a:gd name="T8" fmla="*/ 102 w 169"/>
                    <a:gd name="T9" fmla="*/ 57 h 124"/>
                    <a:gd name="T10" fmla="*/ 169 w 169"/>
                    <a:gd name="T11" fmla="*/ 46 h 124"/>
                    <a:gd name="T12" fmla="*/ 91 w 169"/>
                    <a:gd name="T13" fmla="*/ 0 h 124"/>
                    <a:gd name="T14" fmla="*/ 45 w 169"/>
                    <a:gd name="T15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9" h="124">
                      <a:moveTo>
                        <a:pt x="45" y="0"/>
                      </a:moveTo>
                      <a:lnTo>
                        <a:pt x="0" y="57"/>
                      </a:lnTo>
                      <a:lnTo>
                        <a:pt x="34" y="124"/>
                      </a:lnTo>
                      <a:lnTo>
                        <a:pt x="78" y="103"/>
                      </a:lnTo>
                      <a:lnTo>
                        <a:pt x="102" y="57"/>
                      </a:lnTo>
                      <a:lnTo>
                        <a:pt x="169" y="46"/>
                      </a:lnTo>
                      <a:lnTo>
                        <a:pt x="91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E599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3" name="Freeform 109"/>
                <p:cNvSpPr>
                  <a:spLocks/>
                </p:cNvSpPr>
                <p:nvPr/>
              </p:nvSpPr>
              <p:spPr bwMode="auto">
                <a:xfrm rot="20633656" flipV="1">
                  <a:off x="2711" y="1790"/>
                  <a:ext cx="69" cy="295"/>
                </a:xfrm>
                <a:custGeom>
                  <a:avLst/>
                  <a:gdLst>
                    <a:gd name="T0" fmla="*/ 103 w 149"/>
                    <a:gd name="T1" fmla="*/ 0 h 194"/>
                    <a:gd name="T2" fmla="*/ 149 w 149"/>
                    <a:gd name="T3" fmla="*/ 23 h 194"/>
                    <a:gd name="T4" fmla="*/ 126 w 149"/>
                    <a:gd name="T5" fmla="*/ 49 h 194"/>
                    <a:gd name="T6" fmla="*/ 111 w 149"/>
                    <a:gd name="T7" fmla="*/ 71 h 194"/>
                    <a:gd name="T8" fmla="*/ 99 w 149"/>
                    <a:gd name="T9" fmla="*/ 88 h 194"/>
                    <a:gd name="T10" fmla="*/ 89 w 149"/>
                    <a:gd name="T11" fmla="*/ 103 h 194"/>
                    <a:gd name="T12" fmla="*/ 82 w 149"/>
                    <a:gd name="T13" fmla="*/ 120 h 194"/>
                    <a:gd name="T14" fmla="*/ 75 w 149"/>
                    <a:gd name="T15" fmla="*/ 138 h 194"/>
                    <a:gd name="T16" fmla="*/ 68 w 149"/>
                    <a:gd name="T17" fmla="*/ 163 h 194"/>
                    <a:gd name="T18" fmla="*/ 57 w 149"/>
                    <a:gd name="T19" fmla="*/ 194 h 194"/>
                    <a:gd name="T20" fmla="*/ 0 w 149"/>
                    <a:gd name="T21" fmla="*/ 194 h 194"/>
                    <a:gd name="T22" fmla="*/ 9 w 149"/>
                    <a:gd name="T23" fmla="*/ 168 h 194"/>
                    <a:gd name="T24" fmla="*/ 20 w 149"/>
                    <a:gd name="T25" fmla="*/ 143 h 194"/>
                    <a:gd name="T26" fmla="*/ 31 w 149"/>
                    <a:gd name="T27" fmla="*/ 118 h 194"/>
                    <a:gd name="T28" fmla="*/ 45 w 149"/>
                    <a:gd name="T29" fmla="*/ 94 h 194"/>
                    <a:gd name="T30" fmla="*/ 59 w 149"/>
                    <a:gd name="T31" fmla="*/ 69 h 194"/>
                    <a:gd name="T32" fmla="*/ 72 w 149"/>
                    <a:gd name="T33" fmla="*/ 46 h 194"/>
                    <a:gd name="T34" fmla="*/ 88 w 149"/>
                    <a:gd name="T35" fmla="*/ 23 h 194"/>
                    <a:gd name="T36" fmla="*/ 103 w 149"/>
                    <a:gd name="T3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94">
                      <a:moveTo>
                        <a:pt x="103" y="0"/>
                      </a:moveTo>
                      <a:lnTo>
                        <a:pt x="149" y="23"/>
                      </a:lnTo>
                      <a:lnTo>
                        <a:pt x="126" y="49"/>
                      </a:lnTo>
                      <a:lnTo>
                        <a:pt x="111" y="71"/>
                      </a:lnTo>
                      <a:lnTo>
                        <a:pt x="99" y="88"/>
                      </a:lnTo>
                      <a:lnTo>
                        <a:pt x="89" y="103"/>
                      </a:lnTo>
                      <a:lnTo>
                        <a:pt x="82" y="120"/>
                      </a:lnTo>
                      <a:lnTo>
                        <a:pt x="75" y="138"/>
                      </a:lnTo>
                      <a:lnTo>
                        <a:pt x="68" y="163"/>
                      </a:lnTo>
                      <a:lnTo>
                        <a:pt x="57" y="194"/>
                      </a:lnTo>
                      <a:lnTo>
                        <a:pt x="0" y="194"/>
                      </a:lnTo>
                      <a:lnTo>
                        <a:pt x="9" y="168"/>
                      </a:lnTo>
                      <a:lnTo>
                        <a:pt x="20" y="143"/>
                      </a:lnTo>
                      <a:lnTo>
                        <a:pt x="31" y="118"/>
                      </a:lnTo>
                      <a:lnTo>
                        <a:pt x="45" y="94"/>
                      </a:lnTo>
                      <a:lnTo>
                        <a:pt x="59" y="69"/>
                      </a:lnTo>
                      <a:lnTo>
                        <a:pt x="72" y="46"/>
                      </a:lnTo>
                      <a:lnTo>
                        <a:pt x="88" y="23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4" name="Freeform 110"/>
                <p:cNvSpPr>
                  <a:spLocks/>
                </p:cNvSpPr>
                <p:nvPr/>
              </p:nvSpPr>
              <p:spPr bwMode="auto">
                <a:xfrm>
                  <a:off x="2683" y="1704"/>
                  <a:ext cx="79" cy="109"/>
                </a:xfrm>
                <a:custGeom>
                  <a:avLst/>
                  <a:gdLst>
                    <a:gd name="T0" fmla="*/ 0 w 158"/>
                    <a:gd name="T1" fmla="*/ 138 h 216"/>
                    <a:gd name="T2" fmla="*/ 0 w 158"/>
                    <a:gd name="T3" fmla="*/ 195 h 216"/>
                    <a:gd name="T4" fmla="*/ 91 w 158"/>
                    <a:gd name="T5" fmla="*/ 216 h 216"/>
                    <a:gd name="T6" fmla="*/ 158 w 158"/>
                    <a:gd name="T7" fmla="*/ 183 h 216"/>
                    <a:gd name="T8" fmla="*/ 148 w 158"/>
                    <a:gd name="T9" fmla="*/ 103 h 216"/>
                    <a:gd name="T10" fmla="*/ 126 w 158"/>
                    <a:gd name="T11" fmla="*/ 81 h 216"/>
                    <a:gd name="T12" fmla="*/ 111 w 158"/>
                    <a:gd name="T13" fmla="*/ 66 h 216"/>
                    <a:gd name="T14" fmla="*/ 98 w 158"/>
                    <a:gd name="T15" fmla="*/ 53 h 216"/>
                    <a:gd name="T16" fmla="*/ 88 w 158"/>
                    <a:gd name="T17" fmla="*/ 44 h 216"/>
                    <a:gd name="T18" fmla="*/ 74 w 158"/>
                    <a:gd name="T19" fmla="*/ 35 h 216"/>
                    <a:gd name="T20" fmla="*/ 57 w 158"/>
                    <a:gd name="T21" fmla="*/ 26 h 216"/>
                    <a:gd name="T22" fmla="*/ 32 w 158"/>
                    <a:gd name="T23" fmla="*/ 14 h 216"/>
                    <a:gd name="T24" fmla="*/ 0 w 158"/>
                    <a:gd name="T25" fmla="*/ 0 h 216"/>
                    <a:gd name="T26" fmla="*/ 0 w 158"/>
                    <a:gd name="T27" fmla="*/ 64 h 216"/>
                    <a:gd name="T28" fmla="*/ 17 w 158"/>
                    <a:gd name="T29" fmla="*/ 72 h 216"/>
                    <a:gd name="T30" fmla="*/ 34 w 158"/>
                    <a:gd name="T31" fmla="*/ 81 h 216"/>
                    <a:gd name="T32" fmla="*/ 48 w 158"/>
                    <a:gd name="T33" fmla="*/ 92 h 216"/>
                    <a:gd name="T34" fmla="*/ 61 w 158"/>
                    <a:gd name="T35" fmla="*/ 103 h 216"/>
                    <a:gd name="T36" fmla="*/ 74 w 158"/>
                    <a:gd name="T37" fmla="*/ 116 h 216"/>
                    <a:gd name="T38" fmla="*/ 85 w 158"/>
                    <a:gd name="T39" fmla="*/ 130 h 216"/>
                    <a:gd name="T40" fmla="*/ 94 w 158"/>
                    <a:gd name="T41" fmla="*/ 144 h 216"/>
                    <a:gd name="T42" fmla="*/ 103 w 158"/>
                    <a:gd name="T43" fmla="*/ 159 h 216"/>
                    <a:gd name="T44" fmla="*/ 91 w 158"/>
                    <a:gd name="T45" fmla="*/ 161 h 216"/>
                    <a:gd name="T46" fmla="*/ 77 w 158"/>
                    <a:gd name="T47" fmla="*/ 161 h 216"/>
                    <a:gd name="T48" fmla="*/ 63 w 158"/>
                    <a:gd name="T49" fmla="*/ 161 h 216"/>
                    <a:gd name="T50" fmla="*/ 49 w 158"/>
                    <a:gd name="T51" fmla="*/ 158 h 216"/>
                    <a:gd name="T52" fmla="*/ 35 w 158"/>
                    <a:gd name="T53" fmla="*/ 155 h 216"/>
                    <a:gd name="T54" fmla="*/ 23 w 158"/>
                    <a:gd name="T55" fmla="*/ 150 h 216"/>
                    <a:gd name="T56" fmla="*/ 11 w 158"/>
                    <a:gd name="T57" fmla="*/ 144 h 216"/>
                    <a:gd name="T58" fmla="*/ 0 w 158"/>
                    <a:gd name="T59" fmla="*/ 138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58" h="216">
                      <a:moveTo>
                        <a:pt x="0" y="138"/>
                      </a:moveTo>
                      <a:lnTo>
                        <a:pt x="0" y="195"/>
                      </a:lnTo>
                      <a:lnTo>
                        <a:pt x="91" y="216"/>
                      </a:lnTo>
                      <a:lnTo>
                        <a:pt x="158" y="183"/>
                      </a:lnTo>
                      <a:lnTo>
                        <a:pt x="148" y="103"/>
                      </a:lnTo>
                      <a:lnTo>
                        <a:pt x="126" y="81"/>
                      </a:lnTo>
                      <a:lnTo>
                        <a:pt x="111" y="66"/>
                      </a:lnTo>
                      <a:lnTo>
                        <a:pt x="98" y="53"/>
                      </a:lnTo>
                      <a:lnTo>
                        <a:pt x="88" y="44"/>
                      </a:lnTo>
                      <a:lnTo>
                        <a:pt x="74" y="35"/>
                      </a:lnTo>
                      <a:lnTo>
                        <a:pt x="57" y="26"/>
                      </a:lnTo>
                      <a:lnTo>
                        <a:pt x="32" y="14"/>
                      </a:lnTo>
                      <a:lnTo>
                        <a:pt x="0" y="0"/>
                      </a:lnTo>
                      <a:lnTo>
                        <a:pt x="0" y="64"/>
                      </a:lnTo>
                      <a:lnTo>
                        <a:pt x="17" y="72"/>
                      </a:lnTo>
                      <a:lnTo>
                        <a:pt x="34" y="81"/>
                      </a:lnTo>
                      <a:lnTo>
                        <a:pt x="48" y="92"/>
                      </a:lnTo>
                      <a:lnTo>
                        <a:pt x="61" y="103"/>
                      </a:lnTo>
                      <a:lnTo>
                        <a:pt x="74" y="116"/>
                      </a:lnTo>
                      <a:lnTo>
                        <a:pt x="85" y="130"/>
                      </a:lnTo>
                      <a:lnTo>
                        <a:pt x="94" y="144"/>
                      </a:lnTo>
                      <a:lnTo>
                        <a:pt x="103" y="159"/>
                      </a:lnTo>
                      <a:lnTo>
                        <a:pt x="91" y="161"/>
                      </a:lnTo>
                      <a:lnTo>
                        <a:pt x="77" y="161"/>
                      </a:lnTo>
                      <a:lnTo>
                        <a:pt x="63" y="161"/>
                      </a:lnTo>
                      <a:lnTo>
                        <a:pt x="49" y="158"/>
                      </a:lnTo>
                      <a:lnTo>
                        <a:pt x="35" y="155"/>
                      </a:lnTo>
                      <a:lnTo>
                        <a:pt x="23" y="150"/>
                      </a:lnTo>
                      <a:lnTo>
                        <a:pt x="11" y="144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5" name="Freeform 111"/>
                <p:cNvSpPr>
                  <a:spLocks/>
                </p:cNvSpPr>
                <p:nvPr/>
              </p:nvSpPr>
              <p:spPr bwMode="auto">
                <a:xfrm>
                  <a:off x="2597" y="1682"/>
                  <a:ext cx="87" cy="154"/>
                </a:xfrm>
                <a:custGeom>
                  <a:avLst/>
                  <a:gdLst>
                    <a:gd name="T0" fmla="*/ 172 w 174"/>
                    <a:gd name="T1" fmla="*/ 109 h 307"/>
                    <a:gd name="T2" fmla="*/ 172 w 174"/>
                    <a:gd name="T3" fmla="*/ 45 h 307"/>
                    <a:gd name="T4" fmla="*/ 158 w 174"/>
                    <a:gd name="T5" fmla="*/ 40 h 307"/>
                    <a:gd name="T6" fmla="*/ 146 w 174"/>
                    <a:gd name="T7" fmla="*/ 35 h 307"/>
                    <a:gd name="T8" fmla="*/ 132 w 174"/>
                    <a:gd name="T9" fmla="*/ 31 h 307"/>
                    <a:gd name="T10" fmla="*/ 120 w 174"/>
                    <a:gd name="T11" fmla="*/ 25 h 307"/>
                    <a:gd name="T12" fmla="*/ 108 w 174"/>
                    <a:gd name="T13" fmla="*/ 19 h 307"/>
                    <a:gd name="T14" fmla="*/ 95 w 174"/>
                    <a:gd name="T15" fmla="*/ 12 h 307"/>
                    <a:gd name="T16" fmla="*/ 81 w 174"/>
                    <a:gd name="T17" fmla="*/ 6 h 307"/>
                    <a:gd name="T18" fmla="*/ 69 w 174"/>
                    <a:gd name="T19" fmla="*/ 0 h 307"/>
                    <a:gd name="T20" fmla="*/ 0 w 174"/>
                    <a:gd name="T21" fmla="*/ 217 h 307"/>
                    <a:gd name="T22" fmla="*/ 5 w 174"/>
                    <a:gd name="T23" fmla="*/ 231 h 307"/>
                    <a:gd name="T24" fmla="*/ 12 w 174"/>
                    <a:gd name="T25" fmla="*/ 244 h 307"/>
                    <a:gd name="T26" fmla="*/ 22 w 174"/>
                    <a:gd name="T27" fmla="*/ 258 h 307"/>
                    <a:gd name="T28" fmla="*/ 31 w 174"/>
                    <a:gd name="T29" fmla="*/ 271 h 307"/>
                    <a:gd name="T30" fmla="*/ 43 w 174"/>
                    <a:gd name="T31" fmla="*/ 281 h 307"/>
                    <a:gd name="T32" fmla="*/ 55 w 174"/>
                    <a:gd name="T33" fmla="*/ 292 h 307"/>
                    <a:gd name="T34" fmla="*/ 68 w 174"/>
                    <a:gd name="T35" fmla="*/ 300 h 307"/>
                    <a:gd name="T36" fmla="*/ 80 w 174"/>
                    <a:gd name="T37" fmla="*/ 307 h 307"/>
                    <a:gd name="T38" fmla="*/ 147 w 174"/>
                    <a:gd name="T39" fmla="*/ 286 h 307"/>
                    <a:gd name="T40" fmla="*/ 160 w 174"/>
                    <a:gd name="T41" fmla="*/ 264 h 307"/>
                    <a:gd name="T42" fmla="*/ 169 w 174"/>
                    <a:gd name="T43" fmla="*/ 237 h 307"/>
                    <a:gd name="T44" fmla="*/ 174 w 174"/>
                    <a:gd name="T45" fmla="*/ 209 h 307"/>
                    <a:gd name="T46" fmla="*/ 172 w 174"/>
                    <a:gd name="T47" fmla="*/ 183 h 307"/>
                    <a:gd name="T48" fmla="*/ 166 w 174"/>
                    <a:gd name="T49" fmla="*/ 192 h 307"/>
                    <a:gd name="T50" fmla="*/ 161 w 174"/>
                    <a:gd name="T51" fmla="*/ 201 h 307"/>
                    <a:gd name="T52" fmla="*/ 155 w 174"/>
                    <a:gd name="T53" fmla="*/ 212 h 307"/>
                    <a:gd name="T54" fmla="*/ 147 w 174"/>
                    <a:gd name="T55" fmla="*/ 221 h 307"/>
                    <a:gd name="T56" fmla="*/ 140 w 174"/>
                    <a:gd name="T57" fmla="*/ 231 h 307"/>
                    <a:gd name="T58" fmla="*/ 132 w 174"/>
                    <a:gd name="T59" fmla="*/ 240 h 307"/>
                    <a:gd name="T60" fmla="*/ 123 w 174"/>
                    <a:gd name="T61" fmla="*/ 246 h 307"/>
                    <a:gd name="T62" fmla="*/ 114 w 174"/>
                    <a:gd name="T63" fmla="*/ 251 h 307"/>
                    <a:gd name="T64" fmla="*/ 69 w 174"/>
                    <a:gd name="T65" fmla="*/ 228 h 307"/>
                    <a:gd name="T66" fmla="*/ 75 w 174"/>
                    <a:gd name="T67" fmla="*/ 191 h 307"/>
                    <a:gd name="T68" fmla="*/ 84 w 174"/>
                    <a:gd name="T69" fmla="*/ 154 h 307"/>
                    <a:gd name="T70" fmla="*/ 92 w 174"/>
                    <a:gd name="T71" fmla="*/ 117 h 307"/>
                    <a:gd name="T72" fmla="*/ 103 w 174"/>
                    <a:gd name="T73" fmla="*/ 80 h 307"/>
                    <a:gd name="T74" fmla="*/ 172 w 174"/>
                    <a:gd name="T75" fmla="*/ 109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74" h="307">
                      <a:moveTo>
                        <a:pt x="172" y="109"/>
                      </a:moveTo>
                      <a:lnTo>
                        <a:pt x="172" y="45"/>
                      </a:lnTo>
                      <a:lnTo>
                        <a:pt x="158" y="40"/>
                      </a:lnTo>
                      <a:lnTo>
                        <a:pt x="146" y="35"/>
                      </a:lnTo>
                      <a:lnTo>
                        <a:pt x="132" y="31"/>
                      </a:lnTo>
                      <a:lnTo>
                        <a:pt x="120" y="25"/>
                      </a:lnTo>
                      <a:lnTo>
                        <a:pt x="108" y="19"/>
                      </a:lnTo>
                      <a:lnTo>
                        <a:pt x="95" y="12"/>
                      </a:lnTo>
                      <a:lnTo>
                        <a:pt x="81" y="6"/>
                      </a:lnTo>
                      <a:lnTo>
                        <a:pt x="69" y="0"/>
                      </a:lnTo>
                      <a:lnTo>
                        <a:pt x="0" y="217"/>
                      </a:lnTo>
                      <a:lnTo>
                        <a:pt x="5" y="231"/>
                      </a:lnTo>
                      <a:lnTo>
                        <a:pt x="12" y="244"/>
                      </a:lnTo>
                      <a:lnTo>
                        <a:pt x="22" y="258"/>
                      </a:lnTo>
                      <a:lnTo>
                        <a:pt x="31" y="271"/>
                      </a:lnTo>
                      <a:lnTo>
                        <a:pt x="43" y="281"/>
                      </a:lnTo>
                      <a:lnTo>
                        <a:pt x="55" y="292"/>
                      </a:lnTo>
                      <a:lnTo>
                        <a:pt x="68" y="300"/>
                      </a:lnTo>
                      <a:lnTo>
                        <a:pt x="80" y="307"/>
                      </a:lnTo>
                      <a:lnTo>
                        <a:pt x="147" y="286"/>
                      </a:lnTo>
                      <a:lnTo>
                        <a:pt x="160" y="264"/>
                      </a:lnTo>
                      <a:lnTo>
                        <a:pt x="169" y="237"/>
                      </a:lnTo>
                      <a:lnTo>
                        <a:pt x="174" y="209"/>
                      </a:lnTo>
                      <a:lnTo>
                        <a:pt x="172" y="183"/>
                      </a:lnTo>
                      <a:lnTo>
                        <a:pt x="166" y="192"/>
                      </a:lnTo>
                      <a:lnTo>
                        <a:pt x="161" y="201"/>
                      </a:lnTo>
                      <a:lnTo>
                        <a:pt x="155" y="212"/>
                      </a:lnTo>
                      <a:lnTo>
                        <a:pt x="147" y="221"/>
                      </a:lnTo>
                      <a:lnTo>
                        <a:pt x="140" y="231"/>
                      </a:lnTo>
                      <a:lnTo>
                        <a:pt x="132" y="240"/>
                      </a:lnTo>
                      <a:lnTo>
                        <a:pt x="123" y="246"/>
                      </a:lnTo>
                      <a:lnTo>
                        <a:pt x="114" y="251"/>
                      </a:lnTo>
                      <a:lnTo>
                        <a:pt x="69" y="228"/>
                      </a:lnTo>
                      <a:lnTo>
                        <a:pt x="75" y="191"/>
                      </a:lnTo>
                      <a:lnTo>
                        <a:pt x="84" y="154"/>
                      </a:lnTo>
                      <a:lnTo>
                        <a:pt x="92" y="117"/>
                      </a:lnTo>
                      <a:lnTo>
                        <a:pt x="103" y="80"/>
                      </a:lnTo>
                      <a:lnTo>
                        <a:pt x="172" y="1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5" name="Group 112"/>
              <p:cNvGrpSpPr>
                <a:grpSpLocks/>
              </p:cNvGrpSpPr>
              <p:nvPr/>
            </p:nvGrpSpPr>
            <p:grpSpPr bwMode="auto">
              <a:xfrm>
                <a:off x="511" y="2203"/>
                <a:ext cx="77" cy="62"/>
                <a:chOff x="3235" y="1597"/>
                <a:chExt cx="263" cy="200"/>
              </a:xfrm>
            </p:grpSpPr>
            <p:sp>
              <p:nvSpPr>
                <p:cNvPr id="269" name="Freeform 113"/>
                <p:cNvSpPr>
                  <a:spLocks/>
                </p:cNvSpPr>
                <p:nvPr/>
              </p:nvSpPr>
              <p:spPr bwMode="auto">
                <a:xfrm>
                  <a:off x="3321" y="1647"/>
                  <a:ext cx="114" cy="75"/>
                </a:xfrm>
                <a:custGeom>
                  <a:avLst/>
                  <a:gdLst>
                    <a:gd name="T0" fmla="*/ 0 w 229"/>
                    <a:gd name="T1" fmla="*/ 115 h 149"/>
                    <a:gd name="T2" fmla="*/ 81 w 229"/>
                    <a:gd name="T3" fmla="*/ 104 h 149"/>
                    <a:gd name="T4" fmla="*/ 115 w 229"/>
                    <a:gd name="T5" fmla="*/ 25 h 149"/>
                    <a:gd name="T6" fmla="*/ 160 w 229"/>
                    <a:gd name="T7" fmla="*/ 35 h 149"/>
                    <a:gd name="T8" fmla="*/ 195 w 229"/>
                    <a:gd name="T9" fmla="*/ 0 h 149"/>
                    <a:gd name="T10" fmla="*/ 229 w 229"/>
                    <a:gd name="T11" fmla="*/ 25 h 149"/>
                    <a:gd name="T12" fmla="*/ 172 w 229"/>
                    <a:gd name="T13" fmla="*/ 92 h 149"/>
                    <a:gd name="T14" fmla="*/ 126 w 229"/>
                    <a:gd name="T15" fmla="*/ 81 h 149"/>
                    <a:gd name="T16" fmla="*/ 115 w 229"/>
                    <a:gd name="T17" fmla="*/ 126 h 149"/>
                    <a:gd name="T18" fmla="*/ 25 w 229"/>
                    <a:gd name="T19" fmla="*/ 149 h 149"/>
                    <a:gd name="T20" fmla="*/ 0 w 229"/>
                    <a:gd name="T21" fmla="*/ 115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9" h="149">
                      <a:moveTo>
                        <a:pt x="0" y="115"/>
                      </a:moveTo>
                      <a:lnTo>
                        <a:pt x="81" y="104"/>
                      </a:lnTo>
                      <a:lnTo>
                        <a:pt x="115" y="25"/>
                      </a:lnTo>
                      <a:lnTo>
                        <a:pt x="160" y="35"/>
                      </a:lnTo>
                      <a:lnTo>
                        <a:pt x="195" y="0"/>
                      </a:lnTo>
                      <a:lnTo>
                        <a:pt x="229" y="25"/>
                      </a:lnTo>
                      <a:lnTo>
                        <a:pt x="172" y="92"/>
                      </a:lnTo>
                      <a:lnTo>
                        <a:pt x="126" y="81"/>
                      </a:lnTo>
                      <a:lnTo>
                        <a:pt x="115" y="126"/>
                      </a:lnTo>
                      <a:lnTo>
                        <a:pt x="25" y="149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7CFF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0" name="Freeform 114"/>
                <p:cNvSpPr>
                  <a:spLocks/>
                </p:cNvSpPr>
                <p:nvPr/>
              </p:nvSpPr>
              <p:spPr bwMode="auto">
                <a:xfrm>
                  <a:off x="3370" y="1597"/>
                  <a:ext cx="128" cy="167"/>
                </a:xfrm>
                <a:custGeom>
                  <a:avLst/>
                  <a:gdLst>
                    <a:gd name="T0" fmla="*/ 0 w 257"/>
                    <a:gd name="T1" fmla="*/ 273 h 333"/>
                    <a:gd name="T2" fmla="*/ 0 w 257"/>
                    <a:gd name="T3" fmla="*/ 333 h 333"/>
                    <a:gd name="T4" fmla="*/ 7 w 257"/>
                    <a:gd name="T5" fmla="*/ 318 h 333"/>
                    <a:gd name="T6" fmla="*/ 119 w 257"/>
                    <a:gd name="T7" fmla="*/ 307 h 333"/>
                    <a:gd name="T8" fmla="*/ 131 w 257"/>
                    <a:gd name="T9" fmla="*/ 239 h 333"/>
                    <a:gd name="T10" fmla="*/ 223 w 257"/>
                    <a:gd name="T11" fmla="*/ 227 h 333"/>
                    <a:gd name="T12" fmla="*/ 257 w 257"/>
                    <a:gd name="T13" fmla="*/ 149 h 333"/>
                    <a:gd name="T14" fmla="*/ 211 w 257"/>
                    <a:gd name="T15" fmla="*/ 33 h 333"/>
                    <a:gd name="T16" fmla="*/ 189 w 257"/>
                    <a:gd name="T17" fmla="*/ 21 h 333"/>
                    <a:gd name="T18" fmla="*/ 163 w 257"/>
                    <a:gd name="T19" fmla="*/ 12 h 333"/>
                    <a:gd name="T20" fmla="*/ 136 w 257"/>
                    <a:gd name="T21" fmla="*/ 4 h 333"/>
                    <a:gd name="T22" fmla="*/ 108 w 257"/>
                    <a:gd name="T23" fmla="*/ 0 h 333"/>
                    <a:gd name="T24" fmla="*/ 79 w 257"/>
                    <a:gd name="T25" fmla="*/ 0 h 333"/>
                    <a:gd name="T26" fmla="*/ 50 w 257"/>
                    <a:gd name="T27" fmla="*/ 1 h 333"/>
                    <a:gd name="T28" fmla="*/ 23 w 257"/>
                    <a:gd name="T29" fmla="*/ 7 h 333"/>
                    <a:gd name="T30" fmla="*/ 0 w 257"/>
                    <a:gd name="T31" fmla="*/ 18 h 333"/>
                    <a:gd name="T32" fmla="*/ 0 w 257"/>
                    <a:gd name="T33" fmla="*/ 70 h 333"/>
                    <a:gd name="T34" fmla="*/ 62 w 257"/>
                    <a:gd name="T35" fmla="*/ 44 h 333"/>
                    <a:gd name="T36" fmla="*/ 142 w 257"/>
                    <a:gd name="T37" fmla="*/ 56 h 333"/>
                    <a:gd name="T38" fmla="*/ 200 w 257"/>
                    <a:gd name="T39" fmla="*/ 126 h 333"/>
                    <a:gd name="T40" fmla="*/ 176 w 257"/>
                    <a:gd name="T41" fmla="*/ 182 h 333"/>
                    <a:gd name="T42" fmla="*/ 97 w 257"/>
                    <a:gd name="T43" fmla="*/ 205 h 333"/>
                    <a:gd name="T44" fmla="*/ 85 w 257"/>
                    <a:gd name="T45" fmla="*/ 273 h 333"/>
                    <a:gd name="T46" fmla="*/ 0 w 257"/>
                    <a:gd name="T47" fmla="*/ 27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7" h="333">
                      <a:moveTo>
                        <a:pt x="0" y="273"/>
                      </a:moveTo>
                      <a:lnTo>
                        <a:pt x="0" y="333"/>
                      </a:lnTo>
                      <a:lnTo>
                        <a:pt x="7" y="318"/>
                      </a:lnTo>
                      <a:lnTo>
                        <a:pt x="119" y="307"/>
                      </a:lnTo>
                      <a:lnTo>
                        <a:pt x="131" y="239"/>
                      </a:lnTo>
                      <a:lnTo>
                        <a:pt x="223" y="227"/>
                      </a:lnTo>
                      <a:lnTo>
                        <a:pt x="257" y="149"/>
                      </a:lnTo>
                      <a:lnTo>
                        <a:pt x="211" y="33"/>
                      </a:lnTo>
                      <a:lnTo>
                        <a:pt x="189" y="21"/>
                      </a:lnTo>
                      <a:lnTo>
                        <a:pt x="163" y="12"/>
                      </a:lnTo>
                      <a:lnTo>
                        <a:pt x="136" y="4"/>
                      </a:lnTo>
                      <a:lnTo>
                        <a:pt x="108" y="0"/>
                      </a:lnTo>
                      <a:lnTo>
                        <a:pt x="79" y="0"/>
                      </a:lnTo>
                      <a:lnTo>
                        <a:pt x="50" y="1"/>
                      </a:lnTo>
                      <a:lnTo>
                        <a:pt x="23" y="7"/>
                      </a:lnTo>
                      <a:lnTo>
                        <a:pt x="0" y="18"/>
                      </a:lnTo>
                      <a:lnTo>
                        <a:pt x="0" y="70"/>
                      </a:lnTo>
                      <a:lnTo>
                        <a:pt x="62" y="44"/>
                      </a:lnTo>
                      <a:lnTo>
                        <a:pt x="142" y="56"/>
                      </a:lnTo>
                      <a:lnTo>
                        <a:pt x="200" y="126"/>
                      </a:lnTo>
                      <a:lnTo>
                        <a:pt x="176" y="182"/>
                      </a:lnTo>
                      <a:lnTo>
                        <a:pt x="97" y="205"/>
                      </a:lnTo>
                      <a:lnTo>
                        <a:pt x="85" y="273"/>
                      </a:lnTo>
                      <a:lnTo>
                        <a:pt x="0" y="2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1" name="Freeform 115"/>
                <p:cNvSpPr>
                  <a:spLocks/>
                </p:cNvSpPr>
                <p:nvPr/>
              </p:nvSpPr>
              <p:spPr bwMode="auto">
                <a:xfrm>
                  <a:off x="3235" y="1606"/>
                  <a:ext cx="135" cy="191"/>
                </a:xfrm>
                <a:custGeom>
                  <a:avLst/>
                  <a:gdLst>
                    <a:gd name="T0" fmla="*/ 268 w 270"/>
                    <a:gd name="T1" fmla="*/ 52 h 383"/>
                    <a:gd name="T2" fmla="*/ 268 w 270"/>
                    <a:gd name="T3" fmla="*/ 0 h 383"/>
                    <a:gd name="T4" fmla="*/ 244 w 270"/>
                    <a:gd name="T5" fmla="*/ 3 h 383"/>
                    <a:gd name="T6" fmla="*/ 219 w 270"/>
                    <a:gd name="T7" fmla="*/ 12 h 383"/>
                    <a:gd name="T8" fmla="*/ 195 w 270"/>
                    <a:gd name="T9" fmla="*/ 26 h 383"/>
                    <a:gd name="T10" fmla="*/ 172 w 270"/>
                    <a:gd name="T11" fmla="*/ 45 h 383"/>
                    <a:gd name="T12" fmla="*/ 149 w 270"/>
                    <a:gd name="T13" fmla="*/ 68 h 383"/>
                    <a:gd name="T14" fmla="*/ 129 w 270"/>
                    <a:gd name="T15" fmla="*/ 92 h 383"/>
                    <a:gd name="T16" fmla="*/ 107 w 270"/>
                    <a:gd name="T17" fmla="*/ 121 h 383"/>
                    <a:gd name="T18" fmla="*/ 89 w 270"/>
                    <a:gd name="T19" fmla="*/ 151 h 383"/>
                    <a:gd name="T20" fmla="*/ 70 w 270"/>
                    <a:gd name="T21" fmla="*/ 181 h 383"/>
                    <a:gd name="T22" fmla="*/ 55 w 270"/>
                    <a:gd name="T23" fmla="*/ 214 h 383"/>
                    <a:gd name="T24" fmla="*/ 41 w 270"/>
                    <a:gd name="T25" fmla="*/ 246 h 383"/>
                    <a:gd name="T26" fmla="*/ 27 w 270"/>
                    <a:gd name="T27" fmla="*/ 277 h 383"/>
                    <a:gd name="T28" fmla="*/ 18 w 270"/>
                    <a:gd name="T29" fmla="*/ 306 h 383"/>
                    <a:gd name="T30" fmla="*/ 9 w 270"/>
                    <a:gd name="T31" fmla="*/ 333 h 383"/>
                    <a:gd name="T32" fmla="*/ 3 w 270"/>
                    <a:gd name="T33" fmla="*/ 358 h 383"/>
                    <a:gd name="T34" fmla="*/ 0 w 270"/>
                    <a:gd name="T35" fmla="*/ 380 h 383"/>
                    <a:gd name="T36" fmla="*/ 13 w 270"/>
                    <a:gd name="T37" fmla="*/ 381 h 383"/>
                    <a:gd name="T38" fmla="*/ 27 w 270"/>
                    <a:gd name="T39" fmla="*/ 383 h 383"/>
                    <a:gd name="T40" fmla="*/ 41 w 270"/>
                    <a:gd name="T41" fmla="*/ 383 h 383"/>
                    <a:gd name="T42" fmla="*/ 56 w 270"/>
                    <a:gd name="T43" fmla="*/ 381 h 383"/>
                    <a:gd name="T44" fmla="*/ 72 w 270"/>
                    <a:gd name="T45" fmla="*/ 380 h 383"/>
                    <a:gd name="T46" fmla="*/ 89 w 270"/>
                    <a:gd name="T47" fmla="*/ 378 h 383"/>
                    <a:gd name="T48" fmla="*/ 104 w 270"/>
                    <a:gd name="T49" fmla="*/ 375 h 383"/>
                    <a:gd name="T50" fmla="*/ 121 w 270"/>
                    <a:gd name="T51" fmla="*/ 372 h 383"/>
                    <a:gd name="T52" fmla="*/ 138 w 270"/>
                    <a:gd name="T53" fmla="*/ 370 h 383"/>
                    <a:gd name="T54" fmla="*/ 155 w 270"/>
                    <a:gd name="T55" fmla="*/ 367 h 383"/>
                    <a:gd name="T56" fmla="*/ 172 w 270"/>
                    <a:gd name="T57" fmla="*/ 364 h 383"/>
                    <a:gd name="T58" fmla="*/ 187 w 270"/>
                    <a:gd name="T59" fmla="*/ 361 h 383"/>
                    <a:gd name="T60" fmla="*/ 204 w 270"/>
                    <a:gd name="T61" fmla="*/ 360 h 383"/>
                    <a:gd name="T62" fmla="*/ 221 w 270"/>
                    <a:gd name="T63" fmla="*/ 358 h 383"/>
                    <a:gd name="T64" fmla="*/ 236 w 270"/>
                    <a:gd name="T65" fmla="*/ 356 h 383"/>
                    <a:gd name="T66" fmla="*/ 251 w 270"/>
                    <a:gd name="T67" fmla="*/ 356 h 383"/>
                    <a:gd name="T68" fmla="*/ 262 w 270"/>
                    <a:gd name="T69" fmla="*/ 335 h 383"/>
                    <a:gd name="T70" fmla="*/ 268 w 270"/>
                    <a:gd name="T71" fmla="*/ 307 h 383"/>
                    <a:gd name="T72" fmla="*/ 270 w 270"/>
                    <a:gd name="T73" fmla="*/ 280 h 383"/>
                    <a:gd name="T74" fmla="*/ 268 w 270"/>
                    <a:gd name="T75" fmla="*/ 255 h 383"/>
                    <a:gd name="T76" fmla="*/ 262 w 270"/>
                    <a:gd name="T77" fmla="*/ 255 h 383"/>
                    <a:gd name="T78" fmla="*/ 239 w 270"/>
                    <a:gd name="T79" fmla="*/ 300 h 383"/>
                    <a:gd name="T80" fmla="*/ 218 w 270"/>
                    <a:gd name="T81" fmla="*/ 303 h 383"/>
                    <a:gd name="T82" fmla="*/ 196 w 270"/>
                    <a:gd name="T83" fmla="*/ 306 h 383"/>
                    <a:gd name="T84" fmla="*/ 175 w 270"/>
                    <a:gd name="T85" fmla="*/ 307 h 383"/>
                    <a:gd name="T86" fmla="*/ 155 w 270"/>
                    <a:gd name="T87" fmla="*/ 310 h 383"/>
                    <a:gd name="T88" fmla="*/ 133 w 270"/>
                    <a:gd name="T89" fmla="*/ 310 h 383"/>
                    <a:gd name="T90" fmla="*/ 112 w 270"/>
                    <a:gd name="T91" fmla="*/ 312 h 383"/>
                    <a:gd name="T92" fmla="*/ 90 w 270"/>
                    <a:gd name="T93" fmla="*/ 312 h 383"/>
                    <a:gd name="T94" fmla="*/ 69 w 270"/>
                    <a:gd name="T95" fmla="*/ 312 h 383"/>
                    <a:gd name="T96" fmla="*/ 76 w 270"/>
                    <a:gd name="T97" fmla="*/ 280 h 383"/>
                    <a:gd name="T98" fmla="*/ 92 w 270"/>
                    <a:gd name="T99" fmla="*/ 241 h 383"/>
                    <a:gd name="T100" fmla="*/ 115 w 270"/>
                    <a:gd name="T101" fmla="*/ 198 h 383"/>
                    <a:gd name="T102" fmla="*/ 141 w 270"/>
                    <a:gd name="T103" fmla="*/ 157 h 383"/>
                    <a:gd name="T104" fmla="*/ 172 w 270"/>
                    <a:gd name="T105" fmla="*/ 118 h 383"/>
                    <a:gd name="T106" fmla="*/ 204 w 270"/>
                    <a:gd name="T107" fmla="*/ 84 h 383"/>
                    <a:gd name="T108" fmla="*/ 236 w 270"/>
                    <a:gd name="T109" fmla="*/ 61 h 383"/>
                    <a:gd name="T110" fmla="*/ 268 w 270"/>
                    <a:gd name="T111" fmla="*/ 52 h 3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70" h="383">
                      <a:moveTo>
                        <a:pt x="268" y="52"/>
                      </a:moveTo>
                      <a:lnTo>
                        <a:pt x="268" y="0"/>
                      </a:lnTo>
                      <a:lnTo>
                        <a:pt x="244" y="3"/>
                      </a:lnTo>
                      <a:lnTo>
                        <a:pt x="219" y="12"/>
                      </a:lnTo>
                      <a:lnTo>
                        <a:pt x="195" y="26"/>
                      </a:lnTo>
                      <a:lnTo>
                        <a:pt x="172" y="45"/>
                      </a:lnTo>
                      <a:lnTo>
                        <a:pt x="149" y="68"/>
                      </a:lnTo>
                      <a:lnTo>
                        <a:pt x="129" y="92"/>
                      </a:lnTo>
                      <a:lnTo>
                        <a:pt x="107" y="121"/>
                      </a:lnTo>
                      <a:lnTo>
                        <a:pt x="89" y="151"/>
                      </a:lnTo>
                      <a:lnTo>
                        <a:pt x="70" y="181"/>
                      </a:lnTo>
                      <a:lnTo>
                        <a:pt x="55" y="214"/>
                      </a:lnTo>
                      <a:lnTo>
                        <a:pt x="41" y="246"/>
                      </a:lnTo>
                      <a:lnTo>
                        <a:pt x="27" y="277"/>
                      </a:lnTo>
                      <a:lnTo>
                        <a:pt x="18" y="306"/>
                      </a:lnTo>
                      <a:lnTo>
                        <a:pt x="9" y="333"/>
                      </a:lnTo>
                      <a:lnTo>
                        <a:pt x="3" y="358"/>
                      </a:lnTo>
                      <a:lnTo>
                        <a:pt x="0" y="380"/>
                      </a:lnTo>
                      <a:lnTo>
                        <a:pt x="13" y="381"/>
                      </a:lnTo>
                      <a:lnTo>
                        <a:pt x="27" y="383"/>
                      </a:lnTo>
                      <a:lnTo>
                        <a:pt x="41" y="383"/>
                      </a:lnTo>
                      <a:lnTo>
                        <a:pt x="56" y="381"/>
                      </a:lnTo>
                      <a:lnTo>
                        <a:pt x="72" y="380"/>
                      </a:lnTo>
                      <a:lnTo>
                        <a:pt x="89" y="378"/>
                      </a:lnTo>
                      <a:lnTo>
                        <a:pt x="104" y="375"/>
                      </a:lnTo>
                      <a:lnTo>
                        <a:pt x="121" y="372"/>
                      </a:lnTo>
                      <a:lnTo>
                        <a:pt x="138" y="370"/>
                      </a:lnTo>
                      <a:lnTo>
                        <a:pt x="155" y="367"/>
                      </a:lnTo>
                      <a:lnTo>
                        <a:pt x="172" y="364"/>
                      </a:lnTo>
                      <a:lnTo>
                        <a:pt x="187" y="361"/>
                      </a:lnTo>
                      <a:lnTo>
                        <a:pt x="204" y="360"/>
                      </a:lnTo>
                      <a:lnTo>
                        <a:pt x="221" y="358"/>
                      </a:lnTo>
                      <a:lnTo>
                        <a:pt x="236" y="356"/>
                      </a:lnTo>
                      <a:lnTo>
                        <a:pt x="251" y="356"/>
                      </a:lnTo>
                      <a:lnTo>
                        <a:pt x="262" y="335"/>
                      </a:lnTo>
                      <a:lnTo>
                        <a:pt x="268" y="307"/>
                      </a:lnTo>
                      <a:lnTo>
                        <a:pt x="270" y="280"/>
                      </a:lnTo>
                      <a:lnTo>
                        <a:pt x="268" y="255"/>
                      </a:lnTo>
                      <a:lnTo>
                        <a:pt x="262" y="255"/>
                      </a:lnTo>
                      <a:lnTo>
                        <a:pt x="239" y="300"/>
                      </a:lnTo>
                      <a:lnTo>
                        <a:pt x="218" y="303"/>
                      </a:lnTo>
                      <a:lnTo>
                        <a:pt x="196" y="306"/>
                      </a:lnTo>
                      <a:lnTo>
                        <a:pt x="175" y="307"/>
                      </a:lnTo>
                      <a:lnTo>
                        <a:pt x="155" y="310"/>
                      </a:lnTo>
                      <a:lnTo>
                        <a:pt x="133" y="310"/>
                      </a:lnTo>
                      <a:lnTo>
                        <a:pt x="112" y="312"/>
                      </a:lnTo>
                      <a:lnTo>
                        <a:pt x="90" y="312"/>
                      </a:lnTo>
                      <a:lnTo>
                        <a:pt x="69" y="312"/>
                      </a:lnTo>
                      <a:lnTo>
                        <a:pt x="76" y="280"/>
                      </a:lnTo>
                      <a:lnTo>
                        <a:pt x="92" y="241"/>
                      </a:lnTo>
                      <a:lnTo>
                        <a:pt x="115" y="198"/>
                      </a:lnTo>
                      <a:lnTo>
                        <a:pt x="141" y="157"/>
                      </a:lnTo>
                      <a:lnTo>
                        <a:pt x="172" y="118"/>
                      </a:lnTo>
                      <a:lnTo>
                        <a:pt x="204" y="84"/>
                      </a:lnTo>
                      <a:lnTo>
                        <a:pt x="236" y="61"/>
                      </a:lnTo>
                      <a:lnTo>
                        <a:pt x="26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6" name="Group 116"/>
              <p:cNvGrpSpPr>
                <a:grpSpLocks/>
              </p:cNvGrpSpPr>
              <p:nvPr/>
            </p:nvGrpSpPr>
            <p:grpSpPr bwMode="auto">
              <a:xfrm>
                <a:off x="456" y="2139"/>
                <a:ext cx="82" cy="28"/>
                <a:chOff x="1200" y="3160"/>
                <a:chExt cx="250" cy="98"/>
              </a:xfrm>
            </p:grpSpPr>
            <p:sp>
              <p:nvSpPr>
                <p:cNvPr id="267" name="Line 117"/>
                <p:cNvSpPr>
                  <a:spLocks noChangeShapeType="1"/>
                </p:cNvSpPr>
                <p:nvPr/>
              </p:nvSpPr>
              <p:spPr bwMode="gray">
                <a:xfrm>
                  <a:off x="1200" y="3162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68" name="Line 118"/>
                <p:cNvSpPr>
                  <a:spLocks noChangeShapeType="1"/>
                </p:cNvSpPr>
                <p:nvPr/>
              </p:nvSpPr>
              <p:spPr bwMode="gray">
                <a:xfrm flipH="1">
                  <a:off x="1354" y="316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</p:grpSp>
      </p:grpSp>
      <p:grpSp>
        <p:nvGrpSpPr>
          <p:cNvPr id="322" name="Group 119"/>
          <p:cNvGrpSpPr>
            <a:grpSpLocks/>
          </p:cNvGrpSpPr>
          <p:nvPr/>
        </p:nvGrpSpPr>
        <p:grpSpPr bwMode="auto">
          <a:xfrm>
            <a:off x="218855" y="1268760"/>
            <a:ext cx="9504675" cy="5220580"/>
            <a:chOff x="84" y="870"/>
            <a:chExt cx="6060" cy="3108"/>
          </a:xfrm>
        </p:grpSpPr>
        <p:sp>
          <p:nvSpPr>
            <p:cNvPr id="323" name="Rectangle 120"/>
            <p:cNvSpPr>
              <a:spLocks noChangeArrowheads="1"/>
            </p:cNvSpPr>
            <p:nvPr/>
          </p:nvSpPr>
          <p:spPr bwMode="gray">
            <a:xfrm>
              <a:off x="84" y="870"/>
              <a:ext cx="4626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4" name="Rectangle 121"/>
            <p:cNvSpPr>
              <a:spLocks noChangeArrowheads="1"/>
            </p:cNvSpPr>
            <p:nvPr/>
          </p:nvSpPr>
          <p:spPr bwMode="gray">
            <a:xfrm>
              <a:off x="4704" y="870"/>
              <a:ext cx="1440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en-US" altLang="ko-KR" sz="1000" b="1" dirty="0">
                  <a:latin typeface="+mn-ea"/>
                  <a:ea typeface="+mn-ea"/>
                </a:rPr>
                <a:t> </a:t>
              </a:r>
              <a:r>
                <a:rPr kumimoji="0" lang="ko-KR" altLang="en-US" sz="1000" b="1" dirty="0">
                  <a:latin typeface="+mn-ea"/>
                  <a:ea typeface="+mn-ea"/>
                </a:rPr>
                <a:t>정의</a:t>
              </a:r>
            </a:p>
            <a:p>
              <a:pPr algn="l" eaLnBrk="0" latinLnBrk="0" hangingPunct="0">
                <a:lnSpc>
                  <a:spcPct val="12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실적을 집계하는 구성체를 정의하는</a:t>
              </a:r>
            </a:p>
            <a:p>
              <a:pPr algn="l" eaLnBrk="0" latinLnBrk="0" hangingPunct="0">
                <a:lnSpc>
                  <a:spcPct val="12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단계이며</a:t>
              </a:r>
              <a:r>
                <a:rPr kumimoji="0" lang="en-US" altLang="ko-KR" sz="900" dirty="0">
                  <a:latin typeface="+mn-ea"/>
                  <a:ea typeface="+mn-ea"/>
                </a:rPr>
                <a:t>,</a:t>
              </a:r>
              <a:r>
                <a:rPr kumimoji="0" lang="ko-KR" altLang="en-US" sz="900" dirty="0">
                  <a:latin typeface="+mn-ea"/>
                  <a:ea typeface="+mn-ea"/>
                </a:rPr>
                <a:t>신규브랜드 </a:t>
              </a:r>
              <a:r>
                <a:rPr kumimoji="0" lang="ko-KR" altLang="en-US" sz="900" dirty="0" err="1">
                  <a:latin typeface="+mn-ea"/>
                  <a:ea typeface="+mn-ea"/>
                </a:rPr>
                <a:t>런칭</a:t>
              </a:r>
              <a:r>
                <a:rPr kumimoji="0" lang="ko-KR" altLang="en-US" sz="900" dirty="0">
                  <a:latin typeface="+mn-ea"/>
                  <a:ea typeface="+mn-ea"/>
                </a:rPr>
                <a:t> 및 생성과 기존브랜드 폐쇄에 따라 조직체계가 변경된다 </a:t>
              </a:r>
              <a:endParaRPr kumimoji="0" lang="en-US" altLang="ko-KR" sz="900" dirty="0" smtClean="0">
                <a:latin typeface="+mn-ea"/>
                <a:ea typeface="+mn-ea"/>
              </a:endParaRPr>
            </a:p>
            <a:p>
              <a:pPr algn="l" eaLnBrk="0" latinLnBrk="0" hangingPunct="0"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endParaRPr kumimoji="0" lang="en-US" altLang="ko-KR" sz="1000" b="1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en-US" altLang="ko-KR" sz="1000" b="1" dirty="0">
                  <a:latin typeface="+mn-ea"/>
                  <a:ea typeface="+mn-ea"/>
                </a:rPr>
                <a:t> </a:t>
              </a:r>
              <a:r>
                <a:rPr kumimoji="0" lang="ko-KR" altLang="en-US" sz="1000" b="1" dirty="0">
                  <a:latin typeface="+mn-ea"/>
                  <a:ea typeface="+mn-ea"/>
                </a:rPr>
                <a:t>비즈니스 업무정책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1.</a:t>
              </a:r>
              <a:r>
                <a:rPr kumimoji="0" lang="ko-KR" altLang="en-US" sz="900" dirty="0">
                  <a:latin typeface="+mn-ea"/>
                  <a:ea typeface="+mn-ea"/>
                </a:rPr>
                <a:t>조직의 </a:t>
              </a:r>
              <a:r>
                <a:rPr kumimoji="0" lang="en-US" altLang="ko-KR" sz="900" dirty="0">
                  <a:latin typeface="+mn-ea"/>
                  <a:ea typeface="+mn-ea"/>
                </a:rPr>
                <a:t>Top-Down</a:t>
              </a:r>
              <a:r>
                <a:rPr kumimoji="0" lang="ko-KR" altLang="en-US" sz="900" dirty="0">
                  <a:latin typeface="+mn-ea"/>
                  <a:ea typeface="+mn-ea"/>
                </a:rPr>
                <a:t>에 의해 조직변경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   이 된다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( </a:t>
              </a:r>
              <a:r>
                <a:rPr kumimoji="0" lang="ko-KR" altLang="en-US" sz="900" dirty="0">
                  <a:latin typeface="+mn-ea"/>
                  <a:ea typeface="+mn-ea"/>
                </a:rPr>
                <a:t>회사</a:t>
              </a:r>
              <a:r>
                <a:rPr kumimoji="0" lang="en-US" altLang="ko-KR" sz="900" dirty="0">
                  <a:latin typeface="+mn-ea"/>
                  <a:ea typeface="+mn-ea"/>
                </a:rPr>
                <a:t>-</a:t>
              </a:r>
              <a:r>
                <a:rPr kumimoji="0" lang="ko-KR" altLang="en-US" sz="900" dirty="0">
                  <a:latin typeface="+mn-ea"/>
                  <a:ea typeface="+mn-ea"/>
                </a:rPr>
                <a:t>사업부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-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부서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-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팀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-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매장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)</a:t>
              </a:r>
              <a:endParaRPr kumimoji="0" lang="en-US" altLang="ko-KR" sz="900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2.</a:t>
              </a:r>
              <a:r>
                <a:rPr kumimoji="0" lang="ko-KR" altLang="en-US" sz="900" dirty="0">
                  <a:latin typeface="+mn-ea"/>
                  <a:ea typeface="+mn-ea"/>
                </a:rPr>
                <a:t>품종</a:t>
              </a:r>
              <a:r>
                <a:rPr kumimoji="0" lang="en-US" altLang="ko-KR" sz="900" dirty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칼라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사이즈는 회사에서 사용되는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데이를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 일괄 관리한다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.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endParaRPr kumimoji="0" lang="ko-KR" altLang="en-US" sz="900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3.</a:t>
              </a:r>
              <a:r>
                <a:rPr kumimoji="0" lang="ko-KR" altLang="en-US" sz="900" dirty="0">
                  <a:latin typeface="+mn-ea"/>
                  <a:ea typeface="+mn-ea"/>
                </a:rPr>
                <a:t>모든 정보사항에 대해 삭제하지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 않고 삭제일자로 관리하여 사용자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 에게 조회하지 않도록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한다</a:t>
              </a:r>
              <a:endParaRPr kumimoji="0" lang="en-US" altLang="ko-KR" sz="900" dirty="0" smtClean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endParaRPr kumimoji="0" lang="ko-KR" altLang="en-US" sz="900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4.</a:t>
              </a:r>
              <a:r>
                <a:rPr kumimoji="0" lang="ko-KR" altLang="en-US" sz="900" dirty="0">
                  <a:latin typeface="+mn-ea"/>
                  <a:ea typeface="+mn-ea"/>
                </a:rPr>
                <a:t>기준정보는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정보담당자 </a:t>
              </a:r>
              <a:r>
                <a:rPr kumimoji="0" lang="ko-KR" altLang="en-US" sz="900" dirty="0">
                  <a:latin typeface="+mn-ea"/>
                  <a:ea typeface="+mn-ea"/>
                </a:rPr>
                <a:t>사용자만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ko-KR" altLang="en-US" sz="900" dirty="0">
                  <a:latin typeface="+mn-ea"/>
                  <a:ea typeface="+mn-ea"/>
                </a:rPr>
                <a:t>  등록</a:t>
              </a:r>
              <a:r>
                <a:rPr kumimoji="0" lang="en-US" altLang="ko-KR" sz="900" dirty="0">
                  <a:latin typeface="+mn-ea"/>
                  <a:ea typeface="+mn-ea"/>
                </a:rPr>
                <a:t>/</a:t>
              </a:r>
              <a:r>
                <a:rPr kumimoji="0" lang="ko-KR" altLang="en-US" sz="900" dirty="0">
                  <a:latin typeface="+mn-ea"/>
                  <a:ea typeface="+mn-ea"/>
                </a:rPr>
                <a:t>수정이 가능하다</a:t>
              </a:r>
              <a:r>
                <a:rPr kumimoji="0" lang="en-US" altLang="ko-KR" sz="900" dirty="0">
                  <a:latin typeface="+mn-ea"/>
                  <a:ea typeface="+mn-ea"/>
                </a:rPr>
                <a:t>.</a:t>
              </a: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>
                  <a:latin typeface="+mn-ea"/>
                  <a:ea typeface="+mn-ea"/>
                </a:rPr>
                <a:t> </a:t>
              </a:r>
            </a:p>
          </p:txBody>
        </p:sp>
      </p:grpSp>
      <p:sp>
        <p:nvSpPr>
          <p:cNvPr id="329" name="Text Box 30"/>
          <p:cNvSpPr txBox="1">
            <a:spLocks noChangeArrowheads="1"/>
          </p:cNvSpPr>
          <p:nvPr/>
        </p:nvSpPr>
        <p:spPr bwMode="gray">
          <a:xfrm>
            <a:off x="1798907" y="3735407"/>
            <a:ext cx="18482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b="1" dirty="0" smtClean="0">
                <a:latin typeface="+mn-ea"/>
                <a:ea typeface="+mn-ea"/>
              </a:rPr>
              <a:t>전사 표준화</a:t>
            </a:r>
            <a:endParaRPr lang="en-US" altLang="ko-KR" sz="900" b="1" dirty="0" smtClean="0">
              <a:latin typeface="+mn-ea"/>
              <a:ea typeface="+mn-ea"/>
            </a:endParaRPr>
          </a:p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- </a:t>
            </a:r>
            <a:r>
              <a:rPr lang="ko-KR" altLang="en-US" sz="900" b="1" dirty="0" smtClean="0">
                <a:latin typeface="+mn-ea"/>
                <a:ea typeface="+mn-ea"/>
              </a:rPr>
              <a:t>신성</a:t>
            </a:r>
            <a:r>
              <a:rPr lang="en-US" altLang="ko-KR" sz="900" b="1" dirty="0" smtClean="0">
                <a:latin typeface="+mn-ea"/>
                <a:ea typeface="+mn-ea"/>
              </a:rPr>
              <a:t>/</a:t>
            </a:r>
            <a:r>
              <a:rPr lang="ko-KR" altLang="en-US" sz="900" b="1" dirty="0" err="1" smtClean="0">
                <a:latin typeface="+mn-ea"/>
                <a:ea typeface="+mn-ea"/>
              </a:rPr>
              <a:t>에이션</a:t>
            </a:r>
            <a:r>
              <a:rPr lang="ko-KR" altLang="en-US" sz="900" b="1" dirty="0" smtClean="0">
                <a:latin typeface="+mn-ea"/>
                <a:ea typeface="+mn-ea"/>
              </a:rPr>
              <a:t> 동일사용</a:t>
            </a:r>
            <a:endParaRPr lang="ko-KR" altLang="en-US" sz="900" b="1" dirty="0">
              <a:latin typeface="+mn-ea"/>
              <a:ea typeface="+mn-ea"/>
            </a:endParaRPr>
          </a:p>
        </p:txBody>
      </p:sp>
      <p:cxnSp>
        <p:nvCxnSpPr>
          <p:cNvPr id="330" name="AutoShape 122"/>
          <p:cNvCxnSpPr>
            <a:cxnSpLocks noChangeShapeType="1"/>
            <a:stCxn id="335" idx="2"/>
            <a:endCxn id="344" idx="0"/>
          </p:cNvCxnSpPr>
          <p:nvPr/>
        </p:nvCxnSpPr>
        <p:spPr bwMode="gray">
          <a:xfrm flipH="1">
            <a:off x="4173615" y="2156593"/>
            <a:ext cx="1582" cy="38386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5" name="Rectangle 133"/>
          <p:cNvSpPr>
            <a:spLocks noChangeArrowheads="1"/>
          </p:cNvSpPr>
          <p:nvPr/>
        </p:nvSpPr>
        <p:spPr bwMode="gray">
          <a:xfrm>
            <a:off x="3726728" y="1902593"/>
            <a:ext cx="89693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조직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339" name="Text Box 138"/>
          <p:cNvSpPr txBox="1">
            <a:spLocks noChangeArrowheads="1"/>
          </p:cNvSpPr>
          <p:nvPr/>
        </p:nvSpPr>
        <p:spPr bwMode="gray">
          <a:xfrm>
            <a:off x="4774682" y="1782617"/>
            <a:ext cx="15109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회사코드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사업부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부서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팀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매장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41" name="Text Box 140"/>
          <p:cNvSpPr txBox="1">
            <a:spLocks noChangeArrowheads="1"/>
          </p:cNvSpPr>
          <p:nvPr/>
        </p:nvSpPr>
        <p:spPr bwMode="gray">
          <a:xfrm>
            <a:off x="4727606" y="2459666"/>
            <a:ext cx="1941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상위브랜드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en-US" altLang="ko-KR" sz="900" dirty="0" smtClean="0">
                <a:latin typeface="+mn-ea"/>
                <a:ea typeface="+mn-ea"/>
              </a:rPr>
              <a:t>A: </a:t>
            </a:r>
            <a:r>
              <a:rPr lang="ko-KR" altLang="en-US" sz="900" dirty="0" err="1" smtClean="0">
                <a:latin typeface="+mn-ea"/>
                <a:ea typeface="+mn-ea"/>
              </a:rPr>
              <a:t>지오지아</a:t>
            </a:r>
            <a:r>
              <a:rPr lang="en-US" altLang="ko-KR" sz="900" dirty="0" smtClean="0">
                <a:latin typeface="+mn-ea"/>
                <a:ea typeface="+mn-ea"/>
              </a:rPr>
              <a:t>/Z:</a:t>
            </a:r>
            <a:r>
              <a:rPr lang="ko-KR" altLang="en-US" sz="900" dirty="0" err="1" smtClean="0">
                <a:latin typeface="+mn-ea"/>
                <a:ea typeface="+mn-ea"/>
              </a:rPr>
              <a:t>올젠</a:t>
            </a:r>
            <a:r>
              <a:rPr lang="en-US" altLang="ko-KR" sz="900" dirty="0" smtClean="0">
                <a:latin typeface="+mn-ea"/>
                <a:ea typeface="+mn-ea"/>
              </a:rPr>
              <a:t>/M:</a:t>
            </a:r>
            <a:r>
              <a:rPr lang="ko-KR" altLang="en-US" sz="900" dirty="0" err="1" smtClean="0">
                <a:latin typeface="+mn-ea"/>
                <a:ea typeface="+mn-ea"/>
              </a:rPr>
              <a:t>탑텐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344" name="Rectangle 131"/>
          <p:cNvSpPr>
            <a:spLocks noChangeArrowheads="1"/>
          </p:cNvSpPr>
          <p:nvPr/>
        </p:nvSpPr>
        <p:spPr bwMode="gray">
          <a:xfrm>
            <a:off x="3744196" y="2540455"/>
            <a:ext cx="85883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>
                <a:latin typeface="+mn-ea"/>
                <a:ea typeface="+mn-ea"/>
              </a:rPr>
              <a:t>부서 등록</a:t>
            </a:r>
          </a:p>
        </p:txBody>
      </p:sp>
      <p:sp>
        <p:nvSpPr>
          <p:cNvPr id="347" name="Rectangle 123"/>
          <p:cNvSpPr>
            <a:spLocks noChangeArrowheads="1"/>
          </p:cNvSpPr>
          <p:nvPr/>
        </p:nvSpPr>
        <p:spPr bwMode="gray">
          <a:xfrm>
            <a:off x="3711449" y="3220005"/>
            <a:ext cx="93503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ko-KR" altLang="en-US" sz="1000" b="1">
                <a:latin typeface="+mn-ea"/>
                <a:ea typeface="+mn-ea"/>
              </a:rPr>
              <a:t>브랜드 등록</a:t>
            </a:r>
          </a:p>
        </p:txBody>
      </p:sp>
      <p:cxnSp>
        <p:nvCxnSpPr>
          <p:cNvPr id="348" name="AutoShape 145"/>
          <p:cNvCxnSpPr>
            <a:cxnSpLocks noChangeShapeType="1"/>
            <a:stCxn id="344" idx="2"/>
            <a:endCxn id="347" idx="0"/>
          </p:cNvCxnSpPr>
          <p:nvPr/>
        </p:nvCxnSpPr>
        <p:spPr bwMode="gray">
          <a:xfrm>
            <a:off x="4173615" y="2794455"/>
            <a:ext cx="5353" cy="4255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9" name="Text Box 146"/>
          <p:cNvSpPr txBox="1">
            <a:spLocks noChangeArrowheads="1"/>
          </p:cNvSpPr>
          <p:nvPr/>
        </p:nvSpPr>
        <p:spPr bwMode="gray">
          <a:xfrm>
            <a:off x="4753154" y="3118468"/>
            <a:ext cx="21123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ko-KR" sz="900" dirty="0">
                <a:latin typeface="+mn-ea"/>
                <a:ea typeface="+mn-ea"/>
              </a:rPr>
              <a:t>MS:TOPTEN, </a:t>
            </a:r>
            <a:r>
              <a:rPr lang="en-US" altLang="ko-KR" sz="900" dirty="0" smtClean="0">
                <a:latin typeface="+mn-ea"/>
                <a:ea typeface="+mn-ea"/>
              </a:rPr>
              <a:t>AA:AA_NAVY</a:t>
            </a:r>
          </a:p>
          <a:p>
            <a:r>
              <a:rPr lang="en-US" altLang="ko-KR" sz="900" dirty="0">
                <a:latin typeface="+mn-ea"/>
                <a:ea typeface="+mn-ea"/>
              </a:rPr>
              <a:t>BZ:AND-Z, </a:t>
            </a:r>
            <a:r>
              <a:rPr lang="en-US" altLang="ko-KR" sz="900" dirty="0" smtClean="0">
                <a:latin typeface="+mn-ea"/>
                <a:ea typeface="+mn-ea"/>
              </a:rPr>
              <a:t>ZO:OLZEN 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53" name="Text Box 149"/>
          <p:cNvSpPr txBox="1">
            <a:spLocks noChangeArrowheads="1"/>
          </p:cNvSpPr>
          <p:nvPr/>
        </p:nvSpPr>
        <p:spPr bwMode="gray">
          <a:xfrm>
            <a:off x="363939" y="4141626"/>
            <a:ext cx="16484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상위품종</a:t>
            </a:r>
            <a:r>
              <a:rPr lang="en-US" altLang="ko-KR" sz="900" dirty="0">
                <a:latin typeface="+mn-ea"/>
                <a:ea typeface="+mn-ea"/>
              </a:rPr>
              <a:t>,</a:t>
            </a:r>
            <a:r>
              <a:rPr lang="ko-KR" altLang="en-US" sz="900" dirty="0" smtClean="0">
                <a:latin typeface="+mn-ea"/>
                <a:ea typeface="+mn-ea"/>
              </a:rPr>
              <a:t>품종 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en-US" altLang="ko-KR" sz="900" dirty="0" smtClean="0">
                <a:latin typeface="+mn-ea"/>
                <a:ea typeface="+mn-ea"/>
              </a:rPr>
              <a:t>TOP-DOWN LEVEL</a:t>
            </a:r>
            <a:r>
              <a:rPr lang="ko-KR" altLang="en-US" sz="900" dirty="0" smtClean="0">
                <a:latin typeface="+mn-ea"/>
                <a:ea typeface="+mn-ea"/>
              </a:rPr>
              <a:t>로 관리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59" name="Rectangle 128"/>
          <p:cNvSpPr>
            <a:spLocks noChangeArrowheads="1"/>
          </p:cNvSpPr>
          <p:nvPr/>
        </p:nvSpPr>
        <p:spPr bwMode="gray">
          <a:xfrm>
            <a:off x="2021392" y="4224710"/>
            <a:ext cx="110648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ko-KR" altLang="en-US" sz="1000" b="1">
                <a:latin typeface="+mn-ea"/>
                <a:ea typeface="+mn-ea"/>
              </a:rPr>
              <a:t>품종 정보등록</a:t>
            </a:r>
          </a:p>
        </p:txBody>
      </p:sp>
      <p:sp>
        <p:nvSpPr>
          <p:cNvPr id="363" name="Rectangle 26"/>
          <p:cNvSpPr>
            <a:spLocks noChangeArrowheads="1"/>
          </p:cNvSpPr>
          <p:nvPr/>
        </p:nvSpPr>
        <p:spPr bwMode="gray">
          <a:xfrm>
            <a:off x="2018016" y="4704458"/>
            <a:ext cx="110648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ko-KR" sz="1000" b="1">
                <a:latin typeface="+mn-ea"/>
                <a:ea typeface="+mn-ea"/>
              </a:rPr>
              <a:t>Color</a:t>
            </a:r>
            <a:r>
              <a:rPr lang="ko-KR" altLang="en-US" sz="1000" b="1">
                <a:latin typeface="+mn-ea"/>
                <a:ea typeface="+mn-ea"/>
              </a:rPr>
              <a:t>정보등록</a:t>
            </a:r>
          </a:p>
        </p:txBody>
      </p:sp>
      <p:sp>
        <p:nvSpPr>
          <p:cNvPr id="365" name="Rectangle 125"/>
          <p:cNvSpPr>
            <a:spLocks noChangeArrowheads="1"/>
          </p:cNvSpPr>
          <p:nvPr/>
        </p:nvSpPr>
        <p:spPr bwMode="gray">
          <a:xfrm>
            <a:off x="2018016" y="5219090"/>
            <a:ext cx="110648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r>
              <a:rPr lang="en-US" altLang="ko-KR" sz="1000" b="1">
                <a:latin typeface="+mn-ea"/>
                <a:ea typeface="+mn-ea"/>
              </a:rPr>
              <a:t>Size </a:t>
            </a:r>
            <a:r>
              <a:rPr lang="ko-KR" altLang="en-US" sz="1000" b="1">
                <a:latin typeface="+mn-ea"/>
                <a:ea typeface="+mn-ea"/>
              </a:rPr>
              <a:t>정보등록</a:t>
            </a:r>
          </a:p>
        </p:txBody>
      </p:sp>
      <p:cxnSp>
        <p:nvCxnSpPr>
          <p:cNvPr id="79" name="AutoShape 145"/>
          <p:cNvCxnSpPr>
            <a:cxnSpLocks noChangeShapeType="1"/>
            <a:stCxn id="359" idx="3"/>
          </p:cNvCxnSpPr>
          <p:nvPr/>
        </p:nvCxnSpPr>
        <p:spPr bwMode="gray">
          <a:xfrm>
            <a:off x="3127880" y="4351710"/>
            <a:ext cx="1623016" cy="3311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Text Box 149"/>
          <p:cNvSpPr txBox="1">
            <a:spLocks noChangeArrowheads="1"/>
          </p:cNvSpPr>
          <p:nvPr/>
        </p:nvSpPr>
        <p:spPr bwMode="gray">
          <a:xfrm>
            <a:off x="488156" y="4912151"/>
            <a:ext cx="14333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회사에서 운영되는 전체 칼라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사이즈 관리</a:t>
            </a:r>
            <a:endParaRPr lang="en-US" altLang="ko-KR" sz="900" dirty="0">
              <a:latin typeface="+mn-ea"/>
              <a:ea typeface="+mn-ea"/>
            </a:endParaRPr>
          </a:p>
        </p:txBody>
      </p:sp>
      <p:cxnSp>
        <p:nvCxnSpPr>
          <p:cNvPr id="84" name="AutoShape 145"/>
          <p:cNvCxnSpPr>
            <a:cxnSpLocks noChangeShapeType="1"/>
            <a:stCxn id="363" idx="3"/>
            <a:endCxn id="94" idx="1"/>
          </p:cNvCxnSpPr>
          <p:nvPr/>
        </p:nvCxnSpPr>
        <p:spPr bwMode="gray">
          <a:xfrm>
            <a:off x="3124504" y="4831458"/>
            <a:ext cx="1626392" cy="1498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145"/>
          <p:cNvCxnSpPr>
            <a:cxnSpLocks noChangeShapeType="1"/>
            <a:stCxn id="365" idx="3"/>
          </p:cNvCxnSpPr>
          <p:nvPr/>
        </p:nvCxnSpPr>
        <p:spPr bwMode="gray">
          <a:xfrm flipV="1">
            <a:off x="3124504" y="5219090"/>
            <a:ext cx="1603102" cy="1270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1" name="Group 237"/>
          <p:cNvGrpSpPr>
            <a:grpSpLocks/>
          </p:cNvGrpSpPr>
          <p:nvPr/>
        </p:nvGrpSpPr>
        <p:grpSpPr bwMode="auto">
          <a:xfrm>
            <a:off x="4750896" y="4535221"/>
            <a:ext cx="1371600" cy="892175"/>
            <a:chOff x="186" y="1764"/>
            <a:chExt cx="864" cy="562"/>
          </a:xfrm>
        </p:grpSpPr>
        <p:sp>
          <p:nvSpPr>
            <p:cNvPr id="92" name="Rectangle 24"/>
            <p:cNvSpPr>
              <a:spLocks noChangeArrowheads="1"/>
            </p:cNvSpPr>
            <p:nvPr/>
          </p:nvSpPr>
          <p:spPr bwMode="gray">
            <a:xfrm>
              <a:off x="274" y="1828"/>
              <a:ext cx="697" cy="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ko-KR" altLang="en-US" sz="1000" b="1" dirty="0">
                  <a:latin typeface="+mj-ea"/>
                  <a:ea typeface="+mj-ea"/>
                </a:rPr>
                <a:t>제품정보 등록</a:t>
              </a:r>
            </a:p>
          </p:txBody>
        </p:sp>
        <p:sp>
          <p:nvSpPr>
            <p:cNvPr id="94" name="Rectangle 72"/>
            <p:cNvSpPr>
              <a:spLocks noChangeArrowheads="1"/>
            </p:cNvSpPr>
            <p:nvPr/>
          </p:nvSpPr>
          <p:spPr bwMode="gray">
            <a:xfrm>
              <a:off x="186" y="1764"/>
              <a:ext cx="864" cy="5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95" name="Rectangle 118"/>
            <p:cNvSpPr>
              <a:spLocks noChangeArrowheads="1"/>
            </p:cNvSpPr>
            <p:nvPr/>
          </p:nvSpPr>
          <p:spPr bwMode="gray">
            <a:xfrm>
              <a:off x="272" y="2104"/>
              <a:ext cx="697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r>
                <a:rPr lang="ko-KR" altLang="en-US" sz="1000" b="1" dirty="0" smtClean="0">
                  <a:latin typeface="+mj-ea"/>
                  <a:ea typeface="+mj-ea"/>
                </a:rPr>
                <a:t>작업지시서등록</a:t>
              </a:r>
              <a:endParaRPr lang="ko-KR" altLang="en-US" sz="1000" b="1" dirty="0">
                <a:latin typeface="+mj-ea"/>
                <a:ea typeface="+mj-ea"/>
              </a:endParaRPr>
            </a:p>
          </p:txBody>
        </p:sp>
      </p:grpSp>
      <p:cxnSp>
        <p:nvCxnSpPr>
          <p:cNvPr id="102" name="AutoShape 145"/>
          <p:cNvCxnSpPr>
            <a:cxnSpLocks noChangeShapeType="1"/>
            <a:stCxn id="347" idx="2"/>
            <a:endCxn id="94" idx="0"/>
          </p:cNvCxnSpPr>
          <p:nvPr/>
        </p:nvCxnSpPr>
        <p:spPr bwMode="gray">
          <a:xfrm rot="16200000" flipH="1">
            <a:off x="4277224" y="3375749"/>
            <a:ext cx="1061216" cy="125772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9644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정보관리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4. </a:t>
            </a:r>
            <a:r>
              <a:rPr lang="ko-KR" altLang="en-US" dirty="0" smtClean="0">
                <a:latin typeface="+mn-ea"/>
                <a:ea typeface="+mn-ea"/>
              </a:rPr>
              <a:t>데이터 표준화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73" name="내용 개체 틀 15"/>
          <p:cNvSpPr txBox="1">
            <a:spLocks/>
          </p:cNvSpPr>
          <p:nvPr/>
        </p:nvSpPr>
        <p:spPr bwMode="gray">
          <a:xfrm>
            <a:off x="272480" y="683695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데이터 표준화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458258"/>
              </p:ext>
            </p:extLst>
          </p:nvPr>
        </p:nvGraphicFramePr>
        <p:xfrm>
          <a:off x="272479" y="980730"/>
          <a:ext cx="4455495" cy="5485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29"/>
                <a:gridCol w="649759"/>
                <a:gridCol w="1113873"/>
                <a:gridCol w="649759"/>
                <a:gridCol w="1531575"/>
              </a:tblGrid>
              <a:tr h="4202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브랜드 코드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서브 브랜드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74653">
                <a:tc rowSpan="29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ko-KR" altLang="en-US" sz="1600" dirty="0" smtClean="0">
                          <a:latin typeface="+mn-ea"/>
                          <a:ea typeface="+mn-ea"/>
                        </a:rPr>
                        <a:t>신 성 통 상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 by 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 BLACK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 by 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BL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 LIGHT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EDITION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NE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EDITION(NE)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NN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EDITION(NN)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ANNUAL ITEM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OLZEN-BROWN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ZO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POWER ITEM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ZR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차유통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 전용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TOP10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MS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TOPTEN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MZ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차 유통전용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CHINA_ZIOZIA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 by ZIOZIA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 BLACK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CHINA_AND_Z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ZIOZIA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 by ZIOZIA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DL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 LIGHT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AND-Z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 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ANNUAL ITEM_CHINA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OLZEN-BROWN_CHINA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OO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OLZEN_CHINA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7465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OP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차유통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 전용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_CHINA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46519"/>
              </p:ext>
            </p:extLst>
          </p:nvPr>
        </p:nvGraphicFramePr>
        <p:xfrm>
          <a:off x="4998005" y="980728"/>
          <a:ext cx="4725524" cy="1035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538"/>
                <a:gridCol w="748597"/>
                <a:gridCol w="1122896"/>
                <a:gridCol w="655023"/>
                <a:gridCol w="1216470"/>
              </a:tblGrid>
              <a:tr h="464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브랜드 코드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서브 브랜드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90166">
                <a:tc rowSpan="3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120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에이션패션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POLHAM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PH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POLHAM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PROJECT_M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PROJECT_M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KIDS_POLHAM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PK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KIDS_POLHAM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4727"/>
              </p:ext>
            </p:extLst>
          </p:nvPr>
        </p:nvGraphicFramePr>
        <p:xfrm>
          <a:off x="4998003" y="2096854"/>
          <a:ext cx="4680522" cy="1986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936"/>
                <a:gridCol w="221191"/>
                <a:gridCol w="540060"/>
                <a:gridCol w="225025"/>
                <a:gridCol w="540060"/>
                <a:gridCol w="225025"/>
                <a:gridCol w="675075"/>
                <a:gridCol w="1350150"/>
              </a:tblGrid>
              <a:tr h="464620"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1100" b="1" kern="1200" dirty="0" smtClean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altLang="en-US" sz="11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기획년도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시 </a:t>
                      </a:r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즌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성 별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90166">
                <a:tc rowSpan="8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신성</a:t>
                      </a:r>
                      <a:r>
                        <a:rPr lang="en-US" altLang="ko-KR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에이션</a:t>
                      </a:r>
                      <a:r>
                        <a:rPr lang="ko-KR" altLang="en-US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342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2022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봄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남성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에 저장 되는 코드와는 다름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시즌 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봄</a:t>
                      </a:r>
                      <a:r>
                        <a:rPr lang="ko-KR" altLang="en-US" sz="9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 C0071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2021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여름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여성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2020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가을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남녀공용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Z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2019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겨울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2018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사계절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KID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X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2017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90166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ct val="100000"/>
                        </a:lnSpc>
                      </a:pP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996266"/>
              </p:ext>
            </p:extLst>
          </p:nvPr>
        </p:nvGraphicFramePr>
        <p:xfrm>
          <a:off x="4970294" y="4180503"/>
          <a:ext cx="4708231" cy="2155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811"/>
                <a:gridCol w="405045"/>
                <a:gridCol w="900100"/>
                <a:gridCol w="630070"/>
                <a:gridCol w="225025"/>
                <a:gridCol w="540060"/>
                <a:gridCol w="360040"/>
                <a:gridCol w="720080"/>
              </a:tblGrid>
              <a:tr h="557773"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1100" b="1" kern="1200" dirty="0" smtClean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altLang="en-US" sz="1100" b="1" kern="1200" dirty="0">
                        <a:solidFill>
                          <a:schemeClr val="lt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칼라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사이즈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품종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대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품종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품종명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228293">
                <a:tc rowSpan="7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신성</a:t>
                      </a:r>
                      <a:r>
                        <a:rPr lang="en-US" altLang="ko-KR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50" kern="1200" dirty="0" err="1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에이션</a:t>
                      </a:r>
                      <a:endParaRPr lang="en-US" altLang="ko-KR" sz="1050" kern="1200" dirty="0" smtClean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342" rtl="0" eaLnBrk="1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5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lang="ko-KR" altLang="en-US" sz="105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ABL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AQUA BLUE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95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소품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AB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가방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AMOND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코드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CG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싱글코드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vert="eaVert"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AG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APPLE GREEN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105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데님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DJ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데님자켓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BE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BEIGE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110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스웨터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EH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42" rtl="0" eaLnBrk="1" latinLnBrk="1" hangingPunct="1">
                        <a:lnSpc>
                          <a:spcPts val="700"/>
                        </a:lnSpc>
                      </a:pPr>
                      <a:r>
                        <a:rPr lang="ko-KR" altLang="en-US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후드</a:t>
                      </a:r>
                      <a:r>
                        <a:rPr lang="en-US" altLang="ko-KR" sz="900" kern="1200" dirty="0" smtClean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BLACK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77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F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사파리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FF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사파리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BL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BLUE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78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J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점퍼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JD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smtClean="0">
                          <a:latin typeface="+mn-ea"/>
                          <a:ea typeface="+mn-ea"/>
                        </a:rPr>
                        <a:t>다운점퍼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28293">
                <a:tc vMerge="1">
                  <a:txBody>
                    <a:bodyPr/>
                    <a:lstStyle/>
                    <a:p>
                      <a:pPr marL="0" algn="ctr" defTabSz="914342" rtl="0" eaLnBrk="1" latinLnBrk="1" hangingPunct="1">
                        <a:lnSpc>
                          <a:spcPts val="700"/>
                        </a:lnSpc>
                      </a:pPr>
                      <a:endParaRPr lang="ko-KR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BR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BROWN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80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자켓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KP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700"/>
                        </a:lnSpc>
                      </a:pPr>
                      <a:r>
                        <a:rPr lang="ko-KR" altLang="en-US" sz="900" dirty="0" err="1" smtClean="0">
                          <a:latin typeface="+mn-ea"/>
                          <a:ea typeface="+mn-ea"/>
                        </a:rPr>
                        <a:t>패딩재킷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 marT="5400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786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3. </a:t>
            </a:r>
            <a:r>
              <a:rPr lang="ko-KR" altLang="en-US" dirty="0" smtClean="0">
                <a:latin typeface="+mn-ea"/>
                <a:ea typeface="+mn-ea"/>
              </a:rPr>
              <a:t>정보관리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4. </a:t>
            </a:r>
            <a:r>
              <a:rPr lang="ko-KR" altLang="en-US" dirty="0">
                <a:latin typeface="+mn-ea"/>
                <a:ea typeface="+mn-ea"/>
              </a:rPr>
              <a:t>데이터 표준화</a:t>
            </a: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제품코드 생성 규칙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신성기준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" name="Line 11"/>
          <p:cNvSpPr>
            <a:spLocks noChangeShapeType="1"/>
          </p:cNvSpPr>
          <p:nvPr/>
        </p:nvSpPr>
        <p:spPr bwMode="auto">
          <a:xfrm flipH="1">
            <a:off x="1392653" y="966425"/>
            <a:ext cx="9525" cy="5640387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7" name="Rectangle 1385"/>
          <p:cNvSpPr>
            <a:spLocks noChangeArrowheads="1"/>
          </p:cNvSpPr>
          <p:nvPr/>
        </p:nvSpPr>
        <p:spPr bwMode="auto">
          <a:xfrm>
            <a:off x="271878" y="953725"/>
            <a:ext cx="1247775" cy="5653087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latinLnBrk="0" hangingPunct="0">
              <a:lnSpc>
                <a:spcPct val="110000"/>
              </a:lnSpc>
            </a:pPr>
            <a:endParaRPr kumimoji="0" lang="ko-KR" altLang="en-US" sz="1200" b="1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" name="Rectangle 55"/>
          <p:cNvSpPr>
            <a:spLocks noChangeArrowheads="1"/>
          </p:cNvSpPr>
          <p:nvPr/>
        </p:nvSpPr>
        <p:spPr bwMode="gray">
          <a:xfrm>
            <a:off x="8373520" y="1085243"/>
            <a:ext cx="1260000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TOP10</a:t>
            </a:r>
          </a:p>
        </p:txBody>
      </p:sp>
      <p:sp>
        <p:nvSpPr>
          <p:cNvPr id="10" name="Rectangle 55"/>
          <p:cNvSpPr>
            <a:spLocks noChangeArrowheads="1"/>
          </p:cNvSpPr>
          <p:nvPr/>
        </p:nvSpPr>
        <p:spPr bwMode="gray">
          <a:xfrm>
            <a:off x="4925950" y="1088740"/>
            <a:ext cx="1260000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EDITION</a:t>
            </a:r>
            <a:endParaRPr kumimoji="0" lang="en-US" altLang="ko-KR" sz="1000" b="1" kern="0" dirty="0" smtClean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3" name="Rectangle 55"/>
          <p:cNvSpPr>
            <a:spLocks noChangeArrowheads="1"/>
          </p:cNvSpPr>
          <p:nvPr/>
        </p:nvSpPr>
        <p:spPr bwMode="gray">
          <a:xfrm>
            <a:off x="1478378" y="1085243"/>
            <a:ext cx="1260000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ZIOZIA</a:t>
            </a:r>
          </a:p>
        </p:txBody>
      </p:sp>
      <p:sp>
        <p:nvSpPr>
          <p:cNvPr id="14" name="Rectangle 55"/>
          <p:cNvSpPr>
            <a:spLocks noChangeArrowheads="1"/>
          </p:cNvSpPr>
          <p:nvPr/>
        </p:nvSpPr>
        <p:spPr bwMode="gray">
          <a:xfrm>
            <a:off x="1478378" y="4301762"/>
            <a:ext cx="665162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 </a:t>
            </a: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V</a:t>
            </a:r>
            <a:endParaRPr kumimoji="0" lang="en-US" altLang="ko-KR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1000" b="1" kern="0" dirty="0" err="1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수트조끼</a:t>
            </a: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5" name="AutoShape 46"/>
          <p:cNvSpPr>
            <a:spLocks noChangeArrowheads="1"/>
          </p:cNvSpPr>
          <p:nvPr/>
        </p:nvSpPr>
        <p:spPr bwMode="gray">
          <a:xfrm>
            <a:off x="298865" y="1572850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상위브랜드</a:t>
            </a:r>
          </a:p>
        </p:txBody>
      </p:sp>
      <p:sp>
        <p:nvSpPr>
          <p:cNvPr id="16" name="AutoShape 46"/>
          <p:cNvSpPr>
            <a:spLocks noChangeArrowheads="1"/>
          </p:cNvSpPr>
          <p:nvPr/>
        </p:nvSpPr>
        <p:spPr bwMode="gray">
          <a:xfrm>
            <a:off x="298865" y="2438037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서브브랜드</a:t>
            </a:r>
          </a:p>
        </p:txBody>
      </p:sp>
      <p:sp>
        <p:nvSpPr>
          <p:cNvPr id="17" name="Rectangle 55"/>
          <p:cNvSpPr>
            <a:spLocks noChangeArrowheads="1"/>
          </p:cNvSpPr>
          <p:nvPr/>
        </p:nvSpPr>
        <p:spPr bwMode="gray">
          <a:xfrm>
            <a:off x="298865" y="1096355"/>
            <a:ext cx="954088" cy="352425"/>
          </a:xfrm>
          <a:prstGeom prst="rect">
            <a:avLst/>
          </a:prstGeom>
          <a:solidFill>
            <a:srgbClr val="99CC0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구분</a:t>
            </a:r>
          </a:p>
        </p:txBody>
      </p:sp>
      <p:sp>
        <p:nvSpPr>
          <p:cNvPr id="18" name="Rectangle 55"/>
          <p:cNvSpPr>
            <a:spLocks noChangeArrowheads="1"/>
          </p:cNvSpPr>
          <p:nvPr/>
        </p:nvSpPr>
        <p:spPr bwMode="gray">
          <a:xfrm>
            <a:off x="3872880" y="3879050"/>
            <a:ext cx="5580620" cy="175519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b="1" kern="0" dirty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전 사 표 준 화</a:t>
            </a:r>
          </a:p>
        </p:txBody>
      </p:sp>
      <p:sp>
        <p:nvSpPr>
          <p:cNvPr id="19" name="Rectangle 55"/>
          <p:cNvSpPr>
            <a:spLocks noChangeArrowheads="1"/>
          </p:cNvSpPr>
          <p:nvPr/>
        </p:nvSpPr>
        <p:spPr bwMode="gray">
          <a:xfrm>
            <a:off x="2270540" y="4301762"/>
            <a:ext cx="663575" cy="352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B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더블코트</a:t>
            </a: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1000" b="1" kern="0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0" name="AutoShape 46"/>
          <p:cNvSpPr>
            <a:spLocks noChangeArrowheads="1"/>
          </p:cNvSpPr>
          <p:nvPr/>
        </p:nvSpPr>
        <p:spPr bwMode="gray">
          <a:xfrm>
            <a:off x="305215" y="3869962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 err="1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품종대</a:t>
            </a:r>
            <a:endParaRPr kumimoji="0" lang="ko-KR" altLang="en-US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21" name="AutoShape 46"/>
          <p:cNvSpPr>
            <a:spLocks noChangeArrowheads="1"/>
          </p:cNvSpPr>
          <p:nvPr/>
        </p:nvSpPr>
        <p:spPr bwMode="gray">
          <a:xfrm>
            <a:off x="305215" y="4814525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칼라</a:t>
            </a:r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>
            <a:off x="219490" y="5886087"/>
            <a:ext cx="9144000" cy="0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3" name="Rectangle 55"/>
          <p:cNvSpPr>
            <a:spLocks noChangeArrowheads="1"/>
          </p:cNvSpPr>
          <p:nvPr/>
        </p:nvSpPr>
        <p:spPr bwMode="gray">
          <a:xfrm>
            <a:off x="6649736" y="1088740"/>
            <a:ext cx="1260000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OLZEN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1577625" y="1574437"/>
            <a:ext cx="954087" cy="352425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0" rIns="1905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  <a:ea typeface="+mn-ea"/>
              </a:rPr>
              <a:t>A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(ZIOZIA)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5" name="AutoShape 46"/>
          <p:cNvSpPr>
            <a:spLocks noChangeArrowheads="1"/>
          </p:cNvSpPr>
          <p:nvPr/>
        </p:nvSpPr>
        <p:spPr bwMode="gray">
          <a:xfrm>
            <a:off x="1435515" y="2430100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ZIOZIA</a:t>
            </a: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5087290" y="1583795"/>
            <a:ext cx="954088" cy="352425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  <a:ea typeface="+mn-ea"/>
              </a:rPr>
              <a:t>N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  <a:ea typeface="+mn-ea"/>
              </a:rPr>
              <a:t>(EDITION</a:t>
            </a:r>
            <a:r>
              <a:rPr kumimoji="0" lang="en-US" altLang="ko-KR" sz="8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)</a:t>
            </a:r>
            <a:endParaRPr kumimoji="0" lang="ko-KR" altLang="en-US" sz="8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6833362" y="1574437"/>
            <a:ext cx="954088" cy="352425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Z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(</a:t>
            </a:r>
            <a:r>
              <a:rPr lang="en-US" altLang="ko-KR" sz="1000" dirty="0" smtClean="0">
                <a:latin typeface="+mn-ea"/>
                <a:ea typeface="+mn-ea"/>
              </a:rPr>
              <a:t>OLZEN</a:t>
            </a:r>
            <a:r>
              <a:rPr kumimoji="0" lang="en-US" altLang="ko-KR" sz="8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)</a:t>
            </a:r>
            <a:endParaRPr kumimoji="0" lang="ko-KR" altLang="en-US" sz="8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8544417" y="1574437"/>
            <a:ext cx="954088" cy="352425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M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(</a:t>
            </a:r>
            <a:r>
              <a:rPr lang="en-US" altLang="ko-KR" sz="1000" dirty="0" smtClean="0">
                <a:latin typeface="+mn-ea"/>
                <a:ea typeface="+mn-ea"/>
              </a:rPr>
              <a:t>TOP10</a:t>
            </a:r>
            <a:r>
              <a:rPr kumimoji="0" lang="en-US" altLang="ko-KR" sz="8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)</a:t>
            </a:r>
            <a:endParaRPr kumimoji="0" lang="ko-KR" altLang="en-US" sz="8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9" name="AutoShape 46"/>
          <p:cNvSpPr>
            <a:spLocks noChangeArrowheads="1"/>
          </p:cNvSpPr>
          <p:nvPr/>
        </p:nvSpPr>
        <p:spPr bwMode="gray">
          <a:xfrm>
            <a:off x="5264215" y="2430100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EDITION</a:t>
            </a:r>
            <a:endParaRPr kumimoji="0" lang="ko-KR" altLang="en-US" sz="800" b="1" kern="0" dirty="0" smtClean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31" name="AutoShape 46"/>
          <p:cNvSpPr>
            <a:spLocks noChangeArrowheads="1"/>
          </p:cNvSpPr>
          <p:nvPr/>
        </p:nvSpPr>
        <p:spPr bwMode="gray">
          <a:xfrm>
            <a:off x="2170528" y="2430100"/>
            <a:ext cx="71913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ZIOZIA BLACK</a:t>
            </a:r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gray">
          <a:xfrm>
            <a:off x="327440" y="4309700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 err="1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품종소</a:t>
            </a:r>
            <a:endParaRPr kumimoji="0" lang="ko-KR" altLang="en-US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33" name="AutoShape 46"/>
          <p:cNvSpPr>
            <a:spLocks noChangeArrowheads="1"/>
          </p:cNvSpPr>
          <p:nvPr/>
        </p:nvSpPr>
        <p:spPr bwMode="gray">
          <a:xfrm>
            <a:off x="327440" y="5246325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사이즈</a:t>
            </a:r>
          </a:p>
        </p:txBody>
      </p:sp>
      <p:sp>
        <p:nvSpPr>
          <p:cNvPr id="34" name="AutoShape 46"/>
          <p:cNvSpPr>
            <a:spLocks noChangeArrowheads="1"/>
          </p:cNvSpPr>
          <p:nvPr/>
        </p:nvSpPr>
        <p:spPr bwMode="gray">
          <a:xfrm>
            <a:off x="309978" y="3157175"/>
            <a:ext cx="95408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서브브랜드코드</a:t>
            </a:r>
          </a:p>
        </p:txBody>
      </p:sp>
      <p:sp>
        <p:nvSpPr>
          <p:cNvPr id="36" name="AutoShape 46"/>
          <p:cNvSpPr>
            <a:spLocks noChangeArrowheads="1"/>
          </p:cNvSpPr>
          <p:nvPr/>
        </p:nvSpPr>
        <p:spPr bwMode="gray">
          <a:xfrm>
            <a:off x="6975993" y="2438037"/>
            <a:ext cx="71913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OLZEN</a:t>
            </a:r>
            <a:endParaRPr kumimoji="0" lang="pl-PL" altLang="ko-KR" sz="800" b="1" kern="0" dirty="0" smtClean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37" name="AutoShape 46"/>
          <p:cNvSpPr>
            <a:spLocks noChangeArrowheads="1"/>
          </p:cNvSpPr>
          <p:nvPr/>
        </p:nvSpPr>
        <p:spPr bwMode="gray">
          <a:xfrm>
            <a:off x="8687770" y="2430100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TOP10</a:t>
            </a:r>
            <a:endParaRPr kumimoji="0" lang="ko-KR" altLang="en-US" sz="800" b="1" kern="0" dirty="0" smtClean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38" name="AutoShape 46"/>
          <p:cNvSpPr>
            <a:spLocks noChangeArrowheads="1"/>
          </p:cNvSpPr>
          <p:nvPr/>
        </p:nvSpPr>
        <p:spPr bwMode="gray">
          <a:xfrm>
            <a:off x="1432340" y="3158762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AA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39" name="AutoShape 46"/>
          <p:cNvSpPr>
            <a:spLocks noChangeArrowheads="1"/>
          </p:cNvSpPr>
          <p:nvPr/>
        </p:nvSpPr>
        <p:spPr bwMode="gray">
          <a:xfrm>
            <a:off x="2173703" y="3158762"/>
            <a:ext cx="71913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AC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41" name="AutoShape 46"/>
          <p:cNvSpPr>
            <a:spLocks noChangeArrowheads="1"/>
          </p:cNvSpPr>
          <p:nvPr/>
        </p:nvSpPr>
        <p:spPr bwMode="gray">
          <a:xfrm>
            <a:off x="5267390" y="3158762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NE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43" name="AutoShape 46"/>
          <p:cNvSpPr>
            <a:spLocks noChangeArrowheads="1"/>
          </p:cNvSpPr>
          <p:nvPr/>
        </p:nvSpPr>
        <p:spPr bwMode="gray">
          <a:xfrm>
            <a:off x="6977580" y="3158762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ZO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44" name="AutoShape 46"/>
          <p:cNvSpPr>
            <a:spLocks noChangeArrowheads="1"/>
          </p:cNvSpPr>
          <p:nvPr/>
        </p:nvSpPr>
        <p:spPr bwMode="gray">
          <a:xfrm>
            <a:off x="8687770" y="3158762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MS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cxnSp>
        <p:nvCxnSpPr>
          <p:cNvPr id="50" name="직선 화살표 연결선 254"/>
          <p:cNvCxnSpPr>
            <a:cxnSpLocks noChangeShapeType="1"/>
            <a:stCxn id="25" idx="2"/>
            <a:endCxn id="38" idx="6"/>
          </p:cNvCxnSpPr>
          <p:nvPr/>
        </p:nvCxnSpPr>
        <p:spPr bwMode="auto">
          <a:xfrm rot="5400000">
            <a:off x="1606172" y="2969056"/>
            <a:ext cx="376237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1" name="직선 화살표 연결선 255"/>
          <p:cNvCxnSpPr>
            <a:cxnSpLocks noChangeShapeType="1"/>
            <a:stCxn id="31" idx="2"/>
            <a:endCxn id="39" idx="6"/>
          </p:cNvCxnSpPr>
          <p:nvPr/>
        </p:nvCxnSpPr>
        <p:spPr bwMode="auto">
          <a:xfrm rot="16200000" flipH="1">
            <a:off x="2344359" y="2969056"/>
            <a:ext cx="376237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3" name="직선 화살표 연결선 257"/>
          <p:cNvCxnSpPr>
            <a:cxnSpLocks noChangeShapeType="1"/>
            <a:stCxn id="29" idx="2"/>
            <a:endCxn id="41" idx="6"/>
          </p:cNvCxnSpPr>
          <p:nvPr/>
        </p:nvCxnSpPr>
        <p:spPr bwMode="auto">
          <a:xfrm>
            <a:off x="5624578" y="2782525"/>
            <a:ext cx="3175" cy="376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4" name="직선 화살표 연결선 267"/>
          <p:cNvCxnSpPr>
            <a:cxnSpLocks noChangeShapeType="1"/>
            <a:stCxn id="36" idx="2"/>
            <a:endCxn id="43" idx="6"/>
          </p:cNvCxnSpPr>
          <p:nvPr/>
        </p:nvCxnSpPr>
        <p:spPr bwMode="auto">
          <a:xfrm>
            <a:off x="7335562" y="2790462"/>
            <a:ext cx="2381" cy="3683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55" name="직선 화살표 연결선 270"/>
          <p:cNvCxnSpPr>
            <a:cxnSpLocks noChangeShapeType="1"/>
            <a:stCxn id="37" idx="2"/>
            <a:endCxn id="44" idx="6"/>
          </p:cNvCxnSpPr>
          <p:nvPr/>
        </p:nvCxnSpPr>
        <p:spPr bwMode="auto">
          <a:xfrm>
            <a:off x="9048133" y="2782525"/>
            <a:ext cx="0" cy="376237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7" name="Rectangle 55"/>
          <p:cNvSpPr>
            <a:spLocks noChangeArrowheads="1"/>
          </p:cNvSpPr>
          <p:nvPr/>
        </p:nvSpPr>
        <p:spPr bwMode="gray">
          <a:xfrm>
            <a:off x="1478378" y="3869962"/>
            <a:ext cx="665162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S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1000" b="1" kern="0" dirty="0" err="1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수트</a:t>
            </a: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58" name="Rectangle 55"/>
          <p:cNvSpPr>
            <a:spLocks noChangeArrowheads="1"/>
          </p:cNvSpPr>
          <p:nvPr/>
        </p:nvSpPr>
        <p:spPr bwMode="gray">
          <a:xfrm>
            <a:off x="2270540" y="3877900"/>
            <a:ext cx="663575" cy="352425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C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(COAT)</a:t>
            </a:r>
            <a:endParaRPr kumimoji="0" lang="ko-KR" altLang="en-US" sz="1000" b="1" kern="0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59" name="AutoShape 46"/>
          <p:cNvSpPr>
            <a:spLocks noChangeArrowheads="1"/>
          </p:cNvSpPr>
          <p:nvPr/>
        </p:nvSpPr>
        <p:spPr bwMode="gray">
          <a:xfrm>
            <a:off x="327440" y="6038487"/>
            <a:ext cx="954088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b="1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제품코드</a:t>
            </a:r>
          </a:p>
        </p:txBody>
      </p:sp>
      <p:sp>
        <p:nvSpPr>
          <p:cNvPr id="60" name="직사각형 278"/>
          <p:cNvSpPr>
            <a:spLocks noChangeArrowheads="1"/>
          </p:cNvSpPr>
          <p:nvPr/>
        </p:nvSpPr>
        <p:spPr bwMode="auto">
          <a:xfrm>
            <a:off x="1406940" y="5959112"/>
            <a:ext cx="7345363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ko-KR" altLang="en-US" sz="1000" b="1" dirty="0">
                <a:latin typeface="+mn-ea"/>
                <a:ea typeface="+mn-ea"/>
              </a:rPr>
              <a:t>서브</a:t>
            </a:r>
            <a:r>
              <a:rPr kumimoji="0" lang="ko-KR" altLang="ko-KR" sz="1000" b="1" dirty="0">
                <a:latin typeface="+mn-ea"/>
                <a:ea typeface="+mn-ea"/>
              </a:rPr>
              <a:t>브랜드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en-US" sz="1000" b="1" dirty="0" err="1">
                <a:latin typeface="+mn-ea"/>
                <a:ea typeface="+mn-ea"/>
              </a:rPr>
              <a:t>기획년</a:t>
            </a:r>
            <a:r>
              <a:rPr kumimoji="0" lang="ko-KR" altLang="ko-KR" sz="1000" b="1" dirty="0" err="1">
                <a:latin typeface="+mn-ea"/>
                <a:ea typeface="+mn-ea"/>
              </a:rPr>
              <a:t>도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en-US" sz="1000" b="1" dirty="0">
                <a:latin typeface="+mn-ea"/>
                <a:ea typeface="+mn-ea"/>
              </a:rPr>
              <a:t>시즌</a:t>
            </a:r>
            <a:r>
              <a:rPr kumimoji="0" lang="en-US" altLang="ko-KR" sz="1000" b="1" dirty="0">
                <a:latin typeface="+mn-ea"/>
                <a:ea typeface="+mn-ea"/>
              </a:rPr>
              <a:t>+ </a:t>
            </a:r>
            <a:r>
              <a:rPr kumimoji="0" lang="ko-KR" altLang="ko-KR" sz="1000" b="1" dirty="0">
                <a:latin typeface="+mn-ea"/>
                <a:ea typeface="+mn-ea"/>
              </a:rPr>
              <a:t>복종 대</a:t>
            </a:r>
            <a:r>
              <a:rPr kumimoji="0" lang="en-US" altLang="ko-KR" sz="1000" b="1" dirty="0">
                <a:latin typeface="+mn-ea"/>
                <a:ea typeface="+mn-ea"/>
              </a:rPr>
              <a:t> +</a:t>
            </a:r>
            <a:r>
              <a:rPr kumimoji="0" lang="ko-KR" altLang="ko-KR" sz="1000" b="1" dirty="0">
                <a:latin typeface="+mn-ea"/>
                <a:ea typeface="+mn-ea"/>
              </a:rPr>
              <a:t>복종 소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ko-KR" sz="1000" b="1" dirty="0" smtClean="0">
                <a:latin typeface="+mn-ea"/>
                <a:ea typeface="+mn-ea"/>
              </a:rPr>
              <a:t>성별</a:t>
            </a:r>
            <a:r>
              <a:rPr kumimoji="0" lang="en-US" altLang="ko-KR" sz="1000" b="1" dirty="0" smtClean="0">
                <a:latin typeface="+mn-ea"/>
                <a:ea typeface="+mn-ea"/>
              </a:rPr>
              <a:t> </a:t>
            </a:r>
            <a:r>
              <a:rPr kumimoji="0" lang="en-US" altLang="ko-KR" sz="1000" b="1" dirty="0">
                <a:latin typeface="+mn-ea"/>
                <a:ea typeface="+mn-ea"/>
              </a:rPr>
              <a:t>+ </a:t>
            </a:r>
            <a:r>
              <a:rPr kumimoji="0" lang="ko-KR" altLang="ko-KR" sz="1000" b="1" dirty="0" err="1">
                <a:latin typeface="+mn-ea"/>
                <a:ea typeface="+mn-ea"/>
              </a:rPr>
              <a:t>연번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ko-KR" sz="1000" b="1" dirty="0" err="1">
                <a:latin typeface="+mn-ea"/>
                <a:ea typeface="+mn-ea"/>
              </a:rPr>
              <a:t>연번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ko-KR" sz="1000" b="1" dirty="0" err="1">
                <a:latin typeface="+mn-ea"/>
                <a:ea typeface="+mn-ea"/>
              </a:rPr>
              <a:t>연번</a:t>
            </a:r>
            <a:r>
              <a:rPr kumimoji="0" lang="en-US" altLang="ko-KR" sz="1000" b="1" dirty="0">
                <a:latin typeface="+mn-ea"/>
                <a:ea typeface="+mn-ea"/>
              </a:rPr>
              <a:t> + </a:t>
            </a:r>
            <a:r>
              <a:rPr kumimoji="0" lang="ko-KR" altLang="ko-KR" sz="1000" b="1" dirty="0">
                <a:latin typeface="+mn-ea"/>
                <a:ea typeface="+mn-ea"/>
              </a:rPr>
              <a:t>차수</a:t>
            </a:r>
            <a:r>
              <a:rPr kumimoji="0" lang="en-US" altLang="ko-KR" sz="1000" b="1" dirty="0">
                <a:latin typeface="+mn-ea"/>
                <a:ea typeface="+mn-ea"/>
              </a:rPr>
              <a:t> </a:t>
            </a:r>
            <a:endParaRPr kumimoji="0" lang="ko-KR" altLang="en-US" sz="1000" b="1" dirty="0">
              <a:latin typeface="+mn-ea"/>
              <a:ea typeface="+mn-ea"/>
            </a:endParaRPr>
          </a:p>
        </p:txBody>
      </p:sp>
      <p:sp>
        <p:nvSpPr>
          <p:cNvPr id="61" name="직사각형 279"/>
          <p:cNvSpPr>
            <a:spLocks noChangeArrowheads="1"/>
          </p:cNvSpPr>
          <p:nvPr/>
        </p:nvSpPr>
        <p:spPr bwMode="auto">
          <a:xfrm>
            <a:off x="1406940" y="6246450"/>
            <a:ext cx="669766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ko-KR" sz="1000" b="1" dirty="0" smtClean="0">
                <a:latin typeface="+mn-ea"/>
                <a:ea typeface="+mn-ea"/>
              </a:rPr>
              <a:t>AA </a:t>
            </a:r>
            <a:r>
              <a:rPr kumimoji="0" lang="en-US" altLang="ko-KR" sz="1000" b="1" dirty="0">
                <a:latin typeface="+mn-ea"/>
                <a:ea typeface="+mn-ea"/>
              </a:rPr>
              <a:t>+ </a:t>
            </a:r>
            <a:r>
              <a:rPr kumimoji="0" lang="en-US" altLang="ko-KR" sz="1000" b="1" dirty="0" smtClean="0">
                <a:latin typeface="+mn-ea"/>
                <a:ea typeface="+mn-ea"/>
              </a:rPr>
              <a:t>C </a:t>
            </a:r>
            <a:r>
              <a:rPr kumimoji="0" lang="en-US" altLang="ko-KR" sz="1000" b="1" dirty="0">
                <a:latin typeface="+mn-ea"/>
                <a:ea typeface="+mn-ea"/>
              </a:rPr>
              <a:t>+  3 + </a:t>
            </a:r>
            <a:r>
              <a:rPr kumimoji="0" lang="en-US" altLang="ko-KR" sz="1000" b="1" dirty="0" smtClean="0">
                <a:latin typeface="+mn-ea"/>
                <a:ea typeface="+mn-ea"/>
              </a:rPr>
              <a:t>S </a:t>
            </a:r>
            <a:r>
              <a:rPr kumimoji="0" lang="en-US" altLang="ko-KR" sz="1000" b="1" dirty="0">
                <a:latin typeface="+mn-ea"/>
                <a:ea typeface="+mn-ea"/>
              </a:rPr>
              <a:t>+  </a:t>
            </a:r>
            <a:r>
              <a:rPr kumimoji="0" lang="en-US" altLang="ko-KR" sz="1000" b="1" dirty="0" smtClean="0">
                <a:latin typeface="+mn-ea"/>
                <a:ea typeface="+mn-ea"/>
              </a:rPr>
              <a:t>V </a:t>
            </a:r>
            <a:r>
              <a:rPr kumimoji="0" lang="en-US" altLang="ko-KR" sz="1000" b="1" dirty="0">
                <a:latin typeface="+mn-ea"/>
                <a:ea typeface="+mn-ea"/>
              </a:rPr>
              <a:t>+ 1 + 1 + 0 + 1+ A  ==</a:t>
            </a:r>
            <a:r>
              <a:rPr kumimoji="0" lang="en-US" altLang="ko-KR" sz="1000" b="1" dirty="0">
                <a:latin typeface="+mn-ea"/>
                <a:ea typeface="+mn-ea"/>
                <a:sym typeface="Wingdings" pitchFamily="2" charset="2"/>
              </a:rPr>
              <a:t> </a:t>
            </a:r>
            <a:r>
              <a:rPr kumimoji="0" lang="en-US" altLang="ko-KR" sz="1000" b="1" dirty="0" smtClean="0">
                <a:latin typeface="+mn-ea"/>
                <a:ea typeface="+mn-ea"/>
              </a:rPr>
              <a:t>AAC3SV1101    </a:t>
            </a:r>
            <a:r>
              <a:rPr kumimoji="0" lang="en-US" altLang="ko-KR" sz="1000" b="1" dirty="0">
                <a:latin typeface="+mn-ea"/>
                <a:ea typeface="+mn-ea"/>
              </a:rPr>
              <a:t>A</a:t>
            </a:r>
            <a:endParaRPr kumimoji="0" lang="ko-KR" altLang="en-US" sz="1000" b="1" dirty="0">
              <a:latin typeface="+mn-ea"/>
              <a:ea typeface="+mn-ea"/>
            </a:endParaRPr>
          </a:p>
        </p:txBody>
      </p:sp>
      <p:sp>
        <p:nvSpPr>
          <p:cNvPr id="62" name="Rectangle 55"/>
          <p:cNvSpPr>
            <a:spLocks noChangeArrowheads="1"/>
          </p:cNvSpPr>
          <p:nvPr/>
        </p:nvSpPr>
        <p:spPr bwMode="gray">
          <a:xfrm>
            <a:off x="3048415" y="4293825"/>
            <a:ext cx="663575" cy="35242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L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벨트</a:t>
            </a: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1000" b="1" kern="0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63" name="Rectangle 55"/>
          <p:cNvSpPr>
            <a:spLocks noChangeArrowheads="1"/>
          </p:cNvSpPr>
          <p:nvPr/>
        </p:nvSpPr>
        <p:spPr bwMode="gray">
          <a:xfrm>
            <a:off x="3048415" y="3869962"/>
            <a:ext cx="663575" cy="35242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A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소품</a:t>
            </a:r>
            <a:r>
              <a:rPr kumimoji="0" lang="en-US" altLang="ko-KR" sz="1000" b="1" kern="0" dirty="0" smtClean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 </a:t>
            </a:r>
            <a:r>
              <a:rPr kumimoji="0" lang="en-US" altLang="ko-KR" sz="1000" b="1" kern="0" dirty="0">
                <a:solidFill>
                  <a:srgbClr val="FF0000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1000" b="1" kern="0" dirty="0">
              <a:solidFill>
                <a:srgbClr val="FF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64" name="Rectangle 35"/>
          <p:cNvSpPr>
            <a:spLocks noChangeArrowheads="1"/>
          </p:cNvSpPr>
          <p:nvPr/>
        </p:nvSpPr>
        <p:spPr bwMode="auto">
          <a:xfrm>
            <a:off x="5583653" y="6259150"/>
            <a:ext cx="7921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생산차수</a:t>
            </a:r>
          </a:p>
        </p:txBody>
      </p:sp>
      <p:sp>
        <p:nvSpPr>
          <p:cNvPr id="65" name="직사각형 273"/>
          <p:cNvSpPr>
            <a:spLocks noChangeArrowheads="1"/>
          </p:cNvSpPr>
          <p:nvPr/>
        </p:nvSpPr>
        <p:spPr bwMode="auto">
          <a:xfrm>
            <a:off x="5367753" y="6246450"/>
            <a:ext cx="287337" cy="215900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none" w="sm" len="med"/>
          </a:ln>
        </p:spPr>
        <p:txBody>
          <a:bodyPr/>
          <a:lstStyle/>
          <a:p>
            <a:pPr algn="ctr" latinLnBrk="0">
              <a:lnSpc>
                <a:spcPct val="110000"/>
              </a:lnSpc>
            </a:pPr>
            <a:endParaRPr lang="ko-KR" altLang="en-US" b="1">
              <a:latin typeface="+mn-ea"/>
              <a:ea typeface="+mn-ea"/>
            </a:endParaRPr>
          </a:p>
        </p:txBody>
      </p:sp>
      <p:sp>
        <p:nvSpPr>
          <p:cNvPr id="71" name="Rectangle 55"/>
          <p:cNvSpPr>
            <a:spLocks noChangeArrowheads="1"/>
          </p:cNvSpPr>
          <p:nvPr/>
        </p:nvSpPr>
        <p:spPr bwMode="gray">
          <a:xfrm>
            <a:off x="3202164" y="1088740"/>
            <a:ext cx="1260000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AND-Z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3341332" y="1577934"/>
            <a:ext cx="954087" cy="352425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0" rIns="1905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B</a:t>
            </a:r>
            <a:endParaRPr kumimoji="0" lang="en-US" altLang="ko-KR" sz="1000" kern="0" dirty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  <a:ea typeface="+mn-ea"/>
              </a:rPr>
              <a:t>(</a:t>
            </a:r>
            <a:r>
              <a:rPr kumimoji="0" lang="ko-KR" altLang="en-US" sz="1000" kern="0" dirty="0" err="1">
                <a:solidFill>
                  <a:sysClr val="windowText" lastClr="000000"/>
                </a:solidFill>
                <a:latin typeface="+mn-ea"/>
                <a:ea typeface="+mn-ea"/>
              </a:rPr>
              <a:t>지오지아</a:t>
            </a:r>
            <a:r>
              <a:rPr kumimoji="0" lang="en-US" altLang="ko-KR" sz="1000" kern="0" dirty="0">
                <a:solidFill>
                  <a:sysClr val="windowText" lastClr="000000"/>
                </a:solidFill>
                <a:latin typeface="+mn-ea"/>
                <a:ea typeface="+mn-ea"/>
              </a:rPr>
              <a:t>)</a:t>
            </a:r>
            <a:endParaRPr kumimoji="0" lang="ko-KR" altLang="en-US" sz="10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3" name="AutoShape 46"/>
          <p:cNvSpPr>
            <a:spLocks noChangeArrowheads="1"/>
          </p:cNvSpPr>
          <p:nvPr/>
        </p:nvSpPr>
        <p:spPr bwMode="gray">
          <a:xfrm>
            <a:off x="3090630" y="2438890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AND-Z LIGHT</a:t>
            </a:r>
          </a:p>
        </p:txBody>
      </p:sp>
      <p:sp>
        <p:nvSpPr>
          <p:cNvPr id="74" name="AutoShape 46"/>
          <p:cNvSpPr>
            <a:spLocks noChangeArrowheads="1"/>
          </p:cNvSpPr>
          <p:nvPr/>
        </p:nvSpPr>
        <p:spPr bwMode="gray">
          <a:xfrm>
            <a:off x="3825643" y="2438890"/>
            <a:ext cx="71913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AND-Z</a:t>
            </a:r>
          </a:p>
        </p:txBody>
      </p:sp>
      <p:sp>
        <p:nvSpPr>
          <p:cNvPr id="75" name="AutoShape 46"/>
          <p:cNvSpPr>
            <a:spLocks noChangeArrowheads="1"/>
          </p:cNvSpPr>
          <p:nvPr/>
        </p:nvSpPr>
        <p:spPr bwMode="gray">
          <a:xfrm>
            <a:off x="3087455" y="3167552"/>
            <a:ext cx="720725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BL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76" name="AutoShape 46"/>
          <p:cNvSpPr>
            <a:spLocks noChangeArrowheads="1"/>
          </p:cNvSpPr>
          <p:nvPr/>
        </p:nvSpPr>
        <p:spPr bwMode="gray">
          <a:xfrm>
            <a:off x="3828818" y="3167552"/>
            <a:ext cx="719137" cy="352425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en-US" altLang="ko-KR" sz="1000" b="1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BZ</a:t>
            </a:r>
            <a:endParaRPr kumimoji="0" lang="en-US" altLang="ko-KR" sz="1000" b="1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cxnSp>
        <p:nvCxnSpPr>
          <p:cNvPr id="77" name="직선 화살표 연결선 254"/>
          <p:cNvCxnSpPr>
            <a:cxnSpLocks noChangeShapeType="1"/>
            <a:stCxn id="73" idx="2"/>
            <a:endCxn id="75" idx="6"/>
          </p:cNvCxnSpPr>
          <p:nvPr/>
        </p:nvCxnSpPr>
        <p:spPr bwMode="auto">
          <a:xfrm rot="5400000">
            <a:off x="3261287" y="2977846"/>
            <a:ext cx="376237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cxnSp>
        <p:nvCxnSpPr>
          <p:cNvPr id="78" name="직선 화살표 연결선 255"/>
          <p:cNvCxnSpPr>
            <a:cxnSpLocks noChangeShapeType="1"/>
            <a:stCxn id="74" idx="2"/>
            <a:endCxn id="76" idx="6"/>
          </p:cNvCxnSpPr>
          <p:nvPr/>
        </p:nvCxnSpPr>
        <p:spPr bwMode="auto">
          <a:xfrm rot="16200000" flipH="1">
            <a:off x="3999474" y="2977846"/>
            <a:ext cx="376237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80" name="Rectangle 55"/>
          <p:cNvSpPr>
            <a:spLocks noChangeArrowheads="1"/>
          </p:cNvSpPr>
          <p:nvPr/>
        </p:nvSpPr>
        <p:spPr bwMode="gray">
          <a:xfrm>
            <a:off x="1487615" y="4779150"/>
            <a:ext cx="665162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BK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(BLACK)</a:t>
            </a:r>
            <a:endParaRPr kumimoji="0" lang="ko-KR" altLang="en-US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1" name="Rectangle 55"/>
          <p:cNvSpPr>
            <a:spLocks noChangeArrowheads="1"/>
          </p:cNvSpPr>
          <p:nvPr/>
        </p:nvSpPr>
        <p:spPr bwMode="gray">
          <a:xfrm>
            <a:off x="2262613" y="4786765"/>
            <a:ext cx="665162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BL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(BLUE)</a:t>
            </a:r>
            <a:endParaRPr kumimoji="0" lang="ko-KR" altLang="en-US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2" name="Rectangle 55"/>
          <p:cNvSpPr>
            <a:spLocks noChangeArrowheads="1"/>
          </p:cNvSpPr>
          <p:nvPr/>
        </p:nvSpPr>
        <p:spPr bwMode="gray">
          <a:xfrm>
            <a:off x="1487615" y="5236815"/>
            <a:ext cx="665162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b="1" kern="0" dirty="0" smtClean="0">
                <a:solidFill>
                  <a:srgbClr val="FFFFFF"/>
                </a:solidFill>
                <a:latin typeface="+mn-ea"/>
                <a:ea typeface="+mn-ea"/>
                <a:cs typeface="Times New Roman" pitchFamily="18" charset="0"/>
              </a:rPr>
              <a:t>100</a:t>
            </a:r>
            <a:endParaRPr kumimoji="0" lang="ko-KR" altLang="en-US" sz="1000" b="1" kern="0" dirty="0">
              <a:solidFill>
                <a:srgbClr val="FFFFFF"/>
              </a:solidFill>
              <a:latin typeface="+mn-ea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07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5. </a:t>
            </a:r>
            <a:r>
              <a:rPr lang="ko-KR" altLang="en-US" dirty="0" smtClean="0">
                <a:latin typeface="+mj-ea"/>
                <a:ea typeface="+mj-ea"/>
              </a:rPr>
              <a:t>거래선관리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5" y="738114"/>
            <a:ext cx="9594685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>
                <a:latin typeface="+mn-ea"/>
                <a:ea typeface="+mn-ea"/>
              </a:rPr>
              <a:t> 거래하는 해외</a:t>
            </a:r>
            <a:r>
              <a:rPr kumimoji="0" lang="en-US" altLang="ko-KR" sz="1200" b="1" dirty="0">
                <a:latin typeface="+mn-ea"/>
                <a:ea typeface="+mn-ea"/>
              </a:rPr>
              <a:t>/</a:t>
            </a:r>
            <a:r>
              <a:rPr kumimoji="0" lang="ko-KR" altLang="en-US" sz="1200" b="1" dirty="0">
                <a:latin typeface="+mn-ea"/>
                <a:ea typeface="+mn-ea"/>
              </a:rPr>
              <a:t>국내의 구매처</a:t>
            </a:r>
            <a:r>
              <a:rPr kumimoji="0" lang="en-US" altLang="ko-KR" sz="1200" b="1" dirty="0">
                <a:latin typeface="+mn-ea"/>
                <a:ea typeface="+mn-ea"/>
              </a:rPr>
              <a:t>,</a:t>
            </a:r>
            <a:r>
              <a:rPr kumimoji="0" lang="ko-KR" altLang="en-US" sz="1200" b="1" dirty="0" err="1">
                <a:latin typeface="+mn-ea"/>
                <a:ea typeface="+mn-ea"/>
              </a:rPr>
              <a:t>생산처</a:t>
            </a:r>
            <a:r>
              <a:rPr kumimoji="0" lang="en-US" altLang="ko-KR" sz="1200" b="1" dirty="0">
                <a:latin typeface="+mn-ea"/>
                <a:ea typeface="+mn-ea"/>
              </a:rPr>
              <a:t>,</a:t>
            </a:r>
            <a:r>
              <a:rPr kumimoji="0" lang="ko-KR" altLang="en-US" sz="1200" b="1" dirty="0">
                <a:latin typeface="+mn-ea"/>
                <a:ea typeface="+mn-ea"/>
              </a:rPr>
              <a:t>매장</a:t>
            </a:r>
            <a:r>
              <a:rPr kumimoji="0" lang="en-US" altLang="ko-KR" sz="1200" b="1" dirty="0">
                <a:latin typeface="+mn-ea"/>
                <a:ea typeface="+mn-ea"/>
              </a:rPr>
              <a:t>,</a:t>
            </a:r>
            <a:r>
              <a:rPr kumimoji="0" lang="ko-KR" altLang="en-US" sz="1200" b="1" dirty="0">
                <a:latin typeface="+mn-ea"/>
                <a:ea typeface="+mn-ea"/>
              </a:rPr>
              <a:t>중간관리자 등 사업자번호 단위의 </a:t>
            </a:r>
            <a:r>
              <a:rPr kumimoji="0" lang="ko-KR" altLang="en-US" sz="1200" b="1" dirty="0" smtClean="0">
                <a:latin typeface="+mn-ea"/>
                <a:ea typeface="+mn-ea"/>
              </a:rPr>
              <a:t>거래선 </a:t>
            </a:r>
            <a:r>
              <a:rPr kumimoji="0" lang="ko-KR" altLang="en-US" sz="1200" b="1" dirty="0">
                <a:latin typeface="+mn-ea"/>
                <a:ea typeface="+mn-ea"/>
              </a:rPr>
              <a:t>주체를 관리하는 프로세스 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89765" y="1413570"/>
            <a:ext cx="1071929" cy="347821"/>
            <a:chOff x="1074208" y="1567755"/>
            <a:chExt cx="1071929" cy="347821"/>
          </a:xfrm>
        </p:grpSpPr>
        <p:sp>
          <p:nvSpPr>
            <p:cNvPr id="261" name="Text Box 55"/>
            <p:cNvSpPr txBox="1">
              <a:spLocks noChangeArrowheads="1"/>
            </p:cNvSpPr>
            <p:nvPr/>
          </p:nvSpPr>
          <p:spPr bwMode="gray">
            <a:xfrm>
              <a:off x="1320270" y="1669355"/>
              <a:ext cx="82586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rgbClr val="0000CC"/>
                  </a:solidFill>
                  <a:latin typeface="+mn-ea"/>
                  <a:ea typeface="+mn-ea"/>
                </a:rPr>
                <a:t>정보담당자</a:t>
              </a:r>
            </a:p>
          </p:txBody>
        </p:sp>
        <p:grpSp>
          <p:nvGrpSpPr>
            <p:cNvPr id="262" name="Group 100"/>
            <p:cNvGrpSpPr>
              <a:grpSpLocks/>
            </p:cNvGrpSpPr>
            <p:nvPr/>
          </p:nvGrpSpPr>
          <p:grpSpPr bwMode="auto">
            <a:xfrm>
              <a:off x="1074208" y="1567755"/>
              <a:ext cx="274637" cy="323850"/>
              <a:chOff x="395" y="2124"/>
              <a:chExt cx="209" cy="318"/>
            </a:xfrm>
          </p:grpSpPr>
          <p:grpSp>
            <p:nvGrpSpPr>
              <p:cNvPr id="263" name="Group 101"/>
              <p:cNvGrpSpPr>
                <a:grpSpLocks/>
              </p:cNvGrpSpPr>
              <p:nvPr/>
            </p:nvGrpSpPr>
            <p:grpSpPr bwMode="auto">
              <a:xfrm>
                <a:off x="420" y="2124"/>
                <a:ext cx="184" cy="318"/>
                <a:chOff x="282" y="3570"/>
                <a:chExt cx="240" cy="474"/>
              </a:xfrm>
            </p:grpSpPr>
            <p:sp>
              <p:nvSpPr>
                <p:cNvPr id="276" name="Oval 102"/>
                <p:cNvSpPr>
                  <a:spLocks noChangeArrowheads="1"/>
                </p:cNvSpPr>
                <p:nvPr/>
              </p:nvSpPr>
              <p:spPr bwMode="gray">
                <a:xfrm>
                  <a:off x="330" y="3570"/>
                  <a:ext cx="132" cy="13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7" name="Line 103"/>
                <p:cNvSpPr>
                  <a:spLocks noChangeShapeType="1"/>
                </p:cNvSpPr>
                <p:nvPr/>
              </p:nvSpPr>
              <p:spPr bwMode="gray">
                <a:xfrm>
                  <a:off x="282" y="37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8" name="Line 104"/>
                <p:cNvSpPr>
                  <a:spLocks noChangeShapeType="1"/>
                </p:cNvSpPr>
                <p:nvPr/>
              </p:nvSpPr>
              <p:spPr bwMode="gray">
                <a:xfrm>
                  <a:off x="396" y="3708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9" name="Line 105"/>
                <p:cNvSpPr>
                  <a:spLocks noChangeShapeType="1"/>
                </p:cNvSpPr>
                <p:nvPr/>
              </p:nvSpPr>
              <p:spPr bwMode="gray">
                <a:xfrm flipH="1">
                  <a:off x="288" y="3906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80" name="Line 106"/>
                <p:cNvSpPr>
                  <a:spLocks noChangeShapeType="1"/>
                </p:cNvSpPr>
                <p:nvPr/>
              </p:nvSpPr>
              <p:spPr bwMode="gray">
                <a:xfrm>
                  <a:off x="400" y="3904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4" name="Group 107"/>
              <p:cNvGrpSpPr>
                <a:grpSpLocks/>
              </p:cNvGrpSpPr>
              <p:nvPr/>
            </p:nvGrpSpPr>
            <p:grpSpPr bwMode="auto">
              <a:xfrm>
                <a:off x="395" y="2180"/>
                <a:ext cx="45" cy="127"/>
                <a:chOff x="2597" y="1682"/>
                <a:chExt cx="183" cy="403"/>
              </a:xfrm>
            </p:grpSpPr>
            <p:sp>
              <p:nvSpPr>
                <p:cNvPr id="272" name="Freeform 108"/>
                <p:cNvSpPr>
                  <a:spLocks/>
                </p:cNvSpPr>
                <p:nvPr/>
              </p:nvSpPr>
              <p:spPr bwMode="auto">
                <a:xfrm>
                  <a:off x="2632" y="1739"/>
                  <a:ext cx="84" cy="62"/>
                </a:xfrm>
                <a:custGeom>
                  <a:avLst/>
                  <a:gdLst>
                    <a:gd name="T0" fmla="*/ 45 w 169"/>
                    <a:gd name="T1" fmla="*/ 0 h 124"/>
                    <a:gd name="T2" fmla="*/ 0 w 169"/>
                    <a:gd name="T3" fmla="*/ 57 h 124"/>
                    <a:gd name="T4" fmla="*/ 34 w 169"/>
                    <a:gd name="T5" fmla="*/ 124 h 124"/>
                    <a:gd name="T6" fmla="*/ 78 w 169"/>
                    <a:gd name="T7" fmla="*/ 103 h 124"/>
                    <a:gd name="T8" fmla="*/ 102 w 169"/>
                    <a:gd name="T9" fmla="*/ 57 h 124"/>
                    <a:gd name="T10" fmla="*/ 169 w 169"/>
                    <a:gd name="T11" fmla="*/ 46 h 124"/>
                    <a:gd name="T12" fmla="*/ 91 w 169"/>
                    <a:gd name="T13" fmla="*/ 0 h 124"/>
                    <a:gd name="T14" fmla="*/ 45 w 169"/>
                    <a:gd name="T15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9" h="124">
                      <a:moveTo>
                        <a:pt x="45" y="0"/>
                      </a:moveTo>
                      <a:lnTo>
                        <a:pt x="0" y="57"/>
                      </a:lnTo>
                      <a:lnTo>
                        <a:pt x="34" y="124"/>
                      </a:lnTo>
                      <a:lnTo>
                        <a:pt x="78" y="103"/>
                      </a:lnTo>
                      <a:lnTo>
                        <a:pt x="102" y="57"/>
                      </a:lnTo>
                      <a:lnTo>
                        <a:pt x="169" y="46"/>
                      </a:lnTo>
                      <a:lnTo>
                        <a:pt x="91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E599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3" name="Freeform 109"/>
                <p:cNvSpPr>
                  <a:spLocks/>
                </p:cNvSpPr>
                <p:nvPr/>
              </p:nvSpPr>
              <p:spPr bwMode="auto">
                <a:xfrm rot="20633656" flipV="1">
                  <a:off x="2711" y="1790"/>
                  <a:ext cx="69" cy="295"/>
                </a:xfrm>
                <a:custGeom>
                  <a:avLst/>
                  <a:gdLst>
                    <a:gd name="T0" fmla="*/ 103 w 149"/>
                    <a:gd name="T1" fmla="*/ 0 h 194"/>
                    <a:gd name="T2" fmla="*/ 149 w 149"/>
                    <a:gd name="T3" fmla="*/ 23 h 194"/>
                    <a:gd name="T4" fmla="*/ 126 w 149"/>
                    <a:gd name="T5" fmla="*/ 49 h 194"/>
                    <a:gd name="T6" fmla="*/ 111 w 149"/>
                    <a:gd name="T7" fmla="*/ 71 h 194"/>
                    <a:gd name="T8" fmla="*/ 99 w 149"/>
                    <a:gd name="T9" fmla="*/ 88 h 194"/>
                    <a:gd name="T10" fmla="*/ 89 w 149"/>
                    <a:gd name="T11" fmla="*/ 103 h 194"/>
                    <a:gd name="T12" fmla="*/ 82 w 149"/>
                    <a:gd name="T13" fmla="*/ 120 h 194"/>
                    <a:gd name="T14" fmla="*/ 75 w 149"/>
                    <a:gd name="T15" fmla="*/ 138 h 194"/>
                    <a:gd name="T16" fmla="*/ 68 w 149"/>
                    <a:gd name="T17" fmla="*/ 163 h 194"/>
                    <a:gd name="T18" fmla="*/ 57 w 149"/>
                    <a:gd name="T19" fmla="*/ 194 h 194"/>
                    <a:gd name="T20" fmla="*/ 0 w 149"/>
                    <a:gd name="T21" fmla="*/ 194 h 194"/>
                    <a:gd name="T22" fmla="*/ 9 w 149"/>
                    <a:gd name="T23" fmla="*/ 168 h 194"/>
                    <a:gd name="T24" fmla="*/ 20 w 149"/>
                    <a:gd name="T25" fmla="*/ 143 h 194"/>
                    <a:gd name="T26" fmla="*/ 31 w 149"/>
                    <a:gd name="T27" fmla="*/ 118 h 194"/>
                    <a:gd name="T28" fmla="*/ 45 w 149"/>
                    <a:gd name="T29" fmla="*/ 94 h 194"/>
                    <a:gd name="T30" fmla="*/ 59 w 149"/>
                    <a:gd name="T31" fmla="*/ 69 h 194"/>
                    <a:gd name="T32" fmla="*/ 72 w 149"/>
                    <a:gd name="T33" fmla="*/ 46 h 194"/>
                    <a:gd name="T34" fmla="*/ 88 w 149"/>
                    <a:gd name="T35" fmla="*/ 23 h 194"/>
                    <a:gd name="T36" fmla="*/ 103 w 149"/>
                    <a:gd name="T3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94">
                      <a:moveTo>
                        <a:pt x="103" y="0"/>
                      </a:moveTo>
                      <a:lnTo>
                        <a:pt x="149" y="23"/>
                      </a:lnTo>
                      <a:lnTo>
                        <a:pt x="126" y="49"/>
                      </a:lnTo>
                      <a:lnTo>
                        <a:pt x="111" y="71"/>
                      </a:lnTo>
                      <a:lnTo>
                        <a:pt x="99" y="88"/>
                      </a:lnTo>
                      <a:lnTo>
                        <a:pt x="89" y="103"/>
                      </a:lnTo>
                      <a:lnTo>
                        <a:pt x="82" y="120"/>
                      </a:lnTo>
                      <a:lnTo>
                        <a:pt x="75" y="138"/>
                      </a:lnTo>
                      <a:lnTo>
                        <a:pt x="68" y="163"/>
                      </a:lnTo>
                      <a:lnTo>
                        <a:pt x="57" y="194"/>
                      </a:lnTo>
                      <a:lnTo>
                        <a:pt x="0" y="194"/>
                      </a:lnTo>
                      <a:lnTo>
                        <a:pt x="9" y="168"/>
                      </a:lnTo>
                      <a:lnTo>
                        <a:pt x="20" y="143"/>
                      </a:lnTo>
                      <a:lnTo>
                        <a:pt x="31" y="118"/>
                      </a:lnTo>
                      <a:lnTo>
                        <a:pt x="45" y="94"/>
                      </a:lnTo>
                      <a:lnTo>
                        <a:pt x="59" y="69"/>
                      </a:lnTo>
                      <a:lnTo>
                        <a:pt x="72" y="46"/>
                      </a:lnTo>
                      <a:lnTo>
                        <a:pt x="88" y="23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4" name="Freeform 110"/>
                <p:cNvSpPr>
                  <a:spLocks/>
                </p:cNvSpPr>
                <p:nvPr/>
              </p:nvSpPr>
              <p:spPr bwMode="auto">
                <a:xfrm>
                  <a:off x="2683" y="1704"/>
                  <a:ext cx="79" cy="109"/>
                </a:xfrm>
                <a:custGeom>
                  <a:avLst/>
                  <a:gdLst>
                    <a:gd name="T0" fmla="*/ 0 w 158"/>
                    <a:gd name="T1" fmla="*/ 138 h 216"/>
                    <a:gd name="T2" fmla="*/ 0 w 158"/>
                    <a:gd name="T3" fmla="*/ 195 h 216"/>
                    <a:gd name="T4" fmla="*/ 91 w 158"/>
                    <a:gd name="T5" fmla="*/ 216 h 216"/>
                    <a:gd name="T6" fmla="*/ 158 w 158"/>
                    <a:gd name="T7" fmla="*/ 183 h 216"/>
                    <a:gd name="T8" fmla="*/ 148 w 158"/>
                    <a:gd name="T9" fmla="*/ 103 h 216"/>
                    <a:gd name="T10" fmla="*/ 126 w 158"/>
                    <a:gd name="T11" fmla="*/ 81 h 216"/>
                    <a:gd name="T12" fmla="*/ 111 w 158"/>
                    <a:gd name="T13" fmla="*/ 66 h 216"/>
                    <a:gd name="T14" fmla="*/ 98 w 158"/>
                    <a:gd name="T15" fmla="*/ 53 h 216"/>
                    <a:gd name="T16" fmla="*/ 88 w 158"/>
                    <a:gd name="T17" fmla="*/ 44 h 216"/>
                    <a:gd name="T18" fmla="*/ 74 w 158"/>
                    <a:gd name="T19" fmla="*/ 35 h 216"/>
                    <a:gd name="T20" fmla="*/ 57 w 158"/>
                    <a:gd name="T21" fmla="*/ 26 h 216"/>
                    <a:gd name="T22" fmla="*/ 32 w 158"/>
                    <a:gd name="T23" fmla="*/ 14 h 216"/>
                    <a:gd name="T24" fmla="*/ 0 w 158"/>
                    <a:gd name="T25" fmla="*/ 0 h 216"/>
                    <a:gd name="T26" fmla="*/ 0 w 158"/>
                    <a:gd name="T27" fmla="*/ 64 h 216"/>
                    <a:gd name="T28" fmla="*/ 17 w 158"/>
                    <a:gd name="T29" fmla="*/ 72 h 216"/>
                    <a:gd name="T30" fmla="*/ 34 w 158"/>
                    <a:gd name="T31" fmla="*/ 81 h 216"/>
                    <a:gd name="T32" fmla="*/ 48 w 158"/>
                    <a:gd name="T33" fmla="*/ 92 h 216"/>
                    <a:gd name="T34" fmla="*/ 61 w 158"/>
                    <a:gd name="T35" fmla="*/ 103 h 216"/>
                    <a:gd name="T36" fmla="*/ 74 w 158"/>
                    <a:gd name="T37" fmla="*/ 116 h 216"/>
                    <a:gd name="T38" fmla="*/ 85 w 158"/>
                    <a:gd name="T39" fmla="*/ 130 h 216"/>
                    <a:gd name="T40" fmla="*/ 94 w 158"/>
                    <a:gd name="T41" fmla="*/ 144 h 216"/>
                    <a:gd name="T42" fmla="*/ 103 w 158"/>
                    <a:gd name="T43" fmla="*/ 159 h 216"/>
                    <a:gd name="T44" fmla="*/ 91 w 158"/>
                    <a:gd name="T45" fmla="*/ 161 h 216"/>
                    <a:gd name="T46" fmla="*/ 77 w 158"/>
                    <a:gd name="T47" fmla="*/ 161 h 216"/>
                    <a:gd name="T48" fmla="*/ 63 w 158"/>
                    <a:gd name="T49" fmla="*/ 161 h 216"/>
                    <a:gd name="T50" fmla="*/ 49 w 158"/>
                    <a:gd name="T51" fmla="*/ 158 h 216"/>
                    <a:gd name="T52" fmla="*/ 35 w 158"/>
                    <a:gd name="T53" fmla="*/ 155 h 216"/>
                    <a:gd name="T54" fmla="*/ 23 w 158"/>
                    <a:gd name="T55" fmla="*/ 150 h 216"/>
                    <a:gd name="T56" fmla="*/ 11 w 158"/>
                    <a:gd name="T57" fmla="*/ 144 h 216"/>
                    <a:gd name="T58" fmla="*/ 0 w 158"/>
                    <a:gd name="T59" fmla="*/ 138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58" h="216">
                      <a:moveTo>
                        <a:pt x="0" y="138"/>
                      </a:moveTo>
                      <a:lnTo>
                        <a:pt x="0" y="195"/>
                      </a:lnTo>
                      <a:lnTo>
                        <a:pt x="91" y="216"/>
                      </a:lnTo>
                      <a:lnTo>
                        <a:pt x="158" y="183"/>
                      </a:lnTo>
                      <a:lnTo>
                        <a:pt x="148" y="103"/>
                      </a:lnTo>
                      <a:lnTo>
                        <a:pt x="126" y="81"/>
                      </a:lnTo>
                      <a:lnTo>
                        <a:pt x="111" y="66"/>
                      </a:lnTo>
                      <a:lnTo>
                        <a:pt x="98" y="53"/>
                      </a:lnTo>
                      <a:lnTo>
                        <a:pt x="88" y="44"/>
                      </a:lnTo>
                      <a:lnTo>
                        <a:pt x="74" y="35"/>
                      </a:lnTo>
                      <a:lnTo>
                        <a:pt x="57" y="26"/>
                      </a:lnTo>
                      <a:lnTo>
                        <a:pt x="32" y="14"/>
                      </a:lnTo>
                      <a:lnTo>
                        <a:pt x="0" y="0"/>
                      </a:lnTo>
                      <a:lnTo>
                        <a:pt x="0" y="64"/>
                      </a:lnTo>
                      <a:lnTo>
                        <a:pt x="17" y="72"/>
                      </a:lnTo>
                      <a:lnTo>
                        <a:pt x="34" y="81"/>
                      </a:lnTo>
                      <a:lnTo>
                        <a:pt x="48" y="92"/>
                      </a:lnTo>
                      <a:lnTo>
                        <a:pt x="61" y="103"/>
                      </a:lnTo>
                      <a:lnTo>
                        <a:pt x="74" y="116"/>
                      </a:lnTo>
                      <a:lnTo>
                        <a:pt x="85" y="130"/>
                      </a:lnTo>
                      <a:lnTo>
                        <a:pt x="94" y="144"/>
                      </a:lnTo>
                      <a:lnTo>
                        <a:pt x="103" y="159"/>
                      </a:lnTo>
                      <a:lnTo>
                        <a:pt x="91" y="161"/>
                      </a:lnTo>
                      <a:lnTo>
                        <a:pt x="77" y="161"/>
                      </a:lnTo>
                      <a:lnTo>
                        <a:pt x="63" y="161"/>
                      </a:lnTo>
                      <a:lnTo>
                        <a:pt x="49" y="158"/>
                      </a:lnTo>
                      <a:lnTo>
                        <a:pt x="35" y="155"/>
                      </a:lnTo>
                      <a:lnTo>
                        <a:pt x="23" y="150"/>
                      </a:lnTo>
                      <a:lnTo>
                        <a:pt x="11" y="144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5" name="Freeform 111"/>
                <p:cNvSpPr>
                  <a:spLocks/>
                </p:cNvSpPr>
                <p:nvPr/>
              </p:nvSpPr>
              <p:spPr bwMode="auto">
                <a:xfrm>
                  <a:off x="2597" y="1682"/>
                  <a:ext cx="87" cy="154"/>
                </a:xfrm>
                <a:custGeom>
                  <a:avLst/>
                  <a:gdLst>
                    <a:gd name="T0" fmla="*/ 172 w 174"/>
                    <a:gd name="T1" fmla="*/ 109 h 307"/>
                    <a:gd name="T2" fmla="*/ 172 w 174"/>
                    <a:gd name="T3" fmla="*/ 45 h 307"/>
                    <a:gd name="T4" fmla="*/ 158 w 174"/>
                    <a:gd name="T5" fmla="*/ 40 h 307"/>
                    <a:gd name="T6" fmla="*/ 146 w 174"/>
                    <a:gd name="T7" fmla="*/ 35 h 307"/>
                    <a:gd name="T8" fmla="*/ 132 w 174"/>
                    <a:gd name="T9" fmla="*/ 31 h 307"/>
                    <a:gd name="T10" fmla="*/ 120 w 174"/>
                    <a:gd name="T11" fmla="*/ 25 h 307"/>
                    <a:gd name="T12" fmla="*/ 108 w 174"/>
                    <a:gd name="T13" fmla="*/ 19 h 307"/>
                    <a:gd name="T14" fmla="*/ 95 w 174"/>
                    <a:gd name="T15" fmla="*/ 12 h 307"/>
                    <a:gd name="T16" fmla="*/ 81 w 174"/>
                    <a:gd name="T17" fmla="*/ 6 h 307"/>
                    <a:gd name="T18" fmla="*/ 69 w 174"/>
                    <a:gd name="T19" fmla="*/ 0 h 307"/>
                    <a:gd name="T20" fmla="*/ 0 w 174"/>
                    <a:gd name="T21" fmla="*/ 217 h 307"/>
                    <a:gd name="T22" fmla="*/ 5 w 174"/>
                    <a:gd name="T23" fmla="*/ 231 h 307"/>
                    <a:gd name="T24" fmla="*/ 12 w 174"/>
                    <a:gd name="T25" fmla="*/ 244 h 307"/>
                    <a:gd name="T26" fmla="*/ 22 w 174"/>
                    <a:gd name="T27" fmla="*/ 258 h 307"/>
                    <a:gd name="T28" fmla="*/ 31 w 174"/>
                    <a:gd name="T29" fmla="*/ 271 h 307"/>
                    <a:gd name="T30" fmla="*/ 43 w 174"/>
                    <a:gd name="T31" fmla="*/ 281 h 307"/>
                    <a:gd name="T32" fmla="*/ 55 w 174"/>
                    <a:gd name="T33" fmla="*/ 292 h 307"/>
                    <a:gd name="T34" fmla="*/ 68 w 174"/>
                    <a:gd name="T35" fmla="*/ 300 h 307"/>
                    <a:gd name="T36" fmla="*/ 80 w 174"/>
                    <a:gd name="T37" fmla="*/ 307 h 307"/>
                    <a:gd name="T38" fmla="*/ 147 w 174"/>
                    <a:gd name="T39" fmla="*/ 286 h 307"/>
                    <a:gd name="T40" fmla="*/ 160 w 174"/>
                    <a:gd name="T41" fmla="*/ 264 h 307"/>
                    <a:gd name="T42" fmla="*/ 169 w 174"/>
                    <a:gd name="T43" fmla="*/ 237 h 307"/>
                    <a:gd name="T44" fmla="*/ 174 w 174"/>
                    <a:gd name="T45" fmla="*/ 209 h 307"/>
                    <a:gd name="T46" fmla="*/ 172 w 174"/>
                    <a:gd name="T47" fmla="*/ 183 h 307"/>
                    <a:gd name="T48" fmla="*/ 166 w 174"/>
                    <a:gd name="T49" fmla="*/ 192 h 307"/>
                    <a:gd name="T50" fmla="*/ 161 w 174"/>
                    <a:gd name="T51" fmla="*/ 201 h 307"/>
                    <a:gd name="T52" fmla="*/ 155 w 174"/>
                    <a:gd name="T53" fmla="*/ 212 h 307"/>
                    <a:gd name="T54" fmla="*/ 147 w 174"/>
                    <a:gd name="T55" fmla="*/ 221 h 307"/>
                    <a:gd name="T56" fmla="*/ 140 w 174"/>
                    <a:gd name="T57" fmla="*/ 231 h 307"/>
                    <a:gd name="T58" fmla="*/ 132 w 174"/>
                    <a:gd name="T59" fmla="*/ 240 h 307"/>
                    <a:gd name="T60" fmla="*/ 123 w 174"/>
                    <a:gd name="T61" fmla="*/ 246 h 307"/>
                    <a:gd name="T62" fmla="*/ 114 w 174"/>
                    <a:gd name="T63" fmla="*/ 251 h 307"/>
                    <a:gd name="T64" fmla="*/ 69 w 174"/>
                    <a:gd name="T65" fmla="*/ 228 h 307"/>
                    <a:gd name="T66" fmla="*/ 75 w 174"/>
                    <a:gd name="T67" fmla="*/ 191 h 307"/>
                    <a:gd name="T68" fmla="*/ 84 w 174"/>
                    <a:gd name="T69" fmla="*/ 154 h 307"/>
                    <a:gd name="T70" fmla="*/ 92 w 174"/>
                    <a:gd name="T71" fmla="*/ 117 h 307"/>
                    <a:gd name="T72" fmla="*/ 103 w 174"/>
                    <a:gd name="T73" fmla="*/ 80 h 307"/>
                    <a:gd name="T74" fmla="*/ 172 w 174"/>
                    <a:gd name="T75" fmla="*/ 109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74" h="307">
                      <a:moveTo>
                        <a:pt x="172" y="109"/>
                      </a:moveTo>
                      <a:lnTo>
                        <a:pt x="172" y="45"/>
                      </a:lnTo>
                      <a:lnTo>
                        <a:pt x="158" y="40"/>
                      </a:lnTo>
                      <a:lnTo>
                        <a:pt x="146" y="35"/>
                      </a:lnTo>
                      <a:lnTo>
                        <a:pt x="132" y="31"/>
                      </a:lnTo>
                      <a:lnTo>
                        <a:pt x="120" y="25"/>
                      </a:lnTo>
                      <a:lnTo>
                        <a:pt x="108" y="19"/>
                      </a:lnTo>
                      <a:lnTo>
                        <a:pt x="95" y="12"/>
                      </a:lnTo>
                      <a:lnTo>
                        <a:pt x="81" y="6"/>
                      </a:lnTo>
                      <a:lnTo>
                        <a:pt x="69" y="0"/>
                      </a:lnTo>
                      <a:lnTo>
                        <a:pt x="0" y="217"/>
                      </a:lnTo>
                      <a:lnTo>
                        <a:pt x="5" y="231"/>
                      </a:lnTo>
                      <a:lnTo>
                        <a:pt x="12" y="244"/>
                      </a:lnTo>
                      <a:lnTo>
                        <a:pt x="22" y="258"/>
                      </a:lnTo>
                      <a:lnTo>
                        <a:pt x="31" y="271"/>
                      </a:lnTo>
                      <a:lnTo>
                        <a:pt x="43" y="281"/>
                      </a:lnTo>
                      <a:lnTo>
                        <a:pt x="55" y="292"/>
                      </a:lnTo>
                      <a:lnTo>
                        <a:pt x="68" y="300"/>
                      </a:lnTo>
                      <a:lnTo>
                        <a:pt x="80" y="307"/>
                      </a:lnTo>
                      <a:lnTo>
                        <a:pt x="147" y="286"/>
                      </a:lnTo>
                      <a:lnTo>
                        <a:pt x="160" y="264"/>
                      </a:lnTo>
                      <a:lnTo>
                        <a:pt x="169" y="237"/>
                      </a:lnTo>
                      <a:lnTo>
                        <a:pt x="174" y="209"/>
                      </a:lnTo>
                      <a:lnTo>
                        <a:pt x="172" y="183"/>
                      </a:lnTo>
                      <a:lnTo>
                        <a:pt x="166" y="192"/>
                      </a:lnTo>
                      <a:lnTo>
                        <a:pt x="161" y="201"/>
                      </a:lnTo>
                      <a:lnTo>
                        <a:pt x="155" y="212"/>
                      </a:lnTo>
                      <a:lnTo>
                        <a:pt x="147" y="221"/>
                      </a:lnTo>
                      <a:lnTo>
                        <a:pt x="140" y="231"/>
                      </a:lnTo>
                      <a:lnTo>
                        <a:pt x="132" y="240"/>
                      </a:lnTo>
                      <a:lnTo>
                        <a:pt x="123" y="246"/>
                      </a:lnTo>
                      <a:lnTo>
                        <a:pt x="114" y="251"/>
                      </a:lnTo>
                      <a:lnTo>
                        <a:pt x="69" y="228"/>
                      </a:lnTo>
                      <a:lnTo>
                        <a:pt x="75" y="191"/>
                      </a:lnTo>
                      <a:lnTo>
                        <a:pt x="84" y="154"/>
                      </a:lnTo>
                      <a:lnTo>
                        <a:pt x="92" y="117"/>
                      </a:lnTo>
                      <a:lnTo>
                        <a:pt x="103" y="80"/>
                      </a:lnTo>
                      <a:lnTo>
                        <a:pt x="172" y="1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5" name="Group 112"/>
              <p:cNvGrpSpPr>
                <a:grpSpLocks/>
              </p:cNvGrpSpPr>
              <p:nvPr/>
            </p:nvGrpSpPr>
            <p:grpSpPr bwMode="auto">
              <a:xfrm>
                <a:off x="511" y="2203"/>
                <a:ext cx="77" cy="62"/>
                <a:chOff x="3235" y="1597"/>
                <a:chExt cx="263" cy="200"/>
              </a:xfrm>
            </p:grpSpPr>
            <p:sp>
              <p:nvSpPr>
                <p:cNvPr id="269" name="Freeform 113"/>
                <p:cNvSpPr>
                  <a:spLocks/>
                </p:cNvSpPr>
                <p:nvPr/>
              </p:nvSpPr>
              <p:spPr bwMode="auto">
                <a:xfrm>
                  <a:off x="3321" y="1647"/>
                  <a:ext cx="114" cy="75"/>
                </a:xfrm>
                <a:custGeom>
                  <a:avLst/>
                  <a:gdLst>
                    <a:gd name="T0" fmla="*/ 0 w 229"/>
                    <a:gd name="T1" fmla="*/ 115 h 149"/>
                    <a:gd name="T2" fmla="*/ 81 w 229"/>
                    <a:gd name="T3" fmla="*/ 104 h 149"/>
                    <a:gd name="T4" fmla="*/ 115 w 229"/>
                    <a:gd name="T5" fmla="*/ 25 h 149"/>
                    <a:gd name="T6" fmla="*/ 160 w 229"/>
                    <a:gd name="T7" fmla="*/ 35 h 149"/>
                    <a:gd name="T8" fmla="*/ 195 w 229"/>
                    <a:gd name="T9" fmla="*/ 0 h 149"/>
                    <a:gd name="T10" fmla="*/ 229 w 229"/>
                    <a:gd name="T11" fmla="*/ 25 h 149"/>
                    <a:gd name="T12" fmla="*/ 172 w 229"/>
                    <a:gd name="T13" fmla="*/ 92 h 149"/>
                    <a:gd name="T14" fmla="*/ 126 w 229"/>
                    <a:gd name="T15" fmla="*/ 81 h 149"/>
                    <a:gd name="T16" fmla="*/ 115 w 229"/>
                    <a:gd name="T17" fmla="*/ 126 h 149"/>
                    <a:gd name="T18" fmla="*/ 25 w 229"/>
                    <a:gd name="T19" fmla="*/ 149 h 149"/>
                    <a:gd name="T20" fmla="*/ 0 w 229"/>
                    <a:gd name="T21" fmla="*/ 115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9" h="149">
                      <a:moveTo>
                        <a:pt x="0" y="115"/>
                      </a:moveTo>
                      <a:lnTo>
                        <a:pt x="81" y="104"/>
                      </a:lnTo>
                      <a:lnTo>
                        <a:pt x="115" y="25"/>
                      </a:lnTo>
                      <a:lnTo>
                        <a:pt x="160" y="35"/>
                      </a:lnTo>
                      <a:lnTo>
                        <a:pt x="195" y="0"/>
                      </a:lnTo>
                      <a:lnTo>
                        <a:pt x="229" y="25"/>
                      </a:lnTo>
                      <a:lnTo>
                        <a:pt x="172" y="92"/>
                      </a:lnTo>
                      <a:lnTo>
                        <a:pt x="126" y="81"/>
                      </a:lnTo>
                      <a:lnTo>
                        <a:pt x="115" y="126"/>
                      </a:lnTo>
                      <a:lnTo>
                        <a:pt x="25" y="149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7CFF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0" name="Freeform 114"/>
                <p:cNvSpPr>
                  <a:spLocks/>
                </p:cNvSpPr>
                <p:nvPr/>
              </p:nvSpPr>
              <p:spPr bwMode="auto">
                <a:xfrm>
                  <a:off x="3370" y="1597"/>
                  <a:ext cx="128" cy="167"/>
                </a:xfrm>
                <a:custGeom>
                  <a:avLst/>
                  <a:gdLst>
                    <a:gd name="T0" fmla="*/ 0 w 257"/>
                    <a:gd name="T1" fmla="*/ 273 h 333"/>
                    <a:gd name="T2" fmla="*/ 0 w 257"/>
                    <a:gd name="T3" fmla="*/ 333 h 333"/>
                    <a:gd name="T4" fmla="*/ 7 w 257"/>
                    <a:gd name="T5" fmla="*/ 318 h 333"/>
                    <a:gd name="T6" fmla="*/ 119 w 257"/>
                    <a:gd name="T7" fmla="*/ 307 h 333"/>
                    <a:gd name="T8" fmla="*/ 131 w 257"/>
                    <a:gd name="T9" fmla="*/ 239 h 333"/>
                    <a:gd name="T10" fmla="*/ 223 w 257"/>
                    <a:gd name="T11" fmla="*/ 227 h 333"/>
                    <a:gd name="T12" fmla="*/ 257 w 257"/>
                    <a:gd name="T13" fmla="*/ 149 h 333"/>
                    <a:gd name="T14" fmla="*/ 211 w 257"/>
                    <a:gd name="T15" fmla="*/ 33 h 333"/>
                    <a:gd name="T16" fmla="*/ 189 w 257"/>
                    <a:gd name="T17" fmla="*/ 21 h 333"/>
                    <a:gd name="T18" fmla="*/ 163 w 257"/>
                    <a:gd name="T19" fmla="*/ 12 h 333"/>
                    <a:gd name="T20" fmla="*/ 136 w 257"/>
                    <a:gd name="T21" fmla="*/ 4 h 333"/>
                    <a:gd name="T22" fmla="*/ 108 w 257"/>
                    <a:gd name="T23" fmla="*/ 0 h 333"/>
                    <a:gd name="T24" fmla="*/ 79 w 257"/>
                    <a:gd name="T25" fmla="*/ 0 h 333"/>
                    <a:gd name="T26" fmla="*/ 50 w 257"/>
                    <a:gd name="T27" fmla="*/ 1 h 333"/>
                    <a:gd name="T28" fmla="*/ 23 w 257"/>
                    <a:gd name="T29" fmla="*/ 7 h 333"/>
                    <a:gd name="T30" fmla="*/ 0 w 257"/>
                    <a:gd name="T31" fmla="*/ 18 h 333"/>
                    <a:gd name="T32" fmla="*/ 0 w 257"/>
                    <a:gd name="T33" fmla="*/ 70 h 333"/>
                    <a:gd name="T34" fmla="*/ 62 w 257"/>
                    <a:gd name="T35" fmla="*/ 44 h 333"/>
                    <a:gd name="T36" fmla="*/ 142 w 257"/>
                    <a:gd name="T37" fmla="*/ 56 h 333"/>
                    <a:gd name="T38" fmla="*/ 200 w 257"/>
                    <a:gd name="T39" fmla="*/ 126 h 333"/>
                    <a:gd name="T40" fmla="*/ 176 w 257"/>
                    <a:gd name="T41" fmla="*/ 182 h 333"/>
                    <a:gd name="T42" fmla="*/ 97 w 257"/>
                    <a:gd name="T43" fmla="*/ 205 h 333"/>
                    <a:gd name="T44" fmla="*/ 85 w 257"/>
                    <a:gd name="T45" fmla="*/ 273 h 333"/>
                    <a:gd name="T46" fmla="*/ 0 w 257"/>
                    <a:gd name="T47" fmla="*/ 27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7" h="333">
                      <a:moveTo>
                        <a:pt x="0" y="273"/>
                      </a:moveTo>
                      <a:lnTo>
                        <a:pt x="0" y="333"/>
                      </a:lnTo>
                      <a:lnTo>
                        <a:pt x="7" y="318"/>
                      </a:lnTo>
                      <a:lnTo>
                        <a:pt x="119" y="307"/>
                      </a:lnTo>
                      <a:lnTo>
                        <a:pt x="131" y="239"/>
                      </a:lnTo>
                      <a:lnTo>
                        <a:pt x="223" y="227"/>
                      </a:lnTo>
                      <a:lnTo>
                        <a:pt x="257" y="149"/>
                      </a:lnTo>
                      <a:lnTo>
                        <a:pt x="211" y="33"/>
                      </a:lnTo>
                      <a:lnTo>
                        <a:pt x="189" y="21"/>
                      </a:lnTo>
                      <a:lnTo>
                        <a:pt x="163" y="12"/>
                      </a:lnTo>
                      <a:lnTo>
                        <a:pt x="136" y="4"/>
                      </a:lnTo>
                      <a:lnTo>
                        <a:pt x="108" y="0"/>
                      </a:lnTo>
                      <a:lnTo>
                        <a:pt x="79" y="0"/>
                      </a:lnTo>
                      <a:lnTo>
                        <a:pt x="50" y="1"/>
                      </a:lnTo>
                      <a:lnTo>
                        <a:pt x="23" y="7"/>
                      </a:lnTo>
                      <a:lnTo>
                        <a:pt x="0" y="18"/>
                      </a:lnTo>
                      <a:lnTo>
                        <a:pt x="0" y="70"/>
                      </a:lnTo>
                      <a:lnTo>
                        <a:pt x="62" y="44"/>
                      </a:lnTo>
                      <a:lnTo>
                        <a:pt x="142" y="56"/>
                      </a:lnTo>
                      <a:lnTo>
                        <a:pt x="200" y="126"/>
                      </a:lnTo>
                      <a:lnTo>
                        <a:pt x="176" y="182"/>
                      </a:lnTo>
                      <a:lnTo>
                        <a:pt x="97" y="205"/>
                      </a:lnTo>
                      <a:lnTo>
                        <a:pt x="85" y="273"/>
                      </a:lnTo>
                      <a:lnTo>
                        <a:pt x="0" y="2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1" name="Freeform 115"/>
                <p:cNvSpPr>
                  <a:spLocks/>
                </p:cNvSpPr>
                <p:nvPr/>
              </p:nvSpPr>
              <p:spPr bwMode="auto">
                <a:xfrm>
                  <a:off x="3235" y="1606"/>
                  <a:ext cx="135" cy="191"/>
                </a:xfrm>
                <a:custGeom>
                  <a:avLst/>
                  <a:gdLst>
                    <a:gd name="T0" fmla="*/ 268 w 270"/>
                    <a:gd name="T1" fmla="*/ 52 h 383"/>
                    <a:gd name="T2" fmla="*/ 268 w 270"/>
                    <a:gd name="T3" fmla="*/ 0 h 383"/>
                    <a:gd name="T4" fmla="*/ 244 w 270"/>
                    <a:gd name="T5" fmla="*/ 3 h 383"/>
                    <a:gd name="T6" fmla="*/ 219 w 270"/>
                    <a:gd name="T7" fmla="*/ 12 h 383"/>
                    <a:gd name="T8" fmla="*/ 195 w 270"/>
                    <a:gd name="T9" fmla="*/ 26 h 383"/>
                    <a:gd name="T10" fmla="*/ 172 w 270"/>
                    <a:gd name="T11" fmla="*/ 45 h 383"/>
                    <a:gd name="T12" fmla="*/ 149 w 270"/>
                    <a:gd name="T13" fmla="*/ 68 h 383"/>
                    <a:gd name="T14" fmla="*/ 129 w 270"/>
                    <a:gd name="T15" fmla="*/ 92 h 383"/>
                    <a:gd name="T16" fmla="*/ 107 w 270"/>
                    <a:gd name="T17" fmla="*/ 121 h 383"/>
                    <a:gd name="T18" fmla="*/ 89 w 270"/>
                    <a:gd name="T19" fmla="*/ 151 h 383"/>
                    <a:gd name="T20" fmla="*/ 70 w 270"/>
                    <a:gd name="T21" fmla="*/ 181 h 383"/>
                    <a:gd name="T22" fmla="*/ 55 w 270"/>
                    <a:gd name="T23" fmla="*/ 214 h 383"/>
                    <a:gd name="T24" fmla="*/ 41 w 270"/>
                    <a:gd name="T25" fmla="*/ 246 h 383"/>
                    <a:gd name="T26" fmla="*/ 27 w 270"/>
                    <a:gd name="T27" fmla="*/ 277 h 383"/>
                    <a:gd name="T28" fmla="*/ 18 w 270"/>
                    <a:gd name="T29" fmla="*/ 306 h 383"/>
                    <a:gd name="T30" fmla="*/ 9 w 270"/>
                    <a:gd name="T31" fmla="*/ 333 h 383"/>
                    <a:gd name="T32" fmla="*/ 3 w 270"/>
                    <a:gd name="T33" fmla="*/ 358 h 383"/>
                    <a:gd name="T34" fmla="*/ 0 w 270"/>
                    <a:gd name="T35" fmla="*/ 380 h 383"/>
                    <a:gd name="T36" fmla="*/ 13 w 270"/>
                    <a:gd name="T37" fmla="*/ 381 h 383"/>
                    <a:gd name="T38" fmla="*/ 27 w 270"/>
                    <a:gd name="T39" fmla="*/ 383 h 383"/>
                    <a:gd name="T40" fmla="*/ 41 w 270"/>
                    <a:gd name="T41" fmla="*/ 383 h 383"/>
                    <a:gd name="T42" fmla="*/ 56 w 270"/>
                    <a:gd name="T43" fmla="*/ 381 h 383"/>
                    <a:gd name="T44" fmla="*/ 72 w 270"/>
                    <a:gd name="T45" fmla="*/ 380 h 383"/>
                    <a:gd name="T46" fmla="*/ 89 w 270"/>
                    <a:gd name="T47" fmla="*/ 378 h 383"/>
                    <a:gd name="T48" fmla="*/ 104 w 270"/>
                    <a:gd name="T49" fmla="*/ 375 h 383"/>
                    <a:gd name="T50" fmla="*/ 121 w 270"/>
                    <a:gd name="T51" fmla="*/ 372 h 383"/>
                    <a:gd name="T52" fmla="*/ 138 w 270"/>
                    <a:gd name="T53" fmla="*/ 370 h 383"/>
                    <a:gd name="T54" fmla="*/ 155 w 270"/>
                    <a:gd name="T55" fmla="*/ 367 h 383"/>
                    <a:gd name="T56" fmla="*/ 172 w 270"/>
                    <a:gd name="T57" fmla="*/ 364 h 383"/>
                    <a:gd name="T58" fmla="*/ 187 w 270"/>
                    <a:gd name="T59" fmla="*/ 361 h 383"/>
                    <a:gd name="T60" fmla="*/ 204 w 270"/>
                    <a:gd name="T61" fmla="*/ 360 h 383"/>
                    <a:gd name="T62" fmla="*/ 221 w 270"/>
                    <a:gd name="T63" fmla="*/ 358 h 383"/>
                    <a:gd name="T64" fmla="*/ 236 w 270"/>
                    <a:gd name="T65" fmla="*/ 356 h 383"/>
                    <a:gd name="T66" fmla="*/ 251 w 270"/>
                    <a:gd name="T67" fmla="*/ 356 h 383"/>
                    <a:gd name="T68" fmla="*/ 262 w 270"/>
                    <a:gd name="T69" fmla="*/ 335 h 383"/>
                    <a:gd name="T70" fmla="*/ 268 w 270"/>
                    <a:gd name="T71" fmla="*/ 307 h 383"/>
                    <a:gd name="T72" fmla="*/ 270 w 270"/>
                    <a:gd name="T73" fmla="*/ 280 h 383"/>
                    <a:gd name="T74" fmla="*/ 268 w 270"/>
                    <a:gd name="T75" fmla="*/ 255 h 383"/>
                    <a:gd name="T76" fmla="*/ 262 w 270"/>
                    <a:gd name="T77" fmla="*/ 255 h 383"/>
                    <a:gd name="T78" fmla="*/ 239 w 270"/>
                    <a:gd name="T79" fmla="*/ 300 h 383"/>
                    <a:gd name="T80" fmla="*/ 218 w 270"/>
                    <a:gd name="T81" fmla="*/ 303 h 383"/>
                    <a:gd name="T82" fmla="*/ 196 w 270"/>
                    <a:gd name="T83" fmla="*/ 306 h 383"/>
                    <a:gd name="T84" fmla="*/ 175 w 270"/>
                    <a:gd name="T85" fmla="*/ 307 h 383"/>
                    <a:gd name="T86" fmla="*/ 155 w 270"/>
                    <a:gd name="T87" fmla="*/ 310 h 383"/>
                    <a:gd name="T88" fmla="*/ 133 w 270"/>
                    <a:gd name="T89" fmla="*/ 310 h 383"/>
                    <a:gd name="T90" fmla="*/ 112 w 270"/>
                    <a:gd name="T91" fmla="*/ 312 h 383"/>
                    <a:gd name="T92" fmla="*/ 90 w 270"/>
                    <a:gd name="T93" fmla="*/ 312 h 383"/>
                    <a:gd name="T94" fmla="*/ 69 w 270"/>
                    <a:gd name="T95" fmla="*/ 312 h 383"/>
                    <a:gd name="T96" fmla="*/ 76 w 270"/>
                    <a:gd name="T97" fmla="*/ 280 h 383"/>
                    <a:gd name="T98" fmla="*/ 92 w 270"/>
                    <a:gd name="T99" fmla="*/ 241 h 383"/>
                    <a:gd name="T100" fmla="*/ 115 w 270"/>
                    <a:gd name="T101" fmla="*/ 198 h 383"/>
                    <a:gd name="T102" fmla="*/ 141 w 270"/>
                    <a:gd name="T103" fmla="*/ 157 h 383"/>
                    <a:gd name="T104" fmla="*/ 172 w 270"/>
                    <a:gd name="T105" fmla="*/ 118 h 383"/>
                    <a:gd name="T106" fmla="*/ 204 w 270"/>
                    <a:gd name="T107" fmla="*/ 84 h 383"/>
                    <a:gd name="T108" fmla="*/ 236 w 270"/>
                    <a:gd name="T109" fmla="*/ 61 h 383"/>
                    <a:gd name="T110" fmla="*/ 268 w 270"/>
                    <a:gd name="T111" fmla="*/ 52 h 3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70" h="383">
                      <a:moveTo>
                        <a:pt x="268" y="52"/>
                      </a:moveTo>
                      <a:lnTo>
                        <a:pt x="268" y="0"/>
                      </a:lnTo>
                      <a:lnTo>
                        <a:pt x="244" y="3"/>
                      </a:lnTo>
                      <a:lnTo>
                        <a:pt x="219" y="12"/>
                      </a:lnTo>
                      <a:lnTo>
                        <a:pt x="195" y="26"/>
                      </a:lnTo>
                      <a:lnTo>
                        <a:pt x="172" y="45"/>
                      </a:lnTo>
                      <a:lnTo>
                        <a:pt x="149" y="68"/>
                      </a:lnTo>
                      <a:lnTo>
                        <a:pt x="129" y="92"/>
                      </a:lnTo>
                      <a:lnTo>
                        <a:pt x="107" y="121"/>
                      </a:lnTo>
                      <a:lnTo>
                        <a:pt x="89" y="151"/>
                      </a:lnTo>
                      <a:lnTo>
                        <a:pt x="70" y="181"/>
                      </a:lnTo>
                      <a:lnTo>
                        <a:pt x="55" y="214"/>
                      </a:lnTo>
                      <a:lnTo>
                        <a:pt x="41" y="246"/>
                      </a:lnTo>
                      <a:lnTo>
                        <a:pt x="27" y="277"/>
                      </a:lnTo>
                      <a:lnTo>
                        <a:pt x="18" y="306"/>
                      </a:lnTo>
                      <a:lnTo>
                        <a:pt x="9" y="333"/>
                      </a:lnTo>
                      <a:lnTo>
                        <a:pt x="3" y="358"/>
                      </a:lnTo>
                      <a:lnTo>
                        <a:pt x="0" y="380"/>
                      </a:lnTo>
                      <a:lnTo>
                        <a:pt x="13" y="381"/>
                      </a:lnTo>
                      <a:lnTo>
                        <a:pt x="27" y="383"/>
                      </a:lnTo>
                      <a:lnTo>
                        <a:pt x="41" y="383"/>
                      </a:lnTo>
                      <a:lnTo>
                        <a:pt x="56" y="381"/>
                      </a:lnTo>
                      <a:lnTo>
                        <a:pt x="72" y="380"/>
                      </a:lnTo>
                      <a:lnTo>
                        <a:pt x="89" y="378"/>
                      </a:lnTo>
                      <a:lnTo>
                        <a:pt x="104" y="375"/>
                      </a:lnTo>
                      <a:lnTo>
                        <a:pt x="121" y="372"/>
                      </a:lnTo>
                      <a:lnTo>
                        <a:pt x="138" y="370"/>
                      </a:lnTo>
                      <a:lnTo>
                        <a:pt x="155" y="367"/>
                      </a:lnTo>
                      <a:lnTo>
                        <a:pt x="172" y="364"/>
                      </a:lnTo>
                      <a:lnTo>
                        <a:pt x="187" y="361"/>
                      </a:lnTo>
                      <a:lnTo>
                        <a:pt x="204" y="360"/>
                      </a:lnTo>
                      <a:lnTo>
                        <a:pt x="221" y="358"/>
                      </a:lnTo>
                      <a:lnTo>
                        <a:pt x="236" y="356"/>
                      </a:lnTo>
                      <a:lnTo>
                        <a:pt x="251" y="356"/>
                      </a:lnTo>
                      <a:lnTo>
                        <a:pt x="262" y="335"/>
                      </a:lnTo>
                      <a:lnTo>
                        <a:pt x="268" y="307"/>
                      </a:lnTo>
                      <a:lnTo>
                        <a:pt x="270" y="280"/>
                      </a:lnTo>
                      <a:lnTo>
                        <a:pt x="268" y="255"/>
                      </a:lnTo>
                      <a:lnTo>
                        <a:pt x="262" y="255"/>
                      </a:lnTo>
                      <a:lnTo>
                        <a:pt x="239" y="300"/>
                      </a:lnTo>
                      <a:lnTo>
                        <a:pt x="218" y="303"/>
                      </a:lnTo>
                      <a:lnTo>
                        <a:pt x="196" y="306"/>
                      </a:lnTo>
                      <a:lnTo>
                        <a:pt x="175" y="307"/>
                      </a:lnTo>
                      <a:lnTo>
                        <a:pt x="155" y="310"/>
                      </a:lnTo>
                      <a:lnTo>
                        <a:pt x="133" y="310"/>
                      </a:lnTo>
                      <a:lnTo>
                        <a:pt x="112" y="312"/>
                      </a:lnTo>
                      <a:lnTo>
                        <a:pt x="90" y="312"/>
                      </a:lnTo>
                      <a:lnTo>
                        <a:pt x="69" y="312"/>
                      </a:lnTo>
                      <a:lnTo>
                        <a:pt x="76" y="280"/>
                      </a:lnTo>
                      <a:lnTo>
                        <a:pt x="92" y="241"/>
                      </a:lnTo>
                      <a:lnTo>
                        <a:pt x="115" y="198"/>
                      </a:lnTo>
                      <a:lnTo>
                        <a:pt x="141" y="157"/>
                      </a:lnTo>
                      <a:lnTo>
                        <a:pt x="172" y="118"/>
                      </a:lnTo>
                      <a:lnTo>
                        <a:pt x="204" y="84"/>
                      </a:lnTo>
                      <a:lnTo>
                        <a:pt x="236" y="61"/>
                      </a:lnTo>
                      <a:lnTo>
                        <a:pt x="26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6" name="Group 116"/>
              <p:cNvGrpSpPr>
                <a:grpSpLocks/>
              </p:cNvGrpSpPr>
              <p:nvPr/>
            </p:nvGrpSpPr>
            <p:grpSpPr bwMode="auto">
              <a:xfrm>
                <a:off x="456" y="2139"/>
                <a:ext cx="82" cy="28"/>
                <a:chOff x="1200" y="3160"/>
                <a:chExt cx="250" cy="98"/>
              </a:xfrm>
            </p:grpSpPr>
            <p:sp>
              <p:nvSpPr>
                <p:cNvPr id="267" name="Line 117"/>
                <p:cNvSpPr>
                  <a:spLocks noChangeShapeType="1"/>
                </p:cNvSpPr>
                <p:nvPr/>
              </p:nvSpPr>
              <p:spPr bwMode="gray">
                <a:xfrm>
                  <a:off x="1200" y="3162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68" name="Line 118"/>
                <p:cNvSpPr>
                  <a:spLocks noChangeShapeType="1"/>
                </p:cNvSpPr>
                <p:nvPr/>
              </p:nvSpPr>
              <p:spPr bwMode="gray">
                <a:xfrm flipH="1">
                  <a:off x="1354" y="316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</p:grpSp>
      </p:grpSp>
      <p:grpSp>
        <p:nvGrpSpPr>
          <p:cNvPr id="322" name="Group 119"/>
          <p:cNvGrpSpPr>
            <a:grpSpLocks/>
          </p:cNvGrpSpPr>
          <p:nvPr/>
        </p:nvGrpSpPr>
        <p:grpSpPr bwMode="auto">
          <a:xfrm>
            <a:off x="218855" y="1268760"/>
            <a:ext cx="9504675" cy="5220580"/>
            <a:chOff x="84" y="870"/>
            <a:chExt cx="6060" cy="3108"/>
          </a:xfrm>
        </p:grpSpPr>
        <p:sp>
          <p:nvSpPr>
            <p:cNvPr id="323" name="Rectangle 120"/>
            <p:cNvSpPr>
              <a:spLocks noChangeArrowheads="1"/>
            </p:cNvSpPr>
            <p:nvPr/>
          </p:nvSpPr>
          <p:spPr bwMode="gray">
            <a:xfrm>
              <a:off x="84" y="870"/>
              <a:ext cx="4626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4" name="Rectangle 121"/>
            <p:cNvSpPr>
              <a:spLocks noChangeArrowheads="1"/>
            </p:cNvSpPr>
            <p:nvPr/>
          </p:nvSpPr>
          <p:spPr bwMode="gray">
            <a:xfrm>
              <a:off x="4704" y="870"/>
              <a:ext cx="1440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en-US" altLang="ko-KR" sz="900" b="1" dirty="0" smtClean="0">
                  <a:latin typeface="+mn-ea"/>
                  <a:ea typeface="+mn-ea"/>
                </a:rPr>
                <a:t> </a:t>
              </a:r>
              <a:r>
                <a:rPr kumimoji="0" lang="ko-KR" altLang="en-US" sz="900" b="1" dirty="0">
                  <a:latin typeface="+mn-ea"/>
                  <a:ea typeface="+mn-ea"/>
                </a:rPr>
                <a:t>정의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 smtClean="0">
                  <a:latin typeface="+mn-ea"/>
                  <a:ea typeface="+mn-ea"/>
                </a:rPr>
                <a:t>회계시스템의 거래선정보를 사업자 연동</a:t>
              </a:r>
              <a:endParaRPr kumimoji="0" lang="ko-KR" altLang="en-US" sz="9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 smtClean="0">
                  <a:latin typeface="+mn-ea"/>
                  <a:ea typeface="+mn-ea"/>
                </a:rPr>
                <a:t>거래처는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생산처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매장정보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중간관리는 사업자가 등록 되어야 한다</a:t>
              </a:r>
              <a:endParaRPr kumimoji="0" lang="ko-KR" altLang="en-US" sz="9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 smtClean="0">
                  <a:latin typeface="+mn-ea"/>
                  <a:ea typeface="+mn-ea"/>
                </a:rPr>
                <a:t>매장과  중간관리는  할인마진정보</a:t>
              </a:r>
              <a:r>
                <a:rPr kumimoji="0" lang="en-US" altLang="ko-KR" sz="900" dirty="0">
                  <a:latin typeface="+mn-ea"/>
                  <a:ea typeface="+mn-ea"/>
                </a:rPr>
                <a:t>, </a:t>
              </a:r>
              <a:r>
                <a:rPr kumimoji="0" lang="ko-KR" altLang="en-US" sz="900" dirty="0">
                  <a:latin typeface="+mn-ea"/>
                  <a:ea typeface="+mn-ea"/>
                </a:rPr>
                <a:t>중간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>
                  <a:latin typeface="+mn-ea"/>
                  <a:ea typeface="+mn-ea"/>
                </a:rPr>
                <a:t>관리자의 </a:t>
              </a:r>
              <a:r>
                <a:rPr kumimoji="0" lang="ko-KR" altLang="en-US" sz="900" dirty="0" err="1">
                  <a:latin typeface="+mn-ea"/>
                  <a:ea typeface="+mn-ea"/>
                </a:rPr>
                <a:t>판매수수료율도</a:t>
              </a:r>
              <a:r>
                <a:rPr kumimoji="0" lang="ko-KR" altLang="en-US" sz="900" dirty="0">
                  <a:latin typeface="+mn-ea"/>
                  <a:ea typeface="+mn-ea"/>
                </a:rPr>
                <a:t>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관리 한다</a:t>
              </a:r>
              <a:endParaRPr kumimoji="0" lang="ko-KR" altLang="en-US" sz="900" dirty="0">
                <a:latin typeface="+mn-ea"/>
                <a:ea typeface="+mn-ea"/>
              </a:endParaRPr>
            </a:p>
            <a:p>
              <a:pPr marL="171450" indent="-171450"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900" dirty="0">
                  <a:latin typeface="+mn-ea"/>
                  <a:ea typeface="+mn-ea"/>
                </a:rPr>
                <a:t> </a:t>
              </a:r>
              <a:r>
                <a:rPr kumimoji="0" lang="ko-KR" altLang="en-US" sz="900" b="1" dirty="0">
                  <a:latin typeface="+mn-ea"/>
                  <a:ea typeface="+mn-ea"/>
                </a:rPr>
                <a:t>선행 프로세스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>
                  <a:latin typeface="+mn-ea"/>
                  <a:ea typeface="+mn-ea"/>
                </a:rPr>
                <a:t>1.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회계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 </a:t>
              </a:r>
              <a:r>
                <a:rPr kumimoji="0" lang="ko-KR" altLang="en-US" sz="900" dirty="0">
                  <a:latin typeface="+mn-ea"/>
                  <a:ea typeface="+mn-ea"/>
                </a:rPr>
                <a:t>시스템의 거래선정보 처리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900" dirty="0">
                  <a:latin typeface="+mn-ea"/>
                  <a:ea typeface="+mn-ea"/>
                </a:rPr>
                <a:t> </a:t>
              </a:r>
              <a:r>
                <a:rPr kumimoji="0" lang="ko-KR" altLang="en-US" sz="900" b="1" dirty="0">
                  <a:latin typeface="+mn-ea"/>
                  <a:ea typeface="+mn-ea"/>
                </a:rPr>
                <a:t>후행 프로세스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>
                  <a:latin typeface="+mn-ea"/>
                  <a:ea typeface="+mn-ea"/>
                </a:rPr>
                <a:t>1. </a:t>
              </a:r>
              <a:r>
                <a:rPr kumimoji="0" lang="ko-KR" altLang="en-US" sz="900" dirty="0">
                  <a:latin typeface="+mn-ea"/>
                  <a:ea typeface="+mn-ea"/>
                </a:rPr>
                <a:t>매장의 할인마진율 등록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>
                  <a:latin typeface="+mn-ea"/>
                  <a:ea typeface="+mn-ea"/>
                </a:rPr>
                <a:t>2. </a:t>
              </a:r>
              <a:r>
                <a:rPr kumimoji="0" lang="ko-KR" altLang="en-US" sz="900" dirty="0">
                  <a:latin typeface="+mn-ea"/>
                  <a:ea typeface="+mn-ea"/>
                </a:rPr>
                <a:t>중간관리자의 </a:t>
              </a:r>
              <a:r>
                <a:rPr kumimoji="0" lang="ko-KR" altLang="en-US" sz="900" dirty="0" err="1">
                  <a:latin typeface="+mn-ea"/>
                  <a:ea typeface="+mn-ea"/>
                </a:rPr>
                <a:t>수수료율</a:t>
              </a:r>
              <a:r>
                <a:rPr kumimoji="0" lang="ko-KR" altLang="en-US" sz="900" dirty="0">
                  <a:latin typeface="+mn-ea"/>
                  <a:ea typeface="+mn-ea"/>
                </a:rPr>
                <a:t> 등록 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>
                  <a:latin typeface="+mn-ea"/>
                  <a:ea typeface="+mn-ea"/>
                </a:rPr>
                <a:t>3.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실판매가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공급가생성</a:t>
              </a:r>
              <a:r>
                <a:rPr kumimoji="0" lang="en-US" altLang="ko-KR" sz="900" dirty="0">
                  <a:latin typeface="+mn-ea"/>
                  <a:ea typeface="+mn-ea"/>
                </a:rPr>
                <a:t>, </a:t>
              </a:r>
              <a:r>
                <a:rPr kumimoji="0" lang="ko-KR" altLang="en-US" sz="900" dirty="0">
                  <a:latin typeface="+mn-ea"/>
                  <a:ea typeface="+mn-ea"/>
                </a:rPr>
                <a:t>수수료생성 지급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900" dirty="0">
                  <a:latin typeface="+mn-ea"/>
                  <a:ea typeface="+mn-ea"/>
                </a:rPr>
                <a:t> </a:t>
              </a:r>
              <a:r>
                <a:rPr kumimoji="0" lang="ko-KR" altLang="en-US" sz="900" b="1" dirty="0">
                  <a:latin typeface="+mn-ea"/>
                  <a:ea typeface="+mn-ea"/>
                </a:rPr>
                <a:t>비즈니스 업무정책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>
                  <a:latin typeface="+mn-ea"/>
                  <a:ea typeface="+mn-ea"/>
                </a:rPr>
                <a:t>1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. </a:t>
              </a:r>
              <a:r>
                <a:rPr kumimoji="0" lang="ko-KR" altLang="en-US" sz="900" dirty="0">
                  <a:latin typeface="+mn-ea"/>
                  <a:ea typeface="+mn-ea"/>
                </a:rPr>
                <a:t>사업자정보는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회계 시스템에서 등록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, </a:t>
              </a:r>
              <a:endParaRPr kumimoji="0" lang="ko-KR" altLang="en-US" sz="9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>
                  <a:latin typeface="+mn-ea"/>
                  <a:ea typeface="+mn-ea"/>
                </a:rPr>
                <a:t>   갱신하며</a:t>
              </a:r>
              <a:r>
                <a:rPr kumimoji="0" lang="en-US" altLang="ko-KR" sz="900" dirty="0">
                  <a:latin typeface="+mn-ea"/>
                  <a:ea typeface="+mn-ea"/>
                </a:rPr>
                <a:t>,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패션 시스템과  연동 한다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.</a:t>
              </a:r>
              <a:endParaRPr kumimoji="0" lang="ko-KR" altLang="en-US" sz="9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2. </a:t>
              </a:r>
              <a:r>
                <a:rPr kumimoji="0" lang="ko-KR" altLang="en-US" sz="900" dirty="0">
                  <a:latin typeface="+mn-ea"/>
                  <a:ea typeface="+mn-ea"/>
                </a:rPr>
                <a:t>모든 기준정보는 삭제하지 않는다</a:t>
              </a:r>
              <a:r>
                <a:rPr kumimoji="0" lang="en-US" altLang="ko-KR" sz="900" dirty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3.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할인마진율</a:t>
              </a:r>
              <a:r>
                <a:rPr kumimoji="0" lang="en-US" altLang="ko-KR" sz="900" dirty="0">
                  <a:latin typeface="+mn-ea"/>
                  <a:ea typeface="+mn-ea"/>
                </a:rPr>
                <a:t>,</a:t>
              </a:r>
              <a:r>
                <a:rPr kumimoji="0" lang="ko-KR" altLang="en-US" sz="900" dirty="0" err="1">
                  <a:latin typeface="+mn-ea"/>
                  <a:ea typeface="+mn-ea"/>
                </a:rPr>
                <a:t>수수료율은</a:t>
              </a:r>
              <a:r>
                <a:rPr kumimoji="0" lang="ko-KR" altLang="en-US" sz="900" dirty="0">
                  <a:latin typeface="+mn-ea"/>
                  <a:ea typeface="+mn-ea"/>
                </a:rPr>
                <a:t>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적용기간으로 관리 </a:t>
              </a:r>
              <a:r>
                <a:rPr kumimoji="0" lang="ko-KR" altLang="en-US" sz="900" dirty="0">
                  <a:latin typeface="+mn-ea"/>
                  <a:ea typeface="+mn-ea"/>
                </a:rPr>
                <a:t>된다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4.</a:t>
              </a:r>
              <a:r>
                <a:rPr kumimoji="0" lang="ko-KR" altLang="en-US" sz="900" dirty="0">
                  <a:latin typeface="+mn-ea"/>
                  <a:ea typeface="+mn-ea"/>
                </a:rPr>
                <a:t>중간관리자 교체 시 중간관리매장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900" dirty="0">
                  <a:latin typeface="+mn-ea"/>
                  <a:ea typeface="+mn-ea"/>
                </a:rPr>
                <a:t>   은 재등록 처리 한다</a:t>
              </a:r>
              <a:r>
                <a:rPr kumimoji="0" lang="en-US" altLang="ko-KR" sz="900" dirty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5. </a:t>
              </a:r>
              <a:r>
                <a:rPr kumimoji="0" lang="ko-KR" altLang="en-US" sz="900" dirty="0">
                  <a:latin typeface="+mn-ea"/>
                  <a:ea typeface="+mn-ea"/>
                </a:rPr>
                <a:t>기준정보의 등록</a:t>
              </a:r>
              <a:r>
                <a:rPr kumimoji="0" lang="en-US" altLang="ko-KR" sz="900" dirty="0">
                  <a:latin typeface="+mn-ea"/>
                  <a:ea typeface="+mn-ea"/>
                </a:rPr>
                <a:t>/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수정은 정보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당당자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 </a:t>
              </a:r>
              <a:r>
                <a:rPr kumimoji="0" lang="ko-KR" altLang="en-US" sz="900" dirty="0">
                  <a:latin typeface="+mn-ea"/>
                  <a:ea typeface="+mn-ea"/>
                </a:rPr>
                <a:t>권한에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제한된다</a:t>
              </a:r>
              <a:endParaRPr kumimoji="0" lang="en-US" altLang="ko-KR" sz="900" dirty="0" smtClean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6. 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신성은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실적구분별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 할인율 구간이 있으나 </a:t>
              </a:r>
              <a:r>
                <a:rPr kumimoji="0" lang="ko-KR" altLang="en-US" sz="900" dirty="0" err="1" smtClean="0">
                  <a:latin typeface="+mn-ea"/>
                  <a:ea typeface="+mn-ea"/>
                </a:rPr>
                <a:t>에이션은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 할인율 구간 으로 실적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/</a:t>
              </a:r>
              <a:r>
                <a:rPr kumimoji="0" lang="ko-KR" altLang="en-US" sz="900" dirty="0" smtClean="0">
                  <a:latin typeface="+mn-ea"/>
                  <a:ea typeface="+mn-ea"/>
                </a:rPr>
                <a:t>할인 구분을 한다</a:t>
              </a:r>
              <a:r>
                <a:rPr kumimoji="0" lang="en-US" altLang="ko-KR" sz="900" dirty="0" smtClean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endParaRPr kumimoji="0" lang="ko-KR" altLang="en-US" sz="900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900" dirty="0" smtClean="0">
                  <a:latin typeface="+mn-ea"/>
                  <a:ea typeface="+mn-ea"/>
                </a:rPr>
                <a:t> </a:t>
              </a:r>
              <a:endParaRPr kumimoji="0" lang="en-US" altLang="ko-KR" sz="900" dirty="0">
                <a:latin typeface="+mn-ea"/>
                <a:ea typeface="+mn-ea"/>
              </a:endParaRPr>
            </a:p>
          </p:txBody>
        </p:sp>
      </p:grpSp>
      <p:sp>
        <p:nvSpPr>
          <p:cNvPr id="52" name="Text Box 48"/>
          <p:cNvSpPr txBox="1">
            <a:spLocks noChangeArrowheads="1"/>
          </p:cNvSpPr>
          <p:nvPr/>
        </p:nvSpPr>
        <p:spPr bwMode="gray">
          <a:xfrm>
            <a:off x="751331" y="1926966"/>
            <a:ext cx="121342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거래선정보 </a:t>
            </a:r>
            <a:r>
              <a:rPr lang="ko-KR" altLang="en-US" sz="900" dirty="0">
                <a:latin typeface="+mn-ea"/>
                <a:ea typeface="+mn-ea"/>
              </a:rPr>
              <a:t>입력</a:t>
            </a:r>
          </a:p>
        </p:txBody>
      </p:sp>
      <p:sp>
        <p:nvSpPr>
          <p:cNvPr id="53" name="Rectangle 49"/>
          <p:cNvSpPr>
            <a:spLocks noChangeArrowheads="1"/>
          </p:cNvSpPr>
          <p:nvPr/>
        </p:nvSpPr>
        <p:spPr bwMode="gray">
          <a:xfrm>
            <a:off x="3093811" y="2183905"/>
            <a:ext cx="1325563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>
                <a:latin typeface="+mn-ea"/>
                <a:ea typeface="+mn-ea"/>
              </a:rPr>
              <a:t>사업자 정보 등록</a:t>
            </a:r>
          </a:p>
        </p:txBody>
      </p:sp>
      <p:sp>
        <p:nvSpPr>
          <p:cNvPr id="54" name="Line 50"/>
          <p:cNvSpPr>
            <a:spLocks noChangeShapeType="1"/>
          </p:cNvSpPr>
          <p:nvPr/>
        </p:nvSpPr>
        <p:spPr bwMode="gray">
          <a:xfrm>
            <a:off x="1995295" y="2332151"/>
            <a:ext cx="1009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55" name="Rectangle 51"/>
          <p:cNvSpPr>
            <a:spLocks noChangeArrowheads="1"/>
          </p:cNvSpPr>
          <p:nvPr/>
        </p:nvSpPr>
        <p:spPr bwMode="gray">
          <a:xfrm>
            <a:off x="814195" y="2190488"/>
            <a:ext cx="1201738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i="1" dirty="0" smtClean="0">
                <a:latin typeface="+mn-ea"/>
                <a:ea typeface="+mn-ea"/>
              </a:rPr>
              <a:t>회계시스템</a:t>
            </a:r>
            <a:endParaRPr lang="ko-KR" altLang="en-US" sz="1000" b="1" i="1" dirty="0">
              <a:latin typeface="+mn-ea"/>
              <a:ea typeface="+mn-ea"/>
            </a:endParaRPr>
          </a:p>
        </p:txBody>
      </p:sp>
      <p:sp>
        <p:nvSpPr>
          <p:cNvPr id="58" name="Text Box 54"/>
          <p:cNvSpPr txBox="1">
            <a:spLocks noChangeArrowheads="1"/>
          </p:cNvSpPr>
          <p:nvPr/>
        </p:nvSpPr>
        <p:spPr bwMode="gray">
          <a:xfrm>
            <a:off x="1951861" y="2085493"/>
            <a:ext cx="11620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사업자번호 </a:t>
            </a:r>
            <a:r>
              <a:rPr lang="ko-KR" altLang="en-US" sz="900" dirty="0">
                <a:latin typeface="+mn-ea"/>
                <a:ea typeface="+mn-ea"/>
              </a:rPr>
              <a:t>연동</a:t>
            </a:r>
          </a:p>
        </p:txBody>
      </p:sp>
      <p:sp>
        <p:nvSpPr>
          <p:cNvPr id="62" name="Rectangle 58"/>
          <p:cNvSpPr>
            <a:spLocks noChangeArrowheads="1"/>
          </p:cNvSpPr>
          <p:nvPr/>
        </p:nvSpPr>
        <p:spPr bwMode="gray">
          <a:xfrm>
            <a:off x="5474487" y="3056968"/>
            <a:ext cx="129698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>
                <a:latin typeface="+mn-ea"/>
                <a:ea typeface="+mn-ea"/>
              </a:rPr>
              <a:t>중간관리 매장등록</a:t>
            </a:r>
          </a:p>
        </p:txBody>
      </p:sp>
      <p:sp>
        <p:nvSpPr>
          <p:cNvPr id="63" name="Rectangle 59"/>
          <p:cNvSpPr>
            <a:spLocks noChangeArrowheads="1"/>
          </p:cNvSpPr>
          <p:nvPr/>
        </p:nvSpPr>
        <p:spPr bwMode="gray">
          <a:xfrm>
            <a:off x="3217670" y="4219276"/>
            <a:ext cx="108743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>
                <a:latin typeface="+mn-ea"/>
                <a:ea typeface="+mn-ea"/>
              </a:rPr>
              <a:t>매장 등록</a:t>
            </a:r>
          </a:p>
        </p:txBody>
      </p:sp>
      <p:sp>
        <p:nvSpPr>
          <p:cNvPr id="64" name="Rectangle 60"/>
          <p:cNvSpPr>
            <a:spLocks noChangeArrowheads="1"/>
          </p:cNvSpPr>
          <p:nvPr/>
        </p:nvSpPr>
        <p:spPr bwMode="gray">
          <a:xfrm>
            <a:off x="588863" y="2920909"/>
            <a:ext cx="99218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>
                <a:latin typeface="+mn-ea"/>
                <a:ea typeface="+mn-ea"/>
              </a:rPr>
              <a:t>생산처 등록</a:t>
            </a:r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gray">
          <a:xfrm>
            <a:off x="2298087" y="5426061"/>
            <a:ext cx="1163638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>
                <a:latin typeface="+mn-ea"/>
                <a:ea typeface="+mn-ea"/>
              </a:rPr>
              <a:t>할인마진율 등록</a:t>
            </a:r>
          </a:p>
        </p:txBody>
      </p:sp>
      <p:sp>
        <p:nvSpPr>
          <p:cNvPr id="68" name="Text Box 64"/>
          <p:cNvSpPr txBox="1">
            <a:spLocks noChangeArrowheads="1"/>
          </p:cNvSpPr>
          <p:nvPr/>
        </p:nvSpPr>
        <p:spPr bwMode="gray">
          <a:xfrm>
            <a:off x="2252038" y="5720058"/>
            <a:ext cx="17541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 algn="l"/>
            <a:r>
              <a:rPr lang="ko-KR" altLang="en-US" sz="900" dirty="0" err="1">
                <a:latin typeface="+mn-ea"/>
                <a:ea typeface="+mn-ea"/>
              </a:rPr>
              <a:t>제품구분별</a:t>
            </a:r>
            <a:r>
              <a:rPr lang="ko-KR" altLang="en-US" sz="900" dirty="0">
                <a:latin typeface="+mn-ea"/>
                <a:ea typeface="+mn-ea"/>
              </a:rPr>
              <a:t> 관리</a:t>
            </a:r>
          </a:p>
          <a:p>
            <a:pPr algn="l"/>
            <a:r>
              <a:rPr lang="en-US" altLang="ko-KR" sz="900" dirty="0">
                <a:latin typeface="+mn-ea"/>
                <a:ea typeface="+mn-ea"/>
              </a:rPr>
              <a:t>(</a:t>
            </a:r>
            <a:r>
              <a:rPr lang="ko-KR" altLang="en-US" sz="900" dirty="0">
                <a:latin typeface="+mn-ea"/>
                <a:ea typeface="+mn-ea"/>
              </a:rPr>
              <a:t>의류</a:t>
            </a:r>
            <a:r>
              <a:rPr lang="en-US" altLang="ko-KR" sz="900" dirty="0">
                <a:latin typeface="+mn-ea"/>
                <a:ea typeface="+mn-ea"/>
              </a:rPr>
              <a:t>,</a:t>
            </a:r>
            <a:r>
              <a:rPr lang="ko-KR" altLang="en-US" sz="900" dirty="0">
                <a:latin typeface="+mn-ea"/>
                <a:ea typeface="+mn-ea"/>
              </a:rPr>
              <a:t>용품</a:t>
            </a:r>
            <a:r>
              <a:rPr lang="en-US" altLang="ko-KR" sz="900" dirty="0">
                <a:latin typeface="+mn-ea"/>
                <a:ea typeface="+mn-ea"/>
              </a:rPr>
              <a:t>,</a:t>
            </a:r>
            <a:r>
              <a:rPr lang="ko-KR" altLang="en-US" sz="900" dirty="0">
                <a:latin typeface="+mn-ea"/>
                <a:ea typeface="+mn-ea"/>
              </a:rPr>
              <a:t>신발</a:t>
            </a:r>
            <a:r>
              <a:rPr lang="en-US" altLang="ko-KR" sz="900" dirty="0">
                <a:latin typeface="+mn-ea"/>
                <a:ea typeface="+mn-ea"/>
              </a:rPr>
              <a:t>,</a:t>
            </a:r>
            <a:r>
              <a:rPr lang="ko-KR" altLang="en-US" sz="900" dirty="0">
                <a:latin typeface="+mn-ea"/>
                <a:ea typeface="+mn-ea"/>
              </a:rPr>
              <a:t>기타</a:t>
            </a:r>
            <a:r>
              <a:rPr lang="en-US" altLang="ko-KR" sz="900" dirty="0">
                <a:latin typeface="+mn-ea"/>
                <a:ea typeface="+mn-ea"/>
              </a:rPr>
              <a:t>)</a:t>
            </a:r>
          </a:p>
          <a:p>
            <a:pPr algn="l"/>
            <a:r>
              <a:rPr lang="ko-KR" altLang="en-US" sz="900" dirty="0">
                <a:latin typeface="+mn-ea"/>
                <a:ea typeface="+mn-ea"/>
              </a:rPr>
              <a:t>할인율</a:t>
            </a:r>
            <a:r>
              <a:rPr lang="en-US" altLang="ko-KR" sz="900" dirty="0">
                <a:latin typeface="+mn-ea"/>
                <a:ea typeface="+mn-ea"/>
              </a:rPr>
              <a:t>/</a:t>
            </a:r>
            <a:r>
              <a:rPr lang="ko-KR" altLang="en-US" sz="900" dirty="0">
                <a:latin typeface="+mn-ea"/>
                <a:ea typeface="+mn-ea"/>
              </a:rPr>
              <a:t>마진율</a:t>
            </a:r>
            <a:r>
              <a:rPr lang="en-US" altLang="ko-KR" sz="900" dirty="0">
                <a:latin typeface="+mn-ea"/>
                <a:ea typeface="+mn-ea"/>
              </a:rPr>
              <a:t>/</a:t>
            </a:r>
            <a:r>
              <a:rPr lang="ko-KR" altLang="en-US" sz="900" dirty="0">
                <a:latin typeface="+mn-ea"/>
                <a:ea typeface="+mn-ea"/>
              </a:rPr>
              <a:t>실적구분 </a:t>
            </a:r>
            <a:r>
              <a:rPr lang="ko-KR" altLang="en-US" sz="900" dirty="0" smtClean="0">
                <a:latin typeface="+mn-ea"/>
                <a:ea typeface="+mn-ea"/>
              </a:rPr>
              <a:t>관리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신성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err="1" smtClean="0">
                <a:latin typeface="+mn-ea"/>
                <a:ea typeface="+mn-ea"/>
              </a:rPr>
              <a:t>에이션</a:t>
            </a:r>
            <a:r>
              <a:rPr lang="ko-KR" altLang="en-US" sz="900" dirty="0" smtClean="0">
                <a:latin typeface="+mn-ea"/>
                <a:ea typeface="+mn-ea"/>
              </a:rPr>
              <a:t> 등록 기준이 다름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69" name="Text Box 65"/>
          <p:cNvSpPr txBox="1">
            <a:spLocks noChangeArrowheads="1"/>
          </p:cNvSpPr>
          <p:nvPr/>
        </p:nvSpPr>
        <p:spPr bwMode="gray">
          <a:xfrm>
            <a:off x="3771335" y="5259959"/>
            <a:ext cx="79191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>
                <a:latin typeface="+mn-ea"/>
                <a:ea typeface="+mn-ea"/>
              </a:rPr>
              <a:t>할인율 </a:t>
            </a:r>
            <a:r>
              <a:rPr lang="ko-KR" altLang="en-US" sz="900" dirty="0" smtClean="0">
                <a:latin typeface="+mn-ea"/>
                <a:ea typeface="+mn-ea"/>
              </a:rPr>
              <a:t>연동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70" name="AutoShape 66"/>
          <p:cNvCxnSpPr>
            <a:cxnSpLocks noChangeShapeType="1"/>
            <a:stCxn id="65" idx="3"/>
            <a:endCxn id="76" idx="1"/>
          </p:cNvCxnSpPr>
          <p:nvPr/>
        </p:nvCxnSpPr>
        <p:spPr bwMode="gray">
          <a:xfrm flipV="1">
            <a:off x="3461725" y="5532353"/>
            <a:ext cx="1443627" cy="207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AutoShape 67"/>
          <p:cNvCxnSpPr>
            <a:cxnSpLocks noChangeShapeType="1"/>
            <a:stCxn id="53" idx="2"/>
            <a:endCxn id="63" idx="0"/>
          </p:cNvCxnSpPr>
          <p:nvPr/>
        </p:nvCxnSpPr>
        <p:spPr bwMode="gray">
          <a:xfrm rot="16200000" flipH="1">
            <a:off x="2868306" y="3326192"/>
            <a:ext cx="1781371" cy="47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70"/>
          <p:cNvCxnSpPr>
            <a:cxnSpLocks noChangeShapeType="1"/>
            <a:stCxn id="62" idx="2"/>
            <a:endCxn id="76" idx="0"/>
          </p:cNvCxnSpPr>
          <p:nvPr/>
        </p:nvCxnSpPr>
        <p:spPr bwMode="gray">
          <a:xfrm rot="5400000">
            <a:off x="4745978" y="4028349"/>
            <a:ext cx="2094385" cy="65962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AutoShape 71"/>
          <p:cNvCxnSpPr>
            <a:cxnSpLocks noChangeShapeType="1"/>
            <a:stCxn id="63" idx="1"/>
            <a:endCxn id="65" idx="0"/>
          </p:cNvCxnSpPr>
          <p:nvPr/>
        </p:nvCxnSpPr>
        <p:spPr bwMode="gray">
          <a:xfrm rot="10800000" flipV="1">
            <a:off x="2879906" y="4346275"/>
            <a:ext cx="337764" cy="107978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Rectangle 72"/>
          <p:cNvSpPr>
            <a:spLocks noChangeArrowheads="1"/>
          </p:cNvSpPr>
          <p:nvPr/>
        </p:nvSpPr>
        <p:spPr bwMode="gray">
          <a:xfrm>
            <a:off x="4905352" y="5405353"/>
            <a:ext cx="1116013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>
                <a:latin typeface="+mn-ea"/>
                <a:ea typeface="+mn-ea"/>
              </a:rPr>
              <a:t>수수료율 등록</a:t>
            </a:r>
          </a:p>
        </p:txBody>
      </p:sp>
      <p:cxnSp>
        <p:nvCxnSpPr>
          <p:cNvPr id="77" name="AutoShape 73"/>
          <p:cNvCxnSpPr>
            <a:cxnSpLocks noChangeShapeType="1"/>
            <a:stCxn id="63" idx="3"/>
            <a:endCxn id="62" idx="1"/>
          </p:cNvCxnSpPr>
          <p:nvPr/>
        </p:nvCxnSpPr>
        <p:spPr bwMode="gray">
          <a:xfrm flipV="1">
            <a:off x="4305108" y="3183968"/>
            <a:ext cx="1169379" cy="11623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76"/>
          <p:cNvCxnSpPr>
            <a:cxnSpLocks noChangeShapeType="1"/>
            <a:stCxn id="53" idx="2"/>
            <a:endCxn id="64" idx="0"/>
          </p:cNvCxnSpPr>
          <p:nvPr/>
        </p:nvCxnSpPr>
        <p:spPr bwMode="gray">
          <a:xfrm rot="5400000">
            <a:off x="2179273" y="1343589"/>
            <a:ext cx="483004" cy="267163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77"/>
          <p:cNvCxnSpPr>
            <a:cxnSpLocks noChangeShapeType="1"/>
            <a:stCxn id="53" idx="3"/>
            <a:endCxn id="62" idx="0"/>
          </p:cNvCxnSpPr>
          <p:nvPr/>
        </p:nvCxnSpPr>
        <p:spPr bwMode="gray">
          <a:xfrm>
            <a:off x="4419374" y="2310905"/>
            <a:ext cx="1703607" cy="74606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8" name="Text Box 80"/>
          <p:cNvSpPr txBox="1">
            <a:spLocks noChangeArrowheads="1"/>
          </p:cNvSpPr>
          <p:nvPr/>
        </p:nvSpPr>
        <p:spPr bwMode="gray">
          <a:xfrm>
            <a:off x="2851074" y="3536995"/>
            <a:ext cx="15978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>
                <a:latin typeface="+mn-ea"/>
                <a:ea typeface="+mn-ea"/>
              </a:rPr>
              <a:t>매장구분 정의</a:t>
            </a:r>
          </a:p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재매입</a:t>
            </a:r>
            <a:r>
              <a:rPr lang="ko-KR" altLang="en-US" sz="900" dirty="0" smtClean="0">
                <a:latin typeface="+mn-ea"/>
                <a:ea typeface="+mn-ea"/>
              </a:rPr>
              <a:t> </a:t>
            </a:r>
            <a:r>
              <a:rPr lang="ko-KR" altLang="en-US" sz="900" dirty="0">
                <a:latin typeface="+mn-ea"/>
                <a:ea typeface="+mn-ea"/>
              </a:rPr>
              <a:t>제외매장 정의</a:t>
            </a:r>
          </a:p>
          <a:p>
            <a:pPr algn="l"/>
            <a:r>
              <a:rPr lang="ko-KR" altLang="en-US" sz="900" dirty="0">
                <a:latin typeface="+mn-ea"/>
                <a:ea typeface="+mn-ea"/>
              </a:rPr>
              <a:t>폐점 매장 </a:t>
            </a:r>
            <a:r>
              <a:rPr lang="ko-KR" altLang="en-US" sz="900" dirty="0" smtClean="0">
                <a:latin typeface="+mn-ea"/>
                <a:ea typeface="+mn-ea"/>
              </a:rPr>
              <a:t>관리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출고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판매 등 제한관리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9" name="Text Box 81"/>
          <p:cNvSpPr txBox="1">
            <a:spLocks noChangeArrowheads="1"/>
          </p:cNvSpPr>
          <p:nvPr/>
        </p:nvSpPr>
        <p:spPr bwMode="gray">
          <a:xfrm>
            <a:off x="3712970" y="2723851"/>
            <a:ext cx="14668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900" dirty="0">
                <a:latin typeface="+mn-ea"/>
                <a:ea typeface="+mn-ea"/>
              </a:rPr>
              <a:t>사업자번호 </a:t>
            </a:r>
            <a:r>
              <a:rPr lang="ko-KR" altLang="en-US" sz="900" dirty="0" smtClean="0">
                <a:latin typeface="+mn-ea"/>
                <a:ea typeface="+mn-ea"/>
              </a:rPr>
              <a:t>연동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3" name="Text Box 83"/>
          <p:cNvSpPr txBox="1">
            <a:spLocks noChangeArrowheads="1"/>
          </p:cNvSpPr>
          <p:nvPr/>
        </p:nvSpPr>
        <p:spPr bwMode="gray">
          <a:xfrm>
            <a:off x="4834535" y="3441776"/>
            <a:ext cx="105965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>
                <a:latin typeface="+mn-ea"/>
                <a:ea typeface="+mn-ea"/>
              </a:rPr>
              <a:t>매장코드 </a:t>
            </a:r>
            <a:r>
              <a:rPr lang="ko-KR" altLang="en-US" sz="900" dirty="0" smtClean="0">
                <a:latin typeface="+mn-ea"/>
                <a:ea typeface="+mn-ea"/>
              </a:rPr>
              <a:t>연동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9" name="Text Box 87"/>
          <p:cNvSpPr txBox="1">
            <a:spLocks noChangeArrowheads="1"/>
          </p:cNvSpPr>
          <p:nvPr/>
        </p:nvSpPr>
        <p:spPr bwMode="gray">
          <a:xfrm>
            <a:off x="4834535" y="5680061"/>
            <a:ext cx="15422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수수료 </a:t>
            </a:r>
            <a:r>
              <a:rPr lang="ko-KR" altLang="en-US" sz="900" dirty="0" err="1" smtClean="0">
                <a:latin typeface="+mn-ea"/>
                <a:ea typeface="+mn-ea"/>
              </a:rPr>
              <a:t>구분별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할인율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err="1" smtClean="0">
                <a:latin typeface="+mn-ea"/>
                <a:ea typeface="+mn-ea"/>
              </a:rPr>
              <a:t>수수료율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적용기간 관리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00" name="Text Box 88"/>
          <p:cNvSpPr txBox="1">
            <a:spLocks noChangeArrowheads="1"/>
          </p:cNvSpPr>
          <p:nvPr/>
        </p:nvSpPr>
        <p:spPr bwMode="gray">
          <a:xfrm>
            <a:off x="6201917" y="2759441"/>
            <a:ext cx="1092414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매장별</a:t>
            </a:r>
            <a:r>
              <a:rPr lang="ko-KR" altLang="en-US" sz="900" dirty="0" smtClean="0">
                <a:latin typeface="+mn-ea"/>
                <a:ea typeface="+mn-ea"/>
              </a:rPr>
              <a:t> 중간관리자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13" name="Rectangle 59"/>
          <p:cNvSpPr>
            <a:spLocks noChangeArrowheads="1"/>
          </p:cNvSpPr>
          <p:nvPr/>
        </p:nvSpPr>
        <p:spPr bwMode="gray">
          <a:xfrm>
            <a:off x="1090388" y="4215713"/>
            <a:ext cx="1255749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매장브랜드 </a:t>
            </a:r>
            <a:r>
              <a:rPr lang="ko-KR" altLang="en-US" sz="1000" b="1" dirty="0">
                <a:latin typeface="+mn-ea"/>
                <a:ea typeface="+mn-ea"/>
              </a:rPr>
              <a:t>등록</a:t>
            </a:r>
          </a:p>
        </p:txBody>
      </p:sp>
      <p:cxnSp>
        <p:nvCxnSpPr>
          <p:cNvPr id="114" name="AutoShape 71"/>
          <p:cNvCxnSpPr>
            <a:cxnSpLocks noChangeShapeType="1"/>
            <a:stCxn id="63" idx="1"/>
            <a:endCxn id="113" idx="3"/>
          </p:cNvCxnSpPr>
          <p:nvPr/>
        </p:nvCxnSpPr>
        <p:spPr bwMode="gray">
          <a:xfrm rot="10800000">
            <a:off x="2346138" y="4339914"/>
            <a:ext cx="871533" cy="63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Line 50"/>
          <p:cNvSpPr>
            <a:spLocks noChangeShapeType="1"/>
          </p:cNvSpPr>
          <p:nvPr/>
        </p:nvSpPr>
        <p:spPr bwMode="gray">
          <a:xfrm>
            <a:off x="1593055" y="3041744"/>
            <a:ext cx="939832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19" name="Text Box 48"/>
          <p:cNvSpPr txBox="1">
            <a:spLocks noChangeArrowheads="1"/>
          </p:cNvSpPr>
          <p:nvPr/>
        </p:nvSpPr>
        <p:spPr bwMode="gray">
          <a:xfrm>
            <a:off x="1662774" y="2784340"/>
            <a:ext cx="87667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1000" dirty="0" smtClean="0">
                <a:latin typeface="+mn-ea"/>
                <a:ea typeface="+mn-ea"/>
              </a:rPr>
              <a:t>스타일 정보 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20" name="Text Box 64"/>
          <p:cNvSpPr txBox="1">
            <a:spLocks noChangeArrowheads="1"/>
          </p:cNvSpPr>
          <p:nvPr/>
        </p:nvSpPr>
        <p:spPr bwMode="gray">
          <a:xfrm>
            <a:off x="1086812" y="4529717"/>
            <a:ext cx="175418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rIns="54000">
            <a:spAutoFit/>
          </a:bodyPr>
          <a:lstStyle/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브랜드별</a:t>
            </a:r>
            <a:r>
              <a:rPr lang="ko-KR" altLang="en-US" sz="900" dirty="0" smtClean="0">
                <a:latin typeface="+mn-ea"/>
                <a:ea typeface="+mn-ea"/>
              </a:rPr>
              <a:t> 매장 등록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미 </a:t>
            </a:r>
            <a:r>
              <a:rPr lang="ko-KR" altLang="en-US" sz="900" dirty="0" err="1" smtClean="0">
                <a:latin typeface="+mn-ea"/>
                <a:ea typeface="+mn-ea"/>
              </a:rPr>
              <a:t>등록시</a:t>
            </a:r>
            <a:r>
              <a:rPr lang="ko-KR" altLang="en-US" sz="900" dirty="0" smtClean="0">
                <a:latin typeface="+mn-ea"/>
                <a:ea typeface="+mn-ea"/>
              </a:rPr>
              <a:t> 출고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판매 불가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복합 매장은 관련 브랜드 모두 등록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3" name="Text Box 81"/>
          <p:cNvSpPr txBox="1">
            <a:spLocks noChangeArrowheads="1"/>
          </p:cNvSpPr>
          <p:nvPr/>
        </p:nvSpPr>
        <p:spPr bwMode="gray">
          <a:xfrm>
            <a:off x="404406" y="3229334"/>
            <a:ext cx="136481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생산업체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구매업체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2" name="Text Box 65"/>
          <p:cNvSpPr txBox="1">
            <a:spLocks noChangeArrowheads="1"/>
          </p:cNvSpPr>
          <p:nvPr/>
        </p:nvSpPr>
        <p:spPr bwMode="gray">
          <a:xfrm>
            <a:off x="4428822" y="4568675"/>
            <a:ext cx="101769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err="1" smtClean="0">
                <a:latin typeface="+mn-ea"/>
                <a:ea typeface="+mn-ea"/>
              </a:rPr>
              <a:t>실판매가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출고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판매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l"/>
            <a:r>
              <a:rPr lang="ko-KR" altLang="en-US" sz="900" dirty="0" smtClean="0">
                <a:latin typeface="+mn-ea"/>
                <a:ea typeface="+mn-ea"/>
              </a:rPr>
              <a:t>공급금액 계산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34" name="AutoShape 73"/>
          <p:cNvCxnSpPr>
            <a:cxnSpLocks noChangeShapeType="1"/>
            <a:stCxn id="63" idx="2"/>
            <a:endCxn id="132" idx="1"/>
          </p:cNvCxnSpPr>
          <p:nvPr/>
        </p:nvCxnSpPr>
        <p:spPr bwMode="gray">
          <a:xfrm rot="16200000" flipH="1">
            <a:off x="3920448" y="4314216"/>
            <a:ext cx="349315" cy="667433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9" name="Line 50"/>
          <p:cNvSpPr>
            <a:spLocks noChangeShapeType="1"/>
          </p:cNvSpPr>
          <p:nvPr/>
        </p:nvSpPr>
        <p:spPr bwMode="gray">
          <a:xfrm>
            <a:off x="6015171" y="5532353"/>
            <a:ext cx="111171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40" name="Text Box 65"/>
          <p:cNvSpPr txBox="1">
            <a:spLocks noChangeArrowheads="1"/>
          </p:cNvSpPr>
          <p:nvPr/>
        </p:nvSpPr>
        <p:spPr bwMode="gray">
          <a:xfrm>
            <a:off x="6253525" y="5289938"/>
            <a:ext cx="1174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54000" rIns="54000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중간관리수수료지급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45" name="AutoShape 73"/>
          <p:cNvCxnSpPr>
            <a:cxnSpLocks noChangeShapeType="1"/>
            <a:stCxn id="62" idx="3"/>
          </p:cNvCxnSpPr>
          <p:nvPr/>
        </p:nvCxnSpPr>
        <p:spPr bwMode="gray">
          <a:xfrm>
            <a:off x="6771475" y="3183968"/>
            <a:ext cx="365973" cy="2105970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4" name="Line 50"/>
          <p:cNvSpPr>
            <a:spLocks noChangeShapeType="1"/>
          </p:cNvSpPr>
          <p:nvPr/>
        </p:nvSpPr>
        <p:spPr bwMode="gray">
          <a:xfrm>
            <a:off x="404406" y="4338113"/>
            <a:ext cx="686662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5" name="Text Box 48"/>
          <p:cNvSpPr txBox="1">
            <a:spLocks noChangeArrowheads="1"/>
          </p:cNvSpPr>
          <p:nvPr/>
        </p:nvSpPr>
        <p:spPr bwMode="gray">
          <a:xfrm>
            <a:off x="273050" y="4073015"/>
            <a:ext cx="86400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브랜드 정보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" name="사각형 설명선 1"/>
          <p:cNvSpPr/>
          <p:nvPr/>
        </p:nvSpPr>
        <p:spPr>
          <a:xfrm>
            <a:off x="5026534" y="1477660"/>
            <a:ext cx="2369291" cy="786057"/>
          </a:xfrm>
          <a:prstGeom prst="wedgeRectCallout">
            <a:avLst>
              <a:gd name="adj1" fmla="val 26935"/>
              <a:gd name="adj2" fmla="val 11919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매장의 관리자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판매율에 따른 수수료를 계약하는 방식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서브브랜드마다 중간관리자의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수수료</a:t>
            </a:r>
            <a:r>
              <a:rPr lang="ko-KR" altLang="en-US" sz="800" b="1" kern="0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율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</a:t>
            </a:r>
            <a:endParaRPr lang="en-US" altLang="ko-KR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다르기 때문에 같은 사람이라도 서브브랜드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마다 각각 등록한다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사각형 설명선 66"/>
          <p:cNvSpPr/>
          <p:nvPr/>
        </p:nvSpPr>
        <p:spPr>
          <a:xfrm>
            <a:off x="324650" y="5201219"/>
            <a:ext cx="1936719" cy="297279"/>
          </a:xfrm>
          <a:prstGeom prst="wedgeRectCallout">
            <a:avLst>
              <a:gd name="adj1" fmla="val 8739"/>
              <a:gd name="adj2" fmla="val -11978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여러 브랜드 제품을 판매하는 매장</a:t>
            </a:r>
          </a:p>
        </p:txBody>
      </p:sp>
      <p:sp>
        <p:nvSpPr>
          <p:cNvPr id="72" name="사각형 설명선 71"/>
          <p:cNvSpPr/>
          <p:nvPr/>
        </p:nvSpPr>
        <p:spPr>
          <a:xfrm>
            <a:off x="1885477" y="1619441"/>
            <a:ext cx="862278" cy="266269"/>
          </a:xfrm>
          <a:prstGeom prst="wedgeRectCallout">
            <a:avLst>
              <a:gd name="adj1" fmla="val -74487"/>
              <a:gd name="adj2" fmla="val -4640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영업관리팀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사각형 설명선 72"/>
          <p:cNvSpPr/>
          <p:nvPr/>
        </p:nvSpPr>
        <p:spPr>
          <a:xfrm>
            <a:off x="1624843" y="3245708"/>
            <a:ext cx="1255062" cy="258144"/>
          </a:xfrm>
          <a:prstGeom prst="wedgeRectCallout">
            <a:avLst>
              <a:gd name="adj1" fmla="val -93426"/>
              <a:gd name="adj2" fmla="val -10248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K-ONE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으로부터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I/F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사각형 설명선 77"/>
          <p:cNvSpPr/>
          <p:nvPr/>
        </p:nvSpPr>
        <p:spPr>
          <a:xfrm>
            <a:off x="5233774" y="4536406"/>
            <a:ext cx="1936286" cy="373224"/>
          </a:xfrm>
          <a:prstGeom prst="wedgeRectCallout">
            <a:avLst>
              <a:gd name="adj1" fmla="val -65614"/>
              <a:gd name="adj2" fmla="val -406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F_GET …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함수에서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실판매가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등을 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계산할 때 매장정보가 있어야 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192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6. </a:t>
            </a:r>
            <a:r>
              <a:rPr lang="ko-KR" altLang="en-US" dirty="0" smtClean="0">
                <a:latin typeface="+mj-ea"/>
                <a:ea typeface="+mj-ea"/>
              </a:rPr>
              <a:t>제품기획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4" y="737456"/>
            <a:ext cx="9594685" cy="56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>
                <a:latin typeface="+mn-ea"/>
                <a:ea typeface="+mn-ea"/>
              </a:rPr>
              <a:t> </a:t>
            </a:r>
            <a:r>
              <a:rPr kumimoji="0" lang="ko-KR" altLang="en-US" sz="1200" b="1" dirty="0" smtClean="0">
                <a:latin typeface="+mn-ea"/>
                <a:ea typeface="+mn-ea"/>
              </a:rPr>
              <a:t>제품의 기획방향을 </a:t>
            </a:r>
            <a:r>
              <a:rPr kumimoji="0" lang="ko-KR" altLang="en-US" sz="1200" b="1" dirty="0">
                <a:latin typeface="+mn-ea"/>
                <a:ea typeface="+mn-ea"/>
              </a:rPr>
              <a:t>설정하고 기획을 통해 디자인을 진행하며 샘플제작과 품평회를 </a:t>
            </a:r>
            <a:r>
              <a:rPr kumimoji="0" lang="ko-KR" altLang="en-US" sz="1200" b="1" dirty="0" smtClean="0">
                <a:latin typeface="+mn-ea"/>
                <a:ea typeface="+mn-ea"/>
              </a:rPr>
              <a:t>진행하고 해당 시즌에 운영할 제품 정보를 등록</a:t>
            </a:r>
            <a:endParaRPr kumimoji="0" lang="en-US" altLang="ko-KR" sz="1200" b="1" dirty="0" smtClean="0">
              <a:latin typeface="+mn-ea"/>
              <a:ea typeface="+mn-ea"/>
            </a:endParaRPr>
          </a:p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defRPr/>
            </a:pPr>
            <a:r>
              <a:rPr kumimoji="0" lang="en-US" altLang="ko-KR" sz="1200" b="1" dirty="0">
                <a:latin typeface="+mn-ea"/>
                <a:ea typeface="+mn-ea"/>
              </a:rPr>
              <a:t> </a:t>
            </a:r>
            <a:r>
              <a:rPr kumimoji="0" lang="en-US" altLang="ko-KR" sz="1200" b="1" dirty="0" smtClean="0">
                <a:latin typeface="+mn-ea"/>
                <a:ea typeface="+mn-ea"/>
              </a:rPr>
              <a:t> </a:t>
            </a:r>
            <a:r>
              <a:rPr kumimoji="0" lang="ko-KR" altLang="en-US" sz="1200" b="1" dirty="0" smtClean="0">
                <a:latin typeface="+mn-ea"/>
                <a:ea typeface="+mn-ea"/>
              </a:rPr>
              <a:t>하는 프로세스 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sp>
        <p:nvSpPr>
          <p:cNvPr id="66" name="TextBox 93"/>
          <p:cNvSpPr txBox="1">
            <a:spLocks noChangeArrowheads="1"/>
          </p:cNvSpPr>
          <p:nvPr/>
        </p:nvSpPr>
        <p:spPr bwMode="auto">
          <a:xfrm>
            <a:off x="5369973" y="1403775"/>
            <a:ext cx="768184" cy="22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buSzPct val="70000"/>
            </a:pPr>
            <a:r>
              <a:rPr lang="ko-KR" altLang="en-US" sz="800" b="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디자인 수정</a:t>
            </a:r>
            <a:endParaRPr lang="ko-KR" altLang="en-US" sz="800" b="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1901444" y="1959823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상품기획 구상</a:t>
            </a:r>
          </a:p>
        </p:txBody>
      </p:sp>
      <p:sp>
        <p:nvSpPr>
          <p:cNvPr id="73" name="모서리가 둥근 직사각형 72"/>
          <p:cNvSpPr/>
          <p:nvPr/>
        </p:nvSpPr>
        <p:spPr bwMode="auto">
          <a:xfrm>
            <a:off x="3237936" y="1954336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시즌 기획</a:t>
            </a:r>
          </a:p>
        </p:txBody>
      </p:sp>
      <p:sp>
        <p:nvSpPr>
          <p:cNvPr id="78" name="모서리가 둥근 직사각형 77"/>
          <p:cNvSpPr/>
          <p:nvPr/>
        </p:nvSpPr>
        <p:spPr bwMode="auto">
          <a:xfrm>
            <a:off x="4579692" y="1951369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ts val="5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디자인 및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5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샘플제작</a:t>
            </a: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5916184" y="1946932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품평회</a:t>
            </a:r>
          </a:p>
        </p:txBody>
      </p:sp>
      <p:sp>
        <p:nvSpPr>
          <p:cNvPr id="80" name="모서리가 둥근 직사각형 79"/>
          <p:cNvSpPr/>
          <p:nvPr/>
        </p:nvSpPr>
        <p:spPr bwMode="auto">
          <a:xfrm>
            <a:off x="1892780" y="3573643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작업지시등록</a:t>
            </a:r>
            <a:endParaRPr lang="en-US" altLang="ko-KR" sz="1000" b="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 bwMode="auto">
          <a:xfrm>
            <a:off x="3917711" y="3573643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생산 관리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(Hidden)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4" name="꺾인 연결선 43"/>
          <p:cNvCxnSpPr>
            <a:stCxn id="72" idx="3"/>
            <a:endCxn id="73" idx="1"/>
          </p:cNvCxnSpPr>
          <p:nvPr/>
        </p:nvCxnSpPr>
        <p:spPr bwMode="auto">
          <a:xfrm flipV="1">
            <a:off x="2981444" y="2154062"/>
            <a:ext cx="256492" cy="548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91" name="꺾인 연결선 43"/>
          <p:cNvCxnSpPr>
            <a:endCxn id="78" idx="0"/>
          </p:cNvCxnSpPr>
          <p:nvPr/>
        </p:nvCxnSpPr>
        <p:spPr bwMode="auto">
          <a:xfrm rot="10800000" flipV="1">
            <a:off x="5119693" y="1655557"/>
            <a:ext cx="1312711" cy="295812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triangle" w="sm" len="sm"/>
          </a:ln>
          <a:effectLst/>
        </p:spPr>
      </p:cxnSp>
      <p:grpSp>
        <p:nvGrpSpPr>
          <p:cNvPr id="92" name="그룹 167"/>
          <p:cNvGrpSpPr>
            <a:grpSpLocks/>
          </p:cNvGrpSpPr>
          <p:nvPr/>
        </p:nvGrpSpPr>
        <p:grpSpPr bwMode="auto">
          <a:xfrm>
            <a:off x="247561" y="2159550"/>
            <a:ext cx="1653883" cy="1134800"/>
            <a:chOff x="8466191" y="1409135"/>
            <a:chExt cx="1654179" cy="1225353"/>
          </a:xfrm>
        </p:grpSpPr>
        <p:sp>
          <p:nvSpPr>
            <p:cNvPr id="94" name="타원 93"/>
            <p:cNvSpPr/>
            <p:nvPr/>
          </p:nvSpPr>
          <p:spPr bwMode="auto">
            <a:xfrm>
              <a:off x="8466191" y="2041382"/>
              <a:ext cx="758961" cy="593106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기획</a:t>
              </a:r>
              <a:r>
                <a:rPr lang="en-US" altLang="ko-KR" sz="1000" b="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영업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95" name="꺾인 연결선 94"/>
            <p:cNvCxnSpPr>
              <a:stCxn id="94" idx="6"/>
              <a:endCxn id="72" idx="1"/>
            </p:cNvCxnSpPr>
            <p:nvPr/>
          </p:nvCxnSpPr>
          <p:spPr bwMode="auto">
            <a:xfrm flipV="1">
              <a:off x="9225152" y="1409135"/>
              <a:ext cx="895218" cy="928800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cxnSp>
        <p:nvCxnSpPr>
          <p:cNvPr id="101" name="직선 연결선 100"/>
          <p:cNvCxnSpPr/>
          <p:nvPr/>
        </p:nvCxnSpPr>
        <p:spPr bwMode="auto">
          <a:xfrm>
            <a:off x="1217585" y="1313765"/>
            <a:ext cx="0" cy="508556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10" name="Rectangle 108"/>
          <p:cNvSpPr>
            <a:spLocks noChangeArrowheads="1"/>
          </p:cNvSpPr>
          <p:nvPr/>
        </p:nvSpPr>
        <p:spPr bwMode="auto">
          <a:xfrm>
            <a:off x="218854" y="1268760"/>
            <a:ext cx="9504675" cy="5220580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1" name="AutoShape 110"/>
          <p:cNvSpPr>
            <a:spLocks noChangeArrowheads="1"/>
          </p:cNvSpPr>
          <p:nvPr/>
        </p:nvSpPr>
        <p:spPr bwMode="auto">
          <a:xfrm>
            <a:off x="8678770" y="1549685"/>
            <a:ext cx="858838" cy="609600"/>
          </a:xfrm>
          <a:prstGeom prst="roundRect">
            <a:avLst>
              <a:gd name="adj" fmla="val 5727"/>
            </a:avLst>
          </a:prstGeom>
          <a:noFill/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8762908" y="1600485"/>
            <a:ext cx="179388" cy="14446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ko-KR" altLang="en-US" sz="9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AutoShape 77"/>
          <p:cNvSpPr>
            <a:spLocks noChangeArrowheads="1"/>
          </p:cNvSpPr>
          <p:nvPr/>
        </p:nvSpPr>
        <p:spPr bwMode="auto">
          <a:xfrm>
            <a:off x="8959758" y="1549685"/>
            <a:ext cx="66357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업무흐름</a:t>
            </a:r>
          </a:p>
        </p:txBody>
      </p:sp>
      <p:sp>
        <p:nvSpPr>
          <p:cNvPr id="116" name="AutoShape 77"/>
          <p:cNvSpPr>
            <a:spLocks noChangeArrowheads="1"/>
          </p:cNvSpPr>
          <p:nvPr/>
        </p:nvSpPr>
        <p:spPr bwMode="auto">
          <a:xfrm>
            <a:off x="8959758" y="1738598"/>
            <a:ext cx="66357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시스템 구현</a:t>
            </a:r>
          </a:p>
        </p:txBody>
      </p:sp>
      <p:pic>
        <p:nvPicPr>
          <p:cNvPr id="117" name="Picture 320" descr="C:\Documents and Settings\kej\Local Settings\Temporary Internet Files\Content.IE5\E147QLU5\MCj04413620000[1]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740683" y="1983073"/>
            <a:ext cx="215900" cy="13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" name="AutoShape 77"/>
          <p:cNvSpPr>
            <a:spLocks noChangeArrowheads="1"/>
          </p:cNvSpPr>
          <p:nvPr/>
        </p:nvSpPr>
        <p:spPr bwMode="auto">
          <a:xfrm>
            <a:off x="8959758" y="1908460"/>
            <a:ext cx="661988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 dirty="0">
                <a:latin typeface="맑은 고딕" pitchFamily="50" charset="-127"/>
                <a:ea typeface="맑은 고딕" pitchFamily="50" charset="-127"/>
              </a:rPr>
              <a:t>주요 특징</a:t>
            </a:r>
          </a:p>
        </p:txBody>
      </p:sp>
      <p:cxnSp>
        <p:nvCxnSpPr>
          <p:cNvPr id="122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8845458" y="1870360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grpSp>
        <p:nvGrpSpPr>
          <p:cNvPr id="40" name="그룹 39"/>
          <p:cNvGrpSpPr/>
          <p:nvPr/>
        </p:nvGrpSpPr>
        <p:grpSpPr>
          <a:xfrm>
            <a:off x="3785932" y="4078140"/>
            <a:ext cx="1523927" cy="855571"/>
            <a:chOff x="3636447" y="4117962"/>
            <a:chExt cx="1523927" cy="855571"/>
          </a:xfrm>
        </p:grpSpPr>
        <p:sp>
          <p:nvSpPr>
            <p:cNvPr id="129" name="모서리가 둥근 직사각형 39"/>
            <p:cNvSpPr>
              <a:spLocks noChangeArrowheads="1"/>
            </p:cNvSpPr>
            <p:nvPr/>
          </p:nvSpPr>
          <p:spPr bwMode="auto">
            <a:xfrm>
              <a:off x="3636447" y="4139638"/>
              <a:ext cx="1523927" cy="833895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130035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000" b="0" dirty="0" smtClean="0">
                  <a:latin typeface="맑은 고딕" pitchFamily="50" charset="-127"/>
                  <a:ea typeface="맑은 고딕" pitchFamily="50" charset="-127"/>
                </a:rPr>
                <a:t>S-ONE 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시스템 연계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1" name="모서리가 둥근 직사각형 41"/>
            <p:cNvSpPr>
              <a:spLocks noChangeArrowheads="1"/>
            </p:cNvSpPr>
            <p:nvPr/>
          </p:nvSpPr>
          <p:spPr bwMode="auto">
            <a:xfrm>
              <a:off x="3690984" y="4329099"/>
              <a:ext cx="1411389" cy="60935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FILE NO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관리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원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부자재 소요 정보 관리</a:t>
              </a:r>
              <a:endParaRPr lang="en-US" altLang="ko-KR" sz="700" b="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생산형태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환율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결재조건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등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원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부자재 구매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관리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6" name="모서리가 둥근 직사각형 135"/>
          <p:cNvSpPr/>
          <p:nvPr/>
        </p:nvSpPr>
        <p:spPr bwMode="auto">
          <a:xfrm>
            <a:off x="5046371" y="5312073"/>
            <a:ext cx="117001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기획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MD </a:t>
            </a:r>
            <a:r>
              <a:rPr lang="en-US" altLang="ko-KR" sz="1000" b="0" dirty="0" smtClean="0">
                <a:latin typeface="맑은 고딕" pitchFamily="50" charset="-127"/>
                <a:ea typeface="맑은 고딕" pitchFamily="50" charset="-127"/>
              </a:rPr>
              <a:t>Confirm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모서리가 둥근 직사각형 136"/>
          <p:cNvSpPr/>
          <p:nvPr/>
        </p:nvSpPr>
        <p:spPr bwMode="auto">
          <a:xfrm>
            <a:off x="5752044" y="3576090"/>
            <a:ext cx="1305146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예상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생산사전원가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2" name="TextBox 94"/>
          <p:cNvSpPr txBox="1">
            <a:spLocks noChangeArrowheads="1"/>
          </p:cNvSpPr>
          <p:nvPr/>
        </p:nvSpPr>
        <p:spPr bwMode="auto">
          <a:xfrm>
            <a:off x="5130310" y="6088747"/>
            <a:ext cx="947815" cy="220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buSzPct val="70000"/>
            </a:pPr>
            <a:r>
              <a:rPr lang="ko-KR" altLang="en-US" sz="800" b="0" dirty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원가</a:t>
            </a:r>
            <a:r>
              <a:rPr lang="en-US" altLang="ko-KR" sz="800" b="0" dirty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소매가결정</a:t>
            </a:r>
          </a:p>
        </p:txBody>
      </p:sp>
      <p:sp>
        <p:nvSpPr>
          <p:cNvPr id="143" name="TextBox 95"/>
          <p:cNvSpPr txBox="1">
            <a:spLocks noChangeArrowheads="1"/>
          </p:cNvSpPr>
          <p:nvPr/>
        </p:nvSpPr>
        <p:spPr bwMode="auto">
          <a:xfrm>
            <a:off x="4953000" y="5108318"/>
            <a:ext cx="810090" cy="210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buSzPct val="70000"/>
            </a:pPr>
            <a:r>
              <a:rPr lang="ko-KR" altLang="en-US" sz="800" b="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원가 </a:t>
            </a:r>
            <a:r>
              <a:rPr lang="ko-KR" altLang="en-US" sz="800" b="0" dirty="0" err="1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재산출</a:t>
            </a:r>
            <a:endParaRPr lang="ko-KR" altLang="en-US" sz="800" b="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4" name="꺾인 연결선 43"/>
          <p:cNvCxnSpPr>
            <a:stCxn id="136" idx="0"/>
            <a:endCxn id="137" idx="1"/>
          </p:cNvCxnSpPr>
          <p:nvPr/>
        </p:nvCxnSpPr>
        <p:spPr bwMode="auto">
          <a:xfrm rot="5400000" flipH="1" flipV="1">
            <a:off x="4923582" y="4483611"/>
            <a:ext cx="1536257" cy="120668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triangle" w="sm" len="sm"/>
          </a:ln>
          <a:effectLst/>
        </p:spPr>
      </p:cxnSp>
      <p:sp>
        <p:nvSpPr>
          <p:cNvPr id="146" name="모서리가 둥근 직사각형 145"/>
          <p:cNvSpPr/>
          <p:nvPr/>
        </p:nvSpPr>
        <p:spPr bwMode="auto">
          <a:xfrm>
            <a:off x="6033240" y="5840703"/>
            <a:ext cx="1080000" cy="39945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>
              <a:lnSpc>
                <a:spcPts val="5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소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비자가 </a:t>
            </a: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확정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8" name="꺾인 연결선 43"/>
          <p:cNvCxnSpPr>
            <a:stCxn id="73" idx="3"/>
            <a:endCxn id="78" idx="1"/>
          </p:cNvCxnSpPr>
          <p:nvPr/>
        </p:nvCxnSpPr>
        <p:spPr bwMode="auto">
          <a:xfrm flipV="1">
            <a:off x="4317936" y="2151095"/>
            <a:ext cx="261756" cy="296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71" name="꺾인 연결선 43"/>
          <p:cNvCxnSpPr>
            <a:stCxn id="78" idx="3"/>
            <a:endCxn id="79" idx="1"/>
          </p:cNvCxnSpPr>
          <p:nvPr/>
        </p:nvCxnSpPr>
        <p:spPr bwMode="auto">
          <a:xfrm flipV="1">
            <a:off x="5659692" y="2146658"/>
            <a:ext cx="256492" cy="443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82" name="꺾인 연결선 43"/>
          <p:cNvCxnSpPr>
            <a:stCxn id="79" idx="0"/>
          </p:cNvCxnSpPr>
          <p:nvPr/>
        </p:nvCxnSpPr>
        <p:spPr bwMode="auto">
          <a:xfrm flipV="1">
            <a:off x="6456184" y="1655556"/>
            <a:ext cx="0" cy="291376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sm" len="sm"/>
          </a:ln>
          <a:effectLst/>
        </p:spPr>
      </p:cxnSp>
      <p:sp>
        <p:nvSpPr>
          <p:cNvPr id="99" name="TextBox 94"/>
          <p:cNvSpPr txBox="1">
            <a:spLocks noChangeArrowheads="1"/>
          </p:cNvSpPr>
          <p:nvPr/>
        </p:nvSpPr>
        <p:spPr bwMode="auto">
          <a:xfrm>
            <a:off x="1828476" y="1552991"/>
            <a:ext cx="1260573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이전 매출분석 자료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패션동향예측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 bwMode="auto">
          <a:xfrm>
            <a:off x="7248375" y="1945452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생산결정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3" name="꺾인 연결선 43"/>
          <p:cNvCxnSpPr>
            <a:stCxn id="79" idx="3"/>
            <a:endCxn id="100" idx="1"/>
          </p:cNvCxnSpPr>
          <p:nvPr/>
        </p:nvCxnSpPr>
        <p:spPr bwMode="auto">
          <a:xfrm flipV="1">
            <a:off x="6996184" y="2145178"/>
            <a:ext cx="252191" cy="148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grpSp>
        <p:nvGrpSpPr>
          <p:cNvPr id="39" name="그룹 38"/>
          <p:cNvGrpSpPr/>
          <p:nvPr/>
        </p:nvGrpSpPr>
        <p:grpSpPr>
          <a:xfrm>
            <a:off x="1417333" y="4066078"/>
            <a:ext cx="2230521" cy="1445721"/>
            <a:chOff x="6581248" y="2766433"/>
            <a:chExt cx="2118494" cy="1445721"/>
          </a:xfrm>
        </p:grpSpPr>
        <p:sp>
          <p:nvSpPr>
            <p:cNvPr id="119" name="모서리가 둥근 직사각형 39"/>
            <p:cNvSpPr>
              <a:spLocks noChangeArrowheads="1"/>
            </p:cNvSpPr>
            <p:nvPr/>
          </p:nvSpPr>
          <p:spPr bwMode="auto">
            <a:xfrm>
              <a:off x="6581248" y="2787070"/>
              <a:ext cx="2118494" cy="1425084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0" name="TextBox 97"/>
            <p:cNvSpPr txBox="1">
              <a:spLocks noChangeArrowheads="1"/>
            </p:cNvSpPr>
            <p:nvPr/>
          </p:nvSpPr>
          <p:spPr bwMode="auto">
            <a:xfrm>
              <a:off x="6636810" y="2766433"/>
              <a:ext cx="112723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latin typeface="맑은 고딕" pitchFamily="50" charset="-127"/>
                  <a:ea typeface="맑은 고딕" pitchFamily="50" charset="-127"/>
                </a:rPr>
                <a:t>작업지시서 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등록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모서리가 둥근 직사각형 41"/>
            <p:cNvSpPr>
              <a:spLocks noChangeArrowheads="1"/>
            </p:cNvSpPr>
            <p:nvPr/>
          </p:nvSpPr>
          <p:spPr bwMode="auto">
            <a:xfrm>
              <a:off x="6638344" y="2983270"/>
              <a:ext cx="2011035" cy="1171310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err="1" smtClean="0">
                  <a:latin typeface="맑은 고딕" pitchFamily="50" charset="-127"/>
                  <a:ea typeface="맑은 고딕" pitchFamily="50" charset="-127"/>
                </a:rPr>
                <a:t>칼라별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생산 수량 관리</a:t>
              </a:r>
              <a:endParaRPr lang="ko-KR" altLang="en-US" sz="700" b="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디자인</a:t>
              </a:r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700" b="0" dirty="0">
                  <a:latin typeface="맑은 고딕" pitchFamily="50" charset="-127"/>
                  <a:ea typeface="맑은 고딕" pitchFamily="50" charset="-127"/>
                </a:rPr>
                <a:t>패턴 등의 이미지 관리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원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부자재의 기본 정보 관리</a:t>
              </a:r>
              <a:endParaRPr lang="en-US" altLang="ko-KR" sz="700" b="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사이즈의 부위별 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SPEC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정보 관리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입고 일정 관리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생산결정시 작업지시서 등록 제품코드 확정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>
                  <a:solidFill>
                    <a:srgbClr val="404040"/>
                  </a:solidFill>
                  <a:latin typeface="맑은 고딕" pitchFamily="50" charset="-127"/>
                  <a:ea typeface="맑은 고딕" pitchFamily="50" charset="-127"/>
                </a:rPr>
                <a:t>샘플에 대한 작업지시 관리 필요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34" name="꺾인 연결선 43"/>
          <p:cNvCxnSpPr>
            <a:stCxn id="80" idx="3"/>
            <a:endCxn id="83" idx="1"/>
          </p:cNvCxnSpPr>
          <p:nvPr/>
        </p:nvCxnSpPr>
        <p:spPr bwMode="auto">
          <a:xfrm>
            <a:off x="2972780" y="3773369"/>
            <a:ext cx="944931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39" name="꺾인 연결선 43"/>
          <p:cNvCxnSpPr>
            <a:stCxn id="83" idx="3"/>
            <a:endCxn id="137" idx="1"/>
          </p:cNvCxnSpPr>
          <p:nvPr/>
        </p:nvCxnSpPr>
        <p:spPr bwMode="auto">
          <a:xfrm>
            <a:off x="5124553" y="3773369"/>
            <a:ext cx="627491" cy="244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140" name="모서리가 둥근 직사각형 139"/>
          <p:cNvSpPr/>
          <p:nvPr/>
        </p:nvSpPr>
        <p:spPr bwMode="auto">
          <a:xfrm>
            <a:off x="7614269" y="3576660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생산 진행 관리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45" name="그룹 144"/>
          <p:cNvGrpSpPr/>
          <p:nvPr/>
        </p:nvGrpSpPr>
        <p:grpSpPr>
          <a:xfrm>
            <a:off x="7631678" y="4045953"/>
            <a:ext cx="1429312" cy="777525"/>
            <a:chOff x="3652358" y="4117962"/>
            <a:chExt cx="1429312" cy="777525"/>
          </a:xfrm>
        </p:grpSpPr>
        <p:sp>
          <p:nvSpPr>
            <p:cNvPr id="148" name="모서리가 둥근 직사각형 39"/>
            <p:cNvSpPr>
              <a:spLocks noChangeArrowheads="1"/>
            </p:cNvSpPr>
            <p:nvPr/>
          </p:nvSpPr>
          <p:spPr bwMode="auto">
            <a:xfrm>
              <a:off x="3652358" y="4138599"/>
              <a:ext cx="1429312" cy="756888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99899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000" b="0" dirty="0" smtClean="0">
                  <a:latin typeface="맑은 고딕" pitchFamily="50" charset="-127"/>
                  <a:ea typeface="맑은 고딕" pitchFamily="50" charset="-127"/>
                </a:rPr>
                <a:t>S-ONE 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모서리가 둥근 직사각형 41"/>
            <p:cNvSpPr>
              <a:spLocks noChangeArrowheads="1"/>
            </p:cNvSpPr>
            <p:nvPr/>
          </p:nvSpPr>
          <p:spPr bwMode="auto">
            <a:xfrm>
              <a:off x="3707918" y="4329100"/>
              <a:ext cx="1300357" cy="453236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생산 진척 사항 관리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생산 원가 관리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1" name="모서리가 둥근 직사각형 150"/>
          <p:cNvSpPr/>
          <p:nvPr/>
        </p:nvSpPr>
        <p:spPr bwMode="auto">
          <a:xfrm>
            <a:off x="5821737" y="4307120"/>
            <a:ext cx="117001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전자결재 및 확정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2" name="꺾인 연결선 43"/>
          <p:cNvCxnSpPr>
            <a:stCxn id="137" idx="2"/>
            <a:endCxn id="151" idx="0"/>
          </p:cNvCxnSpPr>
          <p:nvPr/>
        </p:nvCxnSpPr>
        <p:spPr bwMode="auto">
          <a:xfrm>
            <a:off x="6404617" y="3975542"/>
            <a:ext cx="2125" cy="33157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56" name="꺾인 연결선 43"/>
          <p:cNvCxnSpPr>
            <a:stCxn id="137" idx="3"/>
            <a:endCxn id="140" idx="1"/>
          </p:cNvCxnSpPr>
          <p:nvPr/>
        </p:nvCxnSpPr>
        <p:spPr bwMode="auto">
          <a:xfrm>
            <a:off x="7057190" y="3775816"/>
            <a:ext cx="557079" cy="5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64" name="꺾인 연결선 43"/>
          <p:cNvCxnSpPr>
            <a:stCxn id="151" idx="2"/>
            <a:endCxn id="136" idx="3"/>
          </p:cNvCxnSpPr>
          <p:nvPr/>
        </p:nvCxnSpPr>
        <p:spPr bwMode="auto">
          <a:xfrm rot="5400000">
            <a:off x="5908949" y="5014005"/>
            <a:ext cx="805227" cy="19036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167" name="Line 50"/>
          <p:cNvSpPr>
            <a:spLocks noChangeShapeType="1"/>
          </p:cNvSpPr>
          <p:nvPr/>
        </p:nvSpPr>
        <p:spPr bwMode="gray">
          <a:xfrm>
            <a:off x="8830696" y="3769167"/>
            <a:ext cx="655578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69" name="TextBox 94"/>
          <p:cNvSpPr txBox="1">
            <a:spLocks noChangeArrowheads="1"/>
          </p:cNvSpPr>
          <p:nvPr/>
        </p:nvSpPr>
        <p:spPr bwMode="auto">
          <a:xfrm>
            <a:off x="8750092" y="3578148"/>
            <a:ext cx="947815" cy="210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1000"/>
              </a:lnSpc>
              <a:buSzPct val="70000"/>
            </a:pPr>
            <a:r>
              <a:rPr lang="ko-KR" altLang="en-US" sz="80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생산금액 </a:t>
            </a:r>
            <a:r>
              <a:rPr lang="en-US" altLang="ko-KR" sz="800" dirty="0" smtClean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I/F</a:t>
            </a:r>
            <a:endParaRPr lang="ko-KR" altLang="en-US" sz="800" b="0" dirty="0">
              <a:solidFill>
                <a:srgbClr val="40404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8" name="꺾인 연결선 43"/>
          <p:cNvCxnSpPr>
            <a:stCxn id="136" idx="2"/>
            <a:endCxn id="146" idx="1"/>
          </p:cNvCxnSpPr>
          <p:nvPr/>
        </p:nvCxnSpPr>
        <p:spPr bwMode="auto">
          <a:xfrm rot="16200000" flipH="1">
            <a:off x="5667856" y="5675045"/>
            <a:ext cx="328905" cy="401864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82" name="꺾인 연결선 181"/>
          <p:cNvCxnSpPr>
            <a:stCxn id="94" idx="6"/>
            <a:endCxn id="80" idx="1"/>
          </p:cNvCxnSpPr>
          <p:nvPr/>
        </p:nvCxnSpPr>
        <p:spPr bwMode="auto">
          <a:xfrm>
            <a:off x="1006383" y="3019711"/>
            <a:ext cx="886397" cy="753658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pic>
        <p:nvPicPr>
          <p:cNvPr id="185" name="그림 77" descr="별1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68310" y="4041384"/>
            <a:ext cx="58578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8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1981082" y="3669371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sp>
        <p:nvSpPr>
          <p:cNvPr id="215" name="모서리가 둥근 직사각형 214"/>
          <p:cNvSpPr/>
          <p:nvPr/>
        </p:nvSpPr>
        <p:spPr bwMode="auto">
          <a:xfrm>
            <a:off x="1892977" y="2711843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제품추가생산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TextBox 94"/>
          <p:cNvSpPr txBox="1">
            <a:spLocks noChangeArrowheads="1"/>
          </p:cNvSpPr>
          <p:nvPr/>
        </p:nvSpPr>
        <p:spPr bwMode="auto">
          <a:xfrm>
            <a:off x="3510986" y="2663413"/>
            <a:ext cx="1260573" cy="51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SKU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부족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추가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사입제품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REPEAT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결정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7" name="꺾인 연결선 43"/>
          <p:cNvCxnSpPr>
            <a:stCxn id="216" idx="1"/>
            <a:endCxn id="215" idx="3"/>
          </p:cNvCxnSpPr>
          <p:nvPr/>
        </p:nvCxnSpPr>
        <p:spPr bwMode="auto">
          <a:xfrm flipH="1" flipV="1">
            <a:off x="2972977" y="2911569"/>
            <a:ext cx="538009" cy="729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220" name="꺾인 연결선 43"/>
          <p:cNvCxnSpPr>
            <a:stCxn id="215" idx="2"/>
            <a:endCxn id="80" idx="0"/>
          </p:cNvCxnSpPr>
          <p:nvPr/>
        </p:nvCxnSpPr>
        <p:spPr bwMode="auto">
          <a:xfrm flipH="1">
            <a:off x="2432780" y="3111295"/>
            <a:ext cx="197" cy="46234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67" name="모서리가 둥근 직사각형 66"/>
          <p:cNvSpPr/>
          <p:nvPr/>
        </p:nvSpPr>
        <p:spPr bwMode="auto">
          <a:xfrm>
            <a:off x="7687238" y="5049180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(WMS)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입고예정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꺾인 연결선 4"/>
          <p:cNvCxnSpPr>
            <a:stCxn id="140" idx="1"/>
            <a:endCxn id="67" idx="1"/>
          </p:cNvCxnSpPr>
          <p:nvPr/>
        </p:nvCxnSpPr>
        <p:spPr bwMode="auto">
          <a:xfrm rot="10800000" flipH="1" flipV="1">
            <a:off x="7614268" y="3776386"/>
            <a:ext cx="72969" cy="1472520"/>
          </a:xfrm>
          <a:prstGeom prst="bentConnector3">
            <a:avLst>
              <a:gd name="adj1" fmla="val -31328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74" name="그룹 73"/>
          <p:cNvGrpSpPr/>
          <p:nvPr/>
        </p:nvGrpSpPr>
        <p:grpSpPr>
          <a:xfrm>
            <a:off x="7636885" y="5487214"/>
            <a:ext cx="1681600" cy="912116"/>
            <a:chOff x="3652358" y="4117962"/>
            <a:chExt cx="1429312" cy="777525"/>
          </a:xfrm>
        </p:grpSpPr>
        <p:sp>
          <p:nvSpPr>
            <p:cNvPr id="75" name="모서리가 둥근 직사각형 39"/>
            <p:cNvSpPr>
              <a:spLocks noChangeArrowheads="1"/>
            </p:cNvSpPr>
            <p:nvPr/>
          </p:nvSpPr>
          <p:spPr bwMode="auto">
            <a:xfrm>
              <a:off x="3652358" y="4138599"/>
              <a:ext cx="1429312" cy="756888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1291929" cy="2098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F-ONE / </a:t>
              </a:r>
              <a:r>
                <a:rPr lang="en-US" altLang="ko-KR" sz="1000" b="0" dirty="0" smtClean="0">
                  <a:latin typeface="맑은 고딕" pitchFamily="50" charset="-127"/>
                  <a:ea typeface="맑은 고딕" pitchFamily="50" charset="-127"/>
                </a:rPr>
                <a:t>S-ONE 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모서리가 둥근 직사각형 41"/>
            <p:cNvSpPr>
              <a:spLocks noChangeArrowheads="1"/>
            </p:cNvSpPr>
            <p:nvPr/>
          </p:nvSpPr>
          <p:spPr bwMode="auto">
            <a:xfrm>
              <a:off x="3707918" y="4329100"/>
              <a:ext cx="1300357" cy="453236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사전원가결재</a:t>
              </a:r>
              <a:r>
                <a:rPr lang="en-US" altLang="ko-KR" sz="700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- MD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결재 필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소비자가 </a:t>
              </a:r>
              <a:r>
                <a:rPr lang="ko-KR" altLang="en-US" sz="700" b="0" dirty="0" err="1" smtClean="0">
                  <a:latin typeface="맑은 고딕" pitchFamily="50" charset="-127"/>
                  <a:ea typeface="맑은 고딕" pitchFamily="50" charset="-127"/>
                </a:rPr>
                <a:t>확정여부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 필</a:t>
              </a:r>
              <a:endParaRPr lang="en-US" altLang="ko-KR" sz="700" b="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생산공임단가 존재 필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err="1" smtClean="0">
                  <a:latin typeface="맑은 고딕" pitchFamily="50" charset="-127"/>
                  <a:ea typeface="맑은 고딕" pitchFamily="50" charset="-127"/>
                </a:rPr>
                <a:t>생산처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ID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존재 필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81" name="사각형 설명선 80"/>
          <p:cNvSpPr/>
          <p:nvPr/>
        </p:nvSpPr>
        <p:spPr>
          <a:xfrm>
            <a:off x="3095184" y="1400463"/>
            <a:ext cx="1712735" cy="254443"/>
          </a:xfrm>
          <a:prstGeom prst="wedgeRectCallout">
            <a:avLst>
              <a:gd name="adj1" fmla="val -10234"/>
              <a:gd name="adj2" fmla="val 158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6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개월 정도 앞서서 시즌 기획</a:t>
            </a:r>
          </a:p>
        </p:txBody>
      </p:sp>
      <p:sp>
        <p:nvSpPr>
          <p:cNvPr id="85" name="사각형 설명선 84"/>
          <p:cNvSpPr/>
          <p:nvPr/>
        </p:nvSpPr>
        <p:spPr>
          <a:xfrm>
            <a:off x="317817" y="3429142"/>
            <a:ext cx="1439939" cy="258144"/>
          </a:xfrm>
          <a:prstGeom prst="wedgeRectCallout">
            <a:avLst>
              <a:gd name="adj1" fmla="val -31071"/>
              <a:gd name="adj2" fmla="val -17587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브랜드기획담당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86" name="사각형 설명선 85"/>
          <p:cNvSpPr/>
          <p:nvPr/>
        </p:nvSpPr>
        <p:spPr>
          <a:xfrm>
            <a:off x="5916184" y="3175640"/>
            <a:ext cx="1647106" cy="258144"/>
          </a:xfrm>
          <a:prstGeom prst="wedgeRectCallout">
            <a:avLst>
              <a:gd name="adj1" fmla="val -24130"/>
              <a:gd name="adj2" fmla="val 15281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사전원가결재 메뉴에서 관리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사각형 설명선 86"/>
          <p:cNvSpPr/>
          <p:nvPr/>
        </p:nvSpPr>
        <p:spPr>
          <a:xfrm>
            <a:off x="7743310" y="3131091"/>
            <a:ext cx="1908380" cy="258144"/>
          </a:xfrm>
          <a:prstGeom prst="wedgeRectCallout">
            <a:avLst>
              <a:gd name="adj1" fmla="val 18492"/>
              <a:gd name="adj2" fmla="val 1464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F-ONE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생산원가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입고원가로 반영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089049" y="6045012"/>
            <a:ext cx="2011668" cy="40503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F-ONE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생산지시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(T_STYLE)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에서 관리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S-ONE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으로부터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I/F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수신 후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Update</a:t>
            </a:r>
            <a:endParaRPr lang="ko-KR" altLang="en-US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7850659" y="6005384"/>
            <a:ext cx="593125" cy="140043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" name="꺾인 연결선 5"/>
          <p:cNvCxnSpPr>
            <a:stCxn id="2" idx="2"/>
          </p:cNvCxnSpPr>
          <p:nvPr/>
        </p:nvCxnSpPr>
        <p:spPr bwMode="auto">
          <a:xfrm rot="5400000">
            <a:off x="6507894" y="4736757"/>
            <a:ext cx="230659" cy="3047998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1813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7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작업지시서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5" y="738114"/>
            <a:ext cx="9594685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>
                <a:latin typeface="+mn-ea"/>
                <a:ea typeface="+mn-ea"/>
              </a:rPr>
              <a:t> 샘플 품평회 이후 생산을 진행할 제품이 확정되면 생산 수량 결정 후 작업지시서를 등록 </a:t>
            </a:r>
            <a:endParaRPr kumimoji="0" lang="en-US" altLang="ko-KR" sz="1200" b="1" dirty="0"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689765" y="1413570"/>
            <a:ext cx="1200169" cy="347821"/>
            <a:chOff x="1074208" y="1567755"/>
            <a:chExt cx="1200169" cy="347821"/>
          </a:xfrm>
        </p:grpSpPr>
        <p:sp>
          <p:nvSpPr>
            <p:cNvPr id="261" name="Text Box 55"/>
            <p:cNvSpPr txBox="1">
              <a:spLocks noChangeArrowheads="1"/>
            </p:cNvSpPr>
            <p:nvPr/>
          </p:nvSpPr>
          <p:spPr bwMode="gray">
            <a:xfrm>
              <a:off x="1320270" y="1669355"/>
              <a:ext cx="95410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rgbClr val="0000CC"/>
                  </a:solidFill>
                  <a:latin typeface="+mn-ea"/>
                  <a:ea typeface="+mn-ea"/>
                </a:rPr>
                <a:t>브랜드담당자</a:t>
              </a:r>
            </a:p>
          </p:txBody>
        </p:sp>
        <p:grpSp>
          <p:nvGrpSpPr>
            <p:cNvPr id="262" name="Group 100"/>
            <p:cNvGrpSpPr>
              <a:grpSpLocks/>
            </p:cNvGrpSpPr>
            <p:nvPr/>
          </p:nvGrpSpPr>
          <p:grpSpPr bwMode="auto">
            <a:xfrm>
              <a:off x="1074208" y="1567755"/>
              <a:ext cx="274637" cy="323850"/>
              <a:chOff x="395" y="2124"/>
              <a:chExt cx="209" cy="318"/>
            </a:xfrm>
          </p:grpSpPr>
          <p:grpSp>
            <p:nvGrpSpPr>
              <p:cNvPr id="263" name="Group 101"/>
              <p:cNvGrpSpPr>
                <a:grpSpLocks/>
              </p:cNvGrpSpPr>
              <p:nvPr/>
            </p:nvGrpSpPr>
            <p:grpSpPr bwMode="auto">
              <a:xfrm>
                <a:off x="420" y="2124"/>
                <a:ext cx="184" cy="318"/>
                <a:chOff x="282" y="3570"/>
                <a:chExt cx="240" cy="474"/>
              </a:xfrm>
            </p:grpSpPr>
            <p:sp>
              <p:nvSpPr>
                <p:cNvPr id="276" name="Oval 102"/>
                <p:cNvSpPr>
                  <a:spLocks noChangeArrowheads="1"/>
                </p:cNvSpPr>
                <p:nvPr/>
              </p:nvSpPr>
              <p:spPr bwMode="gray">
                <a:xfrm>
                  <a:off x="330" y="3570"/>
                  <a:ext cx="132" cy="13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7" name="Line 103"/>
                <p:cNvSpPr>
                  <a:spLocks noChangeShapeType="1"/>
                </p:cNvSpPr>
                <p:nvPr/>
              </p:nvSpPr>
              <p:spPr bwMode="gray">
                <a:xfrm>
                  <a:off x="282" y="37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8" name="Line 104"/>
                <p:cNvSpPr>
                  <a:spLocks noChangeShapeType="1"/>
                </p:cNvSpPr>
                <p:nvPr/>
              </p:nvSpPr>
              <p:spPr bwMode="gray">
                <a:xfrm>
                  <a:off x="396" y="3708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9" name="Line 105"/>
                <p:cNvSpPr>
                  <a:spLocks noChangeShapeType="1"/>
                </p:cNvSpPr>
                <p:nvPr/>
              </p:nvSpPr>
              <p:spPr bwMode="gray">
                <a:xfrm flipH="1">
                  <a:off x="288" y="3906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80" name="Line 106"/>
                <p:cNvSpPr>
                  <a:spLocks noChangeShapeType="1"/>
                </p:cNvSpPr>
                <p:nvPr/>
              </p:nvSpPr>
              <p:spPr bwMode="gray">
                <a:xfrm>
                  <a:off x="400" y="3904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4" name="Group 107"/>
              <p:cNvGrpSpPr>
                <a:grpSpLocks/>
              </p:cNvGrpSpPr>
              <p:nvPr/>
            </p:nvGrpSpPr>
            <p:grpSpPr bwMode="auto">
              <a:xfrm>
                <a:off x="395" y="2180"/>
                <a:ext cx="45" cy="127"/>
                <a:chOff x="2597" y="1682"/>
                <a:chExt cx="183" cy="403"/>
              </a:xfrm>
            </p:grpSpPr>
            <p:sp>
              <p:nvSpPr>
                <p:cNvPr id="272" name="Freeform 108"/>
                <p:cNvSpPr>
                  <a:spLocks/>
                </p:cNvSpPr>
                <p:nvPr/>
              </p:nvSpPr>
              <p:spPr bwMode="auto">
                <a:xfrm>
                  <a:off x="2632" y="1739"/>
                  <a:ext cx="84" cy="62"/>
                </a:xfrm>
                <a:custGeom>
                  <a:avLst/>
                  <a:gdLst>
                    <a:gd name="T0" fmla="*/ 45 w 169"/>
                    <a:gd name="T1" fmla="*/ 0 h 124"/>
                    <a:gd name="T2" fmla="*/ 0 w 169"/>
                    <a:gd name="T3" fmla="*/ 57 h 124"/>
                    <a:gd name="T4" fmla="*/ 34 w 169"/>
                    <a:gd name="T5" fmla="*/ 124 h 124"/>
                    <a:gd name="T6" fmla="*/ 78 w 169"/>
                    <a:gd name="T7" fmla="*/ 103 h 124"/>
                    <a:gd name="T8" fmla="*/ 102 w 169"/>
                    <a:gd name="T9" fmla="*/ 57 h 124"/>
                    <a:gd name="T10" fmla="*/ 169 w 169"/>
                    <a:gd name="T11" fmla="*/ 46 h 124"/>
                    <a:gd name="T12" fmla="*/ 91 w 169"/>
                    <a:gd name="T13" fmla="*/ 0 h 124"/>
                    <a:gd name="T14" fmla="*/ 45 w 169"/>
                    <a:gd name="T15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9" h="124">
                      <a:moveTo>
                        <a:pt x="45" y="0"/>
                      </a:moveTo>
                      <a:lnTo>
                        <a:pt x="0" y="57"/>
                      </a:lnTo>
                      <a:lnTo>
                        <a:pt x="34" y="124"/>
                      </a:lnTo>
                      <a:lnTo>
                        <a:pt x="78" y="103"/>
                      </a:lnTo>
                      <a:lnTo>
                        <a:pt x="102" y="57"/>
                      </a:lnTo>
                      <a:lnTo>
                        <a:pt x="169" y="46"/>
                      </a:lnTo>
                      <a:lnTo>
                        <a:pt x="91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E599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3" name="Freeform 109"/>
                <p:cNvSpPr>
                  <a:spLocks/>
                </p:cNvSpPr>
                <p:nvPr/>
              </p:nvSpPr>
              <p:spPr bwMode="auto">
                <a:xfrm rot="20633656" flipV="1">
                  <a:off x="2711" y="1790"/>
                  <a:ext cx="69" cy="295"/>
                </a:xfrm>
                <a:custGeom>
                  <a:avLst/>
                  <a:gdLst>
                    <a:gd name="T0" fmla="*/ 103 w 149"/>
                    <a:gd name="T1" fmla="*/ 0 h 194"/>
                    <a:gd name="T2" fmla="*/ 149 w 149"/>
                    <a:gd name="T3" fmla="*/ 23 h 194"/>
                    <a:gd name="T4" fmla="*/ 126 w 149"/>
                    <a:gd name="T5" fmla="*/ 49 h 194"/>
                    <a:gd name="T6" fmla="*/ 111 w 149"/>
                    <a:gd name="T7" fmla="*/ 71 h 194"/>
                    <a:gd name="T8" fmla="*/ 99 w 149"/>
                    <a:gd name="T9" fmla="*/ 88 h 194"/>
                    <a:gd name="T10" fmla="*/ 89 w 149"/>
                    <a:gd name="T11" fmla="*/ 103 h 194"/>
                    <a:gd name="T12" fmla="*/ 82 w 149"/>
                    <a:gd name="T13" fmla="*/ 120 h 194"/>
                    <a:gd name="T14" fmla="*/ 75 w 149"/>
                    <a:gd name="T15" fmla="*/ 138 h 194"/>
                    <a:gd name="T16" fmla="*/ 68 w 149"/>
                    <a:gd name="T17" fmla="*/ 163 h 194"/>
                    <a:gd name="T18" fmla="*/ 57 w 149"/>
                    <a:gd name="T19" fmla="*/ 194 h 194"/>
                    <a:gd name="T20" fmla="*/ 0 w 149"/>
                    <a:gd name="T21" fmla="*/ 194 h 194"/>
                    <a:gd name="T22" fmla="*/ 9 w 149"/>
                    <a:gd name="T23" fmla="*/ 168 h 194"/>
                    <a:gd name="T24" fmla="*/ 20 w 149"/>
                    <a:gd name="T25" fmla="*/ 143 h 194"/>
                    <a:gd name="T26" fmla="*/ 31 w 149"/>
                    <a:gd name="T27" fmla="*/ 118 h 194"/>
                    <a:gd name="T28" fmla="*/ 45 w 149"/>
                    <a:gd name="T29" fmla="*/ 94 h 194"/>
                    <a:gd name="T30" fmla="*/ 59 w 149"/>
                    <a:gd name="T31" fmla="*/ 69 h 194"/>
                    <a:gd name="T32" fmla="*/ 72 w 149"/>
                    <a:gd name="T33" fmla="*/ 46 h 194"/>
                    <a:gd name="T34" fmla="*/ 88 w 149"/>
                    <a:gd name="T35" fmla="*/ 23 h 194"/>
                    <a:gd name="T36" fmla="*/ 103 w 149"/>
                    <a:gd name="T3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94">
                      <a:moveTo>
                        <a:pt x="103" y="0"/>
                      </a:moveTo>
                      <a:lnTo>
                        <a:pt x="149" y="23"/>
                      </a:lnTo>
                      <a:lnTo>
                        <a:pt x="126" y="49"/>
                      </a:lnTo>
                      <a:lnTo>
                        <a:pt x="111" y="71"/>
                      </a:lnTo>
                      <a:lnTo>
                        <a:pt x="99" y="88"/>
                      </a:lnTo>
                      <a:lnTo>
                        <a:pt x="89" y="103"/>
                      </a:lnTo>
                      <a:lnTo>
                        <a:pt x="82" y="120"/>
                      </a:lnTo>
                      <a:lnTo>
                        <a:pt x="75" y="138"/>
                      </a:lnTo>
                      <a:lnTo>
                        <a:pt x="68" y="163"/>
                      </a:lnTo>
                      <a:lnTo>
                        <a:pt x="57" y="194"/>
                      </a:lnTo>
                      <a:lnTo>
                        <a:pt x="0" y="194"/>
                      </a:lnTo>
                      <a:lnTo>
                        <a:pt x="9" y="168"/>
                      </a:lnTo>
                      <a:lnTo>
                        <a:pt x="20" y="143"/>
                      </a:lnTo>
                      <a:lnTo>
                        <a:pt x="31" y="118"/>
                      </a:lnTo>
                      <a:lnTo>
                        <a:pt x="45" y="94"/>
                      </a:lnTo>
                      <a:lnTo>
                        <a:pt x="59" y="69"/>
                      </a:lnTo>
                      <a:lnTo>
                        <a:pt x="72" y="46"/>
                      </a:lnTo>
                      <a:lnTo>
                        <a:pt x="88" y="23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4" name="Freeform 110"/>
                <p:cNvSpPr>
                  <a:spLocks/>
                </p:cNvSpPr>
                <p:nvPr/>
              </p:nvSpPr>
              <p:spPr bwMode="auto">
                <a:xfrm>
                  <a:off x="2683" y="1704"/>
                  <a:ext cx="79" cy="109"/>
                </a:xfrm>
                <a:custGeom>
                  <a:avLst/>
                  <a:gdLst>
                    <a:gd name="T0" fmla="*/ 0 w 158"/>
                    <a:gd name="T1" fmla="*/ 138 h 216"/>
                    <a:gd name="T2" fmla="*/ 0 w 158"/>
                    <a:gd name="T3" fmla="*/ 195 h 216"/>
                    <a:gd name="T4" fmla="*/ 91 w 158"/>
                    <a:gd name="T5" fmla="*/ 216 h 216"/>
                    <a:gd name="T6" fmla="*/ 158 w 158"/>
                    <a:gd name="T7" fmla="*/ 183 h 216"/>
                    <a:gd name="T8" fmla="*/ 148 w 158"/>
                    <a:gd name="T9" fmla="*/ 103 h 216"/>
                    <a:gd name="T10" fmla="*/ 126 w 158"/>
                    <a:gd name="T11" fmla="*/ 81 h 216"/>
                    <a:gd name="T12" fmla="*/ 111 w 158"/>
                    <a:gd name="T13" fmla="*/ 66 h 216"/>
                    <a:gd name="T14" fmla="*/ 98 w 158"/>
                    <a:gd name="T15" fmla="*/ 53 h 216"/>
                    <a:gd name="T16" fmla="*/ 88 w 158"/>
                    <a:gd name="T17" fmla="*/ 44 h 216"/>
                    <a:gd name="T18" fmla="*/ 74 w 158"/>
                    <a:gd name="T19" fmla="*/ 35 h 216"/>
                    <a:gd name="T20" fmla="*/ 57 w 158"/>
                    <a:gd name="T21" fmla="*/ 26 h 216"/>
                    <a:gd name="T22" fmla="*/ 32 w 158"/>
                    <a:gd name="T23" fmla="*/ 14 h 216"/>
                    <a:gd name="T24" fmla="*/ 0 w 158"/>
                    <a:gd name="T25" fmla="*/ 0 h 216"/>
                    <a:gd name="T26" fmla="*/ 0 w 158"/>
                    <a:gd name="T27" fmla="*/ 64 h 216"/>
                    <a:gd name="T28" fmla="*/ 17 w 158"/>
                    <a:gd name="T29" fmla="*/ 72 h 216"/>
                    <a:gd name="T30" fmla="*/ 34 w 158"/>
                    <a:gd name="T31" fmla="*/ 81 h 216"/>
                    <a:gd name="T32" fmla="*/ 48 w 158"/>
                    <a:gd name="T33" fmla="*/ 92 h 216"/>
                    <a:gd name="T34" fmla="*/ 61 w 158"/>
                    <a:gd name="T35" fmla="*/ 103 h 216"/>
                    <a:gd name="T36" fmla="*/ 74 w 158"/>
                    <a:gd name="T37" fmla="*/ 116 h 216"/>
                    <a:gd name="T38" fmla="*/ 85 w 158"/>
                    <a:gd name="T39" fmla="*/ 130 h 216"/>
                    <a:gd name="T40" fmla="*/ 94 w 158"/>
                    <a:gd name="T41" fmla="*/ 144 h 216"/>
                    <a:gd name="T42" fmla="*/ 103 w 158"/>
                    <a:gd name="T43" fmla="*/ 159 h 216"/>
                    <a:gd name="T44" fmla="*/ 91 w 158"/>
                    <a:gd name="T45" fmla="*/ 161 h 216"/>
                    <a:gd name="T46" fmla="*/ 77 w 158"/>
                    <a:gd name="T47" fmla="*/ 161 h 216"/>
                    <a:gd name="T48" fmla="*/ 63 w 158"/>
                    <a:gd name="T49" fmla="*/ 161 h 216"/>
                    <a:gd name="T50" fmla="*/ 49 w 158"/>
                    <a:gd name="T51" fmla="*/ 158 h 216"/>
                    <a:gd name="T52" fmla="*/ 35 w 158"/>
                    <a:gd name="T53" fmla="*/ 155 h 216"/>
                    <a:gd name="T54" fmla="*/ 23 w 158"/>
                    <a:gd name="T55" fmla="*/ 150 h 216"/>
                    <a:gd name="T56" fmla="*/ 11 w 158"/>
                    <a:gd name="T57" fmla="*/ 144 h 216"/>
                    <a:gd name="T58" fmla="*/ 0 w 158"/>
                    <a:gd name="T59" fmla="*/ 138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58" h="216">
                      <a:moveTo>
                        <a:pt x="0" y="138"/>
                      </a:moveTo>
                      <a:lnTo>
                        <a:pt x="0" y="195"/>
                      </a:lnTo>
                      <a:lnTo>
                        <a:pt x="91" y="216"/>
                      </a:lnTo>
                      <a:lnTo>
                        <a:pt x="158" y="183"/>
                      </a:lnTo>
                      <a:lnTo>
                        <a:pt x="148" y="103"/>
                      </a:lnTo>
                      <a:lnTo>
                        <a:pt x="126" y="81"/>
                      </a:lnTo>
                      <a:lnTo>
                        <a:pt x="111" y="66"/>
                      </a:lnTo>
                      <a:lnTo>
                        <a:pt x="98" y="53"/>
                      </a:lnTo>
                      <a:lnTo>
                        <a:pt x="88" y="44"/>
                      </a:lnTo>
                      <a:lnTo>
                        <a:pt x="74" y="35"/>
                      </a:lnTo>
                      <a:lnTo>
                        <a:pt x="57" y="26"/>
                      </a:lnTo>
                      <a:lnTo>
                        <a:pt x="32" y="14"/>
                      </a:lnTo>
                      <a:lnTo>
                        <a:pt x="0" y="0"/>
                      </a:lnTo>
                      <a:lnTo>
                        <a:pt x="0" y="64"/>
                      </a:lnTo>
                      <a:lnTo>
                        <a:pt x="17" y="72"/>
                      </a:lnTo>
                      <a:lnTo>
                        <a:pt x="34" y="81"/>
                      </a:lnTo>
                      <a:lnTo>
                        <a:pt x="48" y="92"/>
                      </a:lnTo>
                      <a:lnTo>
                        <a:pt x="61" y="103"/>
                      </a:lnTo>
                      <a:lnTo>
                        <a:pt x="74" y="116"/>
                      </a:lnTo>
                      <a:lnTo>
                        <a:pt x="85" y="130"/>
                      </a:lnTo>
                      <a:lnTo>
                        <a:pt x="94" y="144"/>
                      </a:lnTo>
                      <a:lnTo>
                        <a:pt x="103" y="159"/>
                      </a:lnTo>
                      <a:lnTo>
                        <a:pt x="91" y="161"/>
                      </a:lnTo>
                      <a:lnTo>
                        <a:pt x="77" y="161"/>
                      </a:lnTo>
                      <a:lnTo>
                        <a:pt x="63" y="161"/>
                      </a:lnTo>
                      <a:lnTo>
                        <a:pt x="49" y="158"/>
                      </a:lnTo>
                      <a:lnTo>
                        <a:pt x="35" y="155"/>
                      </a:lnTo>
                      <a:lnTo>
                        <a:pt x="23" y="150"/>
                      </a:lnTo>
                      <a:lnTo>
                        <a:pt x="11" y="144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5" name="Freeform 111"/>
                <p:cNvSpPr>
                  <a:spLocks/>
                </p:cNvSpPr>
                <p:nvPr/>
              </p:nvSpPr>
              <p:spPr bwMode="auto">
                <a:xfrm>
                  <a:off x="2597" y="1682"/>
                  <a:ext cx="87" cy="154"/>
                </a:xfrm>
                <a:custGeom>
                  <a:avLst/>
                  <a:gdLst>
                    <a:gd name="T0" fmla="*/ 172 w 174"/>
                    <a:gd name="T1" fmla="*/ 109 h 307"/>
                    <a:gd name="T2" fmla="*/ 172 w 174"/>
                    <a:gd name="T3" fmla="*/ 45 h 307"/>
                    <a:gd name="T4" fmla="*/ 158 w 174"/>
                    <a:gd name="T5" fmla="*/ 40 h 307"/>
                    <a:gd name="T6" fmla="*/ 146 w 174"/>
                    <a:gd name="T7" fmla="*/ 35 h 307"/>
                    <a:gd name="T8" fmla="*/ 132 w 174"/>
                    <a:gd name="T9" fmla="*/ 31 h 307"/>
                    <a:gd name="T10" fmla="*/ 120 w 174"/>
                    <a:gd name="T11" fmla="*/ 25 h 307"/>
                    <a:gd name="T12" fmla="*/ 108 w 174"/>
                    <a:gd name="T13" fmla="*/ 19 h 307"/>
                    <a:gd name="T14" fmla="*/ 95 w 174"/>
                    <a:gd name="T15" fmla="*/ 12 h 307"/>
                    <a:gd name="T16" fmla="*/ 81 w 174"/>
                    <a:gd name="T17" fmla="*/ 6 h 307"/>
                    <a:gd name="T18" fmla="*/ 69 w 174"/>
                    <a:gd name="T19" fmla="*/ 0 h 307"/>
                    <a:gd name="T20" fmla="*/ 0 w 174"/>
                    <a:gd name="T21" fmla="*/ 217 h 307"/>
                    <a:gd name="T22" fmla="*/ 5 w 174"/>
                    <a:gd name="T23" fmla="*/ 231 h 307"/>
                    <a:gd name="T24" fmla="*/ 12 w 174"/>
                    <a:gd name="T25" fmla="*/ 244 h 307"/>
                    <a:gd name="T26" fmla="*/ 22 w 174"/>
                    <a:gd name="T27" fmla="*/ 258 h 307"/>
                    <a:gd name="T28" fmla="*/ 31 w 174"/>
                    <a:gd name="T29" fmla="*/ 271 h 307"/>
                    <a:gd name="T30" fmla="*/ 43 w 174"/>
                    <a:gd name="T31" fmla="*/ 281 h 307"/>
                    <a:gd name="T32" fmla="*/ 55 w 174"/>
                    <a:gd name="T33" fmla="*/ 292 h 307"/>
                    <a:gd name="T34" fmla="*/ 68 w 174"/>
                    <a:gd name="T35" fmla="*/ 300 h 307"/>
                    <a:gd name="T36" fmla="*/ 80 w 174"/>
                    <a:gd name="T37" fmla="*/ 307 h 307"/>
                    <a:gd name="T38" fmla="*/ 147 w 174"/>
                    <a:gd name="T39" fmla="*/ 286 h 307"/>
                    <a:gd name="T40" fmla="*/ 160 w 174"/>
                    <a:gd name="T41" fmla="*/ 264 h 307"/>
                    <a:gd name="T42" fmla="*/ 169 w 174"/>
                    <a:gd name="T43" fmla="*/ 237 h 307"/>
                    <a:gd name="T44" fmla="*/ 174 w 174"/>
                    <a:gd name="T45" fmla="*/ 209 h 307"/>
                    <a:gd name="T46" fmla="*/ 172 w 174"/>
                    <a:gd name="T47" fmla="*/ 183 h 307"/>
                    <a:gd name="T48" fmla="*/ 166 w 174"/>
                    <a:gd name="T49" fmla="*/ 192 h 307"/>
                    <a:gd name="T50" fmla="*/ 161 w 174"/>
                    <a:gd name="T51" fmla="*/ 201 h 307"/>
                    <a:gd name="T52" fmla="*/ 155 w 174"/>
                    <a:gd name="T53" fmla="*/ 212 h 307"/>
                    <a:gd name="T54" fmla="*/ 147 w 174"/>
                    <a:gd name="T55" fmla="*/ 221 h 307"/>
                    <a:gd name="T56" fmla="*/ 140 w 174"/>
                    <a:gd name="T57" fmla="*/ 231 h 307"/>
                    <a:gd name="T58" fmla="*/ 132 w 174"/>
                    <a:gd name="T59" fmla="*/ 240 h 307"/>
                    <a:gd name="T60" fmla="*/ 123 w 174"/>
                    <a:gd name="T61" fmla="*/ 246 h 307"/>
                    <a:gd name="T62" fmla="*/ 114 w 174"/>
                    <a:gd name="T63" fmla="*/ 251 h 307"/>
                    <a:gd name="T64" fmla="*/ 69 w 174"/>
                    <a:gd name="T65" fmla="*/ 228 h 307"/>
                    <a:gd name="T66" fmla="*/ 75 w 174"/>
                    <a:gd name="T67" fmla="*/ 191 h 307"/>
                    <a:gd name="T68" fmla="*/ 84 w 174"/>
                    <a:gd name="T69" fmla="*/ 154 h 307"/>
                    <a:gd name="T70" fmla="*/ 92 w 174"/>
                    <a:gd name="T71" fmla="*/ 117 h 307"/>
                    <a:gd name="T72" fmla="*/ 103 w 174"/>
                    <a:gd name="T73" fmla="*/ 80 h 307"/>
                    <a:gd name="T74" fmla="*/ 172 w 174"/>
                    <a:gd name="T75" fmla="*/ 109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74" h="307">
                      <a:moveTo>
                        <a:pt x="172" y="109"/>
                      </a:moveTo>
                      <a:lnTo>
                        <a:pt x="172" y="45"/>
                      </a:lnTo>
                      <a:lnTo>
                        <a:pt x="158" y="40"/>
                      </a:lnTo>
                      <a:lnTo>
                        <a:pt x="146" y="35"/>
                      </a:lnTo>
                      <a:lnTo>
                        <a:pt x="132" y="31"/>
                      </a:lnTo>
                      <a:lnTo>
                        <a:pt x="120" y="25"/>
                      </a:lnTo>
                      <a:lnTo>
                        <a:pt x="108" y="19"/>
                      </a:lnTo>
                      <a:lnTo>
                        <a:pt x="95" y="12"/>
                      </a:lnTo>
                      <a:lnTo>
                        <a:pt x="81" y="6"/>
                      </a:lnTo>
                      <a:lnTo>
                        <a:pt x="69" y="0"/>
                      </a:lnTo>
                      <a:lnTo>
                        <a:pt x="0" y="217"/>
                      </a:lnTo>
                      <a:lnTo>
                        <a:pt x="5" y="231"/>
                      </a:lnTo>
                      <a:lnTo>
                        <a:pt x="12" y="244"/>
                      </a:lnTo>
                      <a:lnTo>
                        <a:pt x="22" y="258"/>
                      </a:lnTo>
                      <a:lnTo>
                        <a:pt x="31" y="271"/>
                      </a:lnTo>
                      <a:lnTo>
                        <a:pt x="43" y="281"/>
                      </a:lnTo>
                      <a:lnTo>
                        <a:pt x="55" y="292"/>
                      </a:lnTo>
                      <a:lnTo>
                        <a:pt x="68" y="300"/>
                      </a:lnTo>
                      <a:lnTo>
                        <a:pt x="80" y="307"/>
                      </a:lnTo>
                      <a:lnTo>
                        <a:pt x="147" y="286"/>
                      </a:lnTo>
                      <a:lnTo>
                        <a:pt x="160" y="264"/>
                      </a:lnTo>
                      <a:lnTo>
                        <a:pt x="169" y="237"/>
                      </a:lnTo>
                      <a:lnTo>
                        <a:pt x="174" y="209"/>
                      </a:lnTo>
                      <a:lnTo>
                        <a:pt x="172" y="183"/>
                      </a:lnTo>
                      <a:lnTo>
                        <a:pt x="166" y="192"/>
                      </a:lnTo>
                      <a:lnTo>
                        <a:pt x="161" y="201"/>
                      </a:lnTo>
                      <a:lnTo>
                        <a:pt x="155" y="212"/>
                      </a:lnTo>
                      <a:lnTo>
                        <a:pt x="147" y="221"/>
                      </a:lnTo>
                      <a:lnTo>
                        <a:pt x="140" y="231"/>
                      </a:lnTo>
                      <a:lnTo>
                        <a:pt x="132" y="240"/>
                      </a:lnTo>
                      <a:lnTo>
                        <a:pt x="123" y="246"/>
                      </a:lnTo>
                      <a:lnTo>
                        <a:pt x="114" y="251"/>
                      </a:lnTo>
                      <a:lnTo>
                        <a:pt x="69" y="228"/>
                      </a:lnTo>
                      <a:lnTo>
                        <a:pt x="75" y="191"/>
                      </a:lnTo>
                      <a:lnTo>
                        <a:pt x="84" y="154"/>
                      </a:lnTo>
                      <a:lnTo>
                        <a:pt x="92" y="117"/>
                      </a:lnTo>
                      <a:lnTo>
                        <a:pt x="103" y="80"/>
                      </a:lnTo>
                      <a:lnTo>
                        <a:pt x="172" y="1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5" name="Group 112"/>
              <p:cNvGrpSpPr>
                <a:grpSpLocks/>
              </p:cNvGrpSpPr>
              <p:nvPr/>
            </p:nvGrpSpPr>
            <p:grpSpPr bwMode="auto">
              <a:xfrm>
                <a:off x="511" y="2203"/>
                <a:ext cx="77" cy="62"/>
                <a:chOff x="3235" y="1597"/>
                <a:chExt cx="263" cy="200"/>
              </a:xfrm>
            </p:grpSpPr>
            <p:sp>
              <p:nvSpPr>
                <p:cNvPr id="269" name="Freeform 113"/>
                <p:cNvSpPr>
                  <a:spLocks/>
                </p:cNvSpPr>
                <p:nvPr/>
              </p:nvSpPr>
              <p:spPr bwMode="auto">
                <a:xfrm>
                  <a:off x="3321" y="1647"/>
                  <a:ext cx="114" cy="75"/>
                </a:xfrm>
                <a:custGeom>
                  <a:avLst/>
                  <a:gdLst>
                    <a:gd name="T0" fmla="*/ 0 w 229"/>
                    <a:gd name="T1" fmla="*/ 115 h 149"/>
                    <a:gd name="T2" fmla="*/ 81 w 229"/>
                    <a:gd name="T3" fmla="*/ 104 h 149"/>
                    <a:gd name="T4" fmla="*/ 115 w 229"/>
                    <a:gd name="T5" fmla="*/ 25 h 149"/>
                    <a:gd name="T6" fmla="*/ 160 w 229"/>
                    <a:gd name="T7" fmla="*/ 35 h 149"/>
                    <a:gd name="T8" fmla="*/ 195 w 229"/>
                    <a:gd name="T9" fmla="*/ 0 h 149"/>
                    <a:gd name="T10" fmla="*/ 229 w 229"/>
                    <a:gd name="T11" fmla="*/ 25 h 149"/>
                    <a:gd name="T12" fmla="*/ 172 w 229"/>
                    <a:gd name="T13" fmla="*/ 92 h 149"/>
                    <a:gd name="T14" fmla="*/ 126 w 229"/>
                    <a:gd name="T15" fmla="*/ 81 h 149"/>
                    <a:gd name="T16" fmla="*/ 115 w 229"/>
                    <a:gd name="T17" fmla="*/ 126 h 149"/>
                    <a:gd name="T18" fmla="*/ 25 w 229"/>
                    <a:gd name="T19" fmla="*/ 149 h 149"/>
                    <a:gd name="T20" fmla="*/ 0 w 229"/>
                    <a:gd name="T21" fmla="*/ 115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9" h="149">
                      <a:moveTo>
                        <a:pt x="0" y="115"/>
                      </a:moveTo>
                      <a:lnTo>
                        <a:pt x="81" y="104"/>
                      </a:lnTo>
                      <a:lnTo>
                        <a:pt x="115" y="25"/>
                      </a:lnTo>
                      <a:lnTo>
                        <a:pt x="160" y="35"/>
                      </a:lnTo>
                      <a:lnTo>
                        <a:pt x="195" y="0"/>
                      </a:lnTo>
                      <a:lnTo>
                        <a:pt x="229" y="25"/>
                      </a:lnTo>
                      <a:lnTo>
                        <a:pt x="172" y="92"/>
                      </a:lnTo>
                      <a:lnTo>
                        <a:pt x="126" y="81"/>
                      </a:lnTo>
                      <a:lnTo>
                        <a:pt x="115" y="126"/>
                      </a:lnTo>
                      <a:lnTo>
                        <a:pt x="25" y="149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7CFF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0" name="Freeform 114"/>
                <p:cNvSpPr>
                  <a:spLocks/>
                </p:cNvSpPr>
                <p:nvPr/>
              </p:nvSpPr>
              <p:spPr bwMode="auto">
                <a:xfrm>
                  <a:off x="3370" y="1597"/>
                  <a:ext cx="128" cy="167"/>
                </a:xfrm>
                <a:custGeom>
                  <a:avLst/>
                  <a:gdLst>
                    <a:gd name="T0" fmla="*/ 0 w 257"/>
                    <a:gd name="T1" fmla="*/ 273 h 333"/>
                    <a:gd name="T2" fmla="*/ 0 w 257"/>
                    <a:gd name="T3" fmla="*/ 333 h 333"/>
                    <a:gd name="T4" fmla="*/ 7 w 257"/>
                    <a:gd name="T5" fmla="*/ 318 h 333"/>
                    <a:gd name="T6" fmla="*/ 119 w 257"/>
                    <a:gd name="T7" fmla="*/ 307 h 333"/>
                    <a:gd name="T8" fmla="*/ 131 w 257"/>
                    <a:gd name="T9" fmla="*/ 239 h 333"/>
                    <a:gd name="T10" fmla="*/ 223 w 257"/>
                    <a:gd name="T11" fmla="*/ 227 h 333"/>
                    <a:gd name="T12" fmla="*/ 257 w 257"/>
                    <a:gd name="T13" fmla="*/ 149 h 333"/>
                    <a:gd name="T14" fmla="*/ 211 w 257"/>
                    <a:gd name="T15" fmla="*/ 33 h 333"/>
                    <a:gd name="T16" fmla="*/ 189 w 257"/>
                    <a:gd name="T17" fmla="*/ 21 h 333"/>
                    <a:gd name="T18" fmla="*/ 163 w 257"/>
                    <a:gd name="T19" fmla="*/ 12 h 333"/>
                    <a:gd name="T20" fmla="*/ 136 w 257"/>
                    <a:gd name="T21" fmla="*/ 4 h 333"/>
                    <a:gd name="T22" fmla="*/ 108 w 257"/>
                    <a:gd name="T23" fmla="*/ 0 h 333"/>
                    <a:gd name="T24" fmla="*/ 79 w 257"/>
                    <a:gd name="T25" fmla="*/ 0 h 333"/>
                    <a:gd name="T26" fmla="*/ 50 w 257"/>
                    <a:gd name="T27" fmla="*/ 1 h 333"/>
                    <a:gd name="T28" fmla="*/ 23 w 257"/>
                    <a:gd name="T29" fmla="*/ 7 h 333"/>
                    <a:gd name="T30" fmla="*/ 0 w 257"/>
                    <a:gd name="T31" fmla="*/ 18 h 333"/>
                    <a:gd name="T32" fmla="*/ 0 w 257"/>
                    <a:gd name="T33" fmla="*/ 70 h 333"/>
                    <a:gd name="T34" fmla="*/ 62 w 257"/>
                    <a:gd name="T35" fmla="*/ 44 h 333"/>
                    <a:gd name="T36" fmla="*/ 142 w 257"/>
                    <a:gd name="T37" fmla="*/ 56 h 333"/>
                    <a:gd name="T38" fmla="*/ 200 w 257"/>
                    <a:gd name="T39" fmla="*/ 126 h 333"/>
                    <a:gd name="T40" fmla="*/ 176 w 257"/>
                    <a:gd name="T41" fmla="*/ 182 h 333"/>
                    <a:gd name="T42" fmla="*/ 97 w 257"/>
                    <a:gd name="T43" fmla="*/ 205 h 333"/>
                    <a:gd name="T44" fmla="*/ 85 w 257"/>
                    <a:gd name="T45" fmla="*/ 273 h 333"/>
                    <a:gd name="T46" fmla="*/ 0 w 257"/>
                    <a:gd name="T47" fmla="*/ 27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7" h="333">
                      <a:moveTo>
                        <a:pt x="0" y="273"/>
                      </a:moveTo>
                      <a:lnTo>
                        <a:pt x="0" y="333"/>
                      </a:lnTo>
                      <a:lnTo>
                        <a:pt x="7" y="318"/>
                      </a:lnTo>
                      <a:lnTo>
                        <a:pt x="119" y="307"/>
                      </a:lnTo>
                      <a:lnTo>
                        <a:pt x="131" y="239"/>
                      </a:lnTo>
                      <a:lnTo>
                        <a:pt x="223" y="227"/>
                      </a:lnTo>
                      <a:lnTo>
                        <a:pt x="257" y="149"/>
                      </a:lnTo>
                      <a:lnTo>
                        <a:pt x="211" y="33"/>
                      </a:lnTo>
                      <a:lnTo>
                        <a:pt x="189" y="21"/>
                      </a:lnTo>
                      <a:lnTo>
                        <a:pt x="163" y="12"/>
                      </a:lnTo>
                      <a:lnTo>
                        <a:pt x="136" y="4"/>
                      </a:lnTo>
                      <a:lnTo>
                        <a:pt x="108" y="0"/>
                      </a:lnTo>
                      <a:lnTo>
                        <a:pt x="79" y="0"/>
                      </a:lnTo>
                      <a:lnTo>
                        <a:pt x="50" y="1"/>
                      </a:lnTo>
                      <a:lnTo>
                        <a:pt x="23" y="7"/>
                      </a:lnTo>
                      <a:lnTo>
                        <a:pt x="0" y="18"/>
                      </a:lnTo>
                      <a:lnTo>
                        <a:pt x="0" y="70"/>
                      </a:lnTo>
                      <a:lnTo>
                        <a:pt x="62" y="44"/>
                      </a:lnTo>
                      <a:lnTo>
                        <a:pt x="142" y="56"/>
                      </a:lnTo>
                      <a:lnTo>
                        <a:pt x="200" y="126"/>
                      </a:lnTo>
                      <a:lnTo>
                        <a:pt x="176" y="182"/>
                      </a:lnTo>
                      <a:lnTo>
                        <a:pt x="97" y="205"/>
                      </a:lnTo>
                      <a:lnTo>
                        <a:pt x="85" y="273"/>
                      </a:lnTo>
                      <a:lnTo>
                        <a:pt x="0" y="2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71" name="Freeform 115"/>
                <p:cNvSpPr>
                  <a:spLocks/>
                </p:cNvSpPr>
                <p:nvPr/>
              </p:nvSpPr>
              <p:spPr bwMode="auto">
                <a:xfrm>
                  <a:off x="3235" y="1606"/>
                  <a:ext cx="135" cy="191"/>
                </a:xfrm>
                <a:custGeom>
                  <a:avLst/>
                  <a:gdLst>
                    <a:gd name="T0" fmla="*/ 268 w 270"/>
                    <a:gd name="T1" fmla="*/ 52 h 383"/>
                    <a:gd name="T2" fmla="*/ 268 w 270"/>
                    <a:gd name="T3" fmla="*/ 0 h 383"/>
                    <a:gd name="T4" fmla="*/ 244 w 270"/>
                    <a:gd name="T5" fmla="*/ 3 h 383"/>
                    <a:gd name="T6" fmla="*/ 219 w 270"/>
                    <a:gd name="T7" fmla="*/ 12 h 383"/>
                    <a:gd name="T8" fmla="*/ 195 w 270"/>
                    <a:gd name="T9" fmla="*/ 26 h 383"/>
                    <a:gd name="T10" fmla="*/ 172 w 270"/>
                    <a:gd name="T11" fmla="*/ 45 h 383"/>
                    <a:gd name="T12" fmla="*/ 149 w 270"/>
                    <a:gd name="T13" fmla="*/ 68 h 383"/>
                    <a:gd name="T14" fmla="*/ 129 w 270"/>
                    <a:gd name="T15" fmla="*/ 92 h 383"/>
                    <a:gd name="T16" fmla="*/ 107 w 270"/>
                    <a:gd name="T17" fmla="*/ 121 h 383"/>
                    <a:gd name="T18" fmla="*/ 89 w 270"/>
                    <a:gd name="T19" fmla="*/ 151 h 383"/>
                    <a:gd name="T20" fmla="*/ 70 w 270"/>
                    <a:gd name="T21" fmla="*/ 181 h 383"/>
                    <a:gd name="T22" fmla="*/ 55 w 270"/>
                    <a:gd name="T23" fmla="*/ 214 h 383"/>
                    <a:gd name="T24" fmla="*/ 41 w 270"/>
                    <a:gd name="T25" fmla="*/ 246 h 383"/>
                    <a:gd name="T26" fmla="*/ 27 w 270"/>
                    <a:gd name="T27" fmla="*/ 277 h 383"/>
                    <a:gd name="T28" fmla="*/ 18 w 270"/>
                    <a:gd name="T29" fmla="*/ 306 h 383"/>
                    <a:gd name="T30" fmla="*/ 9 w 270"/>
                    <a:gd name="T31" fmla="*/ 333 h 383"/>
                    <a:gd name="T32" fmla="*/ 3 w 270"/>
                    <a:gd name="T33" fmla="*/ 358 h 383"/>
                    <a:gd name="T34" fmla="*/ 0 w 270"/>
                    <a:gd name="T35" fmla="*/ 380 h 383"/>
                    <a:gd name="T36" fmla="*/ 13 w 270"/>
                    <a:gd name="T37" fmla="*/ 381 h 383"/>
                    <a:gd name="T38" fmla="*/ 27 w 270"/>
                    <a:gd name="T39" fmla="*/ 383 h 383"/>
                    <a:gd name="T40" fmla="*/ 41 w 270"/>
                    <a:gd name="T41" fmla="*/ 383 h 383"/>
                    <a:gd name="T42" fmla="*/ 56 w 270"/>
                    <a:gd name="T43" fmla="*/ 381 h 383"/>
                    <a:gd name="T44" fmla="*/ 72 w 270"/>
                    <a:gd name="T45" fmla="*/ 380 h 383"/>
                    <a:gd name="T46" fmla="*/ 89 w 270"/>
                    <a:gd name="T47" fmla="*/ 378 h 383"/>
                    <a:gd name="T48" fmla="*/ 104 w 270"/>
                    <a:gd name="T49" fmla="*/ 375 h 383"/>
                    <a:gd name="T50" fmla="*/ 121 w 270"/>
                    <a:gd name="T51" fmla="*/ 372 h 383"/>
                    <a:gd name="T52" fmla="*/ 138 w 270"/>
                    <a:gd name="T53" fmla="*/ 370 h 383"/>
                    <a:gd name="T54" fmla="*/ 155 w 270"/>
                    <a:gd name="T55" fmla="*/ 367 h 383"/>
                    <a:gd name="T56" fmla="*/ 172 w 270"/>
                    <a:gd name="T57" fmla="*/ 364 h 383"/>
                    <a:gd name="T58" fmla="*/ 187 w 270"/>
                    <a:gd name="T59" fmla="*/ 361 h 383"/>
                    <a:gd name="T60" fmla="*/ 204 w 270"/>
                    <a:gd name="T61" fmla="*/ 360 h 383"/>
                    <a:gd name="T62" fmla="*/ 221 w 270"/>
                    <a:gd name="T63" fmla="*/ 358 h 383"/>
                    <a:gd name="T64" fmla="*/ 236 w 270"/>
                    <a:gd name="T65" fmla="*/ 356 h 383"/>
                    <a:gd name="T66" fmla="*/ 251 w 270"/>
                    <a:gd name="T67" fmla="*/ 356 h 383"/>
                    <a:gd name="T68" fmla="*/ 262 w 270"/>
                    <a:gd name="T69" fmla="*/ 335 h 383"/>
                    <a:gd name="T70" fmla="*/ 268 w 270"/>
                    <a:gd name="T71" fmla="*/ 307 h 383"/>
                    <a:gd name="T72" fmla="*/ 270 w 270"/>
                    <a:gd name="T73" fmla="*/ 280 h 383"/>
                    <a:gd name="T74" fmla="*/ 268 w 270"/>
                    <a:gd name="T75" fmla="*/ 255 h 383"/>
                    <a:gd name="T76" fmla="*/ 262 w 270"/>
                    <a:gd name="T77" fmla="*/ 255 h 383"/>
                    <a:gd name="T78" fmla="*/ 239 w 270"/>
                    <a:gd name="T79" fmla="*/ 300 h 383"/>
                    <a:gd name="T80" fmla="*/ 218 w 270"/>
                    <a:gd name="T81" fmla="*/ 303 h 383"/>
                    <a:gd name="T82" fmla="*/ 196 w 270"/>
                    <a:gd name="T83" fmla="*/ 306 h 383"/>
                    <a:gd name="T84" fmla="*/ 175 w 270"/>
                    <a:gd name="T85" fmla="*/ 307 h 383"/>
                    <a:gd name="T86" fmla="*/ 155 w 270"/>
                    <a:gd name="T87" fmla="*/ 310 h 383"/>
                    <a:gd name="T88" fmla="*/ 133 w 270"/>
                    <a:gd name="T89" fmla="*/ 310 h 383"/>
                    <a:gd name="T90" fmla="*/ 112 w 270"/>
                    <a:gd name="T91" fmla="*/ 312 h 383"/>
                    <a:gd name="T92" fmla="*/ 90 w 270"/>
                    <a:gd name="T93" fmla="*/ 312 h 383"/>
                    <a:gd name="T94" fmla="*/ 69 w 270"/>
                    <a:gd name="T95" fmla="*/ 312 h 383"/>
                    <a:gd name="T96" fmla="*/ 76 w 270"/>
                    <a:gd name="T97" fmla="*/ 280 h 383"/>
                    <a:gd name="T98" fmla="*/ 92 w 270"/>
                    <a:gd name="T99" fmla="*/ 241 h 383"/>
                    <a:gd name="T100" fmla="*/ 115 w 270"/>
                    <a:gd name="T101" fmla="*/ 198 h 383"/>
                    <a:gd name="T102" fmla="*/ 141 w 270"/>
                    <a:gd name="T103" fmla="*/ 157 h 383"/>
                    <a:gd name="T104" fmla="*/ 172 w 270"/>
                    <a:gd name="T105" fmla="*/ 118 h 383"/>
                    <a:gd name="T106" fmla="*/ 204 w 270"/>
                    <a:gd name="T107" fmla="*/ 84 h 383"/>
                    <a:gd name="T108" fmla="*/ 236 w 270"/>
                    <a:gd name="T109" fmla="*/ 61 h 383"/>
                    <a:gd name="T110" fmla="*/ 268 w 270"/>
                    <a:gd name="T111" fmla="*/ 52 h 3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70" h="383">
                      <a:moveTo>
                        <a:pt x="268" y="52"/>
                      </a:moveTo>
                      <a:lnTo>
                        <a:pt x="268" y="0"/>
                      </a:lnTo>
                      <a:lnTo>
                        <a:pt x="244" y="3"/>
                      </a:lnTo>
                      <a:lnTo>
                        <a:pt x="219" y="12"/>
                      </a:lnTo>
                      <a:lnTo>
                        <a:pt x="195" y="26"/>
                      </a:lnTo>
                      <a:lnTo>
                        <a:pt x="172" y="45"/>
                      </a:lnTo>
                      <a:lnTo>
                        <a:pt x="149" y="68"/>
                      </a:lnTo>
                      <a:lnTo>
                        <a:pt x="129" y="92"/>
                      </a:lnTo>
                      <a:lnTo>
                        <a:pt x="107" y="121"/>
                      </a:lnTo>
                      <a:lnTo>
                        <a:pt x="89" y="151"/>
                      </a:lnTo>
                      <a:lnTo>
                        <a:pt x="70" y="181"/>
                      </a:lnTo>
                      <a:lnTo>
                        <a:pt x="55" y="214"/>
                      </a:lnTo>
                      <a:lnTo>
                        <a:pt x="41" y="246"/>
                      </a:lnTo>
                      <a:lnTo>
                        <a:pt x="27" y="277"/>
                      </a:lnTo>
                      <a:lnTo>
                        <a:pt x="18" y="306"/>
                      </a:lnTo>
                      <a:lnTo>
                        <a:pt x="9" y="333"/>
                      </a:lnTo>
                      <a:lnTo>
                        <a:pt x="3" y="358"/>
                      </a:lnTo>
                      <a:lnTo>
                        <a:pt x="0" y="380"/>
                      </a:lnTo>
                      <a:lnTo>
                        <a:pt x="13" y="381"/>
                      </a:lnTo>
                      <a:lnTo>
                        <a:pt x="27" y="383"/>
                      </a:lnTo>
                      <a:lnTo>
                        <a:pt x="41" y="383"/>
                      </a:lnTo>
                      <a:lnTo>
                        <a:pt x="56" y="381"/>
                      </a:lnTo>
                      <a:lnTo>
                        <a:pt x="72" y="380"/>
                      </a:lnTo>
                      <a:lnTo>
                        <a:pt x="89" y="378"/>
                      </a:lnTo>
                      <a:lnTo>
                        <a:pt x="104" y="375"/>
                      </a:lnTo>
                      <a:lnTo>
                        <a:pt x="121" y="372"/>
                      </a:lnTo>
                      <a:lnTo>
                        <a:pt x="138" y="370"/>
                      </a:lnTo>
                      <a:lnTo>
                        <a:pt x="155" y="367"/>
                      </a:lnTo>
                      <a:lnTo>
                        <a:pt x="172" y="364"/>
                      </a:lnTo>
                      <a:lnTo>
                        <a:pt x="187" y="361"/>
                      </a:lnTo>
                      <a:lnTo>
                        <a:pt x="204" y="360"/>
                      </a:lnTo>
                      <a:lnTo>
                        <a:pt x="221" y="358"/>
                      </a:lnTo>
                      <a:lnTo>
                        <a:pt x="236" y="356"/>
                      </a:lnTo>
                      <a:lnTo>
                        <a:pt x="251" y="356"/>
                      </a:lnTo>
                      <a:lnTo>
                        <a:pt x="262" y="335"/>
                      </a:lnTo>
                      <a:lnTo>
                        <a:pt x="268" y="307"/>
                      </a:lnTo>
                      <a:lnTo>
                        <a:pt x="270" y="280"/>
                      </a:lnTo>
                      <a:lnTo>
                        <a:pt x="268" y="255"/>
                      </a:lnTo>
                      <a:lnTo>
                        <a:pt x="262" y="255"/>
                      </a:lnTo>
                      <a:lnTo>
                        <a:pt x="239" y="300"/>
                      </a:lnTo>
                      <a:lnTo>
                        <a:pt x="218" y="303"/>
                      </a:lnTo>
                      <a:lnTo>
                        <a:pt x="196" y="306"/>
                      </a:lnTo>
                      <a:lnTo>
                        <a:pt x="175" y="307"/>
                      </a:lnTo>
                      <a:lnTo>
                        <a:pt x="155" y="310"/>
                      </a:lnTo>
                      <a:lnTo>
                        <a:pt x="133" y="310"/>
                      </a:lnTo>
                      <a:lnTo>
                        <a:pt x="112" y="312"/>
                      </a:lnTo>
                      <a:lnTo>
                        <a:pt x="90" y="312"/>
                      </a:lnTo>
                      <a:lnTo>
                        <a:pt x="69" y="312"/>
                      </a:lnTo>
                      <a:lnTo>
                        <a:pt x="76" y="280"/>
                      </a:lnTo>
                      <a:lnTo>
                        <a:pt x="92" y="241"/>
                      </a:lnTo>
                      <a:lnTo>
                        <a:pt x="115" y="198"/>
                      </a:lnTo>
                      <a:lnTo>
                        <a:pt x="141" y="157"/>
                      </a:lnTo>
                      <a:lnTo>
                        <a:pt x="172" y="118"/>
                      </a:lnTo>
                      <a:lnTo>
                        <a:pt x="204" y="84"/>
                      </a:lnTo>
                      <a:lnTo>
                        <a:pt x="236" y="61"/>
                      </a:lnTo>
                      <a:lnTo>
                        <a:pt x="26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6" name="Group 116"/>
              <p:cNvGrpSpPr>
                <a:grpSpLocks/>
              </p:cNvGrpSpPr>
              <p:nvPr/>
            </p:nvGrpSpPr>
            <p:grpSpPr bwMode="auto">
              <a:xfrm>
                <a:off x="456" y="2139"/>
                <a:ext cx="82" cy="28"/>
                <a:chOff x="1200" y="3160"/>
                <a:chExt cx="250" cy="98"/>
              </a:xfrm>
            </p:grpSpPr>
            <p:sp>
              <p:nvSpPr>
                <p:cNvPr id="267" name="Line 117"/>
                <p:cNvSpPr>
                  <a:spLocks noChangeShapeType="1"/>
                </p:cNvSpPr>
                <p:nvPr/>
              </p:nvSpPr>
              <p:spPr bwMode="gray">
                <a:xfrm>
                  <a:off x="1200" y="3162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68" name="Line 118"/>
                <p:cNvSpPr>
                  <a:spLocks noChangeShapeType="1"/>
                </p:cNvSpPr>
                <p:nvPr/>
              </p:nvSpPr>
              <p:spPr bwMode="gray">
                <a:xfrm flipH="1">
                  <a:off x="1354" y="316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</p:grpSp>
      </p:grpSp>
      <p:grpSp>
        <p:nvGrpSpPr>
          <p:cNvPr id="322" name="Group 119"/>
          <p:cNvGrpSpPr>
            <a:grpSpLocks/>
          </p:cNvGrpSpPr>
          <p:nvPr/>
        </p:nvGrpSpPr>
        <p:grpSpPr bwMode="auto">
          <a:xfrm>
            <a:off x="218855" y="1268760"/>
            <a:ext cx="9504675" cy="5220580"/>
            <a:chOff x="84" y="870"/>
            <a:chExt cx="6060" cy="3108"/>
          </a:xfrm>
        </p:grpSpPr>
        <p:sp>
          <p:nvSpPr>
            <p:cNvPr id="323" name="Rectangle 120"/>
            <p:cNvSpPr>
              <a:spLocks noChangeArrowheads="1"/>
            </p:cNvSpPr>
            <p:nvPr/>
          </p:nvSpPr>
          <p:spPr bwMode="gray">
            <a:xfrm>
              <a:off x="84" y="870"/>
              <a:ext cx="4626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24" name="Rectangle 121"/>
            <p:cNvSpPr>
              <a:spLocks noChangeArrowheads="1"/>
            </p:cNvSpPr>
            <p:nvPr/>
          </p:nvSpPr>
          <p:spPr bwMode="gray">
            <a:xfrm>
              <a:off x="4704" y="870"/>
              <a:ext cx="1440" cy="31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en-US" altLang="ko-KR" sz="800" b="1" dirty="0" smtClean="0">
                  <a:latin typeface="+mn-ea"/>
                  <a:ea typeface="+mn-ea"/>
                </a:rPr>
                <a:t> </a:t>
              </a:r>
              <a:r>
                <a:rPr kumimoji="0" lang="ko-KR" altLang="en-US" sz="800" b="1" dirty="0">
                  <a:latin typeface="+mn-ea"/>
                  <a:ea typeface="+mn-ea"/>
                </a:rPr>
                <a:t>정의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ko-KR" altLang="en-US" sz="800" dirty="0" smtClean="0">
                  <a:latin typeface="+mn-ea"/>
                  <a:ea typeface="+mn-ea"/>
                </a:rPr>
                <a:t>제품정보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제품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</a:t>
              </a:r>
              <a:r>
                <a:rPr kumimoji="0" lang="ko-KR" altLang="en-US" sz="800" dirty="0">
                  <a:latin typeface="+mn-ea"/>
                  <a:ea typeface="+mn-ea"/>
                </a:rPr>
                <a:t>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스타일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스타일 사이즈 등록은 작업지시서를 통하여 생성한다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REPEAT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생성은 스타일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스타일사이즈에 대해 등록하며 제품정보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제품은 최초 생성되는 차수에서 생성한다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endParaRPr kumimoji="0" lang="ko-KR" altLang="en-US" sz="800" dirty="0" smtClean="0">
                <a:latin typeface="+mn-ea"/>
                <a:ea typeface="+mn-ea"/>
              </a:endParaRPr>
            </a:p>
            <a:p>
              <a:pPr marL="85725" indent="-85725"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800" b="1" dirty="0" smtClean="0">
                  <a:latin typeface="+mn-ea"/>
                  <a:ea typeface="+mn-ea"/>
                </a:rPr>
                <a:t> 선행 프로세스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1</a:t>
              </a:r>
              <a:r>
                <a:rPr kumimoji="0" lang="en-US" altLang="ko-KR" sz="800" dirty="0">
                  <a:latin typeface="+mn-ea"/>
                  <a:ea typeface="+mn-ea"/>
                </a:rPr>
                <a:t>.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칼라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사이즈 기획사이즈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브랜드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품종 공통코드 등록</a:t>
              </a:r>
              <a:endParaRPr kumimoji="0" lang="ko-KR" altLang="en-US" sz="8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800" dirty="0">
                  <a:latin typeface="+mn-ea"/>
                  <a:ea typeface="+mn-ea"/>
                </a:rPr>
                <a:t> </a:t>
              </a:r>
              <a:r>
                <a:rPr kumimoji="0" lang="ko-KR" altLang="en-US" sz="800" b="1" dirty="0">
                  <a:latin typeface="+mn-ea"/>
                  <a:ea typeface="+mn-ea"/>
                </a:rPr>
                <a:t>후행 프로세스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>
                  <a:latin typeface="+mn-ea"/>
                  <a:ea typeface="+mn-ea"/>
                </a:rPr>
                <a:t>1.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입고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err="1" smtClean="0">
                  <a:latin typeface="+mn-ea"/>
                  <a:ea typeface="+mn-ea"/>
                </a:rPr>
                <a:t>실판매가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 등록</a:t>
              </a:r>
              <a:endParaRPr kumimoji="0" lang="ko-KR" altLang="en-US" sz="8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Char char="u"/>
              </a:pPr>
              <a:r>
                <a:rPr kumimoji="0" lang="ko-KR" altLang="en-US" sz="800" dirty="0">
                  <a:latin typeface="+mn-ea"/>
                  <a:ea typeface="+mn-ea"/>
                </a:rPr>
                <a:t> </a:t>
              </a:r>
              <a:r>
                <a:rPr kumimoji="0" lang="ko-KR" altLang="en-US" sz="800" b="1" dirty="0">
                  <a:latin typeface="+mn-ea"/>
                  <a:ea typeface="+mn-ea"/>
                </a:rPr>
                <a:t>비즈니스 업무정책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1.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칼라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/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사이즈 삭제 시 스타일사이즈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,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스타일 데이터를 삭제 한다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*.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위 데이터를 삭제해도 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T_PRDT_PLAN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이 남아있어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,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추후 동일 제품 생성 시 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PK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오류가 발생한다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.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그로 인해 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T_PRDT_PLAN</a:t>
              </a:r>
              <a:r>
                <a:rPr kumimoji="0" lang="ko-KR" altLang="en-US" sz="800" b="1" dirty="0">
                  <a:solidFill>
                    <a:srgbClr val="FF0000"/>
                  </a:solidFill>
                  <a:latin typeface="+mn-ea"/>
                  <a:ea typeface="+mn-ea"/>
                </a:rPr>
                <a:t>을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 </a:t>
              </a:r>
              <a:r>
                <a:rPr kumimoji="0" lang="ko-KR" altLang="en-US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수기로 삭제하고 있다</a:t>
              </a:r>
              <a:r>
                <a:rPr kumimoji="0" lang="en-US" altLang="ko-KR" sz="8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.</a:t>
              </a:r>
              <a:endParaRPr kumimoji="0" lang="ko-KR" altLang="en-US" sz="800" b="1" dirty="0">
                <a:solidFill>
                  <a:srgbClr val="FF0000"/>
                </a:solidFill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2.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삭제 시 수불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(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입고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출고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판매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)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의 생성유무를 체크 하며 존재 시 삭제 불가</a:t>
              </a:r>
              <a:endParaRPr kumimoji="0" lang="en-US" altLang="ko-KR" sz="8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3.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수불데이터가 모두 없고 모든 칼라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/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사이즈가 삭제 되면 제품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제품정보의 데이터도 삭제 하며 작업지시서의 데이터는 삭제 하지 않음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.</a:t>
              </a:r>
              <a:endParaRPr kumimoji="0" lang="ko-KR" altLang="en-US" sz="800" dirty="0">
                <a:latin typeface="+mn-ea"/>
                <a:ea typeface="+mn-ea"/>
              </a:endParaRP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4. REPEAT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가 발생된 데이터는 제품정보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,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제품의 데이터를 삭제 하지 않음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5. 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샘플 작업에 대한 작업지시서는 등록하지 않음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.</a:t>
              </a:r>
            </a:p>
            <a:p>
              <a:pPr eaLnBrk="0" latinLnBrk="0" hangingPunct="0">
                <a:lnSpc>
                  <a:spcPct val="140000"/>
                </a:lnSpc>
                <a:buClr>
                  <a:schemeClr val="tx2"/>
                </a:buClr>
                <a:buSzPct val="75000"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(</a:t>
              </a:r>
              <a:r>
                <a:rPr kumimoji="0" lang="ko-KR" altLang="en-US" sz="800" dirty="0" smtClean="0">
                  <a:latin typeface="+mn-ea"/>
                  <a:ea typeface="+mn-ea"/>
                </a:rPr>
                <a:t>향후 등록 여부는 필요함</a:t>
              </a:r>
              <a:r>
                <a:rPr kumimoji="0" lang="en-US" altLang="ko-KR" sz="800" dirty="0" smtClean="0">
                  <a:latin typeface="+mn-ea"/>
                  <a:ea typeface="+mn-ea"/>
                </a:rPr>
                <a:t>)</a:t>
              </a:r>
              <a:endParaRPr kumimoji="0" lang="ko-KR" altLang="en-US" sz="800" dirty="0">
                <a:latin typeface="+mn-ea"/>
                <a:ea typeface="+mn-ea"/>
              </a:endParaRPr>
            </a:p>
            <a:p>
              <a:pPr algn="l" eaLnBrk="0" latinLnBrk="0" hangingPunct="0">
                <a:lnSpc>
                  <a:spcPct val="110000"/>
                </a:lnSpc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kumimoji="0" lang="en-US" altLang="ko-KR" sz="800" dirty="0" smtClean="0">
                  <a:latin typeface="+mn-ea"/>
                  <a:ea typeface="+mn-ea"/>
                </a:rPr>
                <a:t> </a:t>
              </a:r>
              <a:endParaRPr kumimoji="0" lang="en-US" altLang="ko-KR" sz="800" dirty="0">
                <a:latin typeface="+mn-ea"/>
                <a:ea typeface="+mn-ea"/>
              </a:endParaRPr>
            </a:p>
          </p:txBody>
        </p:sp>
      </p:grpSp>
      <p:sp>
        <p:nvSpPr>
          <p:cNvPr id="54" name="Line 50"/>
          <p:cNvSpPr>
            <a:spLocks noChangeShapeType="1"/>
          </p:cNvSpPr>
          <p:nvPr/>
        </p:nvSpPr>
        <p:spPr bwMode="gray">
          <a:xfrm>
            <a:off x="1543590" y="1968996"/>
            <a:ext cx="100965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55" name="Rectangle 51"/>
          <p:cNvSpPr>
            <a:spLocks noChangeArrowheads="1"/>
          </p:cNvSpPr>
          <p:nvPr/>
        </p:nvSpPr>
        <p:spPr bwMode="gray">
          <a:xfrm>
            <a:off x="362490" y="1827333"/>
            <a:ext cx="1201738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i="1" dirty="0" smtClean="0">
                <a:latin typeface="+mn-ea"/>
                <a:ea typeface="+mn-ea"/>
              </a:rPr>
              <a:t>생산결정</a:t>
            </a:r>
            <a:endParaRPr lang="ko-KR" altLang="en-US" sz="1000" b="1" i="1" dirty="0">
              <a:latin typeface="+mn-ea"/>
              <a:ea typeface="+mn-ea"/>
            </a:endParaRPr>
          </a:p>
        </p:txBody>
      </p:sp>
      <p:sp>
        <p:nvSpPr>
          <p:cNvPr id="66" name="AutoShape 79"/>
          <p:cNvSpPr>
            <a:spLocks noChangeArrowheads="1"/>
          </p:cNvSpPr>
          <p:nvPr/>
        </p:nvSpPr>
        <p:spPr bwMode="auto">
          <a:xfrm>
            <a:off x="2553240" y="1798340"/>
            <a:ext cx="996950" cy="341312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작업지시서</a:t>
            </a:r>
            <a:endParaRPr lang="ko-KR" altLang="en-US" sz="900" dirty="0">
              <a:latin typeface="+mn-ea"/>
              <a:ea typeface="+mn-ea"/>
            </a:endParaRPr>
          </a:p>
          <a:p>
            <a:pPr algn="ctr"/>
            <a:r>
              <a:rPr lang="ko-KR" altLang="en-US" sz="900" dirty="0">
                <a:latin typeface="+mn-ea"/>
                <a:ea typeface="+mn-ea"/>
              </a:rPr>
              <a:t>등록 시작</a:t>
            </a:r>
          </a:p>
        </p:txBody>
      </p:sp>
      <p:sp>
        <p:nvSpPr>
          <p:cNvPr id="67" name="Rectangle 49"/>
          <p:cNvSpPr>
            <a:spLocks noChangeArrowheads="1"/>
          </p:cNvSpPr>
          <p:nvPr/>
        </p:nvSpPr>
        <p:spPr bwMode="gray">
          <a:xfrm>
            <a:off x="2388933" y="2904970"/>
            <a:ext cx="1325563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제품코드생성</a:t>
            </a:r>
            <a:endParaRPr lang="ko-KR" altLang="en-US" sz="1000" b="1" dirty="0">
              <a:latin typeface="+mn-ea"/>
              <a:ea typeface="+mn-ea"/>
            </a:endParaRPr>
          </a:p>
        </p:txBody>
      </p:sp>
      <p:cxnSp>
        <p:nvCxnSpPr>
          <p:cNvPr id="72" name="AutoShape 67"/>
          <p:cNvCxnSpPr>
            <a:cxnSpLocks noChangeShapeType="1"/>
            <a:stCxn id="66" idx="2"/>
            <a:endCxn id="67" idx="0"/>
          </p:cNvCxnSpPr>
          <p:nvPr/>
        </p:nvCxnSpPr>
        <p:spPr bwMode="gray">
          <a:xfrm>
            <a:off x="3051715" y="2139652"/>
            <a:ext cx="0" cy="765318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" name="AutoShape 86"/>
          <p:cNvSpPr>
            <a:spLocks noChangeArrowheads="1"/>
          </p:cNvSpPr>
          <p:nvPr/>
        </p:nvSpPr>
        <p:spPr bwMode="auto">
          <a:xfrm>
            <a:off x="639105" y="216886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브랜드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T_BRD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8" name="AutoShape 86"/>
          <p:cNvSpPr>
            <a:spLocks noChangeArrowheads="1"/>
          </p:cNvSpPr>
          <p:nvPr/>
        </p:nvSpPr>
        <p:spPr bwMode="auto">
          <a:xfrm>
            <a:off x="638534" y="268457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품종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T_PRDT_KIND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79" name="AutoShape 86"/>
          <p:cNvSpPr>
            <a:spLocks noChangeArrowheads="1"/>
          </p:cNvSpPr>
          <p:nvPr/>
        </p:nvSpPr>
        <p:spPr bwMode="auto">
          <a:xfrm>
            <a:off x="632520" y="320029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공통코드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T_COMN_CD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83" name="AutoShape 67"/>
          <p:cNvCxnSpPr>
            <a:cxnSpLocks noChangeShapeType="1"/>
            <a:stCxn id="73" idx="4"/>
            <a:endCxn id="67" idx="1"/>
          </p:cNvCxnSpPr>
          <p:nvPr/>
        </p:nvCxnSpPr>
        <p:spPr bwMode="gray">
          <a:xfrm>
            <a:off x="1205843" y="2412739"/>
            <a:ext cx="1183090" cy="61923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67"/>
          <p:cNvCxnSpPr>
            <a:cxnSpLocks noChangeShapeType="1"/>
            <a:stCxn id="78" idx="4"/>
            <a:endCxn id="67" idx="1"/>
          </p:cNvCxnSpPr>
          <p:nvPr/>
        </p:nvCxnSpPr>
        <p:spPr bwMode="gray">
          <a:xfrm>
            <a:off x="1205272" y="2928454"/>
            <a:ext cx="1183661" cy="10351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AutoShape 67"/>
          <p:cNvCxnSpPr>
            <a:cxnSpLocks noChangeShapeType="1"/>
            <a:stCxn id="79" idx="4"/>
            <a:endCxn id="67" idx="1"/>
          </p:cNvCxnSpPr>
          <p:nvPr/>
        </p:nvCxnSpPr>
        <p:spPr bwMode="gray">
          <a:xfrm flipV="1">
            <a:off x="1199258" y="3031970"/>
            <a:ext cx="1189675" cy="41219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AutoShape 86"/>
          <p:cNvSpPr>
            <a:spLocks noChangeArrowheads="1"/>
          </p:cNvSpPr>
          <p:nvPr/>
        </p:nvSpPr>
        <p:spPr bwMode="auto">
          <a:xfrm>
            <a:off x="1820977" y="482848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T_PRDT_PLAN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87" name="AutoShape 86"/>
          <p:cNvSpPr>
            <a:spLocks noChangeArrowheads="1"/>
          </p:cNvSpPr>
          <p:nvPr/>
        </p:nvSpPr>
        <p:spPr bwMode="auto">
          <a:xfrm>
            <a:off x="4206242" y="48241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스타일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T_STYLE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0" name="AutoShape 86"/>
          <p:cNvSpPr>
            <a:spLocks noChangeArrowheads="1"/>
          </p:cNvSpPr>
          <p:nvPr/>
        </p:nvSpPr>
        <p:spPr bwMode="auto">
          <a:xfrm>
            <a:off x="3287815" y="48241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T_PRDT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1" name="AutoShape 86"/>
          <p:cNvSpPr>
            <a:spLocks noChangeArrowheads="1"/>
          </p:cNvSpPr>
          <p:nvPr/>
        </p:nvSpPr>
        <p:spPr bwMode="auto">
          <a:xfrm>
            <a:off x="1820874" y="428409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작업지시서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T_WORK_INDC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97" name="AutoShape 73"/>
          <p:cNvSpPr>
            <a:spLocks noChangeArrowheads="1"/>
          </p:cNvSpPr>
          <p:nvPr/>
        </p:nvSpPr>
        <p:spPr bwMode="auto">
          <a:xfrm>
            <a:off x="4074574" y="2970803"/>
            <a:ext cx="1122748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b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+mn-ea"/>
                <a:ea typeface="+mn-ea"/>
              </a:rPr>
              <a:t>제품코드</a:t>
            </a:r>
            <a:endParaRPr lang="en-US" altLang="ko-KR" sz="1000" dirty="0" smtClean="0">
              <a:latin typeface="+mn-ea"/>
              <a:ea typeface="+mn-ea"/>
            </a:endParaRP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+mn-ea"/>
                <a:ea typeface="+mn-ea"/>
              </a:rPr>
              <a:t>생성여부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98" name="Rectangle 49"/>
          <p:cNvSpPr>
            <a:spLocks noChangeArrowheads="1"/>
          </p:cNvSpPr>
          <p:nvPr/>
        </p:nvSpPr>
        <p:spPr bwMode="gray">
          <a:xfrm>
            <a:off x="5697667" y="2830825"/>
            <a:ext cx="1325563" cy="40229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스타일</a:t>
            </a:r>
            <a:r>
              <a:rPr lang="en-US" altLang="ko-KR" sz="1000" b="1" dirty="0" smtClean="0">
                <a:latin typeface="+mn-ea"/>
                <a:ea typeface="+mn-ea"/>
              </a:rPr>
              <a:t>/</a:t>
            </a:r>
            <a:r>
              <a:rPr lang="ko-KR" altLang="en-US" sz="1000" b="1" dirty="0" smtClean="0">
                <a:latin typeface="+mn-ea"/>
                <a:ea typeface="+mn-ea"/>
              </a:rPr>
              <a:t>칼라</a:t>
            </a:r>
            <a:r>
              <a:rPr lang="en-US" altLang="ko-KR" sz="1000" b="1" dirty="0" smtClean="0">
                <a:latin typeface="+mn-ea"/>
                <a:ea typeface="+mn-ea"/>
              </a:rPr>
              <a:t>/</a:t>
            </a:r>
            <a:r>
              <a:rPr lang="ko-KR" altLang="en-US" sz="1000" b="1" dirty="0" smtClean="0">
                <a:latin typeface="+mn-ea"/>
                <a:ea typeface="+mn-ea"/>
              </a:rPr>
              <a:t>사이즈 생성</a:t>
            </a:r>
            <a:endParaRPr lang="ko-KR" altLang="en-US" sz="1000" b="1" dirty="0">
              <a:latin typeface="+mn-ea"/>
              <a:ea typeface="+mn-ea"/>
            </a:endParaRPr>
          </a:p>
        </p:txBody>
      </p:sp>
      <p:cxnSp>
        <p:nvCxnSpPr>
          <p:cNvPr id="102" name="AutoShape 67"/>
          <p:cNvCxnSpPr>
            <a:cxnSpLocks noChangeShapeType="1"/>
            <a:stCxn id="66" idx="2"/>
            <a:endCxn id="98" idx="0"/>
          </p:cNvCxnSpPr>
          <p:nvPr/>
        </p:nvCxnSpPr>
        <p:spPr bwMode="gray">
          <a:xfrm rot="16200000" flipH="1">
            <a:off x="4360496" y="830871"/>
            <a:ext cx="691173" cy="330873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3" name="Text Box 82"/>
          <p:cNvSpPr txBox="1">
            <a:spLocks noChangeArrowheads="1"/>
          </p:cNvSpPr>
          <p:nvPr/>
        </p:nvSpPr>
        <p:spPr bwMode="gray">
          <a:xfrm>
            <a:off x="3842503" y="3235081"/>
            <a:ext cx="38183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000" dirty="0" smtClean="0">
                <a:latin typeface="+mn-ea"/>
                <a:ea typeface="+mn-ea"/>
              </a:rPr>
              <a:t>NO</a:t>
            </a:r>
            <a:endParaRPr lang="en-US" altLang="ko-KR" sz="1000" dirty="0">
              <a:latin typeface="+mn-ea"/>
              <a:ea typeface="+mn-ea"/>
            </a:endParaRPr>
          </a:p>
        </p:txBody>
      </p:sp>
      <p:cxnSp>
        <p:nvCxnSpPr>
          <p:cNvPr id="104" name="AutoShape 67"/>
          <p:cNvCxnSpPr>
            <a:cxnSpLocks noChangeShapeType="1"/>
            <a:stCxn id="97" idx="1"/>
            <a:endCxn id="67" idx="3"/>
          </p:cNvCxnSpPr>
          <p:nvPr/>
        </p:nvCxnSpPr>
        <p:spPr bwMode="gray">
          <a:xfrm rot="10800000">
            <a:off x="3714496" y="3031970"/>
            <a:ext cx="360078" cy="17616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AutoShape 67"/>
          <p:cNvCxnSpPr>
            <a:cxnSpLocks noChangeShapeType="1"/>
            <a:stCxn id="98" idx="1"/>
            <a:endCxn id="97" idx="3"/>
          </p:cNvCxnSpPr>
          <p:nvPr/>
        </p:nvCxnSpPr>
        <p:spPr bwMode="gray">
          <a:xfrm rot="10800000" flipV="1">
            <a:off x="5197323" y="3031970"/>
            <a:ext cx="500345" cy="1761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2" name="AutoShape 67"/>
          <p:cNvCxnSpPr>
            <a:cxnSpLocks noChangeShapeType="1"/>
            <a:stCxn id="97" idx="2"/>
            <a:endCxn id="115" idx="0"/>
          </p:cNvCxnSpPr>
          <p:nvPr/>
        </p:nvCxnSpPr>
        <p:spPr bwMode="gray">
          <a:xfrm rot="5400000">
            <a:off x="4410773" y="3669134"/>
            <a:ext cx="448844" cy="15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5" name="Rectangle 49"/>
          <p:cNvSpPr>
            <a:spLocks noChangeArrowheads="1"/>
          </p:cNvSpPr>
          <p:nvPr/>
        </p:nvSpPr>
        <p:spPr bwMode="gray">
          <a:xfrm>
            <a:off x="4031912" y="3894309"/>
            <a:ext cx="1205057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칼라</a:t>
            </a:r>
            <a:r>
              <a:rPr lang="en-US" altLang="ko-KR" sz="1000" b="1" dirty="0" smtClean="0">
                <a:latin typeface="+mn-ea"/>
                <a:ea typeface="+mn-ea"/>
              </a:rPr>
              <a:t>/</a:t>
            </a:r>
            <a:r>
              <a:rPr lang="ko-KR" altLang="en-US" sz="1000" b="1" dirty="0" smtClean="0">
                <a:latin typeface="+mn-ea"/>
                <a:ea typeface="+mn-ea"/>
              </a:rPr>
              <a:t>사이즈 등록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121" name="Text Box 82"/>
          <p:cNvSpPr txBox="1">
            <a:spLocks noChangeArrowheads="1"/>
          </p:cNvSpPr>
          <p:nvPr/>
        </p:nvSpPr>
        <p:spPr bwMode="gray">
          <a:xfrm>
            <a:off x="2245627" y="3912919"/>
            <a:ext cx="39145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000" dirty="0" smtClean="0">
                <a:latin typeface="+mn-ea"/>
                <a:ea typeface="+mn-ea"/>
              </a:rPr>
              <a:t>YES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22" name="AutoShape 86"/>
          <p:cNvSpPr>
            <a:spLocks noChangeArrowheads="1"/>
          </p:cNvSpPr>
          <p:nvPr/>
        </p:nvSpPr>
        <p:spPr bwMode="auto">
          <a:xfrm>
            <a:off x="5096576" y="48241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스타일사이즈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T_STYLE_SIZE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24" name="AutoShape 67"/>
          <p:cNvCxnSpPr>
            <a:cxnSpLocks noChangeShapeType="1"/>
            <a:stCxn id="115" idx="2"/>
            <a:endCxn id="90" idx="1"/>
          </p:cNvCxnSpPr>
          <p:nvPr/>
        </p:nvCxnSpPr>
        <p:spPr bwMode="gray">
          <a:xfrm rot="5400000">
            <a:off x="3764890" y="3954604"/>
            <a:ext cx="675846" cy="106325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AutoShape 67"/>
          <p:cNvCxnSpPr>
            <a:cxnSpLocks noChangeShapeType="1"/>
            <a:stCxn id="115" idx="2"/>
            <a:endCxn id="87" idx="1"/>
          </p:cNvCxnSpPr>
          <p:nvPr/>
        </p:nvCxnSpPr>
        <p:spPr bwMode="gray">
          <a:xfrm rot="5400000">
            <a:off x="4224103" y="4413817"/>
            <a:ext cx="675846" cy="1448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AutoShape 67"/>
          <p:cNvCxnSpPr>
            <a:cxnSpLocks noChangeShapeType="1"/>
            <a:stCxn id="115" idx="2"/>
            <a:endCxn id="122" idx="1"/>
          </p:cNvCxnSpPr>
          <p:nvPr/>
        </p:nvCxnSpPr>
        <p:spPr bwMode="gray">
          <a:xfrm rot="16200000" flipH="1">
            <a:off x="4669270" y="4113480"/>
            <a:ext cx="675846" cy="74550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9" name="AutoShape 86"/>
          <p:cNvSpPr>
            <a:spLocks noChangeArrowheads="1"/>
          </p:cNvSpPr>
          <p:nvPr/>
        </p:nvSpPr>
        <p:spPr bwMode="auto">
          <a:xfrm>
            <a:off x="6576151" y="377951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칼라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T_COLOR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0" name="AutoShape 86"/>
          <p:cNvSpPr>
            <a:spLocks noChangeArrowheads="1"/>
          </p:cNvSpPr>
          <p:nvPr/>
        </p:nvSpPr>
        <p:spPr bwMode="auto">
          <a:xfrm>
            <a:off x="6573180" y="435540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사이즈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T_SIZE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31" name="AutoShape 67"/>
          <p:cNvCxnSpPr>
            <a:cxnSpLocks noChangeShapeType="1"/>
            <a:stCxn id="129" idx="2"/>
            <a:endCxn id="115" idx="3"/>
          </p:cNvCxnSpPr>
          <p:nvPr/>
        </p:nvCxnSpPr>
        <p:spPr bwMode="gray">
          <a:xfrm rot="10800000">
            <a:off x="5236969" y="4021310"/>
            <a:ext cx="1339182" cy="20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AutoShape 67"/>
          <p:cNvCxnSpPr>
            <a:cxnSpLocks noChangeShapeType="1"/>
            <a:stCxn id="130" idx="2"/>
            <a:endCxn id="115" idx="3"/>
          </p:cNvCxnSpPr>
          <p:nvPr/>
        </p:nvCxnSpPr>
        <p:spPr bwMode="gray">
          <a:xfrm rot="10800000">
            <a:off x="5236970" y="4021310"/>
            <a:ext cx="1336211" cy="577973"/>
          </a:xfrm>
          <a:prstGeom prst="bentConnector3">
            <a:avLst>
              <a:gd name="adj1" fmla="val 16497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2" name="AutoShape 86"/>
          <p:cNvSpPr>
            <a:spLocks noChangeArrowheads="1"/>
          </p:cNvSpPr>
          <p:nvPr/>
        </p:nvSpPr>
        <p:spPr bwMode="auto">
          <a:xfrm>
            <a:off x="6587560" y="492583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기획사이즈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T_PLAN_SIZE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43" name="AutoShape 67"/>
          <p:cNvCxnSpPr>
            <a:cxnSpLocks noChangeShapeType="1"/>
            <a:stCxn id="142" idx="2"/>
            <a:endCxn id="115" idx="3"/>
          </p:cNvCxnSpPr>
          <p:nvPr/>
        </p:nvCxnSpPr>
        <p:spPr bwMode="gray">
          <a:xfrm rot="10800000">
            <a:off x="5236970" y="4021309"/>
            <a:ext cx="1350591" cy="1148406"/>
          </a:xfrm>
          <a:prstGeom prst="bentConnector3">
            <a:avLst>
              <a:gd name="adj1" fmla="val 16853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AutoShape 73"/>
          <p:cNvSpPr>
            <a:spLocks noChangeArrowheads="1"/>
          </p:cNvSpPr>
          <p:nvPr/>
        </p:nvSpPr>
        <p:spPr bwMode="auto">
          <a:xfrm>
            <a:off x="2522730" y="3675590"/>
            <a:ext cx="1122748" cy="474662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bIns="0" anchor="b" anchorCtr="1"/>
          <a:lstStyle/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en-US" altLang="ko-KR" sz="1000" dirty="0" smtClean="0">
                <a:latin typeface="+mn-ea"/>
                <a:ea typeface="+mn-ea"/>
              </a:rPr>
              <a:t>REPEAT </a:t>
            </a:r>
          </a:p>
          <a:p>
            <a:pPr algn="ctr" eaLnBrk="0" latinLnBrk="0" hangingPunct="0">
              <a:lnSpc>
                <a:spcPct val="4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+mn-ea"/>
                <a:ea typeface="+mn-ea"/>
              </a:rPr>
              <a:t>여부</a:t>
            </a:r>
            <a:endParaRPr lang="en-US" altLang="ko-KR" sz="1000" dirty="0">
              <a:latin typeface="+mn-ea"/>
              <a:ea typeface="+mn-ea"/>
            </a:endParaRPr>
          </a:p>
        </p:txBody>
      </p:sp>
      <p:cxnSp>
        <p:nvCxnSpPr>
          <p:cNvPr id="70" name="AutoShape 67"/>
          <p:cNvCxnSpPr>
            <a:cxnSpLocks noChangeShapeType="1"/>
            <a:stCxn id="67" idx="2"/>
            <a:endCxn id="69" idx="0"/>
          </p:cNvCxnSpPr>
          <p:nvPr/>
        </p:nvCxnSpPr>
        <p:spPr bwMode="gray">
          <a:xfrm rot="16200000" flipH="1">
            <a:off x="2809599" y="3401085"/>
            <a:ext cx="516620" cy="3238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AutoShape 67"/>
          <p:cNvCxnSpPr>
            <a:cxnSpLocks noChangeShapeType="1"/>
            <a:stCxn id="69" idx="1"/>
            <a:endCxn id="91" idx="1"/>
          </p:cNvCxnSpPr>
          <p:nvPr/>
        </p:nvCxnSpPr>
        <p:spPr bwMode="gray">
          <a:xfrm rot="10800000" flipV="1">
            <a:off x="2104244" y="3912921"/>
            <a:ext cx="418487" cy="37117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Text Box 82"/>
          <p:cNvSpPr txBox="1">
            <a:spLocks noChangeArrowheads="1"/>
          </p:cNvSpPr>
          <p:nvPr/>
        </p:nvSpPr>
        <p:spPr bwMode="gray">
          <a:xfrm>
            <a:off x="4628440" y="3389404"/>
            <a:ext cx="39145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000" dirty="0" smtClean="0">
                <a:latin typeface="+mn-ea"/>
                <a:ea typeface="+mn-ea"/>
              </a:rPr>
              <a:t>YES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80" name="Text Box 82"/>
          <p:cNvSpPr txBox="1">
            <a:spLocks noChangeArrowheads="1"/>
          </p:cNvSpPr>
          <p:nvPr/>
        </p:nvSpPr>
        <p:spPr bwMode="gray">
          <a:xfrm>
            <a:off x="3067983" y="4082879"/>
            <a:ext cx="38183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000" dirty="0" smtClean="0">
                <a:latin typeface="+mn-ea"/>
                <a:ea typeface="+mn-ea"/>
              </a:rPr>
              <a:t>NO</a:t>
            </a:r>
            <a:endParaRPr lang="en-US" altLang="ko-KR" sz="1000" dirty="0">
              <a:latin typeface="+mn-ea"/>
              <a:ea typeface="+mn-ea"/>
            </a:endParaRPr>
          </a:p>
        </p:txBody>
      </p:sp>
      <p:cxnSp>
        <p:nvCxnSpPr>
          <p:cNvPr id="81" name="AutoShape 67"/>
          <p:cNvCxnSpPr>
            <a:cxnSpLocks noChangeShapeType="1"/>
            <a:stCxn id="69" idx="2"/>
            <a:endCxn id="86" idx="4"/>
          </p:cNvCxnSpPr>
          <p:nvPr/>
        </p:nvCxnSpPr>
        <p:spPr bwMode="gray">
          <a:xfrm rot="5400000">
            <a:off x="2274853" y="4263115"/>
            <a:ext cx="922115" cy="69638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AutoShape 67"/>
          <p:cNvCxnSpPr>
            <a:cxnSpLocks noChangeShapeType="1"/>
            <a:stCxn id="69" idx="2"/>
            <a:endCxn id="91" idx="4"/>
          </p:cNvCxnSpPr>
          <p:nvPr/>
        </p:nvCxnSpPr>
        <p:spPr bwMode="gray">
          <a:xfrm rot="5400000">
            <a:off x="2546997" y="3990867"/>
            <a:ext cx="377722" cy="696492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AutoShape 67"/>
          <p:cNvCxnSpPr>
            <a:cxnSpLocks noChangeShapeType="1"/>
            <a:stCxn id="97" idx="2"/>
            <a:endCxn id="69" idx="0"/>
          </p:cNvCxnSpPr>
          <p:nvPr/>
        </p:nvCxnSpPr>
        <p:spPr bwMode="gray">
          <a:xfrm rot="5400000">
            <a:off x="3744964" y="2784605"/>
            <a:ext cx="230125" cy="15518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0" name="AutoShape 79"/>
          <p:cNvSpPr>
            <a:spLocks noChangeArrowheads="1"/>
          </p:cNvSpPr>
          <p:nvPr/>
        </p:nvSpPr>
        <p:spPr bwMode="auto">
          <a:xfrm>
            <a:off x="573731" y="5616760"/>
            <a:ext cx="996950" cy="341312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위탁상품일괄등록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11" name="AutoShape 67"/>
          <p:cNvCxnSpPr>
            <a:cxnSpLocks noChangeShapeType="1"/>
            <a:stCxn id="110" idx="0"/>
            <a:endCxn id="91" idx="2"/>
          </p:cNvCxnSpPr>
          <p:nvPr/>
        </p:nvCxnSpPr>
        <p:spPr bwMode="gray">
          <a:xfrm rot="5400000" flipH="1" flipV="1">
            <a:off x="902147" y="4698033"/>
            <a:ext cx="1088786" cy="74866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4" name="AutoShape 67"/>
          <p:cNvCxnSpPr>
            <a:cxnSpLocks noChangeShapeType="1"/>
            <a:stCxn id="110" idx="0"/>
            <a:endCxn id="86" idx="2"/>
          </p:cNvCxnSpPr>
          <p:nvPr/>
        </p:nvCxnSpPr>
        <p:spPr bwMode="gray">
          <a:xfrm rot="5400000" flipH="1" flipV="1">
            <a:off x="1174395" y="4970179"/>
            <a:ext cx="544393" cy="74877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7" name="AutoShape 67"/>
          <p:cNvCxnSpPr>
            <a:cxnSpLocks noChangeShapeType="1"/>
            <a:stCxn id="110" idx="3"/>
            <a:endCxn id="90" idx="3"/>
          </p:cNvCxnSpPr>
          <p:nvPr/>
        </p:nvCxnSpPr>
        <p:spPr bwMode="gray">
          <a:xfrm flipV="1">
            <a:off x="1570681" y="5311913"/>
            <a:ext cx="2000503" cy="47550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AutoShape 67"/>
          <p:cNvCxnSpPr>
            <a:cxnSpLocks noChangeShapeType="1"/>
            <a:stCxn id="110" idx="3"/>
            <a:endCxn id="87" idx="3"/>
          </p:cNvCxnSpPr>
          <p:nvPr/>
        </p:nvCxnSpPr>
        <p:spPr bwMode="gray">
          <a:xfrm flipV="1">
            <a:off x="1570681" y="5311913"/>
            <a:ext cx="2918930" cy="47550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AutoShape 67"/>
          <p:cNvCxnSpPr>
            <a:cxnSpLocks noChangeShapeType="1"/>
            <a:stCxn id="110" idx="3"/>
            <a:endCxn id="122" idx="3"/>
          </p:cNvCxnSpPr>
          <p:nvPr/>
        </p:nvCxnSpPr>
        <p:spPr bwMode="gray">
          <a:xfrm flipV="1">
            <a:off x="1570681" y="5311913"/>
            <a:ext cx="3809264" cy="47550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Rectangle 51"/>
          <p:cNvSpPr>
            <a:spLocks noChangeArrowheads="1"/>
          </p:cNvSpPr>
          <p:nvPr/>
        </p:nvSpPr>
        <p:spPr bwMode="gray">
          <a:xfrm>
            <a:off x="5640631" y="5871012"/>
            <a:ext cx="1201738" cy="40229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i="1" dirty="0" smtClean="0">
                <a:latin typeface="+mn-ea"/>
                <a:ea typeface="+mn-ea"/>
              </a:rPr>
              <a:t>제품입고</a:t>
            </a:r>
            <a:r>
              <a:rPr lang="en-US" altLang="ko-KR" sz="1000" b="1" i="1" dirty="0" smtClean="0">
                <a:latin typeface="+mn-ea"/>
                <a:ea typeface="+mn-ea"/>
              </a:rPr>
              <a:t>, </a:t>
            </a:r>
            <a:r>
              <a:rPr lang="ko-KR" altLang="en-US" sz="1000" b="1" i="1" dirty="0" smtClean="0">
                <a:latin typeface="+mn-ea"/>
                <a:ea typeface="+mn-ea"/>
              </a:rPr>
              <a:t>출고</a:t>
            </a:r>
            <a:r>
              <a:rPr lang="en-US" altLang="ko-KR" sz="1000" b="1" i="1" dirty="0" smtClean="0">
                <a:latin typeface="+mn-ea"/>
                <a:ea typeface="+mn-ea"/>
              </a:rPr>
              <a:t>, </a:t>
            </a:r>
            <a:r>
              <a:rPr lang="ko-KR" altLang="en-US" sz="1000" b="1" i="1" dirty="0" smtClean="0">
                <a:latin typeface="+mn-ea"/>
                <a:ea typeface="+mn-ea"/>
              </a:rPr>
              <a:t>판매</a:t>
            </a:r>
            <a:endParaRPr lang="ko-KR" altLang="en-US" sz="1000" b="1" i="1" dirty="0">
              <a:latin typeface="+mn-ea"/>
              <a:ea typeface="+mn-ea"/>
            </a:endParaRPr>
          </a:p>
        </p:txBody>
      </p:sp>
      <p:cxnSp>
        <p:nvCxnSpPr>
          <p:cNvPr id="133" name="AutoShape 67"/>
          <p:cNvCxnSpPr>
            <a:cxnSpLocks noChangeShapeType="1"/>
            <a:stCxn id="86" idx="3"/>
            <a:endCxn id="132" idx="1"/>
          </p:cNvCxnSpPr>
          <p:nvPr/>
        </p:nvCxnSpPr>
        <p:spPr bwMode="gray">
          <a:xfrm rot="16200000" flipH="1">
            <a:off x="3494532" y="3926059"/>
            <a:ext cx="755912" cy="3536285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AutoShape 67"/>
          <p:cNvCxnSpPr>
            <a:cxnSpLocks noChangeShapeType="1"/>
            <a:stCxn id="90" idx="4"/>
            <a:endCxn id="132" idx="1"/>
          </p:cNvCxnSpPr>
          <p:nvPr/>
        </p:nvCxnSpPr>
        <p:spPr bwMode="gray">
          <a:xfrm>
            <a:off x="3854553" y="5068034"/>
            <a:ext cx="1786078" cy="1004124"/>
          </a:xfrm>
          <a:prstGeom prst="bentConnector3">
            <a:avLst>
              <a:gd name="adj1" fmla="val 12670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AutoShape 67"/>
          <p:cNvCxnSpPr>
            <a:cxnSpLocks noChangeShapeType="1"/>
            <a:stCxn id="87" idx="4"/>
            <a:endCxn id="132" idx="1"/>
          </p:cNvCxnSpPr>
          <p:nvPr/>
        </p:nvCxnSpPr>
        <p:spPr bwMode="gray">
          <a:xfrm>
            <a:off x="4772980" y="5068034"/>
            <a:ext cx="867651" cy="1004124"/>
          </a:xfrm>
          <a:prstGeom prst="bentConnector3">
            <a:avLst>
              <a:gd name="adj1" fmla="val 21457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AutoShape 67"/>
          <p:cNvCxnSpPr>
            <a:cxnSpLocks noChangeShapeType="1"/>
            <a:stCxn id="122" idx="4"/>
          </p:cNvCxnSpPr>
          <p:nvPr/>
        </p:nvCxnSpPr>
        <p:spPr bwMode="gray">
          <a:xfrm>
            <a:off x="5663314" y="5068034"/>
            <a:ext cx="195827" cy="777528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0" name="TextBox 94"/>
          <p:cNvSpPr txBox="1">
            <a:spLocks noChangeArrowheads="1"/>
          </p:cNvSpPr>
          <p:nvPr/>
        </p:nvSpPr>
        <p:spPr bwMode="auto">
          <a:xfrm>
            <a:off x="5033027" y="2154978"/>
            <a:ext cx="1260573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칼라별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 생산수량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분할입고 정보 관리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Rectangle 49"/>
          <p:cNvSpPr>
            <a:spLocks noChangeArrowheads="1"/>
          </p:cNvSpPr>
          <p:nvPr/>
        </p:nvSpPr>
        <p:spPr bwMode="gray">
          <a:xfrm>
            <a:off x="382707" y="3989232"/>
            <a:ext cx="1205057" cy="25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소비자가 확정</a:t>
            </a:r>
            <a:endParaRPr lang="ko-KR" altLang="en-US" sz="1000" b="1" dirty="0">
              <a:latin typeface="+mn-ea"/>
              <a:ea typeface="+mn-ea"/>
            </a:endParaRPr>
          </a:p>
        </p:txBody>
      </p:sp>
      <p:cxnSp>
        <p:nvCxnSpPr>
          <p:cNvPr id="152" name="AutoShape 67"/>
          <p:cNvCxnSpPr>
            <a:cxnSpLocks noChangeShapeType="1"/>
            <a:stCxn id="151" idx="2"/>
            <a:endCxn id="86" idx="2"/>
          </p:cNvCxnSpPr>
          <p:nvPr/>
        </p:nvCxnSpPr>
        <p:spPr bwMode="gray">
          <a:xfrm rot="16200000" flipH="1">
            <a:off x="988539" y="4239928"/>
            <a:ext cx="829135" cy="835741"/>
          </a:xfrm>
          <a:prstGeom prst="curvedConnector2">
            <a:avLst/>
          </a:prstGeom>
          <a:noFill/>
          <a:ln w="9525">
            <a:solidFill>
              <a:srgbClr val="CC3300"/>
            </a:solidFill>
            <a:prstDash val="solid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TextBox 94"/>
          <p:cNvSpPr txBox="1">
            <a:spLocks noChangeArrowheads="1"/>
          </p:cNvSpPr>
          <p:nvPr/>
        </p:nvSpPr>
        <p:spPr bwMode="auto">
          <a:xfrm>
            <a:off x="349188" y="3791564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ko-KR" altLang="en-US" sz="800" smtClean="0">
                <a:latin typeface="맑은 고딕" pitchFamily="50" charset="-127"/>
                <a:ea typeface="맑은 고딕" pitchFamily="50" charset="-127"/>
              </a:rPr>
              <a:t>확정일자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소비자가금액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사각형 설명선 88"/>
          <p:cNvSpPr/>
          <p:nvPr/>
        </p:nvSpPr>
        <p:spPr>
          <a:xfrm>
            <a:off x="1937665" y="3255268"/>
            <a:ext cx="1239279" cy="254443"/>
          </a:xfrm>
          <a:prstGeom prst="wedgeRectCallout">
            <a:avLst>
              <a:gd name="adj1" fmla="val 40349"/>
              <a:gd name="adj2" fmla="val 15481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추가생산여부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차수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사각형 설명선 91"/>
          <p:cNvSpPr/>
          <p:nvPr/>
        </p:nvSpPr>
        <p:spPr>
          <a:xfrm>
            <a:off x="362490" y="6053850"/>
            <a:ext cx="2709783" cy="345480"/>
          </a:xfrm>
          <a:prstGeom prst="wedgeRectCallout">
            <a:avLst>
              <a:gd name="adj1" fmla="val -23838"/>
              <a:gd name="adj2" fmla="val -11000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외부 상품을 신성에서 판매하고 수수료를 받는 개념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위탁상품의 경우 작업지시서 대신 해당 메뉴 활용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384411" y="1355484"/>
            <a:ext cx="3005668" cy="7841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T_PRDT_PLAN  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제품코드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T_PRDT	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 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제품코드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컬러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T_STYLE	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스타일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 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제품코드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컬러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생산차수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T_STYLE_SIZE	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스타일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 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사이즈코드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T_WORK_INDC	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제품코드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스타일차수</a:t>
            </a:r>
          </a:p>
        </p:txBody>
      </p:sp>
      <p:sp>
        <p:nvSpPr>
          <p:cNvPr id="93" name="사각형 설명선 92"/>
          <p:cNvSpPr/>
          <p:nvPr/>
        </p:nvSpPr>
        <p:spPr>
          <a:xfrm>
            <a:off x="2015443" y="1292594"/>
            <a:ext cx="1546642" cy="457683"/>
          </a:xfrm>
          <a:prstGeom prst="wedgeRectCallout">
            <a:avLst>
              <a:gd name="adj1" fmla="val -64274"/>
              <a:gd name="adj2" fmla="val 2430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상품기획팀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작업지시서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디자인팀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제품디자인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수량은 영업부서에서 관리</a:t>
            </a:r>
            <a:endParaRPr lang="en-US" altLang="ko-KR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2721328" y="5425696"/>
            <a:ext cx="2892846" cy="60686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입고는 생산차수가 있으나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출고는 생산차수가 없다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REPEAT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 발생된 데이터는 생산차수가 있기 때문에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출고내역이 있으면 삭제할 수 없다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이는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 삭제가능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여부 체크를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PRDT_CD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로만 체크하고 있기 때문이다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521145" y="5593492"/>
            <a:ext cx="1869990" cy="337751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" name="직선 화살표 연결선 8"/>
          <p:cNvCxnSpPr>
            <a:stCxn id="95" idx="1"/>
            <a:endCxn id="94" idx="3"/>
          </p:cNvCxnSpPr>
          <p:nvPr/>
        </p:nvCxnSpPr>
        <p:spPr bwMode="auto">
          <a:xfrm flipH="1" flipV="1">
            <a:off x="5614174" y="5729127"/>
            <a:ext cx="1906971" cy="332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59977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제품정보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50" name="그림 1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23204"/>
            <a:ext cx="9003450" cy="5811141"/>
          </a:xfrm>
          <a:prstGeom prst="rect">
            <a:avLst/>
          </a:prstGeom>
        </p:spPr>
      </p:pic>
      <p:sp>
        <p:nvSpPr>
          <p:cNvPr id="229" name="Rectangle 4"/>
          <p:cNvSpPr>
            <a:spLocks noChangeArrowheads="1"/>
          </p:cNvSpPr>
          <p:nvPr/>
        </p:nvSpPr>
        <p:spPr bwMode="auto">
          <a:xfrm>
            <a:off x="2029562" y="1268760"/>
            <a:ext cx="6748863" cy="1620180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230" name="꺾인 연결선 56"/>
          <p:cNvCxnSpPr>
            <a:cxnSpLocks noChangeShapeType="1"/>
            <a:stCxn id="229" idx="1"/>
            <a:endCxn id="231" idx="0"/>
          </p:cNvCxnSpPr>
          <p:nvPr/>
        </p:nvCxnSpPr>
        <p:spPr bwMode="auto">
          <a:xfrm rot="10800000" flipV="1">
            <a:off x="1847358" y="2078850"/>
            <a:ext cx="182204" cy="1260140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1" name="Rectangle 232"/>
          <p:cNvSpPr>
            <a:spLocks noChangeArrowheads="1"/>
          </p:cNvSpPr>
          <p:nvPr/>
        </p:nvSpPr>
        <p:spPr bwMode="auto">
          <a:xfrm>
            <a:off x="407495" y="3338990"/>
            <a:ext cx="2879725" cy="7872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제품정보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[T_PRDT_PLAN]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대한 코드 상세화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제품구분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기획생산형태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여부 등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소비자 확정 및 확정일자 관리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8" name="Rectangle 232"/>
          <p:cNvSpPr>
            <a:spLocks noChangeArrowheads="1"/>
          </p:cNvSpPr>
          <p:nvPr/>
        </p:nvSpPr>
        <p:spPr bwMode="auto">
          <a:xfrm>
            <a:off x="8211573" y="895510"/>
            <a:ext cx="1522000" cy="318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제품정보</a:t>
            </a:r>
            <a:r>
              <a:rPr lang="en-US" altLang="ko-KR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[T_PRDT_PLAN]</a:t>
            </a:r>
            <a:endParaRPr lang="en-US" altLang="ko-KR" sz="8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9" name="Rectangle 232"/>
          <p:cNvSpPr>
            <a:spLocks noChangeArrowheads="1"/>
          </p:cNvSpPr>
          <p:nvPr/>
        </p:nvSpPr>
        <p:spPr bwMode="auto">
          <a:xfrm>
            <a:off x="8211573" y="2947699"/>
            <a:ext cx="1522000" cy="318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[T_PRDT]</a:t>
            </a:r>
            <a:endParaRPr lang="en-US" altLang="ko-KR" sz="8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0" name="Rectangle 232"/>
          <p:cNvSpPr>
            <a:spLocks noChangeArrowheads="1"/>
          </p:cNvSpPr>
          <p:nvPr/>
        </p:nvSpPr>
        <p:spPr bwMode="auto">
          <a:xfrm>
            <a:off x="8211573" y="5293808"/>
            <a:ext cx="1522000" cy="3181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제품거래정보</a:t>
            </a:r>
            <a:r>
              <a:rPr lang="en-US" altLang="ko-KR" sz="800" b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[T_PRDT_DEAL]</a:t>
            </a:r>
            <a:endParaRPr lang="en-US" altLang="ko-KR" sz="8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 설명선 12"/>
          <p:cNvSpPr/>
          <p:nvPr/>
        </p:nvSpPr>
        <p:spPr>
          <a:xfrm>
            <a:off x="5323784" y="3057338"/>
            <a:ext cx="2703320" cy="472251"/>
          </a:xfrm>
          <a:prstGeom prst="wedgeRectCallout">
            <a:avLst>
              <a:gd name="adj1" fmla="val 31207"/>
              <a:gd name="adj2" fmla="val -10160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일반상품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기획상품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전략상품으로 나뉜다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실판가가 등록되어 있지 않을 경우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위 분류에 따라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소비자가에서 일정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가 적용된다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5100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제품정보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50" name="그림 1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23204"/>
            <a:ext cx="9003450" cy="5811141"/>
          </a:xfrm>
          <a:prstGeom prst="rect">
            <a:avLst/>
          </a:prstGeom>
        </p:spPr>
      </p:pic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327137" y="2033846"/>
            <a:ext cx="1705983" cy="225024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14" name="꺾인 연결선 56"/>
          <p:cNvCxnSpPr>
            <a:cxnSpLocks noChangeShapeType="1"/>
            <a:stCxn id="13" idx="0"/>
            <a:endCxn id="15" idx="2"/>
          </p:cNvCxnSpPr>
          <p:nvPr/>
        </p:nvCxnSpPr>
        <p:spPr bwMode="auto">
          <a:xfrm rot="5400000" flipH="1" flipV="1">
            <a:off x="5010098" y="1811931"/>
            <a:ext cx="391946" cy="51884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232"/>
          <p:cNvSpPr>
            <a:spLocks noChangeArrowheads="1"/>
          </p:cNvSpPr>
          <p:nvPr/>
        </p:nvSpPr>
        <p:spPr bwMode="auto">
          <a:xfrm>
            <a:off x="4277925" y="1313765"/>
            <a:ext cx="1908175" cy="3281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일반제품의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출고 가능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사용처 없음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 항목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5660445" y="3291536"/>
            <a:ext cx="1631950" cy="542509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19" name="Rectangle 232"/>
          <p:cNvSpPr>
            <a:spLocks noChangeArrowheads="1"/>
          </p:cNvSpPr>
          <p:nvPr/>
        </p:nvSpPr>
        <p:spPr bwMode="auto">
          <a:xfrm>
            <a:off x="6843209" y="1718810"/>
            <a:ext cx="3015335" cy="11187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할인여부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판매에 할인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가능 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할인여부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= N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이고  할인율이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&lt;&gt; 0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오류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저가여부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출고시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고정출고가 미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등록시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오류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저가여부가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YES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고정출고가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등록 필요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에누리여부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 발생시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에누리 처리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가능여부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사용처 없음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 항목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꺾인 연결선 56"/>
          <p:cNvCxnSpPr>
            <a:cxnSpLocks noChangeShapeType="1"/>
            <a:stCxn id="18" idx="0"/>
            <a:endCxn id="19" idx="2"/>
          </p:cNvCxnSpPr>
          <p:nvPr/>
        </p:nvCxnSpPr>
        <p:spPr bwMode="auto">
          <a:xfrm rot="5400000" flipH="1" flipV="1">
            <a:off x="7186636" y="2127296"/>
            <a:ext cx="454025" cy="1874457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3962890" y="3293985"/>
            <a:ext cx="1631950" cy="54006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27" name="Rectangle 232"/>
          <p:cNvSpPr>
            <a:spLocks noChangeArrowheads="1"/>
          </p:cNvSpPr>
          <p:nvPr/>
        </p:nvSpPr>
        <p:spPr bwMode="auto">
          <a:xfrm>
            <a:off x="4333977" y="5057620"/>
            <a:ext cx="2628900" cy="714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시즌오프등록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매출 전략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종료일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시즌반분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준비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부진품등록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판매 부진 품에 대한 일자관리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재매입여부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재매입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대상 제품 여부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꺾인 연결선 56"/>
          <p:cNvCxnSpPr>
            <a:cxnSpLocks noChangeShapeType="1"/>
            <a:stCxn id="26" idx="2"/>
            <a:endCxn id="27" idx="0"/>
          </p:cNvCxnSpPr>
          <p:nvPr/>
        </p:nvCxnSpPr>
        <p:spPr bwMode="auto">
          <a:xfrm rot="16200000" flipH="1">
            <a:off x="4601859" y="4011051"/>
            <a:ext cx="1223575" cy="86956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7266492" y="4461573"/>
            <a:ext cx="1466927" cy="182562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34" name="꺾인 연결선 56"/>
          <p:cNvCxnSpPr>
            <a:cxnSpLocks noChangeShapeType="1"/>
            <a:stCxn id="18" idx="2"/>
            <a:endCxn id="33" idx="1"/>
          </p:cNvCxnSpPr>
          <p:nvPr/>
        </p:nvCxnSpPr>
        <p:spPr bwMode="auto">
          <a:xfrm rot="16200000" flipH="1">
            <a:off x="6512052" y="3798413"/>
            <a:ext cx="718809" cy="790072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7376148" y="3291535"/>
            <a:ext cx="1631950" cy="727336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39" name="Rectangle 232"/>
          <p:cNvSpPr>
            <a:spLocks noChangeArrowheads="1"/>
          </p:cNvSpPr>
          <p:nvPr/>
        </p:nvSpPr>
        <p:spPr bwMode="auto">
          <a:xfrm>
            <a:off x="7149716" y="5256511"/>
            <a:ext cx="2628900" cy="11428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출고정지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출고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요청시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배분여부가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 출고 요청 처리가 안됨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판매정지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판매정지가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‘Y’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전매장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판매정지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점간이동여부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점간 이동 대상에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제외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NOSALE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공급가 계산시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20%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자동할인 여부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0" name="꺾인 연결선 56"/>
          <p:cNvCxnSpPr>
            <a:cxnSpLocks noChangeShapeType="1"/>
            <a:stCxn id="38" idx="3"/>
            <a:endCxn id="39" idx="0"/>
          </p:cNvCxnSpPr>
          <p:nvPr/>
        </p:nvCxnSpPr>
        <p:spPr bwMode="auto">
          <a:xfrm flipH="1">
            <a:off x="8464166" y="3655203"/>
            <a:ext cx="543932" cy="1601308"/>
          </a:xfrm>
          <a:prstGeom prst="bentConnector4">
            <a:avLst>
              <a:gd name="adj1" fmla="val -42027"/>
              <a:gd name="adj2" fmla="val 73516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Rectangle 4"/>
          <p:cNvSpPr>
            <a:spLocks noChangeArrowheads="1"/>
          </p:cNvSpPr>
          <p:nvPr/>
        </p:nvSpPr>
        <p:spPr bwMode="auto">
          <a:xfrm>
            <a:off x="2117647" y="2664008"/>
            <a:ext cx="4635553" cy="21351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50" name="Rectangle 232"/>
          <p:cNvSpPr>
            <a:spLocks noChangeArrowheads="1"/>
          </p:cNvSpPr>
          <p:nvPr/>
        </p:nvSpPr>
        <p:spPr bwMode="auto">
          <a:xfrm>
            <a:off x="425372" y="2987765"/>
            <a:ext cx="1908175" cy="3413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제품의 소매가 확정일 관리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 확정 처리시 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 제한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1" name="꺾인 연결선 56"/>
          <p:cNvCxnSpPr>
            <a:cxnSpLocks noChangeShapeType="1"/>
            <a:stCxn id="49" idx="1"/>
            <a:endCxn id="50" idx="0"/>
          </p:cNvCxnSpPr>
          <p:nvPr/>
        </p:nvCxnSpPr>
        <p:spPr bwMode="auto">
          <a:xfrm rot="10800000" flipV="1">
            <a:off x="1379461" y="2770765"/>
            <a:ext cx="738187" cy="216999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Rectangle 232"/>
          <p:cNvSpPr>
            <a:spLocks noChangeArrowheads="1"/>
          </p:cNvSpPr>
          <p:nvPr/>
        </p:nvSpPr>
        <p:spPr bwMode="auto">
          <a:xfrm>
            <a:off x="273050" y="4018871"/>
            <a:ext cx="1640837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제품이미지 관리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화면에 제품이미지 활용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2117646" y="5091035"/>
            <a:ext cx="1845243" cy="38735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61" name="꺾인 연결선 56"/>
          <p:cNvCxnSpPr>
            <a:cxnSpLocks noChangeShapeType="1"/>
            <a:stCxn id="60" idx="0"/>
            <a:endCxn id="59" idx="3"/>
          </p:cNvCxnSpPr>
          <p:nvPr/>
        </p:nvCxnSpPr>
        <p:spPr bwMode="auto">
          <a:xfrm rot="16200000" flipV="1">
            <a:off x="2048946" y="4099712"/>
            <a:ext cx="856264" cy="1126381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사각형 설명선 24"/>
          <p:cNvSpPr/>
          <p:nvPr/>
        </p:nvSpPr>
        <p:spPr>
          <a:xfrm>
            <a:off x="4772980" y="700216"/>
            <a:ext cx="3780420" cy="470740"/>
          </a:xfrm>
          <a:prstGeom prst="wedgeRectCallout">
            <a:avLst>
              <a:gd name="adj1" fmla="val -37136"/>
              <a:gd name="adj2" fmla="val 840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출고와 동시에 판매가 이루어지는 개념으로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판매등록을 하지 않는다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최소화를 위해 만들었던 기능이며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주로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땡처리를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할 때 활용되었다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현재는 사용하지 않는 기능</a:t>
            </a:r>
          </a:p>
        </p:txBody>
      </p:sp>
      <p:sp>
        <p:nvSpPr>
          <p:cNvPr id="29" name="사각형 설명선 28"/>
          <p:cNvSpPr/>
          <p:nvPr/>
        </p:nvSpPr>
        <p:spPr>
          <a:xfrm>
            <a:off x="677504" y="5913885"/>
            <a:ext cx="4455516" cy="635285"/>
          </a:xfrm>
          <a:prstGeom prst="wedgeRectCallout">
            <a:avLst>
              <a:gd name="adj1" fmla="val 35171"/>
              <a:gd name="adj2" fmla="val -7881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재매입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종류에는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감가재매입과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판매분재매입이 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신성과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모두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감가재매입을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수행하고 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감가재매입은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재고평가를 재계산하는 개념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Ex)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실판매가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10,000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원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→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할인된 금액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8,000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원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→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2,000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원 차액 발생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→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감가재매입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수행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90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제품정보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50" name="그림 1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23204"/>
            <a:ext cx="9003450" cy="5811141"/>
          </a:xfrm>
          <a:prstGeom prst="rect">
            <a:avLst/>
          </a:prstGeom>
        </p:spPr>
      </p:pic>
      <p:cxnSp>
        <p:nvCxnSpPr>
          <p:cNvPr id="25" name="꺾인 연결선 56"/>
          <p:cNvCxnSpPr>
            <a:cxnSpLocks noChangeShapeType="1"/>
            <a:endCxn id="29" idx="2"/>
          </p:cNvCxnSpPr>
          <p:nvPr/>
        </p:nvCxnSpPr>
        <p:spPr bwMode="auto">
          <a:xfrm rot="10800000">
            <a:off x="2391323" y="4307908"/>
            <a:ext cx="1571568" cy="552450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232"/>
          <p:cNvSpPr>
            <a:spLocks noChangeArrowheads="1"/>
          </p:cNvSpPr>
          <p:nvPr/>
        </p:nvSpPr>
        <p:spPr bwMode="auto">
          <a:xfrm>
            <a:off x="1124555" y="3530033"/>
            <a:ext cx="2533535" cy="7778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제품기획시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투입되는 원가의 추정 사항 관리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추정사항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진행 시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추정사항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제품입고 전 최종 사항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사용처 없음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 항목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3962890" y="4284095"/>
            <a:ext cx="2475275" cy="135015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35" name="Rectangle 232"/>
          <p:cNvSpPr>
            <a:spLocks noChangeArrowheads="1"/>
          </p:cNvSpPr>
          <p:nvPr/>
        </p:nvSpPr>
        <p:spPr bwMode="auto">
          <a:xfrm>
            <a:off x="6846833" y="3321277"/>
            <a:ext cx="2094256" cy="7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수불원가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제품의 생산된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입고 단가가 아닌 수불 단가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매월 수불단가는 변동 될 수 있음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최종월의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수불단가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7242119" y="4644135"/>
            <a:ext cx="1491301" cy="405045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37" name="꺾인 연결선 56"/>
          <p:cNvCxnSpPr>
            <a:cxnSpLocks noChangeShapeType="1"/>
            <a:stCxn id="36" idx="1"/>
            <a:endCxn id="35" idx="1"/>
          </p:cNvCxnSpPr>
          <p:nvPr/>
        </p:nvCxnSpPr>
        <p:spPr bwMode="auto">
          <a:xfrm rot="10800000">
            <a:off x="6846833" y="3710216"/>
            <a:ext cx="395286" cy="1136443"/>
          </a:xfrm>
          <a:prstGeom prst="bentConnector3">
            <a:avLst>
              <a:gd name="adj1" fmla="val 157832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ectangle 4"/>
          <p:cNvSpPr>
            <a:spLocks noChangeArrowheads="1"/>
          </p:cNvSpPr>
          <p:nvPr/>
        </p:nvSpPr>
        <p:spPr bwMode="auto">
          <a:xfrm>
            <a:off x="2091152" y="5669480"/>
            <a:ext cx="6912298" cy="691648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42" name="Rectangle 232"/>
          <p:cNvSpPr>
            <a:spLocks noChangeArrowheads="1"/>
          </p:cNvSpPr>
          <p:nvPr/>
        </p:nvSpPr>
        <p:spPr bwMode="auto">
          <a:xfrm>
            <a:off x="362490" y="5144018"/>
            <a:ext cx="2028831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수불의 최초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최종 일자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누적 입고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 수량 관리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꺾인 연결선 56"/>
          <p:cNvCxnSpPr>
            <a:cxnSpLocks noChangeShapeType="1"/>
            <a:stCxn id="41" idx="1"/>
            <a:endCxn id="42" idx="2"/>
          </p:cNvCxnSpPr>
          <p:nvPr/>
        </p:nvCxnSpPr>
        <p:spPr bwMode="auto">
          <a:xfrm rot="10800000">
            <a:off x="1376906" y="5525018"/>
            <a:ext cx="714246" cy="490286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사각형 설명선 14"/>
          <p:cNvSpPr/>
          <p:nvPr/>
        </p:nvSpPr>
        <p:spPr>
          <a:xfrm>
            <a:off x="6258146" y="2890876"/>
            <a:ext cx="3465384" cy="398079"/>
          </a:xfrm>
          <a:prstGeom prst="wedgeRectCallout">
            <a:avLst>
              <a:gd name="adj1" fmla="val 23564"/>
              <a:gd name="adj2" fmla="val 7450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사전원가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= T_PRDT.MFAC_L_COST,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결재된 사전원가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사후원가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= T_PRDT.RNDS_COST, T_M_RNDS.RNDS_COST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수불단가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24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9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36893"/>
            <a:ext cx="9450480" cy="5797452"/>
          </a:xfrm>
          <a:prstGeom prst="rect">
            <a:avLst/>
          </a:prstGeom>
        </p:spPr>
      </p:pic>
      <p:sp>
        <p:nvSpPr>
          <p:cNvPr id="18" name="Rectangle 232"/>
          <p:cNvSpPr>
            <a:spLocks noChangeArrowheads="1"/>
          </p:cNvSpPr>
          <p:nvPr/>
        </p:nvSpPr>
        <p:spPr bwMode="auto">
          <a:xfrm>
            <a:off x="3917885" y="736894"/>
            <a:ext cx="1792815" cy="4543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판매결재에 필요한 단말기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고유 정보 및 현금영수증 승인 자동 처리 여부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7968337" y="1268761"/>
            <a:ext cx="1665184" cy="18002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6303150" y="1984326"/>
            <a:ext cx="1665184" cy="20252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2297707" y="1812879"/>
            <a:ext cx="1620178" cy="17991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4188201" y="1812879"/>
            <a:ext cx="1934929" cy="17991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44" name="꺾인 연결선 56"/>
          <p:cNvCxnSpPr>
            <a:cxnSpLocks noChangeShapeType="1"/>
            <a:stCxn id="38" idx="1"/>
            <a:endCxn id="18" idx="3"/>
          </p:cNvCxnSpPr>
          <p:nvPr/>
        </p:nvCxnSpPr>
        <p:spPr bwMode="auto">
          <a:xfrm rot="10800000">
            <a:off x="5710700" y="964082"/>
            <a:ext cx="592450" cy="1121506"/>
          </a:xfrm>
          <a:prstGeom prst="bentConnector3">
            <a:avLst>
              <a:gd name="adj1" fmla="val 5698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꺾인 연결선 56"/>
          <p:cNvCxnSpPr>
            <a:cxnSpLocks noChangeShapeType="1"/>
            <a:stCxn id="40" idx="0"/>
            <a:endCxn id="18" idx="2"/>
          </p:cNvCxnSpPr>
          <p:nvPr/>
        </p:nvCxnSpPr>
        <p:spPr bwMode="auto">
          <a:xfrm rot="16200000" flipV="1">
            <a:off x="4674176" y="1331388"/>
            <a:ext cx="621609" cy="341373"/>
          </a:xfrm>
          <a:prstGeom prst="bentConnector3">
            <a:avLst>
              <a:gd name="adj1" fmla="val 66345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꺾인 연결선 56"/>
          <p:cNvCxnSpPr>
            <a:cxnSpLocks noChangeShapeType="1"/>
            <a:stCxn id="39" idx="0"/>
            <a:endCxn id="18" idx="2"/>
          </p:cNvCxnSpPr>
          <p:nvPr/>
        </p:nvCxnSpPr>
        <p:spPr bwMode="auto">
          <a:xfrm rot="5400000" flipH="1" flipV="1">
            <a:off x="3650240" y="648827"/>
            <a:ext cx="621609" cy="1706497"/>
          </a:xfrm>
          <a:prstGeom prst="bentConnector3">
            <a:avLst>
              <a:gd name="adj1" fmla="val 64983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Rectangle 232"/>
          <p:cNvSpPr>
            <a:spLocks noChangeArrowheads="1"/>
          </p:cNvSpPr>
          <p:nvPr/>
        </p:nvSpPr>
        <p:spPr bwMode="auto">
          <a:xfrm>
            <a:off x="6393161" y="716773"/>
            <a:ext cx="1927658" cy="405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알리페이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결제용 매장 고유번호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판매결제시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알리페이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결제 시 필요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6" name="꺾인 연결선 56"/>
          <p:cNvCxnSpPr>
            <a:cxnSpLocks noChangeShapeType="1"/>
            <a:stCxn id="31" idx="0"/>
            <a:endCxn id="65" idx="3"/>
          </p:cNvCxnSpPr>
          <p:nvPr/>
        </p:nvCxnSpPr>
        <p:spPr bwMode="auto">
          <a:xfrm rot="16200000" flipV="1">
            <a:off x="8386142" y="853974"/>
            <a:ext cx="349465" cy="480110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7968334" y="1446522"/>
            <a:ext cx="1665184" cy="53412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78" name="Rectangle 232"/>
          <p:cNvSpPr>
            <a:spLocks noChangeArrowheads="1"/>
          </p:cNvSpPr>
          <p:nvPr/>
        </p:nvSpPr>
        <p:spPr bwMode="auto">
          <a:xfrm>
            <a:off x="6393162" y="2591301"/>
            <a:ext cx="3131542" cy="7476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환급단말기번호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TAX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REFUND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결제용 단말기 식별번호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판매결제시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즉시 환급여부에 따라 부가세가 차감된 금액이 결제 처리됨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면세처리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환급매장코드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cxnSp>
        <p:nvCxnSpPr>
          <p:cNvPr id="79" name="꺾인 연결선 56"/>
          <p:cNvCxnSpPr>
            <a:cxnSpLocks noChangeShapeType="1"/>
            <a:stCxn id="75" idx="3"/>
            <a:endCxn id="78" idx="3"/>
          </p:cNvCxnSpPr>
          <p:nvPr/>
        </p:nvCxnSpPr>
        <p:spPr bwMode="auto">
          <a:xfrm flipH="1">
            <a:off x="9524704" y="1713586"/>
            <a:ext cx="108814" cy="1251560"/>
          </a:xfrm>
          <a:prstGeom prst="bentConnector3">
            <a:avLst>
              <a:gd name="adj1" fmla="val -210083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사각형 설명선 18"/>
          <p:cNvSpPr/>
          <p:nvPr/>
        </p:nvSpPr>
        <p:spPr>
          <a:xfrm>
            <a:off x="787825" y="3232175"/>
            <a:ext cx="4570220" cy="511859"/>
          </a:xfrm>
          <a:prstGeom prst="wedgeRectCallout">
            <a:avLst>
              <a:gd name="adj1" fmla="val -38390"/>
              <a:gd name="adj2" fmla="val -9606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일회성 거래처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조정거래명세서등록 메뉴에서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사입거래선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매장에 대한 사업자번호를 수기로 입력할 수 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현재는 미사용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사각형 설명선 19"/>
          <p:cNvSpPr/>
          <p:nvPr/>
        </p:nvSpPr>
        <p:spPr>
          <a:xfrm>
            <a:off x="1097273" y="1171148"/>
            <a:ext cx="2126658" cy="216151"/>
          </a:xfrm>
          <a:prstGeom prst="wedgeRectCallout">
            <a:avLst>
              <a:gd name="adj1" fmla="val 26004"/>
              <a:gd name="adj2" fmla="val 1766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통합매장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ID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를 기준으로 실적 등을 조회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889898" y="3504999"/>
            <a:ext cx="3510390" cy="5209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TAX REFUND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기능은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MBA016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명동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점에서만 활용하고 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단말기번호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단말기구분 기준으로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F-POS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기기와 연동된다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단말기구분별로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F-POS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기기에서 사용되는 프로그램 모듈이 달라진다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422291" y="2611394"/>
            <a:ext cx="757882" cy="164757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" name="직선 화살표 연결선 3"/>
          <p:cNvCxnSpPr>
            <a:endCxn id="21" idx="0"/>
          </p:cNvCxnSpPr>
          <p:nvPr/>
        </p:nvCxnSpPr>
        <p:spPr bwMode="auto">
          <a:xfrm>
            <a:off x="7645093" y="2776151"/>
            <a:ext cx="0" cy="7288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사각형 설명선 23"/>
          <p:cNvSpPr/>
          <p:nvPr/>
        </p:nvSpPr>
        <p:spPr>
          <a:xfrm>
            <a:off x="3168998" y="2251164"/>
            <a:ext cx="3105348" cy="411368"/>
          </a:xfrm>
          <a:prstGeom prst="wedgeRectCallout">
            <a:avLst>
              <a:gd name="adj1" fmla="val 55450"/>
              <a:gd name="adj2" fmla="val -8967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10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만원 이상일 때 현금영수증 발급대상이나</a:t>
            </a:r>
            <a:endParaRPr lang="en-US" altLang="ko-KR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[YES]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 설정되어 있을 시 금액 상관없이 자동으로 발급된다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801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36893"/>
            <a:ext cx="9450480" cy="5797452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9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매장정보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8" name="Rectangle 232"/>
          <p:cNvSpPr>
            <a:spLocks noChangeArrowheads="1"/>
          </p:cNvSpPr>
          <p:nvPr/>
        </p:nvSpPr>
        <p:spPr bwMode="auto">
          <a:xfrm>
            <a:off x="2027675" y="2207094"/>
            <a:ext cx="2115235" cy="405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고객분석용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POP UP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연령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성별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현수막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전단지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2311213" y="3030735"/>
            <a:ext cx="1620178" cy="17991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40" name="Rectangle 4"/>
          <p:cNvSpPr>
            <a:spLocks noChangeArrowheads="1"/>
          </p:cNvSpPr>
          <p:nvPr/>
        </p:nvSpPr>
        <p:spPr bwMode="auto">
          <a:xfrm>
            <a:off x="6573180" y="3375528"/>
            <a:ext cx="1395155" cy="225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45" name="꺾인 연결선 56"/>
          <p:cNvCxnSpPr>
            <a:cxnSpLocks noChangeShapeType="1"/>
            <a:stCxn id="75" idx="1"/>
            <a:endCxn id="65" idx="3"/>
          </p:cNvCxnSpPr>
          <p:nvPr/>
        </p:nvCxnSpPr>
        <p:spPr bwMode="auto">
          <a:xfrm rot="10800000">
            <a:off x="7705779" y="1973203"/>
            <a:ext cx="305313" cy="822342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꺾인 연결선 56"/>
          <p:cNvCxnSpPr>
            <a:cxnSpLocks noChangeShapeType="1"/>
            <a:stCxn id="40" idx="0"/>
            <a:endCxn id="89" idx="3"/>
          </p:cNvCxnSpPr>
          <p:nvPr/>
        </p:nvCxnSpPr>
        <p:spPr bwMode="auto">
          <a:xfrm rot="16200000" flipV="1">
            <a:off x="6594925" y="2699695"/>
            <a:ext cx="294048" cy="1057618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Rectangle 232"/>
          <p:cNvSpPr>
            <a:spLocks noChangeArrowheads="1"/>
          </p:cNvSpPr>
          <p:nvPr/>
        </p:nvSpPr>
        <p:spPr bwMode="auto">
          <a:xfrm>
            <a:off x="5778120" y="1703588"/>
            <a:ext cx="1927658" cy="5392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매장에서 판매 할 수 있는 제품의 브랜드 정보 등록된 브랜드의 제품만 판매 가능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Rectangle 4"/>
          <p:cNvSpPr>
            <a:spLocks noChangeArrowheads="1"/>
          </p:cNvSpPr>
          <p:nvPr/>
        </p:nvSpPr>
        <p:spPr bwMode="auto">
          <a:xfrm>
            <a:off x="8011091" y="2207094"/>
            <a:ext cx="1577424" cy="1176901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89" name="Rectangle 232"/>
          <p:cNvSpPr>
            <a:spLocks noChangeArrowheads="1"/>
          </p:cNvSpPr>
          <p:nvPr/>
        </p:nvSpPr>
        <p:spPr bwMode="auto">
          <a:xfrm>
            <a:off x="4301557" y="2842200"/>
            <a:ext cx="1911583" cy="4785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점간이동요청등록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화면에서 요청매장에서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타매장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재고를 검색 가능 여부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(Y: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조회대상 제외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" name="꺾인 연결선 56"/>
          <p:cNvCxnSpPr>
            <a:cxnSpLocks noChangeShapeType="1"/>
            <a:stCxn id="39" idx="0"/>
            <a:endCxn id="18" idx="2"/>
          </p:cNvCxnSpPr>
          <p:nvPr/>
        </p:nvCxnSpPr>
        <p:spPr bwMode="auto">
          <a:xfrm rot="16200000" flipV="1">
            <a:off x="2894000" y="2803432"/>
            <a:ext cx="418596" cy="36009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Rectangle 232"/>
          <p:cNvSpPr>
            <a:spLocks noChangeArrowheads="1"/>
          </p:cNvSpPr>
          <p:nvPr/>
        </p:nvSpPr>
        <p:spPr bwMode="auto">
          <a:xfrm>
            <a:off x="6480921" y="3978012"/>
            <a:ext cx="3060340" cy="4050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판매등록에서 영수증처리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영수증불러오기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처리시 횟수 제한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Rectangle 4"/>
          <p:cNvSpPr>
            <a:spLocks noChangeArrowheads="1"/>
          </p:cNvSpPr>
          <p:nvPr/>
        </p:nvSpPr>
        <p:spPr bwMode="auto">
          <a:xfrm>
            <a:off x="8182113" y="3579706"/>
            <a:ext cx="1395155" cy="225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101" name="꺾인 연결선 56"/>
          <p:cNvCxnSpPr>
            <a:cxnSpLocks noChangeShapeType="1"/>
            <a:stCxn id="100" idx="3"/>
            <a:endCxn id="99" idx="3"/>
          </p:cNvCxnSpPr>
          <p:nvPr/>
        </p:nvCxnSpPr>
        <p:spPr bwMode="auto">
          <a:xfrm flipH="1">
            <a:off x="9541261" y="3692219"/>
            <a:ext cx="36007" cy="488316"/>
          </a:xfrm>
          <a:prstGeom prst="bentConnector3">
            <a:avLst>
              <a:gd name="adj1" fmla="val -634877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" name="Rectangle 232"/>
          <p:cNvSpPr>
            <a:spLocks noChangeArrowheads="1"/>
          </p:cNvSpPr>
          <p:nvPr/>
        </p:nvSpPr>
        <p:spPr bwMode="auto">
          <a:xfrm>
            <a:off x="182470" y="3450213"/>
            <a:ext cx="3060340" cy="6321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상태를 표시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정상영업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폐점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가폐점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임시휴업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폐점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가폐점시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판매등록 제한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시스템에서 통제 여부 검토 필요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3698483" y="3558294"/>
            <a:ext cx="1395155" cy="225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109" name="꺾인 연결선 56"/>
          <p:cNvCxnSpPr>
            <a:cxnSpLocks noChangeShapeType="1"/>
            <a:stCxn id="108" idx="1"/>
            <a:endCxn id="107" idx="3"/>
          </p:cNvCxnSpPr>
          <p:nvPr/>
        </p:nvCxnSpPr>
        <p:spPr bwMode="auto">
          <a:xfrm rot="10800000" flipV="1">
            <a:off x="3242811" y="3670807"/>
            <a:ext cx="455673" cy="95470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" name="Rectangle 4"/>
          <p:cNvSpPr>
            <a:spLocks noChangeArrowheads="1"/>
          </p:cNvSpPr>
          <p:nvPr/>
        </p:nvSpPr>
        <p:spPr bwMode="auto">
          <a:xfrm>
            <a:off x="6573180" y="3593762"/>
            <a:ext cx="1395155" cy="2250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119" name="Rectangle 232"/>
          <p:cNvSpPr>
            <a:spLocks noChangeArrowheads="1"/>
          </p:cNvSpPr>
          <p:nvPr/>
        </p:nvSpPr>
        <p:spPr bwMode="auto">
          <a:xfrm>
            <a:off x="4137846" y="4027634"/>
            <a:ext cx="1911583" cy="4785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판매반품시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영수증불러오기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또는 영수증 반품을 통한 반품만 허용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0" name="꺾인 연결선 56"/>
          <p:cNvCxnSpPr>
            <a:cxnSpLocks noChangeShapeType="1"/>
            <a:stCxn id="118" idx="1"/>
            <a:endCxn id="119" idx="3"/>
          </p:cNvCxnSpPr>
          <p:nvPr/>
        </p:nvCxnSpPr>
        <p:spPr bwMode="auto">
          <a:xfrm rot="10800000" flipV="1">
            <a:off x="6049430" y="3706274"/>
            <a:ext cx="523751" cy="560639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사각형 설명선 22"/>
          <p:cNvSpPr/>
          <p:nvPr/>
        </p:nvSpPr>
        <p:spPr>
          <a:xfrm>
            <a:off x="1665730" y="1766540"/>
            <a:ext cx="2291394" cy="330257"/>
          </a:xfrm>
          <a:prstGeom prst="wedgeRectCallout">
            <a:avLst>
              <a:gd name="adj1" fmla="val 11117"/>
              <a:gd name="adj2" fmla="val 9392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 직원이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POS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기기에서 결제할 때</a:t>
            </a:r>
            <a:endParaRPr lang="en-US" altLang="ko-KR" sz="8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고객분석 설문지 팝업화면 표기 여부 설정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사각형 설명선 23"/>
          <p:cNvSpPr/>
          <p:nvPr/>
        </p:nvSpPr>
        <p:spPr>
          <a:xfrm>
            <a:off x="6311226" y="4517481"/>
            <a:ext cx="3141820" cy="952443"/>
          </a:xfrm>
          <a:prstGeom prst="wedgeRectCallout">
            <a:avLst>
              <a:gd name="adj1" fmla="val 4908"/>
              <a:gd name="adj2" fmla="val -8450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특정 영수증에 대해 여러 번 불러오지 못하도록 횟수 제한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영수증불러오기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기능을 활용하여 판매등록을 하면 해당 건에 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대한 수량 변경이 가능하다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이를 악용하는 케이스가 있어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횟수를 제한하는 기능이다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할인율이 높을 때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판매처리한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건을 반품 → 할인율이 낮을 때 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판매처리 → 마진 상승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사각형 설명선 26"/>
          <p:cNvSpPr/>
          <p:nvPr/>
        </p:nvSpPr>
        <p:spPr>
          <a:xfrm>
            <a:off x="3498015" y="4581222"/>
            <a:ext cx="2490100" cy="336975"/>
          </a:xfrm>
          <a:prstGeom prst="wedgeRectCallout">
            <a:avLst>
              <a:gd name="adj1" fmla="val 11784"/>
              <a:gd name="adj2" fmla="val -10709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반품이 발생하지 않았으나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반품을 수기로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등록하는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케이스가 있어 이를 제한하는 기능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01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9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36893"/>
            <a:ext cx="9450480" cy="5797452"/>
          </a:xfrm>
          <a:prstGeom prst="rect">
            <a:avLst/>
          </a:prstGeom>
        </p:spPr>
      </p:pic>
      <p:sp>
        <p:nvSpPr>
          <p:cNvPr id="23" name="Rectangle 232"/>
          <p:cNvSpPr>
            <a:spLocks noChangeArrowheads="1"/>
          </p:cNvSpPr>
          <p:nvPr/>
        </p:nvSpPr>
        <p:spPr bwMode="auto">
          <a:xfrm>
            <a:off x="2027675" y="1223755"/>
            <a:ext cx="5580619" cy="19352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매장운영의 운영 형태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유통망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대분류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온라인물류 관련 업무에서 사용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SP_ONLINE_WH_DELV_SALE),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유통망중분류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유통망소분류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운영형태와 연계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매장유형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매장형태를 직영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유통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사입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구분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매장유형이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사입이면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제품정보의 저가여부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저가여부에 따라 거래명세서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사입여부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(STRIN_YN)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사입으로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처리 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제품월수불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테이블의 직영점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출고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판매  항목으로 자료 집계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회계유통망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직영점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백화점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상설점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등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특정업무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연체이자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부과등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회계유통망에 따른 고유 업무 존재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2275202" y="4014065"/>
            <a:ext cx="6908267" cy="36004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25" name="꺾인 연결선 56"/>
          <p:cNvCxnSpPr>
            <a:cxnSpLocks noChangeShapeType="1"/>
            <a:stCxn id="24" idx="0"/>
            <a:endCxn id="23" idx="2"/>
          </p:cNvCxnSpPr>
          <p:nvPr/>
        </p:nvCxnSpPr>
        <p:spPr bwMode="auto">
          <a:xfrm rot="16200000" flipV="1">
            <a:off x="4846114" y="3130842"/>
            <a:ext cx="855095" cy="911351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ectangle 232"/>
          <p:cNvSpPr>
            <a:spLocks noChangeArrowheads="1"/>
          </p:cNvSpPr>
          <p:nvPr/>
        </p:nvSpPr>
        <p:spPr bwMode="auto">
          <a:xfrm>
            <a:off x="407494" y="4768066"/>
            <a:ext cx="3240361" cy="15395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매장등급구분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등급정보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A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B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C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등급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정보성 데이터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배분등급구분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배분의 우선순위에 대한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업무에서 사용되나 배분제외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C094Z)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 출고요청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초도배분등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배분 제외 매장의 용도로 사용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 허용여부를 관리 하는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마이너스재고허용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제품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칼라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 마이너스통제로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통제시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해당 구분 단위의 매장재고를 체크 하여 판매 제한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Rectangle 4"/>
          <p:cNvSpPr>
            <a:spLocks noChangeArrowheads="1"/>
          </p:cNvSpPr>
          <p:nvPr/>
        </p:nvSpPr>
        <p:spPr bwMode="auto">
          <a:xfrm>
            <a:off x="2324321" y="4418082"/>
            <a:ext cx="4716730" cy="2260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43" name="꺾인 연결선 56"/>
          <p:cNvCxnSpPr>
            <a:cxnSpLocks noChangeShapeType="1"/>
            <a:stCxn id="42" idx="1"/>
            <a:endCxn id="41" idx="0"/>
          </p:cNvCxnSpPr>
          <p:nvPr/>
        </p:nvCxnSpPr>
        <p:spPr bwMode="auto">
          <a:xfrm rot="10800000" flipV="1">
            <a:off x="2027675" y="4531108"/>
            <a:ext cx="296646" cy="236957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Rectangle 232"/>
          <p:cNvSpPr>
            <a:spLocks noChangeArrowheads="1"/>
          </p:cNvSpPr>
          <p:nvPr/>
        </p:nvSpPr>
        <p:spPr bwMode="auto">
          <a:xfrm>
            <a:off x="4547955" y="4688112"/>
            <a:ext cx="3240361" cy="17480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계약구분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계약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직영점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임대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을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대리점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특정매입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계산서발행구분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매출세금계산서 발행 여부 및 구분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발행대상제외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판매분발행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계산서발행방법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매출세금계산서 발행 유형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발행제외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역발행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정발행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EDI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백화점의 시스템 이용여부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대금결제일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 금액에 대한 본사 입금일자 정보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매주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익월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5, 10, 15, 20, 25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익월말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8058344" y="4464167"/>
            <a:ext cx="1485165" cy="94505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56" name="꺾인 연결선 56"/>
          <p:cNvCxnSpPr>
            <a:cxnSpLocks noChangeShapeType="1"/>
            <a:stCxn id="55" idx="1"/>
            <a:endCxn id="54" idx="3"/>
          </p:cNvCxnSpPr>
          <p:nvPr/>
        </p:nvCxnSpPr>
        <p:spPr bwMode="auto">
          <a:xfrm rot="10800000" flipV="1">
            <a:off x="7788316" y="4936693"/>
            <a:ext cx="270028" cy="625433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사각형 설명선 13"/>
          <p:cNvSpPr/>
          <p:nvPr/>
        </p:nvSpPr>
        <p:spPr>
          <a:xfrm>
            <a:off x="680946" y="3274872"/>
            <a:ext cx="3867009" cy="216151"/>
          </a:xfrm>
          <a:prstGeom prst="wedgeRectCallout">
            <a:avLst>
              <a:gd name="adj1" fmla="val 9038"/>
              <a:gd name="adj2" fmla="val -24637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대리점의 경우 연체이자가 적용되며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특정 연체이자 초과 시 출고가 통제된다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5" name="사각형 설명선 14"/>
          <p:cNvSpPr/>
          <p:nvPr/>
        </p:nvSpPr>
        <p:spPr>
          <a:xfrm>
            <a:off x="7383270" y="5463170"/>
            <a:ext cx="1440160" cy="585066"/>
          </a:xfrm>
          <a:prstGeom prst="wedgeRectCallout">
            <a:avLst>
              <a:gd name="adj1" fmla="val -145724"/>
              <a:gd name="adj2" fmla="val -27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역발행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백화점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→ 신성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정발행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 → 매출처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사각형 설명선 15"/>
          <p:cNvSpPr/>
          <p:nvPr/>
        </p:nvSpPr>
        <p:spPr>
          <a:xfrm>
            <a:off x="7079487" y="3537882"/>
            <a:ext cx="1743943" cy="394411"/>
          </a:xfrm>
          <a:prstGeom prst="wedgeRectCallout">
            <a:avLst>
              <a:gd name="adj1" fmla="val -92898"/>
              <a:gd name="adj2" fmla="val 41799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공급분발행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거래명세서 기준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판매분발행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 데이터 기준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97505" y="6285827"/>
            <a:ext cx="2542782" cy="2129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현재는 마이너스재고허용을 기본으로 하고 있다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10745" y="5741773"/>
            <a:ext cx="757882" cy="164757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" name="직선 화살표 연결선 3"/>
          <p:cNvCxnSpPr>
            <a:stCxn id="19" idx="2"/>
          </p:cNvCxnSpPr>
          <p:nvPr/>
        </p:nvCxnSpPr>
        <p:spPr bwMode="auto">
          <a:xfrm>
            <a:off x="889686" y="5906530"/>
            <a:ext cx="0" cy="3792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3050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9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매장정보 설명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736893"/>
            <a:ext cx="9450480" cy="5797452"/>
          </a:xfrm>
          <a:prstGeom prst="rect">
            <a:avLst/>
          </a:prstGeom>
        </p:spPr>
      </p:pic>
      <p:sp>
        <p:nvSpPr>
          <p:cNvPr id="5" name="Rectangle 232"/>
          <p:cNvSpPr>
            <a:spLocks noChangeArrowheads="1"/>
          </p:cNvSpPr>
          <p:nvPr/>
        </p:nvSpPr>
        <p:spPr bwMode="auto">
          <a:xfrm>
            <a:off x="416689" y="2078850"/>
            <a:ext cx="3240361" cy="23265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저가구분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저가 제품을 운영 여부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제품정보의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저가여부와 함께 거래명세서의 저가 여부 결정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재매입여부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감가재매입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매장재고에 대한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수행 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재매입수행구분에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따라 수행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감가재매입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판매분재매입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하는데 현재는 모든 매장은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감가재매입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으로 수행하고 있음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검수구분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거래명세서 발생시 매장에서 검수를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하면 거래명세서 확정 되고 매장재고에 반영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수시출고반품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야간배치에서 자동반품에 대한 대상 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SP_EXEC_DAILY_3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SP_SPR_RET_MOVE2_WMS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에누리 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매장의 에누리 허용 여부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사입재고관리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사입제품에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대한 재고 관리 여부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직원판매여부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본사 직원에 대한 직원 할인 가능 여부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324320" y="4644136"/>
            <a:ext cx="5599009" cy="37962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7" name="꺾인 연결선 56"/>
          <p:cNvCxnSpPr>
            <a:cxnSpLocks noChangeShapeType="1"/>
            <a:stCxn id="6" idx="1"/>
            <a:endCxn id="5" idx="2"/>
          </p:cNvCxnSpPr>
          <p:nvPr/>
        </p:nvCxnSpPr>
        <p:spPr bwMode="auto">
          <a:xfrm rot="10800000">
            <a:off x="2036870" y="4405381"/>
            <a:ext cx="287450" cy="428567"/>
          </a:xfrm>
          <a:prstGeom prst="bentConnector2">
            <a:avLst/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2324319" y="4977773"/>
            <a:ext cx="5599009" cy="40504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23" name="Rectangle 232"/>
          <p:cNvSpPr>
            <a:spLocks noChangeArrowheads="1"/>
          </p:cNvSpPr>
          <p:nvPr/>
        </p:nvSpPr>
        <p:spPr bwMode="auto">
          <a:xfrm>
            <a:off x="5628075" y="1268760"/>
            <a:ext cx="3240361" cy="32514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배분제외여부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출고지시서 처리시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반응출고등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배분에 대한 배분제외를 위한 여부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연체이자부과여부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매장은 판매 미수금에 대한 기준금액이 초과시 연체이자를 부과 여부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수선비부과여부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매장에서 발생한 수선비금액에 대한 부과여부 정보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매장월정산에서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수선비 금액 처리에 사용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재고조회여부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타매장에서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해당 매장의 재고를 조회 가능 여부에 대한 정보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매장점간이동요청등록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판매정지 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판매 등록 여부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판매정지여부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‘Y’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이면 판매등록 제한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출고통제대상여부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출고에 대한 통제 여부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연차이자가 부과되면 자동 출고통제가 발생됨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출고정지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행사여부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행사로 판매 여부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실판매가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등록에서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특정매장행사으로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등록시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출고정지여부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매장의 출고 가능에 대한 정보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연체이자 발생시 출고통제여부에 따라 출고정지가 되나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WMS 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도입 이후 에서는 적용되지 않고 있음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점간이동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제외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cxnSp>
        <p:nvCxnSpPr>
          <p:cNvPr id="24" name="꺾인 연결선 56"/>
          <p:cNvCxnSpPr>
            <a:cxnSpLocks noChangeShapeType="1"/>
            <a:stCxn id="21" idx="3"/>
            <a:endCxn id="23" idx="3"/>
          </p:cNvCxnSpPr>
          <p:nvPr/>
        </p:nvCxnSpPr>
        <p:spPr bwMode="auto">
          <a:xfrm flipV="1">
            <a:off x="7923328" y="2894483"/>
            <a:ext cx="945108" cy="2285813"/>
          </a:xfrm>
          <a:prstGeom prst="bentConnector3">
            <a:avLst>
              <a:gd name="adj1" fmla="val 124188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4989824" y="5381149"/>
            <a:ext cx="1394870" cy="19428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cxnSp>
        <p:nvCxnSpPr>
          <p:cNvPr id="31" name="꺾인 연결선 56"/>
          <p:cNvCxnSpPr>
            <a:cxnSpLocks noChangeShapeType="1"/>
            <a:stCxn id="29" idx="1"/>
            <a:endCxn id="32" idx="3"/>
          </p:cNvCxnSpPr>
          <p:nvPr/>
        </p:nvCxnSpPr>
        <p:spPr bwMode="auto">
          <a:xfrm rot="10800000" flipV="1">
            <a:off x="4400358" y="5478293"/>
            <a:ext cx="589466" cy="389677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Rectangle 232"/>
          <p:cNvSpPr>
            <a:spLocks noChangeArrowheads="1"/>
          </p:cNvSpPr>
          <p:nvPr/>
        </p:nvSpPr>
        <p:spPr bwMode="auto">
          <a:xfrm>
            <a:off x="1633680" y="5575438"/>
            <a:ext cx="2766678" cy="5850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algn="ctr">
            <a:solidFill>
              <a:srgbClr val="7F7F7F"/>
            </a:solidFill>
            <a:miter lim="800000"/>
            <a:headEnd/>
            <a:tailEnd/>
          </a:ln>
        </p:spPr>
        <p:txBody>
          <a:bodyPr lIns="54000" rIns="0" anchor="ctr"/>
          <a:lstStyle>
            <a:lvl1pPr marL="88900" indent="-889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점간이동지시를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받는 경우 확정 처리를 해야 하는 허용기간 </a:t>
            </a:r>
            <a:endParaRPr lang="en-US" altLang="ko-KR" sz="9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indent="0" eaLnBrk="1" latinLnBrk="0" hangingPunct="1">
              <a:lnSpc>
                <a:spcPct val="105000"/>
              </a:lnSpc>
              <a:spcBef>
                <a:spcPct val="20000"/>
              </a:spcBef>
              <a:spcAft>
                <a:spcPct val="15000"/>
              </a:spcAft>
            </a:pP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해당기간내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미처리시</a:t>
            </a:r>
            <a:r>
              <a:rPr lang="ko-KR" altLang="en-US" sz="9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시스템 사용제한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 설명선 13"/>
          <p:cNvSpPr/>
          <p:nvPr/>
        </p:nvSpPr>
        <p:spPr>
          <a:xfrm>
            <a:off x="6863137" y="5620953"/>
            <a:ext cx="2120382" cy="236367"/>
          </a:xfrm>
          <a:prstGeom prst="wedgeRectCallout">
            <a:avLst>
              <a:gd name="adj1" fmla="val -43261"/>
              <a:gd name="adj2" fmla="val -16765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정보성 데이터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행낭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옷 등을 담는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낭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5" name="사각형 설명선 14"/>
          <p:cNvSpPr/>
          <p:nvPr/>
        </p:nvSpPr>
        <p:spPr>
          <a:xfrm>
            <a:off x="2117685" y="6156479"/>
            <a:ext cx="2430270" cy="386759"/>
          </a:xfrm>
          <a:prstGeom prst="wedgeRectCallout">
            <a:avLst>
              <a:gd name="adj1" fmla="val 22593"/>
              <a:gd name="adj2" fmla="val -7199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매장계정 로그인 시 확인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T_SHOP.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SHOPMOVE_LIMT_DAYS)</a:t>
            </a:r>
          </a:p>
        </p:txBody>
      </p:sp>
    </p:spTree>
    <p:extLst>
      <p:ext uri="{BB962C8B-B14F-4D97-AF65-F5344CB8AC3E}">
        <p14:creationId xmlns:p14="http://schemas.microsoft.com/office/powerpoint/2010/main" val="298281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3. </a:t>
            </a:r>
            <a:r>
              <a:rPr lang="ko-KR" altLang="en-US" dirty="0" smtClean="0">
                <a:latin typeface="+mj-ea"/>
                <a:ea typeface="+mj-ea"/>
              </a:rPr>
              <a:t>정보관리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10. </a:t>
            </a:r>
            <a:r>
              <a:rPr lang="ko-KR" altLang="en-US" dirty="0" err="1" smtClean="0">
                <a:latin typeface="+mj-ea"/>
                <a:ea typeface="+mj-ea"/>
              </a:rPr>
              <a:t>실판가정보관리</a:t>
            </a:r>
            <a:r>
              <a:rPr lang="ko-KR" altLang="en-US" dirty="0" smtClean="0">
                <a:latin typeface="+mj-ea"/>
                <a:ea typeface="+mj-ea"/>
              </a:rPr>
              <a:t>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4" name="Rectangle 59"/>
          <p:cNvSpPr>
            <a:spLocks noChangeArrowheads="1"/>
          </p:cNvSpPr>
          <p:nvPr/>
        </p:nvSpPr>
        <p:spPr bwMode="gray">
          <a:xfrm>
            <a:off x="1180508" y="2409976"/>
            <a:ext cx="1255749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매장브랜드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15" name="Line 50"/>
          <p:cNvSpPr>
            <a:spLocks noChangeShapeType="1"/>
          </p:cNvSpPr>
          <p:nvPr/>
        </p:nvSpPr>
        <p:spPr bwMode="gray">
          <a:xfrm>
            <a:off x="227475" y="1980991"/>
            <a:ext cx="953033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6" name="Text Box 48"/>
          <p:cNvSpPr txBox="1">
            <a:spLocks noChangeArrowheads="1"/>
          </p:cNvSpPr>
          <p:nvPr/>
        </p:nvSpPr>
        <p:spPr bwMode="gray">
          <a:xfrm>
            <a:off x="227475" y="1718810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소비자가 확정 </a:t>
            </a:r>
            <a:endParaRPr lang="ko-KR" altLang="en-US" sz="900" dirty="0">
              <a:latin typeface="+mn-ea"/>
              <a:ea typeface="+mn-ea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1180507" y="1399408"/>
            <a:ext cx="1200169" cy="347821"/>
            <a:chOff x="1074208" y="1567755"/>
            <a:chExt cx="1200169" cy="347821"/>
          </a:xfrm>
        </p:grpSpPr>
        <p:sp>
          <p:nvSpPr>
            <p:cNvPr id="18" name="Text Box 55"/>
            <p:cNvSpPr txBox="1">
              <a:spLocks noChangeArrowheads="1"/>
            </p:cNvSpPr>
            <p:nvPr/>
          </p:nvSpPr>
          <p:spPr bwMode="gray">
            <a:xfrm>
              <a:off x="1320270" y="1669355"/>
              <a:ext cx="95410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000" b="1" dirty="0" smtClean="0">
                  <a:solidFill>
                    <a:srgbClr val="0000CC"/>
                  </a:solidFill>
                  <a:latin typeface="+mn-ea"/>
                  <a:ea typeface="+mn-ea"/>
                </a:rPr>
                <a:t>브랜드담당자</a:t>
              </a:r>
            </a:p>
          </p:txBody>
        </p:sp>
        <p:grpSp>
          <p:nvGrpSpPr>
            <p:cNvPr id="19" name="Group 100"/>
            <p:cNvGrpSpPr>
              <a:grpSpLocks/>
            </p:cNvGrpSpPr>
            <p:nvPr/>
          </p:nvGrpSpPr>
          <p:grpSpPr bwMode="auto">
            <a:xfrm>
              <a:off x="1074208" y="1567755"/>
              <a:ext cx="274637" cy="323850"/>
              <a:chOff x="395" y="2124"/>
              <a:chExt cx="209" cy="318"/>
            </a:xfrm>
          </p:grpSpPr>
          <p:grpSp>
            <p:nvGrpSpPr>
              <p:cNvPr id="20" name="Group 101"/>
              <p:cNvGrpSpPr>
                <a:grpSpLocks/>
              </p:cNvGrpSpPr>
              <p:nvPr/>
            </p:nvGrpSpPr>
            <p:grpSpPr bwMode="auto">
              <a:xfrm>
                <a:off x="420" y="2124"/>
                <a:ext cx="184" cy="318"/>
                <a:chOff x="282" y="3570"/>
                <a:chExt cx="240" cy="474"/>
              </a:xfrm>
            </p:grpSpPr>
            <p:sp>
              <p:nvSpPr>
                <p:cNvPr id="39" name="Oval 102"/>
                <p:cNvSpPr>
                  <a:spLocks noChangeArrowheads="1"/>
                </p:cNvSpPr>
                <p:nvPr/>
              </p:nvSpPr>
              <p:spPr bwMode="gray">
                <a:xfrm>
                  <a:off x="330" y="3570"/>
                  <a:ext cx="132" cy="132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40" name="Line 103"/>
                <p:cNvSpPr>
                  <a:spLocks noChangeShapeType="1"/>
                </p:cNvSpPr>
                <p:nvPr/>
              </p:nvSpPr>
              <p:spPr bwMode="gray">
                <a:xfrm>
                  <a:off x="282" y="379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41" name="Line 104"/>
                <p:cNvSpPr>
                  <a:spLocks noChangeShapeType="1"/>
                </p:cNvSpPr>
                <p:nvPr/>
              </p:nvSpPr>
              <p:spPr bwMode="gray">
                <a:xfrm>
                  <a:off x="396" y="3708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42" name="Line 105"/>
                <p:cNvSpPr>
                  <a:spLocks noChangeShapeType="1"/>
                </p:cNvSpPr>
                <p:nvPr/>
              </p:nvSpPr>
              <p:spPr bwMode="gray">
                <a:xfrm flipH="1">
                  <a:off x="288" y="3906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43" name="Line 106"/>
                <p:cNvSpPr>
                  <a:spLocks noChangeShapeType="1"/>
                </p:cNvSpPr>
                <p:nvPr/>
              </p:nvSpPr>
              <p:spPr bwMode="gray">
                <a:xfrm>
                  <a:off x="400" y="3904"/>
                  <a:ext cx="108" cy="13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2" name="Group 107"/>
              <p:cNvGrpSpPr>
                <a:grpSpLocks/>
              </p:cNvGrpSpPr>
              <p:nvPr/>
            </p:nvGrpSpPr>
            <p:grpSpPr bwMode="auto">
              <a:xfrm>
                <a:off x="395" y="2180"/>
                <a:ext cx="45" cy="127"/>
                <a:chOff x="2597" y="1682"/>
                <a:chExt cx="183" cy="403"/>
              </a:xfrm>
            </p:grpSpPr>
            <p:sp>
              <p:nvSpPr>
                <p:cNvPr id="35" name="Freeform 108"/>
                <p:cNvSpPr>
                  <a:spLocks/>
                </p:cNvSpPr>
                <p:nvPr/>
              </p:nvSpPr>
              <p:spPr bwMode="auto">
                <a:xfrm>
                  <a:off x="2632" y="1739"/>
                  <a:ext cx="84" cy="62"/>
                </a:xfrm>
                <a:custGeom>
                  <a:avLst/>
                  <a:gdLst>
                    <a:gd name="T0" fmla="*/ 45 w 169"/>
                    <a:gd name="T1" fmla="*/ 0 h 124"/>
                    <a:gd name="T2" fmla="*/ 0 w 169"/>
                    <a:gd name="T3" fmla="*/ 57 h 124"/>
                    <a:gd name="T4" fmla="*/ 34 w 169"/>
                    <a:gd name="T5" fmla="*/ 124 h 124"/>
                    <a:gd name="T6" fmla="*/ 78 w 169"/>
                    <a:gd name="T7" fmla="*/ 103 h 124"/>
                    <a:gd name="T8" fmla="*/ 102 w 169"/>
                    <a:gd name="T9" fmla="*/ 57 h 124"/>
                    <a:gd name="T10" fmla="*/ 169 w 169"/>
                    <a:gd name="T11" fmla="*/ 46 h 124"/>
                    <a:gd name="T12" fmla="*/ 91 w 169"/>
                    <a:gd name="T13" fmla="*/ 0 h 124"/>
                    <a:gd name="T14" fmla="*/ 45 w 169"/>
                    <a:gd name="T15" fmla="*/ 0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69" h="124">
                      <a:moveTo>
                        <a:pt x="45" y="0"/>
                      </a:moveTo>
                      <a:lnTo>
                        <a:pt x="0" y="57"/>
                      </a:lnTo>
                      <a:lnTo>
                        <a:pt x="34" y="124"/>
                      </a:lnTo>
                      <a:lnTo>
                        <a:pt x="78" y="103"/>
                      </a:lnTo>
                      <a:lnTo>
                        <a:pt x="102" y="57"/>
                      </a:lnTo>
                      <a:lnTo>
                        <a:pt x="169" y="46"/>
                      </a:lnTo>
                      <a:lnTo>
                        <a:pt x="91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E599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6" name="Freeform 109"/>
                <p:cNvSpPr>
                  <a:spLocks/>
                </p:cNvSpPr>
                <p:nvPr/>
              </p:nvSpPr>
              <p:spPr bwMode="auto">
                <a:xfrm rot="20633656" flipV="1">
                  <a:off x="2711" y="1790"/>
                  <a:ext cx="69" cy="295"/>
                </a:xfrm>
                <a:custGeom>
                  <a:avLst/>
                  <a:gdLst>
                    <a:gd name="T0" fmla="*/ 103 w 149"/>
                    <a:gd name="T1" fmla="*/ 0 h 194"/>
                    <a:gd name="T2" fmla="*/ 149 w 149"/>
                    <a:gd name="T3" fmla="*/ 23 h 194"/>
                    <a:gd name="T4" fmla="*/ 126 w 149"/>
                    <a:gd name="T5" fmla="*/ 49 h 194"/>
                    <a:gd name="T6" fmla="*/ 111 w 149"/>
                    <a:gd name="T7" fmla="*/ 71 h 194"/>
                    <a:gd name="T8" fmla="*/ 99 w 149"/>
                    <a:gd name="T9" fmla="*/ 88 h 194"/>
                    <a:gd name="T10" fmla="*/ 89 w 149"/>
                    <a:gd name="T11" fmla="*/ 103 h 194"/>
                    <a:gd name="T12" fmla="*/ 82 w 149"/>
                    <a:gd name="T13" fmla="*/ 120 h 194"/>
                    <a:gd name="T14" fmla="*/ 75 w 149"/>
                    <a:gd name="T15" fmla="*/ 138 h 194"/>
                    <a:gd name="T16" fmla="*/ 68 w 149"/>
                    <a:gd name="T17" fmla="*/ 163 h 194"/>
                    <a:gd name="T18" fmla="*/ 57 w 149"/>
                    <a:gd name="T19" fmla="*/ 194 h 194"/>
                    <a:gd name="T20" fmla="*/ 0 w 149"/>
                    <a:gd name="T21" fmla="*/ 194 h 194"/>
                    <a:gd name="T22" fmla="*/ 9 w 149"/>
                    <a:gd name="T23" fmla="*/ 168 h 194"/>
                    <a:gd name="T24" fmla="*/ 20 w 149"/>
                    <a:gd name="T25" fmla="*/ 143 h 194"/>
                    <a:gd name="T26" fmla="*/ 31 w 149"/>
                    <a:gd name="T27" fmla="*/ 118 h 194"/>
                    <a:gd name="T28" fmla="*/ 45 w 149"/>
                    <a:gd name="T29" fmla="*/ 94 h 194"/>
                    <a:gd name="T30" fmla="*/ 59 w 149"/>
                    <a:gd name="T31" fmla="*/ 69 h 194"/>
                    <a:gd name="T32" fmla="*/ 72 w 149"/>
                    <a:gd name="T33" fmla="*/ 46 h 194"/>
                    <a:gd name="T34" fmla="*/ 88 w 149"/>
                    <a:gd name="T35" fmla="*/ 23 h 194"/>
                    <a:gd name="T36" fmla="*/ 103 w 149"/>
                    <a:gd name="T3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9" h="194">
                      <a:moveTo>
                        <a:pt x="103" y="0"/>
                      </a:moveTo>
                      <a:lnTo>
                        <a:pt x="149" y="23"/>
                      </a:lnTo>
                      <a:lnTo>
                        <a:pt x="126" y="49"/>
                      </a:lnTo>
                      <a:lnTo>
                        <a:pt x="111" y="71"/>
                      </a:lnTo>
                      <a:lnTo>
                        <a:pt x="99" y="88"/>
                      </a:lnTo>
                      <a:lnTo>
                        <a:pt x="89" y="103"/>
                      </a:lnTo>
                      <a:lnTo>
                        <a:pt x="82" y="120"/>
                      </a:lnTo>
                      <a:lnTo>
                        <a:pt x="75" y="138"/>
                      </a:lnTo>
                      <a:lnTo>
                        <a:pt x="68" y="163"/>
                      </a:lnTo>
                      <a:lnTo>
                        <a:pt x="57" y="194"/>
                      </a:lnTo>
                      <a:lnTo>
                        <a:pt x="0" y="194"/>
                      </a:lnTo>
                      <a:lnTo>
                        <a:pt x="9" y="168"/>
                      </a:lnTo>
                      <a:lnTo>
                        <a:pt x="20" y="143"/>
                      </a:lnTo>
                      <a:lnTo>
                        <a:pt x="31" y="118"/>
                      </a:lnTo>
                      <a:lnTo>
                        <a:pt x="45" y="94"/>
                      </a:lnTo>
                      <a:lnTo>
                        <a:pt x="59" y="69"/>
                      </a:lnTo>
                      <a:lnTo>
                        <a:pt x="72" y="46"/>
                      </a:lnTo>
                      <a:lnTo>
                        <a:pt x="88" y="23"/>
                      </a:lnTo>
                      <a:lnTo>
                        <a:pt x="10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7" name="Freeform 110"/>
                <p:cNvSpPr>
                  <a:spLocks/>
                </p:cNvSpPr>
                <p:nvPr/>
              </p:nvSpPr>
              <p:spPr bwMode="auto">
                <a:xfrm>
                  <a:off x="2683" y="1704"/>
                  <a:ext cx="79" cy="109"/>
                </a:xfrm>
                <a:custGeom>
                  <a:avLst/>
                  <a:gdLst>
                    <a:gd name="T0" fmla="*/ 0 w 158"/>
                    <a:gd name="T1" fmla="*/ 138 h 216"/>
                    <a:gd name="T2" fmla="*/ 0 w 158"/>
                    <a:gd name="T3" fmla="*/ 195 h 216"/>
                    <a:gd name="T4" fmla="*/ 91 w 158"/>
                    <a:gd name="T5" fmla="*/ 216 h 216"/>
                    <a:gd name="T6" fmla="*/ 158 w 158"/>
                    <a:gd name="T7" fmla="*/ 183 h 216"/>
                    <a:gd name="T8" fmla="*/ 148 w 158"/>
                    <a:gd name="T9" fmla="*/ 103 h 216"/>
                    <a:gd name="T10" fmla="*/ 126 w 158"/>
                    <a:gd name="T11" fmla="*/ 81 h 216"/>
                    <a:gd name="T12" fmla="*/ 111 w 158"/>
                    <a:gd name="T13" fmla="*/ 66 h 216"/>
                    <a:gd name="T14" fmla="*/ 98 w 158"/>
                    <a:gd name="T15" fmla="*/ 53 h 216"/>
                    <a:gd name="T16" fmla="*/ 88 w 158"/>
                    <a:gd name="T17" fmla="*/ 44 h 216"/>
                    <a:gd name="T18" fmla="*/ 74 w 158"/>
                    <a:gd name="T19" fmla="*/ 35 h 216"/>
                    <a:gd name="T20" fmla="*/ 57 w 158"/>
                    <a:gd name="T21" fmla="*/ 26 h 216"/>
                    <a:gd name="T22" fmla="*/ 32 w 158"/>
                    <a:gd name="T23" fmla="*/ 14 h 216"/>
                    <a:gd name="T24" fmla="*/ 0 w 158"/>
                    <a:gd name="T25" fmla="*/ 0 h 216"/>
                    <a:gd name="T26" fmla="*/ 0 w 158"/>
                    <a:gd name="T27" fmla="*/ 64 h 216"/>
                    <a:gd name="T28" fmla="*/ 17 w 158"/>
                    <a:gd name="T29" fmla="*/ 72 h 216"/>
                    <a:gd name="T30" fmla="*/ 34 w 158"/>
                    <a:gd name="T31" fmla="*/ 81 h 216"/>
                    <a:gd name="T32" fmla="*/ 48 w 158"/>
                    <a:gd name="T33" fmla="*/ 92 h 216"/>
                    <a:gd name="T34" fmla="*/ 61 w 158"/>
                    <a:gd name="T35" fmla="*/ 103 h 216"/>
                    <a:gd name="T36" fmla="*/ 74 w 158"/>
                    <a:gd name="T37" fmla="*/ 116 h 216"/>
                    <a:gd name="T38" fmla="*/ 85 w 158"/>
                    <a:gd name="T39" fmla="*/ 130 h 216"/>
                    <a:gd name="T40" fmla="*/ 94 w 158"/>
                    <a:gd name="T41" fmla="*/ 144 h 216"/>
                    <a:gd name="T42" fmla="*/ 103 w 158"/>
                    <a:gd name="T43" fmla="*/ 159 h 216"/>
                    <a:gd name="T44" fmla="*/ 91 w 158"/>
                    <a:gd name="T45" fmla="*/ 161 h 216"/>
                    <a:gd name="T46" fmla="*/ 77 w 158"/>
                    <a:gd name="T47" fmla="*/ 161 h 216"/>
                    <a:gd name="T48" fmla="*/ 63 w 158"/>
                    <a:gd name="T49" fmla="*/ 161 h 216"/>
                    <a:gd name="T50" fmla="*/ 49 w 158"/>
                    <a:gd name="T51" fmla="*/ 158 h 216"/>
                    <a:gd name="T52" fmla="*/ 35 w 158"/>
                    <a:gd name="T53" fmla="*/ 155 h 216"/>
                    <a:gd name="T54" fmla="*/ 23 w 158"/>
                    <a:gd name="T55" fmla="*/ 150 h 216"/>
                    <a:gd name="T56" fmla="*/ 11 w 158"/>
                    <a:gd name="T57" fmla="*/ 144 h 216"/>
                    <a:gd name="T58" fmla="*/ 0 w 158"/>
                    <a:gd name="T59" fmla="*/ 138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58" h="216">
                      <a:moveTo>
                        <a:pt x="0" y="138"/>
                      </a:moveTo>
                      <a:lnTo>
                        <a:pt x="0" y="195"/>
                      </a:lnTo>
                      <a:lnTo>
                        <a:pt x="91" y="216"/>
                      </a:lnTo>
                      <a:lnTo>
                        <a:pt x="158" y="183"/>
                      </a:lnTo>
                      <a:lnTo>
                        <a:pt x="148" y="103"/>
                      </a:lnTo>
                      <a:lnTo>
                        <a:pt x="126" y="81"/>
                      </a:lnTo>
                      <a:lnTo>
                        <a:pt x="111" y="66"/>
                      </a:lnTo>
                      <a:lnTo>
                        <a:pt x="98" y="53"/>
                      </a:lnTo>
                      <a:lnTo>
                        <a:pt x="88" y="44"/>
                      </a:lnTo>
                      <a:lnTo>
                        <a:pt x="74" y="35"/>
                      </a:lnTo>
                      <a:lnTo>
                        <a:pt x="57" y="26"/>
                      </a:lnTo>
                      <a:lnTo>
                        <a:pt x="32" y="14"/>
                      </a:lnTo>
                      <a:lnTo>
                        <a:pt x="0" y="0"/>
                      </a:lnTo>
                      <a:lnTo>
                        <a:pt x="0" y="64"/>
                      </a:lnTo>
                      <a:lnTo>
                        <a:pt x="17" y="72"/>
                      </a:lnTo>
                      <a:lnTo>
                        <a:pt x="34" y="81"/>
                      </a:lnTo>
                      <a:lnTo>
                        <a:pt x="48" y="92"/>
                      </a:lnTo>
                      <a:lnTo>
                        <a:pt x="61" y="103"/>
                      </a:lnTo>
                      <a:lnTo>
                        <a:pt x="74" y="116"/>
                      </a:lnTo>
                      <a:lnTo>
                        <a:pt x="85" y="130"/>
                      </a:lnTo>
                      <a:lnTo>
                        <a:pt x="94" y="144"/>
                      </a:lnTo>
                      <a:lnTo>
                        <a:pt x="103" y="159"/>
                      </a:lnTo>
                      <a:lnTo>
                        <a:pt x="91" y="161"/>
                      </a:lnTo>
                      <a:lnTo>
                        <a:pt x="77" y="161"/>
                      </a:lnTo>
                      <a:lnTo>
                        <a:pt x="63" y="161"/>
                      </a:lnTo>
                      <a:lnTo>
                        <a:pt x="49" y="158"/>
                      </a:lnTo>
                      <a:lnTo>
                        <a:pt x="35" y="155"/>
                      </a:lnTo>
                      <a:lnTo>
                        <a:pt x="23" y="150"/>
                      </a:lnTo>
                      <a:lnTo>
                        <a:pt x="11" y="144"/>
                      </a:lnTo>
                      <a:lnTo>
                        <a:pt x="0" y="13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8" name="Freeform 111"/>
                <p:cNvSpPr>
                  <a:spLocks/>
                </p:cNvSpPr>
                <p:nvPr/>
              </p:nvSpPr>
              <p:spPr bwMode="auto">
                <a:xfrm>
                  <a:off x="2597" y="1682"/>
                  <a:ext cx="87" cy="154"/>
                </a:xfrm>
                <a:custGeom>
                  <a:avLst/>
                  <a:gdLst>
                    <a:gd name="T0" fmla="*/ 172 w 174"/>
                    <a:gd name="T1" fmla="*/ 109 h 307"/>
                    <a:gd name="T2" fmla="*/ 172 w 174"/>
                    <a:gd name="T3" fmla="*/ 45 h 307"/>
                    <a:gd name="T4" fmla="*/ 158 w 174"/>
                    <a:gd name="T5" fmla="*/ 40 h 307"/>
                    <a:gd name="T6" fmla="*/ 146 w 174"/>
                    <a:gd name="T7" fmla="*/ 35 h 307"/>
                    <a:gd name="T8" fmla="*/ 132 w 174"/>
                    <a:gd name="T9" fmla="*/ 31 h 307"/>
                    <a:gd name="T10" fmla="*/ 120 w 174"/>
                    <a:gd name="T11" fmla="*/ 25 h 307"/>
                    <a:gd name="T12" fmla="*/ 108 w 174"/>
                    <a:gd name="T13" fmla="*/ 19 h 307"/>
                    <a:gd name="T14" fmla="*/ 95 w 174"/>
                    <a:gd name="T15" fmla="*/ 12 h 307"/>
                    <a:gd name="T16" fmla="*/ 81 w 174"/>
                    <a:gd name="T17" fmla="*/ 6 h 307"/>
                    <a:gd name="T18" fmla="*/ 69 w 174"/>
                    <a:gd name="T19" fmla="*/ 0 h 307"/>
                    <a:gd name="T20" fmla="*/ 0 w 174"/>
                    <a:gd name="T21" fmla="*/ 217 h 307"/>
                    <a:gd name="T22" fmla="*/ 5 w 174"/>
                    <a:gd name="T23" fmla="*/ 231 h 307"/>
                    <a:gd name="T24" fmla="*/ 12 w 174"/>
                    <a:gd name="T25" fmla="*/ 244 h 307"/>
                    <a:gd name="T26" fmla="*/ 22 w 174"/>
                    <a:gd name="T27" fmla="*/ 258 h 307"/>
                    <a:gd name="T28" fmla="*/ 31 w 174"/>
                    <a:gd name="T29" fmla="*/ 271 h 307"/>
                    <a:gd name="T30" fmla="*/ 43 w 174"/>
                    <a:gd name="T31" fmla="*/ 281 h 307"/>
                    <a:gd name="T32" fmla="*/ 55 w 174"/>
                    <a:gd name="T33" fmla="*/ 292 h 307"/>
                    <a:gd name="T34" fmla="*/ 68 w 174"/>
                    <a:gd name="T35" fmla="*/ 300 h 307"/>
                    <a:gd name="T36" fmla="*/ 80 w 174"/>
                    <a:gd name="T37" fmla="*/ 307 h 307"/>
                    <a:gd name="T38" fmla="*/ 147 w 174"/>
                    <a:gd name="T39" fmla="*/ 286 h 307"/>
                    <a:gd name="T40" fmla="*/ 160 w 174"/>
                    <a:gd name="T41" fmla="*/ 264 h 307"/>
                    <a:gd name="T42" fmla="*/ 169 w 174"/>
                    <a:gd name="T43" fmla="*/ 237 h 307"/>
                    <a:gd name="T44" fmla="*/ 174 w 174"/>
                    <a:gd name="T45" fmla="*/ 209 h 307"/>
                    <a:gd name="T46" fmla="*/ 172 w 174"/>
                    <a:gd name="T47" fmla="*/ 183 h 307"/>
                    <a:gd name="T48" fmla="*/ 166 w 174"/>
                    <a:gd name="T49" fmla="*/ 192 h 307"/>
                    <a:gd name="T50" fmla="*/ 161 w 174"/>
                    <a:gd name="T51" fmla="*/ 201 h 307"/>
                    <a:gd name="T52" fmla="*/ 155 w 174"/>
                    <a:gd name="T53" fmla="*/ 212 h 307"/>
                    <a:gd name="T54" fmla="*/ 147 w 174"/>
                    <a:gd name="T55" fmla="*/ 221 h 307"/>
                    <a:gd name="T56" fmla="*/ 140 w 174"/>
                    <a:gd name="T57" fmla="*/ 231 h 307"/>
                    <a:gd name="T58" fmla="*/ 132 w 174"/>
                    <a:gd name="T59" fmla="*/ 240 h 307"/>
                    <a:gd name="T60" fmla="*/ 123 w 174"/>
                    <a:gd name="T61" fmla="*/ 246 h 307"/>
                    <a:gd name="T62" fmla="*/ 114 w 174"/>
                    <a:gd name="T63" fmla="*/ 251 h 307"/>
                    <a:gd name="T64" fmla="*/ 69 w 174"/>
                    <a:gd name="T65" fmla="*/ 228 h 307"/>
                    <a:gd name="T66" fmla="*/ 75 w 174"/>
                    <a:gd name="T67" fmla="*/ 191 h 307"/>
                    <a:gd name="T68" fmla="*/ 84 w 174"/>
                    <a:gd name="T69" fmla="*/ 154 h 307"/>
                    <a:gd name="T70" fmla="*/ 92 w 174"/>
                    <a:gd name="T71" fmla="*/ 117 h 307"/>
                    <a:gd name="T72" fmla="*/ 103 w 174"/>
                    <a:gd name="T73" fmla="*/ 80 h 307"/>
                    <a:gd name="T74" fmla="*/ 172 w 174"/>
                    <a:gd name="T75" fmla="*/ 109 h 3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174" h="307">
                      <a:moveTo>
                        <a:pt x="172" y="109"/>
                      </a:moveTo>
                      <a:lnTo>
                        <a:pt x="172" y="45"/>
                      </a:lnTo>
                      <a:lnTo>
                        <a:pt x="158" y="40"/>
                      </a:lnTo>
                      <a:lnTo>
                        <a:pt x="146" y="35"/>
                      </a:lnTo>
                      <a:lnTo>
                        <a:pt x="132" y="31"/>
                      </a:lnTo>
                      <a:lnTo>
                        <a:pt x="120" y="25"/>
                      </a:lnTo>
                      <a:lnTo>
                        <a:pt x="108" y="19"/>
                      </a:lnTo>
                      <a:lnTo>
                        <a:pt x="95" y="12"/>
                      </a:lnTo>
                      <a:lnTo>
                        <a:pt x="81" y="6"/>
                      </a:lnTo>
                      <a:lnTo>
                        <a:pt x="69" y="0"/>
                      </a:lnTo>
                      <a:lnTo>
                        <a:pt x="0" y="217"/>
                      </a:lnTo>
                      <a:lnTo>
                        <a:pt x="5" y="231"/>
                      </a:lnTo>
                      <a:lnTo>
                        <a:pt x="12" y="244"/>
                      </a:lnTo>
                      <a:lnTo>
                        <a:pt x="22" y="258"/>
                      </a:lnTo>
                      <a:lnTo>
                        <a:pt x="31" y="271"/>
                      </a:lnTo>
                      <a:lnTo>
                        <a:pt x="43" y="281"/>
                      </a:lnTo>
                      <a:lnTo>
                        <a:pt x="55" y="292"/>
                      </a:lnTo>
                      <a:lnTo>
                        <a:pt x="68" y="300"/>
                      </a:lnTo>
                      <a:lnTo>
                        <a:pt x="80" y="307"/>
                      </a:lnTo>
                      <a:lnTo>
                        <a:pt x="147" y="286"/>
                      </a:lnTo>
                      <a:lnTo>
                        <a:pt x="160" y="264"/>
                      </a:lnTo>
                      <a:lnTo>
                        <a:pt x="169" y="237"/>
                      </a:lnTo>
                      <a:lnTo>
                        <a:pt x="174" y="209"/>
                      </a:lnTo>
                      <a:lnTo>
                        <a:pt x="172" y="183"/>
                      </a:lnTo>
                      <a:lnTo>
                        <a:pt x="166" y="192"/>
                      </a:lnTo>
                      <a:lnTo>
                        <a:pt x="161" y="201"/>
                      </a:lnTo>
                      <a:lnTo>
                        <a:pt x="155" y="212"/>
                      </a:lnTo>
                      <a:lnTo>
                        <a:pt x="147" y="221"/>
                      </a:lnTo>
                      <a:lnTo>
                        <a:pt x="140" y="231"/>
                      </a:lnTo>
                      <a:lnTo>
                        <a:pt x="132" y="240"/>
                      </a:lnTo>
                      <a:lnTo>
                        <a:pt x="123" y="246"/>
                      </a:lnTo>
                      <a:lnTo>
                        <a:pt x="114" y="251"/>
                      </a:lnTo>
                      <a:lnTo>
                        <a:pt x="69" y="228"/>
                      </a:lnTo>
                      <a:lnTo>
                        <a:pt x="75" y="191"/>
                      </a:lnTo>
                      <a:lnTo>
                        <a:pt x="84" y="154"/>
                      </a:lnTo>
                      <a:lnTo>
                        <a:pt x="92" y="117"/>
                      </a:lnTo>
                      <a:lnTo>
                        <a:pt x="103" y="80"/>
                      </a:lnTo>
                      <a:lnTo>
                        <a:pt x="172" y="1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5" name="Group 112"/>
              <p:cNvGrpSpPr>
                <a:grpSpLocks/>
              </p:cNvGrpSpPr>
              <p:nvPr/>
            </p:nvGrpSpPr>
            <p:grpSpPr bwMode="auto">
              <a:xfrm>
                <a:off x="511" y="2203"/>
                <a:ext cx="77" cy="62"/>
                <a:chOff x="3235" y="1597"/>
                <a:chExt cx="263" cy="200"/>
              </a:xfrm>
            </p:grpSpPr>
            <p:sp>
              <p:nvSpPr>
                <p:cNvPr id="30" name="Freeform 113"/>
                <p:cNvSpPr>
                  <a:spLocks/>
                </p:cNvSpPr>
                <p:nvPr/>
              </p:nvSpPr>
              <p:spPr bwMode="auto">
                <a:xfrm>
                  <a:off x="3321" y="1647"/>
                  <a:ext cx="114" cy="75"/>
                </a:xfrm>
                <a:custGeom>
                  <a:avLst/>
                  <a:gdLst>
                    <a:gd name="T0" fmla="*/ 0 w 229"/>
                    <a:gd name="T1" fmla="*/ 115 h 149"/>
                    <a:gd name="T2" fmla="*/ 81 w 229"/>
                    <a:gd name="T3" fmla="*/ 104 h 149"/>
                    <a:gd name="T4" fmla="*/ 115 w 229"/>
                    <a:gd name="T5" fmla="*/ 25 h 149"/>
                    <a:gd name="T6" fmla="*/ 160 w 229"/>
                    <a:gd name="T7" fmla="*/ 35 h 149"/>
                    <a:gd name="T8" fmla="*/ 195 w 229"/>
                    <a:gd name="T9" fmla="*/ 0 h 149"/>
                    <a:gd name="T10" fmla="*/ 229 w 229"/>
                    <a:gd name="T11" fmla="*/ 25 h 149"/>
                    <a:gd name="T12" fmla="*/ 172 w 229"/>
                    <a:gd name="T13" fmla="*/ 92 h 149"/>
                    <a:gd name="T14" fmla="*/ 126 w 229"/>
                    <a:gd name="T15" fmla="*/ 81 h 149"/>
                    <a:gd name="T16" fmla="*/ 115 w 229"/>
                    <a:gd name="T17" fmla="*/ 126 h 149"/>
                    <a:gd name="T18" fmla="*/ 25 w 229"/>
                    <a:gd name="T19" fmla="*/ 149 h 149"/>
                    <a:gd name="T20" fmla="*/ 0 w 229"/>
                    <a:gd name="T21" fmla="*/ 115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29" h="149">
                      <a:moveTo>
                        <a:pt x="0" y="115"/>
                      </a:moveTo>
                      <a:lnTo>
                        <a:pt x="81" y="104"/>
                      </a:lnTo>
                      <a:lnTo>
                        <a:pt x="115" y="25"/>
                      </a:lnTo>
                      <a:lnTo>
                        <a:pt x="160" y="35"/>
                      </a:lnTo>
                      <a:lnTo>
                        <a:pt x="195" y="0"/>
                      </a:lnTo>
                      <a:lnTo>
                        <a:pt x="229" y="25"/>
                      </a:lnTo>
                      <a:lnTo>
                        <a:pt x="172" y="92"/>
                      </a:lnTo>
                      <a:lnTo>
                        <a:pt x="126" y="81"/>
                      </a:lnTo>
                      <a:lnTo>
                        <a:pt x="115" y="126"/>
                      </a:lnTo>
                      <a:lnTo>
                        <a:pt x="25" y="149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7CFF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3" name="Freeform 114"/>
                <p:cNvSpPr>
                  <a:spLocks/>
                </p:cNvSpPr>
                <p:nvPr/>
              </p:nvSpPr>
              <p:spPr bwMode="auto">
                <a:xfrm>
                  <a:off x="3370" y="1597"/>
                  <a:ext cx="128" cy="167"/>
                </a:xfrm>
                <a:custGeom>
                  <a:avLst/>
                  <a:gdLst>
                    <a:gd name="T0" fmla="*/ 0 w 257"/>
                    <a:gd name="T1" fmla="*/ 273 h 333"/>
                    <a:gd name="T2" fmla="*/ 0 w 257"/>
                    <a:gd name="T3" fmla="*/ 333 h 333"/>
                    <a:gd name="T4" fmla="*/ 7 w 257"/>
                    <a:gd name="T5" fmla="*/ 318 h 333"/>
                    <a:gd name="T6" fmla="*/ 119 w 257"/>
                    <a:gd name="T7" fmla="*/ 307 h 333"/>
                    <a:gd name="T8" fmla="*/ 131 w 257"/>
                    <a:gd name="T9" fmla="*/ 239 h 333"/>
                    <a:gd name="T10" fmla="*/ 223 w 257"/>
                    <a:gd name="T11" fmla="*/ 227 h 333"/>
                    <a:gd name="T12" fmla="*/ 257 w 257"/>
                    <a:gd name="T13" fmla="*/ 149 h 333"/>
                    <a:gd name="T14" fmla="*/ 211 w 257"/>
                    <a:gd name="T15" fmla="*/ 33 h 333"/>
                    <a:gd name="T16" fmla="*/ 189 w 257"/>
                    <a:gd name="T17" fmla="*/ 21 h 333"/>
                    <a:gd name="T18" fmla="*/ 163 w 257"/>
                    <a:gd name="T19" fmla="*/ 12 h 333"/>
                    <a:gd name="T20" fmla="*/ 136 w 257"/>
                    <a:gd name="T21" fmla="*/ 4 h 333"/>
                    <a:gd name="T22" fmla="*/ 108 w 257"/>
                    <a:gd name="T23" fmla="*/ 0 h 333"/>
                    <a:gd name="T24" fmla="*/ 79 w 257"/>
                    <a:gd name="T25" fmla="*/ 0 h 333"/>
                    <a:gd name="T26" fmla="*/ 50 w 257"/>
                    <a:gd name="T27" fmla="*/ 1 h 333"/>
                    <a:gd name="T28" fmla="*/ 23 w 257"/>
                    <a:gd name="T29" fmla="*/ 7 h 333"/>
                    <a:gd name="T30" fmla="*/ 0 w 257"/>
                    <a:gd name="T31" fmla="*/ 18 h 333"/>
                    <a:gd name="T32" fmla="*/ 0 w 257"/>
                    <a:gd name="T33" fmla="*/ 70 h 333"/>
                    <a:gd name="T34" fmla="*/ 62 w 257"/>
                    <a:gd name="T35" fmla="*/ 44 h 333"/>
                    <a:gd name="T36" fmla="*/ 142 w 257"/>
                    <a:gd name="T37" fmla="*/ 56 h 333"/>
                    <a:gd name="T38" fmla="*/ 200 w 257"/>
                    <a:gd name="T39" fmla="*/ 126 h 333"/>
                    <a:gd name="T40" fmla="*/ 176 w 257"/>
                    <a:gd name="T41" fmla="*/ 182 h 333"/>
                    <a:gd name="T42" fmla="*/ 97 w 257"/>
                    <a:gd name="T43" fmla="*/ 205 h 333"/>
                    <a:gd name="T44" fmla="*/ 85 w 257"/>
                    <a:gd name="T45" fmla="*/ 273 h 333"/>
                    <a:gd name="T46" fmla="*/ 0 w 257"/>
                    <a:gd name="T47" fmla="*/ 273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257" h="333">
                      <a:moveTo>
                        <a:pt x="0" y="273"/>
                      </a:moveTo>
                      <a:lnTo>
                        <a:pt x="0" y="333"/>
                      </a:lnTo>
                      <a:lnTo>
                        <a:pt x="7" y="318"/>
                      </a:lnTo>
                      <a:lnTo>
                        <a:pt x="119" y="307"/>
                      </a:lnTo>
                      <a:lnTo>
                        <a:pt x="131" y="239"/>
                      </a:lnTo>
                      <a:lnTo>
                        <a:pt x="223" y="227"/>
                      </a:lnTo>
                      <a:lnTo>
                        <a:pt x="257" y="149"/>
                      </a:lnTo>
                      <a:lnTo>
                        <a:pt x="211" y="33"/>
                      </a:lnTo>
                      <a:lnTo>
                        <a:pt x="189" y="21"/>
                      </a:lnTo>
                      <a:lnTo>
                        <a:pt x="163" y="12"/>
                      </a:lnTo>
                      <a:lnTo>
                        <a:pt x="136" y="4"/>
                      </a:lnTo>
                      <a:lnTo>
                        <a:pt x="108" y="0"/>
                      </a:lnTo>
                      <a:lnTo>
                        <a:pt x="79" y="0"/>
                      </a:lnTo>
                      <a:lnTo>
                        <a:pt x="50" y="1"/>
                      </a:lnTo>
                      <a:lnTo>
                        <a:pt x="23" y="7"/>
                      </a:lnTo>
                      <a:lnTo>
                        <a:pt x="0" y="18"/>
                      </a:lnTo>
                      <a:lnTo>
                        <a:pt x="0" y="70"/>
                      </a:lnTo>
                      <a:lnTo>
                        <a:pt x="62" y="44"/>
                      </a:lnTo>
                      <a:lnTo>
                        <a:pt x="142" y="56"/>
                      </a:lnTo>
                      <a:lnTo>
                        <a:pt x="200" y="126"/>
                      </a:lnTo>
                      <a:lnTo>
                        <a:pt x="176" y="182"/>
                      </a:lnTo>
                      <a:lnTo>
                        <a:pt x="97" y="205"/>
                      </a:lnTo>
                      <a:lnTo>
                        <a:pt x="85" y="273"/>
                      </a:lnTo>
                      <a:lnTo>
                        <a:pt x="0" y="27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4" name="Freeform 115"/>
                <p:cNvSpPr>
                  <a:spLocks/>
                </p:cNvSpPr>
                <p:nvPr/>
              </p:nvSpPr>
              <p:spPr bwMode="auto">
                <a:xfrm>
                  <a:off x="3235" y="1606"/>
                  <a:ext cx="135" cy="191"/>
                </a:xfrm>
                <a:custGeom>
                  <a:avLst/>
                  <a:gdLst>
                    <a:gd name="T0" fmla="*/ 268 w 270"/>
                    <a:gd name="T1" fmla="*/ 52 h 383"/>
                    <a:gd name="T2" fmla="*/ 268 w 270"/>
                    <a:gd name="T3" fmla="*/ 0 h 383"/>
                    <a:gd name="T4" fmla="*/ 244 w 270"/>
                    <a:gd name="T5" fmla="*/ 3 h 383"/>
                    <a:gd name="T6" fmla="*/ 219 w 270"/>
                    <a:gd name="T7" fmla="*/ 12 h 383"/>
                    <a:gd name="T8" fmla="*/ 195 w 270"/>
                    <a:gd name="T9" fmla="*/ 26 h 383"/>
                    <a:gd name="T10" fmla="*/ 172 w 270"/>
                    <a:gd name="T11" fmla="*/ 45 h 383"/>
                    <a:gd name="T12" fmla="*/ 149 w 270"/>
                    <a:gd name="T13" fmla="*/ 68 h 383"/>
                    <a:gd name="T14" fmla="*/ 129 w 270"/>
                    <a:gd name="T15" fmla="*/ 92 h 383"/>
                    <a:gd name="T16" fmla="*/ 107 w 270"/>
                    <a:gd name="T17" fmla="*/ 121 h 383"/>
                    <a:gd name="T18" fmla="*/ 89 w 270"/>
                    <a:gd name="T19" fmla="*/ 151 h 383"/>
                    <a:gd name="T20" fmla="*/ 70 w 270"/>
                    <a:gd name="T21" fmla="*/ 181 h 383"/>
                    <a:gd name="T22" fmla="*/ 55 w 270"/>
                    <a:gd name="T23" fmla="*/ 214 h 383"/>
                    <a:gd name="T24" fmla="*/ 41 w 270"/>
                    <a:gd name="T25" fmla="*/ 246 h 383"/>
                    <a:gd name="T26" fmla="*/ 27 w 270"/>
                    <a:gd name="T27" fmla="*/ 277 h 383"/>
                    <a:gd name="T28" fmla="*/ 18 w 270"/>
                    <a:gd name="T29" fmla="*/ 306 h 383"/>
                    <a:gd name="T30" fmla="*/ 9 w 270"/>
                    <a:gd name="T31" fmla="*/ 333 h 383"/>
                    <a:gd name="T32" fmla="*/ 3 w 270"/>
                    <a:gd name="T33" fmla="*/ 358 h 383"/>
                    <a:gd name="T34" fmla="*/ 0 w 270"/>
                    <a:gd name="T35" fmla="*/ 380 h 383"/>
                    <a:gd name="T36" fmla="*/ 13 w 270"/>
                    <a:gd name="T37" fmla="*/ 381 h 383"/>
                    <a:gd name="T38" fmla="*/ 27 w 270"/>
                    <a:gd name="T39" fmla="*/ 383 h 383"/>
                    <a:gd name="T40" fmla="*/ 41 w 270"/>
                    <a:gd name="T41" fmla="*/ 383 h 383"/>
                    <a:gd name="T42" fmla="*/ 56 w 270"/>
                    <a:gd name="T43" fmla="*/ 381 h 383"/>
                    <a:gd name="T44" fmla="*/ 72 w 270"/>
                    <a:gd name="T45" fmla="*/ 380 h 383"/>
                    <a:gd name="T46" fmla="*/ 89 w 270"/>
                    <a:gd name="T47" fmla="*/ 378 h 383"/>
                    <a:gd name="T48" fmla="*/ 104 w 270"/>
                    <a:gd name="T49" fmla="*/ 375 h 383"/>
                    <a:gd name="T50" fmla="*/ 121 w 270"/>
                    <a:gd name="T51" fmla="*/ 372 h 383"/>
                    <a:gd name="T52" fmla="*/ 138 w 270"/>
                    <a:gd name="T53" fmla="*/ 370 h 383"/>
                    <a:gd name="T54" fmla="*/ 155 w 270"/>
                    <a:gd name="T55" fmla="*/ 367 h 383"/>
                    <a:gd name="T56" fmla="*/ 172 w 270"/>
                    <a:gd name="T57" fmla="*/ 364 h 383"/>
                    <a:gd name="T58" fmla="*/ 187 w 270"/>
                    <a:gd name="T59" fmla="*/ 361 h 383"/>
                    <a:gd name="T60" fmla="*/ 204 w 270"/>
                    <a:gd name="T61" fmla="*/ 360 h 383"/>
                    <a:gd name="T62" fmla="*/ 221 w 270"/>
                    <a:gd name="T63" fmla="*/ 358 h 383"/>
                    <a:gd name="T64" fmla="*/ 236 w 270"/>
                    <a:gd name="T65" fmla="*/ 356 h 383"/>
                    <a:gd name="T66" fmla="*/ 251 w 270"/>
                    <a:gd name="T67" fmla="*/ 356 h 383"/>
                    <a:gd name="T68" fmla="*/ 262 w 270"/>
                    <a:gd name="T69" fmla="*/ 335 h 383"/>
                    <a:gd name="T70" fmla="*/ 268 w 270"/>
                    <a:gd name="T71" fmla="*/ 307 h 383"/>
                    <a:gd name="T72" fmla="*/ 270 w 270"/>
                    <a:gd name="T73" fmla="*/ 280 h 383"/>
                    <a:gd name="T74" fmla="*/ 268 w 270"/>
                    <a:gd name="T75" fmla="*/ 255 h 383"/>
                    <a:gd name="T76" fmla="*/ 262 w 270"/>
                    <a:gd name="T77" fmla="*/ 255 h 383"/>
                    <a:gd name="T78" fmla="*/ 239 w 270"/>
                    <a:gd name="T79" fmla="*/ 300 h 383"/>
                    <a:gd name="T80" fmla="*/ 218 w 270"/>
                    <a:gd name="T81" fmla="*/ 303 h 383"/>
                    <a:gd name="T82" fmla="*/ 196 w 270"/>
                    <a:gd name="T83" fmla="*/ 306 h 383"/>
                    <a:gd name="T84" fmla="*/ 175 w 270"/>
                    <a:gd name="T85" fmla="*/ 307 h 383"/>
                    <a:gd name="T86" fmla="*/ 155 w 270"/>
                    <a:gd name="T87" fmla="*/ 310 h 383"/>
                    <a:gd name="T88" fmla="*/ 133 w 270"/>
                    <a:gd name="T89" fmla="*/ 310 h 383"/>
                    <a:gd name="T90" fmla="*/ 112 w 270"/>
                    <a:gd name="T91" fmla="*/ 312 h 383"/>
                    <a:gd name="T92" fmla="*/ 90 w 270"/>
                    <a:gd name="T93" fmla="*/ 312 h 383"/>
                    <a:gd name="T94" fmla="*/ 69 w 270"/>
                    <a:gd name="T95" fmla="*/ 312 h 383"/>
                    <a:gd name="T96" fmla="*/ 76 w 270"/>
                    <a:gd name="T97" fmla="*/ 280 h 383"/>
                    <a:gd name="T98" fmla="*/ 92 w 270"/>
                    <a:gd name="T99" fmla="*/ 241 h 383"/>
                    <a:gd name="T100" fmla="*/ 115 w 270"/>
                    <a:gd name="T101" fmla="*/ 198 h 383"/>
                    <a:gd name="T102" fmla="*/ 141 w 270"/>
                    <a:gd name="T103" fmla="*/ 157 h 383"/>
                    <a:gd name="T104" fmla="*/ 172 w 270"/>
                    <a:gd name="T105" fmla="*/ 118 h 383"/>
                    <a:gd name="T106" fmla="*/ 204 w 270"/>
                    <a:gd name="T107" fmla="*/ 84 h 383"/>
                    <a:gd name="T108" fmla="*/ 236 w 270"/>
                    <a:gd name="T109" fmla="*/ 61 h 383"/>
                    <a:gd name="T110" fmla="*/ 268 w 270"/>
                    <a:gd name="T111" fmla="*/ 52 h 3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270" h="383">
                      <a:moveTo>
                        <a:pt x="268" y="52"/>
                      </a:moveTo>
                      <a:lnTo>
                        <a:pt x="268" y="0"/>
                      </a:lnTo>
                      <a:lnTo>
                        <a:pt x="244" y="3"/>
                      </a:lnTo>
                      <a:lnTo>
                        <a:pt x="219" y="12"/>
                      </a:lnTo>
                      <a:lnTo>
                        <a:pt x="195" y="26"/>
                      </a:lnTo>
                      <a:lnTo>
                        <a:pt x="172" y="45"/>
                      </a:lnTo>
                      <a:lnTo>
                        <a:pt x="149" y="68"/>
                      </a:lnTo>
                      <a:lnTo>
                        <a:pt x="129" y="92"/>
                      </a:lnTo>
                      <a:lnTo>
                        <a:pt x="107" y="121"/>
                      </a:lnTo>
                      <a:lnTo>
                        <a:pt x="89" y="151"/>
                      </a:lnTo>
                      <a:lnTo>
                        <a:pt x="70" y="181"/>
                      </a:lnTo>
                      <a:lnTo>
                        <a:pt x="55" y="214"/>
                      </a:lnTo>
                      <a:lnTo>
                        <a:pt x="41" y="246"/>
                      </a:lnTo>
                      <a:lnTo>
                        <a:pt x="27" y="277"/>
                      </a:lnTo>
                      <a:lnTo>
                        <a:pt x="18" y="306"/>
                      </a:lnTo>
                      <a:lnTo>
                        <a:pt x="9" y="333"/>
                      </a:lnTo>
                      <a:lnTo>
                        <a:pt x="3" y="358"/>
                      </a:lnTo>
                      <a:lnTo>
                        <a:pt x="0" y="380"/>
                      </a:lnTo>
                      <a:lnTo>
                        <a:pt x="13" y="381"/>
                      </a:lnTo>
                      <a:lnTo>
                        <a:pt x="27" y="383"/>
                      </a:lnTo>
                      <a:lnTo>
                        <a:pt x="41" y="383"/>
                      </a:lnTo>
                      <a:lnTo>
                        <a:pt x="56" y="381"/>
                      </a:lnTo>
                      <a:lnTo>
                        <a:pt x="72" y="380"/>
                      </a:lnTo>
                      <a:lnTo>
                        <a:pt x="89" y="378"/>
                      </a:lnTo>
                      <a:lnTo>
                        <a:pt x="104" y="375"/>
                      </a:lnTo>
                      <a:lnTo>
                        <a:pt x="121" y="372"/>
                      </a:lnTo>
                      <a:lnTo>
                        <a:pt x="138" y="370"/>
                      </a:lnTo>
                      <a:lnTo>
                        <a:pt x="155" y="367"/>
                      </a:lnTo>
                      <a:lnTo>
                        <a:pt x="172" y="364"/>
                      </a:lnTo>
                      <a:lnTo>
                        <a:pt x="187" y="361"/>
                      </a:lnTo>
                      <a:lnTo>
                        <a:pt x="204" y="360"/>
                      </a:lnTo>
                      <a:lnTo>
                        <a:pt x="221" y="358"/>
                      </a:lnTo>
                      <a:lnTo>
                        <a:pt x="236" y="356"/>
                      </a:lnTo>
                      <a:lnTo>
                        <a:pt x="251" y="356"/>
                      </a:lnTo>
                      <a:lnTo>
                        <a:pt x="262" y="335"/>
                      </a:lnTo>
                      <a:lnTo>
                        <a:pt x="268" y="307"/>
                      </a:lnTo>
                      <a:lnTo>
                        <a:pt x="270" y="280"/>
                      </a:lnTo>
                      <a:lnTo>
                        <a:pt x="268" y="255"/>
                      </a:lnTo>
                      <a:lnTo>
                        <a:pt x="262" y="255"/>
                      </a:lnTo>
                      <a:lnTo>
                        <a:pt x="239" y="300"/>
                      </a:lnTo>
                      <a:lnTo>
                        <a:pt x="218" y="303"/>
                      </a:lnTo>
                      <a:lnTo>
                        <a:pt x="196" y="306"/>
                      </a:lnTo>
                      <a:lnTo>
                        <a:pt x="175" y="307"/>
                      </a:lnTo>
                      <a:lnTo>
                        <a:pt x="155" y="310"/>
                      </a:lnTo>
                      <a:lnTo>
                        <a:pt x="133" y="310"/>
                      </a:lnTo>
                      <a:lnTo>
                        <a:pt x="112" y="312"/>
                      </a:lnTo>
                      <a:lnTo>
                        <a:pt x="90" y="312"/>
                      </a:lnTo>
                      <a:lnTo>
                        <a:pt x="69" y="312"/>
                      </a:lnTo>
                      <a:lnTo>
                        <a:pt x="76" y="280"/>
                      </a:lnTo>
                      <a:lnTo>
                        <a:pt x="92" y="241"/>
                      </a:lnTo>
                      <a:lnTo>
                        <a:pt x="115" y="198"/>
                      </a:lnTo>
                      <a:lnTo>
                        <a:pt x="141" y="157"/>
                      </a:lnTo>
                      <a:lnTo>
                        <a:pt x="172" y="118"/>
                      </a:lnTo>
                      <a:lnTo>
                        <a:pt x="204" y="84"/>
                      </a:lnTo>
                      <a:lnTo>
                        <a:pt x="236" y="61"/>
                      </a:lnTo>
                      <a:lnTo>
                        <a:pt x="268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6" name="Group 116"/>
              <p:cNvGrpSpPr>
                <a:grpSpLocks/>
              </p:cNvGrpSpPr>
              <p:nvPr/>
            </p:nvGrpSpPr>
            <p:grpSpPr bwMode="auto">
              <a:xfrm>
                <a:off x="456" y="2139"/>
                <a:ext cx="82" cy="28"/>
                <a:chOff x="1200" y="3160"/>
                <a:chExt cx="250" cy="98"/>
              </a:xfrm>
            </p:grpSpPr>
            <p:sp>
              <p:nvSpPr>
                <p:cNvPr id="27" name="Line 117"/>
                <p:cNvSpPr>
                  <a:spLocks noChangeShapeType="1"/>
                </p:cNvSpPr>
                <p:nvPr/>
              </p:nvSpPr>
              <p:spPr bwMode="gray">
                <a:xfrm>
                  <a:off x="1200" y="3162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28" name="Line 118"/>
                <p:cNvSpPr>
                  <a:spLocks noChangeShapeType="1"/>
                </p:cNvSpPr>
                <p:nvPr/>
              </p:nvSpPr>
              <p:spPr bwMode="gray">
                <a:xfrm flipH="1">
                  <a:off x="1354" y="316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</p:grpSp>
        </p:grpSp>
      </p:grpSp>
      <p:sp>
        <p:nvSpPr>
          <p:cNvPr id="44" name="Rectangle 59"/>
          <p:cNvSpPr>
            <a:spLocks noChangeArrowheads="1"/>
          </p:cNvSpPr>
          <p:nvPr/>
        </p:nvSpPr>
        <p:spPr bwMode="gray">
          <a:xfrm>
            <a:off x="1180507" y="1837740"/>
            <a:ext cx="1255749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제품정보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45" name="Rectangle 59"/>
          <p:cNvSpPr>
            <a:spLocks noChangeArrowheads="1"/>
          </p:cNvSpPr>
          <p:nvPr/>
        </p:nvSpPr>
        <p:spPr bwMode="gray">
          <a:xfrm>
            <a:off x="1180507" y="2120408"/>
            <a:ext cx="1255749" cy="24840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  <a:ea typeface="+mn-ea"/>
              </a:rPr>
              <a:t>매장정보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46" name="Line 50"/>
          <p:cNvSpPr>
            <a:spLocks noChangeShapeType="1"/>
          </p:cNvSpPr>
          <p:nvPr/>
        </p:nvSpPr>
        <p:spPr bwMode="gray">
          <a:xfrm>
            <a:off x="227475" y="2244609"/>
            <a:ext cx="953033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47" name="Line 50"/>
          <p:cNvSpPr>
            <a:spLocks noChangeShapeType="1"/>
          </p:cNvSpPr>
          <p:nvPr/>
        </p:nvSpPr>
        <p:spPr bwMode="gray">
          <a:xfrm>
            <a:off x="227475" y="2534177"/>
            <a:ext cx="96129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48" name="Text Box 70"/>
          <p:cNvSpPr txBox="1">
            <a:spLocks noChangeArrowheads="1"/>
          </p:cNvSpPr>
          <p:nvPr/>
        </p:nvSpPr>
        <p:spPr bwMode="gray">
          <a:xfrm>
            <a:off x="1275055" y="938113"/>
            <a:ext cx="9572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000CC"/>
                </a:solidFill>
                <a:latin typeface="Arial" panose="020B0604020202020204" pitchFamily="34" charset="0"/>
                <a:ea typeface="굴림체" panose="020B0609000101010101" pitchFamily="49" charset="-127"/>
              </a:rPr>
              <a:t>선행프로세스</a:t>
            </a:r>
          </a:p>
        </p:txBody>
      </p:sp>
      <p:sp>
        <p:nvSpPr>
          <p:cNvPr id="49" name="Text Box 48"/>
          <p:cNvSpPr txBox="1">
            <a:spLocks noChangeArrowheads="1"/>
          </p:cNvSpPr>
          <p:nvPr/>
        </p:nvSpPr>
        <p:spPr bwMode="gray">
          <a:xfrm>
            <a:off x="227475" y="2022158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매장상세정보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0" name="Text Box 48"/>
          <p:cNvSpPr txBox="1">
            <a:spLocks noChangeArrowheads="1"/>
          </p:cNvSpPr>
          <p:nvPr/>
        </p:nvSpPr>
        <p:spPr bwMode="gray">
          <a:xfrm>
            <a:off x="227475" y="2325506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ko-KR" altLang="en-US" sz="900" dirty="0" smtClean="0">
                <a:latin typeface="+mn-ea"/>
                <a:ea typeface="+mn-ea"/>
              </a:rPr>
              <a:t>매장브랜드정보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51" name="Rectangle 68"/>
          <p:cNvSpPr>
            <a:spLocks noChangeArrowheads="1"/>
          </p:cNvSpPr>
          <p:nvPr/>
        </p:nvSpPr>
        <p:spPr bwMode="gray">
          <a:xfrm>
            <a:off x="1039015" y="1268760"/>
            <a:ext cx="1512888" cy="1575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52" name="AutoShape 79"/>
          <p:cNvSpPr>
            <a:spLocks noChangeArrowheads="1"/>
          </p:cNvSpPr>
          <p:nvPr/>
        </p:nvSpPr>
        <p:spPr bwMode="auto">
          <a:xfrm>
            <a:off x="1302041" y="3639479"/>
            <a:ext cx="996950" cy="341312"/>
          </a:xfrm>
          <a:prstGeom prst="flowChartTerminator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실판가정보관리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등록 </a:t>
            </a:r>
            <a:r>
              <a:rPr lang="ko-KR" altLang="en-US" sz="900" dirty="0">
                <a:latin typeface="+mn-ea"/>
                <a:ea typeface="+mn-ea"/>
              </a:rPr>
              <a:t>시작</a:t>
            </a:r>
          </a:p>
        </p:txBody>
      </p:sp>
      <p:cxnSp>
        <p:nvCxnSpPr>
          <p:cNvPr id="53" name="AutoShape 67"/>
          <p:cNvCxnSpPr>
            <a:cxnSpLocks noChangeShapeType="1"/>
            <a:stCxn id="51" idx="2"/>
            <a:endCxn id="52" idx="0"/>
          </p:cNvCxnSpPr>
          <p:nvPr/>
        </p:nvCxnSpPr>
        <p:spPr bwMode="gray">
          <a:xfrm rot="16200000" flipH="1">
            <a:off x="1400215" y="3239178"/>
            <a:ext cx="795544" cy="505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Text Box 28"/>
          <p:cNvSpPr txBox="1">
            <a:spLocks noChangeArrowheads="1"/>
          </p:cNvSpPr>
          <p:nvPr/>
        </p:nvSpPr>
        <p:spPr bwMode="auto">
          <a:xfrm rot="5400000">
            <a:off x="7428101" y="4463941"/>
            <a:ext cx="720725" cy="1439863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vert="vert270"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900" kern="0" dirty="0" err="1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실판매금액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(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출고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판매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/</a:t>
            </a:r>
            <a:r>
              <a:rPr kumimoji="0" lang="ko-KR" altLang="en-US" sz="900" kern="0" dirty="0" err="1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감가재매입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)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grpSp>
        <p:nvGrpSpPr>
          <p:cNvPr id="62" name="그룹 95"/>
          <p:cNvGrpSpPr>
            <a:grpSpLocks/>
          </p:cNvGrpSpPr>
          <p:nvPr/>
        </p:nvGrpSpPr>
        <p:grpSpPr bwMode="auto">
          <a:xfrm>
            <a:off x="3684558" y="1760936"/>
            <a:ext cx="890587" cy="458539"/>
            <a:chOff x="6300785" y="4905163"/>
            <a:chExt cx="889656" cy="456398"/>
          </a:xfrm>
        </p:grpSpPr>
        <p:sp>
          <p:nvSpPr>
            <p:cNvPr id="63" name="순서도: 판단 93"/>
            <p:cNvSpPr>
              <a:spLocks noChangeArrowheads="1"/>
            </p:cNvSpPr>
            <p:nvPr/>
          </p:nvSpPr>
          <p:spPr bwMode="auto">
            <a:xfrm>
              <a:off x="6300785" y="4905163"/>
              <a:ext cx="889656" cy="456398"/>
            </a:xfrm>
            <a:prstGeom prst="flowChartDecision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4" name="Rectangle 35"/>
            <p:cNvSpPr>
              <a:spLocks noChangeArrowheads="1"/>
            </p:cNvSpPr>
            <p:nvPr/>
          </p:nvSpPr>
          <p:spPr bwMode="auto">
            <a:xfrm>
              <a:off x="6483156" y="4955726"/>
              <a:ext cx="599448" cy="3697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marL="0" marR="0" lvl="0" indent="0" algn="ctr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특정매장 제품할인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?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65" name="그룹 95"/>
          <p:cNvGrpSpPr>
            <a:grpSpLocks/>
          </p:cNvGrpSpPr>
          <p:nvPr/>
        </p:nvGrpSpPr>
        <p:grpSpPr bwMode="auto">
          <a:xfrm>
            <a:off x="3684558" y="2422923"/>
            <a:ext cx="890587" cy="458539"/>
            <a:chOff x="6300785" y="4905163"/>
            <a:chExt cx="889656" cy="456397"/>
          </a:xfrm>
        </p:grpSpPr>
        <p:sp>
          <p:nvSpPr>
            <p:cNvPr id="66" name="순서도: 판단 93"/>
            <p:cNvSpPr>
              <a:spLocks noChangeArrowheads="1"/>
            </p:cNvSpPr>
            <p:nvPr/>
          </p:nvSpPr>
          <p:spPr bwMode="auto">
            <a:xfrm>
              <a:off x="6300785" y="4905163"/>
              <a:ext cx="889656" cy="456397"/>
            </a:xfrm>
            <a:prstGeom prst="flowChartDecision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6483156" y="4955726"/>
              <a:ext cx="599448" cy="3697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marL="0" marR="0" lvl="0" indent="0" algn="ctr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전체매장 제품할인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?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68" name="그룹 95"/>
          <p:cNvGrpSpPr>
            <a:grpSpLocks/>
          </p:cNvGrpSpPr>
          <p:nvPr/>
        </p:nvGrpSpPr>
        <p:grpSpPr bwMode="auto">
          <a:xfrm>
            <a:off x="3684558" y="3089673"/>
            <a:ext cx="890587" cy="458539"/>
            <a:chOff x="6300785" y="4905163"/>
            <a:chExt cx="889656" cy="457889"/>
          </a:xfrm>
        </p:grpSpPr>
        <p:sp>
          <p:nvSpPr>
            <p:cNvPr id="69" name="순서도: 판단 93"/>
            <p:cNvSpPr>
              <a:spLocks noChangeArrowheads="1"/>
            </p:cNvSpPr>
            <p:nvPr/>
          </p:nvSpPr>
          <p:spPr bwMode="auto">
            <a:xfrm>
              <a:off x="6300785" y="4905163"/>
              <a:ext cx="889656" cy="457889"/>
            </a:xfrm>
            <a:prstGeom prst="flowChartDecision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70" name="Rectangle 35"/>
            <p:cNvSpPr>
              <a:spLocks noChangeArrowheads="1"/>
            </p:cNvSpPr>
            <p:nvPr/>
          </p:nvSpPr>
          <p:spPr bwMode="auto">
            <a:xfrm>
              <a:off x="6483156" y="4955891"/>
              <a:ext cx="599448" cy="369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marL="0" marR="0" lvl="0" indent="0" algn="ctr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특정매장 </a:t>
              </a: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행사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?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71" name="그룹 95"/>
          <p:cNvGrpSpPr>
            <a:grpSpLocks/>
          </p:cNvGrpSpPr>
          <p:nvPr/>
        </p:nvGrpSpPr>
        <p:grpSpPr bwMode="auto">
          <a:xfrm>
            <a:off x="3690908" y="3791348"/>
            <a:ext cx="890587" cy="458539"/>
            <a:chOff x="6300785" y="4905163"/>
            <a:chExt cx="889656" cy="457889"/>
          </a:xfrm>
        </p:grpSpPr>
        <p:sp>
          <p:nvSpPr>
            <p:cNvPr id="72" name="순서도: 판단 93"/>
            <p:cNvSpPr>
              <a:spLocks noChangeArrowheads="1"/>
            </p:cNvSpPr>
            <p:nvPr/>
          </p:nvSpPr>
          <p:spPr bwMode="auto">
            <a:xfrm>
              <a:off x="6300785" y="4905163"/>
              <a:ext cx="889656" cy="457889"/>
            </a:xfrm>
            <a:prstGeom prst="flowChartDecision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73" name="Rectangle 35"/>
            <p:cNvSpPr>
              <a:spLocks noChangeArrowheads="1"/>
            </p:cNvSpPr>
            <p:nvPr/>
          </p:nvSpPr>
          <p:spPr bwMode="auto">
            <a:xfrm>
              <a:off x="6483156" y="4955891"/>
              <a:ext cx="599448" cy="369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marL="0" marR="0" lvl="0" indent="0" algn="ctr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kern="0" noProof="0" dirty="0" smtClean="0">
                  <a:solidFill>
                    <a:srgbClr val="000000"/>
                  </a:solidFill>
                  <a:latin typeface="+mn-ea"/>
                  <a:ea typeface="+mn-ea"/>
                  <a:cs typeface="Times New Roman" pitchFamily="18" charset="0"/>
                </a:rPr>
                <a:t>전체매장</a:t>
              </a:r>
              <a:endParaRPr kumimoji="0" lang="en-US" altLang="ko-K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  <a:p>
              <a:pPr marL="0" marR="0" lvl="0" indent="0" algn="ctr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할인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?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sp>
        <p:nvSpPr>
          <p:cNvPr id="74" name="Rectangle 35"/>
          <p:cNvSpPr>
            <a:spLocks noChangeArrowheads="1"/>
          </p:cNvSpPr>
          <p:nvPr/>
        </p:nvSpPr>
        <p:spPr bwMode="auto">
          <a:xfrm>
            <a:off x="4456083" y="1868890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YES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cxnSp>
        <p:nvCxnSpPr>
          <p:cNvPr id="75" name="꺾인 연결선 147"/>
          <p:cNvCxnSpPr>
            <a:cxnSpLocks noChangeShapeType="1"/>
          </p:cNvCxnSpPr>
          <p:nvPr/>
        </p:nvCxnSpPr>
        <p:spPr bwMode="auto">
          <a:xfrm>
            <a:off x="4575145" y="2010177"/>
            <a:ext cx="534096" cy="44767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7192610" y="2377041"/>
            <a:ext cx="1315784" cy="1439863"/>
          </a:xfrm>
          <a:prstGeom prst="rect">
            <a:avLst/>
          </a:prstGeom>
          <a:solidFill>
            <a:srgbClr val="FFFF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900" kern="0" dirty="0" err="1">
                <a:solidFill>
                  <a:sysClr val="windowText" lastClr="000000"/>
                </a:solidFill>
                <a:latin typeface="+mn-ea"/>
                <a:ea typeface="+mn-ea"/>
              </a:rPr>
              <a:t>실판가정보</a:t>
            </a:r>
            <a:r>
              <a:rPr kumimoji="0" lang="ko-KR" altLang="en-US" sz="900" kern="0" dirty="0">
                <a:solidFill>
                  <a:sysClr val="windowText" lastClr="00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9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관리</a:t>
            </a:r>
            <a:endParaRPr kumimoji="0" lang="en-US" altLang="ko-KR" sz="90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V_REAL_SAMT</a:t>
            </a: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smtClean="0">
                <a:solidFill>
                  <a:sysClr val="windowText" lastClr="000000"/>
                </a:solidFill>
                <a:latin typeface="+mn-ea"/>
                <a:ea typeface="+mn-ea"/>
              </a:rPr>
              <a:t>SP_GET_REALSAMT</a:t>
            </a: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smtClean="0">
                <a:solidFill>
                  <a:sysClr val="windowText" lastClr="000000"/>
                </a:solidFill>
                <a:latin typeface="+mn-ea"/>
              </a:rPr>
              <a:t>SP_GET_REALSAMT2</a:t>
            </a: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smtClean="0">
                <a:solidFill>
                  <a:sysClr val="windowText" lastClr="000000"/>
                </a:solidFill>
                <a:latin typeface="+mn-ea"/>
              </a:rPr>
              <a:t>F_GET_REALSAMT</a:t>
            </a: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en-US" altLang="ko-KR" sz="900" kern="0" dirty="0" err="1">
                <a:solidFill>
                  <a:sysClr val="windowText" lastClr="000000"/>
                </a:solidFill>
                <a:latin typeface="+mn-ea"/>
              </a:rPr>
              <a:t>F_Get_Realsamt_Olp</a:t>
            </a:r>
            <a:endParaRPr kumimoji="0" lang="en-US" altLang="ko-KR" sz="900" kern="0" dirty="0" smtClean="0">
              <a:solidFill>
                <a:sysClr val="windowText" lastClr="000000"/>
              </a:solidFill>
              <a:latin typeface="+mn-ea"/>
            </a:endParaRPr>
          </a:p>
          <a:p>
            <a:pPr fontAlgn="auto" latinLnBrk="0">
              <a:spcBef>
                <a:spcPct val="50000"/>
              </a:spcBef>
              <a:spcAft>
                <a:spcPts val="0"/>
              </a:spcAft>
              <a:defRPr/>
            </a:pPr>
            <a:endParaRPr kumimoji="0" lang="ko-KR" altLang="en-US" sz="9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cxnSp>
        <p:nvCxnSpPr>
          <p:cNvPr id="77" name="꺾인 연결선 147"/>
          <p:cNvCxnSpPr>
            <a:cxnSpLocks noChangeShapeType="1"/>
          </p:cNvCxnSpPr>
          <p:nvPr/>
        </p:nvCxnSpPr>
        <p:spPr bwMode="auto">
          <a:xfrm flipV="1">
            <a:off x="4575145" y="2663970"/>
            <a:ext cx="534096" cy="3432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78" name="꺾인 연결선 147"/>
          <p:cNvCxnSpPr>
            <a:cxnSpLocks noChangeShapeType="1"/>
            <a:stCxn id="69" idx="3"/>
            <a:endCxn id="141" idx="1"/>
          </p:cNvCxnSpPr>
          <p:nvPr/>
        </p:nvCxnSpPr>
        <p:spPr bwMode="auto">
          <a:xfrm flipV="1">
            <a:off x="4575145" y="3143652"/>
            <a:ext cx="534096" cy="175291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79" name="꺾인 연결선 147"/>
          <p:cNvCxnSpPr>
            <a:cxnSpLocks noChangeShapeType="1"/>
          </p:cNvCxnSpPr>
          <p:nvPr/>
        </p:nvCxnSpPr>
        <p:spPr bwMode="auto">
          <a:xfrm flipV="1">
            <a:off x="4581495" y="3699273"/>
            <a:ext cx="527746" cy="33496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80" name="Rectangle 35"/>
          <p:cNvSpPr>
            <a:spLocks noChangeArrowheads="1"/>
          </p:cNvSpPr>
          <p:nvPr/>
        </p:nvSpPr>
        <p:spPr bwMode="auto">
          <a:xfrm>
            <a:off x="4467195" y="2521352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YES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1" name="Rectangle 35"/>
          <p:cNvSpPr>
            <a:spLocks noChangeArrowheads="1"/>
          </p:cNvSpPr>
          <p:nvPr/>
        </p:nvSpPr>
        <p:spPr bwMode="auto">
          <a:xfrm>
            <a:off x="4454495" y="3205565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YES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2" name="Rectangle 35"/>
          <p:cNvSpPr>
            <a:spLocks noChangeArrowheads="1"/>
          </p:cNvSpPr>
          <p:nvPr/>
        </p:nvSpPr>
        <p:spPr bwMode="auto">
          <a:xfrm>
            <a:off x="4454495" y="3889777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YES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cxnSp>
        <p:nvCxnSpPr>
          <p:cNvPr id="83" name="꺾인 연결선 147"/>
          <p:cNvCxnSpPr>
            <a:cxnSpLocks noChangeShapeType="1"/>
          </p:cNvCxnSpPr>
          <p:nvPr/>
        </p:nvCxnSpPr>
        <p:spPr bwMode="auto">
          <a:xfrm rot="5400000">
            <a:off x="4041745" y="2335615"/>
            <a:ext cx="176213" cy="158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84" name="꺾인 연결선 147"/>
          <p:cNvCxnSpPr>
            <a:cxnSpLocks noChangeShapeType="1"/>
          </p:cNvCxnSpPr>
          <p:nvPr/>
        </p:nvCxnSpPr>
        <p:spPr bwMode="auto">
          <a:xfrm rot="5400000">
            <a:off x="4039364" y="2999984"/>
            <a:ext cx="180975" cy="158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85" name="꺾인 연결선 147"/>
          <p:cNvCxnSpPr>
            <a:cxnSpLocks noChangeShapeType="1"/>
          </p:cNvCxnSpPr>
          <p:nvPr/>
        </p:nvCxnSpPr>
        <p:spPr bwMode="auto">
          <a:xfrm rot="16200000" flipH="1">
            <a:off x="4025077" y="3679433"/>
            <a:ext cx="215900" cy="793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86" name="Rectangle 35"/>
          <p:cNvSpPr>
            <a:spLocks noChangeArrowheads="1"/>
          </p:cNvSpPr>
          <p:nvPr/>
        </p:nvSpPr>
        <p:spPr bwMode="auto">
          <a:xfrm>
            <a:off x="3817908" y="2197502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NO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7" name="Rectangle 35"/>
          <p:cNvSpPr>
            <a:spLocks noChangeArrowheads="1"/>
          </p:cNvSpPr>
          <p:nvPr/>
        </p:nvSpPr>
        <p:spPr bwMode="auto">
          <a:xfrm>
            <a:off x="3841720" y="2872190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NO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88" name="Rectangle 35"/>
          <p:cNvSpPr>
            <a:spLocks noChangeArrowheads="1"/>
          </p:cNvSpPr>
          <p:nvPr/>
        </p:nvSpPr>
        <p:spPr bwMode="auto">
          <a:xfrm>
            <a:off x="3854420" y="3548465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NO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cxnSp>
        <p:nvCxnSpPr>
          <p:cNvPr id="89" name="꺾인 연결선 147"/>
          <p:cNvCxnSpPr>
            <a:cxnSpLocks noChangeShapeType="1"/>
          </p:cNvCxnSpPr>
          <p:nvPr/>
        </p:nvCxnSpPr>
        <p:spPr bwMode="auto">
          <a:xfrm rot="5400000" flipH="1">
            <a:off x="2874933" y="3015065"/>
            <a:ext cx="2516187" cy="7937"/>
          </a:xfrm>
          <a:prstGeom prst="bentConnector5">
            <a:avLst>
              <a:gd name="adj1" fmla="val -9083"/>
              <a:gd name="adj2" fmla="val 9552523"/>
              <a:gd name="adj3" fmla="val 104972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</p:cxnSp>
      <p:sp>
        <p:nvSpPr>
          <p:cNvPr id="90" name="타원 276"/>
          <p:cNvSpPr>
            <a:spLocks noChangeArrowheads="1"/>
          </p:cNvSpPr>
          <p:nvPr/>
        </p:nvSpPr>
        <p:spPr bwMode="auto">
          <a:xfrm>
            <a:off x="4513233" y="2010177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1" name="타원 277"/>
          <p:cNvSpPr>
            <a:spLocks noChangeArrowheads="1"/>
          </p:cNvSpPr>
          <p:nvPr/>
        </p:nvSpPr>
        <p:spPr bwMode="auto">
          <a:xfrm>
            <a:off x="4513233" y="2694390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b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2" name="타원 278"/>
          <p:cNvSpPr>
            <a:spLocks noChangeArrowheads="1"/>
          </p:cNvSpPr>
          <p:nvPr/>
        </p:nvSpPr>
        <p:spPr bwMode="auto">
          <a:xfrm>
            <a:off x="4513233" y="3377015"/>
            <a:ext cx="215900" cy="217487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3" name="타원 279"/>
          <p:cNvSpPr>
            <a:spLocks noChangeArrowheads="1"/>
          </p:cNvSpPr>
          <p:nvPr/>
        </p:nvSpPr>
        <p:spPr bwMode="auto">
          <a:xfrm>
            <a:off x="4513233" y="4061227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d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94" name="그룹 289"/>
          <p:cNvGrpSpPr>
            <a:grpSpLocks/>
          </p:cNvGrpSpPr>
          <p:nvPr/>
        </p:nvGrpSpPr>
        <p:grpSpPr bwMode="auto">
          <a:xfrm>
            <a:off x="3792508" y="4602565"/>
            <a:ext cx="1692275" cy="215900"/>
            <a:chOff x="4376936" y="4869184"/>
            <a:chExt cx="1692188" cy="216000"/>
          </a:xfrm>
        </p:grpSpPr>
        <p:sp>
          <p:nvSpPr>
            <p:cNvPr id="95" name="타원 281"/>
            <p:cNvSpPr>
              <a:spLocks noChangeArrowheads="1"/>
            </p:cNvSpPr>
            <p:nvPr/>
          </p:nvSpPr>
          <p:spPr bwMode="auto">
            <a:xfrm>
              <a:off x="4376936" y="4869184"/>
              <a:ext cx="216000" cy="216000"/>
            </a:xfrm>
            <a:prstGeom prst="ellipse">
              <a:avLst/>
            </a:prstGeom>
            <a:gradFill rotWithShape="0">
              <a:gsLst>
                <a:gs pos="0">
                  <a:srgbClr val="9999FF"/>
                </a:gs>
                <a:gs pos="100000">
                  <a:srgbClr val="FFFFFF"/>
                </a:gs>
              </a:gsLst>
              <a:lin ang="2700000" scaled="1"/>
            </a:gradFill>
            <a:ln w="9525" algn="ctr">
              <a:solidFill>
                <a:srgbClr val="FFFFFF"/>
              </a:solidFill>
              <a:round/>
              <a:headEnd/>
              <a:tailEnd type="none" w="sm" len="med"/>
            </a:ln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rPr>
                <a:t>a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6" name="Rectangle 35"/>
            <p:cNvSpPr>
              <a:spLocks noChangeArrowheads="1"/>
            </p:cNvSpPr>
            <p:nvPr/>
          </p:nvSpPr>
          <p:spPr bwMode="auto">
            <a:xfrm>
              <a:off x="4516629" y="4905713"/>
              <a:ext cx="1552495" cy="136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할인구분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: 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특정매장제품별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97" name="그룹 290"/>
          <p:cNvGrpSpPr>
            <a:grpSpLocks/>
          </p:cNvGrpSpPr>
          <p:nvPr/>
        </p:nvGrpSpPr>
        <p:grpSpPr bwMode="auto">
          <a:xfrm>
            <a:off x="3792508" y="4829577"/>
            <a:ext cx="1692275" cy="215900"/>
            <a:chOff x="4376936" y="5085208"/>
            <a:chExt cx="1692188" cy="216000"/>
          </a:xfrm>
        </p:grpSpPr>
        <p:sp>
          <p:nvSpPr>
            <p:cNvPr id="98" name="타원 283"/>
            <p:cNvSpPr>
              <a:spLocks noChangeArrowheads="1"/>
            </p:cNvSpPr>
            <p:nvPr/>
          </p:nvSpPr>
          <p:spPr bwMode="auto">
            <a:xfrm>
              <a:off x="4376936" y="5085208"/>
              <a:ext cx="216000" cy="216000"/>
            </a:xfrm>
            <a:prstGeom prst="ellipse">
              <a:avLst/>
            </a:prstGeom>
            <a:gradFill rotWithShape="0">
              <a:gsLst>
                <a:gs pos="0">
                  <a:srgbClr val="9999FF"/>
                </a:gs>
                <a:gs pos="100000">
                  <a:srgbClr val="FFFFFF"/>
                </a:gs>
              </a:gsLst>
              <a:lin ang="2700000" scaled="1"/>
            </a:gradFill>
            <a:ln w="9525" algn="ctr">
              <a:solidFill>
                <a:srgbClr val="FFFFFF"/>
              </a:solidFill>
              <a:round/>
              <a:headEnd/>
              <a:tailEnd type="none" w="sm" len="med"/>
            </a:ln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rPr>
                <a:t>b</a:t>
              </a: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9" name="Rectangle 35"/>
            <p:cNvSpPr>
              <a:spLocks noChangeArrowheads="1"/>
            </p:cNvSpPr>
            <p:nvPr/>
          </p:nvSpPr>
          <p:spPr bwMode="auto">
            <a:xfrm>
              <a:off x="4516629" y="5121738"/>
              <a:ext cx="1552495" cy="136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할인구분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: 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전체매장제품별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100" name="그룹 291"/>
          <p:cNvGrpSpPr>
            <a:grpSpLocks/>
          </p:cNvGrpSpPr>
          <p:nvPr/>
        </p:nvGrpSpPr>
        <p:grpSpPr bwMode="auto">
          <a:xfrm>
            <a:off x="3792508" y="5058177"/>
            <a:ext cx="1692275" cy="215900"/>
            <a:chOff x="4376936" y="5337236"/>
            <a:chExt cx="1692188" cy="216000"/>
          </a:xfrm>
        </p:grpSpPr>
        <p:sp>
          <p:nvSpPr>
            <p:cNvPr id="101" name="타원 285"/>
            <p:cNvSpPr>
              <a:spLocks noChangeArrowheads="1"/>
            </p:cNvSpPr>
            <p:nvPr/>
          </p:nvSpPr>
          <p:spPr bwMode="auto">
            <a:xfrm>
              <a:off x="4376936" y="5337236"/>
              <a:ext cx="216000" cy="216000"/>
            </a:xfrm>
            <a:prstGeom prst="ellipse">
              <a:avLst/>
            </a:prstGeom>
            <a:gradFill rotWithShape="0">
              <a:gsLst>
                <a:gs pos="0">
                  <a:srgbClr val="9999FF"/>
                </a:gs>
                <a:gs pos="100000">
                  <a:srgbClr val="FFFFFF"/>
                </a:gs>
              </a:gsLst>
              <a:lin ang="2700000" scaled="1"/>
            </a:gradFill>
            <a:ln w="9525" algn="ctr">
              <a:solidFill>
                <a:srgbClr val="FFFFFF"/>
              </a:solidFill>
              <a:round/>
              <a:headEnd/>
              <a:tailEnd type="none" w="sm" len="med"/>
            </a:ln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rPr>
                <a:t>c</a:t>
              </a: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2" name="Rectangle 35"/>
            <p:cNvSpPr>
              <a:spLocks noChangeArrowheads="1"/>
            </p:cNvSpPr>
            <p:nvPr/>
          </p:nvSpPr>
          <p:spPr bwMode="auto">
            <a:xfrm>
              <a:off x="4516629" y="5373766"/>
              <a:ext cx="1552495" cy="136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할인구분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: 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특정매장행사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grpSp>
        <p:nvGrpSpPr>
          <p:cNvPr id="103" name="그룹 292"/>
          <p:cNvGrpSpPr>
            <a:grpSpLocks/>
          </p:cNvGrpSpPr>
          <p:nvPr/>
        </p:nvGrpSpPr>
        <p:grpSpPr bwMode="auto">
          <a:xfrm>
            <a:off x="3792508" y="5285190"/>
            <a:ext cx="1692275" cy="217487"/>
            <a:chOff x="4376936" y="5553260"/>
            <a:chExt cx="1692188" cy="216000"/>
          </a:xfrm>
        </p:grpSpPr>
        <p:sp>
          <p:nvSpPr>
            <p:cNvPr id="104" name="타원 287"/>
            <p:cNvSpPr>
              <a:spLocks noChangeArrowheads="1"/>
            </p:cNvSpPr>
            <p:nvPr/>
          </p:nvSpPr>
          <p:spPr bwMode="auto">
            <a:xfrm>
              <a:off x="4376936" y="5553260"/>
              <a:ext cx="216000" cy="216000"/>
            </a:xfrm>
            <a:prstGeom prst="ellipse">
              <a:avLst/>
            </a:prstGeom>
            <a:gradFill rotWithShape="0">
              <a:gsLst>
                <a:gs pos="0">
                  <a:srgbClr val="9999FF"/>
                </a:gs>
                <a:gs pos="100000">
                  <a:srgbClr val="FFFFFF"/>
                </a:gs>
              </a:gsLst>
              <a:lin ang="2700000" scaled="1"/>
            </a:gradFill>
            <a:ln w="9525" algn="ctr">
              <a:solidFill>
                <a:srgbClr val="FFFFFF"/>
              </a:solidFill>
              <a:round/>
              <a:headEnd/>
              <a:tailEnd type="none" w="sm" len="med"/>
            </a:ln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+mn-ea"/>
                  <a:ea typeface="+mn-ea"/>
                </a:rPr>
                <a:t>d</a:t>
              </a:r>
              <a:endPara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5" name="Rectangle 35"/>
            <p:cNvSpPr>
              <a:spLocks noChangeArrowheads="1"/>
            </p:cNvSpPr>
            <p:nvPr/>
          </p:nvSpPr>
          <p:spPr bwMode="auto">
            <a:xfrm>
              <a:off x="4516629" y="5589522"/>
              <a:ext cx="1552495" cy="135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0" marR="0" lvl="0" indent="0" defTabSz="95885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할인구분 </a:t>
              </a:r>
              <a:r>
                <a:rPr kumimoji="0" lang="en-US" altLang="ko-KR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: </a:t>
              </a: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Times New Roman" pitchFamily="18" charset="0"/>
                </a:rPr>
                <a:t>전체매장행사</a:t>
              </a: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Times New Roman" pitchFamily="18" charset="0"/>
              </a:endParaRPr>
            </a:p>
          </p:txBody>
        </p:sp>
      </p:grpSp>
      <p:cxnSp>
        <p:nvCxnSpPr>
          <p:cNvPr id="106" name="직선 화살표 연결선 83"/>
          <p:cNvCxnSpPr>
            <a:cxnSpLocks noChangeShapeType="1"/>
          </p:cNvCxnSpPr>
          <p:nvPr/>
        </p:nvCxnSpPr>
        <p:spPr bwMode="auto">
          <a:xfrm rot="16200000" flipH="1">
            <a:off x="3261489" y="5051034"/>
            <a:ext cx="852487" cy="6350"/>
          </a:xfrm>
          <a:prstGeom prst="straightConnector1">
            <a:avLst/>
          </a:prstGeom>
          <a:noFill/>
          <a:ln w="12700" algn="ctr">
            <a:solidFill>
              <a:srgbClr val="3366FF"/>
            </a:solidFill>
            <a:round/>
            <a:headEnd/>
            <a:tailEnd type="triangle" w="med" len="med"/>
          </a:ln>
        </p:spPr>
      </p:cxnSp>
      <p:sp>
        <p:nvSpPr>
          <p:cNvPr id="107" name="Rectangle 35"/>
          <p:cNvSpPr>
            <a:spLocks noChangeArrowheads="1"/>
          </p:cNvSpPr>
          <p:nvPr/>
        </p:nvSpPr>
        <p:spPr bwMode="auto">
          <a:xfrm>
            <a:off x="3397220" y="4986740"/>
            <a:ext cx="2873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dirty="0" err="1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실판가적용순서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23" name="Rectangle 35"/>
          <p:cNvSpPr>
            <a:spLocks noChangeArrowheads="1"/>
          </p:cNvSpPr>
          <p:nvPr/>
        </p:nvSpPr>
        <p:spPr bwMode="auto">
          <a:xfrm>
            <a:off x="3865533" y="4245377"/>
            <a:ext cx="444500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958850" eaLnBrk="0" fontAlgn="auto" latin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kern="0" dirty="0">
                <a:solidFill>
                  <a:srgbClr val="000000"/>
                </a:solidFill>
                <a:latin typeface="+mn-ea"/>
                <a:ea typeface="+mn-ea"/>
                <a:cs typeface="Times New Roman" pitchFamily="18" charset="0"/>
              </a:rPr>
              <a:t>NO</a:t>
            </a:r>
            <a:endParaRPr kumimoji="0" lang="ko-KR" altLang="en-US" sz="900" kern="0" dirty="0">
              <a:solidFill>
                <a:srgbClr val="000000"/>
              </a:solidFill>
              <a:latin typeface="+mn-ea"/>
              <a:ea typeface="+mn-ea"/>
              <a:cs typeface="Times New Roman" pitchFamily="18" charset="0"/>
            </a:endParaRPr>
          </a:p>
        </p:txBody>
      </p:sp>
      <p:sp>
        <p:nvSpPr>
          <p:cNvPr id="124" name="Rectangle 120"/>
          <p:cNvSpPr>
            <a:spLocks noChangeArrowheads="1"/>
          </p:cNvSpPr>
          <p:nvPr/>
        </p:nvSpPr>
        <p:spPr bwMode="gray">
          <a:xfrm>
            <a:off x="3017784" y="1493785"/>
            <a:ext cx="6615735" cy="436893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125" name="AutoShape 67"/>
          <p:cNvCxnSpPr>
            <a:cxnSpLocks noChangeShapeType="1"/>
            <a:stCxn id="52" idx="3"/>
            <a:endCxn id="124" idx="1"/>
          </p:cNvCxnSpPr>
          <p:nvPr/>
        </p:nvCxnSpPr>
        <p:spPr bwMode="gray">
          <a:xfrm flipV="1">
            <a:off x="2298991" y="3678251"/>
            <a:ext cx="718793" cy="1318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AutoShape 86"/>
          <p:cNvSpPr>
            <a:spLocks noChangeArrowheads="1"/>
          </p:cNvSpPr>
          <p:nvPr/>
        </p:nvSpPr>
        <p:spPr bwMode="auto">
          <a:xfrm>
            <a:off x="5423286" y="229951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실판가정보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T_REAL_SAMT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6" name="AutoShape 86"/>
          <p:cNvSpPr>
            <a:spLocks noChangeArrowheads="1"/>
          </p:cNvSpPr>
          <p:nvPr/>
        </p:nvSpPr>
        <p:spPr bwMode="auto">
          <a:xfrm>
            <a:off x="5456966" y="28589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실판가정보제품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T_REAL_SAMT_PRDT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7" name="AutoShape 86"/>
          <p:cNvSpPr>
            <a:spLocks noChangeArrowheads="1"/>
          </p:cNvSpPr>
          <p:nvPr/>
        </p:nvSpPr>
        <p:spPr bwMode="auto">
          <a:xfrm>
            <a:off x="5437911" y="341844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실판가정보매장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T_REAL_SAMT_SHOP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41" name="Rectangle 4"/>
          <p:cNvSpPr>
            <a:spLocks noChangeArrowheads="1"/>
          </p:cNvSpPr>
          <p:nvPr/>
        </p:nvSpPr>
        <p:spPr bwMode="auto">
          <a:xfrm>
            <a:off x="5109241" y="2226077"/>
            <a:ext cx="1240659" cy="1835150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endParaRPr lang="ko-KR" altLang="en-US"/>
          </a:p>
        </p:txBody>
      </p:sp>
      <p:sp>
        <p:nvSpPr>
          <p:cNvPr id="150" name="Line 50"/>
          <p:cNvSpPr>
            <a:spLocks noChangeShapeType="1"/>
          </p:cNvSpPr>
          <p:nvPr/>
        </p:nvSpPr>
        <p:spPr bwMode="gray">
          <a:xfrm>
            <a:off x="7309505" y="3896394"/>
            <a:ext cx="0" cy="91003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1" name="Line 50"/>
          <p:cNvSpPr>
            <a:spLocks noChangeShapeType="1"/>
          </p:cNvSpPr>
          <p:nvPr/>
        </p:nvSpPr>
        <p:spPr bwMode="gray">
          <a:xfrm>
            <a:off x="7608411" y="3896394"/>
            <a:ext cx="0" cy="91003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2" name="Line 50"/>
          <p:cNvSpPr>
            <a:spLocks noChangeShapeType="1"/>
          </p:cNvSpPr>
          <p:nvPr/>
        </p:nvSpPr>
        <p:spPr bwMode="gray">
          <a:xfrm>
            <a:off x="7900411" y="3896394"/>
            <a:ext cx="0" cy="91003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3" name="Line 50"/>
          <p:cNvSpPr>
            <a:spLocks noChangeShapeType="1"/>
          </p:cNvSpPr>
          <p:nvPr/>
        </p:nvSpPr>
        <p:spPr bwMode="gray">
          <a:xfrm>
            <a:off x="8189792" y="3896394"/>
            <a:ext cx="0" cy="910039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54" name="타원 306"/>
          <p:cNvSpPr>
            <a:spLocks noChangeArrowheads="1"/>
          </p:cNvSpPr>
          <p:nvPr/>
        </p:nvSpPr>
        <p:spPr bwMode="auto">
          <a:xfrm>
            <a:off x="7193045" y="4073027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a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5" name="타원 307"/>
          <p:cNvSpPr>
            <a:spLocks noChangeArrowheads="1"/>
          </p:cNvSpPr>
          <p:nvPr/>
        </p:nvSpPr>
        <p:spPr bwMode="auto">
          <a:xfrm>
            <a:off x="7500181" y="4059929"/>
            <a:ext cx="215900" cy="217488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b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6" name="타원 308"/>
          <p:cNvSpPr>
            <a:spLocks noChangeArrowheads="1"/>
          </p:cNvSpPr>
          <p:nvPr/>
        </p:nvSpPr>
        <p:spPr bwMode="auto">
          <a:xfrm>
            <a:off x="7801630" y="4064581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7" name="타원 309"/>
          <p:cNvSpPr>
            <a:spLocks noChangeArrowheads="1"/>
          </p:cNvSpPr>
          <p:nvPr/>
        </p:nvSpPr>
        <p:spPr bwMode="auto">
          <a:xfrm>
            <a:off x="8103079" y="4073025"/>
            <a:ext cx="215900" cy="215900"/>
          </a:xfrm>
          <a:prstGeom prst="ellipse">
            <a:avLst/>
          </a:prstGeom>
          <a:gradFill rotWithShape="0">
            <a:gsLst>
              <a:gs pos="0">
                <a:srgbClr val="9999FF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d</a:t>
            </a:r>
            <a:endParaRPr kumimoji="0" lang="ko-KR" altLang="en-US" sz="9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58" name="오른쪽 화살표 157"/>
          <p:cNvSpPr/>
          <p:nvPr/>
        </p:nvSpPr>
        <p:spPr>
          <a:xfrm>
            <a:off x="6483170" y="2940452"/>
            <a:ext cx="596826" cy="545306"/>
          </a:xfrm>
          <a:prstGeom prst="rightArrow">
            <a:avLst/>
          </a:prstGeom>
          <a:gradFill rotWithShape="0">
            <a:gsLst>
              <a:gs pos="0">
                <a:srgbClr val="C00000"/>
              </a:gs>
              <a:gs pos="100000">
                <a:srgbClr val="FFFFFF"/>
              </a:gs>
            </a:gsLst>
            <a:lin ang="2700000" scaled="1"/>
          </a:gradFill>
          <a:ln w="9525" algn="ctr">
            <a:solidFill>
              <a:srgbClr val="FFFFFF"/>
            </a:solidFill>
            <a:round/>
            <a:headEnd/>
            <a:tailEnd type="none" w="sm" len="med"/>
          </a:ln>
        </p:spPr>
        <p:txBody>
          <a:bodyPr lIns="0" tIns="0" rIns="0" b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endParaRPr kumimoji="0" lang="ko-KR" altLang="en-US" sz="90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59" name="Text Box 48"/>
          <p:cNvSpPr txBox="1">
            <a:spLocks noChangeArrowheads="1"/>
          </p:cNvSpPr>
          <p:nvPr/>
        </p:nvSpPr>
        <p:spPr bwMode="gray">
          <a:xfrm>
            <a:off x="7219493" y="2118596"/>
            <a:ext cx="128890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VIEW, SP</a:t>
            </a:r>
            <a:r>
              <a:rPr lang="en-US" altLang="ko-KR" sz="900" dirty="0">
                <a:latin typeface="+mn-ea"/>
                <a:ea typeface="+mn-ea"/>
              </a:rPr>
              <a:t>, </a:t>
            </a:r>
            <a:r>
              <a:rPr lang="en-US" altLang="ko-KR" sz="900" dirty="0" smtClean="0">
                <a:latin typeface="+mn-ea"/>
                <a:ea typeface="+mn-ea"/>
              </a:rPr>
              <a:t>Function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08" name="사각형 설명선 107"/>
          <p:cNvSpPr/>
          <p:nvPr/>
        </p:nvSpPr>
        <p:spPr>
          <a:xfrm>
            <a:off x="1939737" y="1161949"/>
            <a:ext cx="1437300" cy="226835"/>
          </a:xfrm>
          <a:prstGeom prst="wedgeRectCallout">
            <a:avLst>
              <a:gd name="adj1" fmla="val -49063"/>
              <a:gd name="adj2" fmla="val 11935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브랜드기획담당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820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4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물류관리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물류업무흐름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2" name="TextBox 39"/>
          <p:cNvSpPr txBox="1">
            <a:spLocks noChangeArrowheads="1"/>
          </p:cNvSpPr>
          <p:nvPr/>
        </p:nvSpPr>
        <p:spPr bwMode="auto">
          <a:xfrm>
            <a:off x="218854" y="737456"/>
            <a:ext cx="9594685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0">
            <a:spAutoFit/>
          </a:bodyPr>
          <a:lstStyle/>
          <a:p>
            <a:pPr algn="just" eaLnBrk="0" latinLnBrk="0" hangingPunct="0">
              <a:lnSpc>
                <a:spcPct val="140000"/>
              </a:lnSpc>
              <a:buClr>
                <a:schemeClr val="tx2"/>
              </a:buClr>
              <a:buSzPct val="75000"/>
              <a:buFontTx/>
              <a:buChar char="•"/>
              <a:defRPr/>
            </a:pPr>
            <a:r>
              <a:rPr kumimoji="0" lang="ko-KR" altLang="en-US" sz="1200" b="1" dirty="0">
                <a:latin typeface="+mn-ea"/>
                <a:ea typeface="+mn-ea"/>
              </a:rPr>
              <a:t> </a:t>
            </a:r>
            <a:r>
              <a:rPr kumimoji="0" lang="ko-KR" altLang="en-US" sz="1200" b="1" dirty="0" smtClean="0">
                <a:latin typeface="+mn-ea"/>
                <a:ea typeface="+mn-ea"/>
              </a:rPr>
              <a:t>입고</a:t>
            </a:r>
            <a:r>
              <a:rPr kumimoji="0" lang="en-US" altLang="ko-KR" sz="1200" b="1" dirty="0" smtClean="0">
                <a:latin typeface="+mn-ea"/>
                <a:ea typeface="+mn-ea"/>
              </a:rPr>
              <a:t>/</a:t>
            </a:r>
            <a:r>
              <a:rPr kumimoji="0" lang="ko-KR" altLang="en-US" sz="1200" b="1" dirty="0" smtClean="0">
                <a:latin typeface="+mn-ea"/>
                <a:ea typeface="+mn-ea"/>
              </a:rPr>
              <a:t>출고</a:t>
            </a:r>
            <a:r>
              <a:rPr kumimoji="0" lang="en-US" altLang="ko-KR" sz="1200" b="1" dirty="0" smtClean="0">
                <a:latin typeface="+mn-ea"/>
                <a:ea typeface="+mn-ea"/>
              </a:rPr>
              <a:t>/</a:t>
            </a:r>
            <a:r>
              <a:rPr kumimoji="0" lang="ko-KR" altLang="en-US" sz="1200" b="1" dirty="0" smtClean="0">
                <a:latin typeface="+mn-ea"/>
                <a:ea typeface="+mn-ea"/>
              </a:rPr>
              <a:t>자가소모의 창고</a:t>
            </a:r>
            <a:r>
              <a:rPr kumimoji="0" lang="en-US" altLang="ko-KR" sz="1200" b="1" dirty="0" smtClean="0">
                <a:latin typeface="+mn-ea"/>
                <a:ea typeface="+mn-ea"/>
              </a:rPr>
              <a:t>, </a:t>
            </a:r>
            <a:r>
              <a:rPr kumimoji="0" lang="ko-KR" altLang="en-US" sz="1200" b="1" dirty="0" smtClean="0">
                <a:latin typeface="+mn-ea"/>
                <a:ea typeface="+mn-ea"/>
              </a:rPr>
              <a:t>매장과의 제품의 물량을 관리 하는 프로세스</a:t>
            </a:r>
            <a:r>
              <a:rPr kumimoji="0" lang="en-US" altLang="ko-KR" sz="1200" b="1" dirty="0" smtClean="0">
                <a:latin typeface="+mn-ea"/>
                <a:ea typeface="+mn-ea"/>
              </a:rPr>
              <a:t>.</a:t>
            </a: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1901444" y="1959823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생산진행</a:t>
            </a:r>
            <a:endParaRPr lang="en-US" altLang="ko-KR" sz="1000" b="0" dirty="0" smtClean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관리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 bwMode="auto">
          <a:xfrm>
            <a:off x="3237936" y="1954336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WMS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예정정보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인터페이스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 bwMode="auto">
          <a:xfrm>
            <a:off x="4682970" y="1951369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ts val="500"/>
              </a:lnSpc>
              <a:spcBef>
                <a:spcPct val="50000"/>
              </a:spcBef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선적 및 제품입고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 bwMode="auto">
          <a:xfrm>
            <a:off x="6141209" y="1946932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입고검수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 bwMode="auto">
          <a:xfrm>
            <a:off x="2477845" y="4014065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입출고관리</a:t>
            </a:r>
            <a:endParaRPr lang="en-US" altLang="ko-KR" sz="1000" b="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 bwMode="auto">
          <a:xfrm>
            <a:off x="4016188" y="4014065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출고작업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4" name="꺾인 연결선 43"/>
          <p:cNvCxnSpPr>
            <a:stCxn id="72" idx="3"/>
            <a:endCxn id="73" idx="1"/>
          </p:cNvCxnSpPr>
          <p:nvPr/>
        </p:nvCxnSpPr>
        <p:spPr bwMode="auto">
          <a:xfrm flipV="1">
            <a:off x="2981444" y="2154062"/>
            <a:ext cx="256492" cy="548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grpSp>
        <p:nvGrpSpPr>
          <p:cNvPr id="92" name="그룹 167"/>
          <p:cNvGrpSpPr>
            <a:grpSpLocks/>
          </p:cNvGrpSpPr>
          <p:nvPr/>
        </p:nvGrpSpPr>
        <p:grpSpPr bwMode="auto">
          <a:xfrm>
            <a:off x="274025" y="1901043"/>
            <a:ext cx="1645220" cy="549276"/>
            <a:chOff x="8466191" y="2041382"/>
            <a:chExt cx="1645514" cy="593106"/>
          </a:xfrm>
        </p:grpSpPr>
        <p:sp>
          <p:nvSpPr>
            <p:cNvPr id="94" name="타원 93"/>
            <p:cNvSpPr/>
            <p:nvPr/>
          </p:nvSpPr>
          <p:spPr bwMode="auto">
            <a:xfrm>
              <a:off x="8466191" y="2041382"/>
              <a:ext cx="758961" cy="593106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rIns="0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생산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-&gt;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입고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95" name="꺾인 연결선 94"/>
            <p:cNvCxnSpPr>
              <a:stCxn id="94" idx="6"/>
            </p:cNvCxnSpPr>
            <p:nvPr/>
          </p:nvCxnSpPr>
          <p:spPr bwMode="auto">
            <a:xfrm flipV="1">
              <a:off x="9225152" y="2264023"/>
              <a:ext cx="886553" cy="73912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cxnSp>
        <p:nvCxnSpPr>
          <p:cNvPr id="101" name="직선 연결선 100"/>
          <p:cNvCxnSpPr/>
          <p:nvPr/>
        </p:nvCxnSpPr>
        <p:spPr bwMode="auto">
          <a:xfrm>
            <a:off x="1217585" y="1313765"/>
            <a:ext cx="0" cy="5085565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10" name="Rectangle 108"/>
          <p:cNvSpPr>
            <a:spLocks noChangeArrowheads="1"/>
          </p:cNvSpPr>
          <p:nvPr/>
        </p:nvSpPr>
        <p:spPr bwMode="auto">
          <a:xfrm>
            <a:off x="218854" y="1268760"/>
            <a:ext cx="9504675" cy="5220580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1" name="AutoShape 110"/>
          <p:cNvSpPr>
            <a:spLocks noChangeArrowheads="1"/>
          </p:cNvSpPr>
          <p:nvPr/>
        </p:nvSpPr>
        <p:spPr bwMode="auto">
          <a:xfrm>
            <a:off x="8678770" y="1549685"/>
            <a:ext cx="858838" cy="609600"/>
          </a:xfrm>
          <a:prstGeom prst="roundRect">
            <a:avLst>
              <a:gd name="adj" fmla="val 5727"/>
            </a:avLst>
          </a:prstGeom>
          <a:noFill/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모서리가 둥근 직사각형 111"/>
          <p:cNvSpPr/>
          <p:nvPr/>
        </p:nvSpPr>
        <p:spPr bwMode="auto">
          <a:xfrm>
            <a:off x="8762908" y="1600485"/>
            <a:ext cx="179388" cy="14446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ko-KR" altLang="en-US" sz="90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AutoShape 77"/>
          <p:cNvSpPr>
            <a:spLocks noChangeArrowheads="1"/>
          </p:cNvSpPr>
          <p:nvPr/>
        </p:nvSpPr>
        <p:spPr bwMode="auto">
          <a:xfrm>
            <a:off x="8959758" y="1549685"/>
            <a:ext cx="66357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업무흐름</a:t>
            </a:r>
          </a:p>
        </p:txBody>
      </p:sp>
      <p:sp>
        <p:nvSpPr>
          <p:cNvPr id="116" name="AutoShape 77"/>
          <p:cNvSpPr>
            <a:spLocks noChangeArrowheads="1"/>
          </p:cNvSpPr>
          <p:nvPr/>
        </p:nvSpPr>
        <p:spPr bwMode="auto">
          <a:xfrm>
            <a:off x="8959758" y="1738598"/>
            <a:ext cx="663575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시스템 구현</a:t>
            </a:r>
          </a:p>
        </p:txBody>
      </p:sp>
      <p:pic>
        <p:nvPicPr>
          <p:cNvPr id="117" name="Picture 320" descr="C:\Documents and Settings\kej\Local Settings\Temporary Internet Files\Content.IE5\E147QLU5\MCj04413620000[1]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740683" y="1983073"/>
            <a:ext cx="215900" cy="13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" name="AutoShape 77"/>
          <p:cNvSpPr>
            <a:spLocks noChangeArrowheads="1"/>
          </p:cNvSpPr>
          <p:nvPr/>
        </p:nvSpPr>
        <p:spPr bwMode="auto">
          <a:xfrm>
            <a:off x="8959758" y="1908460"/>
            <a:ext cx="661988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l">
              <a:lnSpc>
                <a:spcPts val="700"/>
              </a:lnSpc>
              <a:spcBef>
                <a:spcPct val="50000"/>
              </a:spcBef>
              <a:buSzPct val="70000"/>
            </a:pPr>
            <a:r>
              <a:rPr lang="ko-KR" altLang="en-US" sz="700" b="0" dirty="0">
                <a:latin typeface="맑은 고딕" pitchFamily="50" charset="-127"/>
                <a:ea typeface="맑은 고딕" pitchFamily="50" charset="-127"/>
              </a:rPr>
              <a:t>주요 특징</a:t>
            </a:r>
          </a:p>
        </p:txBody>
      </p:sp>
      <p:cxnSp>
        <p:nvCxnSpPr>
          <p:cNvPr id="122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8845458" y="1870360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68" name="꺾인 연결선 43"/>
          <p:cNvCxnSpPr>
            <a:stCxn id="73" idx="3"/>
            <a:endCxn id="78" idx="1"/>
          </p:cNvCxnSpPr>
          <p:nvPr/>
        </p:nvCxnSpPr>
        <p:spPr bwMode="auto">
          <a:xfrm flipV="1">
            <a:off x="4317936" y="2151095"/>
            <a:ext cx="365034" cy="296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71" name="꺾인 연결선 43"/>
          <p:cNvCxnSpPr>
            <a:stCxn id="78" idx="3"/>
            <a:endCxn id="79" idx="1"/>
          </p:cNvCxnSpPr>
          <p:nvPr/>
        </p:nvCxnSpPr>
        <p:spPr bwMode="auto">
          <a:xfrm flipV="1">
            <a:off x="5762970" y="2146658"/>
            <a:ext cx="378239" cy="443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99" name="TextBox 94"/>
          <p:cNvSpPr txBox="1">
            <a:spLocks noChangeArrowheads="1"/>
          </p:cNvSpPr>
          <p:nvPr/>
        </p:nvSpPr>
        <p:spPr bwMode="auto">
          <a:xfrm>
            <a:off x="1802650" y="1403775"/>
            <a:ext cx="1385680" cy="510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원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부자재 구매 및 투입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사전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사후원가 관리</a:t>
            </a:r>
            <a:endParaRPr lang="en-US" altLang="ko-KR" sz="800" dirty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입고예정정보 관리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모서리가 둥근 직사각형 99"/>
          <p:cNvSpPr/>
          <p:nvPr/>
        </p:nvSpPr>
        <p:spPr bwMode="auto">
          <a:xfrm>
            <a:off x="7473400" y="1945452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원가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재고반영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3" name="꺾인 연결선 43"/>
          <p:cNvCxnSpPr>
            <a:stCxn id="79" idx="3"/>
            <a:endCxn id="100" idx="1"/>
          </p:cNvCxnSpPr>
          <p:nvPr/>
        </p:nvCxnSpPr>
        <p:spPr bwMode="auto">
          <a:xfrm flipV="1">
            <a:off x="7221209" y="2145178"/>
            <a:ext cx="252191" cy="148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34" name="꺾인 연결선 43"/>
          <p:cNvCxnSpPr>
            <a:stCxn id="80" idx="3"/>
            <a:endCxn id="83" idx="1"/>
          </p:cNvCxnSpPr>
          <p:nvPr/>
        </p:nvCxnSpPr>
        <p:spPr bwMode="auto">
          <a:xfrm>
            <a:off x="3557845" y="4213791"/>
            <a:ext cx="458343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39" name="꺾인 연결선 43"/>
          <p:cNvCxnSpPr>
            <a:stCxn id="83" idx="3"/>
            <a:endCxn id="170" idx="1"/>
          </p:cNvCxnSpPr>
          <p:nvPr/>
        </p:nvCxnSpPr>
        <p:spPr bwMode="auto">
          <a:xfrm flipV="1">
            <a:off x="5223030" y="4213790"/>
            <a:ext cx="592435" cy="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140" name="모서리가 둥근 직사각형 139"/>
          <p:cNvSpPr/>
          <p:nvPr/>
        </p:nvSpPr>
        <p:spPr bwMode="auto">
          <a:xfrm>
            <a:off x="7614269" y="4017082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배송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45" name="그룹 144"/>
          <p:cNvGrpSpPr/>
          <p:nvPr/>
        </p:nvGrpSpPr>
        <p:grpSpPr>
          <a:xfrm>
            <a:off x="7304108" y="2435230"/>
            <a:ext cx="1429312" cy="777525"/>
            <a:chOff x="3652358" y="4117962"/>
            <a:chExt cx="1429312" cy="777525"/>
          </a:xfrm>
        </p:grpSpPr>
        <p:sp>
          <p:nvSpPr>
            <p:cNvPr id="148" name="모서리가 둥근 직사각형 39"/>
            <p:cNvSpPr>
              <a:spLocks noChangeArrowheads="1"/>
            </p:cNvSpPr>
            <p:nvPr/>
          </p:nvSpPr>
          <p:spPr bwMode="auto">
            <a:xfrm>
              <a:off x="3652358" y="4138599"/>
              <a:ext cx="1429312" cy="756888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9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87075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패션</a:t>
              </a:r>
              <a:r>
                <a:rPr lang="en-US" altLang="ko-KR" sz="1000" b="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0" name="모서리가 둥근 직사각형 41"/>
            <p:cNvSpPr>
              <a:spLocks noChangeArrowheads="1"/>
            </p:cNvSpPr>
            <p:nvPr/>
          </p:nvSpPr>
          <p:spPr bwMode="auto">
            <a:xfrm>
              <a:off x="3707918" y="4329100"/>
              <a:ext cx="1300357" cy="453236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입고 전표 생성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배치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사후원가 반영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51" name="모서리가 둥근 직사각형 150"/>
          <p:cNvSpPr/>
          <p:nvPr/>
        </p:nvSpPr>
        <p:spPr bwMode="auto">
          <a:xfrm>
            <a:off x="4014080" y="5247268"/>
            <a:ext cx="117001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소각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6" name="꺾인 연결선 43"/>
          <p:cNvCxnSpPr>
            <a:stCxn id="170" idx="3"/>
            <a:endCxn id="140" idx="1"/>
          </p:cNvCxnSpPr>
          <p:nvPr/>
        </p:nvCxnSpPr>
        <p:spPr bwMode="auto">
          <a:xfrm>
            <a:off x="6895465" y="4213790"/>
            <a:ext cx="718804" cy="301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98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2566147" y="4109793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sp>
        <p:nvSpPr>
          <p:cNvPr id="215" name="모서리가 둥근 직사각형 214"/>
          <p:cNvSpPr/>
          <p:nvPr/>
        </p:nvSpPr>
        <p:spPr bwMode="auto">
          <a:xfrm>
            <a:off x="1892977" y="2711843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출고지시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6" name="TextBox 94"/>
          <p:cNvSpPr txBox="1">
            <a:spLocks noChangeArrowheads="1"/>
          </p:cNvSpPr>
          <p:nvPr/>
        </p:nvSpPr>
        <p:spPr bwMode="auto">
          <a:xfrm>
            <a:off x="3510986" y="2730088"/>
            <a:ext cx="1260573" cy="363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err="1" smtClean="0">
                <a:latin typeface="맑은 고딕" pitchFamily="50" charset="-127"/>
                <a:ea typeface="맑은 고딕" pitchFamily="50" charset="-127"/>
              </a:rPr>
              <a:t>초도배분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반응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판매분</a:t>
            </a:r>
            <a:endParaRPr lang="ko-KR" altLang="en-US" sz="8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7" name="꺾인 연결선 43"/>
          <p:cNvCxnSpPr>
            <a:stCxn id="216" idx="1"/>
            <a:endCxn id="215" idx="3"/>
          </p:cNvCxnSpPr>
          <p:nvPr/>
        </p:nvCxnSpPr>
        <p:spPr bwMode="auto">
          <a:xfrm flipH="1" flipV="1">
            <a:off x="2972977" y="2911569"/>
            <a:ext cx="538009" cy="10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grpSp>
        <p:nvGrpSpPr>
          <p:cNvPr id="75" name="그룹 74"/>
          <p:cNvGrpSpPr/>
          <p:nvPr/>
        </p:nvGrpSpPr>
        <p:grpSpPr>
          <a:xfrm>
            <a:off x="4897728" y="2419913"/>
            <a:ext cx="1523927" cy="855571"/>
            <a:chOff x="3636447" y="4117962"/>
            <a:chExt cx="1523927" cy="855571"/>
          </a:xfrm>
        </p:grpSpPr>
        <p:sp>
          <p:nvSpPr>
            <p:cNvPr id="76" name="모서리가 둥근 직사각형 39"/>
            <p:cNvSpPr>
              <a:spLocks noChangeArrowheads="1"/>
            </p:cNvSpPr>
            <p:nvPr/>
          </p:nvSpPr>
          <p:spPr bwMode="auto">
            <a:xfrm>
              <a:off x="3636447" y="4139638"/>
              <a:ext cx="1523927" cy="833895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69762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입고관리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1" name="모서리가 둥근 직사각형 41"/>
            <p:cNvSpPr>
              <a:spLocks noChangeArrowheads="1"/>
            </p:cNvSpPr>
            <p:nvPr/>
          </p:nvSpPr>
          <p:spPr bwMode="auto">
            <a:xfrm>
              <a:off x="3690984" y="4329099"/>
              <a:ext cx="1411389" cy="60935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입고등록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DATA 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등록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(WMS)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실적정보 인터페이스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입고 부족분 관리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85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6213140" y="2032257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grpSp>
        <p:nvGrpSpPr>
          <p:cNvPr id="87" name="그룹 167"/>
          <p:cNvGrpSpPr>
            <a:grpSpLocks/>
          </p:cNvGrpSpPr>
          <p:nvPr/>
        </p:nvGrpSpPr>
        <p:grpSpPr bwMode="auto">
          <a:xfrm>
            <a:off x="275332" y="2698905"/>
            <a:ext cx="1645220" cy="549276"/>
            <a:chOff x="8466191" y="2041382"/>
            <a:chExt cx="1645514" cy="593106"/>
          </a:xfrm>
        </p:grpSpPr>
        <p:sp>
          <p:nvSpPr>
            <p:cNvPr id="88" name="타원 87"/>
            <p:cNvSpPr/>
            <p:nvPr/>
          </p:nvSpPr>
          <p:spPr bwMode="auto">
            <a:xfrm>
              <a:off x="8466191" y="2041382"/>
              <a:ext cx="758961" cy="593106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rIns="0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영업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9" name="꺾인 연결선 88"/>
            <p:cNvCxnSpPr>
              <a:stCxn id="88" idx="6"/>
            </p:cNvCxnSpPr>
            <p:nvPr/>
          </p:nvCxnSpPr>
          <p:spPr bwMode="auto">
            <a:xfrm flipV="1">
              <a:off x="9225152" y="2264023"/>
              <a:ext cx="886553" cy="73912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cxnSp>
        <p:nvCxnSpPr>
          <p:cNvPr id="90" name="꺾인 연결선 43"/>
          <p:cNvCxnSpPr>
            <a:stCxn id="215" idx="2"/>
            <a:endCxn id="80" idx="0"/>
          </p:cNvCxnSpPr>
          <p:nvPr/>
        </p:nvCxnSpPr>
        <p:spPr bwMode="auto">
          <a:xfrm rot="16200000" flipH="1">
            <a:off x="2274026" y="3270246"/>
            <a:ext cx="902770" cy="584868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triangle" w="sm" len="sm"/>
          </a:ln>
          <a:effectLst/>
        </p:spPr>
      </p:cxnSp>
      <p:sp>
        <p:nvSpPr>
          <p:cNvPr id="93" name="TextBox 94"/>
          <p:cNvSpPr txBox="1">
            <a:spLocks noChangeArrowheads="1"/>
          </p:cNvSpPr>
          <p:nvPr/>
        </p:nvSpPr>
        <p:spPr bwMode="auto">
          <a:xfrm>
            <a:off x="1443210" y="3233651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출고예정정보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I/F</a:t>
            </a:r>
          </a:p>
        </p:txBody>
      </p:sp>
      <p:sp>
        <p:nvSpPr>
          <p:cNvPr id="96" name="모서리가 둥근 직사각형 95"/>
          <p:cNvSpPr/>
          <p:nvPr/>
        </p:nvSpPr>
        <p:spPr bwMode="auto">
          <a:xfrm>
            <a:off x="6843330" y="4658482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재고운영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7" name="꺾인 연결선 43"/>
          <p:cNvCxnSpPr>
            <a:stCxn id="79" idx="2"/>
            <a:endCxn id="80" idx="0"/>
          </p:cNvCxnSpPr>
          <p:nvPr/>
        </p:nvCxnSpPr>
        <p:spPr bwMode="auto">
          <a:xfrm rot="5400000">
            <a:off x="4015687" y="1348542"/>
            <a:ext cx="1667681" cy="3663364"/>
          </a:xfrm>
          <a:prstGeom prst="bentConnector3">
            <a:avLst>
              <a:gd name="adj1" fmla="val 73417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triangle" w="sm" len="sm"/>
          </a:ln>
          <a:effectLst/>
        </p:spPr>
      </p:cxnSp>
      <p:cxnSp>
        <p:nvCxnSpPr>
          <p:cNvPr id="107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7568607" y="2033845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118" name="꺾인 연결선 43"/>
          <p:cNvCxnSpPr>
            <a:stCxn id="124" idx="2"/>
            <a:endCxn id="168" idx="1"/>
          </p:cNvCxnSpPr>
          <p:nvPr/>
        </p:nvCxnSpPr>
        <p:spPr bwMode="auto">
          <a:xfrm rot="16200000" flipH="1">
            <a:off x="1748831" y="5321986"/>
            <a:ext cx="665364" cy="121927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124" name="모서리가 둥근 직사각형 123"/>
          <p:cNvSpPr/>
          <p:nvPr/>
        </p:nvSpPr>
        <p:spPr bwMode="auto">
          <a:xfrm>
            <a:off x="1417129" y="4650816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반품제품확인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5" name="꺾인 연결선 43"/>
          <p:cNvCxnSpPr>
            <a:stCxn id="80" idx="2"/>
            <a:endCxn id="96" idx="1"/>
          </p:cNvCxnSpPr>
          <p:nvPr/>
        </p:nvCxnSpPr>
        <p:spPr bwMode="auto">
          <a:xfrm rot="16200000" flipH="1">
            <a:off x="4708242" y="2723119"/>
            <a:ext cx="444691" cy="3825485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38" name="꺾인 연결선 43"/>
          <p:cNvCxnSpPr>
            <a:stCxn id="83" idx="2"/>
            <a:endCxn id="96" idx="1"/>
          </p:cNvCxnSpPr>
          <p:nvPr/>
        </p:nvCxnSpPr>
        <p:spPr bwMode="auto">
          <a:xfrm rot="16200000" flipH="1">
            <a:off x="5509124" y="3524001"/>
            <a:ext cx="444691" cy="222372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cxnSp>
        <p:nvCxnSpPr>
          <p:cNvPr id="147" name="꺾인 연결선 43"/>
          <p:cNvCxnSpPr>
            <a:stCxn id="168" idx="0"/>
            <a:endCxn id="80" idx="2"/>
          </p:cNvCxnSpPr>
          <p:nvPr/>
        </p:nvCxnSpPr>
        <p:spPr bwMode="auto">
          <a:xfrm rot="5400000" flipH="1" flipV="1">
            <a:off x="2330677" y="4828739"/>
            <a:ext cx="1102389" cy="27194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grpSp>
        <p:nvGrpSpPr>
          <p:cNvPr id="153" name="그룹 167"/>
          <p:cNvGrpSpPr>
            <a:grpSpLocks/>
          </p:cNvGrpSpPr>
          <p:nvPr/>
        </p:nvGrpSpPr>
        <p:grpSpPr bwMode="auto">
          <a:xfrm>
            <a:off x="259213" y="4190497"/>
            <a:ext cx="1157910" cy="660045"/>
            <a:chOff x="8466191" y="2041382"/>
            <a:chExt cx="1158117" cy="712714"/>
          </a:xfrm>
        </p:grpSpPr>
        <p:sp>
          <p:nvSpPr>
            <p:cNvPr id="154" name="타원 153"/>
            <p:cNvSpPr/>
            <p:nvPr/>
          </p:nvSpPr>
          <p:spPr bwMode="auto">
            <a:xfrm>
              <a:off x="8466191" y="2041382"/>
              <a:ext cx="758961" cy="593106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rIns="0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매장</a:t>
              </a:r>
              <a:endParaRPr lang="en-US" altLang="ko-KR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반품등록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5" name="꺾인 연결선 154"/>
            <p:cNvCxnSpPr>
              <a:stCxn id="154" idx="6"/>
              <a:endCxn id="124" idx="1"/>
            </p:cNvCxnSpPr>
            <p:nvPr/>
          </p:nvCxnSpPr>
          <p:spPr bwMode="auto">
            <a:xfrm>
              <a:off x="9225152" y="2337935"/>
              <a:ext cx="399158" cy="416161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grpSp>
        <p:nvGrpSpPr>
          <p:cNvPr id="157" name="그룹 156"/>
          <p:cNvGrpSpPr/>
          <p:nvPr/>
        </p:nvGrpSpPr>
        <p:grpSpPr>
          <a:xfrm>
            <a:off x="3968314" y="5647018"/>
            <a:ext cx="1429312" cy="777525"/>
            <a:chOff x="3652358" y="4117962"/>
            <a:chExt cx="1429312" cy="777525"/>
          </a:xfrm>
        </p:grpSpPr>
        <p:sp>
          <p:nvSpPr>
            <p:cNvPr id="158" name="모서리가 둥근 직사각형 39"/>
            <p:cNvSpPr>
              <a:spLocks noChangeArrowheads="1"/>
            </p:cNvSpPr>
            <p:nvPr/>
          </p:nvSpPr>
          <p:spPr bwMode="auto">
            <a:xfrm>
              <a:off x="3652358" y="4138599"/>
              <a:ext cx="1429312" cy="756888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59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95410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자가소모관리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0" name="모서리가 둥근 직사각형 41"/>
            <p:cNvSpPr>
              <a:spLocks noChangeArrowheads="1"/>
            </p:cNvSpPr>
            <p:nvPr/>
          </p:nvSpPr>
          <p:spPr bwMode="auto">
            <a:xfrm>
              <a:off x="3707918" y="4329100"/>
              <a:ext cx="1300357" cy="453236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자가소모등록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 dirty="0" err="1" smtClean="0">
                  <a:latin typeface="맑은 고딕" pitchFamily="50" charset="-127"/>
                  <a:ea typeface="맑은 고딕" pitchFamily="50" charset="-127"/>
                </a:rPr>
                <a:t>처리계정별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 제품소모처리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68" name="모서리가 둥근 직사각형 167"/>
          <p:cNvSpPr/>
          <p:nvPr/>
        </p:nvSpPr>
        <p:spPr bwMode="auto">
          <a:xfrm>
            <a:off x="2142477" y="5515906"/>
            <a:ext cx="1206842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반품검수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0" name="모서리가 둥근 직사각형 169"/>
          <p:cNvSpPr/>
          <p:nvPr/>
        </p:nvSpPr>
        <p:spPr bwMode="auto">
          <a:xfrm>
            <a:off x="5815465" y="4014064"/>
            <a:ext cx="1080000" cy="39945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artDeco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8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제품출고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6" name="꺾인 연결선 43"/>
          <p:cNvCxnSpPr>
            <a:stCxn id="80" idx="3"/>
            <a:endCxn id="151" idx="1"/>
          </p:cNvCxnSpPr>
          <p:nvPr/>
        </p:nvCxnSpPr>
        <p:spPr bwMode="auto">
          <a:xfrm>
            <a:off x="3557845" y="4213791"/>
            <a:ext cx="456235" cy="123320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 w="sm" len="sm"/>
          </a:ln>
          <a:effectLst/>
        </p:spPr>
      </p:cxnSp>
      <p:sp>
        <p:nvSpPr>
          <p:cNvPr id="231" name="TextBox 94"/>
          <p:cNvSpPr txBox="1">
            <a:spLocks noChangeArrowheads="1"/>
          </p:cNvSpPr>
          <p:nvPr/>
        </p:nvSpPr>
        <p:spPr bwMode="auto">
          <a:xfrm>
            <a:off x="2145094" y="5977052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입고실적정보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I/F</a:t>
            </a:r>
          </a:p>
        </p:txBody>
      </p:sp>
      <p:sp>
        <p:nvSpPr>
          <p:cNvPr id="232" name="TextBox 94"/>
          <p:cNvSpPr txBox="1">
            <a:spLocks noChangeArrowheads="1"/>
          </p:cNvSpPr>
          <p:nvPr/>
        </p:nvSpPr>
        <p:spPr bwMode="auto">
          <a:xfrm>
            <a:off x="6077739" y="1708538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입고실적정보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I/F</a:t>
            </a:r>
          </a:p>
        </p:txBody>
      </p:sp>
      <p:sp>
        <p:nvSpPr>
          <p:cNvPr id="233" name="TextBox 94"/>
          <p:cNvSpPr txBox="1">
            <a:spLocks noChangeArrowheads="1"/>
          </p:cNvSpPr>
          <p:nvPr/>
        </p:nvSpPr>
        <p:spPr bwMode="auto">
          <a:xfrm>
            <a:off x="5211285" y="5318349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출고실적정보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I/F</a:t>
            </a:r>
          </a:p>
        </p:txBody>
      </p:sp>
      <p:sp>
        <p:nvSpPr>
          <p:cNvPr id="234" name="TextBox 94"/>
          <p:cNvSpPr txBox="1">
            <a:spLocks noChangeArrowheads="1"/>
          </p:cNvSpPr>
          <p:nvPr/>
        </p:nvSpPr>
        <p:spPr bwMode="auto">
          <a:xfrm>
            <a:off x="3989322" y="3755540"/>
            <a:ext cx="1260573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출고실적정보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I/F</a:t>
            </a:r>
          </a:p>
        </p:txBody>
      </p:sp>
      <p:grpSp>
        <p:nvGrpSpPr>
          <p:cNvPr id="236" name="그룹 235"/>
          <p:cNvGrpSpPr/>
          <p:nvPr/>
        </p:nvGrpSpPr>
        <p:grpSpPr>
          <a:xfrm>
            <a:off x="6826434" y="5137833"/>
            <a:ext cx="1833590" cy="839219"/>
            <a:chOff x="3652357" y="4117962"/>
            <a:chExt cx="1531290" cy="839219"/>
          </a:xfrm>
        </p:grpSpPr>
        <p:sp>
          <p:nvSpPr>
            <p:cNvPr id="237" name="모서리가 둥근 직사각형 39"/>
            <p:cNvSpPr>
              <a:spLocks noChangeArrowheads="1"/>
            </p:cNvSpPr>
            <p:nvPr/>
          </p:nvSpPr>
          <p:spPr bwMode="auto">
            <a:xfrm>
              <a:off x="3652357" y="4138599"/>
              <a:ext cx="1531290" cy="818582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8" name="TextBox 97"/>
            <p:cNvSpPr txBox="1">
              <a:spLocks noChangeArrowheads="1"/>
            </p:cNvSpPr>
            <p:nvPr/>
          </p:nvSpPr>
          <p:spPr bwMode="auto">
            <a:xfrm>
              <a:off x="3707919" y="4117962"/>
              <a:ext cx="95410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창고재고관리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9" name="모서리가 둥근 직사각형 41"/>
            <p:cNvSpPr>
              <a:spLocks noChangeArrowheads="1"/>
            </p:cNvSpPr>
            <p:nvPr/>
          </p:nvSpPr>
          <p:spPr bwMode="auto">
            <a:xfrm>
              <a:off x="3707919" y="4329099"/>
              <a:ext cx="1386680" cy="566387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월별 </a:t>
              </a:r>
              <a:r>
                <a:rPr lang="ko-KR" altLang="en-US" sz="700" dirty="0" err="1" smtClean="0">
                  <a:latin typeface="맑은 고딕" pitchFamily="50" charset="-127"/>
                  <a:ea typeface="맑은 고딕" pitchFamily="50" charset="-127"/>
                </a:rPr>
                <a:t>창고코드별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 수불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재고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실물창고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(YA),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가상창고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</a:rPr>
                <a:t>(X)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</a:rPr>
                <a:t>관리</a:t>
              </a:r>
              <a:endParaRPr lang="en-US" altLang="ko-KR" sz="7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</a:rPr>
                <a:t>WMS 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</a:rPr>
                <a:t>창고 센터 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 </a:t>
              </a:r>
              <a:r>
                <a:rPr lang="ko-KR" altLang="en-US" sz="700" b="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실물창고</a:t>
              </a:r>
              <a:r>
                <a:rPr lang="en-US" altLang="ko-KR" sz="700" b="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(YA)</a:t>
              </a:r>
            </a:p>
            <a:p>
              <a:pPr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</a:pPr>
              <a:r>
                <a:rPr lang="en-US" altLang="ko-KR" sz="700" dirty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-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재고부족은 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(GC) </a:t>
              </a:r>
              <a:r>
                <a:rPr lang="ko-KR" altLang="en-US" sz="70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가상창고 </a:t>
              </a:r>
              <a:r>
                <a:rPr lang="en-US" altLang="ko-KR" sz="700" dirty="0" smtClean="0">
                  <a:latin typeface="맑은 고딕" pitchFamily="50" charset="-127"/>
                  <a:ea typeface="맑은 고딕" pitchFamily="50" charset="-127"/>
                  <a:sym typeface="Wingdings" panose="05000000000000000000" pitchFamily="2" charset="2"/>
                </a:rPr>
                <a:t> 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240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1956715" y="2772975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241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4096316" y="4083437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242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2207695" y="5587652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243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4097905" y="5317622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cxnSp>
        <p:nvCxnSpPr>
          <p:cNvPr id="244" name="직선 연결선 227"/>
          <p:cNvCxnSpPr>
            <a:cxnSpLocks noChangeShapeType="1"/>
          </p:cNvCxnSpPr>
          <p:nvPr/>
        </p:nvCxnSpPr>
        <p:spPr bwMode="auto">
          <a:xfrm rot="5400000" flipH="1" flipV="1">
            <a:off x="6926315" y="4723032"/>
            <a:ext cx="1588" cy="1588"/>
          </a:xfrm>
          <a:prstGeom prst="line">
            <a:avLst/>
          </a:prstGeom>
          <a:noFill/>
          <a:ln w="9525" cap="rnd" algn="ctr">
            <a:solidFill>
              <a:srgbClr val="002060"/>
            </a:solidFill>
            <a:round/>
            <a:headEnd type="oval" w="med" len="med"/>
            <a:tailEnd/>
          </a:ln>
        </p:spPr>
      </p:cxnSp>
      <p:sp>
        <p:nvSpPr>
          <p:cNvPr id="245" name="TextBox 94"/>
          <p:cNvSpPr txBox="1">
            <a:spLocks noChangeArrowheads="1"/>
          </p:cNvSpPr>
          <p:nvPr/>
        </p:nvSpPr>
        <p:spPr bwMode="auto">
          <a:xfrm>
            <a:off x="5759866" y="3737475"/>
            <a:ext cx="126057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2550" indent="-82550"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</a:rPr>
              <a:t>출고실적정보 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800" dirty="0" smtClean="0"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거래명세서 생성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47" name="그림 77" descr="별1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80889" y="2375035"/>
            <a:ext cx="58578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8" name="그림 115" descr="별2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17690" y="5080762"/>
            <a:ext cx="5778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206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2"/>
          <p:cNvSpPr>
            <a:spLocks noChangeArrowheads="1"/>
          </p:cNvSpPr>
          <p:nvPr/>
        </p:nvSpPr>
        <p:spPr bwMode="gray">
          <a:xfrm>
            <a:off x="2411106" y="1618057"/>
            <a:ext cx="1094751" cy="11623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4. </a:t>
            </a:r>
            <a:r>
              <a:rPr lang="ko-KR" altLang="en-US" dirty="0" smtClean="0">
                <a:latin typeface="+mj-ea"/>
                <a:ea typeface="+mj-ea"/>
              </a:rPr>
              <a:t>물류관리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입고프로세스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8" name="Rectangle 2"/>
          <p:cNvSpPr>
            <a:spLocks noChangeArrowheads="1"/>
          </p:cNvSpPr>
          <p:nvPr/>
        </p:nvSpPr>
        <p:spPr bwMode="gray">
          <a:xfrm>
            <a:off x="975630" y="954124"/>
            <a:ext cx="1371600" cy="10030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33" name="AutoShape 49"/>
          <p:cNvSpPr>
            <a:spLocks noChangeArrowheads="1"/>
          </p:cNvSpPr>
          <p:nvPr/>
        </p:nvSpPr>
        <p:spPr bwMode="auto">
          <a:xfrm>
            <a:off x="4632352" y="1309880"/>
            <a:ext cx="1120775" cy="284163"/>
          </a:xfrm>
          <a:prstGeom prst="flowChartTerminator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제품입고예정정보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INTERFACE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gray">
          <a:xfrm>
            <a:off x="4947494" y="1036275"/>
            <a:ext cx="58060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ko-KR" sz="900" b="1" dirty="0" smtClean="0">
                <a:solidFill>
                  <a:srgbClr val="0000CC"/>
                </a:solidFill>
                <a:latin typeface="+mn-ea"/>
                <a:ea typeface="+mn-ea"/>
              </a:rPr>
              <a:t>System</a:t>
            </a:r>
            <a:endParaRPr lang="en-US" altLang="ko-KR" sz="9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grpSp>
        <p:nvGrpSpPr>
          <p:cNvPr id="138" name="Group 51"/>
          <p:cNvGrpSpPr>
            <a:grpSpLocks/>
          </p:cNvGrpSpPr>
          <p:nvPr/>
        </p:nvGrpSpPr>
        <p:grpSpPr bwMode="auto">
          <a:xfrm>
            <a:off x="4768107" y="953725"/>
            <a:ext cx="236537" cy="285750"/>
            <a:chOff x="395" y="2124"/>
            <a:chExt cx="209" cy="318"/>
          </a:xfrm>
          <a:noFill/>
        </p:grpSpPr>
        <p:grpSp>
          <p:nvGrpSpPr>
            <p:cNvPr id="139" name="Group 52"/>
            <p:cNvGrpSpPr>
              <a:grpSpLocks/>
            </p:cNvGrpSpPr>
            <p:nvPr/>
          </p:nvGrpSpPr>
          <p:grpSpPr bwMode="auto">
            <a:xfrm>
              <a:off x="420" y="2124"/>
              <a:ext cx="184" cy="318"/>
              <a:chOff x="282" y="3570"/>
              <a:chExt cx="240" cy="474"/>
            </a:xfrm>
            <a:grpFill/>
          </p:grpSpPr>
          <p:sp>
            <p:nvSpPr>
              <p:cNvPr id="163" name="Oval 53"/>
              <p:cNvSpPr>
                <a:spLocks noChangeArrowheads="1"/>
              </p:cNvSpPr>
              <p:nvPr/>
            </p:nvSpPr>
            <p:spPr bwMode="gray">
              <a:xfrm>
                <a:off x="330" y="3570"/>
                <a:ext cx="132" cy="13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4" name="Line 54"/>
              <p:cNvSpPr>
                <a:spLocks noChangeShapeType="1"/>
              </p:cNvSpPr>
              <p:nvPr/>
            </p:nvSpPr>
            <p:spPr bwMode="gray">
              <a:xfrm>
                <a:off x="282" y="3792"/>
                <a:ext cx="24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5" name="Line 55"/>
              <p:cNvSpPr>
                <a:spLocks noChangeShapeType="1"/>
              </p:cNvSpPr>
              <p:nvPr/>
            </p:nvSpPr>
            <p:spPr bwMode="gray">
              <a:xfrm>
                <a:off x="396" y="3708"/>
                <a:ext cx="0" cy="1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6" name="Line 56"/>
              <p:cNvSpPr>
                <a:spLocks noChangeShapeType="1"/>
              </p:cNvSpPr>
              <p:nvPr/>
            </p:nvSpPr>
            <p:spPr bwMode="gray">
              <a:xfrm flipH="1">
                <a:off x="288" y="3906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7" name="Line 57"/>
              <p:cNvSpPr>
                <a:spLocks noChangeShapeType="1"/>
              </p:cNvSpPr>
              <p:nvPr/>
            </p:nvSpPr>
            <p:spPr bwMode="gray">
              <a:xfrm>
                <a:off x="400" y="3904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0" name="Group 58"/>
            <p:cNvGrpSpPr>
              <a:grpSpLocks/>
            </p:cNvGrpSpPr>
            <p:nvPr/>
          </p:nvGrpSpPr>
          <p:grpSpPr bwMode="auto">
            <a:xfrm>
              <a:off x="395" y="2180"/>
              <a:ext cx="45" cy="127"/>
              <a:chOff x="2597" y="1682"/>
              <a:chExt cx="183" cy="403"/>
            </a:xfrm>
            <a:grpFill/>
          </p:grpSpPr>
          <p:sp>
            <p:nvSpPr>
              <p:cNvPr id="149" name="Freeform 59"/>
              <p:cNvSpPr>
                <a:spLocks/>
              </p:cNvSpPr>
              <p:nvPr/>
            </p:nvSpPr>
            <p:spPr bwMode="auto">
              <a:xfrm>
                <a:off x="2632" y="1739"/>
                <a:ext cx="84" cy="62"/>
              </a:xfrm>
              <a:custGeom>
                <a:avLst/>
                <a:gdLst>
                  <a:gd name="T0" fmla="*/ 45 w 169"/>
                  <a:gd name="T1" fmla="*/ 0 h 124"/>
                  <a:gd name="T2" fmla="*/ 0 w 169"/>
                  <a:gd name="T3" fmla="*/ 57 h 124"/>
                  <a:gd name="T4" fmla="*/ 34 w 169"/>
                  <a:gd name="T5" fmla="*/ 124 h 124"/>
                  <a:gd name="T6" fmla="*/ 78 w 169"/>
                  <a:gd name="T7" fmla="*/ 103 h 124"/>
                  <a:gd name="T8" fmla="*/ 102 w 169"/>
                  <a:gd name="T9" fmla="*/ 57 h 124"/>
                  <a:gd name="T10" fmla="*/ 169 w 169"/>
                  <a:gd name="T11" fmla="*/ 46 h 124"/>
                  <a:gd name="T12" fmla="*/ 91 w 169"/>
                  <a:gd name="T13" fmla="*/ 0 h 124"/>
                  <a:gd name="T14" fmla="*/ 45 w 169"/>
                  <a:gd name="T15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24">
                    <a:moveTo>
                      <a:pt x="45" y="0"/>
                    </a:moveTo>
                    <a:lnTo>
                      <a:pt x="0" y="57"/>
                    </a:lnTo>
                    <a:lnTo>
                      <a:pt x="34" y="124"/>
                    </a:lnTo>
                    <a:lnTo>
                      <a:pt x="78" y="103"/>
                    </a:lnTo>
                    <a:lnTo>
                      <a:pt x="102" y="57"/>
                    </a:lnTo>
                    <a:lnTo>
                      <a:pt x="169" y="46"/>
                    </a:lnTo>
                    <a:lnTo>
                      <a:pt x="91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0" name="Freeform 60"/>
              <p:cNvSpPr>
                <a:spLocks/>
              </p:cNvSpPr>
              <p:nvPr/>
            </p:nvSpPr>
            <p:spPr bwMode="auto">
              <a:xfrm rot="20633656" flipV="1">
                <a:off x="2711" y="1790"/>
                <a:ext cx="69" cy="295"/>
              </a:xfrm>
              <a:custGeom>
                <a:avLst/>
                <a:gdLst>
                  <a:gd name="T0" fmla="*/ 103 w 149"/>
                  <a:gd name="T1" fmla="*/ 0 h 194"/>
                  <a:gd name="T2" fmla="*/ 149 w 149"/>
                  <a:gd name="T3" fmla="*/ 23 h 194"/>
                  <a:gd name="T4" fmla="*/ 126 w 149"/>
                  <a:gd name="T5" fmla="*/ 49 h 194"/>
                  <a:gd name="T6" fmla="*/ 111 w 149"/>
                  <a:gd name="T7" fmla="*/ 71 h 194"/>
                  <a:gd name="T8" fmla="*/ 99 w 149"/>
                  <a:gd name="T9" fmla="*/ 88 h 194"/>
                  <a:gd name="T10" fmla="*/ 89 w 149"/>
                  <a:gd name="T11" fmla="*/ 103 h 194"/>
                  <a:gd name="T12" fmla="*/ 82 w 149"/>
                  <a:gd name="T13" fmla="*/ 120 h 194"/>
                  <a:gd name="T14" fmla="*/ 75 w 149"/>
                  <a:gd name="T15" fmla="*/ 138 h 194"/>
                  <a:gd name="T16" fmla="*/ 68 w 149"/>
                  <a:gd name="T17" fmla="*/ 163 h 194"/>
                  <a:gd name="T18" fmla="*/ 57 w 149"/>
                  <a:gd name="T19" fmla="*/ 194 h 194"/>
                  <a:gd name="T20" fmla="*/ 0 w 149"/>
                  <a:gd name="T21" fmla="*/ 194 h 194"/>
                  <a:gd name="T22" fmla="*/ 9 w 149"/>
                  <a:gd name="T23" fmla="*/ 168 h 194"/>
                  <a:gd name="T24" fmla="*/ 20 w 149"/>
                  <a:gd name="T25" fmla="*/ 143 h 194"/>
                  <a:gd name="T26" fmla="*/ 31 w 149"/>
                  <a:gd name="T27" fmla="*/ 118 h 194"/>
                  <a:gd name="T28" fmla="*/ 45 w 149"/>
                  <a:gd name="T29" fmla="*/ 94 h 194"/>
                  <a:gd name="T30" fmla="*/ 59 w 149"/>
                  <a:gd name="T31" fmla="*/ 69 h 194"/>
                  <a:gd name="T32" fmla="*/ 72 w 149"/>
                  <a:gd name="T33" fmla="*/ 46 h 194"/>
                  <a:gd name="T34" fmla="*/ 88 w 149"/>
                  <a:gd name="T35" fmla="*/ 23 h 194"/>
                  <a:gd name="T36" fmla="*/ 103 w 149"/>
                  <a:gd name="T3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94">
                    <a:moveTo>
                      <a:pt x="103" y="0"/>
                    </a:moveTo>
                    <a:lnTo>
                      <a:pt x="149" y="23"/>
                    </a:lnTo>
                    <a:lnTo>
                      <a:pt x="126" y="49"/>
                    </a:lnTo>
                    <a:lnTo>
                      <a:pt x="111" y="71"/>
                    </a:lnTo>
                    <a:lnTo>
                      <a:pt x="99" y="88"/>
                    </a:lnTo>
                    <a:lnTo>
                      <a:pt x="89" y="103"/>
                    </a:lnTo>
                    <a:lnTo>
                      <a:pt x="82" y="120"/>
                    </a:lnTo>
                    <a:lnTo>
                      <a:pt x="75" y="138"/>
                    </a:lnTo>
                    <a:lnTo>
                      <a:pt x="68" y="163"/>
                    </a:lnTo>
                    <a:lnTo>
                      <a:pt x="57" y="194"/>
                    </a:lnTo>
                    <a:lnTo>
                      <a:pt x="0" y="194"/>
                    </a:lnTo>
                    <a:lnTo>
                      <a:pt x="9" y="168"/>
                    </a:lnTo>
                    <a:lnTo>
                      <a:pt x="20" y="143"/>
                    </a:lnTo>
                    <a:lnTo>
                      <a:pt x="31" y="118"/>
                    </a:lnTo>
                    <a:lnTo>
                      <a:pt x="45" y="94"/>
                    </a:lnTo>
                    <a:lnTo>
                      <a:pt x="59" y="69"/>
                    </a:lnTo>
                    <a:lnTo>
                      <a:pt x="72" y="46"/>
                    </a:lnTo>
                    <a:lnTo>
                      <a:pt x="88" y="23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1" name="Freeform 61"/>
              <p:cNvSpPr>
                <a:spLocks/>
              </p:cNvSpPr>
              <p:nvPr/>
            </p:nvSpPr>
            <p:spPr bwMode="auto">
              <a:xfrm>
                <a:off x="2683" y="1704"/>
                <a:ext cx="79" cy="109"/>
              </a:xfrm>
              <a:custGeom>
                <a:avLst/>
                <a:gdLst>
                  <a:gd name="T0" fmla="*/ 0 w 158"/>
                  <a:gd name="T1" fmla="*/ 138 h 216"/>
                  <a:gd name="T2" fmla="*/ 0 w 158"/>
                  <a:gd name="T3" fmla="*/ 195 h 216"/>
                  <a:gd name="T4" fmla="*/ 91 w 158"/>
                  <a:gd name="T5" fmla="*/ 216 h 216"/>
                  <a:gd name="T6" fmla="*/ 158 w 158"/>
                  <a:gd name="T7" fmla="*/ 183 h 216"/>
                  <a:gd name="T8" fmla="*/ 148 w 158"/>
                  <a:gd name="T9" fmla="*/ 103 h 216"/>
                  <a:gd name="T10" fmla="*/ 126 w 158"/>
                  <a:gd name="T11" fmla="*/ 81 h 216"/>
                  <a:gd name="T12" fmla="*/ 111 w 158"/>
                  <a:gd name="T13" fmla="*/ 66 h 216"/>
                  <a:gd name="T14" fmla="*/ 98 w 158"/>
                  <a:gd name="T15" fmla="*/ 53 h 216"/>
                  <a:gd name="T16" fmla="*/ 88 w 158"/>
                  <a:gd name="T17" fmla="*/ 44 h 216"/>
                  <a:gd name="T18" fmla="*/ 74 w 158"/>
                  <a:gd name="T19" fmla="*/ 35 h 216"/>
                  <a:gd name="T20" fmla="*/ 57 w 158"/>
                  <a:gd name="T21" fmla="*/ 26 h 216"/>
                  <a:gd name="T22" fmla="*/ 32 w 158"/>
                  <a:gd name="T23" fmla="*/ 14 h 216"/>
                  <a:gd name="T24" fmla="*/ 0 w 158"/>
                  <a:gd name="T25" fmla="*/ 0 h 216"/>
                  <a:gd name="T26" fmla="*/ 0 w 158"/>
                  <a:gd name="T27" fmla="*/ 64 h 216"/>
                  <a:gd name="T28" fmla="*/ 17 w 158"/>
                  <a:gd name="T29" fmla="*/ 72 h 216"/>
                  <a:gd name="T30" fmla="*/ 34 w 158"/>
                  <a:gd name="T31" fmla="*/ 81 h 216"/>
                  <a:gd name="T32" fmla="*/ 48 w 158"/>
                  <a:gd name="T33" fmla="*/ 92 h 216"/>
                  <a:gd name="T34" fmla="*/ 61 w 158"/>
                  <a:gd name="T35" fmla="*/ 103 h 216"/>
                  <a:gd name="T36" fmla="*/ 74 w 158"/>
                  <a:gd name="T37" fmla="*/ 116 h 216"/>
                  <a:gd name="T38" fmla="*/ 85 w 158"/>
                  <a:gd name="T39" fmla="*/ 130 h 216"/>
                  <a:gd name="T40" fmla="*/ 94 w 158"/>
                  <a:gd name="T41" fmla="*/ 144 h 216"/>
                  <a:gd name="T42" fmla="*/ 103 w 158"/>
                  <a:gd name="T43" fmla="*/ 159 h 216"/>
                  <a:gd name="T44" fmla="*/ 91 w 158"/>
                  <a:gd name="T45" fmla="*/ 161 h 216"/>
                  <a:gd name="T46" fmla="*/ 77 w 158"/>
                  <a:gd name="T47" fmla="*/ 161 h 216"/>
                  <a:gd name="T48" fmla="*/ 63 w 158"/>
                  <a:gd name="T49" fmla="*/ 161 h 216"/>
                  <a:gd name="T50" fmla="*/ 49 w 158"/>
                  <a:gd name="T51" fmla="*/ 158 h 216"/>
                  <a:gd name="T52" fmla="*/ 35 w 158"/>
                  <a:gd name="T53" fmla="*/ 155 h 216"/>
                  <a:gd name="T54" fmla="*/ 23 w 158"/>
                  <a:gd name="T55" fmla="*/ 150 h 216"/>
                  <a:gd name="T56" fmla="*/ 11 w 158"/>
                  <a:gd name="T57" fmla="*/ 144 h 216"/>
                  <a:gd name="T58" fmla="*/ 0 w 158"/>
                  <a:gd name="T59" fmla="*/ 13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8" h="216">
                    <a:moveTo>
                      <a:pt x="0" y="138"/>
                    </a:moveTo>
                    <a:lnTo>
                      <a:pt x="0" y="195"/>
                    </a:lnTo>
                    <a:lnTo>
                      <a:pt x="91" y="216"/>
                    </a:lnTo>
                    <a:lnTo>
                      <a:pt x="158" y="183"/>
                    </a:lnTo>
                    <a:lnTo>
                      <a:pt x="148" y="103"/>
                    </a:lnTo>
                    <a:lnTo>
                      <a:pt x="126" y="81"/>
                    </a:lnTo>
                    <a:lnTo>
                      <a:pt x="111" y="66"/>
                    </a:lnTo>
                    <a:lnTo>
                      <a:pt x="98" y="53"/>
                    </a:lnTo>
                    <a:lnTo>
                      <a:pt x="88" y="44"/>
                    </a:lnTo>
                    <a:lnTo>
                      <a:pt x="74" y="35"/>
                    </a:lnTo>
                    <a:lnTo>
                      <a:pt x="57" y="26"/>
                    </a:lnTo>
                    <a:lnTo>
                      <a:pt x="32" y="14"/>
                    </a:lnTo>
                    <a:lnTo>
                      <a:pt x="0" y="0"/>
                    </a:lnTo>
                    <a:lnTo>
                      <a:pt x="0" y="64"/>
                    </a:lnTo>
                    <a:lnTo>
                      <a:pt x="17" y="72"/>
                    </a:lnTo>
                    <a:lnTo>
                      <a:pt x="34" y="81"/>
                    </a:lnTo>
                    <a:lnTo>
                      <a:pt x="48" y="92"/>
                    </a:lnTo>
                    <a:lnTo>
                      <a:pt x="61" y="103"/>
                    </a:lnTo>
                    <a:lnTo>
                      <a:pt x="74" y="116"/>
                    </a:lnTo>
                    <a:lnTo>
                      <a:pt x="85" y="130"/>
                    </a:lnTo>
                    <a:lnTo>
                      <a:pt x="94" y="144"/>
                    </a:lnTo>
                    <a:lnTo>
                      <a:pt x="103" y="159"/>
                    </a:lnTo>
                    <a:lnTo>
                      <a:pt x="91" y="161"/>
                    </a:lnTo>
                    <a:lnTo>
                      <a:pt x="77" y="161"/>
                    </a:lnTo>
                    <a:lnTo>
                      <a:pt x="63" y="161"/>
                    </a:lnTo>
                    <a:lnTo>
                      <a:pt x="49" y="158"/>
                    </a:lnTo>
                    <a:lnTo>
                      <a:pt x="35" y="155"/>
                    </a:lnTo>
                    <a:lnTo>
                      <a:pt x="23" y="150"/>
                    </a:lnTo>
                    <a:lnTo>
                      <a:pt x="11" y="144"/>
                    </a:lnTo>
                    <a:lnTo>
                      <a:pt x="0" y="1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2" name="Freeform 62"/>
              <p:cNvSpPr>
                <a:spLocks/>
              </p:cNvSpPr>
              <p:nvPr/>
            </p:nvSpPr>
            <p:spPr bwMode="auto">
              <a:xfrm>
                <a:off x="2597" y="1682"/>
                <a:ext cx="87" cy="154"/>
              </a:xfrm>
              <a:custGeom>
                <a:avLst/>
                <a:gdLst>
                  <a:gd name="T0" fmla="*/ 172 w 174"/>
                  <a:gd name="T1" fmla="*/ 109 h 307"/>
                  <a:gd name="T2" fmla="*/ 172 w 174"/>
                  <a:gd name="T3" fmla="*/ 45 h 307"/>
                  <a:gd name="T4" fmla="*/ 158 w 174"/>
                  <a:gd name="T5" fmla="*/ 40 h 307"/>
                  <a:gd name="T6" fmla="*/ 146 w 174"/>
                  <a:gd name="T7" fmla="*/ 35 h 307"/>
                  <a:gd name="T8" fmla="*/ 132 w 174"/>
                  <a:gd name="T9" fmla="*/ 31 h 307"/>
                  <a:gd name="T10" fmla="*/ 120 w 174"/>
                  <a:gd name="T11" fmla="*/ 25 h 307"/>
                  <a:gd name="T12" fmla="*/ 108 w 174"/>
                  <a:gd name="T13" fmla="*/ 19 h 307"/>
                  <a:gd name="T14" fmla="*/ 95 w 174"/>
                  <a:gd name="T15" fmla="*/ 12 h 307"/>
                  <a:gd name="T16" fmla="*/ 81 w 174"/>
                  <a:gd name="T17" fmla="*/ 6 h 307"/>
                  <a:gd name="T18" fmla="*/ 69 w 174"/>
                  <a:gd name="T19" fmla="*/ 0 h 307"/>
                  <a:gd name="T20" fmla="*/ 0 w 174"/>
                  <a:gd name="T21" fmla="*/ 217 h 307"/>
                  <a:gd name="T22" fmla="*/ 5 w 174"/>
                  <a:gd name="T23" fmla="*/ 231 h 307"/>
                  <a:gd name="T24" fmla="*/ 12 w 174"/>
                  <a:gd name="T25" fmla="*/ 244 h 307"/>
                  <a:gd name="T26" fmla="*/ 22 w 174"/>
                  <a:gd name="T27" fmla="*/ 258 h 307"/>
                  <a:gd name="T28" fmla="*/ 31 w 174"/>
                  <a:gd name="T29" fmla="*/ 271 h 307"/>
                  <a:gd name="T30" fmla="*/ 43 w 174"/>
                  <a:gd name="T31" fmla="*/ 281 h 307"/>
                  <a:gd name="T32" fmla="*/ 55 w 174"/>
                  <a:gd name="T33" fmla="*/ 292 h 307"/>
                  <a:gd name="T34" fmla="*/ 68 w 174"/>
                  <a:gd name="T35" fmla="*/ 300 h 307"/>
                  <a:gd name="T36" fmla="*/ 80 w 174"/>
                  <a:gd name="T37" fmla="*/ 307 h 307"/>
                  <a:gd name="T38" fmla="*/ 147 w 174"/>
                  <a:gd name="T39" fmla="*/ 286 h 307"/>
                  <a:gd name="T40" fmla="*/ 160 w 174"/>
                  <a:gd name="T41" fmla="*/ 264 h 307"/>
                  <a:gd name="T42" fmla="*/ 169 w 174"/>
                  <a:gd name="T43" fmla="*/ 237 h 307"/>
                  <a:gd name="T44" fmla="*/ 174 w 174"/>
                  <a:gd name="T45" fmla="*/ 209 h 307"/>
                  <a:gd name="T46" fmla="*/ 172 w 174"/>
                  <a:gd name="T47" fmla="*/ 183 h 307"/>
                  <a:gd name="T48" fmla="*/ 166 w 174"/>
                  <a:gd name="T49" fmla="*/ 192 h 307"/>
                  <a:gd name="T50" fmla="*/ 161 w 174"/>
                  <a:gd name="T51" fmla="*/ 201 h 307"/>
                  <a:gd name="T52" fmla="*/ 155 w 174"/>
                  <a:gd name="T53" fmla="*/ 212 h 307"/>
                  <a:gd name="T54" fmla="*/ 147 w 174"/>
                  <a:gd name="T55" fmla="*/ 221 h 307"/>
                  <a:gd name="T56" fmla="*/ 140 w 174"/>
                  <a:gd name="T57" fmla="*/ 231 h 307"/>
                  <a:gd name="T58" fmla="*/ 132 w 174"/>
                  <a:gd name="T59" fmla="*/ 240 h 307"/>
                  <a:gd name="T60" fmla="*/ 123 w 174"/>
                  <a:gd name="T61" fmla="*/ 246 h 307"/>
                  <a:gd name="T62" fmla="*/ 114 w 174"/>
                  <a:gd name="T63" fmla="*/ 251 h 307"/>
                  <a:gd name="T64" fmla="*/ 69 w 174"/>
                  <a:gd name="T65" fmla="*/ 228 h 307"/>
                  <a:gd name="T66" fmla="*/ 75 w 174"/>
                  <a:gd name="T67" fmla="*/ 191 h 307"/>
                  <a:gd name="T68" fmla="*/ 84 w 174"/>
                  <a:gd name="T69" fmla="*/ 154 h 307"/>
                  <a:gd name="T70" fmla="*/ 92 w 174"/>
                  <a:gd name="T71" fmla="*/ 117 h 307"/>
                  <a:gd name="T72" fmla="*/ 103 w 174"/>
                  <a:gd name="T73" fmla="*/ 80 h 307"/>
                  <a:gd name="T74" fmla="*/ 172 w 174"/>
                  <a:gd name="T75" fmla="*/ 10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4" h="307">
                    <a:moveTo>
                      <a:pt x="172" y="109"/>
                    </a:moveTo>
                    <a:lnTo>
                      <a:pt x="172" y="45"/>
                    </a:lnTo>
                    <a:lnTo>
                      <a:pt x="158" y="40"/>
                    </a:lnTo>
                    <a:lnTo>
                      <a:pt x="146" y="35"/>
                    </a:lnTo>
                    <a:lnTo>
                      <a:pt x="132" y="31"/>
                    </a:lnTo>
                    <a:lnTo>
                      <a:pt x="120" y="25"/>
                    </a:lnTo>
                    <a:lnTo>
                      <a:pt x="108" y="19"/>
                    </a:lnTo>
                    <a:lnTo>
                      <a:pt x="95" y="12"/>
                    </a:lnTo>
                    <a:lnTo>
                      <a:pt x="81" y="6"/>
                    </a:lnTo>
                    <a:lnTo>
                      <a:pt x="69" y="0"/>
                    </a:lnTo>
                    <a:lnTo>
                      <a:pt x="0" y="217"/>
                    </a:lnTo>
                    <a:lnTo>
                      <a:pt x="5" y="231"/>
                    </a:lnTo>
                    <a:lnTo>
                      <a:pt x="12" y="244"/>
                    </a:lnTo>
                    <a:lnTo>
                      <a:pt x="22" y="258"/>
                    </a:lnTo>
                    <a:lnTo>
                      <a:pt x="31" y="271"/>
                    </a:lnTo>
                    <a:lnTo>
                      <a:pt x="43" y="281"/>
                    </a:lnTo>
                    <a:lnTo>
                      <a:pt x="55" y="292"/>
                    </a:lnTo>
                    <a:lnTo>
                      <a:pt x="68" y="300"/>
                    </a:lnTo>
                    <a:lnTo>
                      <a:pt x="80" y="307"/>
                    </a:lnTo>
                    <a:lnTo>
                      <a:pt x="147" y="286"/>
                    </a:lnTo>
                    <a:lnTo>
                      <a:pt x="160" y="264"/>
                    </a:lnTo>
                    <a:lnTo>
                      <a:pt x="169" y="237"/>
                    </a:lnTo>
                    <a:lnTo>
                      <a:pt x="174" y="209"/>
                    </a:lnTo>
                    <a:lnTo>
                      <a:pt x="172" y="183"/>
                    </a:lnTo>
                    <a:lnTo>
                      <a:pt x="166" y="192"/>
                    </a:lnTo>
                    <a:lnTo>
                      <a:pt x="161" y="201"/>
                    </a:lnTo>
                    <a:lnTo>
                      <a:pt x="155" y="212"/>
                    </a:lnTo>
                    <a:lnTo>
                      <a:pt x="147" y="221"/>
                    </a:lnTo>
                    <a:lnTo>
                      <a:pt x="140" y="231"/>
                    </a:lnTo>
                    <a:lnTo>
                      <a:pt x="132" y="240"/>
                    </a:lnTo>
                    <a:lnTo>
                      <a:pt x="123" y="246"/>
                    </a:lnTo>
                    <a:lnTo>
                      <a:pt x="114" y="251"/>
                    </a:lnTo>
                    <a:lnTo>
                      <a:pt x="69" y="228"/>
                    </a:lnTo>
                    <a:lnTo>
                      <a:pt x="75" y="191"/>
                    </a:lnTo>
                    <a:lnTo>
                      <a:pt x="84" y="154"/>
                    </a:lnTo>
                    <a:lnTo>
                      <a:pt x="92" y="117"/>
                    </a:lnTo>
                    <a:lnTo>
                      <a:pt x="103" y="80"/>
                    </a:lnTo>
                    <a:lnTo>
                      <a:pt x="17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2" name="Group 63"/>
            <p:cNvGrpSpPr>
              <a:grpSpLocks/>
            </p:cNvGrpSpPr>
            <p:nvPr/>
          </p:nvGrpSpPr>
          <p:grpSpPr bwMode="auto">
            <a:xfrm>
              <a:off x="511" y="2203"/>
              <a:ext cx="77" cy="62"/>
              <a:chOff x="3235" y="1597"/>
              <a:chExt cx="263" cy="200"/>
            </a:xfrm>
            <a:grpFill/>
          </p:grpSpPr>
          <p:sp>
            <p:nvSpPr>
              <p:cNvPr id="146" name="Freeform 64"/>
              <p:cNvSpPr>
                <a:spLocks/>
              </p:cNvSpPr>
              <p:nvPr/>
            </p:nvSpPr>
            <p:spPr bwMode="auto">
              <a:xfrm>
                <a:off x="3321" y="1647"/>
                <a:ext cx="114" cy="75"/>
              </a:xfrm>
              <a:custGeom>
                <a:avLst/>
                <a:gdLst>
                  <a:gd name="T0" fmla="*/ 0 w 229"/>
                  <a:gd name="T1" fmla="*/ 115 h 149"/>
                  <a:gd name="T2" fmla="*/ 81 w 229"/>
                  <a:gd name="T3" fmla="*/ 104 h 149"/>
                  <a:gd name="T4" fmla="*/ 115 w 229"/>
                  <a:gd name="T5" fmla="*/ 25 h 149"/>
                  <a:gd name="T6" fmla="*/ 160 w 229"/>
                  <a:gd name="T7" fmla="*/ 35 h 149"/>
                  <a:gd name="T8" fmla="*/ 195 w 229"/>
                  <a:gd name="T9" fmla="*/ 0 h 149"/>
                  <a:gd name="T10" fmla="*/ 229 w 229"/>
                  <a:gd name="T11" fmla="*/ 25 h 149"/>
                  <a:gd name="T12" fmla="*/ 172 w 229"/>
                  <a:gd name="T13" fmla="*/ 92 h 149"/>
                  <a:gd name="T14" fmla="*/ 126 w 229"/>
                  <a:gd name="T15" fmla="*/ 81 h 149"/>
                  <a:gd name="T16" fmla="*/ 115 w 229"/>
                  <a:gd name="T17" fmla="*/ 126 h 149"/>
                  <a:gd name="T18" fmla="*/ 25 w 229"/>
                  <a:gd name="T19" fmla="*/ 149 h 149"/>
                  <a:gd name="T20" fmla="*/ 0 w 229"/>
                  <a:gd name="T21" fmla="*/ 11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49">
                    <a:moveTo>
                      <a:pt x="0" y="115"/>
                    </a:moveTo>
                    <a:lnTo>
                      <a:pt x="81" y="104"/>
                    </a:lnTo>
                    <a:lnTo>
                      <a:pt x="115" y="25"/>
                    </a:lnTo>
                    <a:lnTo>
                      <a:pt x="160" y="35"/>
                    </a:lnTo>
                    <a:lnTo>
                      <a:pt x="195" y="0"/>
                    </a:lnTo>
                    <a:lnTo>
                      <a:pt x="229" y="25"/>
                    </a:lnTo>
                    <a:lnTo>
                      <a:pt x="172" y="92"/>
                    </a:lnTo>
                    <a:lnTo>
                      <a:pt x="126" y="81"/>
                    </a:lnTo>
                    <a:lnTo>
                      <a:pt x="115" y="126"/>
                    </a:lnTo>
                    <a:lnTo>
                      <a:pt x="25" y="149"/>
                    </a:lnTo>
                    <a:lnTo>
                      <a:pt x="0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7" name="Freeform 65"/>
              <p:cNvSpPr>
                <a:spLocks/>
              </p:cNvSpPr>
              <p:nvPr/>
            </p:nvSpPr>
            <p:spPr bwMode="auto">
              <a:xfrm>
                <a:off x="3370" y="1597"/>
                <a:ext cx="128" cy="167"/>
              </a:xfrm>
              <a:custGeom>
                <a:avLst/>
                <a:gdLst>
                  <a:gd name="T0" fmla="*/ 0 w 257"/>
                  <a:gd name="T1" fmla="*/ 273 h 333"/>
                  <a:gd name="T2" fmla="*/ 0 w 257"/>
                  <a:gd name="T3" fmla="*/ 333 h 333"/>
                  <a:gd name="T4" fmla="*/ 7 w 257"/>
                  <a:gd name="T5" fmla="*/ 318 h 333"/>
                  <a:gd name="T6" fmla="*/ 119 w 257"/>
                  <a:gd name="T7" fmla="*/ 307 h 333"/>
                  <a:gd name="T8" fmla="*/ 131 w 257"/>
                  <a:gd name="T9" fmla="*/ 239 h 333"/>
                  <a:gd name="T10" fmla="*/ 223 w 257"/>
                  <a:gd name="T11" fmla="*/ 227 h 333"/>
                  <a:gd name="T12" fmla="*/ 257 w 257"/>
                  <a:gd name="T13" fmla="*/ 149 h 333"/>
                  <a:gd name="T14" fmla="*/ 211 w 257"/>
                  <a:gd name="T15" fmla="*/ 33 h 333"/>
                  <a:gd name="T16" fmla="*/ 189 w 257"/>
                  <a:gd name="T17" fmla="*/ 21 h 333"/>
                  <a:gd name="T18" fmla="*/ 163 w 257"/>
                  <a:gd name="T19" fmla="*/ 12 h 333"/>
                  <a:gd name="T20" fmla="*/ 136 w 257"/>
                  <a:gd name="T21" fmla="*/ 4 h 333"/>
                  <a:gd name="T22" fmla="*/ 108 w 257"/>
                  <a:gd name="T23" fmla="*/ 0 h 333"/>
                  <a:gd name="T24" fmla="*/ 79 w 257"/>
                  <a:gd name="T25" fmla="*/ 0 h 333"/>
                  <a:gd name="T26" fmla="*/ 50 w 257"/>
                  <a:gd name="T27" fmla="*/ 1 h 333"/>
                  <a:gd name="T28" fmla="*/ 23 w 257"/>
                  <a:gd name="T29" fmla="*/ 7 h 333"/>
                  <a:gd name="T30" fmla="*/ 0 w 257"/>
                  <a:gd name="T31" fmla="*/ 18 h 333"/>
                  <a:gd name="T32" fmla="*/ 0 w 257"/>
                  <a:gd name="T33" fmla="*/ 70 h 333"/>
                  <a:gd name="T34" fmla="*/ 62 w 257"/>
                  <a:gd name="T35" fmla="*/ 44 h 333"/>
                  <a:gd name="T36" fmla="*/ 142 w 257"/>
                  <a:gd name="T37" fmla="*/ 56 h 333"/>
                  <a:gd name="T38" fmla="*/ 200 w 257"/>
                  <a:gd name="T39" fmla="*/ 126 h 333"/>
                  <a:gd name="T40" fmla="*/ 176 w 257"/>
                  <a:gd name="T41" fmla="*/ 182 h 333"/>
                  <a:gd name="T42" fmla="*/ 97 w 257"/>
                  <a:gd name="T43" fmla="*/ 205 h 333"/>
                  <a:gd name="T44" fmla="*/ 85 w 257"/>
                  <a:gd name="T45" fmla="*/ 273 h 333"/>
                  <a:gd name="T46" fmla="*/ 0 w 257"/>
                  <a:gd name="T47" fmla="*/ 27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7" h="333">
                    <a:moveTo>
                      <a:pt x="0" y="273"/>
                    </a:moveTo>
                    <a:lnTo>
                      <a:pt x="0" y="333"/>
                    </a:lnTo>
                    <a:lnTo>
                      <a:pt x="7" y="318"/>
                    </a:lnTo>
                    <a:lnTo>
                      <a:pt x="119" y="307"/>
                    </a:lnTo>
                    <a:lnTo>
                      <a:pt x="131" y="239"/>
                    </a:lnTo>
                    <a:lnTo>
                      <a:pt x="223" y="227"/>
                    </a:lnTo>
                    <a:lnTo>
                      <a:pt x="257" y="149"/>
                    </a:lnTo>
                    <a:lnTo>
                      <a:pt x="211" y="33"/>
                    </a:lnTo>
                    <a:lnTo>
                      <a:pt x="189" y="21"/>
                    </a:lnTo>
                    <a:lnTo>
                      <a:pt x="163" y="12"/>
                    </a:lnTo>
                    <a:lnTo>
                      <a:pt x="136" y="4"/>
                    </a:lnTo>
                    <a:lnTo>
                      <a:pt x="108" y="0"/>
                    </a:lnTo>
                    <a:lnTo>
                      <a:pt x="79" y="0"/>
                    </a:lnTo>
                    <a:lnTo>
                      <a:pt x="50" y="1"/>
                    </a:lnTo>
                    <a:lnTo>
                      <a:pt x="23" y="7"/>
                    </a:lnTo>
                    <a:lnTo>
                      <a:pt x="0" y="18"/>
                    </a:lnTo>
                    <a:lnTo>
                      <a:pt x="0" y="70"/>
                    </a:lnTo>
                    <a:lnTo>
                      <a:pt x="62" y="44"/>
                    </a:lnTo>
                    <a:lnTo>
                      <a:pt x="142" y="56"/>
                    </a:lnTo>
                    <a:lnTo>
                      <a:pt x="200" y="126"/>
                    </a:lnTo>
                    <a:lnTo>
                      <a:pt x="176" y="182"/>
                    </a:lnTo>
                    <a:lnTo>
                      <a:pt x="97" y="205"/>
                    </a:lnTo>
                    <a:lnTo>
                      <a:pt x="85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8" name="Freeform 66"/>
              <p:cNvSpPr>
                <a:spLocks/>
              </p:cNvSpPr>
              <p:nvPr/>
            </p:nvSpPr>
            <p:spPr bwMode="auto">
              <a:xfrm>
                <a:off x="3235" y="1606"/>
                <a:ext cx="135" cy="191"/>
              </a:xfrm>
              <a:custGeom>
                <a:avLst/>
                <a:gdLst>
                  <a:gd name="T0" fmla="*/ 268 w 270"/>
                  <a:gd name="T1" fmla="*/ 52 h 383"/>
                  <a:gd name="T2" fmla="*/ 268 w 270"/>
                  <a:gd name="T3" fmla="*/ 0 h 383"/>
                  <a:gd name="T4" fmla="*/ 244 w 270"/>
                  <a:gd name="T5" fmla="*/ 3 h 383"/>
                  <a:gd name="T6" fmla="*/ 219 w 270"/>
                  <a:gd name="T7" fmla="*/ 12 h 383"/>
                  <a:gd name="T8" fmla="*/ 195 w 270"/>
                  <a:gd name="T9" fmla="*/ 26 h 383"/>
                  <a:gd name="T10" fmla="*/ 172 w 270"/>
                  <a:gd name="T11" fmla="*/ 45 h 383"/>
                  <a:gd name="T12" fmla="*/ 149 w 270"/>
                  <a:gd name="T13" fmla="*/ 68 h 383"/>
                  <a:gd name="T14" fmla="*/ 129 w 270"/>
                  <a:gd name="T15" fmla="*/ 92 h 383"/>
                  <a:gd name="T16" fmla="*/ 107 w 270"/>
                  <a:gd name="T17" fmla="*/ 121 h 383"/>
                  <a:gd name="T18" fmla="*/ 89 w 270"/>
                  <a:gd name="T19" fmla="*/ 151 h 383"/>
                  <a:gd name="T20" fmla="*/ 70 w 270"/>
                  <a:gd name="T21" fmla="*/ 181 h 383"/>
                  <a:gd name="T22" fmla="*/ 55 w 270"/>
                  <a:gd name="T23" fmla="*/ 214 h 383"/>
                  <a:gd name="T24" fmla="*/ 41 w 270"/>
                  <a:gd name="T25" fmla="*/ 246 h 383"/>
                  <a:gd name="T26" fmla="*/ 27 w 270"/>
                  <a:gd name="T27" fmla="*/ 277 h 383"/>
                  <a:gd name="T28" fmla="*/ 18 w 270"/>
                  <a:gd name="T29" fmla="*/ 306 h 383"/>
                  <a:gd name="T30" fmla="*/ 9 w 270"/>
                  <a:gd name="T31" fmla="*/ 333 h 383"/>
                  <a:gd name="T32" fmla="*/ 3 w 270"/>
                  <a:gd name="T33" fmla="*/ 358 h 383"/>
                  <a:gd name="T34" fmla="*/ 0 w 270"/>
                  <a:gd name="T35" fmla="*/ 380 h 383"/>
                  <a:gd name="T36" fmla="*/ 13 w 270"/>
                  <a:gd name="T37" fmla="*/ 381 h 383"/>
                  <a:gd name="T38" fmla="*/ 27 w 270"/>
                  <a:gd name="T39" fmla="*/ 383 h 383"/>
                  <a:gd name="T40" fmla="*/ 41 w 270"/>
                  <a:gd name="T41" fmla="*/ 383 h 383"/>
                  <a:gd name="T42" fmla="*/ 56 w 270"/>
                  <a:gd name="T43" fmla="*/ 381 h 383"/>
                  <a:gd name="T44" fmla="*/ 72 w 270"/>
                  <a:gd name="T45" fmla="*/ 380 h 383"/>
                  <a:gd name="T46" fmla="*/ 89 w 270"/>
                  <a:gd name="T47" fmla="*/ 378 h 383"/>
                  <a:gd name="T48" fmla="*/ 104 w 270"/>
                  <a:gd name="T49" fmla="*/ 375 h 383"/>
                  <a:gd name="T50" fmla="*/ 121 w 270"/>
                  <a:gd name="T51" fmla="*/ 372 h 383"/>
                  <a:gd name="T52" fmla="*/ 138 w 270"/>
                  <a:gd name="T53" fmla="*/ 370 h 383"/>
                  <a:gd name="T54" fmla="*/ 155 w 270"/>
                  <a:gd name="T55" fmla="*/ 367 h 383"/>
                  <a:gd name="T56" fmla="*/ 172 w 270"/>
                  <a:gd name="T57" fmla="*/ 364 h 383"/>
                  <a:gd name="T58" fmla="*/ 187 w 270"/>
                  <a:gd name="T59" fmla="*/ 361 h 383"/>
                  <a:gd name="T60" fmla="*/ 204 w 270"/>
                  <a:gd name="T61" fmla="*/ 360 h 383"/>
                  <a:gd name="T62" fmla="*/ 221 w 270"/>
                  <a:gd name="T63" fmla="*/ 358 h 383"/>
                  <a:gd name="T64" fmla="*/ 236 w 270"/>
                  <a:gd name="T65" fmla="*/ 356 h 383"/>
                  <a:gd name="T66" fmla="*/ 251 w 270"/>
                  <a:gd name="T67" fmla="*/ 356 h 383"/>
                  <a:gd name="T68" fmla="*/ 262 w 270"/>
                  <a:gd name="T69" fmla="*/ 335 h 383"/>
                  <a:gd name="T70" fmla="*/ 268 w 270"/>
                  <a:gd name="T71" fmla="*/ 307 h 383"/>
                  <a:gd name="T72" fmla="*/ 270 w 270"/>
                  <a:gd name="T73" fmla="*/ 280 h 383"/>
                  <a:gd name="T74" fmla="*/ 268 w 270"/>
                  <a:gd name="T75" fmla="*/ 255 h 383"/>
                  <a:gd name="T76" fmla="*/ 262 w 270"/>
                  <a:gd name="T77" fmla="*/ 255 h 383"/>
                  <a:gd name="T78" fmla="*/ 239 w 270"/>
                  <a:gd name="T79" fmla="*/ 300 h 383"/>
                  <a:gd name="T80" fmla="*/ 218 w 270"/>
                  <a:gd name="T81" fmla="*/ 303 h 383"/>
                  <a:gd name="T82" fmla="*/ 196 w 270"/>
                  <a:gd name="T83" fmla="*/ 306 h 383"/>
                  <a:gd name="T84" fmla="*/ 175 w 270"/>
                  <a:gd name="T85" fmla="*/ 307 h 383"/>
                  <a:gd name="T86" fmla="*/ 155 w 270"/>
                  <a:gd name="T87" fmla="*/ 310 h 383"/>
                  <a:gd name="T88" fmla="*/ 133 w 270"/>
                  <a:gd name="T89" fmla="*/ 310 h 383"/>
                  <a:gd name="T90" fmla="*/ 112 w 270"/>
                  <a:gd name="T91" fmla="*/ 312 h 383"/>
                  <a:gd name="T92" fmla="*/ 90 w 270"/>
                  <a:gd name="T93" fmla="*/ 312 h 383"/>
                  <a:gd name="T94" fmla="*/ 69 w 270"/>
                  <a:gd name="T95" fmla="*/ 312 h 383"/>
                  <a:gd name="T96" fmla="*/ 76 w 270"/>
                  <a:gd name="T97" fmla="*/ 280 h 383"/>
                  <a:gd name="T98" fmla="*/ 92 w 270"/>
                  <a:gd name="T99" fmla="*/ 241 h 383"/>
                  <a:gd name="T100" fmla="*/ 115 w 270"/>
                  <a:gd name="T101" fmla="*/ 198 h 383"/>
                  <a:gd name="T102" fmla="*/ 141 w 270"/>
                  <a:gd name="T103" fmla="*/ 157 h 383"/>
                  <a:gd name="T104" fmla="*/ 172 w 270"/>
                  <a:gd name="T105" fmla="*/ 118 h 383"/>
                  <a:gd name="T106" fmla="*/ 204 w 270"/>
                  <a:gd name="T107" fmla="*/ 84 h 383"/>
                  <a:gd name="T108" fmla="*/ 236 w 270"/>
                  <a:gd name="T109" fmla="*/ 61 h 383"/>
                  <a:gd name="T110" fmla="*/ 268 w 270"/>
                  <a:gd name="T111" fmla="*/ 52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0" h="383">
                    <a:moveTo>
                      <a:pt x="268" y="52"/>
                    </a:moveTo>
                    <a:lnTo>
                      <a:pt x="268" y="0"/>
                    </a:lnTo>
                    <a:lnTo>
                      <a:pt x="244" y="3"/>
                    </a:lnTo>
                    <a:lnTo>
                      <a:pt x="219" y="12"/>
                    </a:lnTo>
                    <a:lnTo>
                      <a:pt x="195" y="26"/>
                    </a:lnTo>
                    <a:lnTo>
                      <a:pt x="172" y="45"/>
                    </a:lnTo>
                    <a:lnTo>
                      <a:pt x="149" y="68"/>
                    </a:lnTo>
                    <a:lnTo>
                      <a:pt x="129" y="92"/>
                    </a:lnTo>
                    <a:lnTo>
                      <a:pt x="107" y="121"/>
                    </a:lnTo>
                    <a:lnTo>
                      <a:pt x="89" y="151"/>
                    </a:lnTo>
                    <a:lnTo>
                      <a:pt x="70" y="181"/>
                    </a:lnTo>
                    <a:lnTo>
                      <a:pt x="55" y="214"/>
                    </a:lnTo>
                    <a:lnTo>
                      <a:pt x="41" y="246"/>
                    </a:lnTo>
                    <a:lnTo>
                      <a:pt x="27" y="277"/>
                    </a:lnTo>
                    <a:lnTo>
                      <a:pt x="18" y="306"/>
                    </a:lnTo>
                    <a:lnTo>
                      <a:pt x="9" y="333"/>
                    </a:lnTo>
                    <a:lnTo>
                      <a:pt x="3" y="358"/>
                    </a:lnTo>
                    <a:lnTo>
                      <a:pt x="0" y="380"/>
                    </a:lnTo>
                    <a:lnTo>
                      <a:pt x="13" y="381"/>
                    </a:lnTo>
                    <a:lnTo>
                      <a:pt x="27" y="383"/>
                    </a:lnTo>
                    <a:lnTo>
                      <a:pt x="41" y="383"/>
                    </a:lnTo>
                    <a:lnTo>
                      <a:pt x="56" y="381"/>
                    </a:lnTo>
                    <a:lnTo>
                      <a:pt x="72" y="380"/>
                    </a:lnTo>
                    <a:lnTo>
                      <a:pt x="89" y="378"/>
                    </a:lnTo>
                    <a:lnTo>
                      <a:pt x="104" y="375"/>
                    </a:lnTo>
                    <a:lnTo>
                      <a:pt x="121" y="372"/>
                    </a:lnTo>
                    <a:lnTo>
                      <a:pt x="138" y="370"/>
                    </a:lnTo>
                    <a:lnTo>
                      <a:pt x="155" y="367"/>
                    </a:lnTo>
                    <a:lnTo>
                      <a:pt x="172" y="364"/>
                    </a:lnTo>
                    <a:lnTo>
                      <a:pt x="187" y="361"/>
                    </a:lnTo>
                    <a:lnTo>
                      <a:pt x="204" y="360"/>
                    </a:lnTo>
                    <a:lnTo>
                      <a:pt x="221" y="358"/>
                    </a:lnTo>
                    <a:lnTo>
                      <a:pt x="236" y="356"/>
                    </a:lnTo>
                    <a:lnTo>
                      <a:pt x="251" y="356"/>
                    </a:lnTo>
                    <a:lnTo>
                      <a:pt x="262" y="335"/>
                    </a:lnTo>
                    <a:lnTo>
                      <a:pt x="268" y="307"/>
                    </a:lnTo>
                    <a:lnTo>
                      <a:pt x="270" y="280"/>
                    </a:lnTo>
                    <a:lnTo>
                      <a:pt x="268" y="255"/>
                    </a:lnTo>
                    <a:lnTo>
                      <a:pt x="262" y="255"/>
                    </a:lnTo>
                    <a:lnTo>
                      <a:pt x="239" y="300"/>
                    </a:lnTo>
                    <a:lnTo>
                      <a:pt x="218" y="303"/>
                    </a:lnTo>
                    <a:lnTo>
                      <a:pt x="196" y="306"/>
                    </a:lnTo>
                    <a:lnTo>
                      <a:pt x="175" y="307"/>
                    </a:lnTo>
                    <a:lnTo>
                      <a:pt x="155" y="310"/>
                    </a:lnTo>
                    <a:lnTo>
                      <a:pt x="133" y="310"/>
                    </a:lnTo>
                    <a:lnTo>
                      <a:pt x="112" y="312"/>
                    </a:lnTo>
                    <a:lnTo>
                      <a:pt x="90" y="312"/>
                    </a:lnTo>
                    <a:lnTo>
                      <a:pt x="69" y="312"/>
                    </a:lnTo>
                    <a:lnTo>
                      <a:pt x="76" y="280"/>
                    </a:lnTo>
                    <a:lnTo>
                      <a:pt x="92" y="241"/>
                    </a:lnTo>
                    <a:lnTo>
                      <a:pt x="115" y="198"/>
                    </a:lnTo>
                    <a:lnTo>
                      <a:pt x="141" y="157"/>
                    </a:lnTo>
                    <a:lnTo>
                      <a:pt x="172" y="118"/>
                    </a:lnTo>
                    <a:lnTo>
                      <a:pt x="204" y="84"/>
                    </a:lnTo>
                    <a:lnTo>
                      <a:pt x="236" y="61"/>
                    </a:lnTo>
                    <a:lnTo>
                      <a:pt x="26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3" name="Group 67"/>
            <p:cNvGrpSpPr>
              <a:grpSpLocks/>
            </p:cNvGrpSpPr>
            <p:nvPr/>
          </p:nvGrpSpPr>
          <p:grpSpPr bwMode="auto">
            <a:xfrm>
              <a:off x="456" y="2139"/>
              <a:ext cx="82" cy="28"/>
              <a:chOff x="1200" y="3160"/>
              <a:chExt cx="250" cy="98"/>
            </a:xfrm>
            <a:grpFill/>
          </p:grpSpPr>
          <p:sp>
            <p:nvSpPr>
              <p:cNvPr id="144" name="Line 68"/>
              <p:cNvSpPr>
                <a:spLocks noChangeShapeType="1"/>
              </p:cNvSpPr>
              <p:nvPr/>
            </p:nvSpPr>
            <p:spPr bwMode="gray">
              <a:xfrm>
                <a:off x="1200" y="3162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5" name="Line 69"/>
              <p:cNvSpPr>
                <a:spLocks noChangeShapeType="1"/>
              </p:cNvSpPr>
              <p:nvPr/>
            </p:nvSpPr>
            <p:spPr bwMode="gray">
              <a:xfrm flipH="1">
                <a:off x="1354" y="3160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68" name="Text Box 70"/>
          <p:cNvSpPr txBox="1">
            <a:spLocks noChangeArrowheads="1"/>
          </p:cNvSpPr>
          <p:nvPr/>
        </p:nvSpPr>
        <p:spPr bwMode="gray">
          <a:xfrm>
            <a:off x="6128645" y="1866001"/>
            <a:ext cx="154305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ko-KR" sz="1000" dirty="0">
                <a:latin typeface="+mn-ea"/>
                <a:ea typeface="+mn-ea"/>
              </a:rPr>
              <a:t> </a:t>
            </a:r>
            <a:r>
              <a:rPr lang="en-US" altLang="ko-KR" sz="900" dirty="0" smtClean="0">
                <a:latin typeface="+mn-ea"/>
                <a:ea typeface="+mn-ea"/>
              </a:rPr>
              <a:t>WMS </a:t>
            </a:r>
            <a:r>
              <a:rPr lang="ko-KR" altLang="en-US" sz="900" dirty="0" smtClean="0">
                <a:latin typeface="+mn-ea"/>
                <a:ea typeface="+mn-ea"/>
              </a:rPr>
              <a:t>입고내역 등록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69" name="Rectangle 71"/>
          <p:cNvSpPr>
            <a:spLocks noChangeArrowheads="1"/>
          </p:cNvSpPr>
          <p:nvPr/>
        </p:nvSpPr>
        <p:spPr bwMode="gray">
          <a:xfrm>
            <a:off x="6102450" y="1581024"/>
            <a:ext cx="1214438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WMS</a:t>
            </a:r>
            <a:r>
              <a:rPr lang="ko-KR" altLang="en-US" sz="900" dirty="0" smtClean="0">
                <a:latin typeface="+mn-ea"/>
                <a:ea typeface="+mn-ea"/>
              </a:rPr>
              <a:t>입고실적 등록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70" name="AutoShape 72"/>
          <p:cNvCxnSpPr>
            <a:cxnSpLocks noChangeShapeType="1"/>
            <a:stCxn id="291" idx="4"/>
            <a:endCxn id="169" idx="1"/>
          </p:cNvCxnSpPr>
          <p:nvPr/>
        </p:nvCxnSpPr>
        <p:spPr bwMode="gray">
          <a:xfrm flipV="1">
            <a:off x="5474201" y="1700087"/>
            <a:ext cx="628249" cy="3295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1" name="Text Box 73"/>
          <p:cNvSpPr txBox="1">
            <a:spLocks noChangeArrowheads="1"/>
          </p:cNvSpPr>
          <p:nvPr/>
        </p:nvSpPr>
        <p:spPr bwMode="gray">
          <a:xfrm>
            <a:off x="6824731" y="1081280"/>
            <a:ext cx="64135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0000CC"/>
                </a:solidFill>
                <a:latin typeface="+mn-ea"/>
                <a:ea typeface="+mn-ea"/>
              </a:rPr>
              <a:t>물류센터</a:t>
            </a:r>
          </a:p>
        </p:txBody>
      </p:sp>
      <p:grpSp>
        <p:nvGrpSpPr>
          <p:cNvPr id="172" name="Group 74"/>
          <p:cNvGrpSpPr>
            <a:grpSpLocks/>
          </p:cNvGrpSpPr>
          <p:nvPr/>
        </p:nvGrpSpPr>
        <p:grpSpPr bwMode="auto">
          <a:xfrm>
            <a:off x="6645344" y="998730"/>
            <a:ext cx="236537" cy="285750"/>
            <a:chOff x="395" y="2124"/>
            <a:chExt cx="209" cy="318"/>
          </a:xfrm>
          <a:noFill/>
        </p:grpSpPr>
        <p:grpSp>
          <p:nvGrpSpPr>
            <p:cNvPr id="173" name="Group 75"/>
            <p:cNvGrpSpPr>
              <a:grpSpLocks/>
            </p:cNvGrpSpPr>
            <p:nvPr/>
          </p:nvGrpSpPr>
          <p:grpSpPr bwMode="auto">
            <a:xfrm>
              <a:off x="420" y="2124"/>
              <a:ext cx="184" cy="318"/>
              <a:chOff x="282" y="3570"/>
              <a:chExt cx="240" cy="474"/>
            </a:xfrm>
            <a:grpFill/>
          </p:grpSpPr>
          <p:sp>
            <p:nvSpPr>
              <p:cNvPr id="186" name="Oval 76"/>
              <p:cNvSpPr>
                <a:spLocks noChangeArrowheads="1"/>
              </p:cNvSpPr>
              <p:nvPr/>
            </p:nvSpPr>
            <p:spPr bwMode="gray">
              <a:xfrm>
                <a:off x="330" y="3570"/>
                <a:ext cx="132" cy="13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7" name="Line 77"/>
              <p:cNvSpPr>
                <a:spLocks noChangeShapeType="1"/>
              </p:cNvSpPr>
              <p:nvPr/>
            </p:nvSpPr>
            <p:spPr bwMode="gray">
              <a:xfrm>
                <a:off x="282" y="3792"/>
                <a:ext cx="24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8" name="Line 78"/>
              <p:cNvSpPr>
                <a:spLocks noChangeShapeType="1"/>
              </p:cNvSpPr>
              <p:nvPr/>
            </p:nvSpPr>
            <p:spPr bwMode="gray">
              <a:xfrm>
                <a:off x="396" y="3708"/>
                <a:ext cx="0" cy="1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9" name="Line 79"/>
              <p:cNvSpPr>
                <a:spLocks noChangeShapeType="1"/>
              </p:cNvSpPr>
              <p:nvPr/>
            </p:nvSpPr>
            <p:spPr bwMode="gray">
              <a:xfrm flipH="1">
                <a:off x="288" y="3906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90" name="Line 80"/>
              <p:cNvSpPr>
                <a:spLocks noChangeShapeType="1"/>
              </p:cNvSpPr>
              <p:nvPr/>
            </p:nvSpPr>
            <p:spPr bwMode="gray">
              <a:xfrm>
                <a:off x="400" y="3904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4" name="Group 81"/>
            <p:cNvGrpSpPr>
              <a:grpSpLocks/>
            </p:cNvGrpSpPr>
            <p:nvPr/>
          </p:nvGrpSpPr>
          <p:grpSpPr bwMode="auto">
            <a:xfrm>
              <a:off x="395" y="2180"/>
              <a:ext cx="45" cy="127"/>
              <a:chOff x="2597" y="1682"/>
              <a:chExt cx="183" cy="403"/>
            </a:xfrm>
            <a:grpFill/>
          </p:grpSpPr>
          <p:sp>
            <p:nvSpPr>
              <p:cNvPr id="182" name="Freeform 82"/>
              <p:cNvSpPr>
                <a:spLocks/>
              </p:cNvSpPr>
              <p:nvPr/>
            </p:nvSpPr>
            <p:spPr bwMode="auto">
              <a:xfrm>
                <a:off x="2632" y="1739"/>
                <a:ext cx="84" cy="62"/>
              </a:xfrm>
              <a:custGeom>
                <a:avLst/>
                <a:gdLst>
                  <a:gd name="T0" fmla="*/ 45 w 169"/>
                  <a:gd name="T1" fmla="*/ 0 h 124"/>
                  <a:gd name="T2" fmla="*/ 0 w 169"/>
                  <a:gd name="T3" fmla="*/ 57 h 124"/>
                  <a:gd name="T4" fmla="*/ 34 w 169"/>
                  <a:gd name="T5" fmla="*/ 124 h 124"/>
                  <a:gd name="T6" fmla="*/ 78 w 169"/>
                  <a:gd name="T7" fmla="*/ 103 h 124"/>
                  <a:gd name="T8" fmla="*/ 102 w 169"/>
                  <a:gd name="T9" fmla="*/ 57 h 124"/>
                  <a:gd name="T10" fmla="*/ 169 w 169"/>
                  <a:gd name="T11" fmla="*/ 46 h 124"/>
                  <a:gd name="T12" fmla="*/ 91 w 169"/>
                  <a:gd name="T13" fmla="*/ 0 h 124"/>
                  <a:gd name="T14" fmla="*/ 45 w 169"/>
                  <a:gd name="T15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24">
                    <a:moveTo>
                      <a:pt x="45" y="0"/>
                    </a:moveTo>
                    <a:lnTo>
                      <a:pt x="0" y="57"/>
                    </a:lnTo>
                    <a:lnTo>
                      <a:pt x="34" y="124"/>
                    </a:lnTo>
                    <a:lnTo>
                      <a:pt x="78" y="103"/>
                    </a:lnTo>
                    <a:lnTo>
                      <a:pt x="102" y="57"/>
                    </a:lnTo>
                    <a:lnTo>
                      <a:pt x="169" y="46"/>
                    </a:lnTo>
                    <a:lnTo>
                      <a:pt x="91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3" name="Freeform 83"/>
              <p:cNvSpPr>
                <a:spLocks/>
              </p:cNvSpPr>
              <p:nvPr/>
            </p:nvSpPr>
            <p:spPr bwMode="auto">
              <a:xfrm rot="20633656" flipV="1">
                <a:off x="2711" y="1790"/>
                <a:ext cx="69" cy="295"/>
              </a:xfrm>
              <a:custGeom>
                <a:avLst/>
                <a:gdLst>
                  <a:gd name="T0" fmla="*/ 103 w 149"/>
                  <a:gd name="T1" fmla="*/ 0 h 194"/>
                  <a:gd name="T2" fmla="*/ 149 w 149"/>
                  <a:gd name="T3" fmla="*/ 23 h 194"/>
                  <a:gd name="T4" fmla="*/ 126 w 149"/>
                  <a:gd name="T5" fmla="*/ 49 h 194"/>
                  <a:gd name="T6" fmla="*/ 111 w 149"/>
                  <a:gd name="T7" fmla="*/ 71 h 194"/>
                  <a:gd name="T8" fmla="*/ 99 w 149"/>
                  <a:gd name="T9" fmla="*/ 88 h 194"/>
                  <a:gd name="T10" fmla="*/ 89 w 149"/>
                  <a:gd name="T11" fmla="*/ 103 h 194"/>
                  <a:gd name="T12" fmla="*/ 82 w 149"/>
                  <a:gd name="T13" fmla="*/ 120 h 194"/>
                  <a:gd name="T14" fmla="*/ 75 w 149"/>
                  <a:gd name="T15" fmla="*/ 138 h 194"/>
                  <a:gd name="T16" fmla="*/ 68 w 149"/>
                  <a:gd name="T17" fmla="*/ 163 h 194"/>
                  <a:gd name="T18" fmla="*/ 57 w 149"/>
                  <a:gd name="T19" fmla="*/ 194 h 194"/>
                  <a:gd name="T20" fmla="*/ 0 w 149"/>
                  <a:gd name="T21" fmla="*/ 194 h 194"/>
                  <a:gd name="T22" fmla="*/ 9 w 149"/>
                  <a:gd name="T23" fmla="*/ 168 h 194"/>
                  <a:gd name="T24" fmla="*/ 20 w 149"/>
                  <a:gd name="T25" fmla="*/ 143 h 194"/>
                  <a:gd name="T26" fmla="*/ 31 w 149"/>
                  <a:gd name="T27" fmla="*/ 118 h 194"/>
                  <a:gd name="T28" fmla="*/ 45 w 149"/>
                  <a:gd name="T29" fmla="*/ 94 h 194"/>
                  <a:gd name="T30" fmla="*/ 59 w 149"/>
                  <a:gd name="T31" fmla="*/ 69 h 194"/>
                  <a:gd name="T32" fmla="*/ 72 w 149"/>
                  <a:gd name="T33" fmla="*/ 46 h 194"/>
                  <a:gd name="T34" fmla="*/ 88 w 149"/>
                  <a:gd name="T35" fmla="*/ 23 h 194"/>
                  <a:gd name="T36" fmla="*/ 103 w 149"/>
                  <a:gd name="T3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94">
                    <a:moveTo>
                      <a:pt x="103" y="0"/>
                    </a:moveTo>
                    <a:lnTo>
                      <a:pt x="149" y="23"/>
                    </a:lnTo>
                    <a:lnTo>
                      <a:pt x="126" y="49"/>
                    </a:lnTo>
                    <a:lnTo>
                      <a:pt x="111" y="71"/>
                    </a:lnTo>
                    <a:lnTo>
                      <a:pt x="99" y="88"/>
                    </a:lnTo>
                    <a:lnTo>
                      <a:pt x="89" y="103"/>
                    </a:lnTo>
                    <a:lnTo>
                      <a:pt x="82" y="120"/>
                    </a:lnTo>
                    <a:lnTo>
                      <a:pt x="75" y="138"/>
                    </a:lnTo>
                    <a:lnTo>
                      <a:pt x="68" y="163"/>
                    </a:lnTo>
                    <a:lnTo>
                      <a:pt x="57" y="194"/>
                    </a:lnTo>
                    <a:lnTo>
                      <a:pt x="0" y="194"/>
                    </a:lnTo>
                    <a:lnTo>
                      <a:pt x="9" y="168"/>
                    </a:lnTo>
                    <a:lnTo>
                      <a:pt x="20" y="143"/>
                    </a:lnTo>
                    <a:lnTo>
                      <a:pt x="31" y="118"/>
                    </a:lnTo>
                    <a:lnTo>
                      <a:pt x="45" y="94"/>
                    </a:lnTo>
                    <a:lnTo>
                      <a:pt x="59" y="69"/>
                    </a:lnTo>
                    <a:lnTo>
                      <a:pt x="72" y="46"/>
                    </a:lnTo>
                    <a:lnTo>
                      <a:pt x="88" y="23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4" name="Freeform 84"/>
              <p:cNvSpPr>
                <a:spLocks/>
              </p:cNvSpPr>
              <p:nvPr/>
            </p:nvSpPr>
            <p:spPr bwMode="auto">
              <a:xfrm>
                <a:off x="2683" y="1704"/>
                <a:ext cx="79" cy="109"/>
              </a:xfrm>
              <a:custGeom>
                <a:avLst/>
                <a:gdLst>
                  <a:gd name="T0" fmla="*/ 0 w 158"/>
                  <a:gd name="T1" fmla="*/ 138 h 216"/>
                  <a:gd name="T2" fmla="*/ 0 w 158"/>
                  <a:gd name="T3" fmla="*/ 195 h 216"/>
                  <a:gd name="T4" fmla="*/ 91 w 158"/>
                  <a:gd name="T5" fmla="*/ 216 h 216"/>
                  <a:gd name="T6" fmla="*/ 158 w 158"/>
                  <a:gd name="T7" fmla="*/ 183 h 216"/>
                  <a:gd name="T8" fmla="*/ 148 w 158"/>
                  <a:gd name="T9" fmla="*/ 103 h 216"/>
                  <a:gd name="T10" fmla="*/ 126 w 158"/>
                  <a:gd name="T11" fmla="*/ 81 h 216"/>
                  <a:gd name="T12" fmla="*/ 111 w 158"/>
                  <a:gd name="T13" fmla="*/ 66 h 216"/>
                  <a:gd name="T14" fmla="*/ 98 w 158"/>
                  <a:gd name="T15" fmla="*/ 53 h 216"/>
                  <a:gd name="T16" fmla="*/ 88 w 158"/>
                  <a:gd name="T17" fmla="*/ 44 h 216"/>
                  <a:gd name="T18" fmla="*/ 74 w 158"/>
                  <a:gd name="T19" fmla="*/ 35 h 216"/>
                  <a:gd name="T20" fmla="*/ 57 w 158"/>
                  <a:gd name="T21" fmla="*/ 26 h 216"/>
                  <a:gd name="T22" fmla="*/ 32 w 158"/>
                  <a:gd name="T23" fmla="*/ 14 h 216"/>
                  <a:gd name="T24" fmla="*/ 0 w 158"/>
                  <a:gd name="T25" fmla="*/ 0 h 216"/>
                  <a:gd name="T26" fmla="*/ 0 w 158"/>
                  <a:gd name="T27" fmla="*/ 64 h 216"/>
                  <a:gd name="T28" fmla="*/ 17 w 158"/>
                  <a:gd name="T29" fmla="*/ 72 h 216"/>
                  <a:gd name="T30" fmla="*/ 34 w 158"/>
                  <a:gd name="T31" fmla="*/ 81 h 216"/>
                  <a:gd name="T32" fmla="*/ 48 w 158"/>
                  <a:gd name="T33" fmla="*/ 92 h 216"/>
                  <a:gd name="T34" fmla="*/ 61 w 158"/>
                  <a:gd name="T35" fmla="*/ 103 h 216"/>
                  <a:gd name="T36" fmla="*/ 74 w 158"/>
                  <a:gd name="T37" fmla="*/ 116 h 216"/>
                  <a:gd name="T38" fmla="*/ 85 w 158"/>
                  <a:gd name="T39" fmla="*/ 130 h 216"/>
                  <a:gd name="T40" fmla="*/ 94 w 158"/>
                  <a:gd name="T41" fmla="*/ 144 h 216"/>
                  <a:gd name="T42" fmla="*/ 103 w 158"/>
                  <a:gd name="T43" fmla="*/ 159 h 216"/>
                  <a:gd name="T44" fmla="*/ 91 w 158"/>
                  <a:gd name="T45" fmla="*/ 161 h 216"/>
                  <a:gd name="T46" fmla="*/ 77 w 158"/>
                  <a:gd name="T47" fmla="*/ 161 h 216"/>
                  <a:gd name="T48" fmla="*/ 63 w 158"/>
                  <a:gd name="T49" fmla="*/ 161 h 216"/>
                  <a:gd name="T50" fmla="*/ 49 w 158"/>
                  <a:gd name="T51" fmla="*/ 158 h 216"/>
                  <a:gd name="T52" fmla="*/ 35 w 158"/>
                  <a:gd name="T53" fmla="*/ 155 h 216"/>
                  <a:gd name="T54" fmla="*/ 23 w 158"/>
                  <a:gd name="T55" fmla="*/ 150 h 216"/>
                  <a:gd name="T56" fmla="*/ 11 w 158"/>
                  <a:gd name="T57" fmla="*/ 144 h 216"/>
                  <a:gd name="T58" fmla="*/ 0 w 158"/>
                  <a:gd name="T59" fmla="*/ 13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8" h="216">
                    <a:moveTo>
                      <a:pt x="0" y="138"/>
                    </a:moveTo>
                    <a:lnTo>
                      <a:pt x="0" y="195"/>
                    </a:lnTo>
                    <a:lnTo>
                      <a:pt x="91" y="216"/>
                    </a:lnTo>
                    <a:lnTo>
                      <a:pt x="158" y="183"/>
                    </a:lnTo>
                    <a:lnTo>
                      <a:pt x="148" y="103"/>
                    </a:lnTo>
                    <a:lnTo>
                      <a:pt x="126" y="81"/>
                    </a:lnTo>
                    <a:lnTo>
                      <a:pt x="111" y="66"/>
                    </a:lnTo>
                    <a:lnTo>
                      <a:pt x="98" y="53"/>
                    </a:lnTo>
                    <a:lnTo>
                      <a:pt x="88" y="44"/>
                    </a:lnTo>
                    <a:lnTo>
                      <a:pt x="74" y="35"/>
                    </a:lnTo>
                    <a:lnTo>
                      <a:pt x="57" y="26"/>
                    </a:lnTo>
                    <a:lnTo>
                      <a:pt x="32" y="14"/>
                    </a:lnTo>
                    <a:lnTo>
                      <a:pt x="0" y="0"/>
                    </a:lnTo>
                    <a:lnTo>
                      <a:pt x="0" y="64"/>
                    </a:lnTo>
                    <a:lnTo>
                      <a:pt x="17" y="72"/>
                    </a:lnTo>
                    <a:lnTo>
                      <a:pt x="34" y="81"/>
                    </a:lnTo>
                    <a:lnTo>
                      <a:pt x="48" y="92"/>
                    </a:lnTo>
                    <a:lnTo>
                      <a:pt x="61" y="103"/>
                    </a:lnTo>
                    <a:lnTo>
                      <a:pt x="74" y="116"/>
                    </a:lnTo>
                    <a:lnTo>
                      <a:pt x="85" y="130"/>
                    </a:lnTo>
                    <a:lnTo>
                      <a:pt x="94" y="144"/>
                    </a:lnTo>
                    <a:lnTo>
                      <a:pt x="103" y="159"/>
                    </a:lnTo>
                    <a:lnTo>
                      <a:pt x="91" y="161"/>
                    </a:lnTo>
                    <a:lnTo>
                      <a:pt x="77" y="161"/>
                    </a:lnTo>
                    <a:lnTo>
                      <a:pt x="63" y="161"/>
                    </a:lnTo>
                    <a:lnTo>
                      <a:pt x="49" y="158"/>
                    </a:lnTo>
                    <a:lnTo>
                      <a:pt x="35" y="155"/>
                    </a:lnTo>
                    <a:lnTo>
                      <a:pt x="23" y="150"/>
                    </a:lnTo>
                    <a:lnTo>
                      <a:pt x="11" y="144"/>
                    </a:lnTo>
                    <a:lnTo>
                      <a:pt x="0" y="1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5" name="Freeform 85"/>
              <p:cNvSpPr>
                <a:spLocks/>
              </p:cNvSpPr>
              <p:nvPr/>
            </p:nvSpPr>
            <p:spPr bwMode="auto">
              <a:xfrm>
                <a:off x="2597" y="1682"/>
                <a:ext cx="87" cy="154"/>
              </a:xfrm>
              <a:custGeom>
                <a:avLst/>
                <a:gdLst>
                  <a:gd name="T0" fmla="*/ 172 w 174"/>
                  <a:gd name="T1" fmla="*/ 109 h 307"/>
                  <a:gd name="T2" fmla="*/ 172 w 174"/>
                  <a:gd name="T3" fmla="*/ 45 h 307"/>
                  <a:gd name="T4" fmla="*/ 158 w 174"/>
                  <a:gd name="T5" fmla="*/ 40 h 307"/>
                  <a:gd name="T6" fmla="*/ 146 w 174"/>
                  <a:gd name="T7" fmla="*/ 35 h 307"/>
                  <a:gd name="T8" fmla="*/ 132 w 174"/>
                  <a:gd name="T9" fmla="*/ 31 h 307"/>
                  <a:gd name="T10" fmla="*/ 120 w 174"/>
                  <a:gd name="T11" fmla="*/ 25 h 307"/>
                  <a:gd name="T12" fmla="*/ 108 w 174"/>
                  <a:gd name="T13" fmla="*/ 19 h 307"/>
                  <a:gd name="T14" fmla="*/ 95 w 174"/>
                  <a:gd name="T15" fmla="*/ 12 h 307"/>
                  <a:gd name="T16" fmla="*/ 81 w 174"/>
                  <a:gd name="T17" fmla="*/ 6 h 307"/>
                  <a:gd name="T18" fmla="*/ 69 w 174"/>
                  <a:gd name="T19" fmla="*/ 0 h 307"/>
                  <a:gd name="T20" fmla="*/ 0 w 174"/>
                  <a:gd name="T21" fmla="*/ 217 h 307"/>
                  <a:gd name="T22" fmla="*/ 5 w 174"/>
                  <a:gd name="T23" fmla="*/ 231 h 307"/>
                  <a:gd name="T24" fmla="*/ 12 w 174"/>
                  <a:gd name="T25" fmla="*/ 244 h 307"/>
                  <a:gd name="T26" fmla="*/ 22 w 174"/>
                  <a:gd name="T27" fmla="*/ 258 h 307"/>
                  <a:gd name="T28" fmla="*/ 31 w 174"/>
                  <a:gd name="T29" fmla="*/ 271 h 307"/>
                  <a:gd name="T30" fmla="*/ 43 w 174"/>
                  <a:gd name="T31" fmla="*/ 281 h 307"/>
                  <a:gd name="T32" fmla="*/ 55 w 174"/>
                  <a:gd name="T33" fmla="*/ 292 h 307"/>
                  <a:gd name="T34" fmla="*/ 68 w 174"/>
                  <a:gd name="T35" fmla="*/ 300 h 307"/>
                  <a:gd name="T36" fmla="*/ 80 w 174"/>
                  <a:gd name="T37" fmla="*/ 307 h 307"/>
                  <a:gd name="T38" fmla="*/ 147 w 174"/>
                  <a:gd name="T39" fmla="*/ 286 h 307"/>
                  <a:gd name="T40" fmla="*/ 160 w 174"/>
                  <a:gd name="T41" fmla="*/ 264 h 307"/>
                  <a:gd name="T42" fmla="*/ 169 w 174"/>
                  <a:gd name="T43" fmla="*/ 237 h 307"/>
                  <a:gd name="T44" fmla="*/ 174 w 174"/>
                  <a:gd name="T45" fmla="*/ 209 h 307"/>
                  <a:gd name="T46" fmla="*/ 172 w 174"/>
                  <a:gd name="T47" fmla="*/ 183 h 307"/>
                  <a:gd name="T48" fmla="*/ 166 w 174"/>
                  <a:gd name="T49" fmla="*/ 192 h 307"/>
                  <a:gd name="T50" fmla="*/ 161 w 174"/>
                  <a:gd name="T51" fmla="*/ 201 h 307"/>
                  <a:gd name="T52" fmla="*/ 155 w 174"/>
                  <a:gd name="T53" fmla="*/ 212 h 307"/>
                  <a:gd name="T54" fmla="*/ 147 w 174"/>
                  <a:gd name="T55" fmla="*/ 221 h 307"/>
                  <a:gd name="T56" fmla="*/ 140 w 174"/>
                  <a:gd name="T57" fmla="*/ 231 h 307"/>
                  <a:gd name="T58" fmla="*/ 132 w 174"/>
                  <a:gd name="T59" fmla="*/ 240 h 307"/>
                  <a:gd name="T60" fmla="*/ 123 w 174"/>
                  <a:gd name="T61" fmla="*/ 246 h 307"/>
                  <a:gd name="T62" fmla="*/ 114 w 174"/>
                  <a:gd name="T63" fmla="*/ 251 h 307"/>
                  <a:gd name="T64" fmla="*/ 69 w 174"/>
                  <a:gd name="T65" fmla="*/ 228 h 307"/>
                  <a:gd name="T66" fmla="*/ 75 w 174"/>
                  <a:gd name="T67" fmla="*/ 191 h 307"/>
                  <a:gd name="T68" fmla="*/ 84 w 174"/>
                  <a:gd name="T69" fmla="*/ 154 h 307"/>
                  <a:gd name="T70" fmla="*/ 92 w 174"/>
                  <a:gd name="T71" fmla="*/ 117 h 307"/>
                  <a:gd name="T72" fmla="*/ 103 w 174"/>
                  <a:gd name="T73" fmla="*/ 80 h 307"/>
                  <a:gd name="T74" fmla="*/ 172 w 174"/>
                  <a:gd name="T75" fmla="*/ 10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4" h="307">
                    <a:moveTo>
                      <a:pt x="172" y="109"/>
                    </a:moveTo>
                    <a:lnTo>
                      <a:pt x="172" y="45"/>
                    </a:lnTo>
                    <a:lnTo>
                      <a:pt x="158" y="40"/>
                    </a:lnTo>
                    <a:lnTo>
                      <a:pt x="146" y="35"/>
                    </a:lnTo>
                    <a:lnTo>
                      <a:pt x="132" y="31"/>
                    </a:lnTo>
                    <a:lnTo>
                      <a:pt x="120" y="25"/>
                    </a:lnTo>
                    <a:lnTo>
                      <a:pt x="108" y="19"/>
                    </a:lnTo>
                    <a:lnTo>
                      <a:pt x="95" y="12"/>
                    </a:lnTo>
                    <a:lnTo>
                      <a:pt x="81" y="6"/>
                    </a:lnTo>
                    <a:lnTo>
                      <a:pt x="69" y="0"/>
                    </a:lnTo>
                    <a:lnTo>
                      <a:pt x="0" y="217"/>
                    </a:lnTo>
                    <a:lnTo>
                      <a:pt x="5" y="231"/>
                    </a:lnTo>
                    <a:lnTo>
                      <a:pt x="12" y="244"/>
                    </a:lnTo>
                    <a:lnTo>
                      <a:pt x="22" y="258"/>
                    </a:lnTo>
                    <a:lnTo>
                      <a:pt x="31" y="271"/>
                    </a:lnTo>
                    <a:lnTo>
                      <a:pt x="43" y="281"/>
                    </a:lnTo>
                    <a:lnTo>
                      <a:pt x="55" y="292"/>
                    </a:lnTo>
                    <a:lnTo>
                      <a:pt x="68" y="300"/>
                    </a:lnTo>
                    <a:lnTo>
                      <a:pt x="80" y="307"/>
                    </a:lnTo>
                    <a:lnTo>
                      <a:pt x="147" y="286"/>
                    </a:lnTo>
                    <a:lnTo>
                      <a:pt x="160" y="264"/>
                    </a:lnTo>
                    <a:lnTo>
                      <a:pt x="169" y="237"/>
                    </a:lnTo>
                    <a:lnTo>
                      <a:pt x="174" y="209"/>
                    </a:lnTo>
                    <a:lnTo>
                      <a:pt x="172" y="183"/>
                    </a:lnTo>
                    <a:lnTo>
                      <a:pt x="166" y="192"/>
                    </a:lnTo>
                    <a:lnTo>
                      <a:pt x="161" y="201"/>
                    </a:lnTo>
                    <a:lnTo>
                      <a:pt x="155" y="212"/>
                    </a:lnTo>
                    <a:lnTo>
                      <a:pt x="147" y="221"/>
                    </a:lnTo>
                    <a:lnTo>
                      <a:pt x="140" y="231"/>
                    </a:lnTo>
                    <a:lnTo>
                      <a:pt x="132" y="240"/>
                    </a:lnTo>
                    <a:lnTo>
                      <a:pt x="123" y="246"/>
                    </a:lnTo>
                    <a:lnTo>
                      <a:pt x="114" y="251"/>
                    </a:lnTo>
                    <a:lnTo>
                      <a:pt x="69" y="228"/>
                    </a:lnTo>
                    <a:lnTo>
                      <a:pt x="75" y="191"/>
                    </a:lnTo>
                    <a:lnTo>
                      <a:pt x="84" y="154"/>
                    </a:lnTo>
                    <a:lnTo>
                      <a:pt x="92" y="117"/>
                    </a:lnTo>
                    <a:lnTo>
                      <a:pt x="103" y="80"/>
                    </a:lnTo>
                    <a:lnTo>
                      <a:pt x="17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5" name="Group 86"/>
            <p:cNvGrpSpPr>
              <a:grpSpLocks/>
            </p:cNvGrpSpPr>
            <p:nvPr/>
          </p:nvGrpSpPr>
          <p:grpSpPr bwMode="auto">
            <a:xfrm>
              <a:off x="511" y="2203"/>
              <a:ext cx="77" cy="62"/>
              <a:chOff x="3235" y="1597"/>
              <a:chExt cx="263" cy="200"/>
            </a:xfrm>
            <a:grpFill/>
          </p:grpSpPr>
          <p:sp>
            <p:nvSpPr>
              <p:cNvPr id="179" name="Freeform 87"/>
              <p:cNvSpPr>
                <a:spLocks/>
              </p:cNvSpPr>
              <p:nvPr/>
            </p:nvSpPr>
            <p:spPr bwMode="auto">
              <a:xfrm>
                <a:off x="3321" y="1647"/>
                <a:ext cx="114" cy="75"/>
              </a:xfrm>
              <a:custGeom>
                <a:avLst/>
                <a:gdLst>
                  <a:gd name="T0" fmla="*/ 0 w 229"/>
                  <a:gd name="T1" fmla="*/ 115 h 149"/>
                  <a:gd name="T2" fmla="*/ 81 w 229"/>
                  <a:gd name="T3" fmla="*/ 104 h 149"/>
                  <a:gd name="T4" fmla="*/ 115 w 229"/>
                  <a:gd name="T5" fmla="*/ 25 h 149"/>
                  <a:gd name="T6" fmla="*/ 160 w 229"/>
                  <a:gd name="T7" fmla="*/ 35 h 149"/>
                  <a:gd name="T8" fmla="*/ 195 w 229"/>
                  <a:gd name="T9" fmla="*/ 0 h 149"/>
                  <a:gd name="T10" fmla="*/ 229 w 229"/>
                  <a:gd name="T11" fmla="*/ 25 h 149"/>
                  <a:gd name="T12" fmla="*/ 172 w 229"/>
                  <a:gd name="T13" fmla="*/ 92 h 149"/>
                  <a:gd name="T14" fmla="*/ 126 w 229"/>
                  <a:gd name="T15" fmla="*/ 81 h 149"/>
                  <a:gd name="T16" fmla="*/ 115 w 229"/>
                  <a:gd name="T17" fmla="*/ 126 h 149"/>
                  <a:gd name="T18" fmla="*/ 25 w 229"/>
                  <a:gd name="T19" fmla="*/ 149 h 149"/>
                  <a:gd name="T20" fmla="*/ 0 w 229"/>
                  <a:gd name="T21" fmla="*/ 11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49">
                    <a:moveTo>
                      <a:pt x="0" y="115"/>
                    </a:moveTo>
                    <a:lnTo>
                      <a:pt x="81" y="104"/>
                    </a:lnTo>
                    <a:lnTo>
                      <a:pt x="115" y="25"/>
                    </a:lnTo>
                    <a:lnTo>
                      <a:pt x="160" y="35"/>
                    </a:lnTo>
                    <a:lnTo>
                      <a:pt x="195" y="0"/>
                    </a:lnTo>
                    <a:lnTo>
                      <a:pt x="229" y="25"/>
                    </a:lnTo>
                    <a:lnTo>
                      <a:pt x="172" y="92"/>
                    </a:lnTo>
                    <a:lnTo>
                      <a:pt x="126" y="81"/>
                    </a:lnTo>
                    <a:lnTo>
                      <a:pt x="115" y="126"/>
                    </a:lnTo>
                    <a:lnTo>
                      <a:pt x="25" y="149"/>
                    </a:lnTo>
                    <a:lnTo>
                      <a:pt x="0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0" name="Freeform 88"/>
              <p:cNvSpPr>
                <a:spLocks/>
              </p:cNvSpPr>
              <p:nvPr/>
            </p:nvSpPr>
            <p:spPr bwMode="auto">
              <a:xfrm>
                <a:off x="3370" y="1597"/>
                <a:ext cx="128" cy="167"/>
              </a:xfrm>
              <a:custGeom>
                <a:avLst/>
                <a:gdLst>
                  <a:gd name="T0" fmla="*/ 0 w 257"/>
                  <a:gd name="T1" fmla="*/ 273 h 333"/>
                  <a:gd name="T2" fmla="*/ 0 w 257"/>
                  <a:gd name="T3" fmla="*/ 333 h 333"/>
                  <a:gd name="T4" fmla="*/ 7 w 257"/>
                  <a:gd name="T5" fmla="*/ 318 h 333"/>
                  <a:gd name="T6" fmla="*/ 119 w 257"/>
                  <a:gd name="T7" fmla="*/ 307 h 333"/>
                  <a:gd name="T8" fmla="*/ 131 w 257"/>
                  <a:gd name="T9" fmla="*/ 239 h 333"/>
                  <a:gd name="T10" fmla="*/ 223 w 257"/>
                  <a:gd name="T11" fmla="*/ 227 h 333"/>
                  <a:gd name="T12" fmla="*/ 257 w 257"/>
                  <a:gd name="T13" fmla="*/ 149 h 333"/>
                  <a:gd name="T14" fmla="*/ 211 w 257"/>
                  <a:gd name="T15" fmla="*/ 33 h 333"/>
                  <a:gd name="T16" fmla="*/ 189 w 257"/>
                  <a:gd name="T17" fmla="*/ 21 h 333"/>
                  <a:gd name="T18" fmla="*/ 163 w 257"/>
                  <a:gd name="T19" fmla="*/ 12 h 333"/>
                  <a:gd name="T20" fmla="*/ 136 w 257"/>
                  <a:gd name="T21" fmla="*/ 4 h 333"/>
                  <a:gd name="T22" fmla="*/ 108 w 257"/>
                  <a:gd name="T23" fmla="*/ 0 h 333"/>
                  <a:gd name="T24" fmla="*/ 79 w 257"/>
                  <a:gd name="T25" fmla="*/ 0 h 333"/>
                  <a:gd name="T26" fmla="*/ 50 w 257"/>
                  <a:gd name="T27" fmla="*/ 1 h 333"/>
                  <a:gd name="T28" fmla="*/ 23 w 257"/>
                  <a:gd name="T29" fmla="*/ 7 h 333"/>
                  <a:gd name="T30" fmla="*/ 0 w 257"/>
                  <a:gd name="T31" fmla="*/ 18 h 333"/>
                  <a:gd name="T32" fmla="*/ 0 w 257"/>
                  <a:gd name="T33" fmla="*/ 70 h 333"/>
                  <a:gd name="T34" fmla="*/ 62 w 257"/>
                  <a:gd name="T35" fmla="*/ 44 h 333"/>
                  <a:gd name="T36" fmla="*/ 142 w 257"/>
                  <a:gd name="T37" fmla="*/ 56 h 333"/>
                  <a:gd name="T38" fmla="*/ 200 w 257"/>
                  <a:gd name="T39" fmla="*/ 126 h 333"/>
                  <a:gd name="T40" fmla="*/ 176 w 257"/>
                  <a:gd name="T41" fmla="*/ 182 h 333"/>
                  <a:gd name="T42" fmla="*/ 97 w 257"/>
                  <a:gd name="T43" fmla="*/ 205 h 333"/>
                  <a:gd name="T44" fmla="*/ 85 w 257"/>
                  <a:gd name="T45" fmla="*/ 273 h 333"/>
                  <a:gd name="T46" fmla="*/ 0 w 257"/>
                  <a:gd name="T47" fmla="*/ 27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7" h="333">
                    <a:moveTo>
                      <a:pt x="0" y="273"/>
                    </a:moveTo>
                    <a:lnTo>
                      <a:pt x="0" y="333"/>
                    </a:lnTo>
                    <a:lnTo>
                      <a:pt x="7" y="318"/>
                    </a:lnTo>
                    <a:lnTo>
                      <a:pt x="119" y="307"/>
                    </a:lnTo>
                    <a:lnTo>
                      <a:pt x="131" y="239"/>
                    </a:lnTo>
                    <a:lnTo>
                      <a:pt x="223" y="227"/>
                    </a:lnTo>
                    <a:lnTo>
                      <a:pt x="257" y="149"/>
                    </a:lnTo>
                    <a:lnTo>
                      <a:pt x="211" y="33"/>
                    </a:lnTo>
                    <a:lnTo>
                      <a:pt x="189" y="21"/>
                    </a:lnTo>
                    <a:lnTo>
                      <a:pt x="163" y="12"/>
                    </a:lnTo>
                    <a:lnTo>
                      <a:pt x="136" y="4"/>
                    </a:lnTo>
                    <a:lnTo>
                      <a:pt x="108" y="0"/>
                    </a:lnTo>
                    <a:lnTo>
                      <a:pt x="79" y="0"/>
                    </a:lnTo>
                    <a:lnTo>
                      <a:pt x="50" y="1"/>
                    </a:lnTo>
                    <a:lnTo>
                      <a:pt x="23" y="7"/>
                    </a:lnTo>
                    <a:lnTo>
                      <a:pt x="0" y="18"/>
                    </a:lnTo>
                    <a:lnTo>
                      <a:pt x="0" y="70"/>
                    </a:lnTo>
                    <a:lnTo>
                      <a:pt x="62" y="44"/>
                    </a:lnTo>
                    <a:lnTo>
                      <a:pt x="142" y="56"/>
                    </a:lnTo>
                    <a:lnTo>
                      <a:pt x="200" y="126"/>
                    </a:lnTo>
                    <a:lnTo>
                      <a:pt x="176" y="182"/>
                    </a:lnTo>
                    <a:lnTo>
                      <a:pt x="97" y="205"/>
                    </a:lnTo>
                    <a:lnTo>
                      <a:pt x="85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1" name="Freeform 89"/>
              <p:cNvSpPr>
                <a:spLocks/>
              </p:cNvSpPr>
              <p:nvPr/>
            </p:nvSpPr>
            <p:spPr bwMode="auto">
              <a:xfrm>
                <a:off x="3235" y="1606"/>
                <a:ext cx="135" cy="191"/>
              </a:xfrm>
              <a:custGeom>
                <a:avLst/>
                <a:gdLst>
                  <a:gd name="T0" fmla="*/ 268 w 270"/>
                  <a:gd name="T1" fmla="*/ 52 h 383"/>
                  <a:gd name="T2" fmla="*/ 268 w 270"/>
                  <a:gd name="T3" fmla="*/ 0 h 383"/>
                  <a:gd name="T4" fmla="*/ 244 w 270"/>
                  <a:gd name="T5" fmla="*/ 3 h 383"/>
                  <a:gd name="T6" fmla="*/ 219 w 270"/>
                  <a:gd name="T7" fmla="*/ 12 h 383"/>
                  <a:gd name="T8" fmla="*/ 195 w 270"/>
                  <a:gd name="T9" fmla="*/ 26 h 383"/>
                  <a:gd name="T10" fmla="*/ 172 w 270"/>
                  <a:gd name="T11" fmla="*/ 45 h 383"/>
                  <a:gd name="T12" fmla="*/ 149 w 270"/>
                  <a:gd name="T13" fmla="*/ 68 h 383"/>
                  <a:gd name="T14" fmla="*/ 129 w 270"/>
                  <a:gd name="T15" fmla="*/ 92 h 383"/>
                  <a:gd name="T16" fmla="*/ 107 w 270"/>
                  <a:gd name="T17" fmla="*/ 121 h 383"/>
                  <a:gd name="T18" fmla="*/ 89 w 270"/>
                  <a:gd name="T19" fmla="*/ 151 h 383"/>
                  <a:gd name="T20" fmla="*/ 70 w 270"/>
                  <a:gd name="T21" fmla="*/ 181 h 383"/>
                  <a:gd name="T22" fmla="*/ 55 w 270"/>
                  <a:gd name="T23" fmla="*/ 214 h 383"/>
                  <a:gd name="T24" fmla="*/ 41 w 270"/>
                  <a:gd name="T25" fmla="*/ 246 h 383"/>
                  <a:gd name="T26" fmla="*/ 27 w 270"/>
                  <a:gd name="T27" fmla="*/ 277 h 383"/>
                  <a:gd name="T28" fmla="*/ 18 w 270"/>
                  <a:gd name="T29" fmla="*/ 306 h 383"/>
                  <a:gd name="T30" fmla="*/ 9 w 270"/>
                  <a:gd name="T31" fmla="*/ 333 h 383"/>
                  <a:gd name="T32" fmla="*/ 3 w 270"/>
                  <a:gd name="T33" fmla="*/ 358 h 383"/>
                  <a:gd name="T34" fmla="*/ 0 w 270"/>
                  <a:gd name="T35" fmla="*/ 380 h 383"/>
                  <a:gd name="T36" fmla="*/ 13 w 270"/>
                  <a:gd name="T37" fmla="*/ 381 h 383"/>
                  <a:gd name="T38" fmla="*/ 27 w 270"/>
                  <a:gd name="T39" fmla="*/ 383 h 383"/>
                  <a:gd name="T40" fmla="*/ 41 w 270"/>
                  <a:gd name="T41" fmla="*/ 383 h 383"/>
                  <a:gd name="T42" fmla="*/ 56 w 270"/>
                  <a:gd name="T43" fmla="*/ 381 h 383"/>
                  <a:gd name="T44" fmla="*/ 72 w 270"/>
                  <a:gd name="T45" fmla="*/ 380 h 383"/>
                  <a:gd name="T46" fmla="*/ 89 w 270"/>
                  <a:gd name="T47" fmla="*/ 378 h 383"/>
                  <a:gd name="T48" fmla="*/ 104 w 270"/>
                  <a:gd name="T49" fmla="*/ 375 h 383"/>
                  <a:gd name="T50" fmla="*/ 121 w 270"/>
                  <a:gd name="T51" fmla="*/ 372 h 383"/>
                  <a:gd name="T52" fmla="*/ 138 w 270"/>
                  <a:gd name="T53" fmla="*/ 370 h 383"/>
                  <a:gd name="T54" fmla="*/ 155 w 270"/>
                  <a:gd name="T55" fmla="*/ 367 h 383"/>
                  <a:gd name="T56" fmla="*/ 172 w 270"/>
                  <a:gd name="T57" fmla="*/ 364 h 383"/>
                  <a:gd name="T58" fmla="*/ 187 w 270"/>
                  <a:gd name="T59" fmla="*/ 361 h 383"/>
                  <a:gd name="T60" fmla="*/ 204 w 270"/>
                  <a:gd name="T61" fmla="*/ 360 h 383"/>
                  <a:gd name="T62" fmla="*/ 221 w 270"/>
                  <a:gd name="T63" fmla="*/ 358 h 383"/>
                  <a:gd name="T64" fmla="*/ 236 w 270"/>
                  <a:gd name="T65" fmla="*/ 356 h 383"/>
                  <a:gd name="T66" fmla="*/ 251 w 270"/>
                  <a:gd name="T67" fmla="*/ 356 h 383"/>
                  <a:gd name="T68" fmla="*/ 262 w 270"/>
                  <a:gd name="T69" fmla="*/ 335 h 383"/>
                  <a:gd name="T70" fmla="*/ 268 w 270"/>
                  <a:gd name="T71" fmla="*/ 307 h 383"/>
                  <a:gd name="T72" fmla="*/ 270 w 270"/>
                  <a:gd name="T73" fmla="*/ 280 h 383"/>
                  <a:gd name="T74" fmla="*/ 268 w 270"/>
                  <a:gd name="T75" fmla="*/ 255 h 383"/>
                  <a:gd name="T76" fmla="*/ 262 w 270"/>
                  <a:gd name="T77" fmla="*/ 255 h 383"/>
                  <a:gd name="T78" fmla="*/ 239 w 270"/>
                  <a:gd name="T79" fmla="*/ 300 h 383"/>
                  <a:gd name="T80" fmla="*/ 218 w 270"/>
                  <a:gd name="T81" fmla="*/ 303 h 383"/>
                  <a:gd name="T82" fmla="*/ 196 w 270"/>
                  <a:gd name="T83" fmla="*/ 306 h 383"/>
                  <a:gd name="T84" fmla="*/ 175 w 270"/>
                  <a:gd name="T85" fmla="*/ 307 h 383"/>
                  <a:gd name="T86" fmla="*/ 155 w 270"/>
                  <a:gd name="T87" fmla="*/ 310 h 383"/>
                  <a:gd name="T88" fmla="*/ 133 w 270"/>
                  <a:gd name="T89" fmla="*/ 310 h 383"/>
                  <a:gd name="T90" fmla="*/ 112 w 270"/>
                  <a:gd name="T91" fmla="*/ 312 h 383"/>
                  <a:gd name="T92" fmla="*/ 90 w 270"/>
                  <a:gd name="T93" fmla="*/ 312 h 383"/>
                  <a:gd name="T94" fmla="*/ 69 w 270"/>
                  <a:gd name="T95" fmla="*/ 312 h 383"/>
                  <a:gd name="T96" fmla="*/ 76 w 270"/>
                  <a:gd name="T97" fmla="*/ 280 h 383"/>
                  <a:gd name="T98" fmla="*/ 92 w 270"/>
                  <a:gd name="T99" fmla="*/ 241 h 383"/>
                  <a:gd name="T100" fmla="*/ 115 w 270"/>
                  <a:gd name="T101" fmla="*/ 198 h 383"/>
                  <a:gd name="T102" fmla="*/ 141 w 270"/>
                  <a:gd name="T103" fmla="*/ 157 h 383"/>
                  <a:gd name="T104" fmla="*/ 172 w 270"/>
                  <a:gd name="T105" fmla="*/ 118 h 383"/>
                  <a:gd name="T106" fmla="*/ 204 w 270"/>
                  <a:gd name="T107" fmla="*/ 84 h 383"/>
                  <a:gd name="T108" fmla="*/ 236 w 270"/>
                  <a:gd name="T109" fmla="*/ 61 h 383"/>
                  <a:gd name="T110" fmla="*/ 268 w 270"/>
                  <a:gd name="T111" fmla="*/ 52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0" h="383">
                    <a:moveTo>
                      <a:pt x="268" y="52"/>
                    </a:moveTo>
                    <a:lnTo>
                      <a:pt x="268" y="0"/>
                    </a:lnTo>
                    <a:lnTo>
                      <a:pt x="244" y="3"/>
                    </a:lnTo>
                    <a:lnTo>
                      <a:pt x="219" y="12"/>
                    </a:lnTo>
                    <a:lnTo>
                      <a:pt x="195" y="26"/>
                    </a:lnTo>
                    <a:lnTo>
                      <a:pt x="172" y="45"/>
                    </a:lnTo>
                    <a:lnTo>
                      <a:pt x="149" y="68"/>
                    </a:lnTo>
                    <a:lnTo>
                      <a:pt x="129" y="92"/>
                    </a:lnTo>
                    <a:lnTo>
                      <a:pt x="107" y="121"/>
                    </a:lnTo>
                    <a:lnTo>
                      <a:pt x="89" y="151"/>
                    </a:lnTo>
                    <a:lnTo>
                      <a:pt x="70" y="181"/>
                    </a:lnTo>
                    <a:lnTo>
                      <a:pt x="55" y="214"/>
                    </a:lnTo>
                    <a:lnTo>
                      <a:pt x="41" y="246"/>
                    </a:lnTo>
                    <a:lnTo>
                      <a:pt x="27" y="277"/>
                    </a:lnTo>
                    <a:lnTo>
                      <a:pt x="18" y="306"/>
                    </a:lnTo>
                    <a:lnTo>
                      <a:pt x="9" y="333"/>
                    </a:lnTo>
                    <a:lnTo>
                      <a:pt x="3" y="358"/>
                    </a:lnTo>
                    <a:lnTo>
                      <a:pt x="0" y="380"/>
                    </a:lnTo>
                    <a:lnTo>
                      <a:pt x="13" y="381"/>
                    </a:lnTo>
                    <a:lnTo>
                      <a:pt x="27" y="383"/>
                    </a:lnTo>
                    <a:lnTo>
                      <a:pt x="41" y="383"/>
                    </a:lnTo>
                    <a:lnTo>
                      <a:pt x="56" y="381"/>
                    </a:lnTo>
                    <a:lnTo>
                      <a:pt x="72" y="380"/>
                    </a:lnTo>
                    <a:lnTo>
                      <a:pt x="89" y="378"/>
                    </a:lnTo>
                    <a:lnTo>
                      <a:pt x="104" y="375"/>
                    </a:lnTo>
                    <a:lnTo>
                      <a:pt x="121" y="372"/>
                    </a:lnTo>
                    <a:lnTo>
                      <a:pt x="138" y="370"/>
                    </a:lnTo>
                    <a:lnTo>
                      <a:pt x="155" y="367"/>
                    </a:lnTo>
                    <a:lnTo>
                      <a:pt x="172" y="364"/>
                    </a:lnTo>
                    <a:lnTo>
                      <a:pt x="187" y="361"/>
                    </a:lnTo>
                    <a:lnTo>
                      <a:pt x="204" y="360"/>
                    </a:lnTo>
                    <a:lnTo>
                      <a:pt x="221" y="358"/>
                    </a:lnTo>
                    <a:lnTo>
                      <a:pt x="236" y="356"/>
                    </a:lnTo>
                    <a:lnTo>
                      <a:pt x="251" y="356"/>
                    </a:lnTo>
                    <a:lnTo>
                      <a:pt x="262" y="335"/>
                    </a:lnTo>
                    <a:lnTo>
                      <a:pt x="268" y="307"/>
                    </a:lnTo>
                    <a:lnTo>
                      <a:pt x="270" y="280"/>
                    </a:lnTo>
                    <a:lnTo>
                      <a:pt x="268" y="255"/>
                    </a:lnTo>
                    <a:lnTo>
                      <a:pt x="262" y="255"/>
                    </a:lnTo>
                    <a:lnTo>
                      <a:pt x="239" y="300"/>
                    </a:lnTo>
                    <a:lnTo>
                      <a:pt x="218" y="303"/>
                    </a:lnTo>
                    <a:lnTo>
                      <a:pt x="196" y="306"/>
                    </a:lnTo>
                    <a:lnTo>
                      <a:pt x="175" y="307"/>
                    </a:lnTo>
                    <a:lnTo>
                      <a:pt x="155" y="310"/>
                    </a:lnTo>
                    <a:lnTo>
                      <a:pt x="133" y="310"/>
                    </a:lnTo>
                    <a:lnTo>
                      <a:pt x="112" y="312"/>
                    </a:lnTo>
                    <a:lnTo>
                      <a:pt x="90" y="312"/>
                    </a:lnTo>
                    <a:lnTo>
                      <a:pt x="69" y="312"/>
                    </a:lnTo>
                    <a:lnTo>
                      <a:pt x="76" y="280"/>
                    </a:lnTo>
                    <a:lnTo>
                      <a:pt x="92" y="241"/>
                    </a:lnTo>
                    <a:lnTo>
                      <a:pt x="115" y="198"/>
                    </a:lnTo>
                    <a:lnTo>
                      <a:pt x="141" y="157"/>
                    </a:lnTo>
                    <a:lnTo>
                      <a:pt x="172" y="118"/>
                    </a:lnTo>
                    <a:lnTo>
                      <a:pt x="204" y="84"/>
                    </a:lnTo>
                    <a:lnTo>
                      <a:pt x="236" y="61"/>
                    </a:lnTo>
                    <a:lnTo>
                      <a:pt x="26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6" name="Group 90"/>
            <p:cNvGrpSpPr>
              <a:grpSpLocks/>
            </p:cNvGrpSpPr>
            <p:nvPr/>
          </p:nvGrpSpPr>
          <p:grpSpPr bwMode="auto">
            <a:xfrm>
              <a:off x="456" y="2139"/>
              <a:ext cx="82" cy="28"/>
              <a:chOff x="1200" y="3160"/>
              <a:chExt cx="250" cy="98"/>
            </a:xfrm>
            <a:grpFill/>
          </p:grpSpPr>
          <p:sp>
            <p:nvSpPr>
              <p:cNvPr id="177" name="Line 91"/>
              <p:cNvSpPr>
                <a:spLocks noChangeShapeType="1"/>
              </p:cNvSpPr>
              <p:nvPr/>
            </p:nvSpPr>
            <p:spPr bwMode="gray">
              <a:xfrm>
                <a:off x="1200" y="3162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78" name="Line 92"/>
              <p:cNvSpPr>
                <a:spLocks noChangeShapeType="1"/>
              </p:cNvSpPr>
              <p:nvPr/>
            </p:nvSpPr>
            <p:spPr bwMode="gray">
              <a:xfrm flipH="1">
                <a:off x="1354" y="3160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91" name="AutoShape 93"/>
          <p:cNvSpPr>
            <a:spLocks noChangeArrowheads="1"/>
          </p:cNvSpPr>
          <p:nvPr/>
        </p:nvSpPr>
        <p:spPr bwMode="auto">
          <a:xfrm>
            <a:off x="7993645" y="2551222"/>
            <a:ext cx="739775" cy="284162"/>
          </a:xfrm>
          <a:prstGeom prst="flowChartTerminator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ko-KR" altLang="en-US" sz="900" dirty="0" smtClean="0">
                <a:latin typeface="+mn-ea"/>
                <a:ea typeface="+mn-ea"/>
              </a:rPr>
              <a:t>입고실적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ko-KR" altLang="en-US" sz="900" dirty="0" smtClean="0">
                <a:latin typeface="+mn-ea"/>
                <a:ea typeface="+mn-ea"/>
              </a:rPr>
              <a:t>생성시작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92" name="Text Box 94"/>
          <p:cNvSpPr txBox="1">
            <a:spLocks noChangeArrowheads="1"/>
          </p:cNvSpPr>
          <p:nvPr/>
        </p:nvSpPr>
        <p:spPr bwMode="gray">
          <a:xfrm>
            <a:off x="6165230" y="1307823"/>
            <a:ext cx="942975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ko-KR" sz="1000" dirty="0">
                <a:latin typeface="+mn-ea"/>
                <a:ea typeface="+mn-ea"/>
              </a:rPr>
              <a:t> </a:t>
            </a:r>
            <a:r>
              <a:rPr lang="ko-KR" altLang="en-US" sz="900" dirty="0" smtClean="0">
                <a:latin typeface="+mn-ea"/>
                <a:ea typeface="+mn-ea"/>
              </a:rPr>
              <a:t>입고제품검수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99" name="AutoShape 101"/>
          <p:cNvCxnSpPr>
            <a:cxnSpLocks noChangeShapeType="1"/>
            <a:stCxn id="169" idx="3"/>
            <a:endCxn id="276" idx="2"/>
          </p:cNvCxnSpPr>
          <p:nvPr/>
        </p:nvCxnSpPr>
        <p:spPr bwMode="gray">
          <a:xfrm flipV="1">
            <a:off x="7316888" y="1698468"/>
            <a:ext cx="765960" cy="1619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" name="Oval 108"/>
          <p:cNvSpPr>
            <a:spLocks noChangeArrowheads="1"/>
          </p:cNvSpPr>
          <p:nvPr/>
        </p:nvSpPr>
        <p:spPr bwMode="gray">
          <a:xfrm>
            <a:off x="6138377" y="3601372"/>
            <a:ext cx="628650" cy="352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900" dirty="0">
                <a:latin typeface="+mn-ea"/>
              </a:rPr>
              <a:t>ASSORT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 </a:t>
            </a:r>
            <a:endParaRPr lang="en-US" altLang="ko-KR" sz="900" dirty="0" smtClean="0">
              <a:latin typeface="+mn-ea"/>
              <a:sym typeface="Wingdings" panose="05000000000000000000" pitchFamily="2" charset="2"/>
            </a:endParaRPr>
          </a:p>
          <a:p>
            <a:pPr algn="ctr"/>
            <a:r>
              <a:rPr lang="en-US" altLang="ko-KR" sz="900" dirty="0" smtClean="0">
                <a:latin typeface="+mn-ea"/>
                <a:sym typeface="Wingdings" panose="05000000000000000000" pitchFamily="2" charset="2"/>
              </a:rPr>
              <a:t>SOLID </a:t>
            </a:r>
            <a:r>
              <a:rPr lang="ko-KR" altLang="en-US" sz="900" dirty="0" smtClean="0">
                <a:latin typeface="+mn-ea"/>
                <a:sym typeface="Wingdings" panose="05000000000000000000" pitchFamily="2" charset="2"/>
              </a:rPr>
              <a:t>수량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08" name="AutoShape 110"/>
          <p:cNvCxnSpPr>
            <a:cxnSpLocks noChangeShapeType="1"/>
            <a:stCxn id="119" idx="1"/>
            <a:endCxn id="306" idx="3"/>
          </p:cNvCxnSpPr>
          <p:nvPr/>
        </p:nvCxnSpPr>
        <p:spPr bwMode="gray">
          <a:xfrm flipH="1" flipV="1">
            <a:off x="2580419" y="3082200"/>
            <a:ext cx="1207833" cy="4637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8" name="Text Box 140"/>
          <p:cNvSpPr txBox="1">
            <a:spLocks noChangeArrowheads="1"/>
          </p:cNvSpPr>
          <p:nvPr/>
        </p:nvSpPr>
        <p:spPr bwMode="gray">
          <a:xfrm>
            <a:off x="1128030" y="738225"/>
            <a:ext cx="95726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000CC"/>
                </a:solidFill>
                <a:latin typeface="+mn-ea"/>
                <a:ea typeface="+mn-ea"/>
              </a:rPr>
              <a:t>선행프로세스</a:t>
            </a:r>
          </a:p>
        </p:txBody>
      </p:sp>
      <p:sp>
        <p:nvSpPr>
          <p:cNvPr id="239" name="Rectangle 141"/>
          <p:cNvSpPr>
            <a:spLocks noChangeArrowheads="1"/>
          </p:cNvSpPr>
          <p:nvPr/>
        </p:nvSpPr>
        <p:spPr bwMode="gray">
          <a:xfrm>
            <a:off x="1023255" y="103288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작업지시서 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40" name="Rectangle 142"/>
          <p:cNvSpPr>
            <a:spLocks noChangeArrowheads="1"/>
          </p:cNvSpPr>
          <p:nvPr/>
        </p:nvSpPr>
        <p:spPr bwMode="gray">
          <a:xfrm>
            <a:off x="1023255" y="1337681"/>
            <a:ext cx="1285875" cy="233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en-US" altLang="ko-KR" sz="900" b="1" dirty="0" smtClean="0">
                <a:latin typeface="+mn-ea"/>
                <a:ea typeface="+mn-ea"/>
              </a:rPr>
              <a:t>PACKING </a:t>
            </a:r>
            <a:r>
              <a:rPr lang="ko-KR" altLang="en-US" sz="900" b="1" dirty="0" smtClean="0">
                <a:latin typeface="+mn-ea"/>
                <a:ea typeface="+mn-ea"/>
              </a:rPr>
              <a:t>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1" name="AutoShape 143"/>
          <p:cNvCxnSpPr>
            <a:cxnSpLocks noChangeShapeType="1"/>
            <a:stCxn id="108" idx="3"/>
            <a:endCxn id="133" idx="1"/>
          </p:cNvCxnSpPr>
          <p:nvPr/>
        </p:nvCxnSpPr>
        <p:spPr bwMode="gray">
          <a:xfrm flipV="1">
            <a:off x="2347230" y="1451962"/>
            <a:ext cx="2285122" cy="36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2" name="Text Box 121"/>
          <p:cNvSpPr txBox="1">
            <a:spLocks noChangeArrowheads="1"/>
          </p:cNvSpPr>
          <p:nvPr/>
        </p:nvSpPr>
        <p:spPr bwMode="gray">
          <a:xfrm>
            <a:off x="4550627" y="2284637"/>
            <a:ext cx="1478209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SP_IFT_B2B_INB_ECT</a:t>
            </a:r>
          </a:p>
          <a:p>
            <a:r>
              <a:rPr lang="en-US" altLang="ko-KR" sz="900" dirty="0" smtClean="0">
                <a:latin typeface="+mn-ea"/>
              </a:rPr>
              <a:t>SP_IFT_B2B_INB_ECT</a:t>
            </a:r>
            <a:r>
              <a:rPr lang="en-US" altLang="ko-KR" sz="900" dirty="0" smtClean="0">
                <a:latin typeface="+mn-ea"/>
                <a:ea typeface="+mn-ea"/>
              </a:rPr>
              <a:t>_020</a:t>
            </a:r>
            <a:endParaRPr lang="en-US" altLang="ko-KR" sz="900" dirty="0">
              <a:latin typeface="+mn-ea"/>
            </a:endParaRPr>
          </a:p>
        </p:txBody>
      </p:sp>
      <p:sp>
        <p:nvSpPr>
          <p:cNvPr id="273" name="Text Box 121"/>
          <p:cNvSpPr txBox="1">
            <a:spLocks noChangeArrowheads="1"/>
          </p:cNvSpPr>
          <p:nvPr/>
        </p:nvSpPr>
        <p:spPr bwMode="gray">
          <a:xfrm>
            <a:off x="6483170" y="2294583"/>
            <a:ext cx="184452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SP_IFT_B2B_INB_RST</a:t>
            </a:r>
          </a:p>
          <a:p>
            <a:r>
              <a:rPr lang="en-US" altLang="ko-KR" sz="900" dirty="0">
                <a:latin typeface="+mn-ea"/>
              </a:rPr>
              <a:t>Job Schedule </a:t>
            </a:r>
            <a:r>
              <a:rPr lang="ko-KR" altLang="en-US" sz="900" dirty="0">
                <a:latin typeface="+mn-ea"/>
              </a:rPr>
              <a:t>실행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매</a:t>
            </a:r>
            <a:r>
              <a:rPr lang="en-US" altLang="ko-KR" sz="900" dirty="0">
                <a:latin typeface="+mn-ea"/>
              </a:rPr>
              <a:t>10</a:t>
            </a:r>
            <a:r>
              <a:rPr lang="ko-KR" altLang="en-US" sz="900" dirty="0" smtClean="0">
                <a:latin typeface="+mn-ea"/>
              </a:rPr>
              <a:t>분</a:t>
            </a:r>
            <a:r>
              <a:rPr lang="en-US" altLang="ko-KR" sz="900" dirty="0" smtClean="0">
                <a:latin typeface="+mn-ea"/>
              </a:rPr>
              <a:t>)</a:t>
            </a:r>
            <a:endParaRPr lang="en-US" altLang="ko-KR" sz="900" dirty="0">
              <a:latin typeface="+mn-ea"/>
              <a:ea typeface="+mn-ea"/>
            </a:endParaRPr>
          </a:p>
        </p:txBody>
      </p:sp>
      <p:cxnSp>
        <p:nvCxnSpPr>
          <p:cNvPr id="275" name="AutoShape 111"/>
          <p:cNvCxnSpPr>
            <a:cxnSpLocks noChangeShapeType="1"/>
            <a:stCxn id="133" idx="2"/>
            <a:endCxn id="291" idx="1"/>
          </p:cNvCxnSpPr>
          <p:nvPr/>
        </p:nvCxnSpPr>
        <p:spPr bwMode="gray">
          <a:xfrm rot="5400000">
            <a:off x="5095918" y="1688957"/>
            <a:ext cx="191736" cy="19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" name="AutoShape 86"/>
          <p:cNvSpPr>
            <a:spLocks noChangeArrowheads="1"/>
          </p:cNvSpPr>
          <p:nvPr/>
        </p:nvSpPr>
        <p:spPr bwMode="auto">
          <a:xfrm>
            <a:off x="8082848" y="145458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입고실적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IFT_B2B_INB_RST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82" name="AutoShape 86"/>
          <p:cNvSpPr>
            <a:spLocks noChangeArrowheads="1"/>
          </p:cNvSpPr>
          <p:nvPr/>
        </p:nvSpPr>
        <p:spPr bwMode="auto">
          <a:xfrm>
            <a:off x="290807" y="39980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창고재고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T_WH_STOCK_PRDT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83" name="AutoShape 101"/>
          <p:cNvCxnSpPr>
            <a:cxnSpLocks noChangeShapeType="1"/>
            <a:stCxn id="276" idx="3"/>
            <a:endCxn id="191" idx="0"/>
          </p:cNvCxnSpPr>
          <p:nvPr/>
        </p:nvCxnSpPr>
        <p:spPr bwMode="gray">
          <a:xfrm flipH="1">
            <a:off x="8363533" y="1942347"/>
            <a:ext cx="2684" cy="608875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9" name="그룹 288"/>
          <p:cNvGrpSpPr/>
          <p:nvPr/>
        </p:nvGrpSpPr>
        <p:grpSpPr>
          <a:xfrm>
            <a:off x="5912582" y="2891902"/>
            <a:ext cx="1074738" cy="388938"/>
            <a:chOff x="5729470" y="3248980"/>
            <a:chExt cx="1074738" cy="388938"/>
          </a:xfrm>
        </p:grpSpPr>
        <p:sp>
          <p:nvSpPr>
            <p:cNvPr id="287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88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 smtClean="0">
                  <a:latin typeface="+mn-ea"/>
                  <a:ea typeface="+mn-ea"/>
                </a:rPr>
                <a:t>ASSORT</a:t>
              </a:r>
              <a:r>
                <a:rPr lang="ko-KR" altLang="en-US" sz="900" dirty="0" smtClean="0">
                  <a:latin typeface="+mn-ea"/>
                  <a:ea typeface="+mn-ea"/>
                </a:rPr>
                <a:t>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90" name="AutoShape 72"/>
          <p:cNvCxnSpPr>
            <a:cxnSpLocks noChangeShapeType="1"/>
            <a:stCxn id="191" idx="1"/>
            <a:endCxn id="287" idx="0"/>
          </p:cNvCxnSpPr>
          <p:nvPr/>
        </p:nvCxnSpPr>
        <p:spPr bwMode="gray">
          <a:xfrm rot="10800000" flipV="1">
            <a:off x="6449951" y="2693302"/>
            <a:ext cx="1543694" cy="19859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4" name="Rectangle 142"/>
          <p:cNvSpPr>
            <a:spLocks noChangeArrowheads="1"/>
          </p:cNvSpPr>
          <p:nvPr/>
        </p:nvSpPr>
        <p:spPr bwMode="gray">
          <a:xfrm>
            <a:off x="1023255" y="1639464"/>
            <a:ext cx="1285875" cy="2330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제품입고합의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96" name="Line 50"/>
          <p:cNvSpPr>
            <a:spLocks noChangeShapeType="1"/>
          </p:cNvSpPr>
          <p:nvPr/>
        </p:nvSpPr>
        <p:spPr bwMode="gray">
          <a:xfrm>
            <a:off x="273050" y="1167266"/>
            <a:ext cx="747500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97" name="Text Box 48"/>
          <p:cNvSpPr txBox="1">
            <a:spLocks noChangeArrowheads="1"/>
          </p:cNvSpPr>
          <p:nvPr/>
        </p:nvSpPr>
        <p:spPr bwMode="gray">
          <a:xfrm>
            <a:off x="67517" y="905085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패션시스템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98" name="Line 50"/>
          <p:cNvSpPr>
            <a:spLocks noChangeShapeType="1"/>
          </p:cNvSpPr>
          <p:nvPr/>
        </p:nvSpPr>
        <p:spPr bwMode="gray">
          <a:xfrm>
            <a:off x="288659" y="1469884"/>
            <a:ext cx="722777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99" name="Text Box 48"/>
          <p:cNvSpPr txBox="1">
            <a:spLocks noChangeArrowheads="1"/>
          </p:cNvSpPr>
          <p:nvPr/>
        </p:nvSpPr>
        <p:spPr bwMode="gray">
          <a:xfrm>
            <a:off x="58403" y="1207703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S-ONE</a:t>
            </a:r>
            <a:r>
              <a:rPr lang="ko-KR" altLang="en-US" sz="900" dirty="0" smtClean="0">
                <a:latin typeface="+mn-ea"/>
                <a:ea typeface="+mn-ea"/>
              </a:rPr>
              <a:t>시스템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1" name="Line 50"/>
          <p:cNvSpPr>
            <a:spLocks noChangeShapeType="1"/>
          </p:cNvSpPr>
          <p:nvPr/>
        </p:nvSpPr>
        <p:spPr bwMode="gray">
          <a:xfrm>
            <a:off x="288659" y="1782865"/>
            <a:ext cx="711829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302" name="Text Box 48"/>
          <p:cNvSpPr txBox="1">
            <a:spLocks noChangeArrowheads="1"/>
          </p:cNvSpPr>
          <p:nvPr/>
        </p:nvSpPr>
        <p:spPr bwMode="gray">
          <a:xfrm>
            <a:off x="47455" y="1520684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S-ONE</a:t>
            </a:r>
            <a:r>
              <a:rPr lang="ko-KR" altLang="en-US" sz="900" dirty="0" smtClean="0">
                <a:latin typeface="+mn-ea"/>
                <a:ea typeface="+mn-ea"/>
              </a:rPr>
              <a:t>시스템 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3" name="Text Box 103"/>
          <p:cNvSpPr txBox="1">
            <a:spLocks noChangeArrowheads="1"/>
          </p:cNvSpPr>
          <p:nvPr/>
        </p:nvSpPr>
        <p:spPr bwMode="gray">
          <a:xfrm>
            <a:off x="6395851" y="323387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Y</a:t>
            </a:r>
          </a:p>
        </p:txBody>
      </p:sp>
      <p:sp>
        <p:nvSpPr>
          <p:cNvPr id="304" name="AutoShape 86"/>
          <p:cNvSpPr>
            <a:spLocks noChangeArrowheads="1"/>
          </p:cNvSpPr>
          <p:nvPr/>
        </p:nvSpPr>
        <p:spPr bwMode="auto">
          <a:xfrm>
            <a:off x="8057391" y="299442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BOM</a:t>
            </a:r>
            <a:r>
              <a:rPr lang="ko-KR" altLang="en-US" sz="900" dirty="0" smtClean="0">
                <a:latin typeface="+mn-ea"/>
                <a:ea typeface="+mn-ea"/>
              </a:rPr>
              <a:t>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WMT_CMD_BOM_DR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5" name="AutoShape 86"/>
          <p:cNvSpPr>
            <a:spLocks noChangeArrowheads="1"/>
          </p:cNvSpPr>
          <p:nvPr/>
        </p:nvSpPr>
        <p:spPr bwMode="auto">
          <a:xfrm>
            <a:off x="8061395" y="353370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ITEM</a:t>
            </a:r>
            <a:r>
              <a:rPr lang="ko-KR" altLang="en-US" sz="900" dirty="0" smtClean="0">
                <a:latin typeface="+mn-ea"/>
                <a:ea typeface="+mn-ea"/>
              </a:rPr>
              <a:t>상세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>
                <a:latin typeface="+mn-ea"/>
                <a:ea typeface="+mn-ea"/>
              </a:rPr>
              <a:t>WMT_CMD_ITEM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6" name="Rectangle 71"/>
          <p:cNvSpPr>
            <a:spLocks noChangeArrowheads="1"/>
          </p:cNvSpPr>
          <p:nvPr/>
        </p:nvSpPr>
        <p:spPr bwMode="gray">
          <a:xfrm>
            <a:off x="1365981" y="2965693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입고실적 생성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07" name="AutoShape 72"/>
          <p:cNvCxnSpPr>
            <a:cxnSpLocks noChangeShapeType="1"/>
            <a:stCxn id="304" idx="2"/>
            <a:endCxn id="206" idx="6"/>
          </p:cNvCxnSpPr>
          <p:nvPr/>
        </p:nvCxnSpPr>
        <p:spPr bwMode="gray">
          <a:xfrm rot="10800000" flipV="1">
            <a:off x="6767027" y="3238303"/>
            <a:ext cx="1290364" cy="53928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0" name="AutoShape 72"/>
          <p:cNvCxnSpPr>
            <a:cxnSpLocks noChangeShapeType="1"/>
            <a:stCxn id="305" idx="2"/>
            <a:endCxn id="206" idx="6"/>
          </p:cNvCxnSpPr>
          <p:nvPr/>
        </p:nvCxnSpPr>
        <p:spPr bwMode="gray">
          <a:xfrm rot="10800000" flipV="1">
            <a:off x="6767027" y="3777583"/>
            <a:ext cx="1294368" cy="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3" name="AutoShape 72"/>
          <p:cNvCxnSpPr>
            <a:cxnSpLocks noChangeShapeType="1"/>
            <a:stCxn id="206" idx="2"/>
            <a:endCxn id="119" idx="3"/>
          </p:cNvCxnSpPr>
          <p:nvPr/>
        </p:nvCxnSpPr>
        <p:spPr bwMode="gray">
          <a:xfrm rot="10800000">
            <a:off x="4862991" y="3086837"/>
            <a:ext cx="1275387" cy="69074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2" name="AutoShape 72"/>
          <p:cNvCxnSpPr>
            <a:cxnSpLocks noChangeShapeType="1"/>
            <a:stCxn id="287" idx="1"/>
            <a:endCxn id="119" idx="3"/>
          </p:cNvCxnSpPr>
          <p:nvPr/>
        </p:nvCxnSpPr>
        <p:spPr bwMode="gray">
          <a:xfrm rot="10800000" flipV="1">
            <a:off x="4862990" y="3086371"/>
            <a:ext cx="1049592" cy="46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6" name="Text Box 103"/>
          <p:cNvSpPr txBox="1">
            <a:spLocks noChangeArrowheads="1"/>
          </p:cNvSpPr>
          <p:nvPr/>
        </p:nvSpPr>
        <p:spPr bwMode="gray">
          <a:xfrm>
            <a:off x="5737707" y="285439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337" name="AutoShape 86"/>
          <p:cNvSpPr>
            <a:spLocks noChangeArrowheads="1"/>
          </p:cNvSpPr>
          <p:nvPr/>
        </p:nvSpPr>
        <p:spPr bwMode="auto">
          <a:xfrm>
            <a:off x="2736087" y="428409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창고수불기분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T_WH_RNDS_BASE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38" name="AutoShape 86"/>
          <p:cNvSpPr>
            <a:spLocks noChangeArrowheads="1"/>
          </p:cNvSpPr>
          <p:nvPr/>
        </p:nvSpPr>
        <p:spPr bwMode="auto">
          <a:xfrm>
            <a:off x="3389493" y="515627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입고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T_STOR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40" name="Oval 108"/>
          <p:cNvSpPr>
            <a:spLocks noChangeArrowheads="1"/>
          </p:cNvSpPr>
          <p:nvPr/>
        </p:nvSpPr>
        <p:spPr bwMode="gray">
          <a:xfrm>
            <a:off x="1657753" y="3564015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채번생성</a:t>
            </a:r>
          </a:p>
        </p:txBody>
      </p:sp>
      <p:cxnSp>
        <p:nvCxnSpPr>
          <p:cNvPr id="341" name="AutoShape 72"/>
          <p:cNvCxnSpPr>
            <a:cxnSpLocks noChangeShapeType="1"/>
            <a:stCxn id="306" idx="2"/>
            <a:endCxn id="340" idx="0"/>
          </p:cNvCxnSpPr>
          <p:nvPr/>
        </p:nvCxnSpPr>
        <p:spPr bwMode="gray">
          <a:xfrm flipH="1">
            <a:off x="1972078" y="3198707"/>
            <a:ext cx="1122" cy="365308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4" name="Text Box 121"/>
          <p:cNvSpPr txBox="1">
            <a:spLocks noChangeArrowheads="1"/>
          </p:cNvSpPr>
          <p:nvPr/>
        </p:nvSpPr>
        <p:spPr bwMode="gray">
          <a:xfrm>
            <a:off x="1392055" y="3942178"/>
            <a:ext cx="935651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Oracle </a:t>
            </a:r>
            <a:r>
              <a:rPr lang="ko-KR" altLang="en-US" sz="900" dirty="0" err="1" smtClean="0">
                <a:latin typeface="+mn-ea"/>
                <a:ea typeface="+mn-ea"/>
              </a:rPr>
              <a:t>채번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WH_RNDS_ID</a:t>
            </a:r>
          </a:p>
          <a:p>
            <a:r>
              <a:rPr lang="en-US" altLang="ko-KR" sz="900" dirty="0" smtClean="0">
                <a:latin typeface="+mn-ea"/>
                <a:ea typeface="+mn-ea"/>
              </a:rPr>
              <a:t>REG_NO</a:t>
            </a:r>
          </a:p>
        </p:txBody>
      </p:sp>
      <p:cxnSp>
        <p:nvCxnSpPr>
          <p:cNvPr id="345" name="AutoShape 72"/>
          <p:cNvCxnSpPr>
            <a:cxnSpLocks noChangeShapeType="1"/>
            <a:stCxn id="340" idx="6"/>
            <a:endCxn id="337" idx="1"/>
          </p:cNvCxnSpPr>
          <p:nvPr/>
        </p:nvCxnSpPr>
        <p:spPr bwMode="gray">
          <a:xfrm>
            <a:off x="2286403" y="3740228"/>
            <a:ext cx="733053" cy="54386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2" name="AutoShape 72"/>
          <p:cNvCxnSpPr>
            <a:cxnSpLocks noChangeShapeType="1"/>
            <a:stCxn id="337" idx="4"/>
            <a:endCxn id="338" idx="1"/>
          </p:cNvCxnSpPr>
          <p:nvPr/>
        </p:nvCxnSpPr>
        <p:spPr bwMode="gray">
          <a:xfrm>
            <a:off x="3302825" y="4527974"/>
            <a:ext cx="370037" cy="62829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6" name="Oval 108"/>
          <p:cNvSpPr>
            <a:spLocks noChangeArrowheads="1"/>
          </p:cNvSpPr>
          <p:nvPr/>
        </p:nvSpPr>
        <p:spPr bwMode="gray">
          <a:xfrm>
            <a:off x="1351867" y="5390004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입고일자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57" name="Text Box 121"/>
          <p:cNvSpPr txBox="1">
            <a:spLocks noChangeArrowheads="1"/>
          </p:cNvSpPr>
          <p:nvPr/>
        </p:nvSpPr>
        <p:spPr bwMode="gray">
          <a:xfrm>
            <a:off x="2271750" y="3397766"/>
            <a:ext cx="159655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입고</a:t>
            </a:r>
            <a:r>
              <a:rPr lang="en-US" altLang="ko-KR" sz="900" dirty="0" smtClean="0">
                <a:latin typeface="+mn-ea"/>
                <a:ea typeface="+mn-ea"/>
              </a:rPr>
              <a:t> </a:t>
            </a:r>
            <a:r>
              <a:rPr lang="ko-KR" altLang="en-US" sz="900" dirty="0" smtClean="0">
                <a:latin typeface="+mn-ea"/>
                <a:ea typeface="+mn-ea"/>
              </a:rPr>
              <a:t>내역 생성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WMS </a:t>
            </a:r>
            <a:r>
              <a:rPr lang="ko-KR" altLang="en-US" sz="900" dirty="0" smtClean="0">
                <a:latin typeface="+mn-ea"/>
                <a:ea typeface="+mn-ea"/>
              </a:rPr>
              <a:t>센터코드 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 YA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창고 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358" name="AutoShape 86"/>
          <p:cNvSpPr>
            <a:spLocks noChangeArrowheads="1"/>
          </p:cNvSpPr>
          <p:nvPr/>
        </p:nvSpPr>
        <p:spPr bwMode="auto">
          <a:xfrm>
            <a:off x="317485" y="532080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스타일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T_STYLE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60" name="AutoShape 72"/>
          <p:cNvCxnSpPr>
            <a:cxnSpLocks noChangeShapeType="1"/>
            <a:stCxn id="337" idx="2"/>
            <a:endCxn id="356" idx="0"/>
          </p:cNvCxnSpPr>
          <p:nvPr/>
        </p:nvCxnSpPr>
        <p:spPr bwMode="gray">
          <a:xfrm rot="10800000" flipV="1">
            <a:off x="1666193" y="4527974"/>
            <a:ext cx="1069895" cy="862030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72"/>
          <p:cNvCxnSpPr>
            <a:cxnSpLocks noChangeShapeType="1"/>
            <a:stCxn id="356" idx="2"/>
            <a:endCxn id="358" idx="4"/>
          </p:cNvCxnSpPr>
          <p:nvPr/>
        </p:nvCxnSpPr>
        <p:spPr bwMode="gray">
          <a:xfrm flipH="1" flipV="1">
            <a:off x="884223" y="5564683"/>
            <a:ext cx="467644" cy="1534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6" name="Text Box 121"/>
          <p:cNvSpPr txBox="1">
            <a:spLocks noChangeArrowheads="1"/>
          </p:cNvSpPr>
          <p:nvPr/>
        </p:nvSpPr>
        <p:spPr bwMode="gray">
          <a:xfrm>
            <a:off x="71815" y="5901817"/>
            <a:ext cx="149742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최초일자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최종일자 갱신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77" name="Oval 108"/>
          <p:cNvSpPr>
            <a:spLocks noChangeArrowheads="1"/>
          </p:cNvSpPr>
          <p:nvPr/>
        </p:nvSpPr>
        <p:spPr bwMode="gray">
          <a:xfrm>
            <a:off x="2056868" y="5139190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입고수량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81" name="AutoShape 86"/>
          <p:cNvSpPr>
            <a:spLocks noChangeArrowheads="1"/>
          </p:cNvSpPr>
          <p:nvPr/>
        </p:nvSpPr>
        <p:spPr bwMode="auto">
          <a:xfrm>
            <a:off x="2090205" y="57242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스타일사이즈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T_STYLE_SIZE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82" name="AutoShape 72"/>
          <p:cNvCxnSpPr>
            <a:cxnSpLocks noChangeShapeType="1"/>
            <a:stCxn id="377" idx="4"/>
            <a:endCxn id="381" idx="1"/>
          </p:cNvCxnSpPr>
          <p:nvPr/>
        </p:nvCxnSpPr>
        <p:spPr bwMode="gray">
          <a:xfrm rot="16200000" flipH="1">
            <a:off x="2256063" y="5606744"/>
            <a:ext cx="232640" cy="238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5" name="Text Box 121"/>
          <p:cNvSpPr txBox="1">
            <a:spLocks noChangeArrowheads="1"/>
          </p:cNvSpPr>
          <p:nvPr/>
        </p:nvSpPr>
        <p:spPr bwMode="gray">
          <a:xfrm>
            <a:off x="1485868" y="6272324"/>
            <a:ext cx="212157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스타이일별</a:t>
            </a:r>
            <a:r>
              <a:rPr lang="en-US" altLang="ko-KR" sz="900" dirty="0" smtClean="0">
                <a:latin typeface="+mn-ea"/>
                <a:ea typeface="+mn-ea"/>
              </a:rPr>
              <a:t>, </a:t>
            </a:r>
            <a:r>
              <a:rPr lang="ko-KR" altLang="en-US" sz="900" dirty="0" smtClean="0">
                <a:latin typeface="+mn-ea"/>
                <a:ea typeface="+mn-ea"/>
              </a:rPr>
              <a:t>사이즈 입고수량  갱신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88" name="AutoShape 86"/>
          <p:cNvSpPr>
            <a:spLocks noChangeArrowheads="1"/>
          </p:cNvSpPr>
          <p:nvPr/>
        </p:nvSpPr>
        <p:spPr bwMode="auto">
          <a:xfrm>
            <a:off x="290807" y="468069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err="1" smtClean="0">
                <a:latin typeface="+mn-ea"/>
                <a:ea typeface="+mn-ea"/>
              </a:rPr>
              <a:t>제품월수불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T_M_RNDS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89" name="AutoShape 72"/>
          <p:cNvCxnSpPr>
            <a:cxnSpLocks noChangeShapeType="1"/>
            <a:stCxn id="306" idx="1"/>
            <a:endCxn id="282" idx="4"/>
          </p:cNvCxnSpPr>
          <p:nvPr/>
        </p:nvCxnSpPr>
        <p:spPr bwMode="gray">
          <a:xfrm rot="10800000" flipV="1">
            <a:off x="857545" y="3082199"/>
            <a:ext cx="508436" cy="115975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2" name="AutoShape 72"/>
          <p:cNvCxnSpPr>
            <a:cxnSpLocks noChangeShapeType="1"/>
            <a:stCxn id="306" idx="1"/>
            <a:endCxn id="388" idx="4"/>
          </p:cNvCxnSpPr>
          <p:nvPr/>
        </p:nvCxnSpPr>
        <p:spPr bwMode="gray">
          <a:xfrm rot="10800000" flipV="1">
            <a:off x="857545" y="3082200"/>
            <a:ext cx="508436" cy="184237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5" name="Text Box 121"/>
          <p:cNvSpPr txBox="1">
            <a:spLocks noChangeArrowheads="1"/>
          </p:cNvSpPr>
          <p:nvPr/>
        </p:nvSpPr>
        <p:spPr bwMode="gray">
          <a:xfrm>
            <a:off x="214324" y="2742139"/>
            <a:ext cx="135255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SP_IFT_B2B_INB_RST</a:t>
            </a:r>
          </a:p>
          <a:p>
            <a:r>
              <a:rPr lang="en-US" altLang="ko-KR" sz="900" dirty="0" smtClean="0">
                <a:latin typeface="+mn-ea"/>
              </a:rPr>
              <a:t>- SP_CHKUP_CONF</a:t>
            </a:r>
            <a:endParaRPr lang="en-US" altLang="ko-KR" sz="900" dirty="0">
              <a:latin typeface="+mn-ea"/>
              <a:ea typeface="+mn-ea"/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3788252" y="2892368"/>
            <a:ext cx="1074738" cy="401876"/>
            <a:chOff x="5729470" y="3248980"/>
            <a:chExt cx="1074738" cy="401876"/>
          </a:xfrm>
        </p:grpSpPr>
        <p:sp>
          <p:nvSpPr>
            <p:cNvPr id="119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20" name="Text Box 100"/>
            <p:cNvSpPr txBox="1">
              <a:spLocks noChangeArrowheads="1"/>
            </p:cNvSpPr>
            <p:nvPr/>
          </p:nvSpPr>
          <p:spPr bwMode="gray">
            <a:xfrm>
              <a:off x="5812532" y="3281524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생산처입고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129" name="AutoShape 72"/>
          <p:cNvCxnSpPr>
            <a:cxnSpLocks noChangeShapeType="1"/>
            <a:stCxn id="287" idx="2"/>
            <a:endCxn id="206" idx="0"/>
          </p:cNvCxnSpPr>
          <p:nvPr/>
        </p:nvCxnSpPr>
        <p:spPr bwMode="gray">
          <a:xfrm rot="16200000" flipH="1">
            <a:off x="6291060" y="3439730"/>
            <a:ext cx="320532" cy="27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Text Box 103"/>
          <p:cNvSpPr txBox="1">
            <a:spLocks noChangeArrowheads="1"/>
          </p:cNvSpPr>
          <p:nvPr/>
        </p:nvSpPr>
        <p:spPr bwMode="gray">
          <a:xfrm>
            <a:off x="3696190" y="2850855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Y</a:t>
            </a:r>
          </a:p>
        </p:txBody>
      </p:sp>
      <p:sp>
        <p:nvSpPr>
          <p:cNvPr id="136" name="Text Box 121"/>
          <p:cNvSpPr txBox="1">
            <a:spLocks noChangeArrowheads="1"/>
          </p:cNvSpPr>
          <p:nvPr/>
        </p:nvSpPr>
        <p:spPr bwMode="gray">
          <a:xfrm>
            <a:off x="2661535" y="2882040"/>
            <a:ext cx="104365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INB_TCD = ‘010’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150" name="Text Box 103"/>
          <p:cNvSpPr txBox="1">
            <a:spLocks noChangeArrowheads="1"/>
          </p:cNvSpPr>
          <p:nvPr/>
        </p:nvSpPr>
        <p:spPr bwMode="gray">
          <a:xfrm>
            <a:off x="4040750" y="3254366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93" name="AutoShape 72"/>
          <p:cNvCxnSpPr>
            <a:cxnSpLocks noChangeShapeType="1"/>
            <a:stCxn id="337" idx="3"/>
            <a:endCxn id="377" idx="0"/>
          </p:cNvCxnSpPr>
          <p:nvPr/>
        </p:nvCxnSpPr>
        <p:spPr bwMode="gray">
          <a:xfrm rot="5400000">
            <a:off x="2511657" y="4631390"/>
            <a:ext cx="367337" cy="6482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" name="Rectangle 71"/>
          <p:cNvSpPr>
            <a:spLocks noChangeArrowheads="1"/>
          </p:cNvSpPr>
          <p:nvPr/>
        </p:nvSpPr>
        <p:spPr bwMode="gray">
          <a:xfrm>
            <a:off x="4204834" y="3890323"/>
            <a:ext cx="1214438" cy="371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입고실적 생성</a:t>
            </a:r>
            <a:endParaRPr lang="en-US" altLang="ko-KR" sz="900" dirty="0" smtClean="0">
              <a:latin typeface="+mn-ea"/>
              <a:ea typeface="+mn-ea"/>
              <a:sym typeface="Wingdings" panose="05000000000000000000" pitchFamily="2" charset="2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(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매장반품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)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95" name="AutoShape 72"/>
          <p:cNvCxnSpPr>
            <a:cxnSpLocks noChangeShapeType="1"/>
            <a:stCxn id="120" idx="2"/>
            <a:endCxn id="194" idx="0"/>
          </p:cNvCxnSpPr>
          <p:nvPr/>
        </p:nvCxnSpPr>
        <p:spPr bwMode="gray">
          <a:xfrm rot="16200000" flipH="1">
            <a:off x="4267560" y="3345829"/>
            <a:ext cx="596079" cy="4929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6" name="Text Box 121"/>
          <p:cNvSpPr txBox="1">
            <a:spLocks noChangeArrowheads="1"/>
          </p:cNvSpPr>
          <p:nvPr/>
        </p:nvSpPr>
        <p:spPr bwMode="gray">
          <a:xfrm>
            <a:off x="4072905" y="3573540"/>
            <a:ext cx="83072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INB_TCD</a:t>
            </a: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( 020, 090)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197" name="Oval 108"/>
          <p:cNvSpPr>
            <a:spLocks noChangeArrowheads="1"/>
          </p:cNvSpPr>
          <p:nvPr/>
        </p:nvSpPr>
        <p:spPr bwMode="gray">
          <a:xfrm>
            <a:off x="6273223" y="4308785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채번생성</a:t>
            </a:r>
          </a:p>
        </p:txBody>
      </p:sp>
      <p:sp>
        <p:nvSpPr>
          <p:cNvPr id="198" name="Text Box 121"/>
          <p:cNvSpPr txBox="1">
            <a:spLocks noChangeArrowheads="1"/>
          </p:cNvSpPr>
          <p:nvPr/>
        </p:nvSpPr>
        <p:spPr bwMode="gray">
          <a:xfrm>
            <a:off x="6854652" y="4132572"/>
            <a:ext cx="999618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Oracle </a:t>
            </a:r>
            <a:r>
              <a:rPr lang="ko-KR" altLang="en-US" sz="900" dirty="0" err="1" smtClean="0">
                <a:latin typeface="+mn-ea"/>
                <a:ea typeface="+mn-ea"/>
              </a:rPr>
              <a:t>채번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SHOP_RNDS_ID</a:t>
            </a:r>
          </a:p>
          <a:p>
            <a:r>
              <a:rPr lang="en-US" altLang="ko-KR" sz="900" dirty="0" smtClean="0">
                <a:latin typeface="+mn-ea"/>
                <a:ea typeface="+mn-ea"/>
              </a:rPr>
              <a:t>REG_NO</a:t>
            </a:r>
          </a:p>
        </p:txBody>
      </p:sp>
      <p:cxnSp>
        <p:nvCxnSpPr>
          <p:cNvPr id="200" name="AutoShape 72"/>
          <p:cNvCxnSpPr>
            <a:cxnSpLocks noChangeShapeType="1"/>
            <a:stCxn id="194" idx="3"/>
            <a:endCxn id="197" idx="0"/>
          </p:cNvCxnSpPr>
          <p:nvPr/>
        </p:nvCxnSpPr>
        <p:spPr bwMode="gray">
          <a:xfrm>
            <a:off x="5419272" y="4076080"/>
            <a:ext cx="1168276" cy="23270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1" name="AutoShape 86"/>
          <p:cNvSpPr>
            <a:spLocks noChangeArrowheads="1"/>
          </p:cNvSpPr>
          <p:nvPr/>
        </p:nvSpPr>
        <p:spPr bwMode="auto">
          <a:xfrm>
            <a:off x="6303150" y="490260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매장수불기본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T_SHOP_RNDS_BASE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02" name="AutoShape 72"/>
          <p:cNvCxnSpPr>
            <a:cxnSpLocks noChangeShapeType="1"/>
            <a:stCxn id="197" idx="4"/>
            <a:endCxn id="201" idx="1"/>
          </p:cNvCxnSpPr>
          <p:nvPr/>
        </p:nvCxnSpPr>
        <p:spPr bwMode="gray">
          <a:xfrm rot="5400000">
            <a:off x="6466339" y="4781391"/>
            <a:ext cx="241390" cy="102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3" name="AutoShape 86"/>
          <p:cNvSpPr>
            <a:spLocks noChangeArrowheads="1"/>
          </p:cNvSpPr>
          <p:nvPr/>
        </p:nvSpPr>
        <p:spPr bwMode="auto">
          <a:xfrm>
            <a:off x="6844927" y="573428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거래명세서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T_TRAN_SEPC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05" name="Text Box 121"/>
          <p:cNvSpPr txBox="1">
            <a:spLocks noChangeArrowheads="1"/>
          </p:cNvSpPr>
          <p:nvPr/>
        </p:nvSpPr>
        <p:spPr bwMode="gray">
          <a:xfrm>
            <a:off x="5013372" y="4599640"/>
            <a:ext cx="159655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반품거래명세서 생성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WMS </a:t>
            </a:r>
            <a:r>
              <a:rPr lang="ko-KR" altLang="en-US" sz="900" dirty="0" smtClean="0">
                <a:latin typeface="+mn-ea"/>
                <a:ea typeface="+mn-ea"/>
              </a:rPr>
              <a:t>센터코드 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 YA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창고 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07" name="Rectangle 141"/>
          <p:cNvSpPr>
            <a:spLocks noChangeArrowheads="1"/>
          </p:cNvSpPr>
          <p:nvPr/>
        </p:nvSpPr>
        <p:spPr bwMode="gray">
          <a:xfrm>
            <a:off x="8321343" y="4240241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smtClean="0">
                <a:latin typeface="+mn-ea"/>
                <a:ea typeface="+mn-ea"/>
              </a:rPr>
              <a:t>실판매가정보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10" name="AutoShape 86"/>
          <p:cNvSpPr>
            <a:spLocks noChangeArrowheads="1"/>
          </p:cNvSpPr>
          <p:nvPr/>
        </p:nvSpPr>
        <p:spPr bwMode="auto">
          <a:xfrm>
            <a:off x="7688237" y="573428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검수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T_CHKUP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1" name="AutoShape 72"/>
          <p:cNvCxnSpPr>
            <a:cxnSpLocks noChangeShapeType="1"/>
            <a:stCxn id="201" idx="3"/>
            <a:endCxn id="210" idx="1"/>
          </p:cNvCxnSpPr>
          <p:nvPr/>
        </p:nvCxnSpPr>
        <p:spPr bwMode="gray">
          <a:xfrm rot="16200000" flipH="1">
            <a:off x="7107099" y="4869777"/>
            <a:ext cx="343926" cy="13850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2" name="AutoShape 86"/>
          <p:cNvSpPr>
            <a:spLocks noChangeArrowheads="1"/>
          </p:cNvSpPr>
          <p:nvPr/>
        </p:nvSpPr>
        <p:spPr bwMode="auto">
          <a:xfrm>
            <a:off x="8531547" y="573428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출고요청이력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T_DELV_REQST_HIST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3" name="AutoShape 72"/>
          <p:cNvCxnSpPr>
            <a:cxnSpLocks noChangeShapeType="1"/>
            <a:stCxn id="201" idx="3"/>
            <a:endCxn id="212" idx="1"/>
          </p:cNvCxnSpPr>
          <p:nvPr/>
        </p:nvCxnSpPr>
        <p:spPr bwMode="gray">
          <a:xfrm rot="16200000" flipH="1">
            <a:off x="7528754" y="4448122"/>
            <a:ext cx="343926" cy="22283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4" name="AutoShape 86"/>
          <p:cNvSpPr>
            <a:spLocks noChangeArrowheads="1"/>
          </p:cNvSpPr>
          <p:nvPr/>
        </p:nvSpPr>
        <p:spPr bwMode="auto">
          <a:xfrm>
            <a:off x="5996859" y="573253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매장재고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T_SHOP_STOC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5" name="AutoShape 72"/>
          <p:cNvCxnSpPr>
            <a:cxnSpLocks noChangeShapeType="1"/>
            <a:stCxn id="201" idx="3"/>
            <a:endCxn id="214" idx="1"/>
          </p:cNvCxnSpPr>
          <p:nvPr/>
        </p:nvCxnSpPr>
        <p:spPr bwMode="gray">
          <a:xfrm rot="5400000">
            <a:off x="6262285" y="5408302"/>
            <a:ext cx="342179" cy="30629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6" name="AutoShape 86"/>
          <p:cNvSpPr>
            <a:spLocks noChangeArrowheads="1"/>
          </p:cNvSpPr>
          <p:nvPr/>
        </p:nvSpPr>
        <p:spPr bwMode="auto">
          <a:xfrm>
            <a:off x="4570384" y="513919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B2B_INB_</a:t>
            </a:r>
            <a:r>
              <a:rPr lang="ko-KR" altLang="en-US" sz="900" dirty="0" smtClean="0">
                <a:latin typeface="+mn-ea"/>
                <a:ea typeface="+mn-ea"/>
              </a:rPr>
              <a:t>실적</a:t>
            </a:r>
            <a:r>
              <a:rPr lang="en-US" altLang="ko-KR" sz="900" dirty="0" smtClean="0">
                <a:latin typeface="+mn-ea"/>
                <a:ea typeface="+mn-ea"/>
              </a:rPr>
              <a:t>_</a:t>
            </a:r>
            <a:r>
              <a:rPr lang="ko-KR" altLang="en-US" sz="900" dirty="0" smtClean="0">
                <a:latin typeface="+mn-ea"/>
                <a:ea typeface="+mn-ea"/>
              </a:rPr>
              <a:t>결과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B2B_INB_RST_RESULT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7" name="AutoShape 72"/>
          <p:cNvCxnSpPr>
            <a:cxnSpLocks noChangeShapeType="1"/>
            <a:stCxn id="201" idx="2"/>
            <a:endCxn id="216" idx="4"/>
          </p:cNvCxnSpPr>
          <p:nvPr/>
        </p:nvCxnSpPr>
        <p:spPr bwMode="gray">
          <a:xfrm rot="10800000" flipV="1">
            <a:off x="5137122" y="5146479"/>
            <a:ext cx="1166028" cy="23659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8" name="AutoShape 72"/>
          <p:cNvCxnSpPr>
            <a:cxnSpLocks noChangeShapeType="1"/>
            <a:stCxn id="337" idx="4"/>
            <a:endCxn id="216" idx="1"/>
          </p:cNvCxnSpPr>
          <p:nvPr/>
        </p:nvCxnSpPr>
        <p:spPr bwMode="gray">
          <a:xfrm>
            <a:off x="3302825" y="4527974"/>
            <a:ext cx="1550928" cy="61121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1" name="AutoShape 86"/>
          <p:cNvSpPr>
            <a:spLocks noChangeArrowheads="1"/>
          </p:cNvSpPr>
          <p:nvPr/>
        </p:nvSpPr>
        <p:spPr bwMode="auto">
          <a:xfrm>
            <a:off x="3855738" y="602844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입고실적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IFT_B2B_INB_RST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2" name="Oval 108"/>
          <p:cNvSpPr>
            <a:spLocks noChangeArrowheads="1"/>
          </p:cNvSpPr>
          <p:nvPr/>
        </p:nvSpPr>
        <p:spPr bwMode="gray">
          <a:xfrm>
            <a:off x="5178025" y="6001900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인테페이스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결과상태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3" name="AutoShape 72"/>
          <p:cNvCxnSpPr>
            <a:cxnSpLocks noChangeShapeType="1"/>
            <a:stCxn id="216" idx="3"/>
            <a:endCxn id="222" idx="0"/>
          </p:cNvCxnSpPr>
          <p:nvPr/>
        </p:nvCxnSpPr>
        <p:spPr bwMode="gray">
          <a:xfrm rot="16200000" flipH="1">
            <a:off x="4985575" y="5495125"/>
            <a:ext cx="374952" cy="6385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7" name="AutoShape 72"/>
          <p:cNvCxnSpPr>
            <a:cxnSpLocks noChangeShapeType="1"/>
            <a:stCxn id="201" idx="3"/>
            <a:endCxn id="222" idx="0"/>
          </p:cNvCxnSpPr>
          <p:nvPr/>
        </p:nvCxnSpPr>
        <p:spPr bwMode="gray">
          <a:xfrm rot="5400000">
            <a:off x="5733664" y="5149045"/>
            <a:ext cx="611542" cy="1094169"/>
          </a:xfrm>
          <a:prstGeom prst="bentConnector3">
            <a:avLst>
              <a:gd name="adj1" fmla="val 29752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" name="AutoShape 72"/>
          <p:cNvCxnSpPr>
            <a:cxnSpLocks noChangeShapeType="1"/>
            <a:stCxn id="337" idx="3"/>
            <a:endCxn id="222" idx="0"/>
          </p:cNvCxnSpPr>
          <p:nvPr/>
        </p:nvCxnSpPr>
        <p:spPr bwMode="gray">
          <a:xfrm rot="16200000" flipH="1">
            <a:off x="3640880" y="4150429"/>
            <a:ext cx="1230047" cy="2472894"/>
          </a:xfrm>
          <a:prstGeom prst="bentConnector3">
            <a:avLst>
              <a:gd name="adj1" fmla="val 8484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AutoShape 72"/>
          <p:cNvCxnSpPr>
            <a:cxnSpLocks noChangeShapeType="1"/>
            <a:stCxn id="222" idx="2"/>
            <a:endCxn id="221" idx="4"/>
          </p:cNvCxnSpPr>
          <p:nvPr/>
        </p:nvCxnSpPr>
        <p:spPr bwMode="gray">
          <a:xfrm rot="10800000" flipV="1">
            <a:off x="4422477" y="6178113"/>
            <a:ext cx="755549" cy="942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8" name="Rectangle 141"/>
          <p:cNvSpPr>
            <a:spLocks noChangeArrowheads="1"/>
          </p:cNvSpPr>
          <p:nvPr/>
        </p:nvSpPr>
        <p:spPr bwMode="gray">
          <a:xfrm>
            <a:off x="2510755" y="1078306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반품의뢰등록등록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49" name="Text Box 140"/>
          <p:cNvSpPr txBox="1">
            <a:spLocks noChangeArrowheads="1"/>
          </p:cNvSpPr>
          <p:nvPr/>
        </p:nvSpPr>
        <p:spPr bwMode="gray">
          <a:xfrm>
            <a:off x="2608798" y="820717"/>
            <a:ext cx="95726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000CC"/>
                </a:solidFill>
                <a:latin typeface="+mn-ea"/>
                <a:ea typeface="+mn-ea"/>
              </a:rPr>
              <a:t>선행프로세스</a:t>
            </a:r>
          </a:p>
        </p:txBody>
      </p:sp>
      <p:cxnSp>
        <p:nvCxnSpPr>
          <p:cNvPr id="250" name="AutoShape 143"/>
          <p:cNvCxnSpPr>
            <a:cxnSpLocks noChangeShapeType="1"/>
            <a:stCxn id="248" idx="2"/>
            <a:endCxn id="133" idx="1"/>
          </p:cNvCxnSpPr>
          <p:nvPr/>
        </p:nvCxnSpPr>
        <p:spPr bwMode="gray">
          <a:xfrm rot="16200000" flipH="1">
            <a:off x="3822701" y="642311"/>
            <a:ext cx="140642" cy="1478659"/>
          </a:xfrm>
          <a:prstGeom prst="bentConnector2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3" name="AutoShape 86"/>
          <p:cNvSpPr>
            <a:spLocks noChangeArrowheads="1"/>
          </p:cNvSpPr>
          <p:nvPr/>
        </p:nvSpPr>
        <p:spPr bwMode="auto">
          <a:xfrm>
            <a:off x="3595541" y="22747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반품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T_RET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2708613" y="169093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제품창고</a:t>
            </a:r>
            <a:r>
              <a:rPr lang="en-US" altLang="ko-KR" sz="900" dirty="0" smtClean="0">
                <a:latin typeface="+mn-ea"/>
                <a:ea typeface="+mn-ea"/>
              </a:rPr>
              <a:t>HDR</a:t>
            </a: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CT_PRDT_WH_HDR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2721077" y="220390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제품창고</a:t>
            </a:r>
            <a:r>
              <a:rPr lang="en-US" altLang="ko-KR" sz="900" dirty="0" smtClean="0">
                <a:latin typeface="+mn-ea"/>
                <a:ea typeface="+mn-ea"/>
              </a:rPr>
              <a:t>DTL</a:t>
            </a:r>
          </a:p>
          <a:p>
            <a:pPr algn="ctr"/>
            <a:r>
              <a:rPr lang="en-US" altLang="ko-KR" sz="900" dirty="0">
                <a:latin typeface="+mn-ea"/>
                <a:ea typeface="+mn-ea"/>
              </a:rPr>
              <a:t>CT_PRDT_WH_DTL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63" name="Line 50"/>
          <p:cNvSpPr>
            <a:spLocks noChangeShapeType="1"/>
          </p:cNvSpPr>
          <p:nvPr/>
        </p:nvSpPr>
        <p:spPr bwMode="gray">
          <a:xfrm>
            <a:off x="1449386" y="2306926"/>
            <a:ext cx="953033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64" name="Text Box 48"/>
          <p:cNvSpPr txBox="1">
            <a:spLocks noChangeArrowheads="1"/>
          </p:cNvSpPr>
          <p:nvPr/>
        </p:nvSpPr>
        <p:spPr bwMode="gray">
          <a:xfrm>
            <a:off x="1449386" y="2044745"/>
            <a:ext cx="10781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S-ONE</a:t>
            </a:r>
            <a:r>
              <a:rPr lang="ko-KR" altLang="en-US" sz="900" dirty="0" smtClean="0">
                <a:latin typeface="+mn-ea"/>
                <a:ea typeface="+mn-ea"/>
              </a:rPr>
              <a:t>시스템 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65" name="AutoShape 143"/>
          <p:cNvCxnSpPr>
            <a:cxnSpLocks noChangeShapeType="1"/>
            <a:stCxn id="262" idx="3"/>
            <a:endCxn id="291" idx="2"/>
          </p:cNvCxnSpPr>
          <p:nvPr/>
        </p:nvCxnSpPr>
        <p:spPr bwMode="gray">
          <a:xfrm flipV="1">
            <a:off x="3505857" y="2029658"/>
            <a:ext cx="1401606" cy="169585"/>
          </a:xfrm>
          <a:prstGeom prst="bentConnector3">
            <a:avLst>
              <a:gd name="adj1" fmla="val 26214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8" name="AutoShape 143"/>
          <p:cNvCxnSpPr>
            <a:cxnSpLocks noChangeShapeType="1"/>
            <a:stCxn id="253" idx="1"/>
            <a:endCxn id="291" idx="2"/>
          </p:cNvCxnSpPr>
          <p:nvPr/>
        </p:nvCxnSpPr>
        <p:spPr bwMode="gray">
          <a:xfrm rot="5400000" flipH="1" flipV="1">
            <a:off x="4270638" y="1637931"/>
            <a:ext cx="245097" cy="1028553"/>
          </a:xfrm>
          <a:prstGeom prst="bentConnector2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1" name="AutoShape 86"/>
          <p:cNvSpPr>
            <a:spLocks noChangeArrowheads="1"/>
          </p:cNvSpPr>
          <p:nvPr/>
        </p:nvSpPr>
        <p:spPr bwMode="auto">
          <a:xfrm>
            <a:off x="4907463" y="178577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입고예정정보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IFT_B2B_INB_ECT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8263872" y="4458308"/>
            <a:ext cx="123463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F_Get_Realsamt_Olp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08" name="AutoShape 72"/>
          <p:cNvCxnSpPr>
            <a:cxnSpLocks noChangeShapeType="1"/>
            <a:stCxn id="201" idx="3"/>
            <a:endCxn id="203" idx="1"/>
          </p:cNvCxnSpPr>
          <p:nvPr/>
        </p:nvCxnSpPr>
        <p:spPr bwMode="gray">
          <a:xfrm rot="16200000" flipH="1">
            <a:off x="6685444" y="5291432"/>
            <a:ext cx="343926" cy="54177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1" name="AutoShape 72"/>
          <p:cNvCxnSpPr>
            <a:cxnSpLocks noChangeShapeType="1"/>
            <a:stCxn id="207" idx="1"/>
            <a:endCxn id="201" idx="4"/>
          </p:cNvCxnSpPr>
          <p:nvPr/>
        </p:nvCxnSpPr>
        <p:spPr bwMode="gray">
          <a:xfrm rot="10800000" flipV="1">
            <a:off x="6869889" y="4356747"/>
            <a:ext cx="1451455" cy="789731"/>
          </a:xfrm>
          <a:prstGeom prst="bentConnector3">
            <a:avLst>
              <a:gd name="adj1" fmla="val 15219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1" name="직사각형 320"/>
          <p:cNvSpPr/>
          <p:nvPr/>
        </p:nvSpPr>
        <p:spPr>
          <a:xfrm>
            <a:off x="8289182" y="5027185"/>
            <a:ext cx="11464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F_Get_Dsct_Pmrgn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22" name="Rectangle 141"/>
          <p:cNvSpPr>
            <a:spLocks noChangeArrowheads="1"/>
          </p:cNvSpPr>
          <p:nvPr/>
        </p:nvSpPr>
        <p:spPr bwMode="gray">
          <a:xfrm>
            <a:off x="8321343" y="4811219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매장마진정보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323" name="AutoShape 72"/>
          <p:cNvCxnSpPr>
            <a:cxnSpLocks noChangeShapeType="1"/>
            <a:stCxn id="322" idx="1"/>
            <a:endCxn id="201" idx="4"/>
          </p:cNvCxnSpPr>
          <p:nvPr/>
        </p:nvCxnSpPr>
        <p:spPr bwMode="gray">
          <a:xfrm rot="10800000" flipV="1">
            <a:off x="6869889" y="4927725"/>
            <a:ext cx="1451455" cy="218753"/>
          </a:xfrm>
          <a:prstGeom prst="bentConnector3">
            <a:avLst>
              <a:gd name="adj1" fmla="val 15219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7" name="사각형 설명선 156"/>
          <p:cNvSpPr/>
          <p:nvPr/>
        </p:nvSpPr>
        <p:spPr>
          <a:xfrm>
            <a:off x="-2006733" y="773836"/>
            <a:ext cx="1937442" cy="865628"/>
          </a:xfrm>
          <a:prstGeom prst="wedgeRectCallout">
            <a:avLst>
              <a:gd name="adj1" fmla="val 64737"/>
              <a:gd name="adj2" fmla="val -208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FONE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작업지시서 등록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FONE DPL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등록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SONE DPL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합의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SONE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제품입고 합의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WMS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입고예정정보 생성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4" name="사각형 설명선 203"/>
          <p:cNvSpPr/>
          <p:nvPr/>
        </p:nvSpPr>
        <p:spPr>
          <a:xfrm>
            <a:off x="-1450154" y="3603831"/>
            <a:ext cx="1380863" cy="905289"/>
          </a:xfrm>
          <a:prstGeom prst="wedgeRectCallout">
            <a:avLst>
              <a:gd name="adj1" fmla="val 12430"/>
              <a:gd name="adj2" fmla="val 2114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입고유형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INB_TCD]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010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정상입고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020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매장반품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090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이관입고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9" name="사각형 설명선 208"/>
          <p:cNvSpPr/>
          <p:nvPr/>
        </p:nvSpPr>
        <p:spPr>
          <a:xfrm>
            <a:off x="-2006733" y="1763815"/>
            <a:ext cx="1937442" cy="1671721"/>
          </a:xfrm>
          <a:prstGeom prst="wedgeRectCallout">
            <a:avLst>
              <a:gd name="adj1" fmla="val 66004"/>
              <a:gd name="adj2" fmla="val -6509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T_ASSORT_SKU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SKU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단위 생성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T_ASSORT_BOX</a:t>
            </a:r>
            <a:r>
              <a:rPr lang="ko-KR" altLang="en-US" sz="800" b="1" ker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BOX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당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SKU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몇 개 담을것인지 생성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80988" indent="-228600">
              <a:spcBef>
                <a:spcPct val="20000"/>
              </a:spcBef>
              <a:buClr>
                <a:srgbClr val="FFD200"/>
              </a:buClr>
              <a:buSzPct val="75000"/>
              <a:buAutoNum type="arabicPeriod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T_ASSORT_PACKING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에서 한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PACK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당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BOX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구성을 어떻게 할지 생성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5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4. </a:t>
            </a:r>
            <a:r>
              <a:rPr lang="ko-KR" altLang="en-US" dirty="0" smtClean="0">
                <a:latin typeface="+mj-ea"/>
                <a:ea typeface="+mj-ea"/>
              </a:rPr>
              <a:t>물류관리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출고프로세스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8" name="Rectangle 2"/>
          <p:cNvSpPr>
            <a:spLocks noChangeArrowheads="1"/>
          </p:cNvSpPr>
          <p:nvPr/>
        </p:nvSpPr>
        <p:spPr bwMode="gray">
          <a:xfrm>
            <a:off x="449613" y="1012209"/>
            <a:ext cx="1371600" cy="6940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33" name="AutoShape 49"/>
          <p:cNvSpPr>
            <a:spLocks noChangeArrowheads="1"/>
          </p:cNvSpPr>
          <p:nvPr/>
        </p:nvSpPr>
        <p:spPr bwMode="auto">
          <a:xfrm>
            <a:off x="3016256" y="1162069"/>
            <a:ext cx="1120775" cy="284163"/>
          </a:xfrm>
          <a:prstGeom prst="flowChartTerminator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제품출고예정정보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INTERFACE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gray">
          <a:xfrm>
            <a:off x="3437118" y="864300"/>
            <a:ext cx="58060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altLang="ko-KR" sz="900" b="1" dirty="0" smtClean="0">
                <a:solidFill>
                  <a:srgbClr val="0000CC"/>
                </a:solidFill>
                <a:latin typeface="+mn-ea"/>
                <a:ea typeface="+mn-ea"/>
              </a:rPr>
              <a:t>System</a:t>
            </a:r>
            <a:endParaRPr lang="en-US" altLang="ko-KR" sz="9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grpSp>
        <p:nvGrpSpPr>
          <p:cNvPr id="138" name="Group 51"/>
          <p:cNvGrpSpPr>
            <a:grpSpLocks/>
          </p:cNvGrpSpPr>
          <p:nvPr/>
        </p:nvGrpSpPr>
        <p:grpSpPr bwMode="auto">
          <a:xfrm>
            <a:off x="3257731" y="781750"/>
            <a:ext cx="236537" cy="285750"/>
            <a:chOff x="395" y="2124"/>
            <a:chExt cx="209" cy="318"/>
          </a:xfrm>
          <a:noFill/>
        </p:grpSpPr>
        <p:grpSp>
          <p:nvGrpSpPr>
            <p:cNvPr id="139" name="Group 52"/>
            <p:cNvGrpSpPr>
              <a:grpSpLocks/>
            </p:cNvGrpSpPr>
            <p:nvPr/>
          </p:nvGrpSpPr>
          <p:grpSpPr bwMode="auto">
            <a:xfrm>
              <a:off x="420" y="2124"/>
              <a:ext cx="184" cy="318"/>
              <a:chOff x="282" y="3570"/>
              <a:chExt cx="240" cy="474"/>
            </a:xfrm>
            <a:grpFill/>
          </p:grpSpPr>
          <p:sp>
            <p:nvSpPr>
              <p:cNvPr id="163" name="Oval 53"/>
              <p:cNvSpPr>
                <a:spLocks noChangeArrowheads="1"/>
              </p:cNvSpPr>
              <p:nvPr/>
            </p:nvSpPr>
            <p:spPr bwMode="gray">
              <a:xfrm>
                <a:off x="330" y="3570"/>
                <a:ext cx="132" cy="13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4" name="Line 54"/>
              <p:cNvSpPr>
                <a:spLocks noChangeShapeType="1"/>
              </p:cNvSpPr>
              <p:nvPr/>
            </p:nvSpPr>
            <p:spPr bwMode="gray">
              <a:xfrm>
                <a:off x="282" y="3792"/>
                <a:ext cx="24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5" name="Line 55"/>
              <p:cNvSpPr>
                <a:spLocks noChangeShapeType="1"/>
              </p:cNvSpPr>
              <p:nvPr/>
            </p:nvSpPr>
            <p:spPr bwMode="gray">
              <a:xfrm>
                <a:off x="396" y="3708"/>
                <a:ext cx="0" cy="1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6" name="Line 56"/>
              <p:cNvSpPr>
                <a:spLocks noChangeShapeType="1"/>
              </p:cNvSpPr>
              <p:nvPr/>
            </p:nvSpPr>
            <p:spPr bwMode="gray">
              <a:xfrm flipH="1">
                <a:off x="288" y="3906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7" name="Line 57"/>
              <p:cNvSpPr>
                <a:spLocks noChangeShapeType="1"/>
              </p:cNvSpPr>
              <p:nvPr/>
            </p:nvSpPr>
            <p:spPr bwMode="gray">
              <a:xfrm>
                <a:off x="400" y="3904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0" name="Group 58"/>
            <p:cNvGrpSpPr>
              <a:grpSpLocks/>
            </p:cNvGrpSpPr>
            <p:nvPr/>
          </p:nvGrpSpPr>
          <p:grpSpPr bwMode="auto">
            <a:xfrm>
              <a:off x="395" y="2180"/>
              <a:ext cx="45" cy="127"/>
              <a:chOff x="2597" y="1682"/>
              <a:chExt cx="183" cy="403"/>
            </a:xfrm>
            <a:grpFill/>
          </p:grpSpPr>
          <p:sp>
            <p:nvSpPr>
              <p:cNvPr id="149" name="Freeform 59"/>
              <p:cNvSpPr>
                <a:spLocks/>
              </p:cNvSpPr>
              <p:nvPr/>
            </p:nvSpPr>
            <p:spPr bwMode="auto">
              <a:xfrm>
                <a:off x="2632" y="1739"/>
                <a:ext cx="84" cy="62"/>
              </a:xfrm>
              <a:custGeom>
                <a:avLst/>
                <a:gdLst>
                  <a:gd name="T0" fmla="*/ 45 w 169"/>
                  <a:gd name="T1" fmla="*/ 0 h 124"/>
                  <a:gd name="T2" fmla="*/ 0 w 169"/>
                  <a:gd name="T3" fmla="*/ 57 h 124"/>
                  <a:gd name="T4" fmla="*/ 34 w 169"/>
                  <a:gd name="T5" fmla="*/ 124 h 124"/>
                  <a:gd name="T6" fmla="*/ 78 w 169"/>
                  <a:gd name="T7" fmla="*/ 103 h 124"/>
                  <a:gd name="T8" fmla="*/ 102 w 169"/>
                  <a:gd name="T9" fmla="*/ 57 h 124"/>
                  <a:gd name="T10" fmla="*/ 169 w 169"/>
                  <a:gd name="T11" fmla="*/ 46 h 124"/>
                  <a:gd name="T12" fmla="*/ 91 w 169"/>
                  <a:gd name="T13" fmla="*/ 0 h 124"/>
                  <a:gd name="T14" fmla="*/ 45 w 169"/>
                  <a:gd name="T15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24">
                    <a:moveTo>
                      <a:pt x="45" y="0"/>
                    </a:moveTo>
                    <a:lnTo>
                      <a:pt x="0" y="57"/>
                    </a:lnTo>
                    <a:lnTo>
                      <a:pt x="34" y="124"/>
                    </a:lnTo>
                    <a:lnTo>
                      <a:pt x="78" y="103"/>
                    </a:lnTo>
                    <a:lnTo>
                      <a:pt x="102" y="57"/>
                    </a:lnTo>
                    <a:lnTo>
                      <a:pt x="169" y="46"/>
                    </a:lnTo>
                    <a:lnTo>
                      <a:pt x="91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0" name="Freeform 60"/>
              <p:cNvSpPr>
                <a:spLocks/>
              </p:cNvSpPr>
              <p:nvPr/>
            </p:nvSpPr>
            <p:spPr bwMode="auto">
              <a:xfrm rot="20633656" flipV="1">
                <a:off x="2711" y="1790"/>
                <a:ext cx="69" cy="295"/>
              </a:xfrm>
              <a:custGeom>
                <a:avLst/>
                <a:gdLst>
                  <a:gd name="T0" fmla="*/ 103 w 149"/>
                  <a:gd name="T1" fmla="*/ 0 h 194"/>
                  <a:gd name="T2" fmla="*/ 149 w 149"/>
                  <a:gd name="T3" fmla="*/ 23 h 194"/>
                  <a:gd name="T4" fmla="*/ 126 w 149"/>
                  <a:gd name="T5" fmla="*/ 49 h 194"/>
                  <a:gd name="T6" fmla="*/ 111 w 149"/>
                  <a:gd name="T7" fmla="*/ 71 h 194"/>
                  <a:gd name="T8" fmla="*/ 99 w 149"/>
                  <a:gd name="T9" fmla="*/ 88 h 194"/>
                  <a:gd name="T10" fmla="*/ 89 w 149"/>
                  <a:gd name="T11" fmla="*/ 103 h 194"/>
                  <a:gd name="T12" fmla="*/ 82 w 149"/>
                  <a:gd name="T13" fmla="*/ 120 h 194"/>
                  <a:gd name="T14" fmla="*/ 75 w 149"/>
                  <a:gd name="T15" fmla="*/ 138 h 194"/>
                  <a:gd name="T16" fmla="*/ 68 w 149"/>
                  <a:gd name="T17" fmla="*/ 163 h 194"/>
                  <a:gd name="T18" fmla="*/ 57 w 149"/>
                  <a:gd name="T19" fmla="*/ 194 h 194"/>
                  <a:gd name="T20" fmla="*/ 0 w 149"/>
                  <a:gd name="T21" fmla="*/ 194 h 194"/>
                  <a:gd name="T22" fmla="*/ 9 w 149"/>
                  <a:gd name="T23" fmla="*/ 168 h 194"/>
                  <a:gd name="T24" fmla="*/ 20 w 149"/>
                  <a:gd name="T25" fmla="*/ 143 h 194"/>
                  <a:gd name="T26" fmla="*/ 31 w 149"/>
                  <a:gd name="T27" fmla="*/ 118 h 194"/>
                  <a:gd name="T28" fmla="*/ 45 w 149"/>
                  <a:gd name="T29" fmla="*/ 94 h 194"/>
                  <a:gd name="T30" fmla="*/ 59 w 149"/>
                  <a:gd name="T31" fmla="*/ 69 h 194"/>
                  <a:gd name="T32" fmla="*/ 72 w 149"/>
                  <a:gd name="T33" fmla="*/ 46 h 194"/>
                  <a:gd name="T34" fmla="*/ 88 w 149"/>
                  <a:gd name="T35" fmla="*/ 23 h 194"/>
                  <a:gd name="T36" fmla="*/ 103 w 149"/>
                  <a:gd name="T3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94">
                    <a:moveTo>
                      <a:pt x="103" y="0"/>
                    </a:moveTo>
                    <a:lnTo>
                      <a:pt x="149" y="23"/>
                    </a:lnTo>
                    <a:lnTo>
                      <a:pt x="126" y="49"/>
                    </a:lnTo>
                    <a:lnTo>
                      <a:pt x="111" y="71"/>
                    </a:lnTo>
                    <a:lnTo>
                      <a:pt x="99" y="88"/>
                    </a:lnTo>
                    <a:lnTo>
                      <a:pt x="89" y="103"/>
                    </a:lnTo>
                    <a:lnTo>
                      <a:pt x="82" y="120"/>
                    </a:lnTo>
                    <a:lnTo>
                      <a:pt x="75" y="138"/>
                    </a:lnTo>
                    <a:lnTo>
                      <a:pt x="68" y="163"/>
                    </a:lnTo>
                    <a:lnTo>
                      <a:pt x="57" y="194"/>
                    </a:lnTo>
                    <a:lnTo>
                      <a:pt x="0" y="194"/>
                    </a:lnTo>
                    <a:lnTo>
                      <a:pt x="9" y="168"/>
                    </a:lnTo>
                    <a:lnTo>
                      <a:pt x="20" y="143"/>
                    </a:lnTo>
                    <a:lnTo>
                      <a:pt x="31" y="118"/>
                    </a:lnTo>
                    <a:lnTo>
                      <a:pt x="45" y="94"/>
                    </a:lnTo>
                    <a:lnTo>
                      <a:pt x="59" y="69"/>
                    </a:lnTo>
                    <a:lnTo>
                      <a:pt x="72" y="46"/>
                    </a:lnTo>
                    <a:lnTo>
                      <a:pt x="88" y="23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1" name="Freeform 61"/>
              <p:cNvSpPr>
                <a:spLocks/>
              </p:cNvSpPr>
              <p:nvPr/>
            </p:nvSpPr>
            <p:spPr bwMode="auto">
              <a:xfrm>
                <a:off x="2683" y="1704"/>
                <a:ext cx="79" cy="109"/>
              </a:xfrm>
              <a:custGeom>
                <a:avLst/>
                <a:gdLst>
                  <a:gd name="T0" fmla="*/ 0 w 158"/>
                  <a:gd name="T1" fmla="*/ 138 h 216"/>
                  <a:gd name="T2" fmla="*/ 0 w 158"/>
                  <a:gd name="T3" fmla="*/ 195 h 216"/>
                  <a:gd name="T4" fmla="*/ 91 w 158"/>
                  <a:gd name="T5" fmla="*/ 216 h 216"/>
                  <a:gd name="T6" fmla="*/ 158 w 158"/>
                  <a:gd name="T7" fmla="*/ 183 h 216"/>
                  <a:gd name="T8" fmla="*/ 148 w 158"/>
                  <a:gd name="T9" fmla="*/ 103 h 216"/>
                  <a:gd name="T10" fmla="*/ 126 w 158"/>
                  <a:gd name="T11" fmla="*/ 81 h 216"/>
                  <a:gd name="T12" fmla="*/ 111 w 158"/>
                  <a:gd name="T13" fmla="*/ 66 h 216"/>
                  <a:gd name="T14" fmla="*/ 98 w 158"/>
                  <a:gd name="T15" fmla="*/ 53 h 216"/>
                  <a:gd name="T16" fmla="*/ 88 w 158"/>
                  <a:gd name="T17" fmla="*/ 44 h 216"/>
                  <a:gd name="T18" fmla="*/ 74 w 158"/>
                  <a:gd name="T19" fmla="*/ 35 h 216"/>
                  <a:gd name="T20" fmla="*/ 57 w 158"/>
                  <a:gd name="T21" fmla="*/ 26 h 216"/>
                  <a:gd name="T22" fmla="*/ 32 w 158"/>
                  <a:gd name="T23" fmla="*/ 14 h 216"/>
                  <a:gd name="T24" fmla="*/ 0 w 158"/>
                  <a:gd name="T25" fmla="*/ 0 h 216"/>
                  <a:gd name="T26" fmla="*/ 0 w 158"/>
                  <a:gd name="T27" fmla="*/ 64 h 216"/>
                  <a:gd name="T28" fmla="*/ 17 w 158"/>
                  <a:gd name="T29" fmla="*/ 72 h 216"/>
                  <a:gd name="T30" fmla="*/ 34 w 158"/>
                  <a:gd name="T31" fmla="*/ 81 h 216"/>
                  <a:gd name="T32" fmla="*/ 48 w 158"/>
                  <a:gd name="T33" fmla="*/ 92 h 216"/>
                  <a:gd name="T34" fmla="*/ 61 w 158"/>
                  <a:gd name="T35" fmla="*/ 103 h 216"/>
                  <a:gd name="T36" fmla="*/ 74 w 158"/>
                  <a:gd name="T37" fmla="*/ 116 h 216"/>
                  <a:gd name="T38" fmla="*/ 85 w 158"/>
                  <a:gd name="T39" fmla="*/ 130 h 216"/>
                  <a:gd name="T40" fmla="*/ 94 w 158"/>
                  <a:gd name="T41" fmla="*/ 144 h 216"/>
                  <a:gd name="T42" fmla="*/ 103 w 158"/>
                  <a:gd name="T43" fmla="*/ 159 h 216"/>
                  <a:gd name="T44" fmla="*/ 91 w 158"/>
                  <a:gd name="T45" fmla="*/ 161 h 216"/>
                  <a:gd name="T46" fmla="*/ 77 w 158"/>
                  <a:gd name="T47" fmla="*/ 161 h 216"/>
                  <a:gd name="T48" fmla="*/ 63 w 158"/>
                  <a:gd name="T49" fmla="*/ 161 h 216"/>
                  <a:gd name="T50" fmla="*/ 49 w 158"/>
                  <a:gd name="T51" fmla="*/ 158 h 216"/>
                  <a:gd name="T52" fmla="*/ 35 w 158"/>
                  <a:gd name="T53" fmla="*/ 155 h 216"/>
                  <a:gd name="T54" fmla="*/ 23 w 158"/>
                  <a:gd name="T55" fmla="*/ 150 h 216"/>
                  <a:gd name="T56" fmla="*/ 11 w 158"/>
                  <a:gd name="T57" fmla="*/ 144 h 216"/>
                  <a:gd name="T58" fmla="*/ 0 w 158"/>
                  <a:gd name="T59" fmla="*/ 13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8" h="216">
                    <a:moveTo>
                      <a:pt x="0" y="138"/>
                    </a:moveTo>
                    <a:lnTo>
                      <a:pt x="0" y="195"/>
                    </a:lnTo>
                    <a:lnTo>
                      <a:pt x="91" y="216"/>
                    </a:lnTo>
                    <a:lnTo>
                      <a:pt x="158" y="183"/>
                    </a:lnTo>
                    <a:lnTo>
                      <a:pt x="148" y="103"/>
                    </a:lnTo>
                    <a:lnTo>
                      <a:pt x="126" y="81"/>
                    </a:lnTo>
                    <a:lnTo>
                      <a:pt x="111" y="66"/>
                    </a:lnTo>
                    <a:lnTo>
                      <a:pt x="98" y="53"/>
                    </a:lnTo>
                    <a:lnTo>
                      <a:pt x="88" y="44"/>
                    </a:lnTo>
                    <a:lnTo>
                      <a:pt x="74" y="35"/>
                    </a:lnTo>
                    <a:lnTo>
                      <a:pt x="57" y="26"/>
                    </a:lnTo>
                    <a:lnTo>
                      <a:pt x="32" y="14"/>
                    </a:lnTo>
                    <a:lnTo>
                      <a:pt x="0" y="0"/>
                    </a:lnTo>
                    <a:lnTo>
                      <a:pt x="0" y="64"/>
                    </a:lnTo>
                    <a:lnTo>
                      <a:pt x="17" y="72"/>
                    </a:lnTo>
                    <a:lnTo>
                      <a:pt x="34" y="81"/>
                    </a:lnTo>
                    <a:lnTo>
                      <a:pt x="48" y="92"/>
                    </a:lnTo>
                    <a:lnTo>
                      <a:pt x="61" y="103"/>
                    </a:lnTo>
                    <a:lnTo>
                      <a:pt x="74" y="116"/>
                    </a:lnTo>
                    <a:lnTo>
                      <a:pt x="85" y="130"/>
                    </a:lnTo>
                    <a:lnTo>
                      <a:pt x="94" y="144"/>
                    </a:lnTo>
                    <a:lnTo>
                      <a:pt x="103" y="159"/>
                    </a:lnTo>
                    <a:lnTo>
                      <a:pt x="91" y="161"/>
                    </a:lnTo>
                    <a:lnTo>
                      <a:pt x="77" y="161"/>
                    </a:lnTo>
                    <a:lnTo>
                      <a:pt x="63" y="161"/>
                    </a:lnTo>
                    <a:lnTo>
                      <a:pt x="49" y="158"/>
                    </a:lnTo>
                    <a:lnTo>
                      <a:pt x="35" y="155"/>
                    </a:lnTo>
                    <a:lnTo>
                      <a:pt x="23" y="150"/>
                    </a:lnTo>
                    <a:lnTo>
                      <a:pt x="11" y="144"/>
                    </a:lnTo>
                    <a:lnTo>
                      <a:pt x="0" y="1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2" name="Freeform 62"/>
              <p:cNvSpPr>
                <a:spLocks/>
              </p:cNvSpPr>
              <p:nvPr/>
            </p:nvSpPr>
            <p:spPr bwMode="auto">
              <a:xfrm>
                <a:off x="2597" y="1682"/>
                <a:ext cx="87" cy="154"/>
              </a:xfrm>
              <a:custGeom>
                <a:avLst/>
                <a:gdLst>
                  <a:gd name="T0" fmla="*/ 172 w 174"/>
                  <a:gd name="T1" fmla="*/ 109 h 307"/>
                  <a:gd name="T2" fmla="*/ 172 w 174"/>
                  <a:gd name="T3" fmla="*/ 45 h 307"/>
                  <a:gd name="T4" fmla="*/ 158 w 174"/>
                  <a:gd name="T5" fmla="*/ 40 h 307"/>
                  <a:gd name="T6" fmla="*/ 146 w 174"/>
                  <a:gd name="T7" fmla="*/ 35 h 307"/>
                  <a:gd name="T8" fmla="*/ 132 w 174"/>
                  <a:gd name="T9" fmla="*/ 31 h 307"/>
                  <a:gd name="T10" fmla="*/ 120 w 174"/>
                  <a:gd name="T11" fmla="*/ 25 h 307"/>
                  <a:gd name="T12" fmla="*/ 108 w 174"/>
                  <a:gd name="T13" fmla="*/ 19 h 307"/>
                  <a:gd name="T14" fmla="*/ 95 w 174"/>
                  <a:gd name="T15" fmla="*/ 12 h 307"/>
                  <a:gd name="T16" fmla="*/ 81 w 174"/>
                  <a:gd name="T17" fmla="*/ 6 h 307"/>
                  <a:gd name="T18" fmla="*/ 69 w 174"/>
                  <a:gd name="T19" fmla="*/ 0 h 307"/>
                  <a:gd name="T20" fmla="*/ 0 w 174"/>
                  <a:gd name="T21" fmla="*/ 217 h 307"/>
                  <a:gd name="T22" fmla="*/ 5 w 174"/>
                  <a:gd name="T23" fmla="*/ 231 h 307"/>
                  <a:gd name="T24" fmla="*/ 12 w 174"/>
                  <a:gd name="T25" fmla="*/ 244 h 307"/>
                  <a:gd name="T26" fmla="*/ 22 w 174"/>
                  <a:gd name="T27" fmla="*/ 258 h 307"/>
                  <a:gd name="T28" fmla="*/ 31 w 174"/>
                  <a:gd name="T29" fmla="*/ 271 h 307"/>
                  <a:gd name="T30" fmla="*/ 43 w 174"/>
                  <a:gd name="T31" fmla="*/ 281 h 307"/>
                  <a:gd name="T32" fmla="*/ 55 w 174"/>
                  <a:gd name="T33" fmla="*/ 292 h 307"/>
                  <a:gd name="T34" fmla="*/ 68 w 174"/>
                  <a:gd name="T35" fmla="*/ 300 h 307"/>
                  <a:gd name="T36" fmla="*/ 80 w 174"/>
                  <a:gd name="T37" fmla="*/ 307 h 307"/>
                  <a:gd name="T38" fmla="*/ 147 w 174"/>
                  <a:gd name="T39" fmla="*/ 286 h 307"/>
                  <a:gd name="T40" fmla="*/ 160 w 174"/>
                  <a:gd name="T41" fmla="*/ 264 h 307"/>
                  <a:gd name="T42" fmla="*/ 169 w 174"/>
                  <a:gd name="T43" fmla="*/ 237 h 307"/>
                  <a:gd name="T44" fmla="*/ 174 w 174"/>
                  <a:gd name="T45" fmla="*/ 209 h 307"/>
                  <a:gd name="T46" fmla="*/ 172 w 174"/>
                  <a:gd name="T47" fmla="*/ 183 h 307"/>
                  <a:gd name="T48" fmla="*/ 166 w 174"/>
                  <a:gd name="T49" fmla="*/ 192 h 307"/>
                  <a:gd name="T50" fmla="*/ 161 w 174"/>
                  <a:gd name="T51" fmla="*/ 201 h 307"/>
                  <a:gd name="T52" fmla="*/ 155 w 174"/>
                  <a:gd name="T53" fmla="*/ 212 h 307"/>
                  <a:gd name="T54" fmla="*/ 147 w 174"/>
                  <a:gd name="T55" fmla="*/ 221 h 307"/>
                  <a:gd name="T56" fmla="*/ 140 w 174"/>
                  <a:gd name="T57" fmla="*/ 231 h 307"/>
                  <a:gd name="T58" fmla="*/ 132 w 174"/>
                  <a:gd name="T59" fmla="*/ 240 h 307"/>
                  <a:gd name="T60" fmla="*/ 123 w 174"/>
                  <a:gd name="T61" fmla="*/ 246 h 307"/>
                  <a:gd name="T62" fmla="*/ 114 w 174"/>
                  <a:gd name="T63" fmla="*/ 251 h 307"/>
                  <a:gd name="T64" fmla="*/ 69 w 174"/>
                  <a:gd name="T65" fmla="*/ 228 h 307"/>
                  <a:gd name="T66" fmla="*/ 75 w 174"/>
                  <a:gd name="T67" fmla="*/ 191 h 307"/>
                  <a:gd name="T68" fmla="*/ 84 w 174"/>
                  <a:gd name="T69" fmla="*/ 154 h 307"/>
                  <a:gd name="T70" fmla="*/ 92 w 174"/>
                  <a:gd name="T71" fmla="*/ 117 h 307"/>
                  <a:gd name="T72" fmla="*/ 103 w 174"/>
                  <a:gd name="T73" fmla="*/ 80 h 307"/>
                  <a:gd name="T74" fmla="*/ 172 w 174"/>
                  <a:gd name="T75" fmla="*/ 10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4" h="307">
                    <a:moveTo>
                      <a:pt x="172" y="109"/>
                    </a:moveTo>
                    <a:lnTo>
                      <a:pt x="172" y="45"/>
                    </a:lnTo>
                    <a:lnTo>
                      <a:pt x="158" y="40"/>
                    </a:lnTo>
                    <a:lnTo>
                      <a:pt x="146" y="35"/>
                    </a:lnTo>
                    <a:lnTo>
                      <a:pt x="132" y="31"/>
                    </a:lnTo>
                    <a:lnTo>
                      <a:pt x="120" y="25"/>
                    </a:lnTo>
                    <a:lnTo>
                      <a:pt x="108" y="19"/>
                    </a:lnTo>
                    <a:lnTo>
                      <a:pt x="95" y="12"/>
                    </a:lnTo>
                    <a:lnTo>
                      <a:pt x="81" y="6"/>
                    </a:lnTo>
                    <a:lnTo>
                      <a:pt x="69" y="0"/>
                    </a:lnTo>
                    <a:lnTo>
                      <a:pt x="0" y="217"/>
                    </a:lnTo>
                    <a:lnTo>
                      <a:pt x="5" y="231"/>
                    </a:lnTo>
                    <a:lnTo>
                      <a:pt x="12" y="244"/>
                    </a:lnTo>
                    <a:lnTo>
                      <a:pt x="22" y="258"/>
                    </a:lnTo>
                    <a:lnTo>
                      <a:pt x="31" y="271"/>
                    </a:lnTo>
                    <a:lnTo>
                      <a:pt x="43" y="281"/>
                    </a:lnTo>
                    <a:lnTo>
                      <a:pt x="55" y="292"/>
                    </a:lnTo>
                    <a:lnTo>
                      <a:pt x="68" y="300"/>
                    </a:lnTo>
                    <a:lnTo>
                      <a:pt x="80" y="307"/>
                    </a:lnTo>
                    <a:lnTo>
                      <a:pt x="147" y="286"/>
                    </a:lnTo>
                    <a:lnTo>
                      <a:pt x="160" y="264"/>
                    </a:lnTo>
                    <a:lnTo>
                      <a:pt x="169" y="237"/>
                    </a:lnTo>
                    <a:lnTo>
                      <a:pt x="174" y="209"/>
                    </a:lnTo>
                    <a:lnTo>
                      <a:pt x="172" y="183"/>
                    </a:lnTo>
                    <a:lnTo>
                      <a:pt x="166" y="192"/>
                    </a:lnTo>
                    <a:lnTo>
                      <a:pt x="161" y="201"/>
                    </a:lnTo>
                    <a:lnTo>
                      <a:pt x="155" y="212"/>
                    </a:lnTo>
                    <a:lnTo>
                      <a:pt x="147" y="221"/>
                    </a:lnTo>
                    <a:lnTo>
                      <a:pt x="140" y="231"/>
                    </a:lnTo>
                    <a:lnTo>
                      <a:pt x="132" y="240"/>
                    </a:lnTo>
                    <a:lnTo>
                      <a:pt x="123" y="246"/>
                    </a:lnTo>
                    <a:lnTo>
                      <a:pt x="114" y="251"/>
                    </a:lnTo>
                    <a:lnTo>
                      <a:pt x="69" y="228"/>
                    </a:lnTo>
                    <a:lnTo>
                      <a:pt x="75" y="191"/>
                    </a:lnTo>
                    <a:lnTo>
                      <a:pt x="84" y="154"/>
                    </a:lnTo>
                    <a:lnTo>
                      <a:pt x="92" y="117"/>
                    </a:lnTo>
                    <a:lnTo>
                      <a:pt x="103" y="80"/>
                    </a:lnTo>
                    <a:lnTo>
                      <a:pt x="17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2" name="Group 63"/>
            <p:cNvGrpSpPr>
              <a:grpSpLocks/>
            </p:cNvGrpSpPr>
            <p:nvPr/>
          </p:nvGrpSpPr>
          <p:grpSpPr bwMode="auto">
            <a:xfrm>
              <a:off x="511" y="2203"/>
              <a:ext cx="77" cy="62"/>
              <a:chOff x="3235" y="1597"/>
              <a:chExt cx="263" cy="200"/>
            </a:xfrm>
            <a:grpFill/>
          </p:grpSpPr>
          <p:sp>
            <p:nvSpPr>
              <p:cNvPr id="146" name="Freeform 64"/>
              <p:cNvSpPr>
                <a:spLocks/>
              </p:cNvSpPr>
              <p:nvPr/>
            </p:nvSpPr>
            <p:spPr bwMode="auto">
              <a:xfrm>
                <a:off x="3321" y="1647"/>
                <a:ext cx="114" cy="75"/>
              </a:xfrm>
              <a:custGeom>
                <a:avLst/>
                <a:gdLst>
                  <a:gd name="T0" fmla="*/ 0 w 229"/>
                  <a:gd name="T1" fmla="*/ 115 h 149"/>
                  <a:gd name="T2" fmla="*/ 81 w 229"/>
                  <a:gd name="T3" fmla="*/ 104 h 149"/>
                  <a:gd name="T4" fmla="*/ 115 w 229"/>
                  <a:gd name="T5" fmla="*/ 25 h 149"/>
                  <a:gd name="T6" fmla="*/ 160 w 229"/>
                  <a:gd name="T7" fmla="*/ 35 h 149"/>
                  <a:gd name="T8" fmla="*/ 195 w 229"/>
                  <a:gd name="T9" fmla="*/ 0 h 149"/>
                  <a:gd name="T10" fmla="*/ 229 w 229"/>
                  <a:gd name="T11" fmla="*/ 25 h 149"/>
                  <a:gd name="T12" fmla="*/ 172 w 229"/>
                  <a:gd name="T13" fmla="*/ 92 h 149"/>
                  <a:gd name="T14" fmla="*/ 126 w 229"/>
                  <a:gd name="T15" fmla="*/ 81 h 149"/>
                  <a:gd name="T16" fmla="*/ 115 w 229"/>
                  <a:gd name="T17" fmla="*/ 126 h 149"/>
                  <a:gd name="T18" fmla="*/ 25 w 229"/>
                  <a:gd name="T19" fmla="*/ 149 h 149"/>
                  <a:gd name="T20" fmla="*/ 0 w 229"/>
                  <a:gd name="T21" fmla="*/ 11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49">
                    <a:moveTo>
                      <a:pt x="0" y="115"/>
                    </a:moveTo>
                    <a:lnTo>
                      <a:pt x="81" y="104"/>
                    </a:lnTo>
                    <a:lnTo>
                      <a:pt x="115" y="25"/>
                    </a:lnTo>
                    <a:lnTo>
                      <a:pt x="160" y="35"/>
                    </a:lnTo>
                    <a:lnTo>
                      <a:pt x="195" y="0"/>
                    </a:lnTo>
                    <a:lnTo>
                      <a:pt x="229" y="25"/>
                    </a:lnTo>
                    <a:lnTo>
                      <a:pt x="172" y="92"/>
                    </a:lnTo>
                    <a:lnTo>
                      <a:pt x="126" y="81"/>
                    </a:lnTo>
                    <a:lnTo>
                      <a:pt x="115" y="126"/>
                    </a:lnTo>
                    <a:lnTo>
                      <a:pt x="25" y="149"/>
                    </a:lnTo>
                    <a:lnTo>
                      <a:pt x="0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7" name="Freeform 65"/>
              <p:cNvSpPr>
                <a:spLocks/>
              </p:cNvSpPr>
              <p:nvPr/>
            </p:nvSpPr>
            <p:spPr bwMode="auto">
              <a:xfrm>
                <a:off x="3370" y="1597"/>
                <a:ext cx="128" cy="167"/>
              </a:xfrm>
              <a:custGeom>
                <a:avLst/>
                <a:gdLst>
                  <a:gd name="T0" fmla="*/ 0 w 257"/>
                  <a:gd name="T1" fmla="*/ 273 h 333"/>
                  <a:gd name="T2" fmla="*/ 0 w 257"/>
                  <a:gd name="T3" fmla="*/ 333 h 333"/>
                  <a:gd name="T4" fmla="*/ 7 w 257"/>
                  <a:gd name="T5" fmla="*/ 318 h 333"/>
                  <a:gd name="T6" fmla="*/ 119 w 257"/>
                  <a:gd name="T7" fmla="*/ 307 h 333"/>
                  <a:gd name="T8" fmla="*/ 131 w 257"/>
                  <a:gd name="T9" fmla="*/ 239 h 333"/>
                  <a:gd name="T10" fmla="*/ 223 w 257"/>
                  <a:gd name="T11" fmla="*/ 227 h 333"/>
                  <a:gd name="T12" fmla="*/ 257 w 257"/>
                  <a:gd name="T13" fmla="*/ 149 h 333"/>
                  <a:gd name="T14" fmla="*/ 211 w 257"/>
                  <a:gd name="T15" fmla="*/ 33 h 333"/>
                  <a:gd name="T16" fmla="*/ 189 w 257"/>
                  <a:gd name="T17" fmla="*/ 21 h 333"/>
                  <a:gd name="T18" fmla="*/ 163 w 257"/>
                  <a:gd name="T19" fmla="*/ 12 h 333"/>
                  <a:gd name="T20" fmla="*/ 136 w 257"/>
                  <a:gd name="T21" fmla="*/ 4 h 333"/>
                  <a:gd name="T22" fmla="*/ 108 w 257"/>
                  <a:gd name="T23" fmla="*/ 0 h 333"/>
                  <a:gd name="T24" fmla="*/ 79 w 257"/>
                  <a:gd name="T25" fmla="*/ 0 h 333"/>
                  <a:gd name="T26" fmla="*/ 50 w 257"/>
                  <a:gd name="T27" fmla="*/ 1 h 333"/>
                  <a:gd name="T28" fmla="*/ 23 w 257"/>
                  <a:gd name="T29" fmla="*/ 7 h 333"/>
                  <a:gd name="T30" fmla="*/ 0 w 257"/>
                  <a:gd name="T31" fmla="*/ 18 h 333"/>
                  <a:gd name="T32" fmla="*/ 0 w 257"/>
                  <a:gd name="T33" fmla="*/ 70 h 333"/>
                  <a:gd name="T34" fmla="*/ 62 w 257"/>
                  <a:gd name="T35" fmla="*/ 44 h 333"/>
                  <a:gd name="T36" fmla="*/ 142 w 257"/>
                  <a:gd name="T37" fmla="*/ 56 h 333"/>
                  <a:gd name="T38" fmla="*/ 200 w 257"/>
                  <a:gd name="T39" fmla="*/ 126 h 333"/>
                  <a:gd name="T40" fmla="*/ 176 w 257"/>
                  <a:gd name="T41" fmla="*/ 182 h 333"/>
                  <a:gd name="T42" fmla="*/ 97 w 257"/>
                  <a:gd name="T43" fmla="*/ 205 h 333"/>
                  <a:gd name="T44" fmla="*/ 85 w 257"/>
                  <a:gd name="T45" fmla="*/ 273 h 333"/>
                  <a:gd name="T46" fmla="*/ 0 w 257"/>
                  <a:gd name="T47" fmla="*/ 27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7" h="333">
                    <a:moveTo>
                      <a:pt x="0" y="273"/>
                    </a:moveTo>
                    <a:lnTo>
                      <a:pt x="0" y="333"/>
                    </a:lnTo>
                    <a:lnTo>
                      <a:pt x="7" y="318"/>
                    </a:lnTo>
                    <a:lnTo>
                      <a:pt x="119" y="307"/>
                    </a:lnTo>
                    <a:lnTo>
                      <a:pt x="131" y="239"/>
                    </a:lnTo>
                    <a:lnTo>
                      <a:pt x="223" y="227"/>
                    </a:lnTo>
                    <a:lnTo>
                      <a:pt x="257" y="149"/>
                    </a:lnTo>
                    <a:lnTo>
                      <a:pt x="211" y="33"/>
                    </a:lnTo>
                    <a:lnTo>
                      <a:pt x="189" y="21"/>
                    </a:lnTo>
                    <a:lnTo>
                      <a:pt x="163" y="12"/>
                    </a:lnTo>
                    <a:lnTo>
                      <a:pt x="136" y="4"/>
                    </a:lnTo>
                    <a:lnTo>
                      <a:pt x="108" y="0"/>
                    </a:lnTo>
                    <a:lnTo>
                      <a:pt x="79" y="0"/>
                    </a:lnTo>
                    <a:lnTo>
                      <a:pt x="50" y="1"/>
                    </a:lnTo>
                    <a:lnTo>
                      <a:pt x="23" y="7"/>
                    </a:lnTo>
                    <a:lnTo>
                      <a:pt x="0" y="18"/>
                    </a:lnTo>
                    <a:lnTo>
                      <a:pt x="0" y="70"/>
                    </a:lnTo>
                    <a:lnTo>
                      <a:pt x="62" y="44"/>
                    </a:lnTo>
                    <a:lnTo>
                      <a:pt x="142" y="56"/>
                    </a:lnTo>
                    <a:lnTo>
                      <a:pt x="200" y="126"/>
                    </a:lnTo>
                    <a:lnTo>
                      <a:pt x="176" y="182"/>
                    </a:lnTo>
                    <a:lnTo>
                      <a:pt x="97" y="205"/>
                    </a:lnTo>
                    <a:lnTo>
                      <a:pt x="85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8" name="Freeform 66"/>
              <p:cNvSpPr>
                <a:spLocks/>
              </p:cNvSpPr>
              <p:nvPr/>
            </p:nvSpPr>
            <p:spPr bwMode="auto">
              <a:xfrm>
                <a:off x="3235" y="1606"/>
                <a:ext cx="135" cy="191"/>
              </a:xfrm>
              <a:custGeom>
                <a:avLst/>
                <a:gdLst>
                  <a:gd name="T0" fmla="*/ 268 w 270"/>
                  <a:gd name="T1" fmla="*/ 52 h 383"/>
                  <a:gd name="T2" fmla="*/ 268 w 270"/>
                  <a:gd name="T3" fmla="*/ 0 h 383"/>
                  <a:gd name="T4" fmla="*/ 244 w 270"/>
                  <a:gd name="T5" fmla="*/ 3 h 383"/>
                  <a:gd name="T6" fmla="*/ 219 w 270"/>
                  <a:gd name="T7" fmla="*/ 12 h 383"/>
                  <a:gd name="T8" fmla="*/ 195 w 270"/>
                  <a:gd name="T9" fmla="*/ 26 h 383"/>
                  <a:gd name="T10" fmla="*/ 172 w 270"/>
                  <a:gd name="T11" fmla="*/ 45 h 383"/>
                  <a:gd name="T12" fmla="*/ 149 w 270"/>
                  <a:gd name="T13" fmla="*/ 68 h 383"/>
                  <a:gd name="T14" fmla="*/ 129 w 270"/>
                  <a:gd name="T15" fmla="*/ 92 h 383"/>
                  <a:gd name="T16" fmla="*/ 107 w 270"/>
                  <a:gd name="T17" fmla="*/ 121 h 383"/>
                  <a:gd name="T18" fmla="*/ 89 w 270"/>
                  <a:gd name="T19" fmla="*/ 151 h 383"/>
                  <a:gd name="T20" fmla="*/ 70 w 270"/>
                  <a:gd name="T21" fmla="*/ 181 h 383"/>
                  <a:gd name="T22" fmla="*/ 55 w 270"/>
                  <a:gd name="T23" fmla="*/ 214 h 383"/>
                  <a:gd name="T24" fmla="*/ 41 w 270"/>
                  <a:gd name="T25" fmla="*/ 246 h 383"/>
                  <a:gd name="T26" fmla="*/ 27 w 270"/>
                  <a:gd name="T27" fmla="*/ 277 h 383"/>
                  <a:gd name="T28" fmla="*/ 18 w 270"/>
                  <a:gd name="T29" fmla="*/ 306 h 383"/>
                  <a:gd name="T30" fmla="*/ 9 w 270"/>
                  <a:gd name="T31" fmla="*/ 333 h 383"/>
                  <a:gd name="T32" fmla="*/ 3 w 270"/>
                  <a:gd name="T33" fmla="*/ 358 h 383"/>
                  <a:gd name="T34" fmla="*/ 0 w 270"/>
                  <a:gd name="T35" fmla="*/ 380 h 383"/>
                  <a:gd name="T36" fmla="*/ 13 w 270"/>
                  <a:gd name="T37" fmla="*/ 381 h 383"/>
                  <a:gd name="T38" fmla="*/ 27 w 270"/>
                  <a:gd name="T39" fmla="*/ 383 h 383"/>
                  <a:gd name="T40" fmla="*/ 41 w 270"/>
                  <a:gd name="T41" fmla="*/ 383 h 383"/>
                  <a:gd name="T42" fmla="*/ 56 w 270"/>
                  <a:gd name="T43" fmla="*/ 381 h 383"/>
                  <a:gd name="T44" fmla="*/ 72 w 270"/>
                  <a:gd name="T45" fmla="*/ 380 h 383"/>
                  <a:gd name="T46" fmla="*/ 89 w 270"/>
                  <a:gd name="T47" fmla="*/ 378 h 383"/>
                  <a:gd name="T48" fmla="*/ 104 w 270"/>
                  <a:gd name="T49" fmla="*/ 375 h 383"/>
                  <a:gd name="T50" fmla="*/ 121 w 270"/>
                  <a:gd name="T51" fmla="*/ 372 h 383"/>
                  <a:gd name="T52" fmla="*/ 138 w 270"/>
                  <a:gd name="T53" fmla="*/ 370 h 383"/>
                  <a:gd name="T54" fmla="*/ 155 w 270"/>
                  <a:gd name="T55" fmla="*/ 367 h 383"/>
                  <a:gd name="T56" fmla="*/ 172 w 270"/>
                  <a:gd name="T57" fmla="*/ 364 h 383"/>
                  <a:gd name="T58" fmla="*/ 187 w 270"/>
                  <a:gd name="T59" fmla="*/ 361 h 383"/>
                  <a:gd name="T60" fmla="*/ 204 w 270"/>
                  <a:gd name="T61" fmla="*/ 360 h 383"/>
                  <a:gd name="T62" fmla="*/ 221 w 270"/>
                  <a:gd name="T63" fmla="*/ 358 h 383"/>
                  <a:gd name="T64" fmla="*/ 236 w 270"/>
                  <a:gd name="T65" fmla="*/ 356 h 383"/>
                  <a:gd name="T66" fmla="*/ 251 w 270"/>
                  <a:gd name="T67" fmla="*/ 356 h 383"/>
                  <a:gd name="T68" fmla="*/ 262 w 270"/>
                  <a:gd name="T69" fmla="*/ 335 h 383"/>
                  <a:gd name="T70" fmla="*/ 268 w 270"/>
                  <a:gd name="T71" fmla="*/ 307 h 383"/>
                  <a:gd name="T72" fmla="*/ 270 w 270"/>
                  <a:gd name="T73" fmla="*/ 280 h 383"/>
                  <a:gd name="T74" fmla="*/ 268 w 270"/>
                  <a:gd name="T75" fmla="*/ 255 h 383"/>
                  <a:gd name="T76" fmla="*/ 262 w 270"/>
                  <a:gd name="T77" fmla="*/ 255 h 383"/>
                  <a:gd name="T78" fmla="*/ 239 w 270"/>
                  <a:gd name="T79" fmla="*/ 300 h 383"/>
                  <a:gd name="T80" fmla="*/ 218 w 270"/>
                  <a:gd name="T81" fmla="*/ 303 h 383"/>
                  <a:gd name="T82" fmla="*/ 196 w 270"/>
                  <a:gd name="T83" fmla="*/ 306 h 383"/>
                  <a:gd name="T84" fmla="*/ 175 w 270"/>
                  <a:gd name="T85" fmla="*/ 307 h 383"/>
                  <a:gd name="T86" fmla="*/ 155 w 270"/>
                  <a:gd name="T87" fmla="*/ 310 h 383"/>
                  <a:gd name="T88" fmla="*/ 133 w 270"/>
                  <a:gd name="T89" fmla="*/ 310 h 383"/>
                  <a:gd name="T90" fmla="*/ 112 w 270"/>
                  <a:gd name="T91" fmla="*/ 312 h 383"/>
                  <a:gd name="T92" fmla="*/ 90 w 270"/>
                  <a:gd name="T93" fmla="*/ 312 h 383"/>
                  <a:gd name="T94" fmla="*/ 69 w 270"/>
                  <a:gd name="T95" fmla="*/ 312 h 383"/>
                  <a:gd name="T96" fmla="*/ 76 w 270"/>
                  <a:gd name="T97" fmla="*/ 280 h 383"/>
                  <a:gd name="T98" fmla="*/ 92 w 270"/>
                  <a:gd name="T99" fmla="*/ 241 h 383"/>
                  <a:gd name="T100" fmla="*/ 115 w 270"/>
                  <a:gd name="T101" fmla="*/ 198 h 383"/>
                  <a:gd name="T102" fmla="*/ 141 w 270"/>
                  <a:gd name="T103" fmla="*/ 157 h 383"/>
                  <a:gd name="T104" fmla="*/ 172 w 270"/>
                  <a:gd name="T105" fmla="*/ 118 h 383"/>
                  <a:gd name="T106" fmla="*/ 204 w 270"/>
                  <a:gd name="T107" fmla="*/ 84 h 383"/>
                  <a:gd name="T108" fmla="*/ 236 w 270"/>
                  <a:gd name="T109" fmla="*/ 61 h 383"/>
                  <a:gd name="T110" fmla="*/ 268 w 270"/>
                  <a:gd name="T111" fmla="*/ 52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0" h="383">
                    <a:moveTo>
                      <a:pt x="268" y="52"/>
                    </a:moveTo>
                    <a:lnTo>
                      <a:pt x="268" y="0"/>
                    </a:lnTo>
                    <a:lnTo>
                      <a:pt x="244" y="3"/>
                    </a:lnTo>
                    <a:lnTo>
                      <a:pt x="219" y="12"/>
                    </a:lnTo>
                    <a:lnTo>
                      <a:pt x="195" y="26"/>
                    </a:lnTo>
                    <a:lnTo>
                      <a:pt x="172" y="45"/>
                    </a:lnTo>
                    <a:lnTo>
                      <a:pt x="149" y="68"/>
                    </a:lnTo>
                    <a:lnTo>
                      <a:pt x="129" y="92"/>
                    </a:lnTo>
                    <a:lnTo>
                      <a:pt x="107" y="121"/>
                    </a:lnTo>
                    <a:lnTo>
                      <a:pt x="89" y="151"/>
                    </a:lnTo>
                    <a:lnTo>
                      <a:pt x="70" y="181"/>
                    </a:lnTo>
                    <a:lnTo>
                      <a:pt x="55" y="214"/>
                    </a:lnTo>
                    <a:lnTo>
                      <a:pt x="41" y="246"/>
                    </a:lnTo>
                    <a:lnTo>
                      <a:pt x="27" y="277"/>
                    </a:lnTo>
                    <a:lnTo>
                      <a:pt x="18" y="306"/>
                    </a:lnTo>
                    <a:lnTo>
                      <a:pt x="9" y="333"/>
                    </a:lnTo>
                    <a:lnTo>
                      <a:pt x="3" y="358"/>
                    </a:lnTo>
                    <a:lnTo>
                      <a:pt x="0" y="380"/>
                    </a:lnTo>
                    <a:lnTo>
                      <a:pt x="13" y="381"/>
                    </a:lnTo>
                    <a:lnTo>
                      <a:pt x="27" y="383"/>
                    </a:lnTo>
                    <a:lnTo>
                      <a:pt x="41" y="383"/>
                    </a:lnTo>
                    <a:lnTo>
                      <a:pt x="56" y="381"/>
                    </a:lnTo>
                    <a:lnTo>
                      <a:pt x="72" y="380"/>
                    </a:lnTo>
                    <a:lnTo>
                      <a:pt x="89" y="378"/>
                    </a:lnTo>
                    <a:lnTo>
                      <a:pt x="104" y="375"/>
                    </a:lnTo>
                    <a:lnTo>
                      <a:pt x="121" y="372"/>
                    </a:lnTo>
                    <a:lnTo>
                      <a:pt x="138" y="370"/>
                    </a:lnTo>
                    <a:lnTo>
                      <a:pt x="155" y="367"/>
                    </a:lnTo>
                    <a:lnTo>
                      <a:pt x="172" y="364"/>
                    </a:lnTo>
                    <a:lnTo>
                      <a:pt x="187" y="361"/>
                    </a:lnTo>
                    <a:lnTo>
                      <a:pt x="204" y="360"/>
                    </a:lnTo>
                    <a:lnTo>
                      <a:pt x="221" y="358"/>
                    </a:lnTo>
                    <a:lnTo>
                      <a:pt x="236" y="356"/>
                    </a:lnTo>
                    <a:lnTo>
                      <a:pt x="251" y="356"/>
                    </a:lnTo>
                    <a:lnTo>
                      <a:pt x="262" y="335"/>
                    </a:lnTo>
                    <a:lnTo>
                      <a:pt x="268" y="307"/>
                    </a:lnTo>
                    <a:lnTo>
                      <a:pt x="270" y="280"/>
                    </a:lnTo>
                    <a:lnTo>
                      <a:pt x="268" y="255"/>
                    </a:lnTo>
                    <a:lnTo>
                      <a:pt x="262" y="255"/>
                    </a:lnTo>
                    <a:lnTo>
                      <a:pt x="239" y="300"/>
                    </a:lnTo>
                    <a:lnTo>
                      <a:pt x="218" y="303"/>
                    </a:lnTo>
                    <a:lnTo>
                      <a:pt x="196" y="306"/>
                    </a:lnTo>
                    <a:lnTo>
                      <a:pt x="175" y="307"/>
                    </a:lnTo>
                    <a:lnTo>
                      <a:pt x="155" y="310"/>
                    </a:lnTo>
                    <a:lnTo>
                      <a:pt x="133" y="310"/>
                    </a:lnTo>
                    <a:lnTo>
                      <a:pt x="112" y="312"/>
                    </a:lnTo>
                    <a:lnTo>
                      <a:pt x="90" y="312"/>
                    </a:lnTo>
                    <a:lnTo>
                      <a:pt x="69" y="312"/>
                    </a:lnTo>
                    <a:lnTo>
                      <a:pt x="76" y="280"/>
                    </a:lnTo>
                    <a:lnTo>
                      <a:pt x="92" y="241"/>
                    </a:lnTo>
                    <a:lnTo>
                      <a:pt x="115" y="198"/>
                    </a:lnTo>
                    <a:lnTo>
                      <a:pt x="141" y="157"/>
                    </a:lnTo>
                    <a:lnTo>
                      <a:pt x="172" y="118"/>
                    </a:lnTo>
                    <a:lnTo>
                      <a:pt x="204" y="84"/>
                    </a:lnTo>
                    <a:lnTo>
                      <a:pt x="236" y="61"/>
                    </a:lnTo>
                    <a:lnTo>
                      <a:pt x="26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3" name="Group 67"/>
            <p:cNvGrpSpPr>
              <a:grpSpLocks/>
            </p:cNvGrpSpPr>
            <p:nvPr/>
          </p:nvGrpSpPr>
          <p:grpSpPr bwMode="auto">
            <a:xfrm>
              <a:off x="456" y="2139"/>
              <a:ext cx="82" cy="28"/>
              <a:chOff x="1200" y="3160"/>
              <a:chExt cx="250" cy="98"/>
            </a:xfrm>
            <a:grpFill/>
          </p:grpSpPr>
          <p:sp>
            <p:nvSpPr>
              <p:cNvPr id="144" name="Line 68"/>
              <p:cNvSpPr>
                <a:spLocks noChangeShapeType="1"/>
              </p:cNvSpPr>
              <p:nvPr/>
            </p:nvSpPr>
            <p:spPr bwMode="gray">
              <a:xfrm>
                <a:off x="1200" y="3162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5" name="Line 69"/>
              <p:cNvSpPr>
                <a:spLocks noChangeShapeType="1"/>
              </p:cNvSpPr>
              <p:nvPr/>
            </p:nvSpPr>
            <p:spPr bwMode="gray">
              <a:xfrm flipH="1">
                <a:off x="1354" y="3160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69" name="Rectangle 71"/>
          <p:cNvSpPr>
            <a:spLocks noChangeArrowheads="1"/>
          </p:cNvSpPr>
          <p:nvPr/>
        </p:nvSpPr>
        <p:spPr bwMode="gray">
          <a:xfrm>
            <a:off x="4953000" y="1581024"/>
            <a:ext cx="1214438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WMS</a:t>
            </a:r>
            <a:r>
              <a:rPr lang="ko-KR" altLang="en-US" sz="900" dirty="0" smtClean="0">
                <a:latin typeface="+mn-ea"/>
                <a:ea typeface="+mn-ea"/>
              </a:rPr>
              <a:t>출고실적 등록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70" name="AutoShape 72"/>
          <p:cNvCxnSpPr>
            <a:cxnSpLocks noChangeShapeType="1"/>
            <a:stCxn id="291" idx="4"/>
            <a:endCxn id="169" idx="1"/>
          </p:cNvCxnSpPr>
          <p:nvPr/>
        </p:nvCxnSpPr>
        <p:spPr bwMode="gray">
          <a:xfrm flipV="1">
            <a:off x="3863100" y="1700087"/>
            <a:ext cx="1089900" cy="50960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1" name="Text Box 73"/>
          <p:cNvSpPr txBox="1">
            <a:spLocks noChangeArrowheads="1"/>
          </p:cNvSpPr>
          <p:nvPr/>
        </p:nvSpPr>
        <p:spPr bwMode="gray">
          <a:xfrm>
            <a:off x="5132387" y="1081280"/>
            <a:ext cx="64135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0000CC"/>
                </a:solidFill>
                <a:latin typeface="+mn-ea"/>
                <a:ea typeface="+mn-ea"/>
              </a:rPr>
              <a:t>물류센터</a:t>
            </a:r>
          </a:p>
        </p:txBody>
      </p:sp>
      <p:grpSp>
        <p:nvGrpSpPr>
          <p:cNvPr id="172" name="Group 74"/>
          <p:cNvGrpSpPr>
            <a:grpSpLocks/>
          </p:cNvGrpSpPr>
          <p:nvPr/>
        </p:nvGrpSpPr>
        <p:grpSpPr bwMode="auto">
          <a:xfrm>
            <a:off x="4953000" y="998730"/>
            <a:ext cx="236537" cy="285750"/>
            <a:chOff x="395" y="2124"/>
            <a:chExt cx="209" cy="318"/>
          </a:xfrm>
          <a:noFill/>
        </p:grpSpPr>
        <p:grpSp>
          <p:nvGrpSpPr>
            <p:cNvPr id="173" name="Group 75"/>
            <p:cNvGrpSpPr>
              <a:grpSpLocks/>
            </p:cNvGrpSpPr>
            <p:nvPr/>
          </p:nvGrpSpPr>
          <p:grpSpPr bwMode="auto">
            <a:xfrm>
              <a:off x="420" y="2124"/>
              <a:ext cx="184" cy="318"/>
              <a:chOff x="282" y="3570"/>
              <a:chExt cx="240" cy="474"/>
            </a:xfrm>
            <a:grpFill/>
          </p:grpSpPr>
          <p:sp>
            <p:nvSpPr>
              <p:cNvPr id="186" name="Oval 76"/>
              <p:cNvSpPr>
                <a:spLocks noChangeArrowheads="1"/>
              </p:cNvSpPr>
              <p:nvPr/>
            </p:nvSpPr>
            <p:spPr bwMode="gray">
              <a:xfrm>
                <a:off x="330" y="3570"/>
                <a:ext cx="132" cy="13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7" name="Line 77"/>
              <p:cNvSpPr>
                <a:spLocks noChangeShapeType="1"/>
              </p:cNvSpPr>
              <p:nvPr/>
            </p:nvSpPr>
            <p:spPr bwMode="gray">
              <a:xfrm>
                <a:off x="282" y="3792"/>
                <a:ext cx="24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8" name="Line 78"/>
              <p:cNvSpPr>
                <a:spLocks noChangeShapeType="1"/>
              </p:cNvSpPr>
              <p:nvPr/>
            </p:nvSpPr>
            <p:spPr bwMode="gray">
              <a:xfrm>
                <a:off x="396" y="3708"/>
                <a:ext cx="0" cy="1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9" name="Line 79"/>
              <p:cNvSpPr>
                <a:spLocks noChangeShapeType="1"/>
              </p:cNvSpPr>
              <p:nvPr/>
            </p:nvSpPr>
            <p:spPr bwMode="gray">
              <a:xfrm flipH="1">
                <a:off x="288" y="3906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90" name="Line 80"/>
              <p:cNvSpPr>
                <a:spLocks noChangeShapeType="1"/>
              </p:cNvSpPr>
              <p:nvPr/>
            </p:nvSpPr>
            <p:spPr bwMode="gray">
              <a:xfrm>
                <a:off x="400" y="3904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4" name="Group 81"/>
            <p:cNvGrpSpPr>
              <a:grpSpLocks/>
            </p:cNvGrpSpPr>
            <p:nvPr/>
          </p:nvGrpSpPr>
          <p:grpSpPr bwMode="auto">
            <a:xfrm>
              <a:off x="395" y="2180"/>
              <a:ext cx="45" cy="127"/>
              <a:chOff x="2597" y="1682"/>
              <a:chExt cx="183" cy="403"/>
            </a:xfrm>
            <a:grpFill/>
          </p:grpSpPr>
          <p:sp>
            <p:nvSpPr>
              <p:cNvPr id="182" name="Freeform 82"/>
              <p:cNvSpPr>
                <a:spLocks/>
              </p:cNvSpPr>
              <p:nvPr/>
            </p:nvSpPr>
            <p:spPr bwMode="auto">
              <a:xfrm>
                <a:off x="2632" y="1739"/>
                <a:ext cx="84" cy="62"/>
              </a:xfrm>
              <a:custGeom>
                <a:avLst/>
                <a:gdLst>
                  <a:gd name="T0" fmla="*/ 45 w 169"/>
                  <a:gd name="T1" fmla="*/ 0 h 124"/>
                  <a:gd name="T2" fmla="*/ 0 w 169"/>
                  <a:gd name="T3" fmla="*/ 57 h 124"/>
                  <a:gd name="T4" fmla="*/ 34 w 169"/>
                  <a:gd name="T5" fmla="*/ 124 h 124"/>
                  <a:gd name="T6" fmla="*/ 78 w 169"/>
                  <a:gd name="T7" fmla="*/ 103 h 124"/>
                  <a:gd name="T8" fmla="*/ 102 w 169"/>
                  <a:gd name="T9" fmla="*/ 57 h 124"/>
                  <a:gd name="T10" fmla="*/ 169 w 169"/>
                  <a:gd name="T11" fmla="*/ 46 h 124"/>
                  <a:gd name="T12" fmla="*/ 91 w 169"/>
                  <a:gd name="T13" fmla="*/ 0 h 124"/>
                  <a:gd name="T14" fmla="*/ 45 w 169"/>
                  <a:gd name="T15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24">
                    <a:moveTo>
                      <a:pt x="45" y="0"/>
                    </a:moveTo>
                    <a:lnTo>
                      <a:pt x="0" y="57"/>
                    </a:lnTo>
                    <a:lnTo>
                      <a:pt x="34" y="124"/>
                    </a:lnTo>
                    <a:lnTo>
                      <a:pt x="78" y="103"/>
                    </a:lnTo>
                    <a:lnTo>
                      <a:pt x="102" y="57"/>
                    </a:lnTo>
                    <a:lnTo>
                      <a:pt x="169" y="46"/>
                    </a:lnTo>
                    <a:lnTo>
                      <a:pt x="91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3" name="Freeform 83"/>
              <p:cNvSpPr>
                <a:spLocks/>
              </p:cNvSpPr>
              <p:nvPr/>
            </p:nvSpPr>
            <p:spPr bwMode="auto">
              <a:xfrm rot="20633656" flipV="1">
                <a:off x="2711" y="1790"/>
                <a:ext cx="69" cy="295"/>
              </a:xfrm>
              <a:custGeom>
                <a:avLst/>
                <a:gdLst>
                  <a:gd name="T0" fmla="*/ 103 w 149"/>
                  <a:gd name="T1" fmla="*/ 0 h 194"/>
                  <a:gd name="T2" fmla="*/ 149 w 149"/>
                  <a:gd name="T3" fmla="*/ 23 h 194"/>
                  <a:gd name="T4" fmla="*/ 126 w 149"/>
                  <a:gd name="T5" fmla="*/ 49 h 194"/>
                  <a:gd name="T6" fmla="*/ 111 w 149"/>
                  <a:gd name="T7" fmla="*/ 71 h 194"/>
                  <a:gd name="T8" fmla="*/ 99 w 149"/>
                  <a:gd name="T9" fmla="*/ 88 h 194"/>
                  <a:gd name="T10" fmla="*/ 89 w 149"/>
                  <a:gd name="T11" fmla="*/ 103 h 194"/>
                  <a:gd name="T12" fmla="*/ 82 w 149"/>
                  <a:gd name="T13" fmla="*/ 120 h 194"/>
                  <a:gd name="T14" fmla="*/ 75 w 149"/>
                  <a:gd name="T15" fmla="*/ 138 h 194"/>
                  <a:gd name="T16" fmla="*/ 68 w 149"/>
                  <a:gd name="T17" fmla="*/ 163 h 194"/>
                  <a:gd name="T18" fmla="*/ 57 w 149"/>
                  <a:gd name="T19" fmla="*/ 194 h 194"/>
                  <a:gd name="T20" fmla="*/ 0 w 149"/>
                  <a:gd name="T21" fmla="*/ 194 h 194"/>
                  <a:gd name="T22" fmla="*/ 9 w 149"/>
                  <a:gd name="T23" fmla="*/ 168 h 194"/>
                  <a:gd name="T24" fmla="*/ 20 w 149"/>
                  <a:gd name="T25" fmla="*/ 143 h 194"/>
                  <a:gd name="T26" fmla="*/ 31 w 149"/>
                  <a:gd name="T27" fmla="*/ 118 h 194"/>
                  <a:gd name="T28" fmla="*/ 45 w 149"/>
                  <a:gd name="T29" fmla="*/ 94 h 194"/>
                  <a:gd name="T30" fmla="*/ 59 w 149"/>
                  <a:gd name="T31" fmla="*/ 69 h 194"/>
                  <a:gd name="T32" fmla="*/ 72 w 149"/>
                  <a:gd name="T33" fmla="*/ 46 h 194"/>
                  <a:gd name="T34" fmla="*/ 88 w 149"/>
                  <a:gd name="T35" fmla="*/ 23 h 194"/>
                  <a:gd name="T36" fmla="*/ 103 w 149"/>
                  <a:gd name="T3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94">
                    <a:moveTo>
                      <a:pt x="103" y="0"/>
                    </a:moveTo>
                    <a:lnTo>
                      <a:pt x="149" y="23"/>
                    </a:lnTo>
                    <a:lnTo>
                      <a:pt x="126" y="49"/>
                    </a:lnTo>
                    <a:lnTo>
                      <a:pt x="111" y="71"/>
                    </a:lnTo>
                    <a:lnTo>
                      <a:pt x="99" y="88"/>
                    </a:lnTo>
                    <a:lnTo>
                      <a:pt x="89" y="103"/>
                    </a:lnTo>
                    <a:lnTo>
                      <a:pt x="82" y="120"/>
                    </a:lnTo>
                    <a:lnTo>
                      <a:pt x="75" y="138"/>
                    </a:lnTo>
                    <a:lnTo>
                      <a:pt x="68" y="163"/>
                    </a:lnTo>
                    <a:lnTo>
                      <a:pt x="57" y="194"/>
                    </a:lnTo>
                    <a:lnTo>
                      <a:pt x="0" y="194"/>
                    </a:lnTo>
                    <a:lnTo>
                      <a:pt x="9" y="168"/>
                    </a:lnTo>
                    <a:lnTo>
                      <a:pt x="20" y="143"/>
                    </a:lnTo>
                    <a:lnTo>
                      <a:pt x="31" y="118"/>
                    </a:lnTo>
                    <a:lnTo>
                      <a:pt x="45" y="94"/>
                    </a:lnTo>
                    <a:lnTo>
                      <a:pt x="59" y="69"/>
                    </a:lnTo>
                    <a:lnTo>
                      <a:pt x="72" y="46"/>
                    </a:lnTo>
                    <a:lnTo>
                      <a:pt x="88" y="23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4" name="Freeform 84"/>
              <p:cNvSpPr>
                <a:spLocks/>
              </p:cNvSpPr>
              <p:nvPr/>
            </p:nvSpPr>
            <p:spPr bwMode="auto">
              <a:xfrm>
                <a:off x="2683" y="1704"/>
                <a:ext cx="79" cy="109"/>
              </a:xfrm>
              <a:custGeom>
                <a:avLst/>
                <a:gdLst>
                  <a:gd name="T0" fmla="*/ 0 w 158"/>
                  <a:gd name="T1" fmla="*/ 138 h 216"/>
                  <a:gd name="T2" fmla="*/ 0 w 158"/>
                  <a:gd name="T3" fmla="*/ 195 h 216"/>
                  <a:gd name="T4" fmla="*/ 91 w 158"/>
                  <a:gd name="T5" fmla="*/ 216 h 216"/>
                  <a:gd name="T6" fmla="*/ 158 w 158"/>
                  <a:gd name="T7" fmla="*/ 183 h 216"/>
                  <a:gd name="T8" fmla="*/ 148 w 158"/>
                  <a:gd name="T9" fmla="*/ 103 h 216"/>
                  <a:gd name="T10" fmla="*/ 126 w 158"/>
                  <a:gd name="T11" fmla="*/ 81 h 216"/>
                  <a:gd name="T12" fmla="*/ 111 w 158"/>
                  <a:gd name="T13" fmla="*/ 66 h 216"/>
                  <a:gd name="T14" fmla="*/ 98 w 158"/>
                  <a:gd name="T15" fmla="*/ 53 h 216"/>
                  <a:gd name="T16" fmla="*/ 88 w 158"/>
                  <a:gd name="T17" fmla="*/ 44 h 216"/>
                  <a:gd name="T18" fmla="*/ 74 w 158"/>
                  <a:gd name="T19" fmla="*/ 35 h 216"/>
                  <a:gd name="T20" fmla="*/ 57 w 158"/>
                  <a:gd name="T21" fmla="*/ 26 h 216"/>
                  <a:gd name="T22" fmla="*/ 32 w 158"/>
                  <a:gd name="T23" fmla="*/ 14 h 216"/>
                  <a:gd name="T24" fmla="*/ 0 w 158"/>
                  <a:gd name="T25" fmla="*/ 0 h 216"/>
                  <a:gd name="T26" fmla="*/ 0 w 158"/>
                  <a:gd name="T27" fmla="*/ 64 h 216"/>
                  <a:gd name="T28" fmla="*/ 17 w 158"/>
                  <a:gd name="T29" fmla="*/ 72 h 216"/>
                  <a:gd name="T30" fmla="*/ 34 w 158"/>
                  <a:gd name="T31" fmla="*/ 81 h 216"/>
                  <a:gd name="T32" fmla="*/ 48 w 158"/>
                  <a:gd name="T33" fmla="*/ 92 h 216"/>
                  <a:gd name="T34" fmla="*/ 61 w 158"/>
                  <a:gd name="T35" fmla="*/ 103 h 216"/>
                  <a:gd name="T36" fmla="*/ 74 w 158"/>
                  <a:gd name="T37" fmla="*/ 116 h 216"/>
                  <a:gd name="T38" fmla="*/ 85 w 158"/>
                  <a:gd name="T39" fmla="*/ 130 h 216"/>
                  <a:gd name="T40" fmla="*/ 94 w 158"/>
                  <a:gd name="T41" fmla="*/ 144 h 216"/>
                  <a:gd name="T42" fmla="*/ 103 w 158"/>
                  <a:gd name="T43" fmla="*/ 159 h 216"/>
                  <a:gd name="T44" fmla="*/ 91 w 158"/>
                  <a:gd name="T45" fmla="*/ 161 h 216"/>
                  <a:gd name="T46" fmla="*/ 77 w 158"/>
                  <a:gd name="T47" fmla="*/ 161 h 216"/>
                  <a:gd name="T48" fmla="*/ 63 w 158"/>
                  <a:gd name="T49" fmla="*/ 161 h 216"/>
                  <a:gd name="T50" fmla="*/ 49 w 158"/>
                  <a:gd name="T51" fmla="*/ 158 h 216"/>
                  <a:gd name="T52" fmla="*/ 35 w 158"/>
                  <a:gd name="T53" fmla="*/ 155 h 216"/>
                  <a:gd name="T54" fmla="*/ 23 w 158"/>
                  <a:gd name="T55" fmla="*/ 150 h 216"/>
                  <a:gd name="T56" fmla="*/ 11 w 158"/>
                  <a:gd name="T57" fmla="*/ 144 h 216"/>
                  <a:gd name="T58" fmla="*/ 0 w 158"/>
                  <a:gd name="T59" fmla="*/ 13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8" h="216">
                    <a:moveTo>
                      <a:pt x="0" y="138"/>
                    </a:moveTo>
                    <a:lnTo>
                      <a:pt x="0" y="195"/>
                    </a:lnTo>
                    <a:lnTo>
                      <a:pt x="91" y="216"/>
                    </a:lnTo>
                    <a:lnTo>
                      <a:pt x="158" y="183"/>
                    </a:lnTo>
                    <a:lnTo>
                      <a:pt x="148" y="103"/>
                    </a:lnTo>
                    <a:lnTo>
                      <a:pt x="126" y="81"/>
                    </a:lnTo>
                    <a:lnTo>
                      <a:pt x="111" y="66"/>
                    </a:lnTo>
                    <a:lnTo>
                      <a:pt x="98" y="53"/>
                    </a:lnTo>
                    <a:lnTo>
                      <a:pt x="88" y="44"/>
                    </a:lnTo>
                    <a:lnTo>
                      <a:pt x="74" y="35"/>
                    </a:lnTo>
                    <a:lnTo>
                      <a:pt x="57" y="26"/>
                    </a:lnTo>
                    <a:lnTo>
                      <a:pt x="32" y="14"/>
                    </a:lnTo>
                    <a:lnTo>
                      <a:pt x="0" y="0"/>
                    </a:lnTo>
                    <a:lnTo>
                      <a:pt x="0" y="64"/>
                    </a:lnTo>
                    <a:lnTo>
                      <a:pt x="17" y="72"/>
                    </a:lnTo>
                    <a:lnTo>
                      <a:pt x="34" y="81"/>
                    </a:lnTo>
                    <a:lnTo>
                      <a:pt x="48" y="92"/>
                    </a:lnTo>
                    <a:lnTo>
                      <a:pt x="61" y="103"/>
                    </a:lnTo>
                    <a:lnTo>
                      <a:pt x="74" y="116"/>
                    </a:lnTo>
                    <a:lnTo>
                      <a:pt x="85" y="130"/>
                    </a:lnTo>
                    <a:lnTo>
                      <a:pt x="94" y="144"/>
                    </a:lnTo>
                    <a:lnTo>
                      <a:pt x="103" y="159"/>
                    </a:lnTo>
                    <a:lnTo>
                      <a:pt x="91" y="161"/>
                    </a:lnTo>
                    <a:lnTo>
                      <a:pt x="77" y="161"/>
                    </a:lnTo>
                    <a:lnTo>
                      <a:pt x="63" y="161"/>
                    </a:lnTo>
                    <a:lnTo>
                      <a:pt x="49" y="158"/>
                    </a:lnTo>
                    <a:lnTo>
                      <a:pt x="35" y="155"/>
                    </a:lnTo>
                    <a:lnTo>
                      <a:pt x="23" y="150"/>
                    </a:lnTo>
                    <a:lnTo>
                      <a:pt x="11" y="144"/>
                    </a:lnTo>
                    <a:lnTo>
                      <a:pt x="0" y="1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5" name="Freeform 85"/>
              <p:cNvSpPr>
                <a:spLocks/>
              </p:cNvSpPr>
              <p:nvPr/>
            </p:nvSpPr>
            <p:spPr bwMode="auto">
              <a:xfrm>
                <a:off x="2597" y="1682"/>
                <a:ext cx="87" cy="154"/>
              </a:xfrm>
              <a:custGeom>
                <a:avLst/>
                <a:gdLst>
                  <a:gd name="T0" fmla="*/ 172 w 174"/>
                  <a:gd name="T1" fmla="*/ 109 h 307"/>
                  <a:gd name="T2" fmla="*/ 172 w 174"/>
                  <a:gd name="T3" fmla="*/ 45 h 307"/>
                  <a:gd name="T4" fmla="*/ 158 w 174"/>
                  <a:gd name="T5" fmla="*/ 40 h 307"/>
                  <a:gd name="T6" fmla="*/ 146 w 174"/>
                  <a:gd name="T7" fmla="*/ 35 h 307"/>
                  <a:gd name="T8" fmla="*/ 132 w 174"/>
                  <a:gd name="T9" fmla="*/ 31 h 307"/>
                  <a:gd name="T10" fmla="*/ 120 w 174"/>
                  <a:gd name="T11" fmla="*/ 25 h 307"/>
                  <a:gd name="T12" fmla="*/ 108 w 174"/>
                  <a:gd name="T13" fmla="*/ 19 h 307"/>
                  <a:gd name="T14" fmla="*/ 95 w 174"/>
                  <a:gd name="T15" fmla="*/ 12 h 307"/>
                  <a:gd name="T16" fmla="*/ 81 w 174"/>
                  <a:gd name="T17" fmla="*/ 6 h 307"/>
                  <a:gd name="T18" fmla="*/ 69 w 174"/>
                  <a:gd name="T19" fmla="*/ 0 h 307"/>
                  <a:gd name="T20" fmla="*/ 0 w 174"/>
                  <a:gd name="T21" fmla="*/ 217 h 307"/>
                  <a:gd name="T22" fmla="*/ 5 w 174"/>
                  <a:gd name="T23" fmla="*/ 231 h 307"/>
                  <a:gd name="T24" fmla="*/ 12 w 174"/>
                  <a:gd name="T25" fmla="*/ 244 h 307"/>
                  <a:gd name="T26" fmla="*/ 22 w 174"/>
                  <a:gd name="T27" fmla="*/ 258 h 307"/>
                  <a:gd name="T28" fmla="*/ 31 w 174"/>
                  <a:gd name="T29" fmla="*/ 271 h 307"/>
                  <a:gd name="T30" fmla="*/ 43 w 174"/>
                  <a:gd name="T31" fmla="*/ 281 h 307"/>
                  <a:gd name="T32" fmla="*/ 55 w 174"/>
                  <a:gd name="T33" fmla="*/ 292 h 307"/>
                  <a:gd name="T34" fmla="*/ 68 w 174"/>
                  <a:gd name="T35" fmla="*/ 300 h 307"/>
                  <a:gd name="T36" fmla="*/ 80 w 174"/>
                  <a:gd name="T37" fmla="*/ 307 h 307"/>
                  <a:gd name="T38" fmla="*/ 147 w 174"/>
                  <a:gd name="T39" fmla="*/ 286 h 307"/>
                  <a:gd name="T40" fmla="*/ 160 w 174"/>
                  <a:gd name="T41" fmla="*/ 264 h 307"/>
                  <a:gd name="T42" fmla="*/ 169 w 174"/>
                  <a:gd name="T43" fmla="*/ 237 h 307"/>
                  <a:gd name="T44" fmla="*/ 174 w 174"/>
                  <a:gd name="T45" fmla="*/ 209 h 307"/>
                  <a:gd name="T46" fmla="*/ 172 w 174"/>
                  <a:gd name="T47" fmla="*/ 183 h 307"/>
                  <a:gd name="T48" fmla="*/ 166 w 174"/>
                  <a:gd name="T49" fmla="*/ 192 h 307"/>
                  <a:gd name="T50" fmla="*/ 161 w 174"/>
                  <a:gd name="T51" fmla="*/ 201 h 307"/>
                  <a:gd name="T52" fmla="*/ 155 w 174"/>
                  <a:gd name="T53" fmla="*/ 212 h 307"/>
                  <a:gd name="T54" fmla="*/ 147 w 174"/>
                  <a:gd name="T55" fmla="*/ 221 h 307"/>
                  <a:gd name="T56" fmla="*/ 140 w 174"/>
                  <a:gd name="T57" fmla="*/ 231 h 307"/>
                  <a:gd name="T58" fmla="*/ 132 w 174"/>
                  <a:gd name="T59" fmla="*/ 240 h 307"/>
                  <a:gd name="T60" fmla="*/ 123 w 174"/>
                  <a:gd name="T61" fmla="*/ 246 h 307"/>
                  <a:gd name="T62" fmla="*/ 114 w 174"/>
                  <a:gd name="T63" fmla="*/ 251 h 307"/>
                  <a:gd name="T64" fmla="*/ 69 w 174"/>
                  <a:gd name="T65" fmla="*/ 228 h 307"/>
                  <a:gd name="T66" fmla="*/ 75 w 174"/>
                  <a:gd name="T67" fmla="*/ 191 h 307"/>
                  <a:gd name="T68" fmla="*/ 84 w 174"/>
                  <a:gd name="T69" fmla="*/ 154 h 307"/>
                  <a:gd name="T70" fmla="*/ 92 w 174"/>
                  <a:gd name="T71" fmla="*/ 117 h 307"/>
                  <a:gd name="T72" fmla="*/ 103 w 174"/>
                  <a:gd name="T73" fmla="*/ 80 h 307"/>
                  <a:gd name="T74" fmla="*/ 172 w 174"/>
                  <a:gd name="T75" fmla="*/ 10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4" h="307">
                    <a:moveTo>
                      <a:pt x="172" y="109"/>
                    </a:moveTo>
                    <a:lnTo>
                      <a:pt x="172" y="45"/>
                    </a:lnTo>
                    <a:lnTo>
                      <a:pt x="158" y="40"/>
                    </a:lnTo>
                    <a:lnTo>
                      <a:pt x="146" y="35"/>
                    </a:lnTo>
                    <a:lnTo>
                      <a:pt x="132" y="31"/>
                    </a:lnTo>
                    <a:lnTo>
                      <a:pt x="120" y="25"/>
                    </a:lnTo>
                    <a:lnTo>
                      <a:pt x="108" y="19"/>
                    </a:lnTo>
                    <a:lnTo>
                      <a:pt x="95" y="12"/>
                    </a:lnTo>
                    <a:lnTo>
                      <a:pt x="81" y="6"/>
                    </a:lnTo>
                    <a:lnTo>
                      <a:pt x="69" y="0"/>
                    </a:lnTo>
                    <a:lnTo>
                      <a:pt x="0" y="217"/>
                    </a:lnTo>
                    <a:lnTo>
                      <a:pt x="5" y="231"/>
                    </a:lnTo>
                    <a:lnTo>
                      <a:pt x="12" y="244"/>
                    </a:lnTo>
                    <a:lnTo>
                      <a:pt x="22" y="258"/>
                    </a:lnTo>
                    <a:lnTo>
                      <a:pt x="31" y="271"/>
                    </a:lnTo>
                    <a:lnTo>
                      <a:pt x="43" y="281"/>
                    </a:lnTo>
                    <a:lnTo>
                      <a:pt x="55" y="292"/>
                    </a:lnTo>
                    <a:lnTo>
                      <a:pt x="68" y="300"/>
                    </a:lnTo>
                    <a:lnTo>
                      <a:pt x="80" y="307"/>
                    </a:lnTo>
                    <a:lnTo>
                      <a:pt x="147" y="286"/>
                    </a:lnTo>
                    <a:lnTo>
                      <a:pt x="160" y="264"/>
                    </a:lnTo>
                    <a:lnTo>
                      <a:pt x="169" y="237"/>
                    </a:lnTo>
                    <a:lnTo>
                      <a:pt x="174" y="209"/>
                    </a:lnTo>
                    <a:lnTo>
                      <a:pt x="172" y="183"/>
                    </a:lnTo>
                    <a:lnTo>
                      <a:pt x="166" y="192"/>
                    </a:lnTo>
                    <a:lnTo>
                      <a:pt x="161" y="201"/>
                    </a:lnTo>
                    <a:lnTo>
                      <a:pt x="155" y="212"/>
                    </a:lnTo>
                    <a:lnTo>
                      <a:pt x="147" y="221"/>
                    </a:lnTo>
                    <a:lnTo>
                      <a:pt x="140" y="231"/>
                    </a:lnTo>
                    <a:lnTo>
                      <a:pt x="132" y="240"/>
                    </a:lnTo>
                    <a:lnTo>
                      <a:pt x="123" y="246"/>
                    </a:lnTo>
                    <a:lnTo>
                      <a:pt x="114" y="251"/>
                    </a:lnTo>
                    <a:lnTo>
                      <a:pt x="69" y="228"/>
                    </a:lnTo>
                    <a:lnTo>
                      <a:pt x="75" y="191"/>
                    </a:lnTo>
                    <a:lnTo>
                      <a:pt x="84" y="154"/>
                    </a:lnTo>
                    <a:lnTo>
                      <a:pt x="92" y="117"/>
                    </a:lnTo>
                    <a:lnTo>
                      <a:pt x="103" y="80"/>
                    </a:lnTo>
                    <a:lnTo>
                      <a:pt x="17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5" name="Group 86"/>
            <p:cNvGrpSpPr>
              <a:grpSpLocks/>
            </p:cNvGrpSpPr>
            <p:nvPr/>
          </p:nvGrpSpPr>
          <p:grpSpPr bwMode="auto">
            <a:xfrm>
              <a:off x="511" y="2203"/>
              <a:ext cx="77" cy="62"/>
              <a:chOff x="3235" y="1597"/>
              <a:chExt cx="263" cy="200"/>
            </a:xfrm>
            <a:grpFill/>
          </p:grpSpPr>
          <p:sp>
            <p:nvSpPr>
              <p:cNvPr id="179" name="Freeform 87"/>
              <p:cNvSpPr>
                <a:spLocks/>
              </p:cNvSpPr>
              <p:nvPr/>
            </p:nvSpPr>
            <p:spPr bwMode="auto">
              <a:xfrm>
                <a:off x="3321" y="1647"/>
                <a:ext cx="114" cy="75"/>
              </a:xfrm>
              <a:custGeom>
                <a:avLst/>
                <a:gdLst>
                  <a:gd name="T0" fmla="*/ 0 w 229"/>
                  <a:gd name="T1" fmla="*/ 115 h 149"/>
                  <a:gd name="T2" fmla="*/ 81 w 229"/>
                  <a:gd name="T3" fmla="*/ 104 h 149"/>
                  <a:gd name="T4" fmla="*/ 115 w 229"/>
                  <a:gd name="T5" fmla="*/ 25 h 149"/>
                  <a:gd name="T6" fmla="*/ 160 w 229"/>
                  <a:gd name="T7" fmla="*/ 35 h 149"/>
                  <a:gd name="T8" fmla="*/ 195 w 229"/>
                  <a:gd name="T9" fmla="*/ 0 h 149"/>
                  <a:gd name="T10" fmla="*/ 229 w 229"/>
                  <a:gd name="T11" fmla="*/ 25 h 149"/>
                  <a:gd name="T12" fmla="*/ 172 w 229"/>
                  <a:gd name="T13" fmla="*/ 92 h 149"/>
                  <a:gd name="T14" fmla="*/ 126 w 229"/>
                  <a:gd name="T15" fmla="*/ 81 h 149"/>
                  <a:gd name="T16" fmla="*/ 115 w 229"/>
                  <a:gd name="T17" fmla="*/ 126 h 149"/>
                  <a:gd name="T18" fmla="*/ 25 w 229"/>
                  <a:gd name="T19" fmla="*/ 149 h 149"/>
                  <a:gd name="T20" fmla="*/ 0 w 229"/>
                  <a:gd name="T21" fmla="*/ 11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49">
                    <a:moveTo>
                      <a:pt x="0" y="115"/>
                    </a:moveTo>
                    <a:lnTo>
                      <a:pt x="81" y="104"/>
                    </a:lnTo>
                    <a:lnTo>
                      <a:pt x="115" y="25"/>
                    </a:lnTo>
                    <a:lnTo>
                      <a:pt x="160" y="35"/>
                    </a:lnTo>
                    <a:lnTo>
                      <a:pt x="195" y="0"/>
                    </a:lnTo>
                    <a:lnTo>
                      <a:pt x="229" y="25"/>
                    </a:lnTo>
                    <a:lnTo>
                      <a:pt x="172" y="92"/>
                    </a:lnTo>
                    <a:lnTo>
                      <a:pt x="126" y="81"/>
                    </a:lnTo>
                    <a:lnTo>
                      <a:pt x="115" y="126"/>
                    </a:lnTo>
                    <a:lnTo>
                      <a:pt x="25" y="149"/>
                    </a:lnTo>
                    <a:lnTo>
                      <a:pt x="0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0" name="Freeform 88"/>
              <p:cNvSpPr>
                <a:spLocks/>
              </p:cNvSpPr>
              <p:nvPr/>
            </p:nvSpPr>
            <p:spPr bwMode="auto">
              <a:xfrm>
                <a:off x="3370" y="1597"/>
                <a:ext cx="128" cy="167"/>
              </a:xfrm>
              <a:custGeom>
                <a:avLst/>
                <a:gdLst>
                  <a:gd name="T0" fmla="*/ 0 w 257"/>
                  <a:gd name="T1" fmla="*/ 273 h 333"/>
                  <a:gd name="T2" fmla="*/ 0 w 257"/>
                  <a:gd name="T3" fmla="*/ 333 h 333"/>
                  <a:gd name="T4" fmla="*/ 7 w 257"/>
                  <a:gd name="T5" fmla="*/ 318 h 333"/>
                  <a:gd name="T6" fmla="*/ 119 w 257"/>
                  <a:gd name="T7" fmla="*/ 307 h 333"/>
                  <a:gd name="T8" fmla="*/ 131 w 257"/>
                  <a:gd name="T9" fmla="*/ 239 h 333"/>
                  <a:gd name="T10" fmla="*/ 223 w 257"/>
                  <a:gd name="T11" fmla="*/ 227 h 333"/>
                  <a:gd name="T12" fmla="*/ 257 w 257"/>
                  <a:gd name="T13" fmla="*/ 149 h 333"/>
                  <a:gd name="T14" fmla="*/ 211 w 257"/>
                  <a:gd name="T15" fmla="*/ 33 h 333"/>
                  <a:gd name="T16" fmla="*/ 189 w 257"/>
                  <a:gd name="T17" fmla="*/ 21 h 333"/>
                  <a:gd name="T18" fmla="*/ 163 w 257"/>
                  <a:gd name="T19" fmla="*/ 12 h 333"/>
                  <a:gd name="T20" fmla="*/ 136 w 257"/>
                  <a:gd name="T21" fmla="*/ 4 h 333"/>
                  <a:gd name="T22" fmla="*/ 108 w 257"/>
                  <a:gd name="T23" fmla="*/ 0 h 333"/>
                  <a:gd name="T24" fmla="*/ 79 w 257"/>
                  <a:gd name="T25" fmla="*/ 0 h 333"/>
                  <a:gd name="T26" fmla="*/ 50 w 257"/>
                  <a:gd name="T27" fmla="*/ 1 h 333"/>
                  <a:gd name="T28" fmla="*/ 23 w 257"/>
                  <a:gd name="T29" fmla="*/ 7 h 333"/>
                  <a:gd name="T30" fmla="*/ 0 w 257"/>
                  <a:gd name="T31" fmla="*/ 18 h 333"/>
                  <a:gd name="T32" fmla="*/ 0 w 257"/>
                  <a:gd name="T33" fmla="*/ 70 h 333"/>
                  <a:gd name="T34" fmla="*/ 62 w 257"/>
                  <a:gd name="T35" fmla="*/ 44 h 333"/>
                  <a:gd name="T36" fmla="*/ 142 w 257"/>
                  <a:gd name="T37" fmla="*/ 56 h 333"/>
                  <a:gd name="T38" fmla="*/ 200 w 257"/>
                  <a:gd name="T39" fmla="*/ 126 h 333"/>
                  <a:gd name="T40" fmla="*/ 176 w 257"/>
                  <a:gd name="T41" fmla="*/ 182 h 333"/>
                  <a:gd name="T42" fmla="*/ 97 w 257"/>
                  <a:gd name="T43" fmla="*/ 205 h 333"/>
                  <a:gd name="T44" fmla="*/ 85 w 257"/>
                  <a:gd name="T45" fmla="*/ 273 h 333"/>
                  <a:gd name="T46" fmla="*/ 0 w 257"/>
                  <a:gd name="T47" fmla="*/ 27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7" h="333">
                    <a:moveTo>
                      <a:pt x="0" y="273"/>
                    </a:moveTo>
                    <a:lnTo>
                      <a:pt x="0" y="333"/>
                    </a:lnTo>
                    <a:lnTo>
                      <a:pt x="7" y="318"/>
                    </a:lnTo>
                    <a:lnTo>
                      <a:pt x="119" y="307"/>
                    </a:lnTo>
                    <a:lnTo>
                      <a:pt x="131" y="239"/>
                    </a:lnTo>
                    <a:lnTo>
                      <a:pt x="223" y="227"/>
                    </a:lnTo>
                    <a:lnTo>
                      <a:pt x="257" y="149"/>
                    </a:lnTo>
                    <a:lnTo>
                      <a:pt x="211" y="33"/>
                    </a:lnTo>
                    <a:lnTo>
                      <a:pt x="189" y="21"/>
                    </a:lnTo>
                    <a:lnTo>
                      <a:pt x="163" y="12"/>
                    </a:lnTo>
                    <a:lnTo>
                      <a:pt x="136" y="4"/>
                    </a:lnTo>
                    <a:lnTo>
                      <a:pt x="108" y="0"/>
                    </a:lnTo>
                    <a:lnTo>
                      <a:pt x="79" y="0"/>
                    </a:lnTo>
                    <a:lnTo>
                      <a:pt x="50" y="1"/>
                    </a:lnTo>
                    <a:lnTo>
                      <a:pt x="23" y="7"/>
                    </a:lnTo>
                    <a:lnTo>
                      <a:pt x="0" y="18"/>
                    </a:lnTo>
                    <a:lnTo>
                      <a:pt x="0" y="70"/>
                    </a:lnTo>
                    <a:lnTo>
                      <a:pt x="62" y="44"/>
                    </a:lnTo>
                    <a:lnTo>
                      <a:pt x="142" y="56"/>
                    </a:lnTo>
                    <a:lnTo>
                      <a:pt x="200" y="126"/>
                    </a:lnTo>
                    <a:lnTo>
                      <a:pt x="176" y="182"/>
                    </a:lnTo>
                    <a:lnTo>
                      <a:pt x="97" y="205"/>
                    </a:lnTo>
                    <a:lnTo>
                      <a:pt x="85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81" name="Freeform 89"/>
              <p:cNvSpPr>
                <a:spLocks/>
              </p:cNvSpPr>
              <p:nvPr/>
            </p:nvSpPr>
            <p:spPr bwMode="auto">
              <a:xfrm>
                <a:off x="3235" y="1606"/>
                <a:ext cx="135" cy="191"/>
              </a:xfrm>
              <a:custGeom>
                <a:avLst/>
                <a:gdLst>
                  <a:gd name="T0" fmla="*/ 268 w 270"/>
                  <a:gd name="T1" fmla="*/ 52 h 383"/>
                  <a:gd name="T2" fmla="*/ 268 w 270"/>
                  <a:gd name="T3" fmla="*/ 0 h 383"/>
                  <a:gd name="T4" fmla="*/ 244 w 270"/>
                  <a:gd name="T5" fmla="*/ 3 h 383"/>
                  <a:gd name="T6" fmla="*/ 219 w 270"/>
                  <a:gd name="T7" fmla="*/ 12 h 383"/>
                  <a:gd name="T8" fmla="*/ 195 w 270"/>
                  <a:gd name="T9" fmla="*/ 26 h 383"/>
                  <a:gd name="T10" fmla="*/ 172 w 270"/>
                  <a:gd name="T11" fmla="*/ 45 h 383"/>
                  <a:gd name="T12" fmla="*/ 149 w 270"/>
                  <a:gd name="T13" fmla="*/ 68 h 383"/>
                  <a:gd name="T14" fmla="*/ 129 w 270"/>
                  <a:gd name="T15" fmla="*/ 92 h 383"/>
                  <a:gd name="T16" fmla="*/ 107 w 270"/>
                  <a:gd name="T17" fmla="*/ 121 h 383"/>
                  <a:gd name="T18" fmla="*/ 89 w 270"/>
                  <a:gd name="T19" fmla="*/ 151 h 383"/>
                  <a:gd name="T20" fmla="*/ 70 w 270"/>
                  <a:gd name="T21" fmla="*/ 181 h 383"/>
                  <a:gd name="T22" fmla="*/ 55 w 270"/>
                  <a:gd name="T23" fmla="*/ 214 h 383"/>
                  <a:gd name="T24" fmla="*/ 41 w 270"/>
                  <a:gd name="T25" fmla="*/ 246 h 383"/>
                  <a:gd name="T26" fmla="*/ 27 w 270"/>
                  <a:gd name="T27" fmla="*/ 277 h 383"/>
                  <a:gd name="T28" fmla="*/ 18 w 270"/>
                  <a:gd name="T29" fmla="*/ 306 h 383"/>
                  <a:gd name="T30" fmla="*/ 9 w 270"/>
                  <a:gd name="T31" fmla="*/ 333 h 383"/>
                  <a:gd name="T32" fmla="*/ 3 w 270"/>
                  <a:gd name="T33" fmla="*/ 358 h 383"/>
                  <a:gd name="T34" fmla="*/ 0 w 270"/>
                  <a:gd name="T35" fmla="*/ 380 h 383"/>
                  <a:gd name="T36" fmla="*/ 13 w 270"/>
                  <a:gd name="T37" fmla="*/ 381 h 383"/>
                  <a:gd name="T38" fmla="*/ 27 w 270"/>
                  <a:gd name="T39" fmla="*/ 383 h 383"/>
                  <a:gd name="T40" fmla="*/ 41 w 270"/>
                  <a:gd name="T41" fmla="*/ 383 h 383"/>
                  <a:gd name="T42" fmla="*/ 56 w 270"/>
                  <a:gd name="T43" fmla="*/ 381 h 383"/>
                  <a:gd name="T44" fmla="*/ 72 w 270"/>
                  <a:gd name="T45" fmla="*/ 380 h 383"/>
                  <a:gd name="T46" fmla="*/ 89 w 270"/>
                  <a:gd name="T47" fmla="*/ 378 h 383"/>
                  <a:gd name="T48" fmla="*/ 104 w 270"/>
                  <a:gd name="T49" fmla="*/ 375 h 383"/>
                  <a:gd name="T50" fmla="*/ 121 w 270"/>
                  <a:gd name="T51" fmla="*/ 372 h 383"/>
                  <a:gd name="T52" fmla="*/ 138 w 270"/>
                  <a:gd name="T53" fmla="*/ 370 h 383"/>
                  <a:gd name="T54" fmla="*/ 155 w 270"/>
                  <a:gd name="T55" fmla="*/ 367 h 383"/>
                  <a:gd name="T56" fmla="*/ 172 w 270"/>
                  <a:gd name="T57" fmla="*/ 364 h 383"/>
                  <a:gd name="T58" fmla="*/ 187 w 270"/>
                  <a:gd name="T59" fmla="*/ 361 h 383"/>
                  <a:gd name="T60" fmla="*/ 204 w 270"/>
                  <a:gd name="T61" fmla="*/ 360 h 383"/>
                  <a:gd name="T62" fmla="*/ 221 w 270"/>
                  <a:gd name="T63" fmla="*/ 358 h 383"/>
                  <a:gd name="T64" fmla="*/ 236 w 270"/>
                  <a:gd name="T65" fmla="*/ 356 h 383"/>
                  <a:gd name="T66" fmla="*/ 251 w 270"/>
                  <a:gd name="T67" fmla="*/ 356 h 383"/>
                  <a:gd name="T68" fmla="*/ 262 w 270"/>
                  <a:gd name="T69" fmla="*/ 335 h 383"/>
                  <a:gd name="T70" fmla="*/ 268 w 270"/>
                  <a:gd name="T71" fmla="*/ 307 h 383"/>
                  <a:gd name="T72" fmla="*/ 270 w 270"/>
                  <a:gd name="T73" fmla="*/ 280 h 383"/>
                  <a:gd name="T74" fmla="*/ 268 w 270"/>
                  <a:gd name="T75" fmla="*/ 255 h 383"/>
                  <a:gd name="T76" fmla="*/ 262 w 270"/>
                  <a:gd name="T77" fmla="*/ 255 h 383"/>
                  <a:gd name="T78" fmla="*/ 239 w 270"/>
                  <a:gd name="T79" fmla="*/ 300 h 383"/>
                  <a:gd name="T80" fmla="*/ 218 w 270"/>
                  <a:gd name="T81" fmla="*/ 303 h 383"/>
                  <a:gd name="T82" fmla="*/ 196 w 270"/>
                  <a:gd name="T83" fmla="*/ 306 h 383"/>
                  <a:gd name="T84" fmla="*/ 175 w 270"/>
                  <a:gd name="T85" fmla="*/ 307 h 383"/>
                  <a:gd name="T86" fmla="*/ 155 w 270"/>
                  <a:gd name="T87" fmla="*/ 310 h 383"/>
                  <a:gd name="T88" fmla="*/ 133 w 270"/>
                  <a:gd name="T89" fmla="*/ 310 h 383"/>
                  <a:gd name="T90" fmla="*/ 112 w 270"/>
                  <a:gd name="T91" fmla="*/ 312 h 383"/>
                  <a:gd name="T92" fmla="*/ 90 w 270"/>
                  <a:gd name="T93" fmla="*/ 312 h 383"/>
                  <a:gd name="T94" fmla="*/ 69 w 270"/>
                  <a:gd name="T95" fmla="*/ 312 h 383"/>
                  <a:gd name="T96" fmla="*/ 76 w 270"/>
                  <a:gd name="T97" fmla="*/ 280 h 383"/>
                  <a:gd name="T98" fmla="*/ 92 w 270"/>
                  <a:gd name="T99" fmla="*/ 241 h 383"/>
                  <a:gd name="T100" fmla="*/ 115 w 270"/>
                  <a:gd name="T101" fmla="*/ 198 h 383"/>
                  <a:gd name="T102" fmla="*/ 141 w 270"/>
                  <a:gd name="T103" fmla="*/ 157 h 383"/>
                  <a:gd name="T104" fmla="*/ 172 w 270"/>
                  <a:gd name="T105" fmla="*/ 118 h 383"/>
                  <a:gd name="T106" fmla="*/ 204 w 270"/>
                  <a:gd name="T107" fmla="*/ 84 h 383"/>
                  <a:gd name="T108" fmla="*/ 236 w 270"/>
                  <a:gd name="T109" fmla="*/ 61 h 383"/>
                  <a:gd name="T110" fmla="*/ 268 w 270"/>
                  <a:gd name="T111" fmla="*/ 52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0" h="383">
                    <a:moveTo>
                      <a:pt x="268" y="52"/>
                    </a:moveTo>
                    <a:lnTo>
                      <a:pt x="268" y="0"/>
                    </a:lnTo>
                    <a:lnTo>
                      <a:pt x="244" y="3"/>
                    </a:lnTo>
                    <a:lnTo>
                      <a:pt x="219" y="12"/>
                    </a:lnTo>
                    <a:lnTo>
                      <a:pt x="195" y="26"/>
                    </a:lnTo>
                    <a:lnTo>
                      <a:pt x="172" y="45"/>
                    </a:lnTo>
                    <a:lnTo>
                      <a:pt x="149" y="68"/>
                    </a:lnTo>
                    <a:lnTo>
                      <a:pt x="129" y="92"/>
                    </a:lnTo>
                    <a:lnTo>
                      <a:pt x="107" y="121"/>
                    </a:lnTo>
                    <a:lnTo>
                      <a:pt x="89" y="151"/>
                    </a:lnTo>
                    <a:lnTo>
                      <a:pt x="70" y="181"/>
                    </a:lnTo>
                    <a:lnTo>
                      <a:pt x="55" y="214"/>
                    </a:lnTo>
                    <a:lnTo>
                      <a:pt x="41" y="246"/>
                    </a:lnTo>
                    <a:lnTo>
                      <a:pt x="27" y="277"/>
                    </a:lnTo>
                    <a:lnTo>
                      <a:pt x="18" y="306"/>
                    </a:lnTo>
                    <a:lnTo>
                      <a:pt x="9" y="333"/>
                    </a:lnTo>
                    <a:lnTo>
                      <a:pt x="3" y="358"/>
                    </a:lnTo>
                    <a:lnTo>
                      <a:pt x="0" y="380"/>
                    </a:lnTo>
                    <a:lnTo>
                      <a:pt x="13" y="381"/>
                    </a:lnTo>
                    <a:lnTo>
                      <a:pt x="27" y="383"/>
                    </a:lnTo>
                    <a:lnTo>
                      <a:pt x="41" y="383"/>
                    </a:lnTo>
                    <a:lnTo>
                      <a:pt x="56" y="381"/>
                    </a:lnTo>
                    <a:lnTo>
                      <a:pt x="72" y="380"/>
                    </a:lnTo>
                    <a:lnTo>
                      <a:pt x="89" y="378"/>
                    </a:lnTo>
                    <a:lnTo>
                      <a:pt x="104" y="375"/>
                    </a:lnTo>
                    <a:lnTo>
                      <a:pt x="121" y="372"/>
                    </a:lnTo>
                    <a:lnTo>
                      <a:pt x="138" y="370"/>
                    </a:lnTo>
                    <a:lnTo>
                      <a:pt x="155" y="367"/>
                    </a:lnTo>
                    <a:lnTo>
                      <a:pt x="172" y="364"/>
                    </a:lnTo>
                    <a:lnTo>
                      <a:pt x="187" y="361"/>
                    </a:lnTo>
                    <a:lnTo>
                      <a:pt x="204" y="360"/>
                    </a:lnTo>
                    <a:lnTo>
                      <a:pt x="221" y="358"/>
                    </a:lnTo>
                    <a:lnTo>
                      <a:pt x="236" y="356"/>
                    </a:lnTo>
                    <a:lnTo>
                      <a:pt x="251" y="356"/>
                    </a:lnTo>
                    <a:lnTo>
                      <a:pt x="262" y="335"/>
                    </a:lnTo>
                    <a:lnTo>
                      <a:pt x="268" y="307"/>
                    </a:lnTo>
                    <a:lnTo>
                      <a:pt x="270" y="280"/>
                    </a:lnTo>
                    <a:lnTo>
                      <a:pt x="268" y="255"/>
                    </a:lnTo>
                    <a:lnTo>
                      <a:pt x="262" y="255"/>
                    </a:lnTo>
                    <a:lnTo>
                      <a:pt x="239" y="300"/>
                    </a:lnTo>
                    <a:lnTo>
                      <a:pt x="218" y="303"/>
                    </a:lnTo>
                    <a:lnTo>
                      <a:pt x="196" y="306"/>
                    </a:lnTo>
                    <a:lnTo>
                      <a:pt x="175" y="307"/>
                    </a:lnTo>
                    <a:lnTo>
                      <a:pt x="155" y="310"/>
                    </a:lnTo>
                    <a:lnTo>
                      <a:pt x="133" y="310"/>
                    </a:lnTo>
                    <a:lnTo>
                      <a:pt x="112" y="312"/>
                    </a:lnTo>
                    <a:lnTo>
                      <a:pt x="90" y="312"/>
                    </a:lnTo>
                    <a:lnTo>
                      <a:pt x="69" y="312"/>
                    </a:lnTo>
                    <a:lnTo>
                      <a:pt x="76" y="280"/>
                    </a:lnTo>
                    <a:lnTo>
                      <a:pt x="92" y="241"/>
                    </a:lnTo>
                    <a:lnTo>
                      <a:pt x="115" y="198"/>
                    </a:lnTo>
                    <a:lnTo>
                      <a:pt x="141" y="157"/>
                    </a:lnTo>
                    <a:lnTo>
                      <a:pt x="172" y="118"/>
                    </a:lnTo>
                    <a:lnTo>
                      <a:pt x="204" y="84"/>
                    </a:lnTo>
                    <a:lnTo>
                      <a:pt x="236" y="61"/>
                    </a:lnTo>
                    <a:lnTo>
                      <a:pt x="26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6" name="Group 90"/>
            <p:cNvGrpSpPr>
              <a:grpSpLocks/>
            </p:cNvGrpSpPr>
            <p:nvPr/>
          </p:nvGrpSpPr>
          <p:grpSpPr bwMode="auto">
            <a:xfrm>
              <a:off x="456" y="2139"/>
              <a:ext cx="82" cy="28"/>
              <a:chOff x="1200" y="3160"/>
              <a:chExt cx="250" cy="98"/>
            </a:xfrm>
            <a:grpFill/>
          </p:grpSpPr>
          <p:sp>
            <p:nvSpPr>
              <p:cNvPr id="177" name="Line 91"/>
              <p:cNvSpPr>
                <a:spLocks noChangeShapeType="1"/>
              </p:cNvSpPr>
              <p:nvPr/>
            </p:nvSpPr>
            <p:spPr bwMode="gray">
              <a:xfrm>
                <a:off x="1200" y="3162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78" name="Line 92"/>
              <p:cNvSpPr>
                <a:spLocks noChangeShapeType="1"/>
              </p:cNvSpPr>
              <p:nvPr/>
            </p:nvSpPr>
            <p:spPr bwMode="gray">
              <a:xfrm flipH="1">
                <a:off x="1354" y="3160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91" name="AutoShape 93"/>
          <p:cNvSpPr>
            <a:spLocks noChangeArrowheads="1"/>
          </p:cNvSpPr>
          <p:nvPr/>
        </p:nvSpPr>
        <p:spPr bwMode="auto">
          <a:xfrm>
            <a:off x="7993645" y="2417872"/>
            <a:ext cx="739775" cy="284162"/>
          </a:xfrm>
          <a:prstGeom prst="flowChartTerminator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ko-KR" altLang="en-US" sz="900" dirty="0" smtClean="0">
                <a:latin typeface="+mn-ea"/>
                <a:ea typeface="+mn-ea"/>
              </a:rPr>
              <a:t>출고실적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ko-KR" altLang="en-US" sz="900" dirty="0" smtClean="0">
                <a:latin typeface="+mn-ea"/>
                <a:ea typeface="+mn-ea"/>
              </a:rPr>
              <a:t>생성시작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92" name="Text Box 94"/>
          <p:cNvSpPr txBox="1">
            <a:spLocks noChangeArrowheads="1"/>
          </p:cNvSpPr>
          <p:nvPr/>
        </p:nvSpPr>
        <p:spPr bwMode="gray">
          <a:xfrm>
            <a:off x="5015780" y="1307823"/>
            <a:ext cx="942975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en-US" altLang="ko-KR" sz="1000" dirty="0">
                <a:latin typeface="+mn-ea"/>
                <a:ea typeface="+mn-ea"/>
              </a:rPr>
              <a:t> </a:t>
            </a:r>
            <a:r>
              <a:rPr lang="ko-KR" altLang="en-US" sz="1000" dirty="0" smtClean="0">
                <a:latin typeface="+mn-ea"/>
                <a:ea typeface="+mn-ea"/>
              </a:rPr>
              <a:t>출고작업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199" name="AutoShape 101"/>
          <p:cNvCxnSpPr>
            <a:cxnSpLocks noChangeShapeType="1"/>
            <a:stCxn id="169" idx="3"/>
            <a:endCxn id="276" idx="2"/>
          </p:cNvCxnSpPr>
          <p:nvPr/>
        </p:nvCxnSpPr>
        <p:spPr bwMode="gray">
          <a:xfrm flipV="1">
            <a:off x="6167438" y="1698468"/>
            <a:ext cx="1915410" cy="1619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6" name="Oval 108"/>
          <p:cNvSpPr>
            <a:spLocks noChangeArrowheads="1"/>
          </p:cNvSpPr>
          <p:nvPr/>
        </p:nvSpPr>
        <p:spPr bwMode="gray">
          <a:xfrm>
            <a:off x="6138377" y="3601372"/>
            <a:ext cx="628650" cy="3524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900" dirty="0">
                <a:latin typeface="+mn-ea"/>
              </a:rPr>
              <a:t>ASSORT </a:t>
            </a:r>
            <a:r>
              <a:rPr lang="en-US" altLang="ko-KR" sz="900" dirty="0">
                <a:latin typeface="+mn-ea"/>
                <a:sym typeface="Wingdings" panose="05000000000000000000" pitchFamily="2" charset="2"/>
              </a:rPr>
              <a:t> </a:t>
            </a:r>
            <a:endParaRPr lang="en-US" altLang="ko-KR" sz="900" dirty="0" smtClean="0">
              <a:latin typeface="+mn-ea"/>
              <a:sym typeface="Wingdings" panose="05000000000000000000" pitchFamily="2" charset="2"/>
            </a:endParaRPr>
          </a:p>
          <a:p>
            <a:pPr algn="ctr"/>
            <a:r>
              <a:rPr lang="en-US" altLang="ko-KR" sz="900" dirty="0" smtClean="0">
                <a:latin typeface="+mn-ea"/>
                <a:sym typeface="Wingdings" panose="05000000000000000000" pitchFamily="2" charset="2"/>
              </a:rPr>
              <a:t>SOLID </a:t>
            </a:r>
            <a:r>
              <a:rPr lang="ko-KR" altLang="en-US" sz="900" dirty="0" smtClean="0">
                <a:latin typeface="+mn-ea"/>
                <a:sym typeface="Wingdings" panose="05000000000000000000" pitchFamily="2" charset="2"/>
              </a:rPr>
              <a:t>수량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38" name="Text Box 140"/>
          <p:cNvSpPr txBox="1">
            <a:spLocks noChangeArrowheads="1"/>
          </p:cNvSpPr>
          <p:nvPr/>
        </p:nvSpPr>
        <p:spPr bwMode="gray">
          <a:xfrm>
            <a:off x="710372" y="738225"/>
            <a:ext cx="95726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000CC"/>
                </a:solidFill>
                <a:latin typeface="+mn-ea"/>
                <a:ea typeface="+mn-ea"/>
              </a:rPr>
              <a:t>선행프로세스</a:t>
            </a:r>
          </a:p>
        </p:txBody>
      </p:sp>
      <p:sp>
        <p:nvSpPr>
          <p:cNvPr id="239" name="Rectangle 141"/>
          <p:cNvSpPr>
            <a:spLocks noChangeArrowheads="1"/>
          </p:cNvSpPr>
          <p:nvPr/>
        </p:nvSpPr>
        <p:spPr bwMode="gray">
          <a:xfrm>
            <a:off x="500125" y="103288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출고요청 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40" name="Rectangle 142"/>
          <p:cNvSpPr>
            <a:spLocks noChangeArrowheads="1"/>
          </p:cNvSpPr>
          <p:nvPr/>
        </p:nvSpPr>
        <p:spPr bwMode="gray">
          <a:xfrm>
            <a:off x="500125" y="133768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반응출고</a:t>
            </a:r>
            <a:r>
              <a:rPr lang="en-US" altLang="ko-KR" sz="900" b="1" dirty="0" smtClean="0">
                <a:latin typeface="+mn-ea"/>
                <a:ea typeface="+mn-ea"/>
              </a:rPr>
              <a:t> </a:t>
            </a:r>
            <a:r>
              <a:rPr lang="ko-KR" altLang="en-US" sz="900" b="1" dirty="0" smtClean="0">
                <a:latin typeface="+mn-ea"/>
                <a:ea typeface="+mn-ea"/>
              </a:rPr>
              <a:t>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1" name="AutoShape 143"/>
          <p:cNvCxnSpPr>
            <a:cxnSpLocks noChangeShapeType="1"/>
            <a:stCxn id="108" idx="3"/>
            <a:endCxn id="133" idx="1"/>
          </p:cNvCxnSpPr>
          <p:nvPr/>
        </p:nvCxnSpPr>
        <p:spPr bwMode="gray">
          <a:xfrm flipV="1">
            <a:off x="1821213" y="1304151"/>
            <a:ext cx="1195043" cy="5507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2" name="Text Box 121"/>
          <p:cNvSpPr txBox="1">
            <a:spLocks noChangeArrowheads="1"/>
          </p:cNvSpPr>
          <p:nvPr/>
        </p:nvSpPr>
        <p:spPr bwMode="gray">
          <a:xfrm>
            <a:off x="2354587" y="1645009"/>
            <a:ext cx="1478209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SP_IFT_B2B_OUT_ECT</a:t>
            </a:r>
            <a:endParaRPr lang="en-US" altLang="ko-KR" sz="900" dirty="0">
              <a:latin typeface="+mn-ea"/>
            </a:endParaRPr>
          </a:p>
        </p:txBody>
      </p:sp>
      <p:sp>
        <p:nvSpPr>
          <p:cNvPr id="273" name="Text Box 121"/>
          <p:cNvSpPr txBox="1">
            <a:spLocks noChangeArrowheads="1"/>
          </p:cNvSpPr>
          <p:nvPr/>
        </p:nvSpPr>
        <p:spPr bwMode="gray">
          <a:xfrm>
            <a:off x="6483170" y="2161233"/>
            <a:ext cx="1844522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SP_IFT_B2B_OUTB_RST</a:t>
            </a:r>
          </a:p>
          <a:p>
            <a:r>
              <a:rPr lang="en-US" altLang="ko-KR" sz="900" dirty="0">
                <a:latin typeface="+mn-ea"/>
              </a:rPr>
              <a:t>Job Schedule </a:t>
            </a:r>
            <a:r>
              <a:rPr lang="ko-KR" altLang="en-US" sz="900" dirty="0">
                <a:latin typeface="+mn-ea"/>
              </a:rPr>
              <a:t>실행</a:t>
            </a:r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매</a:t>
            </a:r>
            <a:r>
              <a:rPr lang="en-US" altLang="ko-KR" sz="900" dirty="0">
                <a:latin typeface="+mn-ea"/>
              </a:rPr>
              <a:t>10</a:t>
            </a:r>
            <a:r>
              <a:rPr lang="ko-KR" altLang="en-US" sz="900" dirty="0" smtClean="0">
                <a:latin typeface="+mn-ea"/>
              </a:rPr>
              <a:t>분</a:t>
            </a:r>
            <a:r>
              <a:rPr lang="en-US" altLang="ko-KR" sz="900" dirty="0" smtClean="0">
                <a:latin typeface="+mn-ea"/>
              </a:rPr>
              <a:t>)</a:t>
            </a:r>
            <a:endParaRPr lang="en-US" altLang="ko-KR" sz="900" dirty="0">
              <a:latin typeface="+mn-ea"/>
              <a:ea typeface="+mn-ea"/>
            </a:endParaRPr>
          </a:p>
        </p:txBody>
      </p:sp>
      <p:cxnSp>
        <p:nvCxnSpPr>
          <p:cNvPr id="275" name="AutoShape 111"/>
          <p:cNvCxnSpPr>
            <a:cxnSpLocks noChangeShapeType="1"/>
            <a:stCxn id="133" idx="2"/>
            <a:endCxn id="291" idx="1"/>
          </p:cNvCxnSpPr>
          <p:nvPr/>
        </p:nvCxnSpPr>
        <p:spPr bwMode="gray">
          <a:xfrm rot="16200000" flipH="1">
            <a:off x="3318398" y="1704477"/>
            <a:ext cx="519579" cy="30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6" name="AutoShape 86"/>
          <p:cNvSpPr>
            <a:spLocks noChangeArrowheads="1"/>
          </p:cNvSpPr>
          <p:nvPr/>
        </p:nvSpPr>
        <p:spPr bwMode="auto">
          <a:xfrm>
            <a:off x="8082848" y="145458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IFT_B2B_OUTB_RST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83" name="AutoShape 101"/>
          <p:cNvCxnSpPr>
            <a:cxnSpLocks noChangeShapeType="1"/>
            <a:stCxn id="276" idx="3"/>
            <a:endCxn id="191" idx="0"/>
          </p:cNvCxnSpPr>
          <p:nvPr/>
        </p:nvCxnSpPr>
        <p:spPr bwMode="gray">
          <a:xfrm flipH="1">
            <a:off x="8363533" y="1942347"/>
            <a:ext cx="2684" cy="475525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89" name="그룹 288"/>
          <p:cNvGrpSpPr/>
          <p:nvPr/>
        </p:nvGrpSpPr>
        <p:grpSpPr>
          <a:xfrm>
            <a:off x="5912582" y="2891902"/>
            <a:ext cx="1074738" cy="388938"/>
            <a:chOff x="5729470" y="3248980"/>
            <a:chExt cx="1074738" cy="388938"/>
          </a:xfrm>
        </p:grpSpPr>
        <p:sp>
          <p:nvSpPr>
            <p:cNvPr id="287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88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 smtClean="0">
                  <a:latin typeface="+mn-ea"/>
                  <a:ea typeface="+mn-ea"/>
                </a:rPr>
                <a:t>ASSORT</a:t>
              </a:r>
              <a:r>
                <a:rPr lang="ko-KR" altLang="en-US" sz="900" dirty="0" smtClean="0">
                  <a:latin typeface="+mn-ea"/>
                  <a:ea typeface="+mn-ea"/>
                </a:rPr>
                <a:t>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90" name="AutoShape 72"/>
          <p:cNvCxnSpPr>
            <a:cxnSpLocks noChangeShapeType="1"/>
            <a:stCxn id="191" idx="1"/>
            <a:endCxn id="287" idx="0"/>
          </p:cNvCxnSpPr>
          <p:nvPr/>
        </p:nvCxnSpPr>
        <p:spPr bwMode="gray">
          <a:xfrm rot="10800000" flipV="1">
            <a:off x="6449951" y="2559952"/>
            <a:ext cx="1543694" cy="33194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3" name="Text Box 103"/>
          <p:cNvSpPr txBox="1">
            <a:spLocks noChangeArrowheads="1"/>
          </p:cNvSpPr>
          <p:nvPr/>
        </p:nvSpPr>
        <p:spPr bwMode="gray">
          <a:xfrm>
            <a:off x="6395851" y="323387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Y</a:t>
            </a:r>
          </a:p>
        </p:txBody>
      </p:sp>
      <p:sp>
        <p:nvSpPr>
          <p:cNvPr id="304" name="AutoShape 86"/>
          <p:cNvSpPr>
            <a:spLocks noChangeArrowheads="1"/>
          </p:cNvSpPr>
          <p:nvPr/>
        </p:nvSpPr>
        <p:spPr bwMode="auto">
          <a:xfrm>
            <a:off x="8085966" y="293394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BOM</a:t>
            </a:r>
            <a:r>
              <a:rPr lang="ko-KR" altLang="en-US" sz="900" dirty="0" smtClean="0">
                <a:latin typeface="+mn-ea"/>
                <a:ea typeface="+mn-ea"/>
              </a:rPr>
              <a:t>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WMT_CMD_BOM_DR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305" name="AutoShape 86"/>
          <p:cNvSpPr>
            <a:spLocks noChangeArrowheads="1"/>
          </p:cNvSpPr>
          <p:nvPr/>
        </p:nvSpPr>
        <p:spPr bwMode="auto">
          <a:xfrm>
            <a:off x="8084896" y="353546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ITEM</a:t>
            </a:r>
            <a:r>
              <a:rPr lang="ko-KR" altLang="en-US" sz="900" dirty="0" smtClean="0">
                <a:latin typeface="+mn-ea"/>
                <a:ea typeface="+mn-ea"/>
              </a:rPr>
              <a:t>상세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>
                <a:latin typeface="+mn-ea"/>
                <a:ea typeface="+mn-ea"/>
              </a:rPr>
              <a:t>WMT_CMD_ITEM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07" name="AutoShape 72"/>
          <p:cNvCxnSpPr>
            <a:cxnSpLocks noChangeShapeType="1"/>
            <a:stCxn id="304" idx="2"/>
            <a:endCxn id="206" idx="6"/>
          </p:cNvCxnSpPr>
          <p:nvPr/>
        </p:nvCxnSpPr>
        <p:spPr bwMode="gray">
          <a:xfrm rot="10800000" flipV="1">
            <a:off x="6767028" y="3177823"/>
            <a:ext cx="1318939" cy="5997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0" name="AutoShape 72"/>
          <p:cNvCxnSpPr>
            <a:cxnSpLocks noChangeShapeType="1"/>
            <a:stCxn id="305" idx="2"/>
            <a:endCxn id="206" idx="6"/>
          </p:cNvCxnSpPr>
          <p:nvPr/>
        </p:nvCxnSpPr>
        <p:spPr bwMode="gray">
          <a:xfrm rot="10800000">
            <a:off x="6767028" y="3777586"/>
            <a:ext cx="1317869" cy="1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3" name="AutoShape 72"/>
          <p:cNvCxnSpPr>
            <a:cxnSpLocks noChangeShapeType="1"/>
            <a:stCxn id="206" idx="2"/>
            <a:endCxn id="194" idx="3"/>
          </p:cNvCxnSpPr>
          <p:nvPr/>
        </p:nvCxnSpPr>
        <p:spPr bwMode="gray">
          <a:xfrm rot="10800000">
            <a:off x="4576843" y="3419627"/>
            <a:ext cx="1561534" cy="357958"/>
          </a:xfrm>
          <a:prstGeom prst="bentConnector3">
            <a:avLst>
              <a:gd name="adj1" fmla="val 5732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6" name="Text Box 103"/>
          <p:cNvSpPr txBox="1">
            <a:spLocks noChangeArrowheads="1"/>
          </p:cNvSpPr>
          <p:nvPr/>
        </p:nvSpPr>
        <p:spPr bwMode="gray">
          <a:xfrm>
            <a:off x="5856430" y="285501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340" name="Oval 108"/>
          <p:cNvSpPr>
            <a:spLocks noChangeArrowheads="1"/>
          </p:cNvSpPr>
          <p:nvPr/>
        </p:nvSpPr>
        <p:spPr bwMode="gray">
          <a:xfrm>
            <a:off x="2381000" y="2864230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창고코드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갱신</a:t>
            </a:r>
          </a:p>
        </p:txBody>
      </p:sp>
      <p:sp>
        <p:nvSpPr>
          <p:cNvPr id="357" name="Text Box 121"/>
          <p:cNvSpPr txBox="1">
            <a:spLocks noChangeArrowheads="1"/>
          </p:cNvSpPr>
          <p:nvPr/>
        </p:nvSpPr>
        <p:spPr bwMode="gray">
          <a:xfrm>
            <a:off x="794886" y="3101427"/>
            <a:ext cx="1596556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WMS </a:t>
            </a:r>
            <a:r>
              <a:rPr lang="ko-KR" altLang="en-US" sz="900" dirty="0" smtClean="0">
                <a:latin typeface="+mn-ea"/>
                <a:ea typeface="+mn-ea"/>
              </a:rPr>
              <a:t>센터코드 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 YA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창고 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cxnSp>
        <p:nvCxnSpPr>
          <p:cNvPr id="129" name="AutoShape 72"/>
          <p:cNvCxnSpPr>
            <a:cxnSpLocks noChangeShapeType="1"/>
            <a:stCxn id="287" idx="2"/>
            <a:endCxn id="206" idx="0"/>
          </p:cNvCxnSpPr>
          <p:nvPr/>
        </p:nvCxnSpPr>
        <p:spPr bwMode="gray">
          <a:xfrm rot="16200000" flipH="1">
            <a:off x="6291060" y="3439730"/>
            <a:ext cx="320532" cy="27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" name="Rectangle 71"/>
          <p:cNvSpPr>
            <a:spLocks noChangeArrowheads="1"/>
          </p:cNvSpPr>
          <p:nvPr/>
        </p:nvSpPr>
        <p:spPr bwMode="gray">
          <a:xfrm>
            <a:off x="3362405" y="3303120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출고실적생성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97" name="Oval 108"/>
          <p:cNvSpPr>
            <a:spLocks noChangeArrowheads="1"/>
          </p:cNvSpPr>
          <p:nvPr/>
        </p:nvSpPr>
        <p:spPr bwMode="gray">
          <a:xfrm>
            <a:off x="3653703" y="4033261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채번생성</a:t>
            </a:r>
          </a:p>
        </p:txBody>
      </p:sp>
      <p:sp>
        <p:nvSpPr>
          <p:cNvPr id="198" name="Text Box 121"/>
          <p:cNvSpPr txBox="1">
            <a:spLocks noChangeArrowheads="1"/>
          </p:cNvSpPr>
          <p:nvPr/>
        </p:nvSpPr>
        <p:spPr bwMode="gray">
          <a:xfrm>
            <a:off x="2693880" y="3888411"/>
            <a:ext cx="999618" cy="5078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Oracle </a:t>
            </a:r>
            <a:r>
              <a:rPr lang="ko-KR" altLang="en-US" sz="900" dirty="0" err="1" smtClean="0">
                <a:latin typeface="+mn-ea"/>
                <a:ea typeface="+mn-ea"/>
              </a:rPr>
              <a:t>채번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SHOP_RNDS_ID</a:t>
            </a:r>
          </a:p>
          <a:p>
            <a:r>
              <a:rPr lang="en-US" altLang="ko-KR" sz="900" dirty="0" smtClean="0">
                <a:latin typeface="+mn-ea"/>
                <a:ea typeface="+mn-ea"/>
              </a:rPr>
              <a:t>REG_NO</a:t>
            </a:r>
          </a:p>
        </p:txBody>
      </p:sp>
      <p:cxnSp>
        <p:nvCxnSpPr>
          <p:cNvPr id="200" name="AutoShape 72"/>
          <p:cNvCxnSpPr>
            <a:cxnSpLocks noChangeShapeType="1"/>
            <a:stCxn id="194" idx="2"/>
            <a:endCxn id="197" idx="0"/>
          </p:cNvCxnSpPr>
          <p:nvPr/>
        </p:nvCxnSpPr>
        <p:spPr bwMode="gray">
          <a:xfrm rot="5400000">
            <a:off x="3720263" y="3783899"/>
            <a:ext cx="497127" cy="15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1" name="AutoShape 86"/>
          <p:cNvSpPr>
            <a:spLocks noChangeArrowheads="1"/>
          </p:cNvSpPr>
          <p:nvPr/>
        </p:nvSpPr>
        <p:spPr bwMode="auto">
          <a:xfrm>
            <a:off x="5151347" y="451641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매장수불기본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T_SHOP_RNDS_BASE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02" name="AutoShape 72"/>
          <p:cNvCxnSpPr>
            <a:cxnSpLocks noChangeShapeType="1"/>
            <a:stCxn id="197" idx="6"/>
            <a:endCxn id="201" idx="1"/>
          </p:cNvCxnSpPr>
          <p:nvPr/>
        </p:nvCxnSpPr>
        <p:spPr bwMode="gray">
          <a:xfrm>
            <a:off x="4282353" y="4209474"/>
            <a:ext cx="1152363" cy="30694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3" name="AutoShape 86"/>
          <p:cNvSpPr>
            <a:spLocks noChangeArrowheads="1"/>
          </p:cNvSpPr>
          <p:nvPr/>
        </p:nvSpPr>
        <p:spPr bwMode="auto">
          <a:xfrm>
            <a:off x="5361509" y="573428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거래명세서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T_TRAN_SEPC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05" name="Text Box 121"/>
          <p:cNvSpPr txBox="1">
            <a:spLocks noChangeArrowheads="1"/>
          </p:cNvSpPr>
          <p:nvPr/>
        </p:nvSpPr>
        <p:spPr bwMode="gray">
          <a:xfrm>
            <a:off x="4279612" y="3857049"/>
            <a:ext cx="159655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출고거래명세서 생성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en-US" altLang="ko-KR" sz="900" dirty="0" smtClean="0">
                <a:latin typeface="+mn-ea"/>
                <a:ea typeface="+mn-ea"/>
              </a:rPr>
              <a:t>WMS </a:t>
            </a:r>
            <a:r>
              <a:rPr lang="ko-KR" altLang="en-US" sz="900" dirty="0" smtClean="0">
                <a:latin typeface="+mn-ea"/>
                <a:ea typeface="+mn-ea"/>
              </a:rPr>
              <a:t>센터코드 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 YA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창고 </a:t>
            </a:r>
            <a:endParaRPr lang="en-US" altLang="ko-KR" sz="900" dirty="0" smtClean="0">
              <a:latin typeface="+mn-ea"/>
              <a:ea typeface="+mn-ea"/>
            </a:endParaRPr>
          </a:p>
        </p:txBody>
      </p:sp>
      <p:sp>
        <p:nvSpPr>
          <p:cNvPr id="207" name="Rectangle 141"/>
          <p:cNvSpPr>
            <a:spLocks noChangeArrowheads="1"/>
          </p:cNvSpPr>
          <p:nvPr/>
        </p:nvSpPr>
        <p:spPr bwMode="gray">
          <a:xfrm>
            <a:off x="8321343" y="4347774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err="1" smtClean="0">
                <a:latin typeface="+mn-ea"/>
                <a:ea typeface="+mn-ea"/>
              </a:rPr>
              <a:t>실판매가정보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12" name="AutoShape 86"/>
          <p:cNvSpPr>
            <a:spLocks noChangeArrowheads="1"/>
          </p:cNvSpPr>
          <p:nvPr/>
        </p:nvSpPr>
        <p:spPr bwMode="auto">
          <a:xfrm>
            <a:off x="7505172" y="566434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출고요청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T_DELV_INDC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14" name="AutoShape 86"/>
          <p:cNvSpPr>
            <a:spLocks noChangeArrowheads="1"/>
          </p:cNvSpPr>
          <p:nvPr/>
        </p:nvSpPr>
        <p:spPr bwMode="auto">
          <a:xfrm>
            <a:off x="4513441" y="573253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매장재고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T_SHOP_STOC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5" name="AutoShape 72"/>
          <p:cNvCxnSpPr>
            <a:cxnSpLocks noChangeShapeType="1"/>
            <a:stCxn id="201" idx="3"/>
            <a:endCxn id="214" idx="1"/>
          </p:cNvCxnSpPr>
          <p:nvPr/>
        </p:nvCxnSpPr>
        <p:spPr bwMode="gray">
          <a:xfrm rot="5400000">
            <a:off x="4751582" y="5049403"/>
            <a:ext cx="728362" cy="6379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6" name="AutoShape 86"/>
          <p:cNvSpPr>
            <a:spLocks noChangeArrowheads="1"/>
          </p:cNvSpPr>
          <p:nvPr/>
        </p:nvSpPr>
        <p:spPr bwMode="auto">
          <a:xfrm>
            <a:off x="3501562" y="573253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B2B_OUTB_</a:t>
            </a:r>
            <a:r>
              <a:rPr lang="ko-KR" altLang="en-US" sz="900" dirty="0" smtClean="0">
                <a:latin typeface="+mn-ea"/>
                <a:ea typeface="+mn-ea"/>
              </a:rPr>
              <a:t>실적</a:t>
            </a:r>
            <a:r>
              <a:rPr lang="en-US" altLang="ko-KR" sz="900" dirty="0" smtClean="0">
                <a:latin typeface="+mn-ea"/>
                <a:ea typeface="+mn-ea"/>
              </a:rPr>
              <a:t>_</a:t>
            </a:r>
            <a:r>
              <a:rPr lang="ko-KR" altLang="en-US" sz="900" dirty="0" smtClean="0">
                <a:latin typeface="+mn-ea"/>
                <a:ea typeface="+mn-ea"/>
              </a:rPr>
              <a:t>결과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B2B_OUT_RST_RESULT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7" name="AutoShape 72"/>
          <p:cNvCxnSpPr>
            <a:cxnSpLocks noChangeShapeType="1"/>
            <a:stCxn id="201" idx="3"/>
            <a:endCxn id="216" idx="1"/>
          </p:cNvCxnSpPr>
          <p:nvPr/>
        </p:nvCxnSpPr>
        <p:spPr bwMode="gray">
          <a:xfrm rot="5400000">
            <a:off x="4245643" y="4543464"/>
            <a:ext cx="728362" cy="16497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1" name="AutoShape 86"/>
          <p:cNvSpPr>
            <a:spLocks noChangeArrowheads="1"/>
          </p:cNvSpPr>
          <p:nvPr/>
        </p:nvSpPr>
        <p:spPr bwMode="auto">
          <a:xfrm>
            <a:off x="568675" y="526639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출고실적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FT_B2B_OUTB_RST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2" name="Oval 108"/>
          <p:cNvSpPr>
            <a:spLocks noChangeArrowheads="1"/>
          </p:cNvSpPr>
          <p:nvPr/>
        </p:nvSpPr>
        <p:spPr bwMode="gray">
          <a:xfrm>
            <a:off x="1844783" y="5048719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인테페이스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결과상태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23" name="AutoShape 72"/>
          <p:cNvCxnSpPr>
            <a:cxnSpLocks noChangeShapeType="1"/>
            <a:stCxn id="216" idx="2"/>
            <a:endCxn id="222" idx="4"/>
          </p:cNvCxnSpPr>
          <p:nvPr/>
        </p:nvCxnSpPr>
        <p:spPr bwMode="gray">
          <a:xfrm rot="10800000">
            <a:off x="2159108" y="5401144"/>
            <a:ext cx="1342454" cy="575272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7" name="AutoShape 72"/>
          <p:cNvCxnSpPr>
            <a:cxnSpLocks noChangeShapeType="1"/>
            <a:stCxn id="201" idx="2"/>
            <a:endCxn id="222" idx="0"/>
          </p:cNvCxnSpPr>
          <p:nvPr/>
        </p:nvCxnSpPr>
        <p:spPr bwMode="gray">
          <a:xfrm rot="10800000" flipV="1">
            <a:off x="2159109" y="4760295"/>
            <a:ext cx="2992239" cy="28842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2" name="AutoShape 72"/>
          <p:cNvCxnSpPr>
            <a:cxnSpLocks noChangeShapeType="1"/>
            <a:stCxn id="222" idx="2"/>
            <a:endCxn id="221" idx="4"/>
          </p:cNvCxnSpPr>
          <p:nvPr/>
        </p:nvCxnSpPr>
        <p:spPr bwMode="gray">
          <a:xfrm rot="10800000" flipV="1">
            <a:off x="1135413" y="5224932"/>
            <a:ext cx="709370" cy="28533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632520" y="229353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출고요청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T_DELV_INDC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632520" y="174151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출고요청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T_DELV_REQST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65" name="AutoShape 143"/>
          <p:cNvCxnSpPr>
            <a:cxnSpLocks noChangeShapeType="1"/>
            <a:stCxn id="260" idx="4"/>
            <a:endCxn id="291" idx="2"/>
          </p:cNvCxnSpPr>
          <p:nvPr/>
        </p:nvCxnSpPr>
        <p:spPr bwMode="gray">
          <a:xfrm flipV="1">
            <a:off x="1199258" y="2209690"/>
            <a:ext cx="2097104" cy="3277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8" name="AutoShape 143"/>
          <p:cNvCxnSpPr>
            <a:cxnSpLocks noChangeShapeType="1"/>
            <a:stCxn id="261" idx="4"/>
            <a:endCxn id="291" idx="2"/>
          </p:cNvCxnSpPr>
          <p:nvPr/>
        </p:nvCxnSpPr>
        <p:spPr bwMode="gray">
          <a:xfrm>
            <a:off x="1199258" y="1985398"/>
            <a:ext cx="2097104" cy="2242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1" name="AutoShape 86"/>
          <p:cNvSpPr>
            <a:spLocks noChangeArrowheads="1"/>
          </p:cNvSpPr>
          <p:nvPr/>
        </p:nvSpPr>
        <p:spPr bwMode="auto">
          <a:xfrm>
            <a:off x="3296362" y="196581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출고예정정보</a:t>
            </a:r>
            <a:endParaRPr lang="en-US" altLang="ko-KR" sz="900" dirty="0" smtClean="0">
              <a:latin typeface="+mn-ea"/>
              <a:ea typeface="+mn-ea"/>
            </a:endParaRPr>
          </a:p>
          <a:p>
            <a:pPr algn="ctr"/>
            <a:r>
              <a:rPr lang="en-US" altLang="ko-KR" sz="900" dirty="0" smtClean="0">
                <a:latin typeface="+mn-ea"/>
                <a:ea typeface="+mn-ea"/>
              </a:rPr>
              <a:t>IFT_B2B_OUTB_ECT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7152635" y="4453017"/>
            <a:ext cx="123463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F_Get_Realsamt_Olp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19" name="AutoShape 72"/>
          <p:cNvCxnSpPr>
            <a:cxnSpLocks noChangeShapeType="1"/>
            <a:stCxn id="291" idx="3"/>
            <a:endCxn id="340" idx="0"/>
          </p:cNvCxnSpPr>
          <p:nvPr/>
        </p:nvCxnSpPr>
        <p:spPr bwMode="gray">
          <a:xfrm rot="5400000">
            <a:off x="2932198" y="2216696"/>
            <a:ext cx="410661" cy="8844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" name="AutoShape 72"/>
          <p:cNvCxnSpPr>
            <a:cxnSpLocks noChangeShapeType="1"/>
            <a:stCxn id="340" idx="2"/>
            <a:endCxn id="260" idx="3"/>
          </p:cNvCxnSpPr>
          <p:nvPr/>
        </p:nvCxnSpPr>
        <p:spPr bwMode="gray">
          <a:xfrm rot="10800000">
            <a:off x="915890" y="2781295"/>
            <a:ext cx="1465111" cy="25914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6" name="AutoShape 72"/>
          <p:cNvCxnSpPr>
            <a:cxnSpLocks noChangeShapeType="1"/>
            <a:stCxn id="287" idx="1"/>
            <a:endCxn id="194" idx="3"/>
          </p:cNvCxnSpPr>
          <p:nvPr/>
        </p:nvCxnSpPr>
        <p:spPr bwMode="gray">
          <a:xfrm rot="10800000" flipV="1">
            <a:off x="4576844" y="3086371"/>
            <a:ext cx="1335739" cy="3332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9" name="Text Box 94"/>
          <p:cNvSpPr txBox="1">
            <a:spLocks noChangeArrowheads="1"/>
          </p:cNvSpPr>
          <p:nvPr/>
        </p:nvSpPr>
        <p:spPr bwMode="gray">
          <a:xfrm>
            <a:off x="5146324" y="2870501"/>
            <a:ext cx="781924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SOLID </a:t>
            </a:r>
            <a:r>
              <a:rPr lang="ko-KR" altLang="en-US" sz="900" dirty="0" smtClean="0">
                <a:latin typeface="+mn-ea"/>
                <a:ea typeface="+mn-ea"/>
              </a:rPr>
              <a:t>수량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30" name="AutoShape 72"/>
          <p:cNvCxnSpPr>
            <a:cxnSpLocks noChangeShapeType="1"/>
            <a:stCxn id="201" idx="3"/>
            <a:endCxn id="203" idx="1"/>
          </p:cNvCxnSpPr>
          <p:nvPr/>
        </p:nvCxnSpPr>
        <p:spPr bwMode="gray">
          <a:xfrm rot="16200000" flipH="1">
            <a:off x="5174743" y="5264148"/>
            <a:ext cx="730109" cy="2101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1" name="Oval 108"/>
          <p:cNvSpPr>
            <a:spLocks noChangeArrowheads="1"/>
          </p:cNvSpPr>
          <p:nvPr/>
        </p:nvSpPr>
        <p:spPr bwMode="gray">
          <a:xfrm>
            <a:off x="6258145" y="5728766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작성일자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등록번호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매장</a:t>
            </a: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수불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ID</a:t>
            </a:r>
            <a:endParaRPr kumimoji="0" lang="en-US" altLang="ko-KR" sz="90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출고수량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2" name="AutoShape 72"/>
          <p:cNvCxnSpPr>
            <a:cxnSpLocks noChangeShapeType="1"/>
            <a:stCxn id="201" idx="3"/>
            <a:endCxn id="231" idx="0"/>
          </p:cNvCxnSpPr>
          <p:nvPr/>
        </p:nvCxnSpPr>
        <p:spPr bwMode="gray">
          <a:xfrm rot="16200000" flipH="1">
            <a:off x="5641298" y="4797593"/>
            <a:ext cx="724591" cy="11377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3" name="AutoShape 72"/>
          <p:cNvCxnSpPr>
            <a:cxnSpLocks noChangeShapeType="1"/>
            <a:stCxn id="231" idx="6"/>
            <a:endCxn id="212" idx="2"/>
          </p:cNvCxnSpPr>
          <p:nvPr/>
        </p:nvCxnSpPr>
        <p:spPr bwMode="gray">
          <a:xfrm>
            <a:off x="6886795" y="5904979"/>
            <a:ext cx="618377" cy="324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직사각형 80"/>
          <p:cNvSpPr/>
          <p:nvPr/>
        </p:nvSpPr>
        <p:spPr>
          <a:xfrm>
            <a:off x="7217064" y="4896625"/>
            <a:ext cx="114646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  <a:ea typeface="+mn-ea"/>
              </a:rPr>
              <a:t>F_Get_Dsct_Pmrgn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43" name="Rectangle 141"/>
          <p:cNvSpPr>
            <a:spLocks noChangeArrowheads="1"/>
          </p:cNvSpPr>
          <p:nvPr/>
        </p:nvSpPr>
        <p:spPr bwMode="gray">
          <a:xfrm>
            <a:off x="8321343" y="4811219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매장마진정보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4" name="AutoShape 72"/>
          <p:cNvCxnSpPr>
            <a:cxnSpLocks noChangeShapeType="1"/>
            <a:stCxn id="243" idx="1"/>
            <a:endCxn id="201" idx="4"/>
          </p:cNvCxnSpPr>
          <p:nvPr/>
        </p:nvCxnSpPr>
        <p:spPr bwMode="gray">
          <a:xfrm rot="10800000">
            <a:off x="5718085" y="4760296"/>
            <a:ext cx="2603258" cy="1674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" name="AutoShape 72"/>
          <p:cNvCxnSpPr>
            <a:cxnSpLocks noChangeShapeType="1"/>
            <a:stCxn id="207" idx="1"/>
            <a:endCxn id="201" idx="4"/>
          </p:cNvCxnSpPr>
          <p:nvPr/>
        </p:nvCxnSpPr>
        <p:spPr bwMode="gray">
          <a:xfrm rot="10800000" flipV="1">
            <a:off x="5718085" y="4464280"/>
            <a:ext cx="2603258" cy="29601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3" name="사각형 설명선 112"/>
          <p:cNvSpPr/>
          <p:nvPr/>
        </p:nvSpPr>
        <p:spPr>
          <a:xfrm>
            <a:off x="-1468423" y="840388"/>
            <a:ext cx="1380863" cy="1388889"/>
          </a:xfrm>
          <a:prstGeom prst="wedgeRectCallout">
            <a:avLst>
              <a:gd name="adj1" fmla="val 12430"/>
              <a:gd name="adj2" fmla="val 2114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출고유형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OUTB_TCD]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010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매장초도출고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020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매장반응출고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030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매장판매분출고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040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매장행상출고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070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업체출고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080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이관출고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110 </a:t>
            </a:r>
            <a:r>
              <a:rPr lang="ko-KR" altLang="en-US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선작업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971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4. </a:t>
            </a:r>
            <a:r>
              <a:rPr lang="ko-KR" altLang="en-US" dirty="0" smtClean="0">
                <a:latin typeface="+mj-ea"/>
                <a:ea typeface="+mj-ea"/>
              </a:rPr>
              <a:t>물류관리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출고프로세스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72067"/>
              </p:ext>
            </p:extLst>
          </p:nvPr>
        </p:nvGraphicFramePr>
        <p:xfrm>
          <a:off x="288126" y="863716"/>
          <a:ext cx="9327465" cy="5490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309"/>
                <a:gridCol w="1188321"/>
                <a:gridCol w="751759"/>
                <a:gridCol w="972391"/>
                <a:gridCol w="544076"/>
                <a:gridCol w="544076"/>
                <a:gridCol w="891359"/>
                <a:gridCol w="1991087"/>
                <a:gridCol w="1991087"/>
              </a:tblGrid>
              <a:tr h="1849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배치 </a:t>
                      </a: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JOB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주기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WMS I/F 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프로시저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입</a:t>
                      </a:r>
                      <a:r>
                        <a:rPr lang="en-US" altLang="ko-K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출고유형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테이블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화면명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</a:tr>
              <a:tr h="272256">
                <a:tc rowSpan="6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입고예정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JOB_IFT_B2B_INB_ECT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00:20</a:t>
                      </a:r>
                      <a:r>
                        <a:rPr lang="ko-KR" altLang="en-US" sz="800" u="none" strike="noStrike">
                          <a:effectLst/>
                        </a:rPr>
                        <a:t>분 기준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r>
                        <a:rPr lang="ko-KR" altLang="en-US" sz="800" u="none" strike="noStrike">
                          <a:effectLst/>
                        </a:rPr>
                        <a:t>시간 마다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SP_IFT_B2B_INB_ECT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정상입고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생산처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B2B)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CT_PRDT_WH_DTL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제품 입고 합의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SS10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CT_PRDT_WH_HDR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20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T_ASSORT_BOX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193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T_PRDT_PLAN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JOB_IFT_B2B_INB_ECT_020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하루 한번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AM 06:15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SP_IFT_B2B_INB_ECT_020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020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매장반품입고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B2B)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T_RET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반품 의뢰 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318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T_MOVE_OUT(APP)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11755">
                <a:tc rowSpan="1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입고실적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1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JOB_IFT_B2B_INB_RST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정각 기준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분마다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8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SP_IFT_B2B_INB_RST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정상입고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생산처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&gt; B2B)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T_WH_RNDS_BASE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생산처입고등록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입고현황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창고 수불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V_WH_STOR (=SELECT .. FROM T_WH_RNDS_BASE, T_STOR)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32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T_STOR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020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매장반품입고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매장 </a:t>
                      </a:r>
                      <a:r>
                        <a:rPr lang="en-US" altLang="ko-KR" sz="800" u="none" strike="noStrike">
                          <a:effectLst/>
                        </a:rPr>
                        <a:t>&gt; B2B)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반품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3623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T_CHKUP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반품검수확정 </a:t>
                      </a:r>
                      <a:r>
                        <a:rPr lang="en-US" altLang="ko-KR" sz="800" u="none" strike="noStrike">
                          <a:effectLst/>
                        </a:rPr>
                        <a:t>/ </a:t>
                      </a:r>
                      <a:r>
                        <a:rPr lang="ko-KR" altLang="en-US" sz="800" u="none" strike="noStrike">
                          <a:effectLst/>
                        </a:rPr>
                        <a:t>반품확정현황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OMS </a:t>
                      </a:r>
                      <a:r>
                        <a:rPr lang="ko-KR" altLang="en-US" sz="800" u="none" strike="noStrike">
                          <a:effectLst/>
                        </a:rPr>
                        <a:t>예정정보생성 후 입고확정된 건의 경우 </a:t>
                      </a:r>
                      <a:r>
                        <a:rPr lang="en-US" altLang="ko-KR" sz="800" u="none" strike="noStrike">
                          <a:effectLst/>
                        </a:rPr>
                        <a:t>T_CHKUP </a:t>
                      </a:r>
                      <a:r>
                        <a:rPr lang="ko-KR" altLang="en-US" sz="800" u="none" strike="noStrike">
                          <a:effectLst/>
                        </a:rPr>
                        <a:t>데이터 미존재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T_SHOP_STOCK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 즉시반영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090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이관입고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B2C &gt; B2B)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반품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SP_IFT_B2C_INB_RST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정상입고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생산처 </a:t>
                      </a:r>
                      <a:r>
                        <a:rPr lang="en-US" altLang="ko-KR" sz="800" u="none" strike="noStrike">
                          <a:effectLst/>
                        </a:rPr>
                        <a:t>&gt; B2C)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T_WH_RNDS_BASE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생산처입고등록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입고현황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1. </a:t>
                      </a:r>
                      <a:r>
                        <a:rPr lang="ko-KR" altLang="en-US" sz="800" u="none" strike="noStrike">
                          <a:effectLst/>
                        </a:rPr>
                        <a:t>생산처  </a:t>
                      </a:r>
                      <a:r>
                        <a:rPr lang="en-US" altLang="ko-KR" sz="800" u="none" strike="noStrike">
                          <a:effectLst/>
                        </a:rPr>
                        <a:t>&gt; </a:t>
                      </a:r>
                      <a:r>
                        <a:rPr lang="en-US" sz="800" u="none" strike="noStrike">
                          <a:effectLst/>
                        </a:rPr>
                        <a:t>YA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V_WH_STOR (=SELECT .. FROM T_WH_RNDS_BASE, T_STOR)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318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T_STOR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2. YA &gt; </a:t>
                      </a:r>
                      <a:r>
                        <a:rPr lang="ko-KR" altLang="en-US" sz="800" u="none" strike="noStrike">
                          <a:effectLst/>
                        </a:rPr>
                        <a:t>매장 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 </a:t>
                      </a:r>
                      <a:r>
                        <a:rPr lang="en-US" altLang="ko-KR" sz="800" u="none" strike="noStrike">
                          <a:effectLst/>
                        </a:rPr>
                        <a:t>1) </a:t>
                      </a:r>
                      <a:r>
                        <a:rPr lang="ko-KR" altLang="en-US" sz="800" u="none" strike="noStrike">
                          <a:effectLst/>
                        </a:rPr>
                        <a:t>신성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en-US" sz="800" u="none" strike="noStrike">
                          <a:effectLst/>
                        </a:rPr>
                        <a:t>C609 &gt; ATTR4] STS011, STS012, STS020, STS021, STS025, STS026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 2) </a:t>
                      </a:r>
                      <a:r>
                        <a:rPr lang="ko-KR" altLang="en-US" sz="800" u="none" strike="noStrike">
                          <a:effectLst/>
                        </a:rPr>
                        <a:t>에이션</a:t>
                      </a:r>
                      <a:r>
                        <a:rPr lang="en-US" altLang="ko-KR" sz="800" u="none" strike="noStrike">
                          <a:effectLst/>
                        </a:rPr>
                        <a:t>[</a:t>
                      </a:r>
                      <a:r>
                        <a:rPr lang="en-US" sz="800" u="none" strike="noStrike">
                          <a:effectLst/>
                        </a:rPr>
                        <a:t>C609 &gt; ATTR5] GGD001, GGE000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495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090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이관입고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(B2B &gt; B2C)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(B2C &gt; B2C)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3184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63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4. </a:t>
            </a:r>
            <a:r>
              <a:rPr lang="ko-KR" altLang="en-US" dirty="0" smtClean="0">
                <a:latin typeface="+mj-ea"/>
                <a:ea typeface="+mj-ea"/>
              </a:rPr>
              <a:t>물류관리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출고프로세스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978563"/>
              </p:ext>
            </p:extLst>
          </p:nvPr>
        </p:nvGraphicFramePr>
        <p:xfrm>
          <a:off x="260880" y="863715"/>
          <a:ext cx="9424654" cy="5580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309"/>
                <a:gridCol w="1486771"/>
                <a:gridCol w="678733"/>
                <a:gridCol w="1111618"/>
                <a:gridCol w="621977"/>
                <a:gridCol w="758109"/>
                <a:gridCol w="1018983"/>
                <a:gridCol w="1018983"/>
                <a:gridCol w="2276171"/>
              </a:tblGrid>
              <a:tr h="2399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구분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배치 </a:t>
                      </a:r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JOB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주기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WMS I/F 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프로시저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입</a:t>
                      </a:r>
                      <a:r>
                        <a:rPr lang="en-US" altLang="ko-K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출고유형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테이블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화면명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비고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>
                    <a:solidFill>
                      <a:schemeClr val="tx2"/>
                    </a:solidFill>
                  </a:tcPr>
                </a:tc>
              </a:tr>
              <a:tr h="28712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출고예정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JOB_IFT_B2B_OUTB_ECT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정각 기준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분마다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SP_IFT_B2B_OUTB_ECT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010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020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030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매장초도출고</a:t>
                      </a:r>
                      <a:r>
                        <a:rPr lang="ko-KR" altLang="en-US" sz="800" u="none" strike="noStrike" dirty="0">
                          <a:effectLst/>
                        </a:rPr>
                        <a:t/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매장반응출고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 err="1">
                          <a:effectLst/>
                        </a:rPr>
                        <a:t>매장판매분출고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T_DELV_REQST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C063A : </a:t>
                      </a:r>
                      <a:r>
                        <a:rPr lang="ko-KR" altLang="en-US" sz="800" u="none" strike="noStrike">
                          <a:effectLst/>
                        </a:rPr>
                        <a:t>초도요청 </a:t>
                      </a:r>
                      <a:r>
                        <a:rPr lang="en-US" altLang="ko-KR" sz="800" u="none" strike="noStrike">
                          <a:effectLst/>
                        </a:rPr>
                        <a:t>/ C063B : </a:t>
                      </a:r>
                      <a:r>
                        <a:rPr lang="ko-KR" altLang="en-US" sz="800" u="none" strike="noStrike">
                          <a:effectLst/>
                        </a:rPr>
                        <a:t>판매분요청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/ C063C : </a:t>
                      </a:r>
                      <a:r>
                        <a:rPr lang="ko-KR" altLang="en-US" sz="800" u="none" strike="noStrike">
                          <a:effectLst/>
                        </a:rPr>
                        <a:t>반응요청 </a:t>
                      </a:r>
                      <a:r>
                        <a:rPr lang="en-US" altLang="ko-KR" sz="800" u="none" strike="noStrike">
                          <a:effectLst/>
                        </a:rPr>
                        <a:t>/ C063D : </a:t>
                      </a:r>
                      <a:r>
                        <a:rPr lang="ko-KR" altLang="en-US" sz="800" u="none" strike="noStrike">
                          <a:effectLst/>
                        </a:rPr>
                        <a:t>주문요청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T_PRDT_DVID_PACK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제품초도배분등록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T_DELV_INDC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반응출고등록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700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T_DELV_INDC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SP_AUTO_DVID_EXEC_BRAND2_WMS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7122">
                <a:tc rowSpan="10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출고실적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10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JOB_IFT_B2B_OUTB_RST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정각 기준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r>
                        <a:rPr lang="ko-KR" altLang="en-US" sz="800" u="none" strike="noStrike">
                          <a:effectLst/>
                        </a:rPr>
                        <a:t>분마다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SP_IFT_B2B_OUTB_RST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010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020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030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매장초도출고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매장반응출고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매장판매분출고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</a:rPr>
                        <a:t>T_DELV_INDC_HIST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T_SHOP_STOCK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 즉시반영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SP_IFT_B2B_OUTB_RST2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040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080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110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매장행사출고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이관출고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선작업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조정거래명세등록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거래명세서현황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추후 </a:t>
                      </a:r>
                      <a:r>
                        <a:rPr lang="en-US" altLang="ko-KR" sz="800" u="none" strike="noStrike">
                          <a:effectLst/>
                        </a:rPr>
                        <a:t>100</a:t>
                      </a:r>
                      <a:r>
                        <a:rPr lang="ko-KR" altLang="en-US" sz="800" u="none" strike="noStrike">
                          <a:effectLst/>
                        </a:rPr>
                        <a:t>번으로 자가소모출고 추가 예정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T_TRAN_SPEC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T_DELV_REQST_HIST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T_SHOP_STOCK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매장재고 즉시반영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070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업체출고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T_WH_RNDS_BASE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생산처입고등록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반품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입고현황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V_WH_STOR (=SELECT .. FROM T_WH_RNDS_BASE, T_STOR)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712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T_STOR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43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기타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</a:rPr>
                        <a:t>SP_IFT_B2B_OUTB_WAYBILL_STAT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정각 기준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r>
                        <a:rPr lang="ko-KR" altLang="en-US" sz="800" u="none" strike="noStrike">
                          <a:effectLst/>
                        </a:rPr>
                        <a:t>분마다 실행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SP_IFT_B2B_OUTB_WAYBILL_STAT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20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30</a:t>
                      </a:r>
                      <a:br>
                        <a:rPr lang="en-US" altLang="ko-KR" sz="800" u="none" strike="noStrike">
                          <a:effectLst/>
                        </a:rPr>
                      </a:br>
                      <a:r>
                        <a:rPr lang="en-US" altLang="ko-KR" sz="800" u="none" strike="noStrike">
                          <a:effectLst/>
                        </a:rPr>
                        <a:t>40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작업지시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작업시작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패킹완료</a:t>
                      </a:r>
                      <a:br>
                        <a:rPr lang="ko-KR" altLang="en-US" sz="800" u="none" strike="noStrike">
                          <a:effectLst/>
                        </a:rPr>
                      </a:br>
                      <a:r>
                        <a:rPr lang="ko-KR" altLang="en-US" sz="800" u="none" strike="noStrike">
                          <a:effectLst/>
                        </a:rPr>
                        <a:t>출고완료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T_DELV_INDC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출고요청서</a:t>
                      </a:r>
                      <a:r>
                        <a:rPr lang="en-US" altLang="ko-KR" sz="800" u="none" strike="noStrike">
                          <a:effectLst/>
                        </a:rPr>
                        <a:t>(WMS)- I/F</a:t>
                      </a:r>
                      <a:r>
                        <a:rPr lang="ko-KR" altLang="en-US" sz="800" u="none" strike="noStrike">
                          <a:effectLst/>
                        </a:rPr>
                        <a:t>처리상태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>
                          <a:effectLst/>
                        </a:rPr>
                        <a:t>(WMS -&gt; F/AONE </a:t>
                      </a:r>
                      <a:r>
                        <a:rPr lang="ko-KR" altLang="en-US" sz="800" u="none" strike="noStrike">
                          <a:effectLst/>
                        </a:rPr>
                        <a:t>출고작업 진행정보 연동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</a:tr>
              <a:tr h="284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T_PRDT_DVID_PACK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4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198" marR="5198" marT="5198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07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5. </a:t>
            </a:r>
            <a:r>
              <a:rPr lang="ko-KR" altLang="en-US" dirty="0" smtClean="0">
                <a:latin typeface="+mj-ea"/>
                <a:ea typeface="+mj-ea"/>
              </a:rPr>
              <a:t>영업관리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영업업무흐름 </a:t>
            </a:r>
            <a:r>
              <a:rPr lang="ko-KR" altLang="en-US" dirty="0">
                <a:latin typeface="+mn-ea"/>
                <a:ea typeface="+mn-ea"/>
              </a:rPr>
              <a:t>설명</a:t>
            </a:r>
          </a:p>
        </p:txBody>
      </p:sp>
      <p:grpSp>
        <p:nvGrpSpPr>
          <p:cNvPr id="532" name="그룹 440"/>
          <p:cNvGrpSpPr>
            <a:grpSpLocks/>
          </p:cNvGrpSpPr>
          <p:nvPr/>
        </p:nvGrpSpPr>
        <p:grpSpPr bwMode="auto">
          <a:xfrm>
            <a:off x="4314825" y="3171773"/>
            <a:ext cx="1352550" cy="1268412"/>
            <a:chOff x="2470116" y="3371479"/>
            <a:chExt cx="1352775" cy="1351373"/>
          </a:xfrm>
        </p:grpSpPr>
        <p:sp>
          <p:nvSpPr>
            <p:cNvPr id="533" name="오른쪽으로 구부러진 화살표 86"/>
            <p:cNvSpPr>
              <a:spLocks noChangeArrowheads="1"/>
            </p:cNvSpPr>
            <p:nvPr/>
          </p:nvSpPr>
          <p:spPr bwMode="auto">
            <a:xfrm flipV="1">
              <a:off x="2470116" y="3447767"/>
              <a:ext cx="640304" cy="1275085"/>
            </a:xfrm>
            <a:prstGeom prst="curvedRightArrow">
              <a:avLst>
                <a:gd name="adj1" fmla="val 24995"/>
                <a:gd name="adj2" fmla="val 50003"/>
                <a:gd name="adj3" fmla="val 25000"/>
              </a:avLst>
            </a:prstGeom>
            <a:solidFill>
              <a:schemeClr val="accent3">
                <a:lumMod val="65000"/>
                <a:alpha val="40000"/>
              </a:schemeClr>
            </a:solidFill>
            <a:ln w="9525" algn="ctr">
              <a:noFill/>
              <a:round/>
              <a:headEnd/>
              <a:tailEnd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4" name="오른쪽으로 구부러진 화살표 533"/>
            <p:cNvSpPr/>
            <p:nvPr/>
          </p:nvSpPr>
          <p:spPr bwMode="auto">
            <a:xfrm flipV="1">
              <a:off x="3183075" y="3371479"/>
              <a:ext cx="639816" cy="1274338"/>
            </a:xfrm>
            <a:prstGeom prst="curvedRightArrow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35" name="그룹 244"/>
          <p:cNvGrpSpPr>
            <a:grpSpLocks/>
          </p:cNvGrpSpPr>
          <p:nvPr/>
        </p:nvGrpSpPr>
        <p:grpSpPr bwMode="auto">
          <a:xfrm>
            <a:off x="2309813" y="4225873"/>
            <a:ext cx="2278062" cy="1430337"/>
            <a:chOff x="900057" y="4472795"/>
            <a:chExt cx="1804074" cy="1173865"/>
          </a:xfrm>
        </p:grpSpPr>
        <p:sp>
          <p:nvSpPr>
            <p:cNvPr id="536" name="순서도: 수동 입력 535"/>
            <p:cNvSpPr/>
            <p:nvPr/>
          </p:nvSpPr>
          <p:spPr bwMode="auto">
            <a:xfrm>
              <a:off x="1058464" y="4472795"/>
              <a:ext cx="1645667" cy="854668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7" name="대각선 방향의 모서리가 둥근 사각형 536"/>
            <p:cNvSpPr/>
            <p:nvPr/>
          </p:nvSpPr>
          <p:spPr bwMode="auto">
            <a:xfrm>
              <a:off x="900057" y="4644771"/>
              <a:ext cx="1802817" cy="1001889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38" name="그룹 211"/>
          <p:cNvGrpSpPr>
            <a:grpSpLocks/>
          </p:cNvGrpSpPr>
          <p:nvPr/>
        </p:nvGrpSpPr>
        <p:grpSpPr bwMode="auto">
          <a:xfrm flipH="1" flipV="1">
            <a:off x="5318125" y="1923998"/>
            <a:ext cx="2287588" cy="1504950"/>
            <a:chOff x="907564" y="4465841"/>
            <a:chExt cx="1802486" cy="1007887"/>
          </a:xfrm>
        </p:grpSpPr>
        <p:sp>
          <p:nvSpPr>
            <p:cNvPr id="539" name="순서도: 수동 입력 212"/>
            <p:cNvSpPr>
              <a:spLocks noChangeArrowheads="1"/>
            </p:cNvSpPr>
            <p:nvPr/>
          </p:nvSpPr>
          <p:spPr bwMode="auto">
            <a:xfrm>
              <a:off x="1058918" y="4465841"/>
              <a:ext cx="1644877" cy="855056"/>
            </a:xfrm>
            <a:prstGeom prst="flowChartManualInput">
              <a:avLst/>
            </a:prstGeom>
            <a:solidFill>
              <a:srgbClr val="F2F2F2"/>
            </a:solidFill>
            <a:ln w="9525" algn="ctr">
              <a:noFill/>
              <a:round/>
              <a:headEnd/>
              <a:tailEnd/>
            </a:ln>
          </p:spPr>
          <p:txBody>
            <a:bodyPr rot="10800000"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0" name="대각선 방향의 모서리가 둥근 사각형 213"/>
            <p:cNvSpPr>
              <a:spLocks noChangeArrowheads="1"/>
            </p:cNvSpPr>
            <p:nvPr/>
          </p:nvSpPr>
          <p:spPr bwMode="auto">
            <a:xfrm>
              <a:off x="907564" y="4632657"/>
              <a:ext cx="1802486" cy="841071"/>
            </a:xfrm>
            <a:custGeom>
              <a:avLst/>
              <a:gdLst>
                <a:gd name="T0" fmla="*/ 1802486 w 1802486"/>
                <a:gd name="T1" fmla="*/ 420536 h 841071"/>
                <a:gd name="T2" fmla="*/ 901243 w 1802486"/>
                <a:gd name="T3" fmla="*/ 841071 h 841071"/>
                <a:gd name="T4" fmla="*/ 0 w 1802486"/>
                <a:gd name="T5" fmla="*/ 420536 h 841071"/>
                <a:gd name="T6" fmla="*/ 901243 w 1802486"/>
                <a:gd name="T7" fmla="*/ 0 h 841071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41058 w 1802486"/>
                <a:gd name="T13" fmla="*/ 41058 h 841071"/>
                <a:gd name="T14" fmla="*/ 1761428 w 1802486"/>
                <a:gd name="T15" fmla="*/ 800013 h 84107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02486" h="841071">
                  <a:moveTo>
                    <a:pt x="140181" y="0"/>
                  </a:moveTo>
                  <a:lnTo>
                    <a:pt x="1802486" y="0"/>
                  </a:lnTo>
                  <a:lnTo>
                    <a:pt x="1802486" y="700890"/>
                  </a:lnTo>
                  <a:cubicBezTo>
                    <a:pt x="1802486" y="778309"/>
                    <a:pt x="1739724" y="841070"/>
                    <a:pt x="1662305" y="841071"/>
                  </a:cubicBezTo>
                  <a:lnTo>
                    <a:pt x="0" y="841071"/>
                  </a:lnTo>
                  <a:lnTo>
                    <a:pt x="0" y="140181"/>
                  </a:lnTo>
                  <a:cubicBezTo>
                    <a:pt x="0" y="62761"/>
                    <a:pt x="62761" y="0"/>
                    <a:pt x="140180" y="0"/>
                  </a:cubicBezTo>
                  <a:close/>
                </a:path>
              </a:pathLst>
            </a:custGeom>
            <a:solidFill>
              <a:srgbClr val="F2F2F2"/>
            </a:solidFill>
            <a:ln w="9525" algn="ctr">
              <a:noFill/>
              <a:round/>
              <a:headEnd/>
              <a:tailEnd/>
            </a:ln>
          </p:spPr>
          <p:txBody>
            <a:bodyPr rot="10800000"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41" name="그룹 208"/>
          <p:cNvGrpSpPr>
            <a:grpSpLocks/>
          </p:cNvGrpSpPr>
          <p:nvPr/>
        </p:nvGrpSpPr>
        <p:grpSpPr bwMode="auto">
          <a:xfrm flipH="1">
            <a:off x="5354638" y="4225873"/>
            <a:ext cx="2287587" cy="1430337"/>
            <a:chOff x="900057" y="4472795"/>
            <a:chExt cx="1802486" cy="1173865"/>
          </a:xfrm>
        </p:grpSpPr>
        <p:sp>
          <p:nvSpPr>
            <p:cNvPr id="542" name="순서도: 수동 입력 541"/>
            <p:cNvSpPr/>
            <p:nvPr/>
          </p:nvSpPr>
          <p:spPr bwMode="auto">
            <a:xfrm>
              <a:off x="1051410" y="4472795"/>
              <a:ext cx="1644879" cy="854668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3" name="대각선 방향의 모서리가 둥근 사각형 542"/>
            <p:cNvSpPr/>
            <p:nvPr/>
          </p:nvSpPr>
          <p:spPr bwMode="auto">
            <a:xfrm>
              <a:off x="900057" y="4644771"/>
              <a:ext cx="1802486" cy="1001889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44" name="그룹 207"/>
          <p:cNvGrpSpPr>
            <a:grpSpLocks/>
          </p:cNvGrpSpPr>
          <p:nvPr/>
        </p:nvGrpSpPr>
        <p:grpSpPr bwMode="auto">
          <a:xfrm flipV="1">
            <a:off x="2332038" y="1928760"/>
            <a:ext cx="2255837" cy="1471613"/>
            <a:chOff x="900057" y="4472795"/>
            <a:chExt cx="1804074" cy="1173865"/>
          </a:xfrm>
        </p:grpSpPr>
        <p:sp>
          <p:nvSpPr>
            <p:cNvPr id="545" name="순서도: 수동 입력 206"/>
            <p:cNvSpPr>
              <a:spLocks noChangeArrowheads="1"/>
            </p:cNvSpPr>
            <p:nvPr/>
          </p:nvSpPr>
          <p:spPr bwMode="auto">
            <a:xfrm>
              <a:off x="1058754" y="4472795"/>
              <a:ext cx="1645377" cy="855125"/>
            </a:xfrm>
            <a:prstGeom prst="flowChartManualInput">
              <a:avLst/>
            </a:prstGeom>
            <a:solidFill>
              <a:srgbClr val="F2F2F2"/>
            </a:solidFill>
            <a:ln w="9525" algn="ctr">
              <a:noFill/>
              <a:round/>
              <a:headEnd/>
              <a:tailEnd/>
            </a:ln>
          </p:spPr>
          <p:txBody>
            <a:bodyPr rot="10800000"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6" name="대각선 방향의 모서리가 둥근 사각형 205"/>
            <p:cNvSpPr>
              <a:spLocks noChangeArrowheads="1"/>
            </p:cNvSpPr>
            <p:nvPr/>
          </p:nvSpPr>
          <p:spPr bwMode="auto">
            <a:xfrm>
              <a:off x="900057" y="4645247"/>
              <a:ext cx="1802805" cy="1001413"/>
            </a:xfrm>
            <a:custGeom>
              <a:avLst/>
              <a:gdLst>
                <a:gd name="T0" fmla="*/ 1802805 w 1802805"/>
                <a:gd name="T1" fmla="*/ 500707 h 1001413"/>
                <a:gd name="T2" fmla="*/ 901403 w 1802805"/>
                <a:gd name="T3" fmla="*/ 1001413 h 1001413"/>
                <a:gd name="T4" fmla="*/ 0 w 1802805"/>
                <a:gd name="T5" fmla="*/ 500707 h 1001413"/>
                <a:gd name="T6" fmla="*/ 901403 w 1802805"/>
                <a:gd name="T7" fmla="*/ 0 h 1001413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48885 w 1802805"/>
                <a:gd name="T13" fmla="*/ 48885 h 1001413"/>
                <a:gd name="T14" fmla="*/ 1753920 w 1802805"/>
                <a:gd name="T15" fmla="*/ 952528 h 1001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02805" h="1001413">
                  <a:moveTo>
                    <a:pt x="166906" y="0"/>
                  </a:moveTo>
                  <a:lnTo>
                    <a:pt x="1802805" y="0"/>
                  </a:lnTo>
                  <a:lnTo>
                    <a:pt x="1802805" y="834507"/>
                  </a:lnTo>
                  <a:cubicBezTo>
                    <a:pt x="1802805" y="926686"/>
                    <a:pt x="1728078" y="1001412"/>
                    <a:pt x="1635899" y="1001413"/>
                  </a:cubicBezTo>
                  <a:lnTo>
                    <a:pt x="0" y="1001413"/>
                  </a:lnTo>
                  <a:lnTo>
                    <a:pt x="0" y="166906"/>
                  </a:lnTo>
                  <a:cubicBezTo>
                    <a:pt x="0" y="74726"/>
                    <a:pt x="74726" y="0"/>
                    <a:pt x="166905" y="0"/>
                  </a:cubicBezTo>
                  <a:close/>
                </a:path>
              </a:pathLst>
            </a:custGeom>
            <a:solidFill>
              <a:srgbClr val="F2F2F2"/>
            </a:solidFill>
            <a:ln w="9525" algn="ctr">
              <a:noFill/>
              <a:round/>
              <a:headEnd/>
              <a:tailEnd/>
            </a:ln>
          </p:spPr>
          <p:txBody>
            <a:bodyPr rot="10800000"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47" name="모서리가 둥근 직사각형 546"/>
          <p:cNvSpPr/>
          <p:nvPr/>
        </p:nvSpPr>
        <p:spPr bwMode="auto">
          <a:xfrm>
            <a:off x="2446428" y="4638478"/>
            <a:ext cx="900000" cy="26955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초도물량배분</a:t>
            </a:r>
          </a:p>
        </p:txBody>
      </p:sp>
      <p:sp>
        <p:nvSpPr>
          <p:cNvPr id="548" name="모서리가 둥근 직사각형 547"/>
          <p:cNvSpPr/>
          <p:nvPr/>
        </p:nvSpPr>
        <p:spPr bwMode="auto">
          <a:xfrm>
            <a:off x="2446427" y="5108283"/>
            <a:ext cx="900000" cy="26964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출고지시</a:t>
            </a:r>
          </a:p>
        </p:txBody>
      </p:sp>
      <p:cxnSp>
        <p:nvCxnSpPr>
          <p:cNvPr id="549" name="꺾인 연결선 548"/>
          <p:cNvCxnSpPr/>
          <p:nvPr/>
        </p:nvCxnSpPr>
        <p:spPr bwMode="auto">
          <a:xfrm rot="5400000">
            <a:off x="2797175" y="5008511"/>
            <a:ext cx="200025" cy="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sp>
        <p:nvSpPr>
          <p:cNvPr id="550" name="모서리가 둥근 직사각형 549"/>
          <p:cNvSpPr/>
          <p:nvPr/>
        </p:nvSpPr>
        <p:spPr bwMode="auto">
          <a:xfrm>
            <a:off x="3578331" y="4638478"/>
            <a:ext cx="900000" cy="26955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물량 재배분</a:t>
            </a:r>
          </a:p>
        </p:txBody>
      </p:sp>
      <p:cxnSp>
        <p:nvCxnSpPr>
          <p:cNvPr id="551" name="꺾인 연결선 550"/>
          <p:cNvCxnSpPr/>
          <p:nvPr/>
        </p:nvCxnSpPr>
        <p:spPr bwMode="auto">
          <a:xfrm rot="5400000">
            <a:off x="3363119" y="4442567"/>
            <a:ext cx="200025" cy="11318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sp>
        <p:nvSpPr>
          <p:cNvPr id="552" name="모서리가 둥근 직사각형 551"/>
          <p:cNvSpPr/>
          <p:nvPr/>
        </p:nvSpPr>
        <p:spPr bwMode="auto">
          <a:xfrm>
            <a:off x="3632178" y="3235798"/>
            <a:ext cx="1080000" cy="4053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영업기획</a:t>
            </a:r>
          </a:p>
        </p:txBody>
      </p:sp>
      <p:sp>
        <p:nvSpPr>
          <p:cNvPr id="553" name="모서리가 둥근 직사각형 31"/>
          <p:cNvSpPr>
            <a:spLocks noChangeArrowheads="1"/>
          </p:cNvSpPr>
          <p:nvPr/>
        </p:nvSpPr>
        <p:spPr bwMode="auto">
          <a:xfrm>
            <a:off x="4718050" y="3825823"/>
            <a:ext cx="539750" cy="238125"/>
          </a:xfrm>
          <a:prstGeom prst="roundRect">
            <a:avLst>
              <a:gd name="adj" fmla="val 16667"/>
            </a:avLst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ko-KR" altLang="en-US" sz="800" b="0">
                <a:latin typeface="맑은 고딕" pitchFamily="50" charset="-127"/>
                <a:ea typeface="맑은 고딕" pitchFamily="50" charset="-127"/>
              </a:rPr>
              <a:t>영업담당자</a:t>
            </a:r>
          </a:p>
        </p:txBody>
      </p:sp>
      <p:pic>
        <p:nvPicPr>
          <p:cNvPr id="554" name="Picture 70" descr="developer-n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4888" y="3571823"/>
            <a:ext cx="317500" cy="29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5" name="모서리가 둥근 직사각형 554"/>
          <p:cNvSpPr/>
          <p:nvPr/>
        </p:nvSpPr>
        <p:spPr bwMode="auto">
          <a:xfrm>
            <a:off x="3632178" y="4020023"/>
            <a:ext cx="1080000" cy="4053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물량관리</a:t>
            </a:r>
          </a:p>
        </p:txBody>
      </p:sp>
      <p:sp>
        <p:nvSpPr>
          <p:cNvPr id="556" name="모서리가 둥근 직사각형 555"/>
          <p:cNvSpPr/>
          <p:nvPr/>
        </p:nvSpPr>
        <p:spPr bwMode="auto">
          <a:xfrm>
            <a:off x="5202215" y="3235798"/>
            <a:ext cx="1080000" cy="4053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solidFill>
                  <a:srgbClr val="262626"/>
                </a:solidFill>
                <a:latin typeface="맑은 고딕" pitchFamily="50" charset="-127"/>
                <a:ea typeface="맑은 고딕" pitchFamily="50" charset="-127"/>
              </a:rPr>
              <a:t>영업수불관리</a:t>
            </a:r>
          </a:p>
        </p:txBody>
      </p:sp>
      <p:sp>
        <p:nvSpPr>
          <p:cNvPr id="557" name="모서리가 둥근 직사각형 556"/>
          <p:cNvSpPr/>
          <p:nvPr/>
        </p:nvSpPr>
        <p:spPr bwMode="auto">
          <a:xfrm>
            <a:off x="5202215" y="4020023"/>
            <a:ext cx="1080000" cy="40537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매장관리</a:t>
            </a:r>
          </a:p>
        </p:txBody>
      </p:sp>
      <p:sp>
        <p:nvSpPr>
          <p:cNvPr id="558" name="모서리가 둥근 직사각형 557"/>
          <p:cNvSpPr/>
          <p:nvPr/>
        </p:nvSpPr>
        <p:spPr bwMode="auto">
          <a:xfrm>
            <a:off x="3578331" y="2791524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실적 현황 분석</a:t>
            </a:r>
          </a:p>
        </p:txBody>
      </p:sp>
      <p:sp>
        <p:nvSpPr>
          <p:cNvPr id="559" name="모서리가 둥근 직사각형 558"/>
          <p:cNvSpPr/>
          <p:nvPr/>
        </p:nvSpPr>
        <p:spPr bwMode="auto">
          <a:xfrm>
            <a:off x="3578331" y="2272274"/>
            <a:ext cx="900000" cy="26918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마케팅</a:t>
            </a:r>
          </a:p>
        </p:txBody>
      </p:sp>
      <p:sp>
        <p:nvSpPr>
          <p:cNvPr id="560" name="모서리가 둥근 직사각형 559"/>
          <p:cNvSpPr/>
          <p:nvPr/>
        </p:nvSpPr>
        <p:spPr bwMode="auto">
          <a:xfrm>
            <a:off x="2440011" y="2272274"/>
            <a:ext cx="900000" cy="26918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가격정책결정</a:t>
            </a:r>
          </a:p>
        </p:txBody>
      </p:sp>
      <p:cxnSp>
        <p:nvCxnSpPr>
          <p:cNvPr id="561" name="꺾인 연결선 560"/>
          <p:cNvCxnSpPr/>
          <p:nvPr/>
        </p:nvCxnSpPr>
        <p:spPr bwMode="auto">
          <a:xfrm rot="5400000" flipH="1" flipV="1">
            <a:off x="3902869" y="2667742"/>
            <a:ext cx="250825" cy="15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cxnSp>
        <p:nvCxnSpPr>
          <p:cNvPr id="562" name="꺾인 연결선 561"/>
          <p:cNvCxnSpPr/>
          <p:nvPr/>
        </p:nvCxnSpPr>
        <p:spPr bwMode="auto">
          <a:xfrm rot="16200000" flipV="1">
            <a:off x="3334544" y="2097829"/>
            <a:ext cx="249237" cy="113982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sp>
        <p:nvSpPr>
          <p:cNvPr id="563" name="모서리가 둥근 직사각형 562"/>
          <p:cNvSpPr/>
          <p:nvPr/>
        </p:nvSpPr>
        <p:spPr bwMode="auto">
          <a:xfrm>
            <a:off x="5500695" y="4569243"/>
            <a:ext cx="900000" cy="26964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>
                <a:latin typeface="맑은 고딕" pitchFamily="50" charset="-127"/>
                <a:ea typeface="맑은 고딕" pitchFamily="50" charset="-127"/>
              </a:rPr>
              <a:t>매장계약</a:t>
            </a:r>
          </a:p>
        </p:txBody>
      </p:sp>
      <p:sp>
        <p:nvSpPr>
          <p:cNvPr id="564" name="모서리가 둥근 직사각형 563"/>
          <p:cNvSpPr/>
          <p:nvPr/>
        </p:nvSpPr>
        <p:spPr bwMode="auto">
          <a:xfrm>
            <a:off x="5500695" y="4974230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en-US" altLang="ko-KR" sz="900" b="0" dirty="0">
                <a:latin typeface="맑은 고딕" pitchFamily="50" charset="-127"/>
                <a:ea typeface="맑은 고딕" pitchFamily="50" charset="-127"/>
              </a:rPr>
              <a:t>Communication</a:t>
            </a:r>
          </a:p>
        </p:txBody>
      </p:sp>
      <p:sp>
        <p:nvSpPr>
          <p:cNvPr id="565" name="모서리가 둥근 직사각형 564"/>
          <p:cNvSpPr/>
          <p:nvPr/>
        </p:nvSpPr>
        <p:spPr bwMode="auto">
          <a:xfrm>
            <a:off x="5442103" y="2923286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판매마감</a:t>
            </a:r>
          </a:p>
        </p:txBody>
      </p:sp>
      <p:sp>
        <p:nvSpPr>
          <p:cNvPr id="566" name="모서리가 둥근 직사각형 565"/>
          <p:cNvSpPr/>
          <p:nvPr/>
        </p:nvSpPr>
        <p:spPr bwMode="auto">
          <a:xfrm>
            <a:off x="5442103" y="2512100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매출마감</a:t>
            </a:r>
          </a:p>
        </p:txBody>
      </p:sp>
      <p:sp>
        <p:nvSpPr>
          <p:cNvPr id="567" name="모서리가 둥근 직사각형 566"/>
          <p:cNvSpPr/>
          <p:nvPr/>
        </p:nvSpPr>
        <p:spPr bwMode="auto">
          <a:xfrm>
            <a:off x="5442103" y="2100724"/>
            <a:ext cx="900000" cy="26928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백화점정산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8" name="모서리가 둥근 직사각형 567"/>
          <p:cNvSpPr/>
          <p:nvPr/>
        </p:nvSpPr>
        <p:spPr bwMode="auto">
          <a:xfrm>
            <a:off x="6596085" y="2686187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800" b="0" dirty="0">
                <a:latin typeface="맑은 고딕" pitchFamily="50" charset="-127"/>
                <a:ea typeface="맑은 고딕" pitchFamily="50" charset="-127"/>
              </a:rPr>
              <a:t>외상매출금</a:t>
            </a:r>
            <a:r>
              <a:rPr lang="en-US" altLang="ko-KR" sz="800" b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800" b="0" dirty="0">
                <a:latin typeface="맑은 고딕" pitchFamily="50" charset="-127"/>
                <a:ea typeface="맑은 고딕" pitchFamily="50" charset="-127"/>
              </a:rPr>
              <a:t>미수금</a:t>
            </a:r>
            <a:endParaRPr lang="en-US" altLang="ko-KR" sz="8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9" name="모서리가 둥근 직사각형 568"/>
          <p:cNvSpPr/>
          <p:nvPr/>
        </p:nvSpPr>
        <p:spPr bwMode="auto">
          <a:xfrm>
            <a:off x="6608910" y="2100724"/>
            <a:ext cx="900000" cy="26928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중간관리수수료</a:t>
            </a:r>
            <a:endParaRPr lang="en-US" altLang="ko-KR" sz="9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70" name="꺾인 연결선 569"/>
          <p:cNvCxnSpPr/>
          <p:nvPr/>
        </p:nvCxnSpPr>
        <p:spPr bwMode="auto">
          <a:xfrm rot="5400000" flipH="1" flipV="1">
            <a:off x="5821363" y="2852685"/>
            <a:ext cx="141288" cy="15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cxnSp>
        <p:nvCxnSpPr>
          <p:cNvPr id="571" name="꺾인 연결선 570"/>
          <p:cNvCxnSpPr/>
          <p:nvPr/>
        </p:nvCxnSpPr>
        <p:spPr bwMode="auto">
          <a:xfrm rot="16200000" flipV="1">
            <a:off x="5822950" y="2441523"/>
            <a:ext cx="139700" cy="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cxnSp>
        <p:nvCxnSpPr>
          <p:cNvPr id="572" name="꺾인 연결선 247"/>
          <p:cNvCxnSpPr/>
          <p:nvPr/>
        </p:nvCxnSpPr>
        <p:spPr bwMode="auto">
          <a:xfrm flipV="1">
            <a:off x="6342063" y="2957460"/>
            <a:ext cx="703262" cy="101600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cxnSp>
        <p:nvCxnSpPr>
          <p:cNvPr id="573" name="꺾인 연결선 247"/>
          <p:cNvCxnSpPr/>
          <p:nvPr/>
        </p:nvCxnSpPr>
        <p:spPr bwMode="auto">
          <a:xfrm>
            <a:off x="6342063" y="2647898"/>
            <a:ext cx="703262" cy="309562"/>
          </a:xfrm>
          <a:prstGeom prst="bentConnector4">
            <a:avLst>
              <a:gd name="adj1" fmla="val 18039"/>
              <a:gd name="adj2" fmla="val 134568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cxnSp>
        <p:nvCxnSpPr>
          <p:cNvPr id="574" name="꺾인 연결선 573"/>
          <p:cNvCxnSpPr/>
          <p:nvPr/>
        </p:nvCxnSpPr>
        <p:spPr bwMode="auto">
          <a:xfrm>
            <a:off x="6342063" y="2235148"/>
            <a:ext cx="266700" cy="15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sp>
        <p:nvSpPr>
          <p:cNvPr id="575" name="모서리가 둥근 직사각형 574"/>
          <p:cNvSpPr/>
          <p:nvPr/>
        </p:nvSpPr>
        <p:spPr bwMode="auto">
          <a:xfrm>
            <a:off x="3578330" y="5121351"/>
            <a:ext cx="900000" cy="27072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점간지시</a:t>
            </a:r>
          </a:p>
        </p:txBody>
      </p:sp>
      <p:cxnSp>
        <p:nvCxnSpPr>
          <p:cNvPr id="576" name="꺾인 연결선 575"/>
          <p:cNvCxnSpPr/>
          <p:nvPr/>
        </p:nvCxnSpPr>
        <p:spPr bwMode="auto">
          <a:xfrm rot="5400000">
            <a:off x="3922712" y="5014861"/>
            <a:ext cx="212725" cy="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sm"/>
          </a:ln>
          <a:effectLst/>
        </p:spPr>
      </p:cxnSp>
      <p:sp>
        <p:nvSpPr>
          <p:cNvPr id="577" name="직사각형 264"/>
          <p:cNvSpPr>
            <a:spLocks noChangeArrowheads="1"/>
          </p:cNvSpPr>
          <p:nvPr/>
        </p:nvSpPr>
        <p:spPr bwMode="auto">
          <a:xfrm>
            <a:off x="5448300" y="5240285"/>
            <a:ext cx="1035861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ts val="1000"/>
              </a:lnSpc>
              <a:buSzPct val="70000"/>
              <a:buFont typeface="Wingdings" pitchFamily="2" charset="2"/>
              <a:buChar char="§"/>
            </a:pPr>
            <a:r>
              <a:rPr lang="ko-KR" altLang="en-US" sz="800" b="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 게시판</a:t>
            </a:r>
            <a:r>
              <a:rPr lang="en-US" altLang="ko-KR" sz="800" b="0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0" dirty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매장관리</a:t>
            </a:r>
            <a:r>
              <a:rPr lang="en-US" altLang="ko-KR" sz="800" b="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l">
              <a:lnSpc>
                <a:spcPts val="1000"/>
              </a:lnSpc>
              <a:buSzPct val="70000"/>
              <a:buFont typeface="Wingdings" pitchFamily="2" charset="2"/>
              <a:buChar char="§"/>
            </a:pPr>
            <a:r>
              <a:rPr lang="ko-KR" altLang="en-US" sz="800" b="0" dirty="0" smtClean="0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rPr>
              <a:t> 매장메신저</a:t>
            </a:r>
            <a:endParaRPr lang="en-US" altLang="ko-KR" sz="800" b="0" dirty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8" name="Freeform 63"/>
          <p:cNvSpPr>
            <a:spLocks/>
          </p:cNvSpPr>
          <p:nvPr/>
        </p:nvSpPr>
        <p:spPr bwMode="auto">
          <a:xfrm flipV="1">
            <a:off x="6281738" y="1666823"/>
            <a:ext cx="3297237" cy="425450"/>
          </a:xfrm>
          <a:custGeom>
            <a:avLst/>
            <a:gdLst>
              <a:gd name="T0" fmla="*/ 0 w 2344"/>
              <a:gd name="T1" fmla="*/ 0 h 178"/>
              <a:gd name="T2" fmla="*/ 596428 w 2344"/>
              <a:gd name="T3" fmla="*/ 425450 h 178"/>
              <a:gd name="T4" fmla="*/ 3297237 w 2344"/>
              <a:gd name="T5" fmla="*/ 425450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9" name="모서리가 둥근 직사각형 39"/>
          <p:cNvSpPr>
            <a:spLocks noChangeArrowheads="1"/>
          </p:cNvSpPr>
          <p:nvPr/>
        </p:nvSpPr>
        <p:spPr bwMode="auto">
          <a:xfrm>
            <a:off x="7681913" y="1714448"/>
            <a:ext cx="1897062" cy="61595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0" name="TextBox 97"/>
          <p:cNvSpPr txBox="1">
            <a:spLocks noChangeArrowheads="1"/>
          </p:cNvSpPr>
          <p:nvPr/>
        </p:nvSpPr>
        <p:spPr bwMode="auto">
          <a:xfrm>
            <a:off x="7696200" y="1693810"/>
            <a:ext cx="112723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백화점정산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관리</a:t>
            </a:r>
          </a:p>
        </p:txBody>
      </p:sp>
      <p:sp>
        <p:nvSpPr>
          <p:cNvPr id="581" name="모서리가 둥근 직사각형 41"/>
          <p:cNvSpPr>
            <a:spLocks noChangeArrowheads="1"/>
          </p:cNvSpPr>
          <p:nvPr/>
        </p:nvSpPr>
        <p:spPr bwMode="auto">
          <a:xfrm>
            <a:off x="7718425" y="1906535"/>
            <a:ext cx="1835150" cy="38576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백화점 매출 마감 확정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중간관리 수수료 등록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2" name="Freeform 63"/>
          <p:cNvSpPr>
            <a:spLocks/>
          </p:cNvSpPr>
          <p:nvPr/>
        </p:nvSpPr>
        <p:spPr bwMode="auto">
          <a:xfrm flipV="1">
            <a:off x="7216775" y="2455810"/>
            <a:ext cx="2373313" cy="247650"/>
          </a:xfrm>
          <a:custGeom>
            <a:avLst/>
            <a:gdLst>
              <a:gd name="T0" fmla="*/ 0 w 2344"/>
              <a:gd name="T1" fmla="*/ 0 h 178"/>
              <a:gd name="T2" fmla="*/ 429302 w 2344"/>
              <a:gd name="T3" fmla="*/ 247650 h 178"/>
              <a:gd name="T4" fmla="*/ 2373313 w 2344"/>
              <a:gd name="T5" fmla="*/ 247650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3" name="모서리가 둥근 직사각형 39"/>
          <p:cNvSpPr>
            <a:spLocks noChangeArrowheads="1"/>
          </p:cNvSpPr>
          <p:nvPr/>
        </p:nvSpPr>
        <p:spPr bwMode="auto">
          <a:xfrm>
            <a:off x="7681913" y="2501848"/>
            <a:ext cx="1908175" cy="608012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4" name="TextBox 97"/>
          <p:cNvSpPr txBox="1">
            <a:spLocks noChangeArrowheads="1"/>
          </p:cNvSpPr>
          <p:nvPr/>
        </p:nvSpPr>
        <p:spPr bwMode="auto">
          <a:xfrm>
            <a:off x="7710488" y="2481210"/>
            <a:ext cx="1898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외상매출금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미수금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입금 관리</a:t>
            </a:r>
          </a:p>
        </p:txBody>
      </p:sp>
      <p:sp>
        <p:nvSpPr>
          <p:cNvPr id="585" name="모서리가 둥근 직사각형 41"/>
          <p:cNvSpPr>
            <a:spLocks noChangeArrowheads="1"/>
          </p:cNvSpPr>
          <p:nvPr/>
        </p:nvSpPr>
        <p:spPr bwMode="auto">
          <a:xfrm>
            <a:off x="7727950" y="2693935"/>
            <a:ext cx="1827213" cy="352425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외상매출금과 판매미수금 관리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판매미수금은 매장 송금 대상 금액</a:t>
            </a:r>
          </a:p>
        </p:txBody>
      </p:sp>
      <p:sp>
        <p:nvSpPr>
          <p:cNvPr id="586" name="모서리가 둥근 직사각형 39"/>
          <p:cNvSpPr>
            <a:spLocks noChangeArrowheads="1"/>
          </p:cNvSpPr>
          <p:nvPr/>
        </p:nvSpPr>
        <p:spPr bwMode="auto">
          <a:xfrm>
            <a:off x="7318375" y="3276548"/>
            <a:ext cx="2085975" cy="508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7" name="TextBox 97"/>
          <p:cNvSpPr txBox="1">
            <a:spLocks noChangeArrowheads="1"/>
          </p:cNvSpPr>
          <p:nvPr/>
        </p:nvSpPr>
        <p:spPr bwMode="auto">
          <a:xfrm>
            <a:off x="7373938" y="3255910"/>
            <a:ext cx="1136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재고재매입 처리</a:t>
            </a:r>
          </a:p>
        </p:txBody>
      </p:sp>
      <p:sp>
        <p:nvSpPr>
          <p:cNvPr id="588" name="모서리가 둥근 직사각형 41"/>
          <p:cNvSpPr>
            <a:spLocks noChangeArrowheads="1"/>
          </p:cNvSpPr>
          <p:nvPr/>
        </p:nvSpPr>
        <p:spPr bwMode="auto">
          <a:xfrm>
            <a:off x="7373938" y="3468635"/>
            <a:ext cx="1968500" cy="27305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재고 재 매입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마진변경 재 매입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9" name="Freeform 63"/>
          <p:cNvSpPr>
            <a:spLocks/>
          </p:cNvSpPr>
          <p:nvPr/>
        </p:nvSpPr>
        <p:spPr bwMode="auto">
          <a:xfrm>
            <a:off x="6281738" y="2712985"/>
            <a:ext cx="3122612" cy="533400"/>
          </a:xfrm>
          <a:custGeom>
            <a:avLst/>
            <a:gdLst>
              <a:gd name="T0" fmla="*/ 0 w 2344"/>
              <a:gd name="T1" fmla="*/ 0 h 178"/>
              <a:gd name="T2" fmla="*/ 424 w 2344"/>
              <a:gd name="T3" fmla="*/ 178 h 178"/>
              <a:gd name="T4" fmla="*/ 2344 w 2344"/>
              <a:gd name="T5" fmla="*/ 178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0" name="Freeform 63"/>
          <p:cNvSpPr>
            <a:spLocks/>
          </p:cNvSpPr>
          <p:nvPr/>
        </p:nvSpPr>
        <p:spPr bwMode="auto">
          <a:xfrm flipH="1" flipV="1">
            <a:off x="317500" y="1673173"/>
            <a:ext cx="2809875" cy="588962"/>
          </a:xfrm>
          <a:custGeom>
            <a:avLst/>
            <a:gdLst>
              <a:gd name="T0" fmla="*/ 0 w 2344"/>
              <a:gd name="T1" fmla="*/ 0 h 178"/>
              <a:gd name="T2" fmla="*/ 508271 w 2344"/>
              <a:gd name="T3" fmla="*/ 588962 h 178"/>
              <a:gd name="T4" fmla="*/ 2809875 w 2344"/>
              <a:gd name="T5" fmla="*/ 588962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1" name="모서리가 둥근 직사각형 39"/>
          <p:cNvSpPr>
            <a:spLocks noChangeArrowheads="1"/>
          </p:cNvSpPr>
          <p:nvPr/>
        </p:nvSpPr>
        <p:spPr bwMode="auto">
          <a:xfrm flipH="1">
            <a:off x="317500" y="1700160"/>
            <a:ext cx="2085975" cy="506413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2" name="TextBox 97"/>
          <p:cNvSpPr txBox="1">
            <a:spLocks noChangeArrowheads="1"/>
          </p:cNvSpPr>
          <p:nvPr/>
        </p:nvSpPr>
        <p:spPr bwMode="auto">
          <a:xfrm flipH="1">
            <a:off x="1147763" y="1679523"/>
            <a:ext cx="1200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실판가 정보 등록</a:t>
            </a:r>
          </a:p>
        </p:txBody>
      </p:sp>
      <p:sp>
        <p:nvSpPr>
          <p:cNvPr id="593" name="모서리가 둥근 직사각형 41"/>
          <p:cNvSpPr>
            <a:spLocks noChangeArrowheads="1"/>
          </p:cNvSpPr>
          <p:nvPr/>
        </p:nvSpPr>
        <p:spPr bwMode="auto">
          <a:xfrm flipH="1">
            <a:off x="379413" y="1892248"/>
            <a:ext cx="1968500" cy="27146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가격정책 마케팅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실판매가 이력 관리</a:t>
            </a:r>
          </a:p>
        </p:txBody>
      </p:sp>
      <p:sp>
        <p:nvSpPr>
          <p:cNvPr id="594" name="Freeform 63"/>
          <p:cNvSpPr>
            <a:spLocks/>
          </p:cNvSpPr>
          <p:nvPr/>
        </p:nvSpPr>
        <p:spPr bwMode="auto">
          <a:xfrm flipH="1">
            <a:off x="327025" y="3044773"/>
            <a:ext cx="3260725" cy="109537"/>
          </a:xfrm>
          <a:custGeom>
            <a:avLst/>
            <a:gdLst>
              <a:gd name="T0" fmla="*/ 0 w 2344"/>
              <a:gd name="T1" fmla="*/ 0 h 178"/>
              <a:gd name="T2" fmla="*/ 589824 w 2344"/>
              <a:gd name="T3" fmla="*/ 109537 h 178"/>
              <a:gd name="T4" fmla="*/ 3260725 w 2344"/>
              <a:gd name="T5" fmla="*/ 109537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5" name="모서리가 둥근 직사각형 39"/>
          <p:cNvSpPr>
            <a:spLocks noChangeArrowheads="1"/>
          </p:cNvSpPr>
          <p:nvPr/>
        </p:nvSpPr>
        <p:spPr bwMode="auto">
          <a:xfrm flipH="1">
            <a:off x="327025" y="2617735"/>
            <a:ext cx="2085975" cy="506413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6" name="TextBox 97"/>
          <p:cNvSpPr txBox="1">
            <a:spLocks noChangeArrowheads="1"/>
          </p:cNvSpPr>
          <p:nvPr/>
        </p:nvSpPr>
        <p:spPr bwMode="auto">
          <a:xfrm flipH="1">
            <a:off x="1157288" y="2597098"/>
            <a:ext cx="1200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다양한 분석 현황</a:t>
            </a:r>
          </a:p>
        </p:txBody>
      </p:sp>
      <p:sp>
        <p:nvSpPr>
          <p:cNvPr id="597" name="모서리가 둥근 직사각형 41"/>
          <p:cNvSpPr>
            <a:spLocks noChangeArrowheads="1"/>
          </p:cNvSpPr>
          <p:nvPr/>
        </p:nvSpPr>
        <p:spPr bwMode="auto">
          <a:xfrm flipH="1">
            <a:off x="388938" y="2809823"/>
            <a:ext cx="1968500" cy="27146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매출실적현황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매출실적추세분석</a:t>
            </a:r>
          </a:p>
        </p:txBody>
      </p:sp>
      <p:sp>
        <p:nvSpPr>
          <p:cNvPr id="598" name="Freeform 63"/>
          <p:cNvSpPr>
            <a:spLocks/>
          </p:cNvSpPr>
          <p:nvPr/>
        </p:nvSpPr>
        <p:spPr bwMode="auto">
          <a:xfrm flipH="1" flipV="1">
            <a:off x="315913" y="4435423"/>
            <a:ext cx="2159000" cy="695325"/>
          </a:xfrm>
          <a:custGeom>
            <a:avLst/>
            <a:gdLst>
              <a:gd name="T0" fmla="*/ 0 w 2344"/>
              <a:gd name="T1" fmla="*/ 0 h 178"/>
              <a:gd name="T2" fmla="*/ 390536 w 2344"/>
              <a:gd name="T3" fmla="*/ 695325 h 178"/>
              <a:gd name="T4" fmla="*/ 2159000 w 2344"/>
              <a:gd name="T5" fmla="*/ 695325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9" name="모서리가 둥근 직사각형 39"/>
          <p:cNvSpPr>
            <a:spLocks noChangeArrowheads="1"/>
          </p:cNvSpPr>
          <p:nvPr/>
        </p:nvSpPr>
        <p:spPr bwMode="auto">
          <a:xfrm flipH="1">
            <a:off x="325438" y="3949648"/>
            <a:ext cx="1619250" cy="449262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0" name="TextBox 97"/>
          <p:cNvSpPr txBox="1">
            <a:spLocks noChangeArrowheads="1"/>
          </p:cNvSpPr>
          <p:nvPr/>
        </p:nvSpPr>
        <p:spPr bwMode="auto">
          <a:xfrm flipH="1">
            <a:off x="858838" y="3929010"/>
            <a:ext cx="1009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출고작업 지시</a:t>
            </a:r>
          </a:p>
        </p:txBody>
      </p:sp>
      <p:sp>
        <p:nvSpPr>
          <p:cNvPr id="601" name="모서리가 둥근 직사각형 41"/>
          <p:cNvSpPr>
            <a:spLocks noChangeArrowheads="1"/>
          </p:cNvSpPr>
          <p:nvPr/>
        </p:nvSpPr>
        <p:spPr bwMode="auto">
          <a:xfrm flipH="1">
            <a:off x="387350" y="4141735"/>
            <a:ext cx="1506538" cy="2032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창고에 출고 작업 지시 처리</a:t>
            </a:r>
          </a:p>
        </p:txBody>
      </p:sp>
      <p:sp>
        <p:nvSpPr>
          <p:cNvPr id="602" name="Freeform 63"/>
          <p:cNvSpPr>
            <a:spLocks/>
          </p:cNvSpPr>
          <p:nvPr/>
        </p:nvSpPr>
        <p:spPr bwMode="auto">
          <a:xfrm flipH="1" flipV="1">
            <a:off x="317500" y="3886148"/>
            <a:ext cx="3319463" cy="211137"/>
          </a:xfrm>
          <a:custGeom>
            <a:avLst/>
            <a:gdLst>
              <a:gd name="T0" fmla="*/ 0 w 2344"/>
              <a:gd name="T1" fmla="*/ 0 h 178"/>
              <a:gd name="T2" fmla="*/ 600449 w 2344"/>
              <a:gd name="T3" fmla="*/ 211137 h 178"/>
              <a:gd name="T4" fmla="*/ 3319463 w 2344"/>
              <a:gd name="T5" fmla="*/ 211137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3" name="모서리가 둥근 직사각형 39"/>
          <p:cNvSpPr>
            <a:spLocks noChangeArrowheads="1"/>
          </p:cNvSpPr>
          <p:nvPr/>
        </p:nvSpPr>
        <p:spPr bwMode="auto">
          <a:xfrm flipH="1">
            <a:off x="317500" y="3355923"/>
            <a:ext cx="2087563" cy="508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4" name="TextBox 97"/>
          <p:cNvSpPr txBox="1">
            <a:spLocks noChangeArrowheads="1"/>
          </p:cNvSpPr>
          <p:nvPr/>
        </p:nvSpPr>
        <p:spPr bwMode="auto">
          <a:xfrm flipH="1">
            <a:off x="1574800" y="3335285"/>
            <a:ext cx="755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재고 현황</a:t>
            </a:r>
          </a:p>
        </p:txBody>
      </p:sp>
      <p:sp>
        <p:nvSpPr>
          <p:cNvPr id="605" name="모서리가 둥근 직사각형 41"/>
          <p:cNvSpPr>
            <a:spLocks noChangeArrowheads="1"/>
          </p:cNvSpPr>
          <p:nvPr/>
        </p:nvSpPr>
        <p:spPr bwMode="auto">
          <a:xfrm flipH="1">
            <a:off x="379413" y="3548010"/>
            <a:ext cx="1970087" cy="27305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700" b="0">
                <a:latin typeface="맑은 고딕" pitchFamily="50" charset="-127"/>
                <a:ea typeface="맑은 고딕" pitchFamily="50" charset="-127"/>
              </a:rPr>
              <a:t>·</a:t>
            </a: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매장 재고 현황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제품판매율 현황</a:t>
            </a:r>
          </a:p>
        </p:txBody>
      </p:sp>
      <p:sp>
        <p:nvSpPr>
          <p:cNvPr id="606" name="Freeform 63"/>
          <p:cNvSpPr>
            <a:spLocks/>
          </p:cNvSpPr>
          <p:nvPr/>
        </p:nvSpPr>
        <p:spPr bwMode="auto">
          <a:xfrm flipH="1">
            <a:off x="287338" y="5387923"/>
            <a:ext cx="3349625" cy="469900"/>
          </a:xfrm>
          <a:custGeom>
            <a:avLst/>
            <a:gdLst>
              <a:gd name="T0" fmla="*/ 0 w 2344"/>
              <a:gd name="T1" fmla="*/ 0 h 178"/>
              <a:gd name="T2" fmla="*/ 605905 w 2344"/>
              <a:gd name="T3" fmla="*/ 469900 h 178"/>
              <a:gd name="T4" fmla="*/ 3349625 w 2344"/>
              <a:gd name="T5" fmla="*/ 469900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7" name="모서리가 둥근 직사각형 39"/>
          <p:cNvSpPr>
            <a:spLocks noChangeArrowheads="1"/>
          </p:cNvSpPr>
          <p:nvPr/>
        </p:nvSpPr>
        <p:spPr bwMode="auto">
          <a:xfrm flipH="1">
            <a:off x="296863" y="5140273"/>
            <a:ext cx="1619250" cy="676275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8" name="TextBox 97"/>
          <p:cNvSpPr txBox="1">
            <a:spLocks noChangeArrowheads="1"/>
          </p:cNvSpPr>
          <p:nvPr/>
        </p:nvSpPr>
        <p:spPr bwMode="auto">
          <a:xfrm flipH="1">
            <a:off x="487363" y="5119635"/>
            <a:ext cx="1390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점간 이동 지시 처리</a:t>
            </a:r>
          </a:p>
        </p:txBody>
      </p:sp>
      <p:sp>
        <p:nvSpPr>
          <p:cNvPr id="609" name="모서리가 둥근 직사각형 41"/>
          <p:cNvSpPr>
            <a:spLocks noChangeArrowheads="1"/>
          </p:cNvSpPr>
          <p:nvPr/>
        </p:nvSpPr>
        <p:spPr bwMode="auto">
          <a:xfrm flipH="1">
            <a:off x="358775" y="5332360"/>
            <a:ext cx="1506538" cy="4191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>
                <a:latin typeface="맑은 고딕" pitchFamily="50" charset="-127"/>
                <a:ea typeface="맑은 고딕" pitchFamily="50" charset="-127"/>
              </a:rPr>
              <a:t>재고 현황 분석을 통해 물량 재분배를 하여 매출 향상에 기여</a:t>
            </a:r>
          </a:p>
        </p:txBody>
      </p:sp>
      <p:grpSp>
        <p:nvGrpSpPr>
          <p:cNvPr id="610" name="그룹 349"/>
          <p:cNvGrpSpPr>
            <a:grpSpLocks/>
          </p:cNvGrpSpPr>
          <p:nvPr/>
        </p:nvGrpSpPr>
        <p:grpSpPr bwMode="auto">
          <a:xfrm>
            <a:off x="6400800" y="4078235"/>
            <a:ext cx="2841625" cy="625475"/>
            <a:chOff x="6847001" y="1491128"/>
            <a:chExt cx="2841828" cy="666639"/>
          </a:xfrm>
        </p:grpSpPr>
        <p:sp>
          <p:nvSpPr>
            <p:cNvPr id="611" name="타원 610"/>
            <p:cNvSpPr/>
            <p:nvPr/>
          </p:nvSpPr>
          <p:spPr bwMode="auto">
            <a:xfrm>
              <a:off x="9068073" y="1491128"/>
              <a:ext cx="620756" cy="473754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매장정보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12" name="꺾인 연결선 611"/>
            <p:cNvCxnSpPr>
              <a:stCxn id="611" idx="2"/>
            </p:cNvCxnSpPr>
            <p:nvPr/>
          </p:nvCxnSpPr>
          <p:spPr bwMode="auto">
            <a:xfrm rot="10800000" flipV="1">
              <a:off x="6847001" y="1728005"/>
              <a:ext cx="2221072" cy="429762"/>
            </a:xfrm>
            <a:prstGeom prst="bentConnector3">
              <a:avLst>
                <a:gd name="adj1" fmla="val 25133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stealth" w="sm" len="sm"/>
              <a:tailEnd type="none" w="sm" len="sm"/>
            </a:ln>
            <a:effectLst/>
          </p:spPr>
        </p:cxnSp>
      </p:grpSp>
      <p:grpSp>
        <p:nvGrpSpPr>
          <p:cNvPr id="613" name="그룹 367"/>
          <p:cNvGrpSpPr>
            <a:grpSpLocks/>
          </p:cNvGrpSpPr>
          <p:nvPr/>
        </p:nvGrpSpPr>
        <p:grpSpPr bwMode="auto">
          <a:xfrm>
            <a:off x="2897188" y="4751335"/>
            <a:ext cx="6345237" cy="627063"/>
            <a:chOff x="2045350" y="1745680"/>
            <a:chExt cx="6346096" cy="667093"/>
          </a:xfrm>
        </p:grpSpPr>
        <p:sp>
          <p:nvSpPr>
            <p:cNvPr id="614" name="타원 613"/>
            <p:cNvSpPr/>
            <p:nvPr/>
          </p:nvSpPr>
          <p:spPr bwMode="auto">
            <a:xfrm>
              <a:off x="7770650" y="1745680"/>
              <a:ext cx="620796" cy="472876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물류관리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615" name="꺾인 연결선 370"/>
            <p:cNvCxnSpPr>
              <a:stCxn id="614" idx="2"/>
            </p:cNvCxnSpPr>
            <p:nvPr/>
          </p:nvCxnSpPr>
          <p:spPr bwMode="auto">
            <a:xfrm rot="10800000" flipV="1">
              <a:off x="2045350" y="1982118"/>
              <a:ext cx="5725300" cy="430655"/>
            </a:xfrm>
            <a:prstGeom prst="bentConnector4">
              <a:avLst>
                <a:gd name="adj1" fmla="val 9140"/>
                <a:gd name="adj2" fmla="val 190773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stealth" w="sm" len="sm"/>
              <a:tailEnd type="none" w="sm" len="sm"/>
            </a:ln>
            <a:effectLst/>
          </p:spPr>
        </p:cxnSp>
      </p:grpSp>
      <p:cxnSp>
        <p:nvCxnSpPr>
          <p:cNvPr id="616" name="직선 연결선 615"/>
          <p:cNvCxnSpPr/>
          <p:nvPr/>
        </p:nvCxnSpPr>
        <p:spPr bwMode="auto">
          <a:xfrm rot="5400000">
            <a:off x="7133431" y="5149004"/>
            <a:ext cx="1482725" cy="1588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17" name="Rectangle 179"/>
          <p:cNvSpPr>
            <a:spLocks noChangeArrowheads="1"/>
          </p:cNvSpPr>
          <p:nvPr/>
        </p:nvSpPr>
        <p:spPr bwMode="auto">
          <a:xfrm>
            <a:off x="228600" y="998730"/>
            <a:ext cx="9429750" cy="5400600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18" name="Group 181"/>
          <p:cNvGrpSpPr>
            <a:grpSpLocks/>
          </p:cNvGrpSpPr>
          <p:nvPr/>
        </p:nvGrpSpPr>
        <p:grpSpPr bwMode="auto">
          <a:xfrm>
            <a:off x="8724900" y="5341885"/>
            <a:ext cx="944563" cy="622300"/>
            <a:chOff x="5496" y="1458"/>
            <a:chExt cx="595" cy="392"/>
          </a:xfrm>
        </p:grpSpPr>
        <p:sp>
          <p:nvSpPr>
            <p:cNvPr id="619" name="AutoShape 182"/>
            <p:cNvSpPr>
              <a:spLocks noChangeArrowheads="1"/>
            </p:cNvSpPr>
            <p:nvPr/>
          </p:nvSpPr>
          <p:spPr bwMode="auto">
            <a:xfrm>
              <a:off x="5496" y="1458"/>
              <a:ext cx="541" cy="384"/>
            </a:xfrm>
            <a:prstGeom prst="roundRect">
              <a:avLst>
                <a:gd name="adj" fmla="val 5727"/>
              </a:avLst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latinLnBrk="1">
                <a:lnSpc>
                  <a:spcPct val="100000"/>
                </a:lnSpc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0" name="모서리가 둥근 직사각형 619"/>
            <p:cNvSpPr/>
            <p:nvPr/>
          </p:nvSpPr>
          <p:spPr bwMode="auto">
            <a:xfrm>
              <a:off x="5549" y="1490"/>
              <a:ext cx="113" cy="9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 extrusionH="88900">
              <a:bevelT w="38100" prst="slope"/>
              <a:extrusionClr>
                <a:schemeClr val="tx1">
                  <a:lumMod val="75000"/>
                  <a:lumOff val="25000"/>
                </a:schemeClr>
              </a:extrusionClr>
              <a:contourClr>
                <a:schemeClr val="bg1">
                  <a:lumMod val="95000"/>
                </a:schemeClr>
              </a:contourClr>
            </a:sp3d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9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1" name="AutoShape 77"/>
            <p:cNvSpPr>
              <a:spLocks noChangeArrowheads="1"/>
            </p:cNvSpPr>
            <p:nvPr/>
          </p:nvSpPr>
          <p:spPr bwMode="auto">
            <a:xfrm>
              <a:off x="5673" y="1458"/>
              <a:ext cx="418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업무흐름</a:t>
              </a:r>
            </a:p>
          </p:txBody>
        </p:sp>
        <p:sp>
          <p:nvSpPr>
            <p:cNvPr id="622" name="AutoShape 77"/>
            <p:cNvSpPr>
              <a:spLocks noChangeArrowheads="1"/>
            </p:cNvSpPr>
            <p:nvPr/>
          </p:nvSpPr>
          <p:spPr bwMode="auto">
            <a:xfrm>
              <a:off x="5673" y="1577"/>
              <a:ext cx="418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시스템 구현</a:t>
              </a:r>
            </a:p>
          </p:txBody>
        </p:sp>
        <p:pic>
          <p:nvPicPr>
            <p:cNvPr id="623" name="Picture 320" descr="C:\Documents and Settings\kej\Local Settings\Temporary Internet Files\Content.IE5\E147QLU5\MCj04413620000[1]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5535" y="1731"/>
              <a:ext cx="136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24" name="AutoShape 77"/>
            <p:cNvSpPr>
              <a:spLocks noChangeArrowheads="1"/>
            </p:cNvSpPr>
            <p:nvPr/>
          </p:nvSpPr>
          <p:spPr bwMode="auto">
            <a:xfrm>
              <a:off x="5673" y="1684"/>
              <a:ext cx="417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주요 특징</a:t>
              </a:r>
            </a:p>
          </p:txBody>
        </p:sp>
        <p:cxnSp>
          <p:nvCxnSpPr>
            <p:cNvPr id="625" name="직선 연결선 227"/>
            <p:cNvCxnSpPr>
              <a:cxnSpLocks noChangeShapeType="1"/>
            </p:cNvCxnSpPr>
            <p:nvPr/>
          </p:nvCxnSpPr>
          <p:spPr bwMode="auto">
            <a:xfrm rot="5400000" flipH="1" flipV="1">
              <a:off x="5601" y="1660"/>
              <a:ext cx="1" cy="1"/>
            </a:xfrm>
            <a:prstGeom prst="line">
              <a:avLst/>
            </a:prstGeom>
            <a:noFill/>
            <a:ln w="9525" cap="rnd" algn="ctr">
              <a:solidFill>
                <a:srgbClr val="002060"/>
              </a:solidFill>
              <a:round/>
              <a:headEnd type="oval" w="med" len="med"/>
              <a:tailEnd/>
            </a:ln>
          </p:spPr>
        </p:cxnSp>
      </p:grpSp>
      <p:pic>
        <p:nvPicPr>
          <p:cNvPr id="626" name="그림 114" descr="별1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12963" y="1493785"/>
            <a:ext cx="5842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7" name="그림 115" descr="별2.jpg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51063" y="2460573"/>
            <a:ext cx="5778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8" name="그림 116" descr="별3.jpg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53500" y="3171773"/>
            <a:ext cx="5778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1" name="사각형 설명선 100"/>
          <p:cNvSpPr/>
          <p:nvPr/>
        </p:nvSpPr>
        <p:spPr>
          <a:xfrm>
            <a:off x="3306766" y="3573412"/>
            <a:ext cx="666736" cy="216151"/>
          </a:xfrm>
          <a:prstGeom prst="wedgeRectCallout">
            <a:avLst>
              <a:gd name="adj1" fmla="val 46104"/>
              <a:gd name="adj2" fmla="val -9393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사각형 설명선 101"/>
          <p:cNvSpPr/>
          <p:nvPr/>
        </p:nvSpPr>
        <p:spPr>
          <a:xfrm>
            <a:off x="3262489" y="4309366"/>
            <a:ext cx="666736" cy="216151"/>
          </a:xfrm>
          <a:prstGeom prst="wedgeRectCallout">
            <a:avLst>
              <a:gd name="adj1" fmla="val 46104"/>
              <a:gd name="adj2" fmla="val -9393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사각형 설명선 102"/>
          <p:cNvSpPr/>
          <p:nvPr/>
        </p:nvSpPr>
        <p:spPr>
          <a:xfrm>
            <a:off x="6030913" y="4261071"/>
            <a:ext cx="1263608" cy="216151"/>
          </a:xfrm>
          <a:prstGeom prst="wedgeRectCallout">
            <a:avLst>
              <a:gd name="adj1" fmla="val -68392"/>
              <a:gd name="adj2" fmla="val -3676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영업관리팀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사각형 설명선 103"/>
          <p:cNvSpPr/>
          <p:nvPr/>
        </p:nvSpPr>
        <p:spPr>
          <a:xfrm>
            <a:off x="5956103" y="3506369"/>
            <a:ext cx="921143" cy="216151"/>
          </a:xfrm>
          <a:prstGeom prst="wedgeRectCallout">
            <a:avLst>
              <a:gd name="adj1" fmla="val -69286"/>
              <a:gd name="adj2" fmla="val -4819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영업관리팀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6. </a:t>
            </a:r>
            <a:r>
              <a:rPr lang="ko-KR" altLang="en-US" dirty="0" smtClean="0">
                <a:latin typeface="+mj-ea"/>
                <a:ea typeface="+mj-ea"/>
              </a:rPr>
              <a:t>매장관리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매장업무흐름 </a:t>
            </a:r>
            <a:r>
              <a:rPr lang="ko-KR" altLang="en-US" dirty="0">
                <a:latin typeface="+mn-ea"/>
                <a:ea typeface="+mn-ea"/>
              </a:rPr>
              <a:t>설명</a:t>
            </a:r>
          </a:p>
        </p:txBody>
      </p:sp>
      <p:grpSp>
        <p:nvGrpSpPr>
          <p:cNvPr id="201" name="그룹 440"/>
          <p:cNvGrpSpPr>
            <a:grpSpLocks/>
          </p:cNvGrpSpPr>
          <p:nvPr/>
        </p:nvGrpSpPr>
        <p:grpSpPr bwMode="auto">
          <a:xfrm>
            <a:off x="4322763" y="3011140"/>
            <a:ext cx="1331912" cy="1216025"/>
            <a:chOff x="2470116" y="3371479"/>
            <a:chExt cx="1352775" cy="1351373"/>
          </a:xfrm>
        </p:grpSpPr>
        <p:sp>
          <p:nvSpPr>
            <p:cNvPr id="202" name="오른쪽으로 구부러진 화살표 86"/>
            <p:cNvSpPr>
              <a:spLocks noChangeArrowheads="1"/>
            </p:cNvSpPr>
            <p:nvPr/>
          </p:nvSpPr>
          <p:spPr bwMode="auto">
            <a:xfrm flipV="1">
              <a:off x="2470116" y="3447767"/>
              <a:ext cx="640304" cy="1275085"/>
            </a:xfrm>
            <a:prstGeom prst="curvedRightArrow">
              <a:avLst>
                <a:gd name="adj1" fmla="val 24995"/>
                <a:gd name="adj2" fmla="val 50003"/>
                <a:gd name="adj3" fmla="val 25000"/>
              </a:avLst>
            </a:prstGeom>
            <a:solidFill>
              <a:schemeClr val="accent3">
                <a:lumMod val="65000"/>
                <a:alpha val="40000"/>
              </a:schemeClr>
            </a:solidFill>
            <a:ln w="9525" algn="ctr">
              <a:noFill/>
              <a:round/>
              <a:headEnd/>
              <a:tailEnd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3" name="오른쪽으로 구부러진 화살표 202"/>
            <p:cNvSpPr/>
            <p:nvPr/>
          </p:nvSpPr>
          <p:spPr bwMode="auto">
            <a:xfrm flipV="1">
              <a:off x="3183075" y="3371479"/>
              <a:ext cx="639816" cy="1274338"/>
            </a:xfrm>
            <a:prstGeom prst="curvedRightArrow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4" name="그룹 244"/>
          <p:cNvGrpSpPr>
            <a:grpSpLocks/>
          </p:cNvGrpSpPr>
          <p:nvPr/>
        </p:nvGrpSpPr>
        <p:grpSpPr bwMode="auto">
          <a:xfrm>
            <a:off x="2351088" y="4022379"/>
            <a:ext cx="2241550" cy="1504822"/>
            <a:chOff x="900057" y="4472795"/>
            <a:chExt cx="1804074" cy="1287881"/>
          </a:xfrm>
        </p:grpSpPr>
        <p:sp>
          <p:nvSpPr>
            <p:cNvPr id="205" name="순서도: 수동 입력 204"/>
            <p:cNvSpPr/>
            <p:nvPr/>
          </p:nvSpPr>
          <p:spPr bwMode="auto">
            <a:xfrm>
              <a:off x="1058488" y="4472795"/>
              <a:ext cx="1645643" cy="854584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6" name="대각선 방향의 모서리가 둥근 사각형 205"/>
            <p:cNvSpPr/>
            <p:nvPr/>
          </p:nvSpPr>
          <p:spPr bwMode="auto">
            <a:xfrm>
              <a:off x="900057" y="4645342"/>
              <a:ext cx="1802796" cy="1115334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07" name="그룹 208"/>
          <p:cNvGrpSpPr>
            <a:grpSpLocks/>
          </p:cNvGrpSpPr>
          <p:nvPr/>
        </p:nvGrpSpPr>
        <p:grpSpPr bwMode="auto">
          <a:xfrm flipH="1">
            <a:off x="5346699" y="4022379"/>
            <a:ext cx="2251075" cy="1504822"/>
            <a:chOff x="900058" y="4472795"/>
            <a:chExt cx="1802486" cy="1287881"/>
          </a:xfrm>
        </p:grpSpPr>
        <p:sp>
          <p:nvSpPr>
            <p:cNvPr id="208" name="순서도: 수동 입력 207"/>
            <p:cNvSpPr/>
            <p:nvPr/>
          </p:nvSpPr>
          <p:spPr bwMode="auto">
            <a:xfrm>
              <a:off x="1051323" y="4472795"/>
              <a:ext cx="1644864" cy="854584"/>
            </a:xfrm>
            <a:prstGeom prst="flowChartManualInpu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9" name="대각선 방향의 모서리가 둥근 사각형 208"/>
            <p:cNvSpPr/>
            <p:nvPr/>
          </p:nvSpPr>
          <p:spPr bwMode="auto">
            <a:xfrm>
              <a:off x="900058" y="4645342"/>
              <a:ext cx="1802486" cy="1115334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100" b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10" name="그룹 392"/>
          <p:cNvGrpSpPr>
            <a:grpSpLocks/>
          </p:cNvGrpSpPr>
          <p:nvPr/>
        </p:nvGrpSpPr>
        <p:grpSpPr bwMode="auto">
          <a:xfrm>
            <a:off x="2984500" y="1657003"/>
            <a:ext cx="3921125" cy="1423987"/>
            <a:chOff x="2954310" y="2004991"/>
            <a:chExt cx="3983908" cy="1579568"/>
          </a:xfrm>
        </p:grpSpPr>
        <p:sp>
          <p:nvSpPr>
            <p:cNvPr id="211" name="순서도: 수동 입력 391"/>
            <p:cNvSpPr>
              <a:spLocks noChangeArrowheads="1"/>
            </p:cNvSpPr>
            <p:nvPr/>
          </p:nvSpPr>
          <p:spPr bwMode="auto">
            <a:xfrm flipH="1" flipV="1">
              <a:off x="4916107" y="2443143"/>
              <a:ext cx="2006239" cy="1141416"/>
            </a:xfrm>
            <a:prstGeom prst="flowChartManualInput">
              <a:avLst/>
            </a:prstGeom>
            <a:solidFill>
              <a:srgbClr val="F2F2F2"/>
            </a:solidFill>
            <a:ln w="9525" algn="ctr">
              <a:noFill/>
              <a:round/>
              <a:headEnd/>
              <a:tailEnd/>
            </a:ln>
          </p:spPr>
          <p:txBody>
            <a:bodyPr rot="10800000"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12" name="그룹 207"/>
            <p:cNvGrpSpPr>
              <a:grpSpLocks/>
            </p:cNvGrpSpPr>
            <p:nvPr/>
          </p:nvGrpSpPr>
          <p:grpSpPr bwMode="auto">
            <a:xfrm flipV="1">
              <a:off x="2954310" y="2004991"/>
              <a:ext cx="3983908" cy="1566861"/>
              <a:chOff x="900057" y="4472796"/>
              <a:chExt cx="1802805" cy="1173864"/>
            </a:xfrm>
          </p:grpSpPr>
          <p:sp>
            <p:nvSpPr>
              <p:cNvPr id="213" name="순서도: 수동 입력 229"/>
              <p:cNvSpPr>
                <a:spLocks noChangeArrowheads="1"/>
              </p:cNvSpPr>
              <p:nvPr/>
            </p:nvSpPr>
            <p:spPr bwMode="auto">
              <a:xfrm>
                <a:off x="969009" y="4472791"/>
                <a:ext cx="813058" cy="855129"/>
              </a:xfrm>
              <a:prstGeom prst="flowChartManualInput">
                <a:avLst/>
              </a:prstGeom>
              <a:solidFill>
                <a:srgbClr val="F2F2F2"/>
              </a:solidFill>
              <a:ln w="9525" algn="ctr">
                <a:noFill/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ko-KR" altLang="ko-KR" sz="1100" b="0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214" name="대각선 방향의 모서리가 둥근 사각형 230"/>
              <p:cNvSpPr>
                <a:spLocks noChangeArrowheads="1"/>
              </p:cNvSpPr>
              <p:nvPr/>
            </p:nvSpPr>
            <p:spPr bwMode="auto">
              <a:xfrm>
                <a:off x="900057" y="4645243"/>
                <a:ext cx="1802805" cy="1001417"/>
              </a:xfrm>
              <a:custGeom>
                <a:avLst/>
                <a:gdLst>
                  <a:gd name="T0" fmla="*/ 1802805 w 1802805"/>
                  <a:gd name="T1" fmla="*/ 500709 h 1001417"/>
                  <a:gd name="T2" fmla="*/ 901403 w 1802805"/>
                  <a:gd name="T3" fmla="*/ 1001417 h 1001417"/>
                  <a:gd name="T4" fmla="*/ 0 w 1802805"/>
                  <a:gd name="T5" fmla="*/ 500709 h 1001417"/>
                  <a:gd name="T6" fmla="*/ 901403 w 1802805"/>
                  <a:gd name="T7" fmla="*/ 0 h 1001417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48885 w 1802805"/>
                  <a:gd name="T13" fmla="*/ 48885 h 1001417"/>
                  <a:gd name="T14" fmla="*/ 1753920 w 1802805"/>
                  <a:gd name="T15" fmla="*/ 952532 h 10014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02805" h="1001417">
                    <a:moveTo>
                      <a:pt x="166906" y="0"/>
                    </a:moveTo>
                    <a:lnTo>
                      <a:pt x="1802805" y="0"/>
                    </a:lnTo>
                    <a:lnTo>
                      <a:pt x="1802805" y="834511"/>
                    </a:lnTo>
                    <a:cubicBezTo>
                      <a:pt x="1802805" y="926690"/>
                      <a:pt x="1728078" y="1001416"/>
                      <a:pt x="1635899" y="1001417"/>
                    </a:cubicBezTo>
                    <a:lnTo>
                      <a:pt x="0" y="1001417"/>
                    </a:lnTo>
                    <a:lnTo>
                      <a:pt x="0" y="166906"/>
                    </a:lnTo>
                    <a:cubicBezTo>
                      <a:pt x="0" y="74726"/>
                      <a:pt x="74726" y="0"/>
                      <a:pt x="166905" y="0"/>
                    </a:cubicBezTo>
                    <a:close/>
                  </a:path>
                </a:pathLst>
              </a:custGeom>
              <a:solidFill>
                <a:srgbClr val="F2F2F2"/>
              </a:solidFill>
              <a:ln w="9525" algn="ctr">
                <a:noFill/>
                <a:round/>
                <a:headEnd/>
                <a:tailEnd/>
              </a:ln>
            </p:spPr>
            <p:txBody>
              <a:bodyPr rot="10800000" wrap="none" anchor="ctr"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endParaRPr lang="ko-KR" altLang="ko-KR" sz="1100" b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215" name="모서리가 둥근 직사각형 214"/>
          <p:cNvSpPr/>
          <p:nvPr/>
        </p:nvSpPr>
        <p:spPr bwMode="auto">
          <a:xfrm>
            <a:off x="2485763" y="4416824"/>
            <a:ext cx="884694" cy="25962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재고확인</a:t>
            </a:r>
          </a:p>
        </p:txBody>
      </p:sp>
      <p:sp>
        <p:nvSpPr>
          <p:cNvPr id="216" name="모서리가 둥근 직사각형 215"/>
          <p:cNvSpPr/>
          <p:nvPr/>
        </p:nvSpPr>
        <p:spPr bwMode="auto">
          <a:xfrm>
            <a:off x="2485762" y="4867528"/>
            <a:ext cx="884694" cy="25976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판매</a:t>
            </a:r>
          </a:p>
        </p:txBody>
      </p:sp>
      <p:cxnSp>
        <p:nvCxnSpPr>
          <p:cNvPr id="217" name="꺾인 연결선 216"/>
          <p:cNvCxnSpPr/>
          <p:nvPr/>
        </p:nvCxnSpPr>
        <p:spPr bwMode="auto">
          <a:xfrm rot="5400000">
            <a:off x="2832894" y="4772472"/>
            <a:ext cx="192087" cy="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sp>
        <p:nvSpPr>
          <p:cNvPr id="218" name="모서리가 둥근 직사각형 217"/>
          <p:cNvSpPr/>
          <p:nvPr/>
        </p:nvSpPr>
        <p:spPr bwMode="auto">
          <a:xfrm>
            <a:off x="3598699" y="4416824"/>
            <a:ext cx="886201" cy="25962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고객응대</a:t>
            </a:r>
          </a:p>
        </p:txBody>
      </p:sp>
      <p:sp>
        <p:nvSpPr>
          <p:cNvPr id="219" name="모서리가 둥근 직사각형 218"/>
          <p:cNvSpPr/>
          <p:nvPr/>
        </p:nvSpPr>
        <p:spPr bwMode="auto">
          <a:xfrm>
            <a:off x="4391802" y="2782352"/>
            <a:ext cx="1063005" cy="3885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재고관리</a:t>
            </a:r>
          </a:p>
        </p:txBody>
      </p:sp>
      <p:sp>
        <p:nvSpPr>
          <p:cNvPr id="220" name="모서리가 둥근 직사각형 219"/>
          <p:cNvSpPr/>
          <p:nvPr/>
        </p:nvSpPr>
        <p:spPr bwMode="auto">
          <a:xfrm>
            <a:off x="3652516" y="3825267"/>
            <a:ext cx="1061460" cy="38909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판매관리</a:t>
            </a:r>
          </a:p>
        </p:txBody>
      </p:sp>
      <p:sp>
        <p:nvSpPr>
          <p:cNvPr id="221" name="모서리가 둥근 직사각형 220"/>
          <p:cNvSpPr/>
          <p:nvPr/>
        </p:nvSpPr>
        <p:spPr bwMode="auto">
          <a:xfrm>
            <a:off x="5197101" y="3825267"/>
            <a:ext cx="1061564" cy="38909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고객</a:t>
            </a:r>
            <a:r>
              <a:rPr lang="en-US" altLang="ko-KR" sz="1000" b="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AS</a:t>
            </a: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관리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2" name="모서리가 둥근 직사각형 221"/>
          <p:cNvSpPr/>
          <p:nvPr/>
        </p:nvSpPr>
        <p:spPr bwMode="auto">
          <a:xfrm>
            <a:off x="3705091" y="1852549"/>
            <a:ext cx="886106" cy="25976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매장반품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3" name="모서리가 둥근 직사각형 222"/>
          <p:cNvSpPr/>
          <p:nvPr/>
        </p:nvSpPr>
        <p:spPr bwMode="auto">
          <a:xfrm>
            <a:off x="3705091" y="2168860"/>
            <a:ext cx="886106" cy="26050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 err="1">
                <a:latin typeface="맑은 고딕" pitchFamily="50" charset="-127"/>
                <a:ea typeface="맑은 고딕" pitchFamily="50" charset="-127"/>
              </a:rPr>
              <a:t>점간요청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4" name="모서리가 둥근 직사각형 223"/>
          <p:cNvSpPr/>
          <p:nvPr/>
        </p:nvSpPr>
        <p:spPr bwMode="auto">
          <a:xfrm>
            <a:off x="5382867" y="1852549"/>
            <a:ext cx="884694" cy="25976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ts val="6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점간이동</a:t>
            </a:r>
            <a:endParaRPr lang="en-US" altLang="ko-KR" sz="900" b="0"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6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지시분처리</a:t>
            </a:r>
          </a:p>
        </p:txBody>
      </p:sp>
      <p:sp>
        <p:nvSpPr>
          <p:cNvPr id="225" name="모서리가 둥근 직사각형 224"/>
          <p:cNvSpPr/>
          <p:nvPr/>
        </p:nvSpPr>
        <p:spPr bwMode="auto">
          <a:xfrm>
            <a:off x="5445301" y="4350745"/>
            <a:ext cx="976530" cy="25976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고객정보관리</a:t>
            </a:r>
          </a:p>
        </p:txBody>
      </p:sp>
      <p:sp>
        <p:nvSpPr>
          <p:cNvPr id="226" name="모서리가 둥근 직사각형 225"/>
          <p:cNvSpPr/>
          <p:nvPr/>
        </p:nvSpPr>
        <p:spPr bwMode="auto">
          <a:xfrm>
            <a:off x="5445301" y="4739802"/>
            <a:ext cx="976530" cy="25920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구매내역현황</a:t>
            </a:r>
          </a:p>
        </p:txBody>
      </p:sp>
      <p:cxnSp>
        <p:nvCxnSpPr>
          <p:cNvPr id="227" name="꺾인 연결선 226"/>
          <p:cNvCxnSpPr/>
          <p:nvPr/>
        </p:nvCxnSpPr>
        <p:spPr bwMode="auto">
          <a:xfrm rot="10800000">
            <a:off x="3370263" y="4546253"/>
            <a:ext cx="228600" cy="15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grpSp>
        <p:nvGrpSpPr>
          <p:cNvPr id="228" name="그룹 327"/>
          <p:cNvGrpSpPr>
            <a:grpSpLocks/>
          </p:cNvGrpSpPr>
          <p:nvPr/>
        </p:nvGrpSpPr>
        <p:grpSpPr bwMode="auto">
          <a:xfrm>
            <a:off x="4672013" y="3366740"/>
            <a:ext cx="538162" cy="593725"/>
            <a:chOff x="2795602" y="5616575"/>
            <a:chExt cx="547673" cy="658444"/>
          </a:xfrm>
        </p:grpSpPr>
        <p:pic>
          <p:nvPicPr>
            <p:cNvPr id="229" name="Picture 293" descr="MCj02289650000[1]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835275" y="5616575"/>
              <a:ext cx="508000" cy="458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0" name="모서리가 둥근 직사각형 390"/>
            <p:cNvSpPr>
              <a:spLocks noChangeArrowheads="1"/>
            </p:cNvSpPr>
            <p:nvPr/>
          </p:nvSpPr>
          <p:spPr bwMode="auto">
            <a:xfrm>
              <a:off x="2795602" y="6023262"/>
              <a:ext cx="539596" cy="251757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800" b="0">
                  <a:latin typeface="맑은 고딕" pitchFamily="50" charset="-127"/>
                  <a:ea typeface="맑은 고딕" pitchFamily="50" charset="-127"/>
                </a:rPr>
                <a:t>매장</a:t>
              </a:r>
            </a:p>
          </p:txBody>
        </p:sp>
      </p:grpSp>
      <p:sp>
        <p:nvSpPr>
          <p:cNvPr id="231" name="모서리가 둥근 직사각형 230"/>
          <p:cNvSpPr/>
          <p:nvPr/>
        </p:nvSpPr>
        <p:spPr bwMode="auto">
          <a:xfrm>
            <a:off x="6662166" y="4739802"/>
            <a:ext cx="884694" cy="25920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900" b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마케팅</a:t>
            </a:r>
          </a:p>
        </p:txBody>
      </p:sp>
      <p:cxnSp>
        <p:nvCxnSpPr>
          <p:cNvPr id="232" name="꺾인 연결선 231"/>
          <p:cNvCxnSpPr>
            <a:stCxn id="225" idx="2"/>
            <a:endCxn id="226" idx="0"/>
          </p:cNvCxnSpPr>
          <p:nvPr/>
        </p:nvCxnSpPr>
        <p:spPr bwMode="auto">
          <a:xfrm>
            <a:off x="5933566" y="4610510"/>
            <a:ext cx="0" cy="1292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cxnSp>
        <p:nvCxnSpPr>
          <p:cNvPr id="233" name="꺾인 연결선 232"/>
          <p:cNvCxnSpPr>
            <a:stCxn id="226" idx="3"/>
            <a:endCxn id="231" idx="1"/>
          </p:cNvCxnSpPr>
          <p:nvPr/>
        </p:nvCxnSpPr>
        <p:spPr bwMode="auto">
          <a:xfrm>
            <a:off x="6421831" y="4869402"/>
            <a:ext cx="240335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sp>
        <p:nvSpPr>
          <p:cNvPr id="234" name="모서리가 둥근 직사각형 233"/>
          <p:cNvSpPr/>
          <p:nvPr/>
        </p:nvSpPr>
        <p:spPr bwMode="auto">
          <a:xfrm>
            <a:off x="5373971" y="2249202"/>
            <a:ext cx="884694" cy="26050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점간요청대응</a:t>
            </a:r>
          </a:p>
        </p:txBody>
      </p:sp>
      <p:sp>
        <p:nvSpPr>
          <p:cNvPr id="235" name="모서리가 둥근 직사각형 234"/>
          <p:cNvSpPr/>
          <p:nvPr/>
        </p:nvSpPr>
        <p:spPr bwMode="auto">
          <a:xfrm>
            <a:off x="3598699" y="4869720"/>
            <a:ext cx="886201" cy="259200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>
                <a:latin typeface="맑은 고딕" pitchFamily="50" charset="-127"/>
                <a:ea typeface="맑은 고딕" pitchFamily="50" charset="-127"/>
              </a:rPr>
              <a:t>미수금입금</a:t>
            </a:r>
          </a:p>
        </p:txBody>
      </p:sp>
      <p:cxnSp>
        <p:nvCxnSpPr>
          <p:cNvPr id="236" name="꺾인 연결선 235"/>
          <p:cNvCxnSpPr/>
          <p:nvPr/>
        </p:nvCxnSpPr>
        <p:spPr bwMode="auto">
          <a:xfrm>
            <a:off x="3370263" y="4997103"/>
            <a:ext cx="228600" cy="317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cxnSp>
        <p:nvCxnSpPr>
          <p:cNvPr id="237" name="꺾인 연결선 417"/>
          <p:cNvCxnSpPr>
            <a:endCxn id="223" idx="1"/>
          </p:cNvCxnSpPr>
          <p:nvPr/>
        </p:nvCxnSpPr>
        <p:spPr bwMode="auto">
          <a:xfrm rot="5400000" flipH="1" flipV="1">
            <a:off x="2257738" y="2970313"/>
            <a:ext cx="2118553" cy="776153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grpSp>
        <p:nvGrpSpPr>
          <p:cNvPr id="238" name="그룹 530"/>
          <p:cNvGrpSpPr>
            <a:grpSpLocks/>
          </p:cNvGrpSpPr>
          <p:nvPr/>
        </p:nvGrpSpPr>
        <p:grpSpPr bwMode="auto">
          <a:xfrm>
            <a:off x="8386763" y="2941290"/>
            <a:ext cx="1068387" cy="881063"/>
            <a:chOff x="8494713" y="2592379"/>
            <a:chExt cx="1087437" cy="978998"/>
          </a:xfrm>
        </p:grpSpPr>
        <p:sp>
          <p:nvSpPr>
            <p:cNvPr id="239" name="타원 238"/>
            <p:cNvSpPr/>
            <p:nvPr/>
          </p:nvSpPr>
          <p:spPr bwMode="auto">
            <a:xfrm>
              <a:off x="8607819" y="2654118"/>
              <a:ext cx="974331" cy="917259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40" name="그룹 328"/>
            <p:cNvGrpSpPr>
              <a:grpSpLocks/>
            </p:cNvGrpSpPr>
            <p:nvPr/>
          </p:nvGrpSpPr>
          <p:grpSpPr bwMode="auto">
            <a:xfrm>
              <a:off x="9034463" y="2874954"/>
              <a:ext cx="547687" cy="658813"/>
              <a:chOff x="2795602" y="5616575"/>
              <a:chExt cx="547673" cy="658444"/>
            </a:xfrm>
          </p:grpSpPr>
          <p:pic>
            <p:nvPicPr>
              <p:cNvPr id="244" name="Picture 293" descr="MCj02289650000[1]"/>
              <p:cNvPicPr>
                <a:picLocks noChangeAspect="1" noChangeArrowheads="1"/>
              </p:cNvPicPr>
              <p:nvPr/>
            </p:nvPicPr>
            <p:blipFill>
              <a:blip r:embed="rId2" cstate="print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2835275" y="5616575"/>
                <a:ext cx="508000" cy="4587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245" name="모서리가 둥근 직사각형 426"/>
              <p:cNvSpPr>
                <a:spLocks noChangeArrowheads="1"/>
              </p:cNvSpPr>
              <p:nvPr/>
            </p:nvSpPr>
            <p:spPr bwMode="auto">
              <a:xfrm>
                <a:off x="2795531" y="6023481"/>
                <a:ext cx="539666" cy="252104"/>
              </a:xfrm>
              <a:prstGeom prst="roundRect">
                <a:avLst>
                  <a:gd name="adj" fmla="val 16667"/>
                </a:avLst>
              </a:prstGeom>
              <a:noFill/>
              <a:ln w="9525" algn="ctr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lnSpc>
                    <a:spcPct val="100000"/>
                  </a:lnSpc>
                  <a:spcBef>
                    <a:spcPct val="50000"/>
                  </a:spcBef>
                </a:pPr>
                <a:r>
                  <a:rPr lang="ko-KR" altLang="en-US" sz="800" b="0">
                    <a:latin typeface="맑은 고딕" pitchFamily="50" charset="-127"/>
                    <a:ea typeface="맑은 고딕" pitchFamily="50" charset="-127"/>
                  </a:rPr>
                  <a:t>타매장</a:t>
                </a:r>
              </a:p>
            </p:txBody>
          </p:sp>
        </p:grpSp>
        <p:sp>
          <p:nvSpPr>
            <p:cNvPr id="241" name="모서리가 둥근 직사각형 427"/>
            <p:cNvSpPr>
              <a:spLocks noChangeArrowheads="1"/>
            </p:cNvSpPr>
            <p:nvPr/>
          </p:nvSpPr>
          <p:spPr bwMode="auto">
            <a:xfrm>
              <a:off x="8987533" y="2592379"/>
              <a:ext cx="539679" cy="252247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ts val="800"/>
                </a:lnSpc>
                <a:spcBef>
                  <a:spcPct val="50000"/>
                </a:spcBef>
              </a:pPr>
              <a:r>
                <a:rPr lang="ko-KR" altLang="en-US" sz="800" b="0">
                  <a:latin typeface="맑은 고딕" pitchFamily="50" charset="-127"/>
                  <a:ea typeface="맑은 고딕" pitchFamily="50" charset="-127"/>
                </a:rPr>
                <a:t>제품검수</a:t>
              </a:r>
            </a:p>
          </p:txBody>
        </p:sp>
        <p:sp>
          <p:nvSpPr>
            <p:cNvPr id="242" name="모서리가 둥근 직사각형 428"/>
            <p:cNvSpPr>
              <a:spLocks noChangeArrowheads="1"/>
            </p:cNvSpPr>
            <p:nvPr/>
          </p:nvSpPr>
          <p:spPr bwMode="auto">
            <a:xfrm>
              <a:off x="8548034" y="3209765"/>
              <a:ext cx="539679" cy="252247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ts val="500"/>
                </a:lnSpc>
                <a:spcBef>
                  <a:spcPct val="50000"/>
                </a:spcBef>
              </a:pPr>
              <a:r>
                <a:rPr lang="ko-KR" altLang="en-US" sz="800" b="0">
                  <a:latin typeface="맑은 고딕" pitchFamily="50" charset="-127"/>
                  <a:ea typeface="맑은 고딕" pitchFamily="50" charset="-127"/>
                </a:rPr>
                <a:t>점간요청</a:t>
              </a:r>
            </a:p>
            <a:p>
              <a:pPr>
                <a:lnSpc>
                  <a:spcPts val="500"/>
                </a:lnSpc>
                <a:spcBef>
                  <a:spcPct val="50000"/>
                </a:spcBef>
              </a:pPr>
              <a:r>
                <a:rPr lang="ko-KR" altLang="en-US" sz="800" b="0">
                  <a:latin typeface="맑은 고딕" pitchFamily="50" charset="-127"/>
                  <a:ea typeface="맑은 고딕" pitchFamily="50" charset="-127"/>
                </a:rPr>
                <a:t>대응</a:t>
              </a:r>
            </a:p>
          </p:txBody>
        </p:sp>
        <p:sp>
          <p:nvSpPr>
            <p:cNvPr id="243" name="모서리가 둥근 직사각형 429"/>
            <p:cNvSpPr>
              <a:spLocks noChangeArrowheads="1"/>
            </p:cNvSpPr>
            <p:nvPr/>
          </p:nvSpPr>
          <p:spPr bwMode="auto">
            <a:xfrm>
              <a:off x="8494713" y="2844626"/>
              <a:ext cx="541295" cy="25224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>
                <a:lnSpc>
                  <a:spcPts val="800"/>
                </a:lnSpc>
                <a:spcBef>
                  <a:spcPct val="50000"/>
                </a:spcBef>
              </a:pPr>
              <a:r>
                <a:rPr lang="ko-KR" altLang="en-US" sz="800" b="0">
                  <a:latin typeface="맑은 고딕" pitchFamily="50" charset="-127"/>
                  <a:ea typeface="맑은 고딕" pitchFamily="50" charset="-127"/>
                </a:rPr>
                <a:t>점간요청</a:t>
              </a:r>
            </a:p>
          </p:txBody>
        </p:sp>
      </p:grpSp>
      <p:cxnSp>
        <p:nvCxnSpPr>
          <p:cNvPr id="246" name="꺾인 연결선 420"/>
          <p:cNvCxnSpPr>
            <a:stCxn id="242" idx="1"/>
          </p:cNvCxnSpPr>
          <p:nvPr/>
        </p:nvCxnSpPr>
        <p:spPr bwMode="auto">
          <a:xfrm rot="10800000">
            <a:off x="6889750" y="2606328"/>
            <a:ext cx="1549400" cy="100488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none" w="sm" len="med"/>
          </a:ln>
          <a:effectLst/>
        </p:spPr>
      </p:cxnSp>
      <p:grpSp>
        <p:nvGrpSpPr>
          <p:cNvPr id="247" name="그룹 167"/>
          <p:cNvGrpSpPr>
            <a:grpSpLocks/>
          </p:cNvGrpSpPr>
          <p:nvPr/>
        </p:nvGrpSpPr>
        <p:grpSpPr bwMode="auto">
          <a:xfrm>
            <a:off x="333375" y="1853853"/>
            <a:ext cx="5491163" cy="539750"/>
            <a:chOff x="8466191" y="2034154"/>
            <a:chExt cx="5582654" cy="600334"/>
          </a:xfrm>
        </p:grpSpPr>
        <p:sp>
          <p:nvSpPr>
            <p:cNvPr id="248" name="타원 247"/>
            <p:cNvSpPr/>
            <p:nvPr/>
          </p:nvSpPr>
          <p:spPr bwMode="auto">
            <a:xfrm>
              <a:off x="8466191" y="2041217"/>
              <a:ext cx="758557" cy="593271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영업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49" name="꺾인 연결선 248"/>
            <p:cNvCxnSpPr>
              <a:stCxn id="248" idx="0"/>
            </p:cNvCxnSpPr>
            <p:nvPr/>
          </p:nvCxnSpPr>
          <p:spPr bwMode="auto">
            <a:xfrm rot="5400000" flipH="1" flipV="1">
              <a:off x="11443626" y="-564002"/>
              <a:ext cx="7063" cy="5203375"/>
            </a:xfrm>
            <a:prstGeom prst="bentConnector3">
              <a:avLst>
                <a:gd name="adj1" fmla="val 2348422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sp>
        <p:nvSpPr>
          <p:cNvPr id="250" name="TextBox 94"/>
          <p:cNvSpPr txBox="1">
            <a:spLocks noChangeArrowheads="1"/>
          </p:cNvSpPr>
          <p:nvPr/>
        </p:nvSpPr>
        <p:spPr bwMode="auto">
          <a:xfrm>
            <a:off x="319088" y="2349153"/>
            <a:ext cx="9493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1000"/>
              </a:lnSpc>
              <a:buSzPct val="70000"/>
            </a:pPr>
            <a:r>
              <a:rPr lang="ko-KR" altLang="en-US" sz="900" b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점간이동지시</a:t>
            </a:r>
          </a:p>
        </p:txBody>
      </p:sp>
      <p:grpSp>
        <p:nvGrpSpPr>
          <p:cNvPr id="251" name="그룹 167"/>
          <p:cNvGrpSpPr>
            <a:grpSpLocks/>
          </p:cNvGrpSpPr>
          <p:nvPr/>
        </p:nvGrpSpPr>
        <p:grpSpPr bwMode="auto">
          <a:xfrm>
            <a:off x="331787" y="2606329"/>
            <a:ext cx="3372189" cy="534987"/>
            <a:chOff x="8466191" y="2040594"/>
            <a:chExt cx="3428261" cy="593894"/>
          </a:xfrm>
        </p:grpSpPr>
        <p:sp>
          <p:nvSpPr>
            <p:cNvPr id="252" name="타원 251"/>
            <p:cNvSpPr/>
            <p:nvPr/>
          </p:nvSpPr>
          <p:spPr bwMode="auto">
            <a:xfrm>
              <a:off x="8466191" y="2040594"/>
              <a:ext cx="758531" cy="593894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물류</a:t>
              </a:r>
              <a:endParaRPr lang="ko-KR" altLang="en-US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3" name="꺾인 연결선 481"/>
            <p:cNvCxnSpPr>
              <a:stCxn id="252" idx="6"/>
              <a:endCxn id="302" idx="1"/>
            </p:cNvCxnSpPr>
            <p:nvPr/>
          </p:nvCxnSpPr>
          <p:spPr bwMode="auto">
            <a:xfrm flipV="1">
              <a:off x="9224722" y="2051492"/>
              <a:ext cx="2669730" cy="286050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none" w="med" len="med"/>
              <a:tailEnd type="stealth" w="sm" len="sm"/>
            </a:ln>
            <a:effectLst/>
          </p:spPr>
        </p:cxnSp>
      </p:grpSp>
      <p:sp>
        <p:nvSpPr>
          <p:cNvPr id="254" name="TextBox 94"/>
          <p:cNvSpPr txBox="1">
            <a:spLocks noChangeArrowheads="1"/>
          </p:cNvSpPr>
          <p:nvPr/>
        </p:nvSpPr>
        <p:spPr bwMode="auto">
          <a:xfrm>
            <a:off x="236538" y="3138140"/>
            <a:ext cx="9493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1000"/>
              </a:lnSpc>
              <a:buSzPct val="70000"/>
            </a:pPr>
            <a:r>
              <a:rPr lang="ko-KR" altLang="en-US" sz="900" b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매장출고</a:t>
            </a:r>
          </a:p>
        </p:txBody>
      </p:sp>
      <p:pic>
        <p:nvPicPr>
          <p:cNvPr id="255" name="Picture 342" descr="j0434820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 flipH="1">
            <a:off x="1042617" y="2822321"/>
            <a:ext cx="296207" cy="28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" name="AutoShape 359"/>
          <p:cNvSpPr>
            <a:spLocks noChangeArrowheads="1"/>
          </p:cNvSpPr>
          <p:nvPr/>
        </p:nvSpPr>
        <p:spPr bwMode="auto">
          <a:xfrm>
            <a:off x="963613" y="3173065"/>
            <a:ext cx="473075" cy="184150"/>
          </a:xfrm>
          <a:prstGeom prst="roundRect">
            <a:avLst>
              <a:gd name="adj" fmla="val 4444"/>
            </a:avLst>
          </a:prstGeom>
          <a:noFill/>
          <a:ln w="3175">
            <a:noFill/>
            <a:round/>
            <a:headEnd/>
            <a:tailEnd/>
          </a:ln>
        </p:spPr>
        <p:txBody>
          <a:bodyPr lIns="54000" rIns="54000" anchor="ctr"/>
          <a:lstStyle/>
          <a:p>
            <a:pPr marL="123825" indent="-123825">
              <a:lnSpc>
                <a:spcPts val="500"/>
              </a:lnSpc>
              <a:spcBef>
                <a:spcPct val="25000"/>
              </a:spcBef>
              <a:defRPr/>
            </a:pPr>
            <a:r>
              <a:rPr lang="ko-KR" altLang="en-US" sz="800" b="0" dirty="0">
                <a:latin typeface="맑은 고딕" pitchFamily="50" charset="-127"/>
                <a:ea typeface="맑은 고딕" pitchFamily="50" charset="-127"/>
              </a:rPr>
              <a:t>제품</a:t>
            </a:r>
            <a:endParaRPr lang="en-US" altLang="ko-KR" sz="800" b="0" dirty="0">
              <a:latin typeface="맑은 고딕" pitchFamily="50" charset="-127"/>
              <a:ea typeface="맑은 고딕" pitchFamily="50" charset="-127"/>
            </a:endParaRPr>
          </a:p>
          <a:p>
            <a:pPr marL="123825" indent="-123825">
              <a:lnSpc>
                <a:spcPts val="500"/>
              </a:lnSpc>
              <a:spcBef>
                <a:spcPct val="25000"/>
              </a:spcBef>
              <a:defRPr/>
            </a:pPr>
            <a:r>
              <a:rPr lang="ko-KR" altLang="en-US" sz="800" b="0" dirty="0">
                <a:latin typeface="맑은 고딕" pitchFamily="50" charset="-127"/>
                <a:ea typeface="맑은 고딕" pitchFamily="50" charset="-127"/>
              </a:rPr>
              <a:t>배송</a:t>
            </a:r>
          </a:p>
        </p:txBody>
      </p:sp>
      <p:grpSp>
        <p:nvGrpSpPr>
          <p:cNvPr id="257" name="그룹 167"/>
          <p:cNvGrpSpPr>
            <a:grpSpLocks/>
          </p:cNvGrpSpPr>
          <p:nvPr/>
        </p:nvGrpSpPr>
        <p:grpSpPr bwMode="auto">
          <a:xfrm>
            <a:off x="333375" y="4806603"/>
            <a:ext cx="3708400" cy="534987"/>
            <a:chOff x="8466191" y="2040929"/>
            <a:chExt cx="3769497" cy="593559"/>
          </a:xfrm>
        </p:grpSpPr>
        <p:sp>
          <p:nvSpPr>
            <p:cNvPr id="258" name="타원 257"/>
            <p:cNvSpPr/>
            <p:nvPr/>
          </p:nvSpPr>
          <p:spPr bwMode="auto">
            <a:xfrm>
              <a:off x="8466191" y="2040929"/>
              <a:ext cx="758418" cy="593559"/>
            </a:xfrm>
            <a:prstGeom prst="ellipse">
              <a:avLst/>
            </a:prstGeom>
            <a:solidFill>
              <a:schemeClr val="accent3">
                <a:lumMod val="65000"/>
                <a:alpha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50000"/>
                </a:spcBef>
              </a:pPr>
              <a:r>
                <a:rPr lang="ko-KR" altLang="en-US" sz="1000" b="0" dirty="0" smtClean="0">
                  <a:latin typeface="맑은 고딕" pitchFamily="50" charset="-127"/>
                  <a:ea typeface="맑은 고딕" pitchFamily="50" charset="-127"/>
                </a:rPr>
                <a:t>영업</a:t>
              </a:r>
              <a:endParaRPr lang="en-US" altLang="ko-KR" sz="10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9" name="꺾인 연결선 494"/>
            <p:cNvCxnSpPr>
              <a:stCxn id="258" idx="6"/>
            </p:cNvCxnSpPr>
            <p:nvPr/>
          </p:nvCxnSpPr>
          <p:spPr bwMode="auto">
            <a:xfrm>
              <a:off x="9224609" y="2336828"/>
              <a:ext cx="3011079" cy="61645"/>
            </a:xfrm>
            <a:prstGeom prst="bentConnector4">
              <a:avLst>
                <a:gd name="adj1" fmla="val 6450"/>
                <a:gd name="adj2" fmla="val 476024"/>
              </a:avLst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ysDot"/>
              <a:round/>
              <a:headEnd type="stealth" w="sm" len="med"/>
              <a:tailEnd type="none" w="sm" len="sm"/>
            </a:ln>
            <a:effectLst/>
          </p:spPr>
        </p:cxnSp>
      </p:grpSp>
      <p:sp>
        <p:nvSpPr>
          <p:cNvPr id="260" name="TextBox 94"/>
          <p:cNvSpPr txBox="1">
            <a:spLocks noChangeArrowheads="1"/>
          </p:cNvSpPr>
          <p:nvPr/>
        </p:nvSpPr>
        <p:spPr bwMode="auto">
          <a:xfrm>
            <a:off x="244475" y="5370165"/>
            <a:ext cx="9493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1000"/>
              </a:lnSpc>
              <a:buSzPct val="70000"/>
            </a:pPr>
            <a:r>
              <a:rPr lang="ko-KR" altLang="en-US" sz="900" b="0">
                <a:solidFill>
                  <a:srgbClr val="404040"/>
                </a:solidFill>
                <a:latin typeface="맑은 고딕" pitchFamily="50" charset="-127"/>
                <a:ea typeface="맑은 고딕" pitchFamily="50" charset="-127"/>
              </a:rPr>
              <a:t>입금관리</a:t>
            </a:r>
          </a:p>
        </p:txBody>
      </p:sp>
      <p:cxnSp>
        <p:nvCxnSpPr>
          <p:cNvPr id="261" name="꺾인 연결선 417"/>
          <p:cNvCxnSpPr/>
          <p:nvPr/>
        </p:nvCxnSpPr>
        <p:spPr bwMode="auto">
          <a:xfrm>
            <a:off x="6267450" y="1977678"/>
            <a:ext cx="638175" cy="29527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sm" len="med"/>
          </a:ln>
          <a:effectLst/>
        </p:spPr>
      </p:cxnSp>
      <p:cxnSp>
        <p:nvCxnSpPr>
          <p:cNvPr id="262" name="꺾인 연결선 417"/>
          <p:cNvCxnSpPr/>
          <p:nvPr/>
        </p:nvCxnSpPr>
        <p:spPr bwMode="auto">
          <a:xfrm>
            <a:off x="6905625" y="2269778"/>
            <a:ext cx="1965325" cy="795337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stealth" w="sm" len="med"/>
          </a:ln>
          <a:effectLst/>
        </p:spPr>
      </p:cxnSp>
      <p:pic>
        <p:nvPicPr>
          <p:cNvPr id="263" name="Picture 2" descr="C:\Documents and Settings\kej\Local Settings\Temporary Internet Files\Content.IE5\81IZGXUR\MCj04315820000[1].png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715237" y="2028493"/>
            <a:ext cx="539849" cy="495318"/>
          </a:xfrm>
          <a:prstGeom prst="rect">
            <a:avLst/>
          </a:prstGeom>
          <a:noFill/>
        </p:spPr>
      </p:pic>
      <p:cxnSp>
        <p:nvCxnSpPr>
          <p:cNvPr id="264" name="꺾인 연결선 417"/>
          <p:cNvCxnSpPr/>
          <p:nvPr/>
        </p:nvCxnSpPr>
        <p:spPr bwMode="auto">
          <a:xfrm flipV="1">
            <a:off x="6259513" y="2271365"/>
            <a:ext cx="646112" cy="96838"/>
          </a:xfrm>
          <a:prstGeom prst="bentConnector3">
            <a:avLst>
              <a:gd name="adj1" fmla="val 50726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sm" len="med"/>
          </a:ln>
          <a:effectLst/>
        </p:spPr>
      </p:cxnSp>
      <p:cxnSp>
        <p:nvCxnSpPr>
          <p:cNvPr id="265" name="꺾인 연결선 420"/>
          <p:cNvCxnSpPr>
            <a:stCxn id="243" idx="1"/>
          </p:cNvCxnSpPr>
          <p:nvPr/>
        </p:nvCxnSpPr>
        <p:spPr bwMode="auto">
          <a:xfrm rot="10800000">
            <a:off x="6259513" y="2438053"/>
            <a:ext cx="2127250" cy="844550"/>
          </a:xfrm>
          <a:prstGeom prst="bentConnector3">
            <a:avLst>
              <a:gd name="adj1" fmla="val 28842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stealth" w="sm" len="med"/>
          </a:ln>
          <a:effectLst/>
        </p:spPr>
      </p:cxnSp>
      <p:cxnSp>
        <p:nvCxnSpPr>
          <p:cNvPr id="266" name="꺾인 연결선 420"/>
          <p:cNvCxnSpPr/>
          <p:nvPr/>
        </p:nvCxnSpPr>
        <p:spPr bwMode="auto">
          <a:xfrm rot="10800000">
            <a:off x="4591050" y="1982440"/>
            <a:ext cx="2298700" cy="623888"/>
          </a:xfrm>
          <a:prstGeom prst="bentConnector3">
            <a:avLst>
              <a:gd name="adj1" fmla="val 95245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ysDot"/>
            <a:round/>
            <a:headEnd type="none" w="med" len="med"/>
            <a:tailEnd type="stealth" w="sm" len="med"/>
          </a:ln>
          <a:effectLst/>
        </p:spPr>
      </p:cxnSp>
      <p:sp>
        <p:nvSpPr>
          <p:cNvPr id="267" name="Freeform 63"/>
          <p:cNvSpPr>
            <a:spLocks/>
          </p:cNvSpPr>
          <p:nvPr/>
        </p:nvSpPr>
        <p:spPr bwMode="auto">
          <a:xfrm flipV="1">
            <a:off x="6145213" y="1564928"/>
            <a:ext cx="2241550" cy="317500"/>
          </a:xfrm>
          <a:custGeom>
            <a:avLst/>
            <a:gdLst>
              <a:gd name="T0" fmla="*/ 0 w 2344"/>
              <a:gd name="T1" fmla="*/ 0 h 178"/>
              <a:gd name="T2" fmla="*/ 405468 w 2344"/>
              <a:gd name="T3" fmla="*/ 317500 h 178"/>
              <a:gd name="T4" fmla="*/ 2241550 w 2344"/>
              <a:gd name="T5" fmla="*/ 317500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모서리가 둥근 직사각형 39"/>
          <p:cNvSpPr>
            <a:spLocks noChangeArrowheads="1"/>
          </p:cNvSpPr>
          <p:nvPr/>
        </p:nvSpPr>
        <p:spPr bwMode="auto">
          <a:xfrm>
            <a:off x="7004050" y="1620490"/>
            <a:ext cx="1382713" cy="5842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9" name="TextBox 97"/>
          <p:cNvSpPr txBox="1">
            <a:spLocks noChangeArrowheads="1"/>
          </p:cNvSpPr>
          <p:nvPr/>
        </p:nvSpPr>
        <p:spPr bwMode="auto">
          <a:xfrm>
            <a:off x="7058025" y="1599853"/>
            <a:ext cx="946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점간이동관리</a:t>
            </a:r>
          </a:p>
        </p:txBody>
      </p:sp>
      <p:sp>
        <p:nvSpPr>
          <p:cNvPr id="270" name="모서리가 둥근 직사각형 41"/>
          <p:cNvSpPr>
            <a:spLocks noChangeArrowheads="1"/>
          </p:cNvSpPr>
          <p:nvPr/>
        </p:nvSpPr>
        <p:spPr bwMode="auto">
          <a:xfrm>
            <a:off x="7058025" y="1804640"/>
            <a:ext cx="1290638" cy="34766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점간이동지시 처리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점간이동 요청</a:t>
            </a:r>
            <a:r>
              <a:rPr lang="en-US" altLang="ko-KR" sz="700" b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대응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700" b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실시간 메신저 알림</a:t>
            </a:r>
            <a:r>
              <a:rPr lang="en-US" altLang="ko-KR" sz="700" b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271" name="Freeform 63"/>
          <p:cNvSpPr>
            <a:spLocks/>
          </p:cNvSpPr>
          <p:nvPr/>
        </p:nvSpPr>
        <p:spPr bwMode="auto">
          <a:xfrm flipV="1">
            <a:off x="6145213" y="1572865"/>
            <a:ext cx="2241550" cy="709613"/>
          </a:xfrm>
          <a:custGeom>
            <a:avLst/>
            <a:gdLst>
              <a:gd name="T0" fmla="*/ 0 w 2344"/>
              <a:gd name="T1" fmla="*/ 0 h 178"/>
              <a:gd name="T2" fmla="*/ 405468 w 2344"/>
              <a:gd name="T3" fmla="*/ 709613 h 178"/>
              <a:gd name="T4" fmla="*/ 2241550 w 2344"/>
              <a:gd name="T5" fmla="*/ 709613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2" name="Freeform 63"/>
          <p:cNvSpPr>
            <a:spLocks/>
          </p:cNvSpPr>
          <p:nvPr/>
        </p:nvSpPr>
        <p:spPr bwMode="auto">
          <a:xfrm flipV="1">
            <a:off x="4484688" y="1564928"/>
            <a:ext cx="3894137" cy="709612"/>
          </a:xfrm>
          <a:custGeom>
            <a:avLst/>
            <a:gdLst>
              <a:gd name="T0" fmla="*/ 0 w 2344"/>
              <a:gd name="T1" fmla="*/ 0 h 178"/>
              <a:gd name="T2" fmla="*/ 704400 w 2344"/>
              <a:gd name="T3" fmla="*/ 709612 h 178"/>
              <a:gd name="T4" fmla="*/ 3894137 w 2344"/>
              <a:gd name="T5" fmla="*/ 709612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3" name="Freeform 63"/>
          <p:cNvSpPr>
            <a:spLocks/>
          </p:cNvSpPr>
          <p:nvPr/>
        </p:nvSpPr>
        <p:spPr bwMode="auto">
          <a:xfrm flipH="1" flipV="1">
            <a:off x="1454150" y="1799878"/>
            <a:ext cx="2251075" cy="206375"/>
          </a:xfrm>
          <a:custGeom>
            <a:avLst/>
            <a:gdLst>
              <a:gd name="T0" fmla="*/ 0 w 2344"/>
              <a:gd name="T1" fmla="*/ 0 h 178"/>
              <a:gd name="T2" fmla="*/ 407191 w 2344"/>
              <a:gd name="T3" fmla="*/ 206375 h 178"/>
              <a:gd name="T4" fmla="*/ 2251075 w 2344"/>
              <a:gd name="T5" fmla="*/ 206375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4" name="모서리가 둥근 직사각형 39"/>
          <p:cNvSpPr>
            <a:spLocks noChangeArrowheads="1"/>
          </p:cNvSpPr>
          <p:nvPr/>
        </p:nvSpPr>
        <p:spPr bwMode="auto">
          <a:xfrm>
            <a:off x="1438275" y="1842740"/>
            <a:ext cx="1381125" cy="485775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5" name="TextBox 97"/>
          <p:cNvSpPr txBox="1">
            <a:spLocks noChangeArrowheads="1"/>
          </p:cNvSpPr>
          <p:nvPr/>
        </p:nvSpPr>
        <p:spPr bwMode="auto">
          <a:xfrm>
            <a:off x="1492250" y="1822103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재고관리</a:t>
            </a:r>
          </a:p>
        </p:txBody>
      </p:sp>
      <p:sp>
        <p:nvSpPr>
          <p:cNvPr id="276" name="모서리가 둥근 직사각형 41"/>
          <p:cNvSpPr>
            <a:spLocks noChangeArrowheads="1"/>
          </p:cNvSpPr>
          <p:nvPr/>
        </p:nvSpPr>
        <p:spPr bwMode="auto">
          <a:xfrm>
            <a:off x="1492250" y="2026890"/>
            <a:ext cx="1289050" cy="249238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시즌</a:t>
            </a:r>
            <a:r>
              <a:rPr lang="en-US" altLang="ko-KR" sz="700" b="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수시반품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재고실사 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7" name="Freeform 63"/>
          <p:cNvSpPr>
            <a:spLocks/>
          </p:cNvSpPr>
          <p:nvPr/>
        </p:nvSpPr>
        <p:spPr bwMode="auto">
          <a:xfrm flipH="1" flipV="1">
            <a:off x="1452563" y="1830040"/>
            <a:ext cx="1697037" cy="2579688"/>
          </a:xfrm>
          <a:custGeom>
            <a:avLst/>
            <a:gdLst>
              <a:gd name="T0" fmla="*/ 0 w 2344"/>
              <a:gd name="T1" fmla="*/ 0 h 178"/>
              <a:gd name="T2" fmla="*/ 306973 w 2344"/>
              <a:gd name="T3" fmla="*/ 2579688 h 178"/>
              <a:gd name="T4" fmla="*/ 1697037 w 2344"/>
              <a:gd name="T5" fmla="*/ 2579688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8" name="모서리가 둥근 직사각형 39"/>
          <p:cNvSpPr>
            <a:spLocks noChangeArrowheads="1"/>
          </p:cNvSpPr>
          <p:nvPr/>
        </p:nvSpPr>
        <p:spPr bwMode="auto">
          <a:xfrm>
            <a:off x="1449388" y="3619153"/>
            <a:ext cx="1382712" cy="595312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9" name="TextBox 97"/>
          <p:cNvSpPr txBox="1">
            <a:spLocks noChangeArrowheads="1"/>
          </p:cNvSpPr>
          <p:nvPr/>
        </p:nvSpPr>
        <p:spPr bwMode="auto">
          <a:xfrm>
            <a:off x="1503363" y="3598515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판매관리</a:t>
            </a:r>
          </a:p>
        </p:txBody>
      </p:sp>
      <p:sp>
        <p:nvSpPr>
          <p:cNvPr id="280" name="모서리가 둥근 직사각형 41"/>
          <p:cNvSpPr>
            <a:spLocks noChangeArrowheads="1"/>
          </p:cNvSpPr>
          <p:nvPr/>
        </p:nvSpPr>
        <p:spPr bwMode="auto">
          <a:xfrm>
            <a:off x="1503363" y="3803303"/>
            <a:ext cx="1290637" cy="3556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판매일보 등록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판매현황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외상매출금</a:t>
            </a:r>
            <a:r>
              <a:rPr lang="en-US" altLang="ko-KR" sz="700" b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700" b="0">
                <a:latin typeface="맑은 고딕" pitchFamily="50" charset="-127"/>
                <a:ea typeface="맑은 고딕" pitchFamily="50" charset="-127"/>
              </a:rPr>
              <a:t>미수금현황</a:t>
            </a:r>
          </a:p>
        </p:txBody>
      </p:sp>
      <p:sp>
        <p:nvSpPr>
          <p:cNvPr id="281" name="자유형 182"/>
          <p:cNvSpPr>
            <a:spLocks noChangeArrowheads="1"/>
          </p:cNvSpPr>
          <p:nvPr/>
        </p:nvSpPr>
        <p:spPr bwMode="auto">
          <a:xfrm>
            <a:off x="1425575" y="4201765"/>
            <a:ext cx="1368425" cy="669925"/>
          </a:xfrm>
          <a:custGeom>
            <a:avLst/>
            <a:gdLst>
              <a:gd name="T0" fmla="*/ 1311605 w 1409700"/>
              <a:gd name="T1" fmla="*/ 0 h 781050"/>
              <a:gd name="T2" fmla="*/ 0 w 1409700"/>
              <a:gd name="T3" fmla="*/ 7020 h 781050"/>
              <a:gd name="T4" fmla="*/ 1090050 w 1409700"/>
              <a:gd name="T5" fmla="*/ 575630 h 781050"/>
              <a:gd name="T6" fmla="*/ 0 60000 65536"/>
              <a:gd name="T7" fmla="*/ 0 60000 65536"/>
              <a:gd name="T8" fmla="*/ 0 60000 65536"/>
              <a:gd name="T9" fmla="*/ 0 w 1409700"/>
              <a:gd name="T10" fmla="*/ 0 h 781050"/>
              <a:gd name="T11" fmla="*/ 1409700 w 1409700"/>
              <a:gd name="T12" fmla="*/ 781050 h 7810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9700" h="781050">
                <a:moveTo>
                  <a:pt x="1409700" y="0"/>
                </a:moveTo>
                <a:lnTo>
                  <a:pt x="0" y="9525"/>
                </a:lnTo>
                <a:lnTo>
                  <a:pt x="1171575" y="781050"/>
                </a:lnTo>
              </a:path>
            </a:pathLst>
          </a:custGeom>
          <a:noFill/>
          <a:ln w="12700" cap="rnd" algn="ctr">
            <a:solidFill>
              <a:srgbClr val="002060"/>
            </a:solidFill>
            <a:prstDash val="sysDash"/>
            <a:round/>
            <a:headEnd/>
            <a:tailEnd type="oval" w="med" len="med"/>
          </a:ln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3" name="그룹 12"/>
          <p:cNvGrpSpPr/>
          <p:nvPr/>
        </p:nvGrpSpPr>
        <p:grpSpPr>
          <a:xfrm>
            <a:off x="6299201" y="4243822"/>
            <a:ext cx="3100387" cy="604837"/>
            <a:chOff x="6145213" y="4006503"/>
            <a:chExt cx="3100387" cy="604837"/>
          </a:xfrm>
        </p:grpSpPr>
        <p:sp>
          <p:nvSpPr>
            <p:cNvPr id="282" name="Freeform 63"/>
            <p:cNvSpPr>
              <a:spLocks/>
            </p:cNvSpPr>
            <p:nvPr/>
          </p:nvSpPr>
          <p:spPr bwMode="auto">
            <a:xfrm flipV="1">
              <a:off x="6145213" y="4025553"/>
              <a:ext cx="3100387" cy="141287"/>
            </a:xfrm>
            <a:custGeom>
              <a:avLst/>
              <a:gdLst>
                <a:gd name="T0" fmla="*/ 0 w 2344"/>
                <a:gd name="T1" fmla="*/ 0 h 178"/>
                <a:gd name="T2" fmla="*/ 560821 w 2344"/>
                <a:gd name="T3" fmla="*/ 141287 h 178"/>
                <a:gd name="T4" fmla="*/ 3100387 w 2344"/>
                <a:gd name="T5" fmla="*/ 141287 h 178"/>
                <a:gd name="T6" fmla="*/ 0 60000 65536"/>
                <a:gd name="T7" fmla="*/ 0 60000 65536"/>
                <a:gd name="T8" fmla="*/ 0 60000 65536"/>
                <a:gd name="T9" fmla="*/ 0 w 2344"/>
                <a:gd name="T10" fmla="*/ 0 h 178"/>
                <a:gd name="T11" fmla="*/ 2344 w 2344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44" h="178">
                  <a:moveTo>
                    <a:pt x="0" y="0"/>
                  </a:moveTo>
                  <a:lnTo>
                    <a:pt x="424" y="178"/>
                  </a:lnTo>
                  <a:lnTo>
                    <a:pt x="2344" y="178"/>
                  </a:lnTo>
                </a:path>
              </a:pathLst>
            </a:custGeom>
            <a:noFill/>
            <a:ln w="9525" cap="rnd">
              <a:solidFill>
                <a:srgbClr val="002060"/>
              </a:solidFill>
              <a:prstDash val="sysDash"/>
              <a:round/>
              <a:headEnd type="oval" w="med" len="med"/>
              <a:tailEnd type="none" w="sm" len="sm"/>
            </a:ln>
          </p:spPr>
          <p:txBody>
            <a:bodyPr rot="10800000" wrap="none" lIns="90000" tIns="46800" rIns="90000" bIns="46800" anchor="ctr"/>
            <a:lstStyle/>
            <a:p>
              <a:pPr algn="l"/>
              <a:endParaRPr lang="ko-KR" altLang="ko-KR" sz="10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3" name="모서리가 둥근 직사각형 39"/>
            <p:cNvSpPr>
              <a:spLocks noChangeArrowheads="1"/>
            </p:cNvSpPr>
            <p:nvPr/>
          </p:nvSpPr>
          <p:spPr bwMode="auto">
            <a:xfrm>
              <a:off x="7864475" y="4027140"/>
              <a:ext cx="1381125" cy="5842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B4CCE2"/>
                </a:gs>
                <a:gs pos="100000">
                  <a:srgbClr val="D6E3EF"/>
                </a:gs>
              </a:gsLst>
              <a:lin ang="5400000" scaled="1"/>
            </a:gradFill>
            <a:ln w="3175" algn="ctr">
              <a:solidFill>
                <a:srgbClr val="91C3D3"/>
              </a:solidFill>
              <a:round/>
              <a:headEnd/>
              <a:tailEnd/>
            </a:ln>
          </p:spPr>
          <p:txBody>
            <a:bodyPr anchor="ctr"/>
            <a:lstStyle/>
            <a:p>
              <a:pPr marL="180975" indent="-179388" algn="l">
                <a:lnSpc>
                  <a:spcPct val="100000"/>
                </a:lnSpc>
                <a:tabLst>
                  <a:tab pos="139700" algn="l"/>
                </a:tabLst>
              </a:pPr>
              <a:endParaRPr lang="ko-KR" altLang="ko-KR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4" name="TextBox 97"/>
            <p:cNvSpPr txBox="1">
              <a:spLocks noChangeArrowheads="1"/>
            </p:cNvSpPr>
            <p:nvPr/>
          </p:nvSpPr>
          <p:spPr bwMode="auto">
            <a:xfrm>
              <a:off x="7918450" y="4006503"/>
              <a:ext cx="69215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>
                  <a:latin typeface="맑은 고딕" pitchFamily="50" charset="-127"/>
                  <a:ea typeface="맑은 고딕" pitchFamily="50" charset="-127"/>
                </a:rPr>
                <a:t>고객관리</a:t>
              </a:r>
            </a:p>
          </p:txBody>
        </p:sp>
        <p:sp>
          <p:nvSpPr>
            <p:cNvPr id="285" name="모서리가 둥근 직사각형 41"/>
            <p:cNvSpPr>
              <a:spLocks noChangeArrowheads="1"/>
            </p:cNvSpPr>
            <p:nvPr/>
          </p:nvSpPr>
          <p:spPr bwMode="auto">
            <a:xfrm>
              <a:off x="7918450" y="4211290"/>
              <a:ext cx="1289050" cy="347663"/>
            </a:xfrm>
            <a:prstGeom prst="roundRect">
              <a:avLst>
                <a:gd name="adj" fmla="val 5000"/>
              </a:avLst>
            </a:prstGeom>
            <a:solidFill>
              <a:schemeClr val="bg1"/>
            </a:solidFill>
            <a:ln w="3175" algn="ctr">
              <a:noFill/>
              <a:round/>
              <a:headEnd/>
              <a:tailEnd/>
            </a:ln>
          </p:spPr>
          <p:txBody>
            <a:bodyPr anchor="ctr"/>
            <a:lstStyle/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고객정보관리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고객구매내역 현황</a:t>
              </a:r>
            </a:p>
            <a:p>
              <a:pPr marL="82550" indent="-82550" algn="l">
                <a:lnSpc>
                  <a:spcPct val="100000"/>
                </a:lnSpc>
                <a:spcBef>
                  <a:spcPct val="20000"/>
                </a:spcBef>
                <a:buClr>
                  <a:srgbClr val="003366"/>
                </a:buClr>
                <a:buFont typeface="Wingdings" pitchFamily="2" charset="2"/>
                <a:buChar char="§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고객분석</a:t>
              </a:r>
              <a:r>
                <a:rPr lang="en-US" altLang="ko-KR" sz="700" b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마케팅 관리</a:t>
              </a:r>
            </a:p>
          </p:txBody>
        </p:sp>
      </p:grpSp>
      <p:cxnSp>
        <p:nvCxnSpPr>
          <p:cNvPr id="286" name="꺾인 연결선 494"/>
          <p:cNvCxnSpPr/>
          <p:nvPr/>
        </p:nvCxnSpPr>
        <p:spPr bwMode="auto">
          <a:xfrm>
            <a:off x="1082675" y="4358928"/>
            <a:ext cx="1401763" cy="638175"/>
          </a:xfrm>
          <a:prstGeom prst="bentConnector3">
            <a:avLst>
              <a:gd name="adj1" fmla="val 14593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stealth" w="sm" len="med"/>
            <a:tailEnd type="stealth" w="med" len="med"/>
          </a:ln>
          <a:effectLst/>
        </p:spPr>
      </p:cxnSp>
      <p:pic>
        <p:nvPicPr>
          <p:cNvPr id="287" name="Picture 3" descr="C:\Documents and Settings\kej\Local Settings\Temporary Internet Files\Content.IE5\CFHJU6Z9\MCj04247900000[1].wmf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87110" y="4006660"/>
            <a:ext cx="595507" cy="567103"/>
          </a:xfrm>
          <a:prstGeom prst="rect">
            <a:avLst/>
          </a:prstGeom>
          <a:noFill/>
        </p:spPr>
      </p:pic>
      <p:sp>
        <p:nvSpPr>
          <p:cNvPr id="288" name="TextBox 94"/>
          <p:cNvSpPr txBox="1">
            <a:spLocks noChangeArrowheads="1"/>
          </p:cNvSpPr>
          <p:nvPr/>
        </p:nvSpPr>
        <p:spPr bwMode="auto">
          <a:xfrm>
            <a:off x="425450" y="4546253"/>
            <a:ext cx="59055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1000"/>
              </a:lnSpc>
              <a:buSzPct val="70000"/>
            </a:pPr>
            <a:r>
              <a:rPr lang="ko-KR" altLang="en-US" sz="1000" b="0">
                <a:latin typeface="맑은 고딕" pitchFamily="50" charset="-127"/>
                <a:ea typeface="맑은 고딕" pitchFamily="50" charset="-127"/>
              </a:rPr>
              <a:t>쇼핑몰</a:t>
            </a:r>
          </a:p>
        </p:txBody>
      </p:sp>
      <p:pic>
        <p:nvPicPr>
          <p:cNvPr id="289" name="Picture 4" descr="C:\Documents and Settings\kej\Local Settings\Temporary Internet Files\Content.IE5\85QFSX6N\MCj04289670000[1].wmf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 rot="8100461">
            <a:off x="1071642" y="4609916"/>
            <a:ext cx="484145" cy="89727"/>
          </a:xfrm>
          <a:prstGeom prst="rect">
            <a:avLst/>
          </a:prstGeom>
          <a:noFill/>
        </p:spPr>
      </p:pic>
      <p:sp>
        <p:nvSpPr>
          <p:cNvPr id="290" name="Rectangle 183"/>
          <p:cNvSpPr>
            <a:spLocks noChangeArrowheads="1"/>
          </p:cNvSpPr>
          <p:nvPr/>
        </p:nvSpPr>
        <p:spPr bwMode="auto">
          <a:xfrm>
            <a:off x="228600" y="1043735"/>
            <a:ext cx="9429750" cy="5445605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Arial" pitchFamily="34" charset="0"/>
              <a:ea typeface="돋움" pitchFamily="50" charset="-127"/>
            </a:endParaRPr>
          </a:p>
        </p:txBody>
      </p:sp>
      <p:grpSp>
        <p:nvGrpSpPr>
          <p:cNvPr id="291" name="Group 184"/>
          <p:cNvGrpSpPr>
            <a:grpSpLocks/>
          </p:cNvGrpSpPr>
          <p:nvPr/>
        </p:nvGrpSpPr>
        <p:grpSpPr bwMode="auto">
          <a:xfrm>
            <a:off x="8724900" y="1116760"/>
            <a:ext cx="944563" cy="622300"/>
            <a:chOff x="5496" y="1458"/>
            <a:chExt cx="595" cy="392"/>
          </a:xfrm>
        </p:grpSpPr>
        <p:sp>
          <p:nvSpPr>
            <p:cNvPr id="292" name="AutoShape 185"/>
            <p:cNvSpPr>
              <a:spLocks noChangeArrowheads="1"/>
            </p:cNvSpPr>
            <p:nvPr/>
          </p:nvSpPr>
          <p:spPr bwMode="auto">
            <a:xfrm>
              <a:off x="5496" y="1458"/>
              <a:ext cx="541" cy="384"/>
            </a:xfrm>
            <a:prstGeom prst="roundRect">
              <a:avLst>
                <a:gd name="adj" fmla="val 5727"/>
              </a:avLst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latinLnBrk="1">
                <a:lnSpc>
                  <a:spcPct val="100000"/>
                </a:lnSpc>
              </a:pPr>
              <a:endParaRPr lang="ko-KR" altLang="ko-KR" sz="1100" b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3" name="모서리가 둥근 직사각형 292"/>
            <p:cNvSpPr/>
            <p:nvPr/>
          </p:nvSpPr>
          <p:spPr bwMode="auto">
            <a:xfrm>
              <a:off x="5549" y="1490"/>
              <a:ext cx="113" cy="9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 extrusionH="88900">
              <a:bevelT w="38100" prst="slope"/>
              <a:extrusionClr>
                <a:schemeClr val="tx1">
                  <a:lumMod val="75000"/>
                  <a:lumOff val="25000"/>
                </a:schemeClr>
              </a:extrusionClr>
              <a:contourClr>
                <a:schemeClr val="bg1">
                  <a:lumMod val="95000"/>
                </a:schemeClr>
              </a:contourClr>
            </a:sp3d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50000"/>
                </a:spcBef>
                <a:defRPr/>
              </a:pPr>
              <a:endParaRPr lang="ko-KR" altLang="en-US" sz="90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4" name="AutoShape 77"/>
            <p:cNvSpPr>
              <a:spLocks noChangeArrowheads="1"/>
            </p:cNvSpPr>
            <p:nvPr/>
          </p:nvSpPr>
          <p:spPr bwMode="auto">
            <a:xfrm>
              <a:off x="5673" y="1458"/>
              <a:ext cx="418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업무흐름</a:t>
              </a:r>
            </a:p>
          </p:txBody>
        </p:sp>
        <p:sp>
          <p:nvSpPr>
            <p:cNvPr id="295" name="AutoShape 77"/>
            <p:cNvSpPr>
              <a:spLocks noChangeArrowheads="1"/>
            </p:cNvSpPr>
            <p:nvPr/>
          </p:nvSpPr>
          <p:spPr bwMode="auto">
            <a:xfrm>
              <a:off x="5673" y="1577"/>
              <a:ext cx="418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시스템 구현</a:t>
              </a:r>
            </a:p>
          </p:txBody>
        </p:sp>
        <p:pic>
          <p:nvPicPr>
            <p:cNvPr id="296" name="Picture 320" descr="C:\Documents and Settings\kej\Local Settings\Temporary Internet Files\Content.IE5\E147QLU5\MCj04413620000[1].png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5535" y="1731"/>
              <a:ext cx="136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97" name="AutoShape 77"/>
            <p:cNvSpPr>
              <a:spLocks noChangeArrowheads="1"/>
            </p:cNvSpPr>
            <p:nvPr/>
          </p:nvSpPr>
          <p:spPr bwMode="auto">
            <a:xfrm>
              <a:off x="5673" y="1684"/>
              <a:ext cx="417" cy="1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l">
                <a:lnSpc>
                  <a:spcPts val="700"/>
                </a:lnSpc>
                <a:spcBef>
                  <a:spcPct val="50000"/>
                </a:spcBef>
                <a:buSzPct val="70000"/>
              </a:pPr>
              <a:r>
                <a:rPr lang="ko-KR" altLang="en-US" sz="700" b="0">
                  <a:latin typeface="맑은 고딕" pitchFamily="50" charset="-127"/>
                  <a:ea typeface="맑은 고딕" pitchFamily="50" charset="-127"/>
                </a:rPr>
                <a:t>주요 특징</a:t>
              </a:r>
            </a:p>
          </p:txBody>
        </p:sp>
        <p:cxnSp>
          <p:nvCxnSpPr>
            <p:cNvPr id="298" name="직선 연결선 227"/>
            <p:cNvCxnSpPr>
              <a:cxnSpLocks noChangeShapeType="1"/>
            </p:cNvCxnSpPr>
            <p:nvPr/>
          </p:nvCxnSpPr>
          <p:spPr bwMode="auto">
            <a:xfrm rot="5400000" flipH="1" flipV="1">
              <a:off x="5601" y="1660"/>
              <a:ext cx="1" cy="1"/>
            </a:xfrm>
            <a:prstGeom prst="line">
              <a:avLst/>
            </a:prstGeom>
            <a:noFill/>
            <a:ln w="9525" cap="rnd" algn="ctr">
              <a:solidFill>
                <a:srgbClr val="002060"/>
              </a:solidFill>
              <a:round/>
              <a:headEnd type="oval" w="med" len="med"/>
              <a:tailEnd/>
            </a:ln>
          </p:spPr>
        </p:cxnSp>
      </p:grpSp>
      <p:pic>
        <p:nvPicPr>
          <p:cNvPr id="299" name="그림 127" descr="별1.jpg"/>
          <p:cNvPicPr>
            <a:picLocks noChangeAspect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12963" y="1788765"/>
            <a:ext cx="5842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0" name="그림 128" descr="별2.jpg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52663" y="3544540"/>
            <a:ext cx="57943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1" name="그림 129" descr="별3.jpg"/>
          <p:cNvPicPr>
            <a:picLocks noChangeAspect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04175" y="1469678"/>
            <a:ext cx="579438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2" name="모서리가 둥근 직사각형 301"/>
          <p:cNvSpPr/>
          <p:nvPr/>
        </p:nvSpPr>
        <p:spPr bwMode="auto">
          <a:xfrm>
            <a:off x="3703978" y="2485893"/>
            <a:ext cx="886106" cy="260503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 smtClean="0">
                <a:latin typeface="맑은 고딕" pitchFamily="50" charset="-127"/>
                <a:ea typeface="맑은 고딕" pitchFamily="50" charset="-127"/>
              </a:rPr>
              <a:t>제품검수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4" name="모서리가 둥근 직사각형 303"/>
          <p:cNvSpPr/>
          <p:nvPr/>
        </p:nvSpPr>
        <p:spPr bwMode="auto">
          <a:xfrm>
            <a:off x="5445301" y="5083567"/>
            <a:ext cx="976530" cy="25976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76200">
            <a:bevelT w="25400" h="889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900" b="0" dirty="0" err="1" smtClean="0">
                <a:latin typeface="맑은 고딕" pitchFamily="50" charset="-127"/>
                <a:ea typeface="맑은 고딕" pitchFamily="50" charset="-127"/>
              </a:rPr>
              <a:t>수선품관리</a:t>
            </a:r>
            <a:endParaRPr lang="ko-KR" altLang="en-US" sz="9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5" name="Freeform 63"/>
          <p:cNvSpPr>
            <a:spLocks/>
          </p:cNvSpPr>
          <p:nvPr/>
        </p:nvSpPr>
        <p:spPr bwMode="auto">
          <a:xfrm flipV="1">
            <a:off x="6307138" y="5036445"/>
            <a:ext cx="3100387" cy="141287"/>
          </a:xfrm>
          <a:custGeom>
            <a:avLst/>
            <a:gdLst>
              <a:gd name="T0" fmla="*/ 0 w 2344"/>
              <a:gd name="T1" fmla="*/ 0 h 178"/>
              <a:gd name="T2" fmla="*/ 560821 w 2344"/>
              <a:gd name="T3" fmla="*/ 141287 h 178"/>
              <a:gd name="T4" fmla="*/ 3100387 w 2344"/>
              <a:gd name="T5" fmla="*/ 141287 h 178"/>
              <a:gd name="T6" fmla="*/ 0 60000 65536"/>
              <a:gd name="T7" fmla="*/ 0 60000 65536"/>
              <a:gd name="T8" fmla="*/ 0 60000 65536"/>
              <a:gd name="T9" fmla="*/ 0 w 2344"/>
              <a:gd name="T10" fmla="*/ 0 h 178"/>
              <a:gd name="T11" fmla="*/ 2344 w 2344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44" h="178">
                <a:moveTo>
                  <a:pt x="0" y="0"/>
                </a:moveTo>
                <a:lnTo>
                  <a:pt x="424" y="178"/>
                </a:lnTo>
                <a:lnTo>
                  <a:pt x="2344" y="178"/>
                </a:lnTo>
              </a:path>
            </a:pathLst>
          </a:custGeom>
          <a:noFill/>
          <a:ln w="9525" cap="rnd">
            <a:solidFill>
              <a:srgbClr val="002060"/>
            </a:solidFill>
            <a:prstDash val="sysDash"/>
            <a:round/>
            <a:headEnd type="oval" w="med" len="med"/>
            <a:tailEnd type="none" w="sm" len="sm"/>
          </a:ln>
        </p:spPr>
        <p:txBody>
          <a:bodyPr rot="10800000" wrap="none" lIns="90000" tIns="46800" rIns="90000" bIns="46800" anchor="ctr"/>
          <a:lstStyle/>
          <a:p>
            <a:pPr algn="l"/>
            <a:endParaRPr lang="ko-KR" altLang="ko-KR" sz="10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6" name="모서리가 둥근 직사각형 39"/>
          <p:cNvSpPr>
            <a:spLocks noChangeArrowheads="1"/>
          </p:cNvSpPr>
          <p:nvPr/>
        </p:nvSpPr>
        <p:spPr bwMode="auto">
          <a:xfrm>
            <a:off x="8026400" y="5038032"/>
            <a:ext cx="1381125" cy="5842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7" name="TextBox 97"/>
          <p:cNvSpPr txBox="1">
            <a:spLocks noChangeArrowheads="1"/>
          </p:cNvSpPr>
          <p:nvPr/>
        </p:nvSpPr>
        <p:spPr bwMode="auto">
          <a:xfrm>
            <a:off x="8080375" y="5017395"/>
            <a:ext cx="64633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1000" b="0" dirty="0" smtClean="0">
                <a:latin typeface="맑은 고딕" pitchFamily="50" charset="-127"/>
                <a:ea typeface="맑은 고딕" pitchFamily="50" charset="-127"/>
              </a:rPr>
              <a:t>A/S</a:t>
            </a:r>
            <a:r>
              <a:rPr lang="ko-KR" altLang="en-US" sz="1000" b="0" dirty="0" smtClean="0">
                <a:latin typeface="맑은 고딕" pitchFamily="50" charset="-127"/>
                <a:ea typeface="맑은 고딕" pitchFamily="50" charset="-127"/>
              </a:rPr>
              <a:t>관리</a:t>
            </a:r>
            <a:endParaRPr lang="ko-KR" altLang="en-US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8" name="모서리가 둥근 직사각형 41"/>
          <p:cNvSpPr>
            <a:spLocks noChangeArrowheads="1"/>
          </p:cNvSpPr>
          <p:nvPr/>
        </p:nvSpPr>
        <p:spPr bwMode="auto">
          <a:xfrm>
            <a:off x="8080375" y="5222182"/>
            <a:ext cx="1289050" cy="34766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dirty="0" err="1" smtClean="0">
                <a:latin typeface="맑은 고딕" pitchFamily="50" charset="-127"/>
                <a:ea typeface="맑은 고딕" pitchFamily="50" charset="-127"/>
              </a:rPr>
              <a:t>수선품</a:t>
            </a:r>
            <a:r>
              <a:rPr lang="ko-KR" altLang="en-US" sz="700" dirty="0" smtClean="0">
                <a:latin typeface="맑은 고딕" pitchFamily="50" charset="-127"/>
                <a:ea typeface="맑은 고딕" pitchFamily="50" charset="-127"/>
              </a:rPr>
              <a:t> 접수 및 의뢰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700" b="0" dirty="0" smtClean="0">
                <a:latin typeface="맑은 고딕" pitchFamily="50" charset="-127"/>
                <a:ea typeface="맑은 고딕" pitchFamily="50" charset="-127"/>
              </a:rPr>
              <a:t>수선비 수납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892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6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2. </a:t>
            </a:r>
            <a:r>
              <a:rPr lang="ko-KR" altLang="en-US" dirty="0" smtClean="0">
                <a:latin typeface="+mj-ea"/>
                <a:ea typeface="+mj-ea"/>
              </a:rPr>
              <a:t>판매업무흐름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77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9" name="Line 11"/>
          <p:cNvSpPr>
            <a:spLocks noChangeShapeType="1"/>
          </p:cNvSpPr>
          <p:nvPr/>
        </p:nvSpPr>
        <p:spPr bwMode="auto">
          <a:xfrm flipH="1">
            <a:off x="1593850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78" name="Line 11"/>
          <p:cNvSpPr>
            <a:spLocks noChangeShapeType="1"/>
          </p:cNvSpPr>
          <p:nvPr/>
        </p:nvSpPr>
        <p:spPr bwMode="auto">
          <a:xfrm flipH="1">
            <a:off x="2379663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2" name="Line 11"/>
          <p:cNvSpPr>
            <a:spLocks noChangeShapeType="1"/>
          </p:cNvSpPr>
          <p:nvPr/>
        </p:nvSpPr>
        <p:spPr bwMode="auto">
          <a:xfrm flipH="1">
            <a:off x="3165475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85" name="Line 11"/>
          <p:cNvSpPr>
            <a:spLocks noChangeShapeType="1"/>
          </p:cNvSpPr>
          <p:nvPr/>
        </p:nvSpPr>
        <p:spPr bwMode="auto">
          <a:xfrm flipH="1">
            <a:off x="3951288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98" name="Line 11"/>
          <p:cNvSpPr>
            <a:spLocks noChangeShapeType="1"/>
          </p:cNvSpPr>
          <p:nvPr/>
        </p:nvSpPr>
        <p:spPr bwMode="auto">
          <a:xfrm flipH="1">
            <a:off x="4729163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5" name="Line 11"/>
          <p:cNvSpPr>
            <a:spLocks noChangeShapeType="1"/>
          </p:cNvSpPr>
          <p:nvPr/>
        </p:nvSpPr>
        <p:spPr bwMode="auto">
          <a:xfrm flipH="1">
            <a:off x="5514975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6" name="Line 11"/>
          <p:cNvSpPr>
            <a:spLocks noChangeShapeType="1"/>
          </p:cNvSpPr>
          <p:nvPr/>
        </p:nvSpPr>
        <p:spPr bwMode="auto">
          <a:xfrm flipH="1">
            <a:off x="6300788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7" name="Line 11"/>
          <p:cNvSpPr>
            <a:spLocks noChangeShapeType="1"/>
          </p:cNvSpPr>
          <p:nvPr/>
        </p:nvSpPr>
        <p:spPr bwMode="auto">
          <a:xfrm flipH="1">
            <a:off x="7086600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20" name="Line 11"/>
          <p:cNvSpPr>
            <a:spLocks noChangeShapeType="1"/>
          </p:cNvSpPr>
          <p:nvPr/>
        </p:nvSpPr>
        <p:spPr bwMode="auto">
          <a:xfrm flipH="1">
            <a:off x="7880350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8" name="Line 11"/>
          <p:cNvSpPr>
            <a:spLocks noChangeShapeType="1"/>
          </p:cNvSpPr>
          <p:nvPr/>
        </p:nvSpPr>
        <p:spPr bwMode="auto">
          <a:xfrm flipH="1">
            <a:off x="8666163" y="110144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89" name="Rectangle 1385"/>
          <p:cNvSpPr>
            <a:spLocks noChangeArrowheads="1"/>
          </p:cNvSpPr>
          <p:nvPr/>
        </p:nvSpPr>
        <p:spPr bwMode="auto">
          <a:xfrm>
            <a:off x="379413" y="1088740"/>
            <a:ext cx="1214437" cy="5076825"/>
          </a:xfrm>
          <a:prstGeom prst="rect">
            <a:avLst/>
          </a:prstGeom>
          <a:noFill/>
          <a:ln w="9525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lnSpc>
                <a:spcPct val="110000"/>
              </a:lnSpc>
            </a:pPr>
            <a:endParaRPr kumimoji="0" lang="ko-KR" altLang="en-US" sz="120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90" name="Text Box 28"/>
          <p:cNvSpPr txBox="1">
            <a:spLocks noChangeArrowheads="1"/>
          </p:cNvSpPr>
          <p:nvPr/>
        </p:nvSpPr>
        <p:spPr bwMode="auto">
          <a:xfrm>
            <a:off x="1639888" y="1879315"/>
            <a:ext cx="720725" cy="230187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제품체크</a:t>
            </a:r>
          </a:p>
        </p:txBody>
      </p:sp>
      <p:sp>
        <p:nvSpPr>
          <p:cNvPr id="291" name="Rectangle 55"/>
          <p:cNvSpPr>
            <a:spLocks noChangeArrowheads="1"/>
          </p:cNvSpPr>
          <p:nvPr/>
        </p:nvSpPr>
        <p:spPr bwMode="gray">
          <a:xfrm>
            <a:off x="1636713" y="1123665"/>
            <a:ext cx="719137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제품정보</a:t>
            </a:r>
          </a:p>
        </p:txBody>
      </p:sp>
      <p:sp>
        <p:nvSpPr>
          <p:cNvPr id="292" name="Rectangle 55"/>
          <p:cNvSpPr>
            <a:spLocks noChangeArrowheads="1"/>
          </p:cNvSpPr>
          <p:nvPr/>
        </p:nvSpPr>
        <p:spPr bwMode="gray">
          <a:xfrm>
            <a:off x="2414588" y="1123665"/>
            <a:ext cx="719137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스타일</a:t>
            </a:r>
            <a:endParaRPr kumimoji="0" lang="en-US" altLang="ko-KR" sz="10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사이즈정보</a:t>
            </a:r>
          </a:p>
        </p:txBody>
      </p:sp>
      <p:sp>
        <p:nvSpPr>
          <p:cNvPr id="293" name="Rectangle 55"/>
          <p:cNvSpPr>
            <a:spLocks noChangeArrowheads="1"/>
          </p:cNvSpPr>
          <p:nvPr/>
        </p:nvSpPr>
        <p:spPr bwMode="gray">
          <a:xfrm>
            <a:off x="3200400" y="1123665"/>
            <a:ext cx="719138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실판매가</a:t>
            </a:r>
            <a:endParaRPr kumimoji="0" lang="en-US" altLang="ko-KR" sz="10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정보</a:t>
            </a:r>
          </a:p>
        </p:txBody>
      </p:sp>
      <p:sp>
        <p:nvSpPr>
          <p:cNvPr id="294" name="Rectangle 55"/>
          <p:cNvSpPr>
            <a:spLocks noChangeArrowheads="1"/>
          </p:cNvSpPr>
          <p:nvPr/>
        </p:nvSpPr>
        <p:spPr bwMode="gray">
          <a:xfrm>
            <a:off x="4772025" y="1123665"/>
            <a:ext cx="719138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매장정보</a:t>
            </a:r>
          </a:p>
        </p:txBody>
      </p:sp>
      <p:sp>
        <p:nvSpPr>
          <p:cNvPr id="295" name="Rectangle 55"/>
          <p:cNvSpPr>
            <a:spLocks noChangeArrowheads="1"/>
          </p:cNvSpPr>
          <p:nvPr/>
        </p:nvSpPr>
        <p:spPr bwMode="gray">
          <a:xfrm>
            <a:off x="6345238" y="1123665"/>
            <a:ext cx="720725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판매</a:t>
            </a:r>
            <a:r>
              <a:rPr kumimoji="0" lang="en-US" altLang="ko-KR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/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판매결제</a:t>
            </a:r>
          </a:p>
        </p:txBody>
      </p:sp>
      <p:sp>
        <p:nvSpPr>
          <p:cNvPr id="296" name="AutoShape 46"/>
          <p:cNvSpPr>
            <a:spLocks noChangeArrowheads="1"/>
          </p:cNvSpPr>
          <p:nvPr/>
        </p:nvSpPr>
        <p:spPr bwMode="gray">
          <a:xfrm>
            <a:off x="407988" y="1879315"/>
            <a:ext cx="1033462" cy="230187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제품코드입력</a:t>
            </a:r>
          </a:p>
        </p:txBody>
      </p:sp>
      <p:sp>
        <p:nvSpPr>
          <p:cNvPr id="297" name="AutoShape 46"/>
          <p:cNvSpPr>
            <a:spLocks noChangeArrowheads="1"/>
          </p:cNvSpPr>
          <p:nvPr/>
        </p:nvSpPr>
        <p:spPr bwMode="gray">
          <a:xfrm>
            <a:off x="407988" y="2185702"/>
            <a:ext cx="1033462" cy="230188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칼라사이즈입력</a:t>
            </a:r>
            <a:endParaRPr kumimoji="0" lang="ko-KR" altLang="en-US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298" name="AutoShape 46"/>
          <p:cNvSpPr>
            <a:spLocks noChangeArrowheads="1"/>
          </p:cNvSpPr>
          <p:nvPr/>
        </p:nvSpPr>
        <p:spPr bwMode="gray">
          <a:xfrm>
            <a:off x="407988" y="2469865"/>
            <a:ext cx="1033462" cy="230187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실판가자동입수</a:t>
            </a:r>
          </a:p>
        </p:txBody>
      </p:sp>
      <p:sp>
        <p:nvSpPr>
          <p:cNvPr id="299" name="Rectangle 55"/>
          <p:cNvSpPr>
            <a:spLocks noChangeArrowheads="1"/>
          </p:cNvSpPr>
          <p:nvPr/>
        </p:nvSpPr>
        <p:spPr bwMode="gray">
          <a:xfrm>
            <a:off x="407988" y="1134777"/>
            <a:ext cx="1033462" cy="352425"/>
          </a:xfrm>
          <a:prstGeom prst="rect">
            <a:avLst/>
          </a:prstGeom>
          <a:solidFill>
            <a:srgbClr val="99CC00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업무구분</a:t>
            </a:r>
          </a:p>
        </p:txBody>
      </p:sp>
      <p:sp>
        <p:nvSpPr>
          <p:cNvPr id="300" name="Text Box 28"/>
          <p:cNvSpPr txBox="1">
            <a:spLocks noChangeArrowheads="1"/>
          </p:cNvSpPr>
          <p:nvPr/>
        </p:nvSpPr>
        <p:spPr bwMode="auto">
          <a:xfrm>
            <a:off x="2425700" y="2184115"/>
            <a:ext cx="719138" cy="2317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유효성체크</a:t>
            </a:r>
            <a:endParaRPr kumimoji="0" lang="ko-KR" altLang="en-US" sz="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301" name="Rectangle 55"/>
          <p:cNvSpPr>
            <a:spLocks noChangeArrowheads="1"/>
          </p:cNvSpPr>
          <p:nvPr/>
        </p:nvSpPr>
        <p:spPr bwMode="gray">
          <a:xfrm>
            <a:off x="3987800" y="1123665"/>
            <a:ext cx="720725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할인마진</a:t>
            </a:r>
            <a:endParaRPr kumimoji="0" lang="en-US" altLang="ko-KR" sz="10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정보</a:t>
            </a:r>
          </a:p>
        </p:txBody>
      </p:sp>
      <p:sp>
        <p:nvSpPr>
          <p:cNvPr id="302" name="Text Box 28"/>
          <p:cNvSpPr txBox="1">
            <a:spLocks noChangeArrowheads="1"/>
          </p:cNvSpPr>
          <p:nvPr/>
        </p:nvSpPr>
        <p:spPr bwMode="auto">
          <a:xfrm>
            <a:off x="3201988" y="2469865"/>
            <a:ext cx="720725" cy="231775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정보조회</a:t>
            </a:r>
          </a:p>
        </p:txBody>
      </p:sp>
      <p:sp>
        <p:nvSpPr>
          <p:cNvPr id="303" name="Text Box 28"/>
          <p:cNvSpPr txBox="1">
            <a:spLocks noChangeArrowheads="1"/>
          </p:cNvSpPr>
          <p:nvPr/>
        </p:nvSpPr>
        <p:spPr bwMode="auto">
          <a:xfrm>
            <a:off x="3976688" y="2757202"/>
            <a:ext cx="720725" cy="230188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마진정보</a:t>
            </a:r>
          </a:p>
        </p:txBody>
      </p:sp>
      <p:sp>
        <p:nvSpPr>
          <p:cNvPr id="304" name="AutoShape 46"/>
          <p:cNvSpPr>
            <a:spLocks noChangeArrowheads="1"/>
          </p:cNvSpPr>
          <p:nvPr/>
        </p:nvSpPr>
        <p:spPr bwMode="gray">
          <a:xfrm>
            <a:off x="407988" y="2757202"/>
            <a:ext cx="1033462" cy="230188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할인마진율입수</a:t>
            </a:r>
          </a:p>
        </p:txBody>
      </p:sp>
      <p:sp>
        <p:nvSpPr>
          <p:cNvPr id="305" name="Text Box 28"/>
          <p:cNvSpPr txBox="1">
            <a:spLocks noChangeArrowheads="1"/>
          </p:cNvSpPr>
          <p:nvPr/>
        </p:nvSpPr>
        <p:spPr bwMode="auto">
          <a:xfrm>
            <a:off x="4772025" y="2258870"/>
            <a:ext cx="719138" cy="230188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lIns="0" rIns="0"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판매가능유무</a:t>
            </a:r>
            <a:endParaRPr kumimoji="0" lang="ko-KR" altLang="en-US" sz="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306" name="Text Box 28"/>
          <p:cNvSpPr txBox="1">
            <a:spLocks noChangeArrowheads="1"/>
          </p:cNvSpPr>
          <p:nvPr/>
        </p:nvSpPr>
        <p:spPr bwMode="auto">
          <a:xfrm>
            <a:off x="3986213" y="3892937"/>
            <a:ext cx="1493837" cy="230188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매장 판매공급가 </a:t>
            </a:r>
            <a:r>
              <a:rPr kumimoji="0" lang="ko-KR" altLang="en-US" sz="800" b="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계산</a:t>
            </a:r>
          </a:p>
        </p:txBody>
      </p:sp>
      <p:sp>
        <p:nvSpPr>
          <p:cNvPr id="308" name="AutoShape 46"/>
          <p:cNvSpPr>
            <a:spLocks noChangeArrowheads="1"/>
          </p:cNvSpPr>
          <p:nvPr/>
        </p:nvSpPr>
        <p:spPr bwMode="gray">
          <a:xfrm>
            <a:off x="407988" y="3863690"/>
            <a:ext cx="1033462" cy="230187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공급가표시</a:t>
            </a:r>
          </a:p>
        </p:txBody>
      </p:sp>
      <p:cxnSp>
        <p:nvCxnSpPr>
          <p:cNvPr id="310" name="직선 화살표 연결선 83"/>
          <p:cNvCxnSpPr>
            <a:cxnSpLocks noChangeShapeType="1"/>
            <a:stCxn id="296" idx="0"/>
            <a:endCxn id="290" idx="1"/>
          </p:cNvCxnSpPr>
          <p:nvPr/>
        </p:nvCxnSpPr>
        <p:spPr bwMode="auto">
          <a:xfrm flipV="1">
            <a:off x="1441450" y="1995202"/>
            <a:ext cx="198438" cy="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1" name="직선 화살표 연결선 84"/>
          <p:cNvCxnSpPr>
            <a:cxnSpLocks noChangeShapeType="1"/>
            <a:stCxn id="297" idx="0"/>
            <a:endCxn id="300" idx="1"/>
          </p:cNvCxnSpPr>
          <p:nvPr/>
        </p:nvCxnSpPr>
        <p:spPr bwMode="auto">
          <a:xfrm flipV="1">
            <a:off x="1441450" y="2300002"/>
            <a:ext cx="984250" cy="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2" name="직선 화살표 연결선 89"/>
          <p:cNvCxnSpPr>
            <a:cxnSpLocks noChangeShapeType="1"/>
            <a:stCxn id="302" idx="1"/>
            <a:endCxn id="298" idx="1"/>
          </p:cNvCxnSpPr>
          <p:nvPr/>
        </p:nvCxnSpPr>
        <p:spPr bwMode="auto">
          <a:xfrm rot="10800000">
            <a:off x="1409700" y="2585752"/>
            <a:ext cx="1792288" cy="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3" name="직선 화살표 연결선 92"/>
          <p:cNvCxnSpPr>
            <a:cxnSpLocks noChangeShapeType="1"/>
            <a:stCxn id="303" idx="1"/>
            <a:endCxn id="304" idx="0"/>
          </p:cNvCxnSpPr>
          <p:nvPr/>
        </p:nvCxnSpPr>
        <p:spPr bwMode="auto">
          <a:xfrm rot="10800000" flipV="1">
            <a:off x="1441450" y="2873090"/>
            <a:ext cx="2535238" cy="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4" name="꺾인 연결선 105"/>
          <p:cNvCxnSpPr>
            <a:cxnSpLocks noChangeShapeType="1"/>
            <a:stCxn id="306" idx="1"/>
            <a:endCxn id="308" idx="0"/>
          </p:cNvCxnSpPr>
          <p:nvPr/>
        </p:nvCxnSpPr>
        <p:spPr bwMode="auto">
          <a:xfrm rot="10800000">
            <a:off x="1441451" y="3978785"/>
            <a:ext cx="2544763" cy="2924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5" name="Rectangle 55"/>
          <p:cNvSpPr>
            <a:spLocks noChangeArrowheads="1"/>
          </p:cNvSpPr>
          <p:nvPr/>
        </p:nvSpPr>
        <p:spPr bwMode="gray">
          <a:xfrm>
            <a:off x="5557838" y="1128427"/>
            <a:ext cx="719137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 </a:t>
            </a:r>
            <a:r>
              <a:rPr kumimoji="0" lang="ko-KR" altLang="en-US" sz="1000" kern="0" dirty="0" err="1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제품월수불</a:t>
            </a:r>
            <a:endParaRPr kumimoji="0" lang="ko-KR" altLang="en-US" sz="10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cxnSp>
        <p:nvCxnSpPr>
          <p:cNvPr id="317" name="꺾인 연결선 115"/>
          <p:cNvCxnSpPr>
            <a:cxnSpLocks noChangeShapeType="1"/>
            <a:stCxn id="305" idx="3"/>
            <a:endCxn id="306" idx="3"/>
          </p:cNvCxnSpPr>
          <p:nvPr/>
        </p:nvCxnSpPr>
        <p:spPr bwMode="auto">
          <a:xfrm flipH="1">
            <a:off x="5480050" y="2373964"/>
            <a:ext cx="11113" cy="1634067"/>
          </a:xfrm>
          <a:prstGeom prst="bentConnector3">
            <a:avLst>
              <a:gd name="adj1" fmla="val -205705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8" name="Text Box 28"/>
          <p:cNvSpPr txBox="1">
            <a:spLocks noChangeArrowheads="1"/>
          </p:cNvSpPr>
          <p:nvPr/>
        </p:nvSpPr>
        <p:spPr bwMode="auto">
          <a:xfrm>
            <a:off x="1638300" y="3593815"/>
            <a:ext cx="719138" cy="230187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소매가확정</a:t>
            </a:r>
            <a:endParaRPr kumimoji="0" lang="ko-KR" altLang="en-US" sz="800" b="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cxnSp>
        <p:nvCxnSpPr>
          <p:cNvPr id="319" name="직선 화살표 연결선 121"/>
          <p:cNvCxnSpPr>
            <a:cxnSpLocks noChangeShapeType="1"/>
          </p:cNvCxnSpPr>
          <p:nvPr/>
        </p:nvCxnSpPr>
        <p:spPr bwMode="auto">
          <a:xfrm>
            <a:off x="2379663" y="3692240"/>
            <a:ext cx="1593056" cy="227807"/>
          </a:xfrm>
          <a:prstGeom prst="bentConnector3">
            <a:avLst>
              <a:gd name="adj1" fmla="val 50000"/>
            </a:avLst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0" name="AutoShape 46"/>
          <p:cNvSpPr>
            <a:spLocks noChangeArrowheads="1"/>
          </p:cNvSpPr>
          <p:nvPr/>
        </p:nvSpPr>
        <p:spPr bwMode="gray">
          <a:xfrm>
            <a:off x="407988" y="4811427"/>
            <a:ext cx="1033462" cy="230188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판매등록</a:t>
            </a:r>
          </a:p>
        </p:txBody>
      </p:sp>
      <p:sp>
        <p:nvSpPr>
          <p:cNvPr id="321" name="Rectangle 24"/>
          <p:cNvSpPr>
            <a:spLocks noChangeArrowheads="1"/>
          </p:cNvSpPr>
          <p:nvPr/>
        </p:nvSpPr>
        <p:spPr bwMode="auto">
          <a:xfrm>
            <a:off x="6337300" y="4808252"/>
            <a:ext cx="719138" cy="23018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판매전표생성</a:t>
            </a:r>
          </a:p>
        </p:txBody>
      </p:sp>
      <p:sp>
        <p:nvSpPr>
          <p:cNvPr id="322" name="Rectangle 55"/>
          <p:cNvSpPr>
            <a:spLocks noChangeArrowheads="1"/>
          </p:cNvSpPr>
          <p:nvPr/>
        </p:nvSpPr>
        <p:spPr bwMode="gray">
          <a:xfrm>
            <a:off x="7129463" y="1123665"/>
            <a:ext cx="719137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 err="1" smtClean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매장월정산</a:t>
            </a:r>
            <a:endParaRPr kumimoji="0" lang="ko-KR" altLang="en-US" sz="10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323" name="Rectangle 24"/>
          <p:cNvSpPr>
            <a:spLocks noChangeArrowheads="1"/>
          </p:cNvSpPr>
          <p:nvPr/>
        </p:nvSpPr>
        <p:spPr bwMode="auto">
          <a:xfrm>
            <a:off x="7912100" y="5094002"/>
            <a:ext cx="720725" cy="23018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재고갱신</a:t>
            </a:r>
          </a:p>
        </p:txBody>
      </p:sp>
      <p:sp>
        <p:nvSpPr>
          <p:cNvPr id="324" name="Rectangle 24"/>
          <p:cNvSpPr>
            <a:spLocks noChangeArrowheads="1"/>
          </p:cNvSpPr>
          <p:nvPr/>
        </p:nvSpPr>
        <p:spPr bwMode="auto">
          <a:xfrm>
            <a:off x="5548313" y="5379752"/>
            <a:ext cx="720725" cy="23018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수량</a:t>
            </a:r>
            <a:r>
              <a:rPr kumimoji="0" lang="en-US" altLang="ko-KR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원가갱신</a:t>
            </a:r>
          </a:p>
        </p:txBody>
      </p:sp>
      <p:cxnSp>
        <p:nvCxnSpPr>
          <p:cNvPr id="325" name="직선 화살표 연결선 139"/>
          <p:cNvCxnSpPr>
            <a:cxnSpLocks noChangeShapeType="1"/>
            <a:stCxn id="320" idx="1"/>
            <a:endCxn id="321" idx="1"/>
          </p:cNvCxnSpPr>
          <p:nvPr/>
        </p:nvCxnSpPr>
        <p:spPr bwMode="auto">
          <a:xfrm flipV="1">
            <a:off x="1409700" y="4924140"/>
            <a:ext cx="4927600" cy="317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꺾인 연결선 143"/>
          <p:cNvCxnSpPr>
            <a:cxnSpLocks noChangeShapeType="1"/>
            <a:stCxn id="321" idx="2"/>
            <a:endCxn id="324" idx="3"/>
          </p:cNvCxnSpPr>
          <p:nvPr/>
        </p:nvCxnSpPr>
        <p:spPr bwMode="auto">
          <a:xfrm rot="5400000">
            <a:off x="6254751" y="5052727"/>
            <a:ext cx="457200" cy="428625"/>
          </a:xfrm>
          <a:prstGeom prst="bentConnector2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꺾인 연결선 147"/>
          <p:cNvCxnSpPr>
            <a:cxnSpLocks noChangeShapeType="1"/>
            <a:stCxn id="321" idx="2"/>
            <a:endCxn id="323" idx="1"/>
          </p:cNvCxnSpPr>
          <p:nvPr/>
        </p:nvCxnSpPr>
        <p:spPr bwMode="auto">
          <a:xfrm rot="16200000" flipH="1">
            <a:off x="7219157" y="4516946"/>
            <a:ext cx="171450" cy="1214437"/>
          </a:xfrm>
          <a:prstGeom prst="bentConnector2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8" name="Rectangle 55"/>
          <p:cNvSpPr>
            <a:spLocks noChangeArrowheads="1"/>
          </p:cNvSpPr>
          <p:nvPr/>
        </p:nvSpPr>
        <p:spPr bwMode="gray">
          <a:xfrm>
            <a:off x="7916863" y="1123665"/>
            <a:ext cx="720725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매장재고</a:t>
            </a:r>
          </a:p>
        </p:txBody>
      </p:sp>
      <p:sp>
        <p:nvSpPr>
          <p:cNvPr id="329" name="Rectangle 55"/>
          <p:cNvSpPr>
            <a:spLocks noChangeArrowheads="1"/>
          </p:cNvSpPr>
          <p:nvPr/>
        </p:nvSpPr>
        <p:spPr bwMode="gray">
          <a:xfrm>
            <a:off x="8697913" y="1123665"/>
            <a:ext cx="719137" cy="352425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포인트정산</a:t>
            </a:r>
          </a:p>
        </p:txBody>
      </p:sp>
      <p:sp>
        <p:nvSpPr>
          <p:cNvPr id="330" name="Rectangle 24"/>
          <p:cNvSpPr>
            <a:spLocks noChangeArrowheads="1"/>
          </p:cNvSpPr>
          <p:nvPr/>
        </p:nvSpPr>
        <p:spPr bwMode="auto">
          <a:xfrm>
            <a:off x="7119938" y="5578190"/>
            <a:ext cx="720725" cy="230187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미수금갱신</a:t>
            </a:r>
          </a:p>
        </p:txBody>
      </p:sp>
      <p:cxnSp>
        <p:nvCxnSpPr>
          <p:cNvPr id="331" name="꺾인 연결선 183"/>
          <p:cNvCxnSpPr>
            <a:cxnSpLocks noChangeShapeType="1"/>
            <a:stCxn id="321" idx="2"/>
            <a:endCxn id="330" idx="1"/>
          </p:cNvCxnSpPr>
          <p:nvPr/>
        </p:nvCxnSpPr>
        <p:spPr bwMode="auto">
          <a:xfrm rot="16200000" flipH="1">
            <a:off x="6581776" y="5154327"/>
            <a:ext cx="654050" cy="422275"/>
          </a:xfrm>
          <a:prstGeom prst="bentConnector2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2" name="Rectangle 24"/>
          <p:cNvSpPr>
            <a:spLocks noChangeArrowheads="1"/>
          </p:cNvSpPr>
          <p:nvPr/>
        </p:nvSpPr>
        <p:spPr bwMode="auto">
          <a:xfrm>
            <a:off x="8689975" y="5865527"/>
            <a:ext cx="719138" cy="230188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fontAlgn="auto" latinLnBrk="0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rPr>
              <a:t>고객포인트</a:t>
            </a:r>
          </a:p>
        </p:txBody>
      </p:sp>
      <p:sp>
        <p:nvSpPr>
          <p:cNvPr id="333" name="AutoShape 46"/>
          <p:cNvSpPr>
            <a:spLocks noChangeArrowheads="1"/>
          </p:cNvSpPr>
          <p:nvPr/>
        </p:nvSpPr>
        <p:spPr bwMode="gray">
          <a:xfrm>
            <a:off x="407988" y="5863940"/>
            <a:ext cx="1033462" cy="230187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고객정보</a:t>
            </a:r>
          </a:p>
        </p:txBody>
      </p:sp>
      <p:cxnSp>
        <p:nvCxnSpPr>
          <p:cNvPr id="334" name="직선 화살표 연결선 193"/>
          <p:cNvCxnSpPr>
            <a:cxnSpLocks noChangeShapeType="1"/>
            <a:stCxn id="333" idx="1"/>
            <a:endCxn id="332" idx="1"/>
          </p:cNvCxnSpPr>
          <p:nvPr/>
        </p:nvCxnSpPr>
        <p:spPr bwMode="auto">
          <a:xfrm>
            <a:off x="1409700" y="5978240"/>
            <a:ext cx="7280275" cy="1587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5" name="Rectangle 130"/>
          <p:cNvSpPr>
            <a:spLocks noChangeArrowheads="1"/>
          </p:cNvSpPr>
          <p:nvPr/>
        </p:nvSpPr>
        <p:spPr bwMode="auto">
          <a:xfrm>
            <a:off x="3951288" y="5789327"/>
            <a:ext cx="10350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고객정보가 </a:t>
            </a:r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존재시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6" name="AutoShape 46"/>
          <p:cNvSpPr>
            <a:spLocks noChangeArrowheads="1"/>
          </p:cNvSpPr>
          <p:nvPr/>
        </p:nvSpPr>
        <p:spPr bwMode="gray">
          <a:xfrm>
            <a:off x="409575" y="5035265"/>
            <a:ext cx="1033463" cy="230187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rgbClr val="FFFFFF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fontAlgn="auto" latinLnBrk="0">
              <a:lnSpc>
                <a:spcPct val="130000"/>
              </a:lnSpc>
              <a:spcBef>
                <a:spcPts val="0"/>
              </a:spcBef>
              <a:spcAft>
                <a:spcPct val="20000"/>
              </a:spcAft>
              <a:defRPr/>
            </a:pPr>
            <a:r>
              <a:rPr kumimoji="0"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판매결제처리</a:t>
            </a:r>
          </a:p>
        </p:txBody>
      </p:sp>
      <p:cxnSp>
        <p:nvCxnSpPr>
          <p:cNvPr id="337" name="꺾인 연결선 199"/>
          <p:cNvCxnSpPr>
            <a:cxnSpLocks noChangeShapeType="1"/>
            <a:stCxn id="320" idx="1"/>
            <a:endCxn id="336" idx="1"/>
          </p:cNvCxnSpPr>
          <p:nvPr/>
        </p:nvCxnSpPr>
        <p:spPr bwMode="auto">
          <a:xfrm>
            <a:off x="1409700" y="4927315"/>
            <a:ext cx="1588" cy="222250"/>
          </a:xfrm>
          <a:prstGeom prst="bentConnector3">
            <a:avLst>
              <a:gd name="adj1" fmla="val 57498000"/>
            </a:avLst>
          </a:prstGeom>
          <a:noFill/>
          <a:ln w="127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9" name="Text Box 28"/>
          <p:cNvSpPr txBox="1">
            <a:spLocks noChangeArrowheads="1"/>
          </p:cNvSpPr>
          <p:nvPr/>
        </p:nvSpPr>
        <p:spPr bwMode="auto">
          <a:xfrm>
            <a:off x="7904163" y="4300252"/>
            <a:ext cx="720725" cy="230188"/>
          </a:xfrm>
          <a:prstGeom prst="rect">
            <a:avLst/>
          </a:prstGeom>
          <a:solidFill>
            <a:srgbClr val="CCFFFF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fontAlgn="auto" latinLnBrk="0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ko-KR" altLang="en-US" sz="800" b="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itchFamily="18" charset="0"/>
              </a:rPr>
              <a:t>재고검색</a:t>
            </a:r>
          </a:p>
        </p:txBody>
      </p:sp>
      <p:sp>
        <p:nvSpPr>
          <p:cNvPr id="341" name="Line 11"/>
          <p:cNvSpPr>
            <a:spLocks noChangeShapeType="1"/>
          </p:cNvSpPr>
          <p:nvPr/>
        </p:nvSpPr>
        <p:spPr bwMode="auto">
          <a:xfrm flipH="1">
            <a:off x="9418638" y="1107790"/>
            <a:ext cx="9525" cy="5064125"/>
          </a:xfrm>
          <a:prstGeom prst="line">
            <a:avLst/>
          </a:prstGeom>
          <a:noFill/>
          <a:ln w="22225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cxnSp>
        <p:nvCxnSpPr>
          <p:cNvPr id="342" name="꺾인 연결선 115"/>
          <p:cNvCxnSpPr>
            <a:cxnSpLocks noChangeShapeType="1"/>
            <a:stCxn id="306" idx="3"/>
            <a:endCxn id="339" idx="0"/>
          </p:cNvCxnSpPr>
          <p:nvPr/>
        </p:nvCxnSpPr>
        <p:spPr bwMode="auto">
          <a:xfrm>
            <a:off x="5480050" y="4008031"/>
            <a:ext cx="2784476" cy="292221"/>
          </a:xfrm>
          <a:prstGeom prst="bentConnector2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3" name="Rectangle 130"/>
          <p:cNvSpPr>
            <a:spLocks noChangeArrowheads="1"/>
          </p:cNvSpPr>
          <p:nvPr/>
        </p:nvSpPr>
        <p:spPr bwMode="auto">
          <a:xfrm>
            <a:off x="6512577" y="3760434"/>
            <a:ext cx="1835439" cy="228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</a:pP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재고관리구분에따른</a:t>
            </a: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판매 허용 여부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4" name="Rectangle 130"/>
          <p:cNvSpPr>
            <a:spLocks noChangeArrowheads="1"/>
          </p:cNvSpPr>
          <p:nvPr/>
        </p:nvSpPr>
        <p:spPr bwMode="auto">
          <a:xfrm>
            <a:off x="5760998" y="2558867"/>
            <a:ext cx="1043555" cy="63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10000"/>
              </a:lnSpc>
            </a:pP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매장브랜드 유효성</a:t>
            </a:r>
            <a:endParaRPr lang="en-US" altLang="ko-KR" sz="8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10000"/>
              </a:lnSpc>
            </a:pP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판매정지유무</a:t>
            </a:r>
            <a:endParaRPr lang="en-US" altLang="ko-KR" sz="8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10000"/>
              </a:lnSpc>
            </a:pPr>
            <a:r>
              <a:rPr lang="ko-KR" altLang="en-US" sz="8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불러오기횟수</a:t>
            </a:r>
            <a:endParaRPr lang="en-US" altLang="ko-KR" sz="8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0" hangingPunct="1">
              <a:lnSpc>
                <a:spcPct val="110000"/>
              </a:lnSpc>
            </a:pPr>
            <a:r>
              <a:rPr lang="ko-KR" altLang="en-US" sz="8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교환반품기간 등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345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6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매장관리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3</a:t>
            </a:r>
            <a:r>
              <a:rPr lang="en-US" altLang="ko-KR" dirty="0" smtClean="0">
                <a:latin typeface="+mj-ea"/>
                <a:ea typeface="+mj-ea"/>
              </a:rPr>
              <a:t>. </a:t>
            </a:r>
            <a:r>
              <a:rPr lang="ko-KR" altLang="en-US" dirty="0" smtClean="0">
                <a:latin typeface="+mj-ea"/>
                <a:ea typeface="+mj-ea"/>
              </a:rPr>
              <a:t>판매프로세스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8" name="Rectangle 2"/>
          <p:cNvSpPr>
            <a:spLocks noChangeArrowheads="1"/>
          </p:cNvSpPr>
          <p:nvPr/>
        </p:nvSpPr>
        <p:spPr bwMode="gray">
          <a:xfrm>
            <a:off x="461329" y="979716"/>
            <a:ext cx="1371600" cy="9626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33" name="AutoShape 49"/>
          <p:cNvSpPr>
            <a:spLocks noChangeArrowheads="1"/>
          </p:cNvSpPr>
          <p:nvPr/>
        </p:nvSpPr>
        <p:spPr bwMode="auto">
          <a:xfrm>
            <a:off x="3016256" y="1162069"/>
            <a:ext cx="1120775" cy="284163"/>
          </a:xfrm>
          <a:prstGeom prst="flowChartTerminator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00" dirty="0" smtClean="0">
                <a:latin typeface="+mn-ea"/>
                <a:ea typeface="+mn-ea"/>
              </a:rPr>
              <a:t>판매등록시작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34" name="Text Box 50"/>
          <p:cNvSpPr txBox="1">
            <a:spLocks noChangeArrowheads="1"/>
          </p:cNvSpPr>
          <p:nvPr/>
        </p:nvSpPr>
        <p:spPr bwMode="gray">
          <a:xfrm>
            <a:off x="3437118" y="864300"/>
            <a:ext cx="415498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ko-KR" altLang="en-US" sz="900" b="1" dirty="0" smtClean="0">
                <a:solidFill>
                  <a:srgbClr val="0000CC"/>
                </a:solidFill>
                <a:latin typeface="+mn-ea"/>
                <a:ea typeface="+mn-ea"/>
              </a:rPr>
              <a:t>매장</a:t>
            </a:r>
            <a:endParaRPr lang="en-US" altLang="ko-KR" sz="9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grpSp>
        <p:nvGrpSpPr>
          <p:cNvPr id="138" name="Group 51"/>
          <p:cNvGrpSpPr>
            <a:grpSpLocks/>
          </p:cNvGrpSpPr>
          <p:nvPr/>
        </p:nvGrpSpPr>
        <p:grpSpPr bwMode="auto">
          <a:xfrm>
            <a:off x="3257731" y="781750"/>
            <a:ext cx="236537" cy="285750"/>
            <a:chOff x="395" y="2124"/>
            <a:chExt cx="209" cy="318"/>
          </a:xfrm>
          <a:noFill/>
        </p:grpSpPr>
        <p:grpSp>
          <p:nvGrpSpPr>
            <p:cNvPr id="139" name="Group 52"/>
            <p:cNvGrpSpPr>
              <a:grpSpLocks/>
            </p:cNvGrpSpPr>
            <p:nvPr/>
          </p:nvGrpSpPr>
          <p:grpSpPr bwMode="auto">
            <a:xfrm>
              <a:off x="420" y="2124"/>
              <a:ext cx="184" cy="318"/>
              <a:chOff x="282" y="3570"/>
              <a:chExt cx="240" cy="474"/>
            </a:xfrm>
            <a:grpFill/>
          </p:grpSpPr>
          <p:sp>
            <p:nvSpPr>
              <p:cNvPr id="163" name="Oval 53"/>
              <p:cNvSpPr>
                <a:spLocks noChangeArrowheads="1"/>
              </p:cNvSpPr>
              <p:nvPr/>
            </p:nvSpPr>
            <p:spPr bwMode="gray">
              <a:xfrm>
                <a:off x="330" y="3570"/>
                <a:ext cx="132" cy="132"/>
              </a:xfrm>
              <a:prstGeom prst="ellips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4" name="Line 54"/>
              <p:cNvSpPr>
                <a:spLocks noChangeShapeType="1"/>
              </p:cNvSpPr>
              <p:nvPr/>
            </p:nvSpPr>
            <p:spPr bwMode="gray">
              <a:xfrm>
                <a:off x="282" y="3792"/>
                <a:ext cx="240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5" name="Line 55"/>
              <p:cNvSpPr>
                <a:spLocks noChangeShapeType="1"/>
              </p:cNvSpPr>
              <p:nvPr/>
            </p:nvSpPr>
            <p:spPr bwMode="gray">
              <a:xfrm>
                <a:off x="396" y="3708"/>
                <a:ext cx="0" cy="19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6" name="Line 56"/>
              <p:cNvSpPr>
                <a:spLocks noChangeShapeType="1"/>
              </p:cNvSpPr>
              <p:nvPr/>
            </p:nvSpPr>
            <p:spPr bwMode="gray">
              <a:xfrm flipH="1">
                <a:off x="288" y="3906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7" name="Line 57"/>
              <p:cNvSpPr>
                <a:spLocks noChangeShapeType="1"/>
              </p:cNvSpPr>
              <p:nvPr/>
            </p:nvSpPr>
            <p:spPr bwMode="gray">
              <a:xfrm>
                <a:off x="400" y="3904"/>
                <a:ext cx="108" cy="138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0" name="Group 58"/>
            <p:cNvGrpSpPr>
              <a:grpSpLocks/>
            </p:cNvGrpSpPr>
            <p:nvPr/>
          </p:nvGrpSpPr>
          <p:grpSpPr bwMode="auto">
            <a:xfrm>
              <a:off x="395" y="2180"/>
              <a:ext cx="45" cy="127"/>
              <a:chOff x="2597" y="1682"/>
              <a:chExt cx="183" cy="403"/>
            </a:xfrm>
            <a:grpFill/>
          </p:grpSpPr>
          <p:sp>
            <p:nvSpPr>
              <p:cNvPr id="149" name="Freeform 59"/>
              <p:cNvSpPr>
                <a:spLocks/>
              </p:cNvSpPr>
              <p:nvPr/>
            </p:nvSpPr>
            <p:spPr bwMode="auto">
              <a:xfrm>
                <a:off x="2632" y="1739"/>
                <a:ext cx="84" cy="62"/>
              </a:xfrm>
              <a:custGeom>
                <a:avLst/>
                <a:gdLst>
                  <a:gd name="T0" fmla="*/ 45 w 169"/>
                  <a:gd name="T1" fmla="*/ 0 h 124"/>
                  <a:gd name="T2" fmla="*/ 0 w 169"/>
                  <a:gd name="T3" fmla="*/ 57 h 124"/>
                  <a:gd name="T4" fmla="*/ 34 w 169"/>
                  <a:gd name="T5" fmla="*/ 124 h 124"/>
                  <a:gd name="T6" fmla="*/ 78 w 169"/>
                  <a:gd name="T7" fmla="*/ 103 h 124"/>
                  <a:gd name="T8" fmla="*/ 102 w 169"/>
                  <a:gd name="T9" fmla="*/ 57 h 124"/>
                  <a:gd name="T10" fmla="*/ 169 w 169"/>
                  <a:gd name="T11" fmla="*/ 46 h 124"/>
                  <a:gd name="T12" fmla="*/ 91 w 169"/>
                  <a:gd name="T13" fmla="*/ 0 h 124"/>
                  <a:gd name="T14" fmla="*/ 45 w 169"/>
                  <a:gd name="T15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9" h="124">
                    <a:moveTo>
                      <a:pt x="45" y="0"/>
                    </a:moveTo>
                    <a:lnTo>
                      <a:pt x="0" y="57"/>
                    </a:lnTo>
                    <a:lnTo>
                      <a:pt x="34" y="124"/>
                    </a:lnTo>
                    <a:lnTo>
                      <a:pt x="78" y="103"/>
                    </a:lnTo>
                    <a:lnTo>
                      <a:pt x="102" y="57"/>
                    </a:lnTo>
                    <a:lnTo>
                      <a:pt x="169" y="46"/>
                    </a:lnTo>
                    <a:lnTo>
                      <a:pt x="91" y="0"/>
                    </a:lnTo>
                    <a:lnTo>
                      <a:pt x="4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0" name="Freeform 60"/>
              <p:cNvSpPr>
                <a:spLocks/>
              </p:cNvSpPr>
              <p:nvPr/>
            </p:nvSpPr>
            <p:spPr bwMode="auto">
              <a:xfrm rot="20633656" flipV="1">
                <a:off x="2711" y="1790"/>
                <a:ext cx="69" cy="295"/>
              </a:xfrm>
              <a:custGeom>
                <a:avLst/>
                <a:gdLst>
                  <a:gd name="T0" fmla="*/ 103 w 149"/>
                  <a:gd name="T1" fmla="*/ 0 h 194"/>
                  <a:gd name="T2" fmla="*/ 149 w 149"/>
                  <a:gd name="T3" fmla="*/ 23 h 194"/>
                  <a:gd name="T4" fmla="*/ 126 w 149"/>
                  <a:gd name="T5" fmla="*/ 49 h 194"/>
                  <a:gd name="T6" fmla="*/ 111 w 149"/>
                  <a:gd name="T7" fmla="*/ 71 h 194"/>
                  <a:gd name="T8" fmla="*/ 99 w 149"/>
                  <a:gd name="T9" fmla="*/ 88 h 194"/>
                  <a:gd name="T10" fmla="*/ 89 w 149"/>
                  <a:gd name="T11" fmla="*/ 103 h 194"/>
                  <a:gd name="T12" fmla="*/ 82 w 149"/>
                  <a:gd name="T13" fmla="*/ 120 h 194"/>
                  <a:gd name="T14" fmla="*/ 75 w 149"/>
                  <a:gd name="T15" fmla="*/ 138 h 194"/>
                  <a:gd name="T16" fmla="*/ 68 w 149"/>
                  <a:gd name="T17" fmla="*/ 163 h 194"/>
                  <a:gd name="T18" fmla="*/ 57 w 149"/>
                  <a:gd name="T19" fmla="*/ 194 h 194"/>
                  <a:gd name="T20" fmla="*/ 0 w 149"/>
                  <a:gd name="T21" fmla="*/ 194 h 194"/>
                  <a:gd name="T22" fmla="*/ 9 w 149"/>
                  <a:gd name="T23" fmla="*/ 168 h 194"/>
                  <a:gd name="T24" fmla="*/ 20 w 149"/>
                  <a:gd name="T25" fmla="*/ 143 h 194"/>
                  <a:gd name="T26" fmla="*/ 31 w 149"/>
                  <a:gd name="T27" fmla="*/ 118 h 194"/>
                  <a:gd name="T28" fmla="*/ 45 w 149"/>
                  <a:gd name="T29" fmla="*/ 94 h 194"/>
                  <a:gd name="T30" fmla="*/ 59 w 149"/>
                  <a:gd name="T31" fmla="*/ 69 h 194"/>
                  <a:gd name="T32" fmla="*/ 72 w 149"/>
                  <a:gd name="T33" fmla="*/ 46 h 194"/>
                  <a:gd name="T34" fmla="*/ 88 w 149"/>
                  <a:gd name="T35" fmla="*/ 23 h 194"/>
                  <a:gd name="T36" fmla="*/ 103 w 149"/>
                  <a:gd name="T37" fmla="*/ 0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9" h="194">
                    <a:moveTo>
                      <a:pt x="103" y="0"/>
                    </a:moveTo>
                    <a:lnTo>
                      <a:pt x="149" y="23"/>
                    </a:lnTo>
                    <a:lnTo>
                      <a:pt x="126" y="49"/>
                    </a:lnTo>
                    <a:lnTo>
                      <a:pt x="111" y="71"/>
                    </a:lnTo>
                    <a:lnTo>
                      <a:pt x="99" y="88"/>
                    </a:lnTo>
                    <a:lnTo>
                      <a:pt x="89" y="103"/>
                    </a:lnTo>
                    <a:lnTo>
                      <a:pt x="82" y="120"/>
                    </a:lnTo>
                    <a:lnTo>
                      <a:pt x="75" y="138"/>
                    </a:lnTo>
                    <a:lnTo>
                      <a:pt x="68" y="163"/>
                    </a:lnTo>
                    <a:lnTo>
                      <a:pt x="57" y="194"/>
                    </a:lnTo>
                    <a:lnTo>
                      <a:pt x="0" y="194"/>
                    </a:lnTo>
                    <a:lnTo>
                      <a:pt x="9" y="168"/>
                    </a:lnTo>
                    <a:lnTo>
                      <a:pt x="20" y="143"/>
                    </a:lnTo>
                    <a:lnTo>
                      <a:pt x="31" y="118"/>
                    </a:lnTo>
                    <a:lnTo>
                      <a:pt x="45" y="94"/>
                    </a:lnTo>
                    <a:lnTo>
                      <a:pt x="59" y="69"/>
                    </a:lnTo>
                    <a:lnTo>
                      <a:pt x="72" y="46"/>
                    </a:lnTo>
                    <a:lnTo>
                      <a:pt x="88" y="23"/>
                    </a:lnTo>
                    <a:lnTo>
                      <a:pt x="10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1" name="Freeform 61"/>
              <p:cNvSpPr>
                <a:spLocks/>
              </p:cNvSpPr>
              <p:nvPr/>
            </p:nvSpPr>
            <p:spPr bwMode="auto">
              <a:xfrm>
                <a:off x="2683" y="1704"/>
                <a:ext cx="79" cy="109"/>
              </a:xfrm>
              <a:custGeom>
                <a:avLst/>
                <a:gdLst>
                  <a:gd name="T0" fmla="*/ 0 w 158"/>
                  <a:gd name="T1" fmla="*/ 138 h 216"/>
                  <a:gd name="T2" fmla="*/ 0 w 158"/>
                  <a:gd name="T3" fmla="*/ 195 h 216"/>
                  <a:gd name="T4" fmla="*/ 91 w 158"/>
                  <a:gd name="T5" fmla="*/ 216 h 216"/>
                  <a:gd name="T6" fmla="*/ 158 w 158"/>
                  <a:gd name="T7" fmla="*/ 183 h 216"/>
                  <a:gd name="T8" fmla="*/ 148 w 158"/>
                  <a:gd name="T9" fmla="*/ 103 h 216"/>
                  <a:gd name="T10" fmla="*/ 126 w 158"/>
                  <a:gd name="T11" fmla="*/ 81 h 216"/>
                  <a:gd name="T12" fmla="*/ 111 w 158"/>
                  <a:gd name="T13" fmla="*/ 66 h 216"/>
                  <a:gd name="T14" fmla="*/ 98 w 158"/>
                  <a:gd name="T15" fmla="*/ 53 h 216"/>
                  <a:gd name="T16" fmla="*/ 88 w 158"/>
                  <a:gd name="T17" fmla="*/ 44 h 216"/>
                  <a:gd name="T18" fmla="*/ 74 w 158"/>
                  <a:gd name="T19" fmla="*/ 35 h 216"/>
                  <a:gd name="T20" fmla="*/ 57 w 158"/>
                  <a:gd name="T21" fmla="*/ 26 h 216"/>
                  <a:gd name="T22" fmla="*/ 32 w 158"/>
                  <a:gd name="T23" fmla="*/ 14 h 216"/>
                  <a:gd name="T24" fmla="*/ 0 w 158"/>
                  <a:gd name="T25" fmla="*/ 0 h 216"/>
                  <a:gd name="T26" fmla="*/ 0 w 158"/>
                  <a:gd name="T27" fmla="*/ 64 h 216"/>
                  <a:gd name="T28" fmla="*/ 17 w 158"/>
                  <a:gd name="T29" fmla="*/ 72 h 216"/>
                  <a:gd name="T30" fmla="*/ 34 w 158"/>
                  <a:gd name="T31" fmla="*/ 81 h 216"/>
                  <a:gd name="T32" fmla="*/ 48 w 158"/>
                  <a:gd name="T33" fmla="*/ 92 h 216"/>
                  <a:gd name="T34" fmla="*/ 61 w 158"/>
                  <a:gd name="T35" fmla="*/ 103 h 216"/>
                  <a:gd name="T36" fmla="*/ 74 w 158"/>
                  <a:gd name="T37" fmla="*/ 116 h 216"/>
                  <a:gd name="T38" fmla="*/ 85 w 158"/>
                  <a:gd name="T39" fmla="*/ 130 h 216"/>
                  <a:gd name="T40" fmla="*/ 94 w 158"/>
                  <a:gd name="T41" fmla="*/ 144 h 216"/>
                  <a:gd name="T42" fmla="*/ 103 w 158"/>
                  <a:gd name="T43" fmla="*/ 159 h 216"/>
                  <a:gd name="T44" fmla="*/ 91 w 158"/>
                  <a:gd name="T45" fmla="*/ 161 h 216"/>
                  <a:gd name="T46" fmla="*/ 77 w 158"/>
                  <a:gd name="T47" fmla="*/ 161 h 216"/>
                  <a:gd name="T48" fmla="*/ 63 w 158"/>
                  <a:gd name="T49" fmla="*/ 161 h 216"/>
                  <a:gd name="T50" fmla="*/ 49 w 158"/>
                  <a:gd name="T51" fmla="*/ 158 h 216"/>
                  <a:gd name="T52" fmla="*/ 35 w 158"/>
                  <a:gd name="T53" fmla="*/ 155 h 216"/>
                  <a:gd name="T54" fmla="*/ 23 w 158"/>
                  <a:gd name="T55" fmla="*/ 150 h 216"/>
                  <a:gd name="T56" fmla="*/ 11 w 158"/>
                  <a:gd name="T57" fmla="*/ 144 h 216"/>
                  <a:gd name="T58" fmla="*/ 0 w 158"/>
                  <a:gd name="T59" fmla="*/ 138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8" h="216">
                    <a:moveTo>
                      <a:pt x="0" y="138"/>
                    </a:moveTo>
                    <a:lnTo>
                      <a:pt x="0" y="195"/>
                    </a:lnTo>
                    <a:lnTo>
                      <a:pt x="91" y="216"/>
                    </a:lnTo>
                    <a:lnTo>
                      <a:pt x="158" y="183"/>
                    </a:lnTo>
                    <a:lnTo>
                      <a:pt x="148" y="103"/>
                    </a:lnTo>
                    <a:lnTo>
                      <a:pt x="126" y="81"/>
                    </a:lnTo>
                    <a:lnTo>
                      <a:pt x="111" y="66"/>
                    </a:lnTo>
                    <a:lnTo>
                      <a:pt x="98" y="53"/>
                    </a:lnTo>
                    <a:lnTo>
                      <a:pt x="88" y="44"/>
                    </a:lnTo>
                    <a:lnTo>
                      <a:pt x="74" y="35"/>
                    </a:lnTo>
                    <a:lnTo>
                      <a:pt x="57" y="26"/>
                    </a:lnTo>
                    <a:lnTo>
                      <a:pt x="32" y="14"/>
                    </a:lnTo>
                    <a:lnTo>
                      <a:pt x="0" y="0"/>
                    </a:lnTo>
                    <a:lnTo>
                      <a:pt x="0" y="64"/>
                    </a:lnTo>
                    <a:lnTo>
                      <a:pt x="17" y="72"/>
                    </a:lnTo>
                    <a:lnTo>
                      <a:pt x="34" y="81"/>
                    </a:lnTo>
                    <a:lnTo>
                      <a:pt x="48" y="92"/>
                    </a:lnTo>
                    <a:lnTo>
                      <a:pt x="61" y="103"/>
                    </a:lnTo>
                    <a:lnTo>
                      <a:pt x="74" y="116"/>
                    </a:lnTo>
                    <a:lnTo>
                      <a:pt x="85" y="130"/>
                    </a:lnTo>
                    <a:lnTo>
                      <a:pt x="94" y="144"/>
                    </a:lnTo>
                    <a:lnTo>
                      <a:pt x="103" y="159"/>
                    </a:lnTo>
                    <a:lnTo>
                      <a:pt x="91" y="161"/>
                    </a:lnTo>
                    <a:lnTo>
                      <a:pt x="77" y="161"/>
                    </a:lnTo>
                    <a:lnTo>
                      <a:pt x="63" y="161"/>
                    </a:lnTo>
                    <a:lnTo>
                      <a:pt x="49" y="158"/>
                    </a:lnTo>
                    <a:lnTo>
                      <a:pt x="35" y="155"/>
                    </a:lnTo>
                    <a:lnTo>
                      <a:pt x="23" y="150"/>
                    </a:lnTo>
                    <a:lnTo>
                      <a:pt x="11" y="144"/>
                    </a:lnTo>
                    <a:lnTo>
                      <a:pt x="0" y="1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62" name="Freeform 62"/>
              <p:cNvSpPr>
                <a:spLocks/>
              </p:cNvSpPr>
              <p:nvPr/>
            </p:nvSpPr>
            <p:spPr bwMode="auto">
              <a:xfrm>
                <a:off x="2597" y="1682"/>
                <a:ext cx="87" cy="154"/>
              </a:xfrm>
              <a:custGeom>
                <a:avLst/>
                <a:gdLst>
                  <a:gd name="T0" fmla="*/ 172 w 174"/>
                  <a:gd name="T1" fmla="*/ 109 h 307"/>
                  <a:gd name="T2" fmla="*/ 172 w 174"/>
                  <a:gd name="T3" fmla="*/ 45 h 307"/>
                  <a:gd name="T4" fmla="*/ 158 w 174"/>
                  <a:gd name="T5" fmla="*/ 40 h 307"/>
                  <a:gd name="T6" fmla="*/ 146 w 174"/>
                  <a:gd name="T7" fmla="*/ 35 h 307"/>
                  <a:gd name="T8" fmla="*/ 132 w 174"/>
                  <a:gd name="T9" fmla="*/ 31 h 307"/>
                  <a:gd name="T10" fmla="*/ 120 w 174"/>
                  <a:gd name="T11" fmla="*/ 25 h 307"/>
                  <a:gd name="T12" fmla="*/ 108 w 174"/>
                  <a:gd name="T13" fmla="*/ 19 h 307"/>
                  <a:gd name="T14" fmla="*/ 95 w 174"/>
                  <a:gd name="T15" fmla="*/ 12 h 307"/>
                  <a:gd name="T16" fmla="*/ 81 w 174"/>
                  <a:gd name="T17" fmla="*/ 6 h 307"/>
                  <a:gd name="T18" fmla="*/ 69 w 174"/>
                  <a:gd name="T19" fmla="*/ 0 h 307"/>
                  <a:gd name="T20" fmla="*/ 0 w 174"/>
                  <a:gd name="T21" fmla="*/ 217 h 307"/>
                  <a:gd name="T22" fmla="*/ 5 w 174"/>
                  <a:gd name="T23" fmla="*/ 231 h 307"/>
                  <a:gd name="T24" fmla="*/ 12 w 174"/>
                  <a:gd name="T25" fmla="*/ 244 h 307"/>
                  <a:gd name="T26" fmla="*/ 22 w 174"/>
                  <a:gd name="T27" fmla="*/ 258 h 307"/>
                  <a:gd name="T28" fmla="*/ 31 w 174"/>
                  <a:gd name="T29" fmla="*/ 271 h 307"/>
                  <a:gd name="T30" fmla="*/ 43 w 174"/>
                  <a:gd name="T31" fmla="*/ 281 h 307"/>
                  <a:gd name="T32" fmla="*/ 55 w 174"/>
                  <a:gd name="T33" fmla="*/ 292 h 307"/>
                  <a:gd name="T34" fmla="*/ 68 w 174"/>
                  <a:gd name="T35" fmla="*/ 300 h 307"/>
                  <a:gd name="T36" fmla="*/ 80 w 174"/>
                  <a:gd name="T37" fmla="*/ 307 h 307"/>
                  <a:gd name="T38" fmla="*/ 147 w 174"/>
                  <a:gd name="T39" fmla="*/ 286 h 307"/>
                  <a:gd name="T40" fmla="*/ 160 w 174"/>
                  <a:gd name="T41" fmla="*/ 264 h 307"/>
                  <a:gd name="T42" fmla="*/ 169 w 174"/>
                  <a:gd name="T43" fmla="*/ 237 h 307"/>
                  <a:gd name="T44" fmla="*/ 174 w 174"/>
                  <a:gd name="T45" fmla="*/ 209 h 307"/>
                  <a:gd name="T46" fmla="*/ 172 w 174"/>
                  <a:gd name="T47" fmla="*/ 183 h 307"/>
                  <a:gd name="T48" fmla="*/ 166 w 174"/>
                  <a:gd name="T49" fmla="*/ 192 h 307"/>
                  <a:gd name="T50" fmla="*/ 161 w 174"/>
                  <a:gd name="T51" fmla="*/ 201 h 307"/>
                  <a:gd name="T52" fmla="*/ 155 w 174"/>
                  <a:gd name="T53" fmla="*/ 212 h 307"/>
                  <a:gd name="T54" fmla="*/ 147 w 174"/>
                  <a:gd name="T55" fmla="*/ 221 h 307"/>
                  <a:gd name="T56" fmla="*/ 140 w 174"/>
                  <a:gd name="T57" fmla="*/ 231 h 307"/>
                  <a:gd name="T58" fmla="*/ 132 w 174"/>
                  <a:gd name="T59" fmla="*/ 240 h 307"/>
                  <a:gd name="T60" fmla="*/ 123 w 174"/>
                  <a:gd name="T61" fmla="*/ 246 h 307"/>
                  <a:gd name="T62" fmla="*/ 114 w 174"/>
                  <a:gd name="T63" fmla="*/ 251 h 307"/>
                  <a:gd name="T64" fmla="*/ 69 w 174"/>
                  <a:gd name="T65" fmla="*/ 228 h 307"/>
                  <a:gd name="T66" fmla="*/ 75 w 174"/>
                  <a:gd name="T67" fmla="*/ 191 h 307"/>
                  <a:gd name="T68" fmla="*/ 84 w 174"/>
                  <a:gd name="T69" fmla="*/ 154 h 307"/>
                  <a:gd name="T70" fmla="*/ 92 w 174"/>
                  <a:gd name="T71" fmla="*/ 117 h 307"/>
                  <a:gd name="T72" fmla="*/ 103 w 174"/>
                  <a:gd name="T73" fmla="*/ 80 h 307"/>
                  <a:gd name="T74" fmla="*/ 172 w 174"/>
                  <a:gd name="T75" fmla="*/ 109 h 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74" h="307">
                    <a:moveTo>
                      <a:pt x="172" y="109"/>
                    </a:moveTo>
                    <a:lnTo>
                      <a:pt x="172" y="45"/>
                    </a:lnTo>
                    <a:lnTo>
                      <a:pt x="158" y="40"/>
                    </a:lnTo>
                    <a:lnTo>
                      <a:pt x="146" y="35"/>
                    </a:lnTo>
                    <a:lnTo>
                      <a:pt x="132" y="31"/>
                    </a:lnTo>
                    <a:lnTo>
                      <a:pt x="120" y="25"/>
                    </a:lnTo>
                    <a:lnTo>
                      <a:pt x="108" y="19"/>
                    </a:lnTo>
                    <a:lnTo>
                      <a:pt x="95" y="12"/>
                    </a:lnTo>
                    <a:lnTo>
                      <a:pt x="81" y="6"/>
                    </a:lnTo>
                    <a:lnTo>
                      <a:pt x="69" y="0"/>
                    </a:lnTo>
                    <a:lnTo>
                      <a:pt x="0" y="217"/>
                    </a:lnTo>
                    <a:lnTo>
                      <a:pt x="5" y="231"/>
                    </a:lnTo>
                    <a:lnTo>
                      <a:pt x="12" y="244"/>
                    </a:lnTo>
                    <a:lnTo>
                      <a:pt x="22" y="258"/>
                    </a:lnTo>
                    <a:lnTo>
                      <a:pt x="31" y="271"/>
                    </a:lnTo>
                    <a:lnTo>
                      <a:pt x="43" y="281"/>
                    </a:lnTo>
                    <a:lnTo>
                      <a:pt x="55" y="292"/>
                    </a:lnTo>
                    <a:lnTo>
                      <a:pt x="68" y="300"/>
                    </a:lnTo>
                    <a:lnTo>
                      <a:pt x="80" y="307"/>
                    </a:lnTo>
                    <a:lnTo>
                      <a:pt x="147" y="286"/>
                    </a:lnTo>
                    <a:lnTo>
                      <a:pt x="160" y="264"/>
                    </a:lnTo>
                    <a:lnTo>
                      <a:pt x="169" y="237"/>
                    </a:lnTo>
                    <a:lnTo>
                      <a:pt x="174" y="209"/>
                    </a:lnTo>
                    <a:lnTo>
                      <a:pt x="172" y="183"/>
                    </a:lnTo>
                    <a:lnTo>
                      <a:pt x="166" y="192"/>
                    </a:lnTo>
                    <a:lnTo>
                      <a:pt x="161" y="201"/>
                    </a:lnTo>
                    <a:lnTo>
                      <a:pt x="155" y="212"/>
                    </a:lnTo>
                    <a:lnTo>
                      <a:pt x="147" y="221"/>
                    </a:lnTo>
                    <a:lnTo>
                      <a:pt x="140" y="231"/>
                    </a:lnTo>
                    <a:lnTo>
                      <a:pt x="132" y="240"/>
                    </a:lnTo>
                    <a:lnTo>
                      <a:pt x="123" y="246"/>
                    </a:lnTo>
                    <a:lnTo>
                      <a:pt x="114" y="251"/>
                    </a:lnTo>
                    <a:lnTo>
                      <a:pt x="69" y="228"/>
                    </a:lnTo>
                    <a:lnTo>
                      <a:pt x="75" y="191"/>
                    </a:lnTo>
                    <a:lnTo>
                      <a:pt x="84" y="154"/>
                    </a:lnTo>
                    <a:lnTo>
                      <a:pt x="92" y="117"/>
                    </a:lnTo>
                    <a:lnTo>
                      <a:pt x="103" y="80"/>
                    </a:lnTo>
                    <a:lnTo>
                      <a:pt x="17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2" name="Group 63"/>
            <p:cNvGrpSpPr>
              <a:grpSpLocks/>
            </p:cNvGrpSpPr>
            <p:nvPr/>
          </p:nvGrpSpPr>
          <p:grpSpPr bwMode="auto">
            <a:xfrm>
              <a:off x="511" y="2203"/>
              <a:ext cx="77" cy="62"/>
              <a:chOff x="3235" y="1597"/>
              <a:chExt cx="263" cy="200"/>
            </a:xfrm>
            <a:grpFill/>
          </p:grpSpPr>
          <p:sp>
            <p:nvSpPr>
              <p:cNvPr id="146" name="Freeform 64"/>
              <p:cNvSpPr>
                <a:spLocks/>
              </p:cNvSpPr>
              <p:nvPr/>
            </p:nvSpPr>
            <p:spPr bwMode="auto">
              <a:xfrm>
                <a:off x="3321" y="1647"/>
                <a:ext cx="114" cy="75"/>
              </a:xfrm>
              <a:custGeom>
                <a:avLst/>
                <a:gdLst>
                  <a:gd name="T0" fmla="*/ 0 w 229"/>
                  <a:gd name="T1" fmla="*/ 115 h 149"/>
                  <a:gd name="T2" fmla="*/ 81 w 229"/>
                  <a:gd name="T3" fmla="*/ 104 h 149"/>
                  <a:gd name="T4" fmla="*/ 115 w 229"/>
                  <a:gd name="T5" fmla="*/ 25 h 149"/>
                  <a:gd name="T6" fmla="*/ 160 w 229"/>
                  <a:gd name="T7" fmla="*/ 35 h 149"/>
                  <a:gd name="T8" fmla="*/ 195 w 229"/>
                  <a:gd name="T9" fmla="*/ 0 h 149"/>
                  <a:gd name="T10" fmla="*/ 229 w 229"/>
                  <a:gd name="T11" fmla="*/ 25 h 149"/>
                  <a:gd name="T12" fmla="*/ 172 w 229"/>
                  <a:gd name="T13" fmla="*/ 92 h 149"/>
                  <a:gd name="T14" fmla="*/ 126 w 229"/>
                  <a:gd name="T15" fmla="*/ 81 h 149"/>
                  <a:gd name="T16" fmla="*/ 115 w 229"/>
                  <a:gd name="T17" fmla="*/ 126 h 149"/>
                  <a:gd name="T18" fmla="*/ 25 w 229"/>
                  <a:gd name="T19" fmla="*/ 149 h 149"/>
                  <a:gd name="T20" fmla="*/ 0 w 229"/>
                  <a:gd name="T21" fmla="*/ 115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9" h="149">
                    <a:moveTo>
                      <a:pt x="0" y="115"/>
                    </a:moveTo>
                    <a:lnTo>
                      <a:pt x="81" y="104"/>
                    </a:lnTo>
                    <a:lnTo>
                      <a:pt x="115" y="25"/>
                    </a:lnTo>
                    <a:lnTo>
                      <a:pt x="160" y="35"/>
                    </a:lnTo>
                    <a:lnTo>
                      <a:pt x="195" y="0"/>
                    </a:lnTo>
                    <a:lnTo>
                      <a:pt x="229" y="25"/>
                    </a:lnTo>
                    <a:lnTo>
                      <a:pt x="172" y="92"/>
                    </a:lnTo>
                    <a:lnTo>
                      <a:pt x="126" y="81"/>
                    </a:lnTo>
                    <a:lnTo>
                      <a:pt x="115" y="126"/>
                    </a:lnTo>
                    <a:lnTo>
                      <a:pt x="25" y="149"/>
                    </a:lnTo>
                    <a:lnTo>
                      <a:pt x="0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7" name="Freeform 65"/>
              <p:cNvSpPr>
                <a:spLocks/>
              </p:cNvSpPr>
              <p:nvPr/>
            </p:nvSpPr>
            <p:spPr bwMode="auto">
              <a:xfrm>
                <a:off x="3370" y="1597"/>
                <a:ext cx="128" cy="167"/>
              </a:xfrm>
              <a:custGeom>
                <a:avLst/>
                <a:gdLst>
                  <a:gd name="T0" fmla="*/ 0 w 257"/>
                  <a:gd name="T1" fmla="*/ 273 h 333"/>
                  <a:gd name="T2" fmla="*/ 0 w 257"/>
                  <a:gd name="T3" fmla="*/ 333 h 333"/>
                  <a:gd name="T4" fmla="*/ 7 w 257"/>
                  <a:gd name="T5" fmla="*/ 318 h 333"/>
                  <a:gd name="T6" fmla="*/ 119 w 257"/>
                  <a:gd name="T7" fmla="*/ 307 h 333"/>
                  <a:gd name="T8" fmla="*/ 131 w 257"/>
                  <a:gd name="T9" fmla="*/ 239 h 333"/>
                  <a:gd name="T10" fmla="*/ 223 w 257"/>
                  <a:gd name="T11" fmla="*/ 227 h 333"/>
                  <a:gd name="T12" fmla="*/ 257 w 257"/>
                  <a:gd name="T13" fmla="*/ 149 h 333"/>
                  <a:gd name="T14" fmla="*/ 211 w 257"/>
                  <a:gd name="T15" fmla="*/ 33 h 333"/>
                  <a:gd name="T16" fmla="*/ 189 w 257"/>
                  <a:gd name="T17" fmla="*/ 21 h 333"/>
                  <a:gd name="T18" fmla="*/ 163 w 257"/>
                  <a:gd name="T19" fmla="*/ 12 h 333"/>
                  <a:gd name="T20" fmla="*/ 136 w 257"/>
                  <a:gd name="T21" fmla="*/ 4 h 333"/>
                  <a:gd name="T22" fmla="*/ 108 w 257"/>
                  <a:gd name="T23" fmla="*/ 0 h 333"/>
                  <a:gd name="T24" fmla="*/ 79 w 257"/>
                  <a:gd name="T25" fmla="*/ 0 h 333"/>
                  <a:gd name="T26" fmla="*/ 50 w 257"/>
                  <a:gd name="T27" fmla="*/ 1 h 333"/>
                  <a:gd name="T28" fmla="*/ 23 w 257"/>
                  <a:gd name="T29" fmla="*/ 7 h 333"/>
                  <a:gd name="T30" fmla="*/ 0 w 257"/>
                  <a:gd name="T31" fmla="*/ 18 h 333"/>
                  <a:gd name="T32" fmla="*/ 0 w 257"/>
                  <a:gd name="T33" fmla="*/ 70 h 333"/>
                  <a:gd name="T34" fmla="*/ 62 w 257"/>
                  <a:gd name="T35" fmla="*/ 44 h 333"/>
                  <a:gd name="T36" fmla="*/ 142 w 257"/>
                  <a:gd name="T37" fmla="*/ 56 h 333"/>
                  <a:gd name="T38" fmla="*/ 200 w 257"/>
                  <a:gd name="T39" fmla="*/ 126 h 333"/>
                  <a:gd name="T40" fmla="*/ 176 w 257"/>
                  <a:gd name="T41" fmla="*/ 182 h 333"/>
                  <a:gd name="T42" fmla="*/ 97 w 257"/>
                  <a:gd name="T43" fmla="*/ 205 h 333"/>
                  <a:gd name="T44" fmla="*/ 85 w 257"/>
                  <a:gd name="T45" fmla="*/ 273 h 333"/>
                  <a:gd name="T46" fmla="*/ 0 w 257"/>
                  <a:gd name="T47" fmla="*/ 273 h 3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7" h="333">
                    <a:moveTo>
                      <a:pt x="0" y="273"/>
                    </a:moveTo>
                    <a:lnTo>
                      <a:pt x="0" y="333"/>
                    </a:lnTo>
                    <a:lnTo>
                      <a:pt x="7" y="318"/>
                    </a:lnTo>
                    <a:lnTo>
                      <a:pt x="119" y="307"/>
                    </a:lnTo>
                    <a:lnTo>
                      <a:pt x="131" y="239"/>
                    </a:lnTo>
                    <a:lnTo>
                      <a:pt x="223" y="227"/>
                    </a:lnTo>
                    <a:lnTo>
                      <a:pt x="257" y="149"/>
                    </a:lnTo>
                    <a:lnTo>
                      <a:pt x="211" y="33"/>
                    </a:lnTo>
                    <a:lnTo>
                      <a:pt x="189" y="21"/>
                    </a:lnTo>
                    <a:lnTo>
                      <a:pt x="163" y="12"/>
                    </a:lnTo>
                    <a:lnTo>
                      <a:pt x="136" y="4"/>
                    </a:lnTo>
                    <a:lnTo>
                      <a:pt x="108" y="0"/>
                    </a:lnTo>
                    <a:lnTo>
                      <a:pt x="79" y="0"/>
                    </a:lnTo>
                    <a:lnTo>
                      <a:pt x="50" y="1"/>
                    </a:lnTo>
                    <a:lnTo>
                      <a:pt x="23" y="7"/>
                    </a:lnTo>
                    <a:lnTo>
                      <a:pt x="0" y="18"/>
                    </a:lnTo>
                    <a:lnTo>
                      <a:pt x="0" y="70"/>
                    </a:lnTo>
                    <a:lnTo>
                      <a:pt x="62" y="44"/>
                    </a:lnTo>
                    <a:lnTo>
                      <a:pt x="142" y="56"/>
                    </a:lnTo>
                    <a:lnTo>
                      <a:pt x="200" y="126"/>
                    </a:lnTo>
                    <a:lnTo>
                      <a:pt x="176" y="182"/>
                    </a:lnTo>
                    <a:lnTo>
                      <a:pt x="97" y="205"/>
                    </a:lnTo>
                    <a:lnTo>
                      <a:pt x="85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8" name="Freeform 66"/>
              <p:cNvSpPr>
                <a:spLocks/>
              </p:cNvSpPr>
              <p:nvPr/>
            </p:nvSpPr>
            <p:spPr bwMode="auto">
              <a:xfrm>
                <a:off x="3235" y="1606"/>
                <a:ext cx="135" cy="191"/>
              </a:xfrm>
              <a:custGeom>
                <a:avLst/>
                <a:gdLst>
                  <a:gd name="T0" fmla="*/ 268 w 270"/>
                  <a:gd name="T1" fmla="*/ 52 h 383"/>
                  <a:gd name="T2" fmla="*/ 268 w 270"/>
                  <a:gd name="T3" fmla="*/ 0 h 383"/>
                  <a:gd name="T4" fmla="*/ 244 w 270"/>
                  <a:gd name="T5" fmla="*/ 3 h 383"/>
                  <a:gd name="T6" fmla="*/ 219 w 270"/>
                  <a:gd name="T7" fmla="*/ 12 h 383"/>
                  <a:gd name="T8" fmla="*/ 195 w 270"/>
                  <a:gd name="T9" fmla="*/ 26 h 383"/>
                  <a:gd name="T10" fmla="*/ 172 w 270"/>
                  <a:gd name="T11" fmla="*/ 45 h 383"/>
                  <a:gd name="T12" fmla="*/ 149 w 270"/>
                  <a:gd name="T13" fmla="*/ 68 h 383"/>
                  <a:gd name="T14" fmla="*/ 129 w 270"/>
                  <a:gd name="T15" fmla="*/ 92 h 383"/>
                  <a:gd name="T16" fmla="*/ 107 w 270"/>
                  <a:gd name="T17" fmla="*/ 121 h 383"/>
                  <a:gd name="T18" fmla="*/ 89 w 270"/>
                  <a:gd name="T19" fmla="*/ 151 h 383"/>
                  <a:gd name="T20" fmla="*/ 70 w 270"/>
                  <a:gd name="T21" fmla="*/ 181 h 383"/>
                  <a:gd name="T22" fmla="*/ 55 w 270"/>
                  <a:gd name="T23" fmla="*/ 214 h 383"/>
                  <a:gd name="T24" fmla="*/ 41 w 270"/>
                  <a:gd name="T25" fmla="*/ 246 h 383"/>
                  <a:gd name="T26" fmla="*/ 27 w 270"/>
                  <a:gd name="T27" fmla="*/ 277 h 383"/>
                  <a:gd name="T28" fmla="*/ 18 w 270"/>
                  <a:gd name="T29" fmla="*/ 306 h 383"/>
                  <a:gd name="T30" fmla="*/ 9 w 270"/>
                  <a:gd name="T31" fmla="*/ 333 h 383"/>
                  <a:gd name="T32" fmla="*/ 3 w 270"/>
                  <a:gd name="T33" fmla="*/ 358 h 383"/>
                  <a:gd name="T34" fmla="*/ 0 w 270"/>
                  <a:gd name="T35" fmla="*/ 380 h 383"/>
                  <a:gd name="T36" fmla="*/ 13 w 270"/>
                  <a:gd name="T37" fmla="*/ 381 h 383"/>
                  <a:gd name="T38" fmla="*/ 27 w 270"/>
                  <a:gd name="T39" fmla="*/ 383 h 383"/>
                  <a:gd name="T40" fmla="*/ 41 w 270"/>
                  <a:gd name="T41" fmla="*/ 383 h 383"/>
                  <a:gd name="T42" fmla="*/ 56 w 270"/>
                  <a:gd name="T43" fmla="*/ 381 h 383"/>
                  <a:gd name="T44" fmla="*/ 72 w 270"/>
                  <a:gd name="T45" fmla="*/ 380 h 383"/>
                  <a:gd name="T46" fmla="*/ 89 w 270"/>
                  <a:gd name="T47" fmla="*/ 378 h 383"/>
                  <a:gd name="T48" fmla="*/ 104 w 270"/>
                  <a:gd name="T49" fmla="*/ 375 h 383"/>
                  <a:gd name="T50" fmla="*/ 121 w 270"/>
                  <a:gd name="T51" fmla="*/ 372 h 383"/>
                  <a:gd name="T52" fmla="*/ 138 w 270"/>
                  <a:gd name="T53" fmla="*/ 370 h 383"/>
                  <a:gd name="T54" fmla="*/ 155 w 270"/>
                  <a:gd name="T55" fmla="*/ 367 h 383"/>
                  <a:gd name="T56" fmla="*/ 172 w 270"/>
                  <a:gd name="T57" fmla="*/ 364 h 383"/>
                  <a:gd name="T58" fmla="*/ 187 w 270"/>
                  <a:gd name="T59" fmla="*/ 361 h 383"/>
                  <a:gd name="T60" fmla="*/ 204 w 270"/>
                  <a:gd name="T61" fmla="*/ 360 h 383"/>
                  <a:gd name="T62" fmla="*/ 221 w 270"/>
                  <a:gd name="T63" fmla="*/ 358 h 383"/>
                  <a:gd name="T64" fmla="*/ 236 w 270"/>
                  <a:gd name="T65" fmla="*/ 356 h 383"/>
                  <a:gd name="T66" fmla="*/ 251 w 270"/>
                  <a:gd name="T67" fmla="*/ 356 h 383"/>
                  <a:gd name="T68" fmla="*/ 262 w 270"/>
                  <a:gd name="T69" fmla="*/ 335 h 383"/>
                  <a:gd name="T70" fmla="*/ 268 w 270"/>
                  <a:gd name="T71" fmla="*/ 307 h 383"/>
                  <a:gd name="T72" fmla="*/ 270 w 270"/>
                  <a:gd name="T73" fmla="*/ 280 h 383"/>
                  <a:gd name="T74" fmla="*/ 268 w 270"/>
                  <a:gd name="T75" fmla="*/ 255 h 383"/>
                  <a:gd name="T76" fmla="*/ 262 w 270"/>
                  <a:gd name="T77" fmla="*/ 255 h 383"/>
                  <a:gd name="T78" fmla="*/ 239 w 270"/>
                  <a:gd name="T79" fmla="*/ 300 h 383"/>
                  <a:gd name="T80" fmla="*/ 218 w 270"/>
                  <a:gd name="T81" fmla="*/ 303 h 383"/>
                  <a:gd name="T82" fmla="*/ 196 w 270"/>
                  <a:gd name="T83" fmla="*/ 306 h 383"/>
                  <a:gd name="T84" fmla="*/ 175 w 270"/>
                  <a:gd name="T85" fmla="*/ 307 h 383"/>
                  <a:gd name="T86" fmla="*/ 155 w 270"/>
                  <a:gd name="T87" fmla="*/ 310 h 383"/>
                  <a:gd name="T88" fmla="*/ 133 w 270"/>
                  <a:gd name="T89" fmla="*/ 310 h 383"/>
                  <a:gd name="T90" fmla="*/ 112 w 270"/>
                  <a:gd name="T91" fmla="*/ 312 h 383"/>
                  <a:gd name="T92" fmla="*/ 90 w 270"/>
                  <a:gd name="T93" fmla="*/ 312 h 383"/>
                  <a:gd name="T94" fmla="*/ 69 w 270"/>
                  <a:gd name="T95" fmla="*/ 312 h 383"/>
                  <a:gd name="T96" fmla="*/ 76 w 270"/>
                  <a:gd name="T97" fmla="*/ 280 h 383"/>
                  <a:gd name="T98" fmla="*/ 92 w 270"/>
                  <a:gd name="T99" fmla="*/ 241 h 383"/>
                  <a:gd name="T100" fmla="*/ 115 w 270"/>
                  <a:gd name="T101" fmla="*/ 198 h 383"/>
                  <a:gd name="T102" fmla="*/ 141 w 270"/>
                  <a:gd name="T103" fmla="*/ 157 h 383"/>
                  <a:gd name="T104" fmla="*/ 172 w 270"/>
                  <a:gd name="T105" fmla="*/ 118 h 383"/>
                  <a:gd name="T106" fmla="*/ 204 w 270"/>
                  <a:gd name="T107" fmla="*/ 84 h 383"/>
                  <a:gd name="T108" fmla="*/ 236 w 270"/>
                  <a:gd name="T109" fmla="*/ 61 h 383"/>
                  <a:gd name="T110" fmla="*/ 268 w 270"/>
                  <a:gd name="T111" fmla="*/ 52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70" h="383">
                    <a:moveTo>
                      <a:pt x="268" y="52"/>
                    </a:moveTo>
                    <a:lnTo>
                      <a:pt x="268" y="0"/>
                    </a:lnTo>
                    <a:lnTo>
                      <a:pt x="244" y="3"/>
                    </a:lnTo>
                    <a:lnTo>
                      <a:pt x="219" y="12"/>
                    </a:lnTo>
                    <a:lnTo>
                      <a:pt x="195" y="26"/>
                    </a:lnTo>
                    <a:lnTo>
                      <a:pt x="172" y="45"/>
                    </a:lnTo>
                    <a:lnTo>
                      <a:pt x="149" y="68"/>
                    </a:lnTo>
                    <a:lnTo>
                      <a:pt x="129" y="92"/>
                    </a:lnTo>
                    <a:lnTo>
                      <a:pt x="107" y="121"/>
                    </a:lnTo>
                    <a:lnTo>
                      <a:pt x="89" y="151"/>
                    </a:lnTo>
                    <a:lnTo>
                      <a:pt x="70" y="181"/>
                    </a:lnTo>
                    <a:lnTo>
                      <a:pt x="55" y="214"/>
                    </a:lnTo>
                    <a:lnTo>
                      <a:pt x="41" y="246"/>
                    </a:lnTo>
                    <a:lnTo>
                      <a:pt x="27" y="277"/>
                    </a:lnTo>
                    <a:lnTo>
                      <a:pt x="18" y="306"/>
                    </a:lnTo>
                    <a:lnTo>
                      <a:pt x="9" y="333"/>
                    </a:lnTo>
                    <a:lnTo>
                      <a:pt x="3" y="358"/>
                    </a:lnTo>
                    <a:lnTo>
                      <a:pt x="0" y="380"/>
                    </a:lnTo>
                    <a:lnTo>
                      <a:pt x="13" y="381"/>
                    </a:lnTo>
                    <a:lnTo>
                      <a:pt x="27" y="383"/>
                    </a:lnTo>
                    <a:lnTo>
                      <a:pt x="41" y="383"/>
                    </a:lnTo>
                    <a:lnTo>
                      <a:pt x="56" y="381"/>
                    </a:lnTo>
                    <a:lnTo>
                      <a:pt x="72" y="380"/>
                    </a:lnTo>
                    <a:lnTo>
                      <a:pt x="89" y="378"/>
                    </a:lnTo>
                    <a:lnTo>
                      <a:pt x="104" y="375"/>
                    </a:lnTo>
                    <a:lnTo>
                      <a:pt x="121" y="372"/>
                    </a:lnTo>
                    <a:lnTo>
                      <a:pt x="138" y="370"/>
                    </a:lnTo>
                    <a:lnTo>
                      <a:pt x="155" y="367"/>
                    </a:lnTo>
                    <a:lnTo>
                      <a:pt x="172" y="364"/>
                    </a:lnTo>
                    <a:lnTo>
                      <a:pt x="187" y="361"/>
                    </a:lnTo>
                    <a:lnTo>
                      <a:pt x="204" y="360"/>
                    </a:lnTo>
                    <a:lnTo>
                      <a:pt x="221" y="358"/>
                    </a:lnTo>
                    <a:lnTo>
                      <a:pt x="236" y="356"/>
                    </a:lnTo>
                    <a:lnTo>
                      <a:pt x="251" y="356"/>
                    </a:lnTo>
                    <a:lnTo>
                      <a:pt x="262" y="335"/>
                    </a:lnTo>
                    <a:lnTo>
                      <a:pt x="268" y="307"/>
                    </a:lnTo>
                    <a:lnTo>
                      <a:pt x="270" y="280"/>
                    </a:lnTo>
                    <a:lnTo>
                      <a:pt x="268" y="255"/>
                    </a:lnTo>
                    <a:lnTo>
                      <a:pt x="262" y="255"/>
                    </a:lnTo>
                    <a:lnTo>
                      <a:pt x="239" y="300"/>
                    </a:lnTo>
                    <a:lnTo>
                      <a:pt x="218" y="303"/>
                    </a:lnTo>
                    <a:lnTo>
                      <a:pt x="196" y="306"/>
                    </a:lnTo>
                    <a:lnTo>
                      <a:pt x="175" y="307"/>
                    </a:lnTo>
                    <a:lnTo>
                      <a:pt x="155" y="310"/>
                    </a:lnTo>
                    <a:lnTo>
                      <a:pt x="133" y="310"/>
                    </a:lnTo>
                    <a:lnTo>
                      <a:pt x="112" y="312"/>
                    </a:lnTo>
                    <a:lnTo>
                      <a:pt x="90" y="312"/>
                    </a:lnTo>
                    <a:lnTo>
                      <a:pt x="69" y="312"/>
                    </a:lnTo>
                    <a:lnTo>
                      <a:pt x="76" y="280"/>
                    </a:lnTo>
                    <a:lnTo>
                      <a:pt x="92" y="241"/>
                    </a:lnTo>
                    <a:lnTo>
                      <a:pt x="115" y="198"/>
                    </a:lnTo>
                    <a:lnTo>
                      <a:pt x="141" y="157"/>
                    </a:lnTo>
                    <a:lnTo>
                      <a:pt x="172" y="118"/>
                    </a:lnTo>
                    <a:lnTo>
                      <a:pt x="204" y="84"/>
                    </a:lnTo>
                    <a:lnTo>
                      <a:pt x="236" y="61"/>
                    </a:lnTo>
                    <a:lnTo>
                      <a:pt x="268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3" name="Group 67"/>
            <p:cNvGrpSpPr>
              <a:grpSpLocks/>
            </p:cNvGrpSpPr>
            <p:nvPr/>
          </p:nvGrpSpPr>
          <p:grpSpPr bwMode="auto">
            <a:xfrm>
              <a:off x="456" y="2139"/>
              <a:ext cx="82" cy="28"/>
              <a:chOff x="1200" y="3160"/>
              <a:chExt cx="250" cy="98"/>
            </a:xfrm>
            <a:grpFill/>
          </p:grpSpPr>
          <p:sp>
            <p:nvSpPr>
              <p:cNvPr id="144" name="Line 68"/>
              <p:cNvSpPr>
                <a:spLocks noChangeShapeType="1"/>
              </p:cNvSpPr>
              <p:nvPr/>
            </p:nvSpPr>
            <p:spPr bwMode="gray">
              <a:xfrm>
                <a:off x="1200" y="3162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145" name="Line 69"/>
              <p:cNvSpPr>
                <a:spLocks noChangeShapeType="1"/>
              </p:cNvSpPr>
              <p:nvPr/>
            </p:nvSpPr>
            <p:spPr bwMode="gray">
              <a:xfrm flipH="1">
                <a:off x="1354" y="3160"/>
                <a:ext cx="96" cy="96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ko-KR" altLang="en-US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69" name="Rectangle 71"/>
          <p:cNvSpPr>
            <a:spLocks noChangeArrowheads="1"/>
          </p:cNvSpPr>
          <p:nvPr/>
        </p:nvSpPr>
        <p:spPr bwMode="gray">
          <a:xfrm>
            <a:off x="6528175" y="2830835"/>
            <a:ext cx="1214438" cy="238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승인정보수신완료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38" name="Text Box 140"/>
          <p:cNvSpPr txBox="1">
            <a:spLocks noChangeArrowheads="1"/>
          </p:cNvSpPr>
          <p:nvPr/>
        </p:nvSpPr>
        <p:spPr bwMode="gray">
          <a:xfrm>
            <a:off x="710372" y="738225"/>
            <a:ext cx="957263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/>
            <a:r>
              <a:rPr lang="ko-KR" altLang="en-US" sz="1000" b="1" dirty="0">
                <a:solidFill>
                  <a:srgbClr val="0000CC"/>
                </a:solidFill>
                <a:latin typeface="+mn-ea"/>
                <a:ea typeface="+mn-ea"/>
              </a:rPr>
              <a:t>선행프로세스</a:t>
            </a:r>
          </a:p>
        </p:txBody>
      </p:sp>
      <p:sp>
        <p:nvSpPr>
          <p:cNvPr id="239" name="Rectangle 141"/>
          <p:cNvSpPr>
            <a:spLocks noChangeArrowheads="1"/>
          </p:cNvSpPr>
          <p:nvPr/>
        </p:nvSpPr>
        <p:spPr bwMode="gray">
          <a:xfrm>
            <a:off x="500125" y="103288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제품정보 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40" name="Rectangle 142"/>
          <p:cNvSpPr>
            <a:spLocks noChangeArrowheads="1"/>
          </p:cNvSpPr>
          <p:nvPr/>
        </p:nvSpPr>
        <p:spPr bwMode="gray">
          <a:xfrm>
            <a:off x="500125" y="133768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매장</a:t>
            </a:r>
            <a:r>
              <a:rPr lang="en-US" altLang="ko-KR" sz="900" b="1" dirty="0" smtClean="0">
                <a:latin typeface="+mn-ea"/>
                <a:ea typeface="+mn-ea"/>
              </a:rPr>
              <a:t> </a:t>
            </a:r>
            <a:r>
              <a:rPr lang="ko-KR" altLang="en-US" sz="900" b="1" dirty="0" smtClean="0">
                <a:latin typeface="+mn-ea"/>
                <a:ea typeface="+mn-ea"/>
              </a:rPr>
              <a:t>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1" name="AutoShape 143"/>
          <p:cNvCxnSpPr>
            <a:cxnSpLocks noChangeShapeType="1"/>
            <a:stCxn id="108" idx="3"/>
            <a:endCxn id="133" idx="1"/>
          </p:cNvCxnSpPr>
          <p:nvPr/>
        </p:nvCxnSpPr>
        <p:spPr bwMode="gray">
          <a:xfrm flipV="1">
            <a:off x="1832929" y="1304151"/>
            <a:ext cx="1183327" cy="15688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2" name="Text Box 121"/>
          <p:cNvSpPr txBox="1">
            <a:spLocks noChangeArrowheads="1"/>
          </p:cNvSpPr>
          <p:nvPr/>
        </p:nvSpPr>
        <p:spPr bwMode="gray">
          <a:xfrm>
            <a:off x="1892660" y="3654025"/>
            <a:ext cx="115542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판매 유효성 체크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76" name="AutoShape 86"/>
          <p:cNvSpPr>
            <a:spLocks noChangeArrowheads="1"/>
          </p:cNvSpPr>
          <p:nvPr/>
        </p:nvSpPr>
        <p:spPr bwMode="auto">
          <a:xfrm>
            <a:off x="6933220" y="119377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13" name="Rectangle 142"/>
          <p:cNvSpPr>
            <a:spLocks noChangeArrowheads="1"/>
          </p:cNvSpPr>
          <p:nvPr/>
        </p:nvSpPr>
        <p:spPr bwMode="gray">
          <a:xfrm>
            <a:off x="490820" y="1620811"/>
            <a:ext cx="1285875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err="1" smtClean="0">
                <a:latin typeface="+mn-ea"/>
                <a:ea typeface="+mn-ea"/>
              </a:rPr>
              <a:t>실판매가</a:t>
            </a:r>
            <a:r>
              <a:rPr lang="en-US" altLang="ko-KR" sz="900" b="1" dirty="0" smtClean="0">
                <a:latin typeface="+mn-ea"/>
                <a:ea typeface="+mn-ea"/>
              </a:rPr>
              <a:t> </a:t>
            </a:r>
            <a:r>
              <a:rPr lang="ko-KR" altLang="en-US" sz="900" b="1" dirty="0" smtClean="0">
                <a:latin typeface="+mn-ea"/>
                <a:ea typeface="+mn-ea"/>
              </a:rPr>
              <a:t>등록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116" name="Rectangle 71"/>
          <p:cNvSpPr>
            <a:spLocks noChangeArrowheads="1"/>
          </p:cNvSpPr>
          <p:nvPr/>
        </p:nvSpPr>
        <p:spPr bwMode="gray">
          <a:xfrm>
            <a:off x="2927775" y="3781051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판매제품등록</a:t>
            </a:r>
            <a:endParaRPr lang="ko-KR" altLang="en-US" sz="900" dirty="0">
              <a:latin typeface="+mn-ea"/>
              <a:ea typeface="+mn-ea"/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98400" y="4751461"/>
            <a:ext cx="1371600" cy="1749624"/>
            <a:chOff x="386045" y="4599130"/>
            <a:chExt cx="1371600" cy="1749624"/>
          </a:xfrm>
        </p:grpSpPr>
        <p:sp>
          <p:nvSpPr>
            <p:cNvPr id="118" name="AutoShape 86"/>
            <p:cNvSpPr>
              <a:spLocks noChangeArrowheads="1"/>
            </p:cNvSpPr>
            <p:nvPr/>
          </p:nvSpPr>
          <p:spPr bwMode="auto">
            <a:xfrm>
              <a:off x="484649" y="4734902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제품정보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T_PRDT_PLAN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19" name="AutoShape 86"/>
            <p:cNvSpPr>
              <a:spLocks noChangeArrowheads="1"/>
            </p:cNvSpPr>
            <p:nvPr/>
          </p:nvSpPr>
          <p:spPr bwMode="auto">
            <a:xfrm>
              <a:off x="1127449" y="4738769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제품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T_PRDT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20" name="AutoShape 86"/>
            <p:cNvSpPr>
              <a:spLocks noChangeArrowheads="1"/>
            </p:cNvSpPr>
            <p:nvPr/>
          </p:nvSpPr>
          <p:spPr bwMode="auto">
            <a:xfrm>
              <a:off x="1127449" y="5274205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스타일사이즈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T_STYLE_SIZE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21" name="AutoShape 86"/>
            <p:cNvSpPr>
              <a:spLocks noChangeArrowheads="1"/>
            </p:cNvSpPr>
            <p:nvPr/>
          </p:nvSpPr>
          <p:spPr bwMode="auto">
            <a:xfrm>
              <a:off x="490171" y="5274205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스타일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T_STYLE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22" name="AutoShape 86"/>
            <p:cNvSpPr>
              <a:spLocks noChangeArrowheads="1"/>
            </p:cNvSpPr>
            <p:nvPr/>
          </p:nvSpPr>
          <p:spPr bwMode="auto">
            <a:xfrm>
              <a:off x="484649" y="5813508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매장브랜드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T_SHOP_BRD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23" name="Rectangle 2"/>
            <p:cNvSpPr>
              <a:spLocks noChangeArrowheads="1"/>
            </p:cNvSpPr>
            <p:nvPr/>
          </p:nvSpPr>
          <p:spPr bwMode="gray">
            <a:xfrm>
              <a:off x="386045" y="4599130"/>
              <a:ext cx="1371600" cy="1749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</p:grpSp>
      <p:cxnSp>
        <p:nvCxnSpPr>
          <p:cNvPr id="124" name="AutoShape 143"/>
          <p:cNvCxnSpPr>
            <a:cxnSpLocks noChangeShapeType="1"/>
            <a:endCxn id="116" idx="1"/>
          </p:cNvCxnSpPr>
          <p:nvPr/>
        </p:nvCxnSpPr>
        <p:spPr bwMode="gray">
          <a:xfrm flipV="1">
            <a:off x="1608628" y="3897558"/>
            <a:ext cx="1319147" cy="1185543"/>
          </a:xfrm>
          <a:prstGeom prst="bentConnector3">
            <a:avLst>
              <a:gd name="adj1" fmla="val 29782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0" name="그룹 129"/>
          <p:cNvGrpSpPr/>
          <p:nvPr/>
        </p:nvGrpSpPr>
        <p:grpSpPr>
          <a:xfrm>
            <a:off x="2899511" y="2303875"/>
            <a:ext cx="1074738" cy="388938"/>
            <a:chOff x="5729470" y="3248980"/>
            <a:chExt cx="1074738" cy="388938"/>
          </a:xfrm>
        </p:grpSpPr>
        <p:sp>
          <p:nvSpPr>
            <p:cNvPr id="131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32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고객여부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135" name="Text Box 103"/>
          <p:cNvSpPr txBox="1">
            <a:spLocks noChangeArrowheads="1"/>
          </p:cNvSpPr>
          <p:nvPr/>
        </p:nvSpPr>
        <p:spPr bwMode="gray">
          <a:xfrm>
            <a:off x="3454066" y="270796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36" name="AutoShape 72"/>
          <p:cNvCxnSpPr>
            <a:cxnSpLocks noChangeShapeType="1"/>
            <a:stCxn id="131" idx="2"/>
            <a:endCxn id="116" idx="0"/>
          </p:cNvCxnSpPr>
          <p:nvPr/>
        </p:nvCxnSpPr>
        <p:spPr bwMode="gray">
          <a:xfrm rot="16200000" flipH="1">
            <a:off x="2941818" y="3187875"/>
            <a:ext cx="1088238" cy="98114"/>
          </a:xfrm>
          <a:prstGeom prst="bentConnector3">
            <a:avLst>
              <a:gd name="adj1" fmla="val 3337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9" name="그룹 28"/>
          <p:cNvGrpSpPr/>
          <p:nvPr/>
        </p:nvGrpSpPr>
        <p:grpSpPr>
          <a:xfrm>
            <a:off x="236304" y="2183838"/>
            <a:ext cx="1566346" cy="1749624"/>
            <a:chOff x="461329" y="2183838"/>
            <a:chExt cx="1566346" cy="1749624"/>
          </a:xfrm>
        </p:grpSpPr>
        <p:sp>
          <p:nvSpPr>
            <p:cNvPr id="141" name="AutoShape 86"/>
            <p:cNvSpPr>
              <a:spLocks noChangeArrowheads="1"/>
            </p:cNvSpPr>
            <p:nvPr/>
          </p:nvSpPr>
          <p:spPr bwMode="auto">
            <a:xfrm>
              <a:off x="642045" y="2262411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고객가입정보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T_CUST_ENTRY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50" name="AutoShape 86"/>
            <p:cNvSpPr>
              <a:spLocks noChangeArrowheads="1"/>
            </p:cNvSpPr>
            <p:nvPr/>
          </p:nvSpPr>
          <p:spPr bwMode="auto">
            <a:xfrm>
              <a:off x="642045" y="2799478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고객정보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T_CUST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51" name="AutoShape 86"/>
            <p:cNvSpPr>
              <a:spLocks noChangeArrowheads="1"/>
            </p:cNvSpPr>
            <p:nvPr/>
          </p:nvSpPr>
          <p:spPr bwMode="auto">
            <a:xfrm>
              <a:off x="1336098" y="2267847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쿠폰정보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T_CPN_INFO</a:t>
              </a: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(</a:t>
              </a:r>
              <a:r>
                <a:rPr lang="ko-KR" altLang="en-US" sz="800" dirty="0" smtClean="0">
                  <a:latin typeface="+mn-ea"/>
                  <a:ea typeface="+mn-ea"/>
                </a:rPr>
                <a:t>미사용</a:t>
              </a:r>
              <a:r>
                <a:rPr lang="en-US" altLang="ko-KR" sz="800" dirty="0" smtClean="0">
                  <a:latin typeface="+mn-ea"/>
                  <a:ea typeface="+mn-ea"/>
                </a:rPr>
                <a:t>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53" name="AutoShape 86"/>
            <p:cNvSpPr>
              <a:spLocks noChangeArrowheads="1"/>
            </p:cNvSpPr>
            <p:nvPr/>
          </p:nvSpPr>
          <p:spPr bwMode="auto">
            <a:xfrm>
              <a:off x="1343911" y="2799738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고객등급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T_CPN_RANK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54" name="AutoShape 86"/>
            <p:cNvSpPr>
              <a:spLocks noChangeArrowheads="1"/>
            </p:cNvSpPr>
            <p:nvPr/>
          </p:nvSpPr>
          <p:spPr bwMode="auto">
            <a:xfrm>
              <a:off x="642045" y="3331767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고객브랜드포인트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T_CUST_BRD_POINT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55" name="Rectangle 2"/>
            <p:cNvSpPr>
              <a:spLocks noChangeArrowheads="1"/>
            </p:cNvSpPr>
            <p:nvPr/>
          </p:nvSpPr>
          <p:spPr bwMode="gray">
            <a:xfrm>
              <a:off x="461329" y="2183838"/>
              <a:ext cx="1566346" cy="1749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</p:grpSp>
      <p:sp>
        <p:nvSpPr>
          <p:cNvPr id="156" name="Text Box 103"/>
          <p:cNvSpPr txBox="1">
            <a:spLocks noChangeArrowheads="1"/>
          </p:cNvSpPr>
          <p:nvPr/>
        </p:nvSpPr>
        <p:spPr bwMode="gray">
          <a:xfrm>
            <a:off x="2747755" y="226085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57" name="AutoShape 72"/>
          <p:cNvCxnSpPr>
            <a:cxnSpLocks noChangeShapeType="1"/>
            <a:stCxn id="131" idx="1"/>
            <a:endCxn id="155" idx="3"/>
          </p:cNvCxnSpPr>
          <p:nvPr/>
        </p:nvCxnSpPr>
        <p:spPr bwMode="gray">
          <a:xfrm rot="10800000" flipV="1">
            <a:off x="1802651" y="2498344"/>
            <a:ext cx="1096861" cy="560306"/>
          </a:xfrm>
          <a:prstGeom prst="bentConnector3">
            <a:avLst>
              <a:gd name="adj1" fmla="val 1439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9" name="Text Box 121"/>
          <p:cNvSpPr txBox="1">
            <a:spLocks noChangeArrowheads="1"/>
          </p:cNvSpPr>
          <p:nvPr/>
        </p:nvSpPr>
        <p:spPr bwMode="gray">
          <a:xfrm>
            <a:off x="1845698" y="2476352"/>
            <a:ext cx="1096421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고객 유효성 및 정보 체크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168" name="Text Box 121"/>
          <p:cNvSpPr txBox="1">
            <a:spLocks noChangeArrowheads="1"/>
          </p:cNvSpPr>
          <p:nvPr/>
        </p:nvSpPr>
        <p:spPr bwMode="gray">
          <a:xfrm>
            <a:off x="1738328" y="3063059"/>
            <a:ext cx="115542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SP_CUST_SARCH</a:t>
            </a:r>
            <a:endParaRPr lang="en-US" altLang="ko-KR" sz="900" dirty="0">
              <a:latin typeface="+mn-ea"/>
              <a:ea typeface="+mn-ea"/>
            </a:endParaRPr>
          </a:p>
        </p:txBody>
      </p:sp>
      <p:grpSp>
        <p:nvGrpSpPr>
          <p:cNvPr id="193" name="그룹 192"/>
          <p:cNvGrpSpPr/>
          <p:nvPr/>
        </p:nvGrpSpPr>
        <p:grpSpPr>
          <a:xfrm>
            <a:off x="1667635" y="5248871"/>
            <a:ext cx="1737246" cy="1224060"/>
            <a:chOff x="386044" y="4599130"/>
            <a:chExt cx="1737246" cy="1224060"/>
          </a:xfrm>
        </p:grpSpPr>
        <p:sp>
          <p:nvSpPr>
            <p:cNvPr id="195" name="AutoShape 86"/>
            <p:cNvSpPr>
              <a:spLocks noChangeArrowheads="1"/>
            </p:cNvSpPr>
            <p:nvPr/>
          </p:nvSpPr>
          <p:spPr bwMode="auto">
            <a:xfrm>
              <a:off x="484649" y="4734902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프로모션선착순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T_PROM_FCFS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196" name="AutoShape 86"/>
            <p:cNvSpPr>
              <a:spLocks noChangeArrowheads="1"/>
            </p:cNvSpPr>
            <p:nvPr/>
          </p:nvSpPr>
          <p:spPr bwMode="auto">
            <a:xfrm>
              <a:off x="1294454" y="4734902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err="1" smtClean="0">
                  <a:latin typeface="+mn-ea"/>
                  <a:ea typeface="+mn-ea"/>
                </a:rPr>
                <a:t>프로모션메인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T_PROM_MAIN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208" name="AutoShape 86"/>
            <p:cNvSpPr>
              <a:spLocks noChangeArrowheads="1"/>
            </p:cNvSpPr>
            <p:nvPr/>
          </p:nvSpPr>
          <p:spPr bwMode="auto">
            <a:xfrm>
              <a:off x="490171" y="5274205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프로모션내역</a:t>
              </a:r>
              <a:endParaRPr lang="en-US" altLang="ko-KR" sz="800" dirty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T_PROM_DETL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209" name="AutoShape 86"/>
            <p:cNvSpPr>
              <a:spLocks noChangeArrowheads="1"/>
            </p:cNvSpPr>
            <p:nvPr/>
          </p:nvSpPr>
          <p:spPr bwMode="auto">
            <a:xfrm>
              <a:off x="1294454" y="5274205"/>
              <a:ext cx="566738" cy="487758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ko-KR" altLang="en-US" sz="800" dirty="0" smtClean="0">
                  <a:latin typeface="+mn-ea"/>
                  <a:ea typeface="+mn-ea"/>
                </a:rPr>
                <a:t>프로모션 매장</a:t>
              </a:r>
              <a:endParaRPr lang="en-US" altLang="ko-KR" sz="800" dirty="0" smtClean="0">
                <a:latin typeface="+mn-ea"/>
                <a:ea typeface="+mn-ea"/>
              </a:endParaRPr>
            </a:p>
            <a:p>
              <a:pPr algn="ctr"/>
              <a:r>
                <a:rPr lang="en-US" altLang="ko-KR" sz="800" dirty="0" smtClean="0">
                  <a:latin typeface="+mn-ea"/>
                  <a:ea typeface="+mn-ea"/>
                </a:rPr>
                <a:t>T_PROM_SHOP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210" name="Rectangle 2"/>
            <p:cNvSpPr>
              <a:spLocks noChangeArrowheads="1"/>
            </p:cNvSpPr>
            <p:nvPr/>
          </p:nvSpPr>
          <p:spPr bwMode="gray">
            <a:xfrm>
              <a:off x="386044" y="4599130"/>
              <a:ext cx="1737246" cy="12240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</p:grpSp>
      <p:cxnSp>
        <p:nvCxnSpPr>
          <p:cNvPr id="211" name="AutoShape 143"/>
          <p:cNvCxnSpPr>
            <a:cxnSpLocks noChangeShapeType="1"/>
            <a:stCxn id="210" idx="0"/>
            <a:endCxn id="116" idx="1"/>
          </p:cNvCxnSpPr>
          <p:nvPr/>
        </p:nvCxnSpPr>
        <p:spPr bwMode="gray">
          <a:xfrm rot="5400000" flipH="1" flipV="1">
            <a:off x="2056360" y="4377457"/>
            <a:ext cx="1351313" cy="391517"/>
          </a:xfrm>
          <a:prstGeom prst="bentConnector2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3" name="Text Box 121"/>
          <p:cNvSpPr txBox="1">
            <a:spLocks noChangeArrowheads="1"/>
          </p:cNvSpPr>
          <p:nvPr/>
        </p:nvSpPr>
        <p:spPr bwMode="gray">
          <a:xfrm>
            <a:off x="2552962" y="4996839"/>
            <a:ext cx="115542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프로모션 정보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18" name="Rectangle 71"/>
          <p:cNvSpPr>
            <a:spLocks noChangeArrowheads="1"/>
          </p:cNvSpPr>
          <p:nvPr/>
        </p:nvSpPr>
        <p:spPr bwMode="gray">
          <a:xfrm>
            <a:off x="5086258" y="5365819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판매결재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20" name="AutoShape 72"/>
          <p:cNvCxnSpPr>
            <a:cxnSpLocks noChangeShapeType="1"/>
            <a:stCxn id="116" idx="2"/>
            <a:endCxn id="234" idx="0"/>
          </p:cNvCxnSpPr>
          <p:nvPr/>
        </p:nvCxnSpPr>
        <p:spPr bwMode="gray">
          <a:xfrm rot="16200000" flipH="1">
            <a:off x="3580694" y="3968364"/>
            <a:ext cx="544877" cy="63627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24" name="그룹 223"/>
          <p:cNvGrpSpPr/>
          <p:nvPr/>
        </p:nvGrpSpPr>
        <p:grpSpPr>
          <a:xfrm>
            <a:off x="3633902" y="4558942"/>
            <a:ext cx="1074738" cy="392517"/>
            <a:chOff x="5729470" y="3248980"/>
            <a:chExt cx="1074738" cy="392517"/>
          </a:xfrm>
        </p:grpSpPr>
        <p:sp>
          <p:nvSpPr>
            <p:cNvPr id="234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35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프로모션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대상여부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236" name="Rectangle 71"/>
          <p:cNvSpPr>
            <a:spLocks noChangeArrowheads="1"/>
          </p:cNvSpPr>
          <p:nvPr/>
        </p:nvSpPr>
        <p:spPr bwMode="gray">
          <a:xfrm>
            <a:off x="3557845" y="5400896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smtClean="0">
                <a:latin typeface="+mn-ea"/>
                <a:ea typeface="+mn-ea"/>
                <a:sym typeface="Wingdings" panose="05000000000000000000" pitchFamily="2" charset="2"/>
              </a:rPr>
              <a:t> 프로모션적용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37" name="Text Box 103"/>
          <p:cNvSpPr txBox="1">
            <a:spLocks noChangeArrowheads="1"/>
          </p:cNvSpPr>
          <p:nvPr/>
        </p:nvSpPr>
        <p:spPr bwMode="gray">
          <a:xfrm>
            <a:off x="4623916" y="453596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46" name="Text Box 103"/>
          <p:cNvSpPr txBox="1">
            <a:spLocks noChangeArrowheads="1"/>
          </p:cNvSpPr>
          <p:nvPr/>
        </p:nvSpPr>
        <p:spPr bwMode="gray">
          <a:xfrm>
            <a:off x="4167227" y="4934349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7" name="AutoShape 72"/>
          <p:cNvCxnSpPr>
            <a:cxnSpLocks noChangeShapeType="1"/>
            <a:stCxn id="235" idx="2"/>
            <a:endCxn id="236" idx="0"/>
          </p:cNvCxnSpPr>
          <p:nvPr/>
        </p:nvCxnSpPr>
        <p:spPr bwMode="gray">
          <a:xfrm rot="16200000" flipH="1">
            <a:off x="3940212" y="5176043"/>
            <a:ext cx="449437" cy="26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8" name="Rectangle 71"/>
          <p:cNvSpPr>
            <a:spLocks noChangeArrowheads="1"/>
          </p:cNvSpPr>
          <p:nvPr/>
        </p:nvSpPr>
        <p:spPr bwMode="gray">
          <a:xfrm>
            <a:off x="5088712" y="5941291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판매결재금액확정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49" name="AutoShape 72"/>
          <p:cNvCxnSpPr>
            <a:cxnSpLocks noChangeShapeType="1"/>
            <a:stCxn id="236" idx="2"/>
            <a:endCxn id="248" idx="1"/>
          </p:cNvCxnSpPr>
          <p:nvPr/>
        </p:nvCxnSpPr>
        <p:spPr bwMode="gray">
          <a:xfrm rot="16200000" flipH="1">
            <a:off x="4414944" y="5384030"/>
            <a:ext cx="423888" cy="92364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0" name="AutoShape 72"/>
          <p:cNvCxnSpPr>
            <a:cxnSpLocks noChangeShapeType="1"/>
            <a:stCxn id="234" idx="3"/>
            <a:endCxn id="248" idx="1"/>
          </p:cNvCxnSpPr>
          <p:nvPr/>
        </p:nvCxnSpPr>
        <p:spPr bwMode="gray">
          <a:xfrm>
            <a:off x="4708640" y="4753411"/>
            <a:ext cx="380072" cy="1304387"/>
          </a:xfrm>
          <a:prstGeom prst="bentConnector3">
            <a:avLst>
              <a:gd name="adj1" fmla="val 6002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1" name="AutoShape 72"/>
          <p:cNvCxnSpPr>
            <a:cxnSpLocks noChangeShapeType="1"/>
            <a:stCxn id="248" idx="0"/>
            <a:endCxn id="218" idx="2"/>
          </p:cNvCxnSpPr>
          <p:nvPr/>
        </p:nvCxnSpPr>
        <p:spPr bwMode="gray">
          <a:xfrm rot="16200000" flipV="1">
            <a:off x="5523475" y="5768835"/>
            <a:ext cx="342458" cy="24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" name="그룹 48"/>
          <p:cNvGrpSpPr/>
          <p:nvPr/>
        </p:nvGrpSpPr>
        <p:grpSpPr>
          <a:xfrm>
            <a:off x="6618185" y="5205092"/>
            <a:ext cx="504826" cy="507831"/>
            <a:chOff x="7128033" y="3629934"/>
            <a:chExt cx="504826" cy="461665"/>
          </a:xfrm>
        </p:grpSpPr>
        <p:sp>
          <p:nvSpPr>
            <p:cNvPr id="252" name="Oval 76"/>
            <p:cNvSpPr>
              <a:spLocks noChangeArrowheads="1"/>
            </p:cNvSpPr>
            <p:nvPr/>
          </p:nvSpPr>
          <p:spPr bwMode="gray">
            <a:xfrm>
              <a:off x="7128034" y="3648218"/>
              <a:ext cx="504825" cy="4191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253" name="Text Box 100"/>
            <p:cNvSpPr txBox="1">
              <a:spLocks noChangeArrowheads="1"/>
            </p:cNvSpPr>
            <p:nvPr/>
          </p:nvSpPr>
          <p:spPr bwMode="gray">
            <a:xfrm>
              <a:off x="7128033" y="3629934"/>
              <a:ext cx="50260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추가정보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입력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grpSp>
        <p:nvGrpSpPr>
          <p:cNvPr id="254" name="그룹 253"/>
          <p:cNvGrpSpPr/>
          <p:nvPr/>
        </p:nvGrpSpPr>
        <p:grpSpPr>
          <a:xfrm>
            <a:off x="8378762" y="3969060"/>
            <a:ext cx="1074738" cy="392517"/>
            <a:chOff x="5729470" y="3248980"/>
            <a:chExt cx="1074738" cy="392517"/>
          </a:xfrm>
        </p:grpSpPr>
        <p:sp>
          <p:nvSpPr>
            <p:cNvPr id="255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56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카드결제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grpSp>
        <p:nvGrpSpPr>
          <p:cNvPr id="257" name="그룹 256"/>
          <p:cNvGrpSpPr/>
          <p:nvPr/>
        </p:nvGrpSpPr>
        <p:grpSpPr>
          <a:xfrm>
            <a:off x="5161337" y="4694163"/>
            <a:ext cx="1074738" cy="392517"/>
            <a:chOff x="5729470" y="3248980"/>
            <a:chExt cx="1074738" cy="392517"/>
          </a:xfrm>
        </p:grpSpPr>
        <p:sp>
          <p:nvSpPr>
            <p:cNvPr id="258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59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900" dirty="0" smtClean="0">
                  <a:latin typeface="+mn-ea"/>
                  <a:ea typeface="+mn-ea"/>
                </a:rPr>
                <a:t>TAX FREE</a:t>
              </a: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62" name="AutoShape 72"/>
          <p:cNvCxnSpPr>
            <a:cxnSpLocks noChangeShapeType="1"/>
            <a:stCxn id="218" idx="0"/>
            <a:endCxn id="259" idx="2"/>
          </p:cNvCxnSpPr>
          <p:nvPr/>
        </p:nvCxnSpPr>
        <p:spPr bwMode="gray">
          <a:xfrm rot="16200000" flipV="1">
            <a:off x="5553285" y="5225627"/>
            <a:ext cx="279139" cy="124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3" name="AutoShape 72"/>
          <p:cNvCxnSpPr>
            <a:cxnSpLocks noChangeShapeType="1"/>
            <a:stCxn id="258" idx="3"/>
            <a:endCxn id="253" idx="1"/>
          </p:cNvCxnSpPr>
          <p:nvPr/>
        </p:nvCxnSpPr>
        <p:spPr bwMode="gray">
          <a:xfrm>
            <a:off x="6236075" y="4888632"/>
            <a:ext cx="382110" cy="57037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4" name="Text Box 103"/>
          <p:cNvSpPr txBox="1">
            <a:spLocks noChangeArrowheads="1"/>
          </p:cNvSpPr>
          <p:nvPr/>
        </p:nvSpPr>
        <p:spPr bwMode="gray">
          <a:xfrm>
            <a:off x="6126460" y="4678312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66" name="Rectangle 71"/>
          <p:cNvSpPr>
            <a:spLocks noChangeArrowheads="1"/>
          </p:cNvSpPr>
          <p:nvPr/>
        </p:nvSpPr>
        <p:spPr bwMode="gray">
          <a:xfrm>
            <a:off x="6433526" y="5957072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TAX REFUND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승인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267" name="AutoShape 72"/>
          <p:cNvCxnSpPr>
            <a:cxnSpLocks noChangeShapeType="1"/>
            <a:stCxn id="253" idx="2"/>
            <a:endCxn id="266" idx="0"/>
          </p:cNvCxnSpPr>
          <p:nvPr/>
        </p:nvCxnSpPr>
        <p:spPr bwMode="gray">
          <a:xfrm rot="16200000" flipH="1">
            <a:off x="6833043" y="5749369"/>
            <a:ext cx="244149" cy="1712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9" name="Text Box 121"/>
          <p:cNvSpPr txBox="1">
            <a:spLocks noChangeArrowheads="1"/>
          </p:cNvSpPr>
          <p:nvPr/>
        </p:nvSpPr>
        <p:spPr bwMode="gray">
          <a:xfrm>
            <a:off x="6316508" y="6227930"/>
            <a:ext cx="1718946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GOBAL TAX FREE </a:t>
            </a:r>
            <a:r>
              <a:rPr lang="ko-KR" altLang="en-US" sz="900" dirty="0" smtClean="0">
                <a:latin typeface="+mn-ea"/>
                <a:ea typeface="+mn-ea"/>
              </a:rPr>
              <a:t>모듈 연동</a:t>
            </a:r>
            <a:endParaRPr lang="en-US" altLang="ko-KR" sz="900" dirty="0" smtClean="0">
              <a:latin typeface="+mn-ea"/>
              <a:ea typeface="+mn-ea"/>
            </a:endParaRPr>
          </a:p>
          <a:p>
            <a:r>
              <a:rPr lang="ko-KR" altLang="en-US" sz="900" dirty="0" smtClean="0">
                <a:latin typeface="+mn-ea"/>
                <a:ea typeface="+mn-ea"/>
              </a:rPr>
              <a:t>외부 인터페이스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271" name="Text Box 103"/>
          <p:cNvSpPr txBox="1">
            <a:spLocks noChangeArrowheads="1"/>
          </p:cNvSpPr>
          <p:nvPr/>
        </p:nvSpPr>
        <p:spPr bwMode="gray">
          <a:xfrm>
            <a:off x="8285134" y="417835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279" name="Rectangle 71"/>
          <p:cNvSpPr>
            <a:spLocks noChangeArrowheads="1"/>
          </p:cNvSpPr>
          <p:nvPr/>
        </p:nvSpPr>
        <p:spPr bwMode="gray">
          <a:xfrm>
            <a:off x="6692370" y="4158339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카드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승인 요청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281" name="Rectangle 71"/>
          <p:cNvSpPr>
            <a:spLocks noChangeArrowheads="1"/>
          </p:cNvSpPr>
          <p:nvPr/>
        </p:nvSpPr>
        <p:spPr bwMode="gray">
          <a:xfrm>
            <a:off x="4441689" y="3942529"/>
            <a:ext cx="1214438" cy="371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현금영수증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</a:p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승인요청</a:t>
            </a:r>
            <a:endParaRPr lang="ko-KR" altLang="en-US" sz="900" dirty="0">
              <a:latin typeface="+mn-ea"/>
              <a:ea typeface="+mn-ea"/>
            </a:endParaRPr>
          </a:p>
        </p:txBody>
      </p:sp>
      <p:grpSp>
        <p:nvGrpSpPr>
          <p:cNvPr id="282" name="그룹 281"/>
          <p:cNvGrpSpPr/>
          <p:nvPr/>
        </p:nvGrpSpPr>
        <p:grpSpPr>
          <a:xfrm>
            <a:off x="8468772" y="2466118"/>
            <a:ext cx="1074738" cy="392517"/>
            <a:chOff x="5729470" y="3248980"/>
            <a:chExt cx="1074738" cy="392517"/>
          </a:xfrm>
        </p:grpSpPr>
        <p:sp>
          <p:nvSpPr>
            <p:cNvPr id="284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85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미결재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잔액여부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286" name="Text Box 103"/>
          <p:cNvSpPr txBox="1">
            <a:spLocks noChangeArrowheads="1"/>
          </p:cNvSpPr>
          <p:nvPr/>
        </p:nvSpPr>
        <p:spPr bwMode="gray">
          <a:xfrm>
            <a:off x="9302661" y="391192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grpSp>
        <p:nvGrpSpPr>
          <p:cNvPr id="294" name="그룹 293"/>
          <p:cNvGrpSpPr/>
          <p:nvPr/>
        </p:nvGrpSpPr>
        <p:grpSpPr>
          <a:xfrm>
            <a:off x="6073089" y="3686254"/>
            <a:ext cx="504826" cy="507831"/>
            <a:chOff x="7128033" y="3629934"/>
            <a:chExt cx="504826" cy="461665"/>
          </a:xfrm>
        </p:grpSpPr>
        <p:sp>
          <p:nvSpPr>
            <p:cNvPr id="295" name="Oval 76"/>
            <p:cNvSpPr>
              <a:spLocks noChangeArrowheads="1"/>
            </p:cNvSpPr>
            <p:nvPr/>
          </p:nvSpPr>
          <p:spPr bwMode="gray">
            <a:xfrm>
              <a:off x="7128034" y="3648218"/>
              <a:ext cx="504825" cy="4191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296" name="Text Box 100"/>
            <p:cNvSpPr txBox="1">
              <a:spLocks noChangeArrowheads="1"/>
            </p:cNvSpPr>
            <p:nvPr/>
          </p:nvSpPr>
          <p:spPr bwMode="gray">
            <a:xfrm>
              <a:off x="7128033" y="3629934"/>
              <a:ext cx="50260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추가정보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입력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97" name="AutoShape 72"/>
          <p:cNvCxnSpPr>
            <a:cxnSpLocks noChangeShapeType="1"/>
            <a:stCxn id="255" idx="1"/>
            <a:endCxn id="279" idx="3"/>
          </p:cNvCxnSpPr>
          <p:nvPr/>
        </p:nvCxnSpPr>
        <p:spPr bwMode="gray">
          <a:xfrm rot="10800000" flipV="1">
            <a:off x="7906808" y="4163528"/>
            <a:ext cx="471954" cy="1113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0" name="Rectangle 71"/>
          <p:cNvSpPr>
            <a:spLocks noChangeArrowheads="1"/>
          </p:cNvSpPr>
          <p:nvPr/>
        </p:nvSpPr>
        <p:spPr bwMode="gray">
          <a:xfrm>
            <a:off x="4436230" y="3414585"/>
            <a:ext cx="1214438" cy="371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현금영수증</a:t>
            </a:r>
            <a:r>
              <a:rPr lang="en-US" altLang="ko-KR" sz="9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</a:p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자진 발급승인요청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02" name="AutoShape 72"/>
          <p:cNvCxnSpPr>
            <a:cxnSpLocks noChangeShapeType="1"/>
            <a:stCxn id="258" idx="0"/>
            <a:endCxn id="496" idx="1"/>
          </p:cNvCxnSpPr>
          <p:nvPr/>
        </p:nvCxnSpPr>
        <p:spPr bwMode="gray">
          <a:xfrm rot="16200000" flipH="1">
            <a:off x="6261296" y="4131572"/>
            <a:ext cx="264399" cy="1389580"/>
          </a:xfrm>
          <a:prstGeom prst="bentConnector4">
            <a:avLst>
              <a:gd name="adj1" fmla="val -86460"/>
              <a:gd name="adj2" fmla="val 6933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6" name="Text Box 103"/>
          <p:cNvSpPr txBox="1">
            <a:spLocks noChangeArrowheads="1"/>
          </p:cNvSpPr>
          <p:nvPr/>
        </p:nvSpPr>
        <p:spPr bwMode="gray">
          <a:xfrm>
            <a:off x="5441506" y="453071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308" name="Rectangle 71"/>
          <p:cNvSpPr>
            <a:spLocks noChangeArrowheads="1"/>
          </p:cNvSpPr>
          <p:nvPr/>
        </p:nvSpPr>
        <p:spPr bwMode="gray">
          <a:xfrm>
            <a:off x="7628431" y="5619058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부가세감면처리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09" name="AutoShape 72"/>
          <p:cNvCxnSpPr>
            <a:cxnSpLocks noChangeShapeType="1"/>
            <a:stCxn id="308" idx="0"/>
            <a:endCxn id="496" idx="2"/>
          </p:cNvCxnSpPr>
          <p:nvPr/>
        </p:nvCxnSpPr>
        <p:spPr bwMode="gray">
          <a:xfrm rot="16200000" flipV="1">
            <a:off x="7697640" y="5081047"/>
            <a:ext cx="466027" cy="6099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5" name="AutoShape 86"/>
          <p:cNvSpPr>
            <a:spLocks noChangeArrowheads="1"/>
          </p:cNvSpPr>
          <p:nvPr/>
        </p:nvSpPr>
        <p:spPr bwMode="auto">
          <a:xfrm>
            <a:off x="7716632" y="119377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판매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T_SALE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16" name="AutoShape 72"/>
          <p:cNvCxnSpPr>
            <a:cxnSpLocks noChangeShapeType="1"/>
            <a:stCxn id="285" idx="0"/>
            <a:endCxn id="276" idx="3"/>
          </p:cNvCxnSpPr>
          <p:nvPr/>
        </p:nvCxnSpPr>
        <p:spPr bwMode="gray">
          <a:xfrm rot="16200000" flipV="1">
            <a:off x="7704244" y="1193880"/>
            <a:ext cx="807768" cy="1783077"/>
          </a:xfrm>
          <a:prstGeom prst="bentConnector3">
            <a:avLst>
              <a:gd name="adj1" fmla="val 7004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" name="AutoShape 72"/>
          <p:cNvCxnSpPr>
            <a:cxnSpLocks noChangeShapeType="1"/>
            <a:stCxn id="169" idx="3"/>
            <a:endCxn id="284" idx="1"/>
          </p:cNvCxnSpPr>
          <p:nvPr/>
        </p:nvCxnSpPr>
        <p:spPr bwMode="gray">
          <a:xfrm flipV="1">
            <a:off x="7742613" y="2660587"/>
            <a:ext cx="726159" cy="2893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" name="Text Box 121"/>
          <p:cNvSpPr txBox="1">
            <a:spLocks noChangeArrowheads="1"/>
          </p:cNvSpPr>
          <p:nvPr/>
        </p:nvSpPr>
        <p:spPr bwMode="gray">
          <a:xfrm>
            <a:off x="7402985" y="1673805"/>
            <a:ext cx="72210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900" dirty="0" smtClean="0">
                <a:latin typeface="+mn-ea"/>
                <a:ea typeface="+mn-ea"/>
              </a:rPr>
              <a:t>SP_SALE</a:t>
            </a:r>
            <a:endParaRPr lang="en-US" altLang="ko-KR" sz="900" dirty="0">
              <a:latin typeface="+mn-ea"/>
              <a:ea typeface="+mn-ea"/>
            </a:endParaRPr>
          </a:p>
        </p:txBody>
      </p:sp>
      <p:grpSp>
        <p:nvGrpSpPr>
          <p:cNvPr id="319" name="그룹 318"/>
          <p:cNvGrpSpPr/>
          <p:nvPr/>
        </p:nvGrpSpPr>
        <p:grpSpPr>
          <a:xfrm>
            <a:off x="4353305" y="1493811"/>
            <a:ext cx="1074738" cy="388938"/>
            <a:chOff x="5729470" y="3248980"/>
            <a:chExt cx="1074738" cy="388938"/>
          </a:xfrm>
        </p:grpSpPr>
        <p:sp>
          <p:nvSpPr>
            <p:cNvPr id="320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321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반품여부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322" name="Text Box 103"/>
          <p:cNvSpPr txBox="1">
            <a:spLocks noChangeArrowheads="1"/>
          </p:cNvSpPr>
          <p:nvPr/>
        </p:nvSpPr>
        <p:spPr bwMode="gray">
          <a:xfrm>
            <a:off x="4186172" y="146103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323" name="AutoShape 72"/>
          <p:cNvCxnSpPr>
            <a:cxnSpLocks noChangeShapeType="1"/>
            <a:stCxn id="320" idx="1"/>
            <a:endCxn id="131" idx="0"/>
          </p:cNvCxnSpPr>
          <p:nvPr/>
        </p:nvCxnSpPr>
        <p:spPr bwMode="gray">
          <a:xfrm rot="10800000" flipV="1">
            <a:off x="3436881" y="1688279"/>
            <a:ext cx="916425" cy="61559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4" name="Rectangle 71"/>
          <p:cNvSpPr>
            <a:spLocks noChangeArrowheads="1"/>
          </p:cNvSpPr>
          <p:nvPr/>
        </p:nvSpPr>
        <p:spPr bwMode="gray">
          <a:xfrm>
            <a:off x="5189912" y="1890841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영수증반품처리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25" name="AutoShape 72"/>
          <p:cNvCxnSpPr>
            <a:cxnSpLocks noChangeShapeType="1"/>
            <a:stCxn id="320" idx="3"/>
            <a:endCxn id="324" idx="0"/>
          </p:cNvCxnSpPr>
          <p:nvPr/>
        </p:nvCxnSpPr>
        <p:spPr bwMode="gray">
          <a:xfrm>
            <a:off x="5428043" y="1688280"/>
            <a:ext cx="369088" cy="20256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6" name="AutoShape 143"/>
          <p:cNvCxnSpPr>
            <a:cxnSpLocks noChangeShapeType="1"/>
            <a:stCxn id="276" idx="2"/>
            <a:endCxn id="324" idx="3"/>
          </p:cNvCxnSpPr>
          <p:nvPr/>
        </p:nvCxnSpPr>
        <p:spPr bwMode="gray">
          <a:xfrm rot="10800000" flipV="1">
            <a:off x="6404350" y="1437656"/>
            <a:ext cx="528870" cy="5696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" name="AutoShape 143"/>
          <p:cNvCxnSpPr>
            <a:cxnSpLocks noChangeShapeType="1"/>
            <a:stCxn id="315" idx="1"/>
            <a:endCxn id="324" idx="3"/>
          </p:cNvCxnSpPr>
          <p:nvPr/>
        </p:nvCxnSpPr>
        <p:spPr bwMode="gray">
          <a:xfrm rot="16200000" flipH="1" flipV="1">
            <a:off x="6795390" y="802736"/>
            <a:ext cx="813571" cy="1595651"/>
          </a:xfrm>
          <a:prstGeom prst="bentConnector4">
            <a:avLst>
              <a:gd name="adj1" fmla="val -28098"/>
              <a:gd name="adj2" fmla="val 83353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8" name="Text Box 121"/>
          <p:cNvSpPr txBox="1">
            <a:spLocks noChangeArrowheads="1"/>
          </p:cNvSpPr>
          <p:nvPr/>
        </p:nvSpPr>
        <p:spPr bwMode="gray">
          <a:xfrm>
            <a:off x="7035846" y="742110"/>
            <a:ext cx="1009183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판매내역 조회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29" name="Rectangle 71"/>
          <p:cNvSpPr>
            <a:spLocks noChangeArrowheads="1"/>
          </p:cNvSpPr>
          <p:nvPr/>
        </p:nvSpPr>
        <p:spPr bwMode="gray">
          <a:xfrm>
            <a:off x="4137031" y="2379732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판매결재취소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330" name="AutoShape 72"/>
          <p:cNvCxnSpPr>
            <a:cxnSpLocks noChangeShapeType="1"/>
            <a:stCxn id="324" idx="1"/>
            <a:endCxn id="329" idx="0"/>
          </p:cNvCxnSpPr>
          <p:nvPr/>
        </p:nvCxnSpPr>
        <p:spPr bwMode="gray">
          <a:xfrm rot="10800000" flipV="1">
            <a:off x="4744250" y="2007348"/>
            <a:ext cx="445662" cy="37238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2" name="Text Box 103"/>
          <p:cNvSpPr txBox="1">
            <a:spLocks noChangeArrowheads="1"/>
          </p:cNvSpPr>
          <p:nvPr/>
        </p:nvSpPr>
        <p:spPr bwMode="gray">
          <a:xfrm>
            <a:off x="5281742" y="169728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333" name="AutoShape 72"/>
          <p:cNvCxnSpPr>
            <a:cxnSpLocks noChangeShapeType="1"/>
            <a:stCxn id="133" idx="3"/>
            <a:endCxn id="320" idx="0"/>
          </p:cNvCxnSpPr>
          <p:nvPr/>
        </p:nvCxnSpPr>
        <p:spPr bwMode="gray">
          <a:xfrm>
            <a:off x="4137031" y="1304151"/>
            <a:ext cx="753643" cy="189660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74" name="그룹 373"/>
          <p:cNvGrpSpPr/>
          <p:nvPr/>
        </p:nvGrpSpPr>
        <p:grpSpPr>
          <a:xfrm>
            <a:off x="7653300" y="3240595"/>
            <a:ext cx="1074738" cy="392517"/>
            <a:chOff x="5729470" y="3248980"/>
            <a:chExt cx="1074738" cy="392517"/>
          </a:xfrm>
        </p:grpSpPr>
        <p:sp>
          <p:nvSpPr>
            <p:cNvPr id="375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376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현금영수증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진행여부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384" name="AutoShape 72"/>
          <p:cNvCxnSpPr>
            <a:cxnSpLocks noChangeShapeType="1"/>
            <a:stCxn id="296" idx="1"/>
            <a:endCxn id="281" idx="3"/>
          </p:cNvCxnSpPr>
          <p:nvPr/>
        </p:nvCxnSpPr>
        <p:spPr bwMode="gray">
          <a:xfrm rot="10800000" flipV="1">
            <a:off x="5656127" y="3940170"/>
            <a:ext cx="416962" cy="18811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3" name="AutoShape 72"/>
          <p:cNvCxnSpPr>
            <a:cxnSpLocks noChangeShapeType="1"/>
            <a:stCxn id="279" idx="0"/>
            <a:endCxn id="169" idx="2"/>
          </p:cNvCxnSpPr>
          <p:nvPr/>
        </p:nvCxnSpPr>
        <p:spPr bwMode="gray">
          <a:xfrm rot="16200000" flipV="1">
            <a:off x="6672803" y="3531552"/>
            <a:ext cx="1089379" cy="1641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1" name="AutoShape 72"/>
          <p:cNvCxnSpPr>
            <a:cxnSpLocks noChangeShapeType="1"/>
            <a:stCxn id="255" idx="3"/>
            <a:endCxn id="284" idx="3"/>
          </p:cNvCxnSpPr>
          <p:nvPr/>
        </p:nvCxnSpPr>
        <p:spPr bwMode="gray">
          <a:xfrm flipV="1">
            <a:off x="9453500" y="2660587"/>
            <a:ext cx="90010" cy="1502942"/>
          </a:xfrm>
          <a:prstGeom prst="bentConnector3">
            <a:avLst>
              <a:gd name="adj1" fmla="val 353972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" name="AutoShape 72"/>
          <p:cNvCxnSpPr>
            <a:cxnSpLocks noChangeShapeType="1"/>
            <a:stCxn id="285" idx="2"/>
            <a:endCxn id="375" idx="3"/>
          </p:cNvCxnSpPr>
          <p:nvPr/>
        </p:nvCxnSpPr>
        <p:spPr bwMode="gray">
          <a:xfrm rot="5400000">
            <a:off x="8575638" y="3011035"/>
            <a:ext cx="576429" cy="27162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1" name="Text Box 103"/>
          <p:cNvSpPr txBox="1">
            <a:spLocks noChangeArrowheads="1"/>
          </p:cNvSpPr>
          <p:nvPr/>
        </p:nvSpPr>
        <p:spPr bwMode="gray">
          <a:xfrm>
            <a:off x="8967201" y="286427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412" name="Text Box 103"/>
          <p:cNvSpPr txBox="1">
            <a:spLocks noChangeArrowheads="1"/>
          </p:cNvSpPr>
          <p:nvPr/>
        </p:nvSpPr>
        <p:spPr bwMode="gray">
          <a:xfrm>
            <a:off x="8999666" y="2273719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413" name="AutoShape 72"/>
          <p:cNvCxnSpPr>
            <a:cxnSpLocks noChangeShapeType="1"/>
            <a:stCxn id="285" idx="0"/>
            <a:endCxn id="315" idx="3"/>
          </p:cNvCxnSpPr>
          <p:nvPr/>
        </p:nvCxnSpPr>
        <p:spPr bwMode="gray">
          <a:xfrm rot="16200000" flipV="1">
            <a:off x="8095950" y="1585586"/>
            <a:ext cx="807768" cy="999665"/>
          </a:xfrm>
          <a:prstGeom prst="bentConnector3">
            <a:avLst>
              <a:gd name="adj1" fmla="val 7004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7" name="AutoShape 72"/>
          <p:cNvCxnSpPr>
            <a:cxnSpLocks noChangeShapeType="1"/>
            <a:stCxn id="329" idx="3"/>
            <a:endCxn id="169" idx="1"/>
          </p:cNvCxnSpPr>
          <p:nvPr/>
        </p:nvCxnSpPr>
        <p:spPr bwMode="gray">
          <a:xfrm>
            <a:off x="5351469" y="2496239"/>
            <a:ext cx="1176706" cy="45365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" name="AutoShape 72"/>
          <p:cNvCxnSpPr>
            <a:cxnSpLocks noChangeShapeType="1"/>
            <a:stCxn id="375" idx="2"/>
            <a:endCxn id="295" idx="6"/>
          </p:cNvCxnSpPr>
          <p:nvPr/>
        </p:nvCxnSpPr>
        <p:spPr bwMode="gray">
          <a:xfrm rot="5400000">
            <a:off x="7230623" y="2976825"/>
            <a:ext cx="307338" cy="161275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5" name="Text Box 103"/>
          <p:cNvSpPr txBox="1">
            <a:spLocks noChangeArrowheads="1"/>
          </p:cNvSpPr>
          <p:nvPr/>
        </p:nvSpPr>
        <p:spPr bwMode="gray">
          <a:xfrm>
            <a:off x="8148355" y="3603213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426" name="Text Box 103"/>
          <p:cNvSpPr txBox="1">
            <a:spLocks noChangeArrowheads="1"/>
          </p:cNvSpPr>
          <p:nvPr/>
        </p:nvSpPr>
        <p:spPr bwMode="gray">
          <a:xfrm>
            <a:off x="7563290" y="3196972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N</a:t>
            </a:r>
          </a:p>
        </p:txBody>
      </p:sp>
      <p:cxnSp>
        <p:nvCxnSpPr>
          <p:cNvPr id="427" name="AutoShape 72"/>
          <p:cNvCxnSpPr>
            <a:cxnSpLocks noChangeShapeType="1"/>
            <a:stCxn id="375" idx="1"/>
            <a:endCxn id="300" idx="3"/>
          </p:cNvCxnSpPr>
          <p:nvPr/>
        </p:nvCxnSpPr>
        <p:spPr bwMode="gray">
          <a:xfrm rot="10800000" flipV="1">
            <a:off x="5650668" y="3435064"/>
            <a:ext cx="2002632" cy="16527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1" name="AutoShape 72"/>
          <p:cNvCxnSpPr>
            <a:cxnSpLocks noChangeShapeType="1"/>
            <a:stCxn id="281" idx="1"/>
            <a:endCxn id="169" idx="1"/>
          </p:cNvCxnSpPr>
          <p:nvPr/>
        </p:nvCxnSpPr>
        <p:spPr bwMode="gray">
          <a:xfrm rot="10800000" flipH="1">
            <a:off x="4441689" y="2949898"/>
            <a:ext cx="2086486" cy="1178388"/>
          </a:xfrm>
          <a:prstGeom prst="bentConnector3">
            <a:avLst>
              <a:gd name="adj1" fmla="val -1095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4" name="AutoShape 72"/>
          <p:cNvCxnSpPr>
            <a:cxnSpLocks noChangeShapeType="1"/>
            <a:stCxn id="300" idx="1"/>
            <a:endCxn id="169" idx="1"/>
          </p:cNvCxnSpPr>
          <p:nvPr/>
        </p:nvCxnSpPr>
        <p:spPr bwMode="gray">
          <a:xfrm rot="10800000" flipH="1">
            <a:off x="4436229" y="2949898"/>
            <a:ext cx="2091945" cy="650444"/>
          </a:xfrm>
          <a:prstGeom prst="bentConnector3">
            <a:avLst>
              <a:gd name="adj1" fmla="val -10928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7" name="Text Box 121"/>
          <p:cNvSpPr txBox="1">
            <a:spLocks noChangeArrowheads="1"/>
          </p:cNvSpPr>
          <p:nvPr/>
        </p:nvSpPr>
        <p:spPr bwMode="gray">
          <a:xfrm>
            <a:off x="4164796" y="2605439"/>
            <a:ext cx="1501439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smtClean="0">
                <a:latin typeface="+mn-ea"/>
                <a:ea typeface="+mn-ea"/>
              </a:rPr>
              <a:t>카드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현금영수증취소요청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453" name="AutoShape 86"/>
          <p:cNvSpPr>
            <a:spLocks noChangeArrowheads="1"/>
          </p:cNvSpPr>
          <p:nvPr/>
        </p:nvSpPr>
        <p:spPr bwMode="auto">
          <a:xfrm>
            <a:off x="8391707" y="119367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판매결재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T_SALE_STLM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454" name="AutoShape 86"/>
          <p:cNvSpPr>
            <a:spLocks noChangeArrowheads="1"/>
          </p:cNvSpPr>
          <p:nvPr/>
        </p:nvSpPr>
        <p:spPr bwMode="auto">
          <a:xfrm>
            <a:off x="9093460" y="121267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제품월수불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T_M_RNDS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55" name="AutoShape 72"/>
          <p:cNvCxnSpPr>
            <a:cxnSpLocks noChangeShapeType="1"/>
            <a:stCxn id="284" idx="0"/>
            <a:endCxn id="453" idx="3"/>
          </p:cNvCxnSpPr>
          <p:nvPr/>
        </p:nvCxnSpPr>
        <p:spPr bwMode="gray">
          <a:xfrm rot="16200000" flipV="1">
            <a:off x="8448269" y="1908245"/>
            <a:ext cx="784681" cy="331065"/>
          </a:xfrm>
          <a:prstGeom prst="bentConnector3">
            <a:avLst>
              <a:gd name="adj1" fmla="val 69422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" name="AutoShape 72"/>
          <p:cNvCxnSpPr>
            <a:cxnSpLocks noChangeShapeType="1"/>
            <a:stCxn id="284" idx="0"/>
            <a:endCxn id="454" idx="3"/>
          </p:cNvCxnSpPr>
          <p:nvPr/>
        </p:nvCxnSpPr>
        <p:spPr bwMode="gray">
          <a:xfrm rot="5400000" flipH="1" flipV="1">
            <a:off x="8808645" y="1897934"/>
            <a:ext cx="765681" cy="370688"/>
          </a:xfrm>
          <a:prstGeom prst="bentConnector3">
            <a:avLst>
              <a:gd name="adj1" fmla="val 71148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5" name="그룹 494"/>
          <p:cNvGrpSpPr/>
          <p:nvPr/>
        </p:nvGrpSpPr>
        <p:grpSpPr>
          <a:xfrm>
            <a:off x="7088286" y="4764093"/>
            <a:ext cx="1074738" cy="392517"/>
            <a:chOff x="5729470" y="3248980"/>
            <a:chExt cx="1074738" cy="392517"/>
          </a:xfrm>
        </p:grpSpPr>
        <p:sp>
          <p:nvSpPr>
            <p:cNvPr id="496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497" name="Text Box 100"/>
            <p:cNvSpPr txBox="1">
              <a:spLocks noChangeArrowheads="1"/>
            </p:cNvSpPr>
            <p:nvPr/>
          </p:nvSpPr>
          <p:spPr bwMode="gray">
            <a:xfrm>
              <a:off x="5812532" y="3272165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고객포인트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사용여부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500" name="Text Box 103"/>
          <p:cNvSpPr txBox="1">
            <a:spLocks noChangeArrowheads="1"/>
          </p:cNvSpPr>
          <p:nvPr/>
        </p:nvSpPr>
        <p:spPr bwMode="gray">
          <a:xfrm>
            <a:off x="8002286" y="472094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501" name="Text Box 103"/>
          <p:cNvSpPr txBox="1">
            <a:spLocks noChangeArrowheads="1"/>
          </p:cNvSpPr>
          <p:nvPr/>
        </p:nvSpPr>
        <p:spPr bwMode="gray">
          <a:xfrm>
            <a:off x="7273737" y="4543092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502" name="AutoShape 72"/>
          <p:cNvCxnSpPr>
            <a:cxnSpLocks noChangeShapeType="1"/>
            <a:stCxn id="497" idx="0"/>
            <a:endCxn id="256" idx="2"/>
          </p:cNvCxnSpPr>
          <p:nvPr/>
        </p:nvCxnSpPr>
        <p:spPr bwMode="gray">
          <a:xfrm rot="5400000" flipH="1" flipV="1">
            <a:off x="8051568" y="3929190"/>
            <a:ext cx="425701" cy="129047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08" name="AutoShape 72"/>
          <p:cNvCxnSpPr>
            <a:cxnSpLocks noChangeShapeType="1"/>
            <a:stCxn id="284" idx="2"/>
            <a:endCxn id="256" idx="0"/>
          </p:cNvCxnSpPr>
          <p:nvPr/>
        </p:nvCxnSpPr>
        <p:spPr bwMode="gray">
          <a:xfrm rot="5400000">
            <a:off x="8389305" y="3375408"/>
            <a:ext cx="1137189" cy="96485"/>
          </a:xfrm>
          <a:prstGeom prst="bentConnector3">
            <a:avLst>
              <a:gd name="adj1" fmla="val 73453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9" name="Rectangle 71"/>
          <p:cNvSpPr>
            <a:spLocks noChangeArrowheads="1"/>
          </p:cNvSpPr>
          <p:nvPr/>
        </p:nvSpPr>
        <p:spPr bwMode="gray">
          <a:xfrm>
            <a:off x="8445760" y="5076468"/>
            <a:ext cx="1214438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 algn="ctr"/>
            <a:r>
              <a:rPr lang="ko-KR" altLang="en-US" sz="900" dirty="0" smtClean="0">
                <a:latin typeface="+mn-ea"/>
                <a:ea typeface="+mn-ea"/>
                <a:sym typeface="Wingdings" panose="05000000000000000000" pitchFamily="2" charset="2"/>
              </a:rPr>
              <a:t> 고객포인트차감</a:t>
            </a:r>
            <a:endParaRPr lang="ko-KR" altLang="en-US" sz="900" dirty="0">
              <a:latin typeface="+mn-ea"/>
              <a:ea typeface="+mn-ea"/>
            </a:endParaRPr>
          </a:p>
        </p:txBody>
      </p:sp>
      <p:cxnSp>
        <p:nvCxnSpPr>
          <p:cNvPr id="529" name="AutoShape 72"/>
          <p:cNvCxnSpPr>
            <a:cxnSpLocks noChangeShapeType="1"/>
            <a:stCxn id="266" idx="3"/>
            <a:endCxn id="308" idx="2"/>
          </p:cNvCxnSpPr>
          <p:nvPr/>
        </p:nvCxnSpPr>
        <p:spPr bwMode="gray">
          <a:xfrm flipV="1">
            <a:off x="7647964" y="5852072"/>
            <a:ext cx="587686" cy="22150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3" name="AutoShape 72"/>
          <p:cNvCxnSpPr>
            <a:cxnSpLocks noChangeShapeType="1"/>
            <a:stCxn id="496" idx="3"/>
            <a:endCxn id="519" idx="1"/>
          </p:cNvCxnSpPr>
          <p:nvPr/>
        </p:nvCxnSpPr>
        <p:spPr bwMode="gray">
          <a:xfrm>
            <a:off x="8163024" y="4958562"/>
            <a:ext cx="282736" cy="2344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6" name="AutoShape 72"/>
          <p:cNvCxnSpPr>
            <a:cxnSpLocks noChangeShapeType="1"/>
            <a:stCxn id="519" idx="3"/>
            <a:endCxn id="284" idx="3"/>
          </p:cNvCxnSpPr>
          <p:nvPr/>
        </p:nvCxnSpPr>
        <p:spPr bwMode="gray">
          <a:xfrm flipH="1" flipV="1">
            <a:off x="9543510" y="2660587"/>
            <a:ext cx="116688" cy="2532388"/>
          </a:xfrm>
          <a:prstGeom prst="bentConnector3">
            <a:avLst>
              <a:gd name="adj1" fmla="val -9795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0" name="AutoShape 86"/>
          <p:cNvSpPr>
            <a:spLocks noChangeArrowheads="1"/>
          </p:cNvSpPr>
          <p:nvPr/>
        </p:nvSpPr>
        <p:spPr bwMode="auto">
          <a:xfrm>
            <a:off x="8957899" y="581391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고객포인트상세이력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T_CUST_POINT_DETL_HIST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541" name="AutoShape 72"/>
          <p:cNvCxnSpPr>
            <a:cxnSpLocks noChangeShapeType="1"/>
            <a:stCxn id="519" idx="2"/>
            <a:endCxn id="540" idx="1"/>
          </p:cNvCxnSpPr>
          <p:nvPr/>
        </p:nvCxnSpPr>
        <p:spPr bwMode="gray">
          <a:xfrm rot="16200000" flipH="1">
            <a:off x="8894905" y="5467555"/>
            <a:ext cx="504437" cy="18828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4" name="Rectangle 141"/>
          <p:cNvSpPr>
            <a:spLocks noChangeArrowheads="1"/>
          </p:cNvSpPr>
          <p:nvPr/>
        </p:nvSpPr>
        <p:spPr bwMode="gray">
          <a:xfrm>
            <a:off x="322670" y="4004135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err="1" smtClean="0">
                <a:latin typeface="+mn-ea"/>
                <a:ea typeface="+mn-ea"/>
              </a:rPr>
              <a:t>실판매가정보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sp>
        <p:nvSpPr>
          <p:cNvPr id="545" name="Rectangle 141"/>
          <p:cNvSpPr>
            <a:spLocks noChangeArrowheads="1"/>
          </p:cNvSpPr>
          <p:nvPr/>
        </p:nvSpPr>
        <p:spPr bwMode="gray">
          <a:xfrm>
            <a:off x="322670" y="4467580"/>
            <a:ext cx="1082144" cy="2330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900" b="1" dirty="0" smtClean="0">
                <a:latin typeface="+mn-ea"/>
                <a:ea typeface="+mn-ea"/>
              </a:rPr>
              <a:t>매장마진정보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546" name="AutoShape 143"/>
          <p:cNvCxnSpPr>
            <a:cxnSpLocks noChangeShapeType="1"/>
            <a:stCxn id="544" idx="3"/>
            <a:endCxn id="116" idx="1"/>
          </p:cNvCxnSpPr>
          <p:nvPr/>
        </p:nvCxnSpPr>
        <p:spPr bwMode="gray">
          <a:xfrm flipV="1">
            <a:off x="1404814" y="3897558"/>
            <a:ext cx="1522961" cy="223084"/>
          </a:xfrm>
          <a:prstGeom prst="bentConnector3">
            <a:avLst>
              <a:gd name="adj1" fmla="val 38742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2" name="AutoShape 143"/>
          <p:cNvCxnSpPr>
            <a:cxnSpLocks noChangeShapeType="1"/>
            <a:stCxn id="545" idx="3"/>
            <a:endCxn id="116" idx="1"/>
          </p:cNvCxnSpPr>
          <p:nvPr/>
        </p:nvCxnSpPr>
        <p:spPr bwMode="gray">
          <a:xfrm flipV="1">
            <a:off x="1404814" y="3897558"/>
            <a:ext cx="1522961" cy="686529"/>
          </a:xfrm>
          <a:prstGeom prst="bentConnector3">
            <a:avLst>
              <a:gd name="adj1" fmla="val 38742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3" name="AutoShape 72"/>
          <p:cNvCxnSpPr>
            <a:cxnSpLocks noChangeShapeType="1"/>
            <a:stCxn id="155" idx="3"/>
            <a:endCxn id="116" idx="0"/>
          </p:cNvCxnSpPr>
          <p:nvPr/>
        </p:nvCxnSpPr>
        <p:spPr bwMode="gray">
          <a:xfrm>
            <a:off x="1802650" y="3058650"/>
            <a:ext cx="1732344" cy="72240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9" name="AutoShape 86"/>
          <p:cNvSpPr>
            <a:spLocks noChangeArrowheads="1"/>
          </p:cNvSpPr>
          <p:nvPr/>
        </p:nvSpPr>
        <p:spPr bwMode="auto">
          <a:xfrm>
            <a:off x="7023230" y="203108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>
                <a:latin typeface="+mn-ea"/>
              </a:rPr>
              <a:t>매장재고</a:t>
            </a:r>
            <a:endParaRPr lang="en-US" altLang="ko-KR" sz="800" dirty="0">
              <a:latin typeface="+mn-ea"/>
            </a:endParaRPr>
          </a:p>
          <a:p>
            <a:pPr algn="ctr"/>
            <a:r>
              <a:rPr lang="en-US" altLang="ko-KR" sz="800" dirty="0">
                <a:latin typeface="+mn-ea"/>
              </a:rPr>
              <a:t>T_SHOP_STOCK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0" name="AutoShape 72"/>
          <p:cNvCxnSpPr>
            <a:cxnSpLocks noChangeShapeType="1"/>
            <a:stCxn id="285" idx="0"/>
            <a:endCxn id="569" idx="4"/>
          </p:cNvCxnSpPr>
          <p:nvPr/>
        </p:nvCxnSpPr>
        <p:spPr bwMode="gray">
          <a:xfrm rot="16200000" flipV="1">
            <a:off x="8187646" y="1677283"/>
            <a:ext cx="214343" cy="140969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" name="AutoShape 143"/>
          <p:cNvCxnSpPr>
            <a:cxnSpLocks noChangeShapeType="1"/>
            <a:stCxn id="453" idx="1"/>
            <a:endCxn id="324" idx="3"/>
          </p:cNvCxnSpPr>
          <p:nvPr/>
        </p:nvCxnSpPr>
        <p:spPr bwMode="gray">
          <a:xfrm rot="16200000" flipH="1" flipV="1">
            <a:off x="7132878" y="465150"/>
            <a:ext cx="813669" cy="2270726"/>
          </a:xfrm>
          <a:prstGeom prst="bentConnector4">
            <a:avLst>
              <a:gd name="adj1" fmla="val -28095"/>
              <a:gd name="adj2" fmla="val 8812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3732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40" name="Oval 108"/>
          <p:cNvSpPr>
            <a:spLocks noChangeArrowheads="1"/>
          </p:cNvSpPr>
          <p:nvPr/>
        </p:nvSpPr>
        <p:spPr bwMode="gray">
          <a:xfrm>
            <a:off x="7909908" y="2337445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판매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공급금액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2804905" y="94448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5552451" y="90872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16" name="Oval 108"/>
          <p:cNvSpPr>
            <a:spLocks noChangeArrowheads="1"/>
          </p:cNvSpPr>
          <p:nvPr/>
        </p:nvSpPr>
        <p:spPr bwMode="gray">
          <a:xfrm>
            <a:off x="8914860" y="2334722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사이즈조정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8" name="AutoShape 86"/>
          <p:cNvSpPr>
            <a:spLocks noChangeArrowheads="1"/>
          </p:cNvSpPr>
          <p:nvPr/>
        </p:nvSpPr>
        <p:spPr bwMode="auto">
          <a:xfrm>
            <a:off x="7931339" y="406638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T_SHOP_STOCK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6443547" y="2323370"/>
            <a:ext cx="1074738" cy="388938"/>
            <a:chOff x="5729470" y="3248980"/>
            <a:chExt cx="1074738" cy="388938"/>
          </a:xfrm>
        </p:grpSpPr>
        <p:sp>
          <p:nvSpPr>
            <p:cNvPr id="120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21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사입출고여부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125" name="AutoShape 72"/>
          <p:cNvCxnSpPr>
            <a:cxnSpLocks noChangeShapeType="1"/>
            <a:stCxn id="261" idx="3"/>
            <a:endCxn id="116" idx="0"/>
          </p:cNvCxnSpPr>
          <p:nvPr/>
        </p:nvCxnSpPr>
        <p:spPr bwMode="gray">
          <a:xfrm rot="16200000" flipH="1">
            <a:off x="7063380" y="168917"/>
            <a:ext cx="938244" cy="33933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Text Box 103"/>
          <p:cNvSpPr txBox="1">
            <a:spLocks noChangeArrowheads="1"/>
          </p:cNvSpPr>
          <p:nvPr/>
        </p:nvSpPr>
        <p:spPr bwMode="gray">
          <a:xfrm>
            <a:off x="7380145" y="231451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Y</a:t>
            </a:r>
          </a:p>
        </p:txBody>
      </p:sp>
      <p:sp>
        <p:nvSpPr>
          <p:cNvPr id="131" name="Oval 108"/>
          <p:cNvSpPr>
            <a:spLocks noChangeArrowheads="1"/>
          </p:cNvSpPr>
          <p:nvPr/>
        </p:nvSpPr>
        <p:spPr bwMode="gray">
          <a:xfrm>
            <a:off x="5521635" y="2344662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출고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공급금액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132" name="AutoShape 72"/>
          <p:cNvCxnSpPr>
            <a:cxnSpLocks noChangeShapeType="1"/>
            <a:stCxn id="261" idx="3"/>
            <a:endCxn id="131" idx="0"/>
          </p:cNvCxnSpPr>
          <p:nvPr/>
        </p:nvCxnSpPr>
        <p:spPr bwMode="gray">
          <a:xfrm rot="16200000" flipH="1">
            <a:off x="5361798" y="1870500"/>
            <a:ext cx="948184" cy="1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AutoShape 72"/>
          <p:cNvCxnSpPr>
            <a:cxnSpLocks noChangeShapeType="1"/>
            <a:stCxn id="116" idx="4"/>
            <a:endCxn id="118" idx="4"/>
          </p:cNvCxnSpPr>
          <p:nvPr/>
        </p:nvCxnSpPr>
        <p:spPr bwMode="gray">
          <a:xfrm rot="5400000">
            <a:off x="8052071" y="3133153"/>
            <a:ext cx="1623121" cy="73110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AutoShape 86"/>
          <p:cNvSpPr>
            <a:spLocks noChangeArrowheads="1"/>
          </p:cNvSpPr>
          <p:nvPr/>
        </p:nvSpPr>
        <p:spPr bwMode="auto">
          <a:xfrm>
            <a:off x="3936212" y="473414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제품월수불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T_M_RNDS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96" name="AutoShape 86"/>
          <p:cNvSpPr>
            <a:spLocks noChangeArrowheads="1"/>
          </p:cNvSpPr>
          <p:nvPr/>
        </p:nvSpPr>
        <p:spPr bwMode="auto">
          <a:xfrm>
            <a:off x="3422830" y="531921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T_WH_STOCK_PRDT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4" name="Text Box 121"/>
          <p:cNvSpPr txBox="1">
            <a:spLocks noChangeArrowheads="1"/>
          </p:cNvSpPr>
          <p:nvPr/>
        </p:nvSpPr>
        <p:spPr bwMode="gray">
          <a:xfrm>
            <a:off x="5848424" y="1523977"/>
            <a:ext cx="214351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SP_SHOP_STOCK_UPDAT_A(</a:t>
            </a:r>
            <a:r>
              <a:rPr lang="ko-KR" altLang="en-US" sz="800" b="1" dirty="0" smtClean="0">
                <a:latin typeface="+mn-ea"/>
                <a:ea typeface="+mn-ea"/>
              </a:rPr>
              <a:t>브랜드코드</a:t>
            </a:r>
            <a:r>
              <a:rPr lang="en-US" altLang="ko-KR" sz="800" b="1" dirty="0" smtClean="0">
                <a:latin typeface="+mn-ea"/>
                <a:ea typeface="+mn-ea"/>
              </a:rPr>
              <a:t>)</a:t>
            </a:r>
          </a:p>
          <a:p>
            <a:r>
              <a:rPr lang="en-US" altLang="ko-KR" sz="800" b="1" dirty="0" smtClean="0">
                <a:latin typeface="+mn-ea"/>
                <a:ea typeface="+mn-ea"/>
              </a:rPr>
              <a:t>SP_SHOP_STOCK_UPDATE_PSY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09" name="그룹 208"/>
          <p:cNvGrpSpPr/>
          <p:nvPr/>
        </p:nvGrpSpPr>
        <p:grpSpPr>
          <a:xfrm>
            <a:off x="3943916" y="3022809"/>
            <a:ext cx="1074738" cy="388938"/>
            <a:chOff x="5729470" y="3248980"/>
            <a:chExt cx="1074738" cy="388938"/>
          </a:xfrm>
        </p:grpSpPr>
        <p:sp>
          <p:nvSpPr>
            <p:cNvPr id="210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11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직영점여부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224" name="Text Box 103"/>
          <p:cNvSpPr txBox="1">
            <a:spLocks noChangeArrowheads="1"/>
          </p:cNvSpPr>
          <p:nvPr/>
        </p:nvSpPr>
        <p:spPr bwMode="gray">
          <a:xfrm>
            <a:off x="4507828" y="336710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Y</a:t>
            </a:r>
          </a:p>
        </p:txBody>
      </p:sp>
      <p:sp>
        <p:nvSpPr>
          <p:cNvPr id="234" name="Text Box 103"/>
          <p:cNvSpPr txBox="1">
            <a:spLocks noChangeArrowheads="1"/>
          </p:cNvSpPr>
          <p:nvPr/>
        </p:nvSpPr>
        <p:spPr bwMode="gray">
          <a:xfrm>
            <a:off x="3826243" y="2982529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latin typeface="+mn-ea"/>
                <a:ea typeface="+mn-ea"/>
              </a:rPr>
              <a:t>N</a:t>
            </a:r>
          </a:p>
        </p:txBody>
      </p:sp>
      <p:sp>
        <p:nvSpPr>
          <p:cNvPr id="235" name="Oval 108"/>
          <p:cNvSpPr>
            <a:spLocks noChangeArrowheads="1"/>
          </p:cNvSpPr>
          <p:nvPr/>
        </p:nvSpPr>
        <p:spPr bwMode="gray">
          <a:xfrm>
            <a:off x="4170010" y="3800624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직영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판매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출고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6" name="AutoShape 72"/>
          <p:cNvCxnSpPr>
            <a:cxnSpLocks noChangeShapeType="1"/>
            <a:stCxn id="210" idx="2"/>
            <a:endCxn id="235" idx="0"/>
          </p:cNvCxnSpPr>
          <p:nvPr/>
        </p:nvCxnSpPr>
        <p:spPr bwMode="gray">
          <a:xfrm>
            <a:off x="4481285" y="3411747"/>
            <a:ext cx="3050" cy="388877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" name="Oval 108"/>
          <p:cNvSpPr>
            <a:spLocks noChangeArrowheads="1"/>
          </p:cNvSpPr>
          <p:nvPr/>
        </p:nvSpPr>
        <p:spPr bwMode="gray">
          <a:xfrm>
            <a:off x="3428013" y="3801068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매장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판매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출고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47" name="AutoShape 72"/>
          <p:cNvCxnSpPr>
            <a:cxnSpLocks noChangeShapeType="1"/>
            <a:stCxn id="210" idx="1"/>
            <a:endCxn id="246" idx="0"/>
          </p:cNvCxnSpPr>
          <p:nvPr/>
        </p:nvCxnSpPr>
        <p:spPr bwMode="gray">
          <a:xfrm rot="10800000" flipV="1">
            <a:off x="3742338" y="3217278"/>
            <a:ext cx="201578" cy="583790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0" name="Oval 108"/>
          <p:cNvSpPr>
            <a:spLocks noChangeArrowheads="1"/>
          </p:cNvSpPr>
          <p:nvPr/>
        </p:nvSpPr>
        <p:spPr bwMode="gray">
          <a:xfrm>
            <a:off x="812540" y="3796896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입고수량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51" name="Oval 108"/>
          <p:cNvSpPr>
            <a:spLocks noChangeArrowheads="1"/>
          </p:cNvSpPr>
          <p:nvPr/>
        </p:nvSpPr>
        <p:spPr bwMode="gray">
          <a:xfrm>
            <a:off x="2119105" y="3796009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자가소모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sp>
        <p:nvSpPr>
          <p:cNvPr id="256" name="Text Box 121"/>
          <p:cNvSpPr txBox="1">
            <a:spLocks noChangeArrowheads="1"/>
          </p:cNvSpPr>
          <p:nvPr/>
        </p:nvSpPr>
        <p:spPr bwMode="gray">
          <a:xfrm>
            <a:off x="2497978" y="4786891"/>
            <a:ext cx="1376322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SP_M_RNDS_UPDATE01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57" name="Oval 108"/>
          <p:cNvSpPr>
            <a:spLocks noChangeArrowheads="1"/>
          </p:cNvSpPr>
          <p:nvPr/>
        </p:nvSpPr>
        <p:spPr bwMode="gray">
          <a:xfrm>
            <a:off x="2777750" y="3787075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noProof="0" dirty="0" smtClean="0">
                <a:solidFill>
                  <a:srgbClr val="000000"/>
                </a:solidFill>
                <a:latin typeface="+mn-ea"/>
                <a:ea typeface="+mn-ea"/>
              </a:rPr>
              <a:t>이체</a:t>
            </a: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cxnSp>
        <p:nvCxnSpPr>
          <p:cNvPr id="266" name="AutoShape 72"/>
          <p:cNvCxnSpPr>
            <a:cxnSpLocks noChangeShapeType="1"/>
            <a:stCxn id="260" idx="3"/>
            <a:endCxn id="250" idx="0"/>
          </p:cNvCxnSpPr>
          <p:nvPr/>
        </p:nvCxnSpPr>
        <p:spPr bwMode="gray">
          <a:xfrm rot="5400000">
            <a:off x="925245" y="1633866"/>
            <a:ext cx="2364651" cy="196140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0" name="AutoShape 72"/>
          <p:cNvCxnSpPr>
            <a:cxnSpLocks noChangeShapeType="1"/>
            <a:stCxn id="260" idx="3"/>
            <a:endCxn id="251" idx="0"/>
          </p:cNvCxnSpPr>
          <p:nvPr/>
        </p:nvCxnSpPr>
        <p:spPr bwMode="gray">
          <a:xfrm rot="5400000">
            <a:off x="1578970" y="2286705"/>
            <a:ext cx="2363764" cy="6548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" name="AutoShape 72"/>
          <p:cNvCxnSpPr>
            <a:cxnSpLocks noChangeShapeType="1"/>
            <a:stCxn id="260" idx="3"/>
            <a:endCxn id="257" idx="0"/>
          </p:cNvCxnSpPr>
          <p:nvPr/>
        </p:nvCxnSpPr>
        <p:spPr bwMode="gray">
          <a:xfrm rot="16200000" flipH="1">
            <a:off x="1912759" y="2607759"/>
            <a:ext cx="2354830" cy="38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9" name="AutoShape 72"/>
          <p:cNvCxnSpPr>
            <a:cxnSpLocks noChangeShapeType="1"/>
            <a:stCxn id="251" idx="4"/>
            <a:endCxn id="168" idx="1"/>
          </p:cNvCxnSpPr>
          <p:nvPr/>
        </p:nvCxnSpPr>
        <p:spPr bwMode="gray">
          <a:xfrm rot="16200000" flipH="1">
            <a:off x="3033650" y="3548213"/>
            <a:ext cx="585711" cy="17861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2" name="AutoShape 72"/>
          <p:cNvCxnSpPr>
            <a:cxnSpLocks noChangeShapeType="1"/>
            <a:stCxn id="257" idx="4"/>
            <a:endCxn id="168" idx="1"/>
          </p:cNvCxnSpPr>
          <p:nvPr/>
        </p:nvCxnSpPr>
        <p:spPr bwMode="gray">
          <a:xfrm rot="16200000" flipH="1">
            <a:off x="3358506" y="3873069"/>
            <a:ext cx="594645" cy="11275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5" name="AutoShape 72"/>
          <p:cNvCxnSpPr>
            <a:cxnSpLocks noChangeShapeType="1"/>
            <a:stCxn id="246" idx="4"/>
            <a:endCxn id="168" idx="1"/>
          </p:cNvCxnSpPr>
          <p:nvPr/>
        </p:nvCxnSpPr>
        <p:spPr bwMode="gray">
          <a:xfrm rot="16200000" flipH="1">
            <a:off x="3690633" y="4205197"/>
            <a:ext cx="580652" cy="47724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2" name="AutoShape 72"/>
          <p:cNvCxnSpPr>
            <a:cxnSpLocks noChangeShapeType="1"/>
            <a:stCxn id="235" idx="4"/>
            <a:endCxn id="168" idx="1"/>
          </p:cNvCxnSpPr>
          <p:nvPr/>
        </p:nvCxnSpPr>
        <p:spPr bwMode="gray">
          <a:xfrm rot="5400000">
            <a:off x="4061410" y="4311220"/>
            <a:ext cx="581096" cy="2647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" name="AutoShape 72"/>
          <p:cNvCxnSpPr>
            <a:cxnSpLocks noChangeShapeType="1"/>
            <a:stCxn id="261" idx="3"/>
            <a:endCxn id="340" idx="0"/>
          </p:cNvCxnSpPr>
          <p:nvPr/>
        </p:nvCxnSpPr>
        <p:spPr bwMode="gray">
          <a:xfrm rot="16200000" flipH="1">
            <a:off x="6559543" y="672754"/>
            <a:ext cx="940967" cy="23884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4" name="AutoShape 72"/>
          <p:cNvCxnSpPr>
            <a:cxnSpLocks noChangeShapeType="1"/>
            <a:stCxn id="131" idx="4"/>
          </p:cNvCxnSpPr>
          <p:nvPr/>
        </p:nvCxnSpPr>
        <p:spPr bwMode="gray">
          <a:xfrm rot="16200000" flipH="1">
            <a:off x="6081766" y="2451281"/>
            <a:ext cx="1631163" cy="212277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" name="AutoShape 72"/>
          <p:cNvCxnSpPr>
            <a:cxnSpLocks noChangeShapeType="1"/>
            <a:stCxn id="131" idx="6"/>
            <a:endCxn id="120" idx="1"/>
          </p:cNvCxnSpPr>
          <p:nvPr/>
        </p:nvCxnSpPr>
        <p:spPr bwMode="gray">
          <a:xfrm flipV="1">
            <a:off x="6150285" y="2517839"/>
            <a:ext cx="293262" cy="3036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4" name="AutoShape 72"/>
          <p:cNvCxnSpPr>
            <a:cxnSpLocks noChangeShapeType="1"/>
            <a:stCxn id="131" idx="2"/>
            <a:endCxn id="210" idx="0"/>
          </p:cNvCxnSpPr>
          <p:nvPr/>
        </p:nvCxnSpPr>
        <p:spPr bwMode="gray">
          <a:xfrm rot="10800000" flipV="1">
            <a:off x="4481285" y="2520875"/>
            <a:ext cx="1040350" cy="50193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6" name="AutoShape 72"/>
          <p:cNvCxnSpPr>
            <a:cxnSpLocks noChangeShapeType="1"/>
            <a:stCxn id="120" idx="3"/>
            <a:endCxn id="340" idx="2"/>
          </p:cNvCxnSpPr>
          <p:nvPr/>
        </p:nvCxnSpPr>
        <p:spPr bwMode="gray">
          <a:xfrm flipV="1">
            <a:off x="7518285" y="2513658"/>
            <a:ext cx="391623" cy="4181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6" name="AutoShape 72"/>
          <p:cNvCxnSpPr>
            <a:cxnSpLocks noChangeShapeType="1"/>
            <a:stCxn id="340" idx="4"/>
            <a:endCxn id="210" idx="3"/>
          </p:cNvCxnSpPr>
          <p:nvPr/>
        </p:nvCxnSpPr>
        <p:spPr bwMode="gray">
          <a:xfrm rot="5400000">
            <a:off x="6357740" y="1350785"/>
            <a:ext cx="527408" cy="320557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72"/>
          <p:cNvCxnSpPr>
            <a:cxnSpLocks noChangeShapeType="1"/>
            <a:stCxn id="250" idx="4"/>
            <a:endCxn id="196" idx="2"/>
          </p:cNvCxnSpPr>
          <p:nvPr/>
        </p:nvCxnSpPr>
        <p:spPr bwMode="gray">
          <a:xfrm rot="16200000" flipH="1">
            <a:off x="1567963" y="3708222"/>
            <a:ext cx="1413768" cy="229596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72"/>
          <p:cNvCxnSpPr>
            <a:cxnSpLocks noChangeShapeType="1"/>
            <a:stCxn id="251" idx="4"/>
            <a:endCxn id="196" idx="2"/>
          </p:cNvCxnSpPr>
          <p:nvPr/>
        </p:nvCxnSpPr>
        <p:spPr bwMode="gray">
          <a:xfrm rot="16200000" flipH="1">
            <a:off x="2220803" y="4361061"/>
            <a:ext cx="1414655" cy="989400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7" name="AutoShape 72"/>
          <p:cNvCxnSpPr>
            <a:cxnSpLocks noChangeShapeType="1"/>
            <a:stCxn id="257" idx="4"/>
            <a:endCxn id="196" idx="2"/>
          </p:cNvCxnSpPr>
          <p:nvPr/>
        </p:nvCxnSpPr>
        <p:spPr bwMode="gray">
          <a:xfrm rot="16200000" flipH="1">
            <a:off x="2545658" y="4685916"/>
            <a:ext cx="1423589" cy="33075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0" name="Oval 108"/>
          <p:cNvSpPr>
            <a:spLocks noChangeArrowheads="1"/>
          </p:cNvSpPr>
          <p:nvPr/>
        </p:nvSpPr>
        <p:spPr bwMode="gray">
          <a:xfrm>
            <a:off x="137465" y="3777846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입고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수량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71" name="AutoShape 86"/>
          <p:cNvSpPr>
            <a:spLocks noChangeArrowheads="1"/>
          </p:cNvSpPr>
          <p:nvPr/>
        </p:nvSpPr>
        <p:spPr bwMode="auto">
          <a:xfrm>
            <a:off x="605842" y="952459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입고원가금액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T_M_STOR_AMT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72" name="AutoShape 72"/>
          <p:cNvCxnSpPr>
            <a:cxnSpLocks noChangeShapeType="1"/>
            <a:stCxn id="371" idx="3"/>
            <a:endCxn id="370" idx="0"/>
          </p:cNvCxnSpPr>
          <p:nvPr/>
        </p:nvCxnSpPr>
        <p:spPr bwMode="gray">
          <a:xfrm rot="5400000">
            <a:off x="-498313" y="2390321"/>
            <a:ext cx="2337629" cy="43742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5" name="AutoShape 72"/>
          <p:cNvCxnSpPr>
            <a:cxnSpLocks noChangeShapeType="1"/>
            <a:stCxn id="370" idx="4"/>
            <a:endCxn id="168" idx="2"/>
          </p:cNvCxnSpPr>
          <p:nvPr/>
        </p:nvCxnSpPr>
        <p:spPr bwMode="gray">
          <a:xfrm rot="16200000" flipH="1">
            <a:off x="1770125" y="2811936"/>
            <a:ext cx="847753" cy="3484422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" name="Text Box 121"/>
          <p:cNvSpPr txBox="1">
            <a:spLocks noChangeArrowheads="1"/>
          </p:cNvSpPr>
          <p:nvPr/>
        </p:nvSpPr>
        <p:spPr bwMode="gray">
          <a:xfrm>
            <a:off x="256372" y="2380076"/>
            <a:ext cx="1376322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SP_M_RNDS_UPDATE01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80" name="Text Box 121"/>
          <p:cNvSpPr txBox="1">
            <a:spLocks noChangeArrowheads="1"/>
          </p:cNvSpPr>
          <p:nvPr/>
        </p:nvSpPr>
        <p:spPr bwMode="gray">
          <a:xfrm>
            <a:off x="2207695" y="5319210"/>
            <a:ext cx="1376322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SP_WHSTOCK_DAILY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88" name="Oval 108"/>
          <p:cNvSpPr>
            <a:spLocks noChangeArrowheads="1"/>
          </p:cNvSpPr>
          <p:nvPr/>
        </p:nvSpPr>
        <p:spPr bwMode="gray">
          <a:xfrm>
            <a:off x="1445402" y="3789040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물량이동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cxnSp>
        <p:nvCxnSpPr>
          <p:cNvPr id="391" name="AutoShape 72"/>
          <p:cNvCxnSpPr>
            <a:cxnSpLocks noChangeShapeType="1"/>
            <a:stCxn id="260" idx="3"/>
            <a:endCxn id="388" idx="0"/>
          </p:cNvCxnSpPr>
          <p:nvPr/>
        </p:nvCxnSpPr>
        <p:spPr bwMode="gray">
          <a:xfrm rot="5400000">
            <a:off x="1245604" y="1946369"/>
            <a:ext cx="2356795" cy="132854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AutoShape 72"/>
          <p:cNvCxnSpPr>
            <a:cxnSpLocks noChangeShapeType="1"/>
            <a:stCxn id="388" idx="4"/>
            <a:endCxn id="196" idx="2"/>
          </p:cNvCxnSpPr>
          <p:nvPr/>
        </p:nvCxnSpPr>
        <p:spPr bwMode="gray">
          <a:xfrm rot="16200000" flipH="1">
            <a:off x="1880466" y="4020725"/>
            <a:ext cx="1421624" cy="166310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" name="Text Box 121"/>
          <p:cNvSpPr txBox="1">
            <a:spLocks noChangeArrowheads="1"/>
          </p:cNvSpPr>
          <p:nvPr/>
        </p:nvSpPr>
        <p:spPr bwMode="gray">
          <a:xfrm>
            <a:off x="7289295" y="2590123"/>
            <a:ext cx="67499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err="1" smtClean="0">
                <a:latin typeface="+mn-ea"/>
                <a:ea typeface="+mn-ea"/>
              </a:rPr>
              <a:t>사입출고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판매합산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00" name="Oval 108"/>
          <p:cNvSpPr>
            <a:spLocks noChangeArrowheads="1"/>
          </p:cNvSpPr>
          <p:nvPr/>
        </p:nvSpPr>
        <p:spPr bwMode="gray">
          <a:xfrm>
            <a:off x="4704329" y="6139154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창고재고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기초수량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01" name="Oval 108"/>
          <p:cNvSpPr>
            <a:spLocks noChangeArrowheads="1"/>
          </p:cNvSpPr>
          <p:nvPr/>
        </p:nvSpPr>
        <p:spPr bwMode="gray">
          <a:xfrm>
            <a:off x="5390650" y="6142336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기초수량</a:t>
            </a:r>
          </a:p>
        </p:txBody>
      </p:sp>
      <p:cxnSp>
        <p:nvCxnSpPr>
          <p:cNvPr id="402" name="AutoShape 72"/>
          <p:cNvCxnSpPr>
            <a:cxnSpLocks noChangeShapeType="1"/>
            <a:stCxn id="118" idx="3"/>
            <a:endCxn id="401" idx="6"/>
          </p:cNvCxnSpPr>
          <p:nvPr/>
        </p:nvCxnSpPr>
        <p:spPr bwMode="gray">
          <a:xfrm rot="5400000">
            <a:off x="6234803" y="4338644"/>
            <a:ext cx="1764402" cy="2195408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" name="AutoShape 72"/>
          <p:cNvCxnSpPr>
            <a:cxnSpLocks noChangeShapeType="1"/>
            <a:stCxn id="168" idx="4"/>
            <a:endCxn id="400" idx="0"/>
          </p:cNvCxnSpPr>
          <p:nvPr/>
        </p:nvCxnSpPr>
        <p:spPr bwMode="gray">
          <a:xfrm>
            <a:off x="4502950" y="4978024"/>
            <a:ext cx="515704" cy="1161130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2" name="Oval 108"/>
          <p:cNvSpPr>
            <a:spLocks noChangeArrowheads="1"/>
          </p:cNvSpPr>
          <p:nvPr/>
        </p:nvSpPr>
        <p:spPr bwMode="gray">
          <a:xfrm>
            <a:off x="5395261" y="5768586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전월수불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단가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13" name="AutoShape 72"/>
          <p:cNvCxnSpPr>
            <a:cxnSpLocks noChangeShapeType="1"/>
            <a:stCxn id="168" idx="4"/>
            <a:endCxn id="412" idx="0"/>
          </p:cNvCxnSpPr>
          <p:nvPr/>
        </p:nvCxnSpPr>
        <p:spPr bwMode="gray">
          <a:xfrm>
            <a:off x="4502950" y="4978024"/>
            <a:ext cx="1206636" cy="790562"/>
          </a:xfrm>
          <a:prstGeom prst="bentConnector2">
            <a:avLst/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7" name="Oval 108"/>
          <p:cNvSpPr>
            <a:spLocks noChangeArrowheads="1"/>
          </p:cNvSpPr>
          <p:nvPr/>
        </p:nvSpPr>
        <p:spPr bwMode="gray">
          <a:xfrm>
            <a:off x="604821" y="5962941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당월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수불단가</a:t>
            </a:r>
          </a:p>
        </p:txBody>
      </p:sp>
      <p:cxnSp>
        <p:nvCxnSpPr>
          <p:cNvPr id="418" name="AutoShape 72"/>
          <p:cNvCxnSpPr>
            <a:cxnSpLocks noChangeShapeType="1"/>
            <a:stCxn id="370" idx="4"/>
            <a:endCxn id="417" idx="2"/>
          </p:cNvCxnSpPr>
          <p:nvPr/>
        </p:nvCxnSpPr>
        <p:spPr bwMode="gray">
          <a:xfrm rot="16200000" flipH="1">
            <a:off x="-476136" y="5058196"/>
            <a:ext cx="2008883" cy="15303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2" name="Rectangle 2"/>
          <p:cNvSpPr>
            <a:spLocks noChangeArrowheads="1"/>
          </p:cNvSpPr>
          <p:nvPr/>
        </p:nvSpPr>
        <p:spPr bwMode="gray">
          <a:xfrm>
            <a:off x="4591023" y="5719326"/>
            <a:ext cx="1601771" cy="8297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423" name="AutoShape 72"/>
          <p:cNvCxnSpPr>
            <a:cxnSpLocks noChangeShapeType="1"/>
            <a:stCxn id="422" idx="1"/>
            <a:endCxn id="417" idx="6"/>
          </p:cNvCxnSpPr>
          <p:nvPr/>
        </p:nvCxnSpPr>
        <p:spPr bwMode="gray">
          <a:xfrm rot="10800000" flipV="1">
            <a:off x="1233471" y="6134190"/>
            <a:ext cx="3357552" cy="49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8" name="AutoShape 72"/>
          <p:cNvCxnSpPr>
            <a:cxnSpLocks noChangeShapeType="1"/>
            <a:stCxn id="417" idx="0"/>
          </p:cNvCxnSpPr>
          <p:nvPr/>
        </p:nvCxnSpPr>
        <p:spPr bwMode="gray">
          <a:xfrm rot="5400000" flipH="1" flipV="1">
            <a:off x="2015493" y="4018842"/>
            <a:ext cx="847753" cy="304044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1" name="Text Box 121"/>
          <p:cNvSpPr txBox="1">
            <a:spLocks noChangeArrowheads="1"/>
          </p:cNvSpPr>
          <p:nvPr/>
        </p:nvSpPr>
        <p:spPr bwMode="gray">
          <a:xfrm>
            <a:off x="528305" y="5664697"/>
            <a:ext cx="103937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err="1" smtClean="0">
                <a:latin typeface="+mn-ea"/>
                <a:ea typeface="+mn-ea"/>
              </a:rPr>
              <a:t>각원가항목</a:t>
            </a:r>
            <a:r>
              <a:rPr lang="ko-KR" altLang="en-US" sz="800" dirty="0" smtClean="0">
                <a:latin typeface="+mn-ea"/>
                <a:ea typeface="+mn-ea"/>
              </a:rPr>
              <a:t> 갱신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32" name="Text Box 121"/>
          <p:cNvSpPr txBox="1">
            <a:spLocks noChangeArrowheads="1"/>
          </p:cNvSpPr>
          <p:nvPr/>
        </p:nvSpPr>
        <p:spPr bwMode="gray">
          <a:xfrm>
            <a:off x="2074052" y="6167626"/>
            <a:ext cx="1752191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SP_M_RNDS_UPDATE02_NEW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438" name="Text Box 121"/>
          <p:cNvSpPr txBox="1">
            <a:spLocks noChangeArrowheads="1"/>
          </p:cNvSpPr>
          <p:nvPr/>
        </p:nvSpPr>
        <p:spPr bwMode="gray">
          <a:xfrm>
            <a:off x="1881130" y="1690819"/>
            <a:ext cx="1376322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SP_STOR_COST_MNG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439" name="Oval 108"/>
          <p:cNvSpPr>
            <a:spLocks noChangeArrowheads="1"/>
          </p:cNvSpPr>
          <p:nvPr/>
        </p:nvSpPr>
        <p:spPr bwMode="gray">
          <a:xfrm>
            <a:off x="7353485" y="4976974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noProof="0" dirty="0" err="1" smtClean="0">
                <a:solidFill>
                  <a:srgbClr val="000000"/>
                </a:solidFill>
                <a:latin typeface="+mn-ea"/>
                <a:ea typeface="+mn-ea"/>
              </a:rPr>
              <a:t>재고평가율</a:t>
            </a:r>
            <a:endParaRPr kumimoji="0" lang="en-US" altLang="ko-KR" sz="900" kern="0" noProof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(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전월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당월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익월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)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40" name="AutoShape 72"/>
          <p:cNvCxnSpPr>
            <a:cxnSpLocks noChangeShapeType="1"/>
            <a:stCxn id="439" idx="2"/>
          </p:cNvCxnSpPr>
          <p:nvPr/>
        </p:nvCxnSpPr>
        <p:spPr bwMode="gray">
          <a:xfrm rot="10800000">
            <a:off x="4532925" y="4820737"/>
            <a:ext cx="2820560" cy="3324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3" name="Text Box 121"/>
          <p:cNvSpPr txBox="1">
            <a:spLocks noChangeArrowheads="1"/>
          </p:cNvSpPr>
          <p:nvPr/>
        </p:nvSpPr>
        <p:spPr bwMode="gray">
          <a:xfrm>
            <a:off x="5868743" y="4968751"/>
            <a:ext cx="1752191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b="1" dirty="0" smtClean="0">
                <a:latin typeface="+mn-ea"/>
                <a:ea typeface="+mn-ea"/>
              </a:rPr>
              <a:t>SP_M_RNDS_UPDATE01A</a:t>
            </a:r>
            <a:endParaRPr lang="en-US" altLang="ko-KR" sz="800" b="1" dirty="0">
              <a:latin typeface="+mn-ea"/>
              <a:ea typeface="+mn-ea"/>
            </a:endParaRPr>
          </a:p>
        </p:txBody>
      </p:sp>
      <p:cxnSp>
        <p:nvCxnSpPr>
          <p:cNvPr id="454" name="AutoShape 72"/>
          <p:cNvCxnSpPr>
            <a:cxnSpLocks noChangeShapeType="1"/>
            <a:stCxn id="340" idx="6"/>
            <a:endCxn id="118" idx="4"/>
          </p:cNvCxnSpPr>
          <p:nvPr/>
        </p:nvCxnSpPr>
        <p:spPr bwMode="gray">
          <a:xfrm flipH="1">
            <a:off x="8498077" y="2513658"/>
            <a:ext cx="40481" cy="1796610"/>
          </a:xfrm>
          <a:prstGeom prst="bentConnector3">
            <a:avLst>
              <a:gd name="adj1" fmla="val -658828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7" name="Oval 108"/>
          <p:cNvSpPr>
            <a:spLocks noChangeArrowheads="1"/>
          </p:cNvSpPr>
          <p:nvPr/>
        </p:nvSpPr>
        <p:spPr bwMode="gray">
          <a:xfrm>
            <a:off x="4953000" y="3790317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출고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69" name="AutoShape 72"/>
          <p:cNvCxnSpPr>
            <a:cxnSpLocks noChangeShapeType="1"/>
            <a:stCxn id="261" idx="2"/>
            <a:endCxn id="467" idx="0"/>
          </p:cNvCxnSpPr>
          <p:nvPr/>
        </p:nvCxnSpPr>
        <p:spPr bwMode="gray">
          <a:xfrm rot="10800000" flipV="1">
            <a:off x="5267325" y="1152599"/>
            <a:ext cx="285126" cy="263771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3" name="AutoShape 72"/>
          <p:cNvCxnSpPr>
            <a:cxnSpLocks noChangeShapeType="1"/>
            <a:stCxn id="467" idx="4"/>
            <a:endCxn id="196" idx="4"/>
          </p:cNvCxnSpPr>
          <p:nvPr/>
        </p:nvCxnSpPr>
        <p:spPr bwMode="gray">
          <a:xfrm rot="5400000">
            <a:off x="3918274" y="4214037"/>
            <a:ext cx="1420347" cy="127775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7" name="Text Box 121"/>
          <p:cNvSpPr txBox="1">
            <a:spLocks noChangeArrowheads="1"/>
          </p:cNvSpPr>
          <p:nvPr/>
        </p:nvSpPr>
        <p:spPr bwMode="gray">
          <a:xfrm>
            <a:off x="3755446" y="4194085"/>
            <a:ext cx="67499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smtClean="0">
                <a:latin typeface="+mn-ea"/>
                <a:ea typeface="+mn-ea"/>
              </a:rPr>
              <a:t>공급금액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479" name="Oval 108"/>
          <p:cNvSpPr>
            <a:spLocks noChangeArrowheads="1"/>
          </p:cNvSpPr>
          <p:nvPr/>
        </p:nvSpPr>
        <p:spPr bwMode="gray">
          <a:xfrm>
            <a:off x="1488349" y="1530587"/>
            <a:ext cx="628650" cy="3524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입고수량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80" name="AutoShape 72"/>
          <p:cNvCxnSpPr>
            <a:cxnSpLocks noChangeShapeType="1"/>
            <a:stCxn id="260" idx="3"/>
            <a:endCxn id="479" idx="6"/>
          </p:cNvCxnSpPr>
          <p:nvPr/>
        </p:nvCxnSpPr>
        <p:spPr bwMode="gray">
          <a:xfrm rot="5400000">
            <a:off x="2465360" y="1083885"/>
            <a:ext cx="274555" cy="97127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" name="AutoShape 72"/>
          <p:cNvCxnSpPr>
            <a:cxnSpLocks noChangeShapeType="1"/>
            <a:stCxn id="479" idx="0"/>
            <a:endCxn id="371" idx="4"/>
          </p:cNvCxnSpPr>
          <p:nvPr/>
        </p:nvCxnSpPr>
        <p:spPr bwMode="gray">
          <a:xfrm rot="16200000" flipV="1">
            <a:off x="1320503" y="1048416"/>
            <a:ext cx="334249" cy="63009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7699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 설명선 95"/>
          <p:cNvSpPr/>
          <p:nvPr/>
        </p:nvSpPr>
        <p:spPr>
          <a:xfrm>
            <a:off x="1541862" y="3243265"/>
            <a:ext cx="1829781" cy="340867"/>
          </a:xfrm>
          <a:prstGeom prst="wedgeRectCallout">
            <a:avLst>
              <a:gd name="adj1" fmla="val -26038"/>
              <a:gd name="adj2" fmla="val 1041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물량이동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창고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&lt;&gt;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창고간 이동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442610" y="5615012"/>
            <a:ext cx="1748761" cy="28524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SP_WHSTOCK_DAILY</a:t>
            </a: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40" name="Oval 108"/>
          <p:cNvSpPr>
            <a:spLocks noChangeArrowheads="1"/>
          </p:cNvSpPr>
          <p:nvPr/>
        </p:nvSpPr>
        <p:spPr bwMode="gray">
          <a:xfrm>
            <a:off x="7909908" y="2337445"/>
            <a:ext cx="628650" cy="35242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판매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공급금액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2804905" y="944487"/>
            <a:ext cx="566738" cy="487758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5552451" y="908720"/>
            <a:ext cx="566738" cy="487758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16" name="Oval 108"/>
          <p:cNvSpPr>
            <a:spLocks noChangeArrowheads="1"/>
          </p:cNvSpPr>
          <p:nvPr/>
        </p:nvSpPr>
        <p:spPr bwMode="gray">
          <a:xfrm>
            <a:off x="8914860" y="2334722"/>
            <a:ext cx="628650" cy="35242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사이즈조정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r>
              <a:rPr kumimoji="0" lang="en-US" altLang="ko-KR" sz="900" kern="0" dirty="0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8" name="AutoShape 86"/>
          <p:cNvSpPr>
            <a:spLocks noChangeArrowheads="1"/>
          </p:cNvSpPr>
          <p:nvPr/>
        </p:nvSpPr>
        <p:spPr bwMode="auto">
          <a:xfrm>
            <a:off x="7931339" y="4066389"/>
            <a:ext cx="566738" cy="487758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T_SHOP_STOCK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19" name="그룹 118"/>
          <p:cNvGrpSpPr/>
          <p:nvPr/>
        </p:nvGrpSpPr>
        <p:grpSpPr>
          <a:xfrm>
            <a:off x="6443547" y="2323370"/>
            <a:ext cx="1074738" cy="388938"/>
            <a:chOff x="5729470" y="3248980"/>
            <a:chExt cx="1074738" cy="388938"/>
          </a:xfrm>
        </p:grpSpPr>
        <p:sp>
          <p:nvSpPr>
            <p:cNvPr id="120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21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사입출고여부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125" name="AutoShape 72"/>
          <p:cNvCxnSpPr>
            <a:cxnSpLocks noChangeShapeType="1"/>
            <a:stCxn id="261" idx="3"/>
            <a:endCxn id="116" idx="0"/>
          </p:cNvCxnSpPr>
          <p:nvPr/>
        </p:nvCxnSpPr>
        <p:spPr bwMode="gray">
          <a:xfrm rot="16200000" flipH="1">
            <a:off x="7063380" y="168917"/>
            <a:ext cx="938244" cy="33933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8" name="Text Box 103"/>
          <p:cNvSpPr txBox="1">
            <a:spLocks noChangeArrowheads="1"/>
          </p:cNvSpPr>
          <p:nvPr/>
        </p:nvSpPr>
        <p:spPr bwMode="gray">
          <a:xfrm>
            <a:off x="7380145" y="2314511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solidFill>
                  <a:srgbClr val="00B0F0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131" name="Oval 108"/>
          <p:cNvSpPr>
            <a:spLocks noChangeArrowheads="1"/>
          </p:cNvSpPr>
          <p:nvPr/>
        </p:nvSpPr>
        <p:spPr bwMode="gray">
          <a:xfrm>
            <a:off x="5521635" y="2344662"/>
            <a:ext cx="628650" cy="352425"/>
          </a:xfrm>
          <a:prstGeom prst="ellipse">
            <a:avLst/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출고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공급금액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132" name="AutoShape 72"/>
          <p:cNvCxnSpPr>
            <a:cxnSpLocks noChangeShapeType="1"/>
            <a:stCxn id="261" idx="3"/>
            <a:endCxn id="131" idx="0"/>
          </p:cNvCxnSpPr>
          <p:nvPr/>
        </p:nvCxnSpPr>
        <p:spPr bwMode="gray">
          <a:xfrm rot="16200000" flipH="1">
            <a:off x="5361798" y="1870500"/>
            <a:ext cx="948184" cy="1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AutoShape 72"/>
          <p:cNvCxnSpPr>
            <a:cxnSpLocks noChangeShapeType="1"/>
            <a:stCxn id="116" idx="4"/>
            <a:endCxn id="118" idx="4"/>
          </p:cNvCxnSpPr>
          <p:nvPr/>
        </p:nvCxnSpPr>
        <p:spPr bwMode="gray">
          <a:xfrm rot="5400000">
            <a:off x="8052071" y="3133153"/>
            <a:ext cx="1623121" cy="731108"/>
          </a:xfrm>
          <a:prstGeom prst="bentConnector2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8" name="AutoShape 86"/>
          <p:cNvSpPr>
            <a:spLocks noChangeArrowheads="1"/>
          </p:cNvSpPr>
          <p:nvPr/>
        </p:nvSpPr>
        <p:spPr bwMode="auto">
          <a:xfrm>
            <a:off x="3936212" y="4734145"/>
            <a:ext cx="566738" cy="487758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제품월수불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T_M_RNDS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96" name="AutoShape 86"/>
          <p:cNvSpPr>
            <a:spLocks noChangeArrowheads="1"/>
          </p:cNvSpPr>
          <p:nvPr/>
        </p:nvSpPr>
        <p:spPr bwMode="auto">
          <a:xfrm>
            <a:off x="3422830" y="5319210"/>
            <a:ext cx="566738" cy="487758"/>
          </a:xfrm>
          <a:prstGeom prst="can">
            <a:avLst>
              <a:gd name="adj" fmla="val 25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T_WH_STOCK_PRDT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209" name="그룹 208"/>
          <p:cNvGrpSpPr/>
          <p:nvPr/>
        </p:nvGrpSpPr>
        <p:grpSpPr>
          <a:xfrm>
            <a:off x="3943916" y="3022809"/>
            <a:ext cx="1074738" cy="388938"/>
            <a:chOff x="5729470" y="3248980"/>
            <a:chExt cx="1074738" cy="388938"/>
          </a:xfrm>
        </p:grpSpPr>
        <p:sp>
          <p:nvSpPr>
            <p:cNvPr id="210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11" name="Text Box 100"/>
            <p:cNvSpPr txBox="1">
              <a:spLocks noChangeArrowheads="1"/>
            </p:cNvSpPr>
            <p:nvPr/>
          </p:nvSpPr>
          <p:spPr bwMode="gray">
            <a:xfrm>
              <a:off x="5812532" y="3329149"/>
              <a:ext cx="895664" cy="2308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직영점여부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224" name="Text Box 103"/>
          <p:cNvSpPr txBox="1">
            <a:spLocks noChangeArrowheads="1"/>
          </p:cNvSpPr>
          <p:nvPr/>
        </p:nvSpPr>
        <p:spPr bwMode="gray">
          <a:xfrm>
            <a:off x="4507828" y="336710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solidFill>
                  <a:srgbClr val="FFC000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34" name="Text Box 103"/>
          <p:cNvSpPr txBox="1">
            <a:spLocks noChangeArrowheads="1"/>
          </p:cNvSpPr>
          <p:nvPr/>
        </p:nvSpPr>
        <p:spPr bwMode="gray">
          <a:xfrm>
            <a:off x="3826243" y="2982529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>
                <a:solidFill>
                  <a:srgbClr val="FFC000"/>
                </a:solidFill>
                <a:latin typeface="+mn-ea"/>
                <a:ea typeface="+mn-ea"/>
              </a:rPr>
              <a:t>N</a:t>
            </a:r>
          </a:p>
        </p:txBody>
      </p:sp>
      <p:sp>
        <p:nvSpPr>
          <p:cNvPr id="235" name="Oval 108"/>
          <p:cNvSpPr>
            <a:spLocks noChangeArrowheads="1"/>
          </p:cNvSpPr>
          <p:nvPr/>
        </p:nvSpPr>
        <p:spPr bwMode="gray">
          <a:xfrm>
            <a:off x="4170010" y="3800624"/>
            <a:ext cx="628650" cy="352425"/>
          </a:xfrm>
          <a:prstGeom prst="ellipse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직영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latin typeface="+mn-ea"/>
                <a:ea typeface="+mn-ea"/>
              </a:rPr>
              <a:t>판매</a:t>
            </a:r>
            <a:r>
              <a:rPr kumimoji="0" lang="en-US" altLang="ko-KR" sz="900" kern="0" dirty="0" smtClean="0"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latin typeface="+mn-ea"/>
                <a:ea typeface="+mn-ea"/>
              </a:rPr>
              <a:t>출고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6" name="AutoShape 72"/>
          <p:cNvCxnSpPr>
            <a:cxnSpLocks noChangeShapeType="1"/>
            <a:stCxn id="210" idx="2"/>
            <a:endCxn id="235" idx="0"/>
          </p:cNvCxnSpPr>
          <p:nvPr/>
        </p:nvCxnSpPr>
        <p:spPr bwMode="gray">
          <a:xfrm>
            <a:off x="4481285" y="3411747"/>
            <a:ext cx="3050" cy="388877"/>
          </a:xfrm>
          <a:prstGeom prst="straightConnector1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6" name="Oval 108"/>
          <p:cNvSpPr>
            <a:spLocks noChangeArrowheads="1"/>
          </p:cNvSpPr>
          <p:nvPr/>
        </p:nvSpPr>
        <p:spPr bwMode="gray">
          <a:xfrm>
            <a:off x="3428013" y="3801068"/>
            <a:ext cx="628650" cy="352425"/>
          </a:xfrm>
          <a:prstGeom prst="ellipse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매장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latin typeface="+mn-ea"/>
                <a:ea typeface="+mn-ea"/>
              </a:rPr>
              <a:t>판매</a:t>
            </a:r>
            <a:r>
              <a:rPr kumimoji="0" lang="en-US" altLang="ko-KR" sz="900" kern="0" dirty="0" smtClean="0"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latin typeface="+mn-ea"/>
                <a:ea typeface="+mn-ea"/>
              </a:rPr>
              <a:t>출고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47" name="AutoShape 72"/>
          <p:cNvCxnSpPr>
            <a:cxnSpLocks noChangeShapeType="1"/>
            <a:stCxn id="210" idx="1"/>
            <a:endCxn id="246" idx="0"/>
          </p:cNvCxnSpPr>
          <p:nvPr/>
        </p:nvCxnSpPr>
        <p:spPr bwMode="gray">
          <a:xfrm rot="10800000" flipV="1">
            <a:off x="3742338" y="3217278"/>
            <a:ext cx="201578" cy="583790"/>
          </a:xfrm>
          <a:prstGeom prst="bentConnector2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0" name="Oval 108"/>
          <p:cNvSpPr>
            <a:spLocks noChangeArrowheads="1"/>
          </p:cNvSpPr>
          <p:nvPr/>
        </p:nvSpPr>
        <p:spPr bwMode="gray">
          <a:xfrm>
            <a:off x="812540" y="3796896"/>
            <a:ext cx="628650" cy="35242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입고수량</a:t>
            </a:r>
          </a:p>
        </p:txBody>
      </p:sp>
      <p:sp>
        <p:nvSpPr>
          <p:cNvPr id="251" name="Oval 108"/>
          <p:cNvSpPr>
            <a:spLocks noChangeArrowheads="1"/>
          </p:cNvSpPr>
          <p:nvPr/>
        </p:nvSpPr>
        <p:spPr bwMode="gray">
          <a:xfrm>
            <a:off x="2119105" y="3796009"/>
            <a:ext cx="628650" cy="352425"/>
          </a:xfrm>
          <a:prstGeom prst="ellipse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자가소모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sp>
        <p:nvSpPr>
          <p:cNvPr id="257" name="Oval 108"/>
          <p:cNvSpPr>
            <a:spLocks noChangeArrowheads="1"/>
          </p:cNvSpPr>
          <p:nvPr/>
        </p:nvSpPr>
        <p:spPr bwMode="gray">
          <a:xfrm>
            <a:off x="2777750" y="3787075"/>
            <a:ext cx="628650" cy="352425"/>
          </a:xfrm>
          <a:prstGeom prst="ellipse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noProof="0" dirty="0" smtClean="0">
                <a:latin typeface="+mn-ea"/>
                <a:ea typeface="+mn-ea"/>
              </a:rPr>
              <a:t>이체</a:t>
            </a: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cxnSp>
        <p:nvCxnSpPr>
          <p:cNvPr id="266" name="AutoShape 72"/>
          <p:cNvCxnSpPr>
            <a:cxnSpLocks noChangeShapeType="1"/>
            <a:stCxn id="260" idx="3"/>
            <a:endCxn id="250" idx="0"/>
          </p:cNvCxnSpPr>
          <p:nvPr/>
        </p:nvCxnSpPr>
        <p:spPr bwMode="gray">
          <a:xfrm rot="5400000">
            <a:off x="925245" y="1633866"/>
            <a:ext cx="2364651" cy="196140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0" name="AutoShape 72"/>
          <p:cNvCxnSpPr>
            <a:cxnSpLocks noChangeShapeType="1"/>
            <a:stCxn id="260" idx="3"/>
            <a:endCxn id="251" idx="0"/>
          </p:cNvCxnSpPr>
          <p:nvPr/>
        </p:nvCxnSpPr>
        <p:spPr bwMode="gray">
          <a:xfrm rot="5400000">
            <a:off x="1578970" y="2286705"/>
            <a:ext cx="2363764" cy="6548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" name="AutoShape 72"/>
          <p:cNvCxnSpPr>
            <a:cxnSpLocks noChangeShapeType="1"/>
            <a:stCxn id="260" idx="3"/>
            <a:endCxn id="257" idx="0"/>
          </p:cNvCxnSpPr>
          <p:nvPr/>
        </p:nvCxnSpPr>
        <p:spPr bwMode="gray">
          <a:xfrm rot="16200000" flipH="1">
            <a:off x="1912759" y="2607759"/>
            <a:ext cx="2354830" cy="380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9" name="AutoShape 72"/>
          <p:cNvCxnSpPr>
            <a:cxnSpLocks noChangeShapeType="1"/>
            <a:stCxn id="251" idx="4"/>
            <a:endCxn id="168" idx="1"/>
          </p:cNvCxnSpPr>
          <p:nvPr/>
        </p:nvCxnSpPr>
        <p:spPr bwMode="gray">
          <a:xfrm rot="16200000" flipH="1">
            <a:off x="3033650" y="3548213"/>
            <a:ext cx="585711" cy="17861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2" name="AutoShape 72"/>
          <p:cNvCxnSpPr>
            <a:cxnSpLocks noChangeShapeType="1"/>
            <a:stCxn id="257" idx="4"/>
            <a:endCxn id="168" idx="1"/>
          </p:cNvCxnSpPr>
          <p:nvPr/>
        </p:nvCxnSpPr>
        <p:spPr bwMode="gray">
          <a:xfrm rot="16200000" flipH="1">
            <a:off x="3358506" y="3873069"/>
            <a:ext cx="594645" cy="11275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5" name="AutoShape 72"/>
          <p:cNvCxnSpPr>
            <a:cxnSpLocks noChangeShapeType="1"/>
            <a:stCxn id="246" idx="4"/>
            <a:endCxn id="168" idx="1"/>
          </p:cNvCxnSpPr>
          <p:nvPr/>
        </p:nvCxnSpPr>
        <p:spPr bwMode="gray">
          <a:xfrm rot="16200000" flipH="1">
            <a:off x="3690633" y="4205197"/>
            <a:ext cx="580652" cy="47724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2" name="AutoShape 72"/>
          <p:cNvCxnSpPr>
            <a:cxnSpLocks noChangeShapeType="1"/>
            <a:stCxn id="235" idx="4"/>
            <a:endCxn id="168" idx="1"/>
          </p:cNvCxnSpPr>
          <p:nvPr/>
        </p:nvCxnSpPr>
        <p:spPr bwMode="gray">
          <a:xfrm rot="5400000">
            <a:off x="4061410" y="4311220"/>
            <a:ext cx="581096" cy="26475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" name="AutoShape 72"/>
          <p:cNvCxnSpPr>
            <a:cxnSpLocks noChangeShapeType="1"/>
            <a:stCxn id="261" idx="3"/>
            <a:endCxn id="340" idx="0"/>
          </p:cNvCxnSpPr>
          <p:nvPr/>
        </p:nvCxnSpPr>
        <p:spPr bwMode="gray">
          <a:xfrm rot="16200000" flipH="1">
            <a:off x="6559543" y="672754"/>
            <a:ext cx="940967" cy="23884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4" name="AutoShape 72"/>
          <p:cNvCxnSpPr>
            <a:cxnSpLocks noChangeShapeType="1"/>
            <a:stCxn id="131" idx="4"/>
          </p:cNvCxnSpPr>
          <p:nvPr/>
        </p:nvCxnSpPr>
        <p:spPr bwMode="gray">
          <a:xfrm rot="16200000" flipH="1">
            <a:off x="6081766" y="2451281"/>
            <a:ext cx="1631163" cy="2122774"/>
          </a:xfrm>
          <a:prstGeom prst="bentConnector2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" name="AutoShape 72"/>
          <p:cNvCxnSpPr>
            <a:cxnSpLocks noChangeShapeType="1"/>
            <a:stCxn id="131" idx="6"/>
            <a:endCxn id="120" idx="1"/>
          </p:cNvCxnSpPr>
          <p:nvPr/>
        </p:nvCxnSpPr>
        <p:spPr bwMode="gray">
          <a:xfrm flipV="1">
            <a:off x="6150285" y="2517839"/>
            <a:ext cx="293262" cy="3036"/>
          </a:xfrm>
          <a:prstGeom prst="straightConnector1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4" name="AutoShape 72"/>
          <p:cNvCxnSpPr>
            <a:cxnSpLocks noChangeShapeType="1"/>
            <a:stCxn id="131" idx="2"/>
            <a:endCxn id="210" idx="0"/>
          </p:cNvCxnSpPr>
          <p:nvPr/>
        </p:nvCxnSpPr>
        <p:spPr bwMode="gray">
          <a:xfrm rot="10800000" flipV="1">
            <a:off x="4481285" y="2520875"/>
            <a:ext cx="1040350" cy="501934"/>
          </a:xfrm>
          <a:prstGeom prst="bentConnector2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6" name="AutoShape 72"/>
          <p:cNvCxnSpPr>
            <a:cxnSpLocks noChangeShapeType="1"/>
            <a:stCxn id="120" idx="3"/>
            <a:endCxn id="340" idx="2"/>
          </p:cNvCxnSpPr>
          <p:nvPr/>
        </p:nvCxnSpPr>
        <p:spPr bwMode="gray">
          <a:xfrm flipV="1">
            <a:off x="7518285" y="2513658"/>
            <a:ext cx="391623" cy="4181"/>
          </a:xfrm>
          <a:prstGeom prst="straightConnector1">
            <a:avLst/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6" name="AutoShape 72"/>
          <p:cNvCxnSpPr>
            <a:cxnSpLocks noChangeShapeType="1"/>
            <a:stCxn id="340" idx="4"/>
            <a:endCxn id="210" idx="3"/>
          </p:cNvCxnSpPr>
          <p:nvPr/>
        </p:nvCxnSpPr>
        <p:spPr bwMode="gray">
          <a:xfrm rot="5400000">
            <a:off x="6357740" y="1350785"/>
            <a:ext cx="527408" cy="3205579"/>
          </a:xfrm>
          <a:prstGeom prst="bentConnector2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9" name="AutoShape 72"/>
          <p:cNvCxnSpPr>
            <a:cxnSpLocks noChangeShapeType="1"/>
            <a:stCxn id="250" idx="4"/>
            <a:endCxn id="196" idx="2"/>
          </p:cNvCxnSpPr>
          <p:nvPr/>
        </p:nvCxnSpPr>
        <p:spPr bwMode="gray">
          <a:xfrm rot="16200000" flipH="1">
            <a:off x="1567963" y="3708222"/>
            <a:ext cx="1413768" cy="2295965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3" name="AutoShape 72"/>
          <p:cNvCxnSpPr>
            <a:cxnSpLocks noChangeShapeType="1"/>
            <a:stCxn id="251" idx="4"/>
            <a:endCxn id="196" idx="2"/>
          </p:cNvCxnSpPr>
          <p:nvPr/>
        </p:nvCxnSpPr>
        <p:spPr bwMode="gray">
          <a:xfrm rot="16200000" flipH="1">
            <a:off x="2220803" y="4361061"/>
            <a:ext cx="1414655" cy="989400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7" name="AutoShape 72"/>
          <p:cNvCxnSpPr>
            <a:cxnSpLocks noChangeShapeType="1"/>
            <a:stCxn id="257" idx="4"/>
            <a:endCxn id="196" idx="2"/>
          </p:cNvCxnSpPr>
          <p:nvPr/>
        </p:nvCxnSpPr>
        <p:spPr bwMode="gray">
          <a:xfrm rot="16200000" flipH="1">
            <a:off x="2545658" y="4685916"/>
            <a:ext cx="1423589" cy="330755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0" name="Oval 108"/>
          <p:cNvSpPr>
            <a:spLocks noChangeArrowheads="1"/>
          </p:cNvSpPr>
          <p:nvPr/>
        </p:nvSpPr>
        <p:spPr bwMode="gray">
          <a:xfrm>
            <a:off x="137465" y="3777846"/>
            <a:ext cx="628650" cy="352425"/>
          </a:xfrm>
          <a:prstGeom prst="ellipse">
            <a:avLst/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입고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수량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71" name="AutoShape 86"/>
          <p:cNvSpPr>
            <a:spLocks noChangeArrowheads="1"/>
          </p:cNvSpPr>
          <p:nvPr/>
        </p:nvSpPr>
        <p:spPr bwMode="auto">
          <a:xfrm>
            <a:off x="605842" y="952459"/>
            <a:ext cx="566738" cy="487758"/>
          </a:xfrm>
          <a:prstGeom prst="can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입고원가금액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T_M_STOR_AMT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72" name="AutoShape 72"/>
          <p:cNvCxnSpPr>
            <a:cxnSpLocks noChangeShapeType="1"/>
            <a:stCxn id="371" idx="3"/>
            <a:endCxn id="370" idx="0"/>
          </p:cNvCxnSpPr>
          <p:nvPr/>
        </p:nvCxnSpPr>
        <p:spPr bwMode="gray">
          <a:xfrm rot="5400000">
            <a:off x="-498313" y="2390321"/>
            <a:ext cx="2337629" cy="43742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5" name="AutoShape 72"/>
          <p:cNvCxnSpPr>
            <a:cxnSpLocks noChangeShapeType="1"/>
            <a:stCxn id="370" idx="4"/>
            <a:endCxn id="168" idx="2"/>
          </p:cNvCxnSpPr>
          <p:nvPr/>
        </p:nvCxnSpPr>
        <p:spPr bwMode="gray">
          <a:xfrm rot="16200000" flipH="1">
            <a:off x="1770125" y="2811936"/>
            <a:ext cx="847753" cy="3484422"/>
          </a:xfrm>
          <a:prstGeom prst="bentConnector2">
            <a:avLst/>
          </a:prstGeom>
          <a:noFill/>
          <a:ln w="9525">
            <a:solidFill>
              <a:srgbClr val="FFC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8" name="Oval 108"/>
          <p:cNvSpPr>
            <a:spLocks noChangeArrowheads="1"/>
          </p:cNvSpPr>
          <p:nvPr/>
        </p:nvSpPr>
        <p:spPr bwMode="gray">
          <a:xfrm>
            <a:off x="1445402" y="3789040"/>
            <a:ext cx="628650" cy="35242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latin typeface="+mn-ea"/>
                <a:ea typeface="+mn-ea"/>
              </a:rPr>
              <a:t>물량이동</a:t>
            </a:r>
            <a:endParaRPr kumimoji="0" lang="en-US" altLang="ko-KR" sz="900" kern="0" dirty="0" smtClean="0"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수량</a:t>
            </a:r>
          </a:p>
        </p:txBody>
      </p:sp>
      <p:cxnSp>
        <p:nvCxnSpPr>
          <p:cNvPr id="391" name="AutoShape 72"/>
          <p:cNvCxnSpPr>
            <a:cxnSpLocks noChangeShapeType="1"/>
            <a:stCxn id="260" idx="3"/>
            <a:endCxn id="388" idx="0"/>
          </p:cNvCxnSpPr>
          <p:nvPr/>
        </p:nvCxnSpPr>
        <p:spPr bwMode="gray">
          <a:xfrm rot="5400000">
            <a:off x="1245604" y="1946369"/>
            <a:ext cx="2356795" cy="132854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5" name="AutoShape 72"/>
          <p:cNvCxnSpPr>
            <a:cxnSpLocks noChangeShapeType="1"/>
            <a:stCxn id="388" idx="4"/>
            <a:endCxn id="196" idx="2"/>
          </p:cNvCxnSpPr>
          <p:nvPr/>
        </p:nvCxnSpPr>
        <p:spPr bwMode="gray">
          <a:xfrm rot="16200000" flipH="1">
            <a:off x="1880466" y="4020725"/>
            <a:ext cx="1421624" cy="1663103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" name="Text Box 121"/>
          <p:cNvSpPr txBox="1">
            <a:spLocks noChangeArrowheads="1"/>
          </p:cNvSpPr>
          <p:nvPr/>
        </p:nvSpPr>
        <p:spPr bwMode="gray">
          <a:xfrm>
            <a:off x="7289295" y="2590123"/>
            <a:ext cx="674993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err="1" smtClean="0">
                <a:solidFill>
                  <a:srgbClr val="00B0F0"/>
                </a:solidFill>
                <a:latin typeface="+mn-ea"/>
                <a:ea typeface="+mn-ea"/>
              </a:rPr>
              <a:t>사입출고</a:t>
            </a:r>
            <a:endParaRPr lang="en-US" altLang="ko-KR" sz="800" dirty="0" smtClean="0">
              <a:solidFill>
                <a:srgbClr val="00B0F0"/>
              </a:solidFill>
              <a:latin typeface="+mn-ea"/>
              <a:ea typeface="+mn-ea"/>
            </a:endParaRPr>
          </a:p>
          <a:p>
            <a:r>
              <a:rPr lang="ko-KR" altLang="en-US" sz="800" dirty="0" smtClean="0">
                <a:solidFill>
                  <a:srgbClr val="00B0F0"/>
                </a:solidFill>
                <a:latin typeface="+mn-ea"/>
                <a:ea typeface="+mn-ea"/>
              </a:rPr>
              <a:t>판매합산</a:t>
            </a:r>
            <a:endParaRPr lang="en-US" altLang="ko-KR" sz="800" dirty="0">
              <a:solidFill>
                <a:srgbClr val="00B0F0"/>
              </a:solidFill>
              <a:latin typeface="+mn-ea"/>
              <a:ea typeface="+mn-ea"/>
            </a:endParaRPr>
          </a:p>
        </p:txBody>
      </p:sp>
      <p:sp>
        <p:nvSpPr>
          <p:cNvPr id="400" name="Oval 108"/>
          <p:cNvSpPr>
            <a:spLocks noChangeArrowheads="1"/>
          </p:cNvSpPr>
          <p:nvPr/>
        </p:nvSpPr>
        <p:spPr bwMode="gray">
          <a:xfrm>
            <a:off x="4704329" y="6139154"/>
            <a:ext cx="628650" cy="3524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창고재고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기초수량</a:t>
            </a:r>
            <a:r>
              <a:rPr kumimoji="0" lang="en-US" altLang="ko-KR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금액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01" name="Oval 108"/>
          <p:cNvSpPr>
            <a:spLocks noChangeArrowheads="1"/>
          </p:cNvSpPr>
          <p:nvPr/>
        </p:nvSpPr>
        <p:spPr bwMode="gray">
          <a:xfrm>
            <a:off x="5390650" y="6142336"/>
            <a:ext cx="628650" cy="3524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기초수량</a:t>
            </a:r>
          </a:p>
        </p:txBody>
      </p:sp>
      <p:cxnSp>
        <p:nvCxnSpPr>
          <p:cNvPr id="402" name="AutoShape 72"/>
          <p:cNvCxnSpPr>
            <a:cxnSpLocks noChangeShapeType="1"/>
            <a:stCxn id="118" idx="3"/>
            <a:endCxn id="401" idx="6"/>
          </p:cNvCxnSpPr>
          <p:nvPr/>
        </p:nvCxnSpPr>
        <p:spPr bwMode="gray">
          <a:xfrm rot="5400000">
            <a:off x="6234803" y="4338644"/>
            <a:ext cx="1764402" cy="2195408"/>
          </a:xfrm>
          <a:prstGeom prst="bentConnector2">
            <a:avLst/>
          </a:prstGeom>
          <a:noFill/>
          <a:ln w="9525">
            <a:solidFill>
              <a:srgbClr val="92D05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8" name="AutoShape 72"/>
          <p:cNvCxnSpPr>
            <a:cxnSpLocks noChangeShapeType="1"/>
            <a:stCxn id="168" idx="4"/>
            <a:endCxn id="400" idx="0"/>
          </p:cNvCxnSpPr>
          <p:nvPr/>
        </p:nvCxnSpPr>
        <p:spPr bwMode="gray">
          <a:xfrm>
            <a:off x="4502950" y="4978024"/>
            <a:ext cx="515704" cy="1161130"/>
          </a:xfrm>
          <a:prstGeom prst="bentConnector2">
            <a:avLst/>
          </a:prstGeom>
          <a:noFill/>
          <a:ln w="9525">
            <a:solidFill>
              <a:srgbClr val="92D05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2" name="Oval 108"/>
          <p:cNvSpPr>
            <a:spLocks noChangeArrowheads="1"/>
          </p:cNvSpPr>
          <p:nvPr/>
        </p:nvSpPr>
        <p:spPr bwMode="gray">
          <a:xfrm>
            <a:off x="5395261" y="5768586"/>
            <a:ext cx="628650" cy="3524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전월수불</a:t>
            </a:r>
            <a:endParaRPr kumimoji="0" lang="en-US" altLang="ko-KR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단가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13" name="AutoShape 72"/>
          <p:cNvCxnSpPr>
            <a:cxnSpLocks noChangeShapeType="1"/>
            <a:stCxn id="168" idx="4"/>
            <a:endCxn id="412" idx="0"/>
          </p:cNvCxnSpPr>
          <p:nvPr/>
        </p:nvCxnSpPr>
        <p:spPr bwMode="gray">
          <a:xfrm>
            <a:off x="4502950" y="4978024"/>
            <a:ext cx="1206636" cy="790562"/>
          </a:xfrm>
          <a:prstGeom prst="bentConnector2">
            <a:avLst/>
          </a:prstGeom>
          <a:noFill/>
          <a:ln w="9525">
            <a:solidFill>
              <a:srgbClr val="92D05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7" name="Oval 108"/>
          <p:cNvSpPr>
            <a:spLocks noChangeArrowheads="1"/>
          </p:cNvSpPr>
          <p:nvPr/>
        </p:nvSpPr>
        <p:spPr bwMode="gray">
          <a:xfrm>
            <a:off x="604821" y="5962941"/>
            <a:ext cx="628650" cy="352425"/>
          </a:xfrm>
          <a:prstGeom prst="ellipse">
            <a:avLst/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당월</a:t>
            </a:r>
            <a:endParaRPr kumimoji="0" lang="en-US" altLang="ko-KR" sz="90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수불단가</a:t>
            </a:r>
          </a:p>
        </p:txBody>
      </p:sp>
      <p:cxnSp>
        <p:nvCxnSpPr>
          <p:cNvPr id="418" name="AutoShape 72"/>
          <p:cNvCxnSpPr>
            <a:cxnSpLocks noChangeShapeType="1"/>
            <a:stCxn id="370" idx="4"/>
            <a:endCxn id="417" idx="2"/>
          </p:cNvCxnSpPr>
          <p:nvPr/>
        </p:nvCxnSpPr>
        <p:spPr bwMode="gray">
          <a:xfrm rot="16200000" flipH="1">
            <a:off x="-476136" y="5058196"/>
            <a:ext cx="2008883" cy="153031"/>
          </a:xfrm>
          <a:prstGeom prst="bentConnector2">
            <a:avLst/>
          </a:prstGeom>
          <a:noFill/>
          <a:ln w="9525">
            <a:solidFill>
              <a:srgbClr val="92D05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2" name="Rectangle 2"/>
          <p:cNvSpPr>
            <a:spLocks noChangeArrowheads="1"/>
          </p:cNvSpPr>
          <p:nvPr/>
        </p:nvSpPr>
        <p:spPr bwMode="gray">
          <a:xfrm>
            <a:off x="4591023" y="5719326"/>
            <a:ext cx="1601771" cy="82973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423" name="AutoShape 72"/>
          <p:cNvCxnSpPr>
            <a:cxnSpLocks noChangeShapeType="1"/>
            <a:stCxn id="422" idx="1"/>
            <a:endCxn id="417" idx="6"/>
          </p:cNvCxnSpPr>
          <p:nvPr/>
        </p:nvCxnSpPr>
        <p:spPr bwMode="gray">
          <a:xfrm rot="10800000" flipV="1">
            <a:off x="1233471" y="6134190"/>
            <a:ext cx="3357552" cy="49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92D05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8" name="AutoShape 72"/>
          <p:cNvCxnSpPr>
            <a:cxnSpLocks noChangeShapeType="1"/>
            <a:stCxn id="417" idx="0"/>
          </p:cNvCxnSpPr>
          <p:nvPr/>
        </p:nvCxnSpPr>
        <p:spPr bwMode="gray">
          <a:xfrm rot="5400000" flipH="1" flipV="1">
            <a:off x="2015493" y="4018842"/>
            <a:ext cx="847753" cy="3040447"/>
          </a:xfrm>
          <a:prstGeom prst="bentConnector2">
            <a:avLst/>
          </a:prstGeom>
          <a:noFill/>
          <a:ln w="9525">
            <a:solidFill>
              <a:srgbClr val="92D05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1" name="Text Box 121"/>
          <p:cNvSpPr txBox="1">
            <a:spLocks noChangeArrowheads="1"/>
          </p:cNvSpPr>
          <p:nvPr/>
        </p:nvSpPr>
        <p:spPr bwMode="gray">
          <a:xfrm>
            <a:off x="528305" y="5664697"/>
            <a:ext cx="103937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err="1" smtClean="0">
                <a:solidFill>
                  <a:srgbClr val="92D050"/>
                </a:solidFill>
                <a:latin typeface="+mn-ea"/>
                <a:ea typeface="+mn-ea"/>
              </a:rPr>
              <a:t>각원가항목</a:t>
            </a:r>
            <a:r>
              <a:rPr lang="ko-KR" altLang="en-US" sz="800" dirty="0" smtClean="0">
                <a:solidFill>
                  <a:srgbClr val="92D050"/>
                </a:solidFill>
                <a:latin typeface="+mn-ea"/>
                <a:ea typeface="+mn-ea"/>
              </a:rPr>
              <a:t> 갱신</a:t>
            </a:r>
            <a:endParaRPr lang="en-US" altLang="ko-KR" sz="800" dirty="0">
              <a:solidFill>
                <a:srgbClr val="92D050"/>
              </a:solidFill>
              <a:latin typeface="+mn-ea"/>
              <a:ea typeface="+mn-ea"/>
            </a:endParaRPr>
          </a:p>
        </p:txBody>
      </p:sp>
      <p:sp>
        <p:nvSpPr>
          <p:cNvPr id="439" name="Oval 108"/>
          <p:cNvSpPr>
            <a:spLocks noChangeArrowheads="1"/>
          </p:cNvSpPr>
          <p:nvPr/>
        </p:nvSpPr>
        <p:spPr bwMode="gray">
          <a:xfrm>
            <a:off x="7353485" y="4976974"/>
            <a:ext cx="628650" cy="352425"/>
          </a:xfrm>
          <a:prstGeom prst="ellipse">
            <a:avLst/>
          </a:prstGeom>
          <a:solidFill>
            <a:srgbClr val="00B05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kern="0" noProof="0" dirty="0" err="1" smtClean="0">
                <a:solidFill>
                  <a:srgbClr val="000000"/>
                </a:solidFill>
                <a:latin typeface="+mn-ea"/>
                <a:ea typeface="+mn-ea"/>
              </a:rPr>
              <a:t>재고평가율</a:t>
            </a:r>
            <a:endParaRPr kumimoji="0" lang="en-US" altLang="ko-KR" sz="900" kern="0" noProof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(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전월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당월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/</a:t>
            </a:r>
            <a:r>
              <a:rPr kumimoji="0" lang="ko-KR" altLang="en-US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익월</a:t>
            </a:r>
            <a:r>
              <a:rPr kumimoji="0" lang="en-US" altLang="ko-KR" sz="9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)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40" name="AutoShape 72"/>
          <p:cNvCxnSpPr>
            <a:cxnSpLocks noChangeShapeType="1"/>
            <a:stCxn id="439" idx="2"/>
          </p:cNvCxnSpPr>
          <p:nvPr/>
        </p:nvCxnSpPr>
        <p:spPr bwMode="gray">
          <a:xfrm rot="10800000">
            <a:off x="4532925" y="4820737"/>
            <a:ext cx="2820560" cy="3324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B05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4" name="AutoShape 72"/>
          <p:cNvCxnSpPr>
            <a:cxnSpLocks noChangeShapeType="1"/>
            <a:stCxn id="340" idx="6"/>
            <a:endCxn id="118" idx="4"/>
          </p:cNvCxnSpPr>
          <p:nvPr/>
        </p:nvCxnSpPr>
        <p:spPr bwMode="gray">
          <a:xfrm flipH="1">
            <a:off x="8498077" y="2513658"/>
            <a:ext cx="40481" cy="1796610"/>
          </a:xfrm>
          <a:prstGeom prst="bentConnector3">
            <a:avLst>
              <a:gd name="adj1" fmla="val -658828"/>
            </a:avLst>
          </a:prstGeom>
          <a:noFill/>
          <a:ln w="9525">
            <a:solidFill>
              <a:srgbClr val="00B0F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7" name="Oval 108"/>
          <p:cNvSpPr>
            <a:spLocks noChangeArrowheads="1"/>
          </p:cNvSpPr>
          <p:nvPr/>
        </p:nvSpPr>
        <p:spPr bwMode="gray">
          <a:xfrm>
            <a:off x="4953000" y="3790317"/>
            <a:ext cx="628650" cy="352425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출고</a:t>
            </a:r>
            <a:r>
              <a:rPr kumimoji="0" lang="ko-KR" altLang="en-US" sz="900" kern="0" dirty="0" smtClean="0">
                <a:solidFill>
                  <a:srgbClr val="000000"/>
                </a:solidFill>
                <a:latin typeface="+mn-ea"/>
                <a:ea typeface="+mn-ea"/>
              </a:rPr>
              <a:t>수량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469" name="AutoShape 72"/>
          <p:cNvCxnSpPr>
            <a:cxnSpLocks noChangeShapeType="1"/>
            <a:stCxn id="261" idx="2"/>
            <a:endCxn id="467" idx="0"/>
          </p:cNvCxnSpPr>
          <p:nvPr/>
        </p:nvCxnSpPr>
        <p:spPr bwMode="gray">
          <a:xfrm rot="10800000" flipV="1">
            <a:off x="5267325" y="1152599"/>
            <a:ext cx="285126" cy="2637718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3" name="AutoShape 72"/>
          <p:cNvCxnSpPr>
            <a:cxnSpLocks noChangeShapeType="1"/>
            <a:stCxn id="467" idx="4"/>
            <a:endCxn id="196" idx="4"/>
          </p:cNvCxnSpPr>
          <p:nvPr/>
        </p:nvCxnSpPr>
        <p:spPr bwMode="gray">
          <a:xfrm rot="5400000">
            <a:off x="3918274" y="4214037"/>
            <a:ext cx="1420347" cy="1277757"/>
          </a:xfrm>
          <a:prstGeom prst="bentConnector2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7" name="Text Box 121"/>
          <p:cNvSpPr txBox="1">
            <a:spLocks noChangeArrowheads="1"/>
          </p:cNvSpPr>
          <p:nvPr/>
        </p:nvSpPr>
        <p:spPr bwMode="gray">
          <a:xfrm>
            <a:off x="3755446" y="4194085"/>
            <a:ext cx="67499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solidFill>
                  <a:srgbClr val="FFC000"/>
                </a:solidFill>
                <a:latin typeface="+mn-ea"/>
                <a:ea typeface="+mn-ea"/>
              </a:rPr>
              <a:t>공급금액</a:t>
            </a:r>
            <a:endParaRPr lang="en-US" altLang="ko-KR" sz="800" dirty="0">
              <a:solidFill>
                <a:srgbClr val="FFC000"/>
              </a:solidFill>
              <a:latin typeface="+mn-ea"/>
              <a:ea typeface="+mn-ea"/>
            </a:endParaRPr>
          </a:p>
        </p:txBody>
      </p:sp>
      <p:sp>
        <p:nvSpPr>
          <p:cNvPr id="479" name="Oval 108"/>
          <p:cNvSpPr>
            <a:spLocks noChangeArrowheads="1"/>
          </p:cNvSpPr>
          <p:nvPr/>
        </p:nvSpPr>
        <p:spPr bwMode="gray">
          <a:xfrm>
            <a:off x="1488349" y="1530587"/>
            <a:ext cx="628650" cy="3524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입고수량</a:t>
            </a:r>
          </a:p>
        </p:txBody>
      </p:sp>
      <p:cxnSp>
        <p:nvCxnSpPr>
          <p:cNvPr id="480" name="AutoShape 72"/>
          <p:cNvCxnSpPr>
            <a:cxnSpLocks noChangeShapeType="1"/>
            <a:stCxn id="260" idx="3"/>
            <a:endCxn id="479" idx="6"/>
          </p:cNvCxnSpPr>
          <p:nvPr/>
        </p:nvCxnSpPr>
        <p:spPr bwMode="gray">
          <a:xfrm rot="5400000">
            <a:off x="2465360" y="1083885"/>
            <a:ext cx="274555" cy="971275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4" name="AutoShape 72"/>
          <p:cNvCxnSpPr>
            <a:cxnSpLocks noChangeShapeType="1"/>
            <a:stCxn id="479" idx="0"/>
            <a:endCxn id="371" idx="4"/>
          </p:cNvCxnSpPr>
          <p:nvPr/>
        </p:nvCxnSpPr>
        <p:spPr bwMode="gray">
          <a:xfrm rot="16200000" flipV="1">
            <a:off x="1320503" y="1048416"/>
            <a:ext cx="334249" cy="630094"/>
          </a:xfrm>
          <a:prstGeom prst="bentConnector2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모서리가 둥근 직사각형 2"/>
          <p:cNvSpPr/>
          <p:nvPr/>
        </p:nvSpPr>
        <p:spPr>
          <a:xfrm>
            <a:off x="1253993" y="842510"/>
            <a:ext cx="1375830" cy="28524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dirty="0" smtClean="0">
                <a:solidFill>
                  <a:schemeClr val="bg1"/>
                </a:solidFill>
                <a:latin typeface="+mn-ea"/>
              </a:rPr>
              <a:t>SP_STOR_COST_MNG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7" name="모서리가 둥근 직사각형 86"/>
          <p:cNvSpPr/>
          <p:nvPr/>
        </p:nvSpPr>
        <p:spPr>
          <a:xfrm>
            <a:off x="953239" y="2280349"/>
            <a:ext cx="1612978" cy="28524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dirty="0" smtClean="0">
                <a:solidFill>
                  <a:schemeClr val="bg1"/>
                </a:solidFill>
                <a:latin typeface="+mn-ea"/>
              </a:rPr>
              <a:t>SP_M_RNDS_UPDATE01</a:t>
            </a:r>
            <a:endParaRPr lang="en-US" altLang="ko-KR" sz="8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 Box 121"/>
          <p:cNvSpPr txBox="1">
            <a:spLocks noChangeArrowheads="1"/>
          </p:cNvSpPr>
          <p:nvPr/>
        </p:nvSpPr>
        <p:spPr bwMode="gray">
          <a:xfrm>
            <a:off x="5930941" y="2730297"/>
            <a:ext cx="2865307" cy="95410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err="1" smtClean="0">
                <a:solidFill>
                  <a:schemeClr val="bg1"/>
                </a:solidFill>
                <a:latin typeface="+mn-ea"/>
                <a:ea typeface="+mn-ea"/>
              </a:rPr>
              <a:t>사입거래선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  <a:ea typeface="+mn-ea"/>
              </a:rPr>
              <a:t>으로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 출고되면</a:t>
            </a:r>
            <a:endParaRPr lang="en-US" altLang="ko-KR" sz="800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판매가 없으니 재고가 살아있는데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,</a:t>
            </a:r>
          </a:p>
          <a:p>
            <a:r>
              <a:rPr lang="ko-KR" altLang="en-US" sz="800" dirty="0" err="1" smtClean="0">
                <a:solidFill>
                  <a:schemeClr val="bg1"/>
                </a:solidFill>
                <a:latin typeface="+mn-ea"/>
                <a:ea typeface="+mn-ea"/>
              </a:rPr>
              <a:t>사입여부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Y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이면 출고수량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,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금액만큼 판매수량</a:t>
            </a:r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,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금액에 넣어줌</a:t>
            </a:r>
            <a:endParaRPr lang="en-US" altLang="ko-KR" sz="800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endParaRPr lang="en-US" altLang="ko-KR" sz="800" dirty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-&gt; </a:t>
            </a:r>
            <a:r>
              <a:rPr lang="ko-KR" altLang="en-US" sz="800" dirty="0" err="1" smtClean="0">
                <a:solidFill>
                  <a:schemeClr val="bg1"/>
                </a:solidFill>
                <a:latin typeface="+mn-ea"/>
                <a:ea typeface="+mn-ea"/>
              </a:rPr>
              <a:t>사입출고라는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 테이블을 별도로 둬서 매장재고에 영향 안줄지 여부 확인</a:t>
            </a:r>
            <a:endParaRPr lang="en-US" altLang="ko-KR" sz="800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r>
              <a:rPr lang="en-US" altLang="ko-KR" sz="800" dirty="0" smtClean="0">
                <a:solidFill>
                  <a:schemeClr val="bg1"/>
                </a:solidFill>
                <a:latin typeface="+mn-ea"/>
                <a:ea typeface="+mn-ea"/>
              </a:rPr>
              <a:t>-&gt; WMS </a:t>
            </a:r>
            <a:r>
              <a:rPr lang="ko-KR" altLang="en-US" sz="800" dirty="0" smtClean="0">
                <a:solidFill>
                  <a:schemeClr val="bg1"/>
                </a:solidFill>
                <a:latin typeface="+mn-ea"/>
                <a:ea typeface="+mn-ea"/>
              </a:rPr>
              <a:t>도입 이후엔 어떻게 되는 지 확인</a:t>
            </a:r>
            <a:endParaRPr lang="en-US" altLang="ko-KR" sz="8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1543185" y="6212690"/>
            <a:ext cx="1748761" cy="285246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SP_M_RNDS_UPDATE02_NEW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019300" y="4631518"/>
            <a:ext cx="1748761" cy="28524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SP_M_RNDS_UPDATE01A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6255823" y="1509256"/>
            <a:ext cx="1748761" cy="28524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latin typeface="+mn-ea"/>
              </a:rPr>
              <a:t>SP_SHOP_STOCK_UPDATE_PSY</a:t>
            </a:r>
          </a:p>
        </p:txBody>
      </p:sp>
      <p:sp>
        <p:nvSpPr>
          <p:cNvPr id="95" name="사각형 설명선 94"/>
          <p:cNvSpPr/>
          <p:nvPr/>
        </p:nvSpPr>
        <p:spPr>
          <a:xfrm>
            <a:off x="6411448" y="5431254"/>
            <a:ext cx="3439324" cy="1348517"/>
          </a:xfrm>
          <a:prstGeom prst="wedgeRectCallout">
            <a:avLst>
              <a:gd name="adj1" fmla="val -15161"/>
              <a:gd name="adj2" fmla="val 30523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[ DAILY_1 &gt; </a:t>
            </a:r>
            <a:r>
              <a:rPr lang="en-US" altLang="ko-KR" sz="800" b="1" dirty="0" smtClean="0">
                <a:solidFill>
                  <a:schemeClr val="bg1"/>
                </a:solidFill>
                <a:latin typeface="+mn-ea"/>
              </a:rPr>
              <a:t>SP_T_M_RNDS_MNG01]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입고원가금액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T_M_STOR_AMT : </a:t>
            </a:r>
            <a:r>
              <a:rPr lang="en-US" altLang="ko-KR" sz="800" b="1" dirty="0" smtClean="0">
                <a:solidFill>
                  <a:srgbClr val="FF0000"/>
                </a:solidFill>
                <a:latin typeface="+mn-ea"/>
              </a:rPr>
              <a:t>SP_STOR_COST_MNG</a:t>
            </a:r>
            <a:endParaRPr lang="en-US" altLang="ko-KR" sz="8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제품월수불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T_M_RNDS : </a:t>
            </a:r>
            <a:r>
              <a:rPr lang="en-US" altLang="ko-KR" sz="800" b="1" dirty="0" smtClean="0">
                <a:solidFill>
                  <a:srgbClr val="FFC000"/>
                </a:solidFill>
                <a:latin typeface="+mn-ea"/>
              </a:rPr>
              <a:t>SP_M_RNDS_UPDATE01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800" b="1" dirty="0" smtClean="0">
                <a:solidFill>
                  <a:srgbClr val="92D050"/>
                </a:solidFill>
                <a:latin typeface="+mn-ea"/>
              </a:rPr>
              <a:t>SP_M_RNDS_UPDATE02_NEW</a:t>
            </a:r>
            <a:r>
              <a:rPr lang="en-US" altLang="ko-KR" sz="800" b="1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dirty="0" smtClean="0">
                <a:solidFill>
                  <a:srgbClr val="00B050"/>
                </a:solidFill>
                <a:latin typeface="+mn-ea"/>
              </a:rPr>
              <a:t>SP_M_RNDS_UPDATE01A</a:t>
            </a:r>
            <a:endParaRPr lang="en-US" altLang="ko-KR" sz="800" b="1" kern="0" dirty="0" smtClean="0">
              <a:solidFill>
                <a:srgbClr val="00B05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endParaRPr lang="en-US" altLang="ko-KR" sz="800" b="1" kern="0" dirty="0" smtClean="0">
              <a:solidFill>
                <a:srgbClr val="00B05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[ DAILY_3 / 4 ]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매장재고 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T_SHOP_STOCK : </a:t>
            </a:r>
            <a:r>
              <a:rPr lang="en-US" altLang="ko-KR" sz="800" b="1" dirty="0" smtClean="0">
                <a:solidFill>
                  <a:srgbClr val="00B0F0"/>
                </a:solidFill>
                <a:latin typeface="+mn-ea"/>
              </a:rPr>
              <a:t>SP_SHOP_STOCK_UPDATE_PSY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창고재고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T_WH_STOCK_PRDT : </a:t>
            </a:r>
            <a:r>
              <a:rPr lang="en-US" altLang="ko-KR" sz="800" b="1" dirty="0" smtClean="0">
                <a:solidFill>
                  <a:srgbClr val="0070C0"/>
                </a:solidFill>
                <a:latin typeface="+mn-ea"/>
              </a:rPr>
              <a:t>SP_WHSTOCK_DAILY</a:t>
            </a:r>
            <a:endParaRPr lang="en-US" altLang="ko-KR" sz="800" b="1" kern="0" dirty="0" smtClean="0">
              <a:solidFill>
                <a:srgbClr val="0070C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668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730258"/>
              </p:ext>
            </p:extLst>
          </p:nvPr>
        </p:nvGraphicFramePr>
        <p:xfrm>
          <a:off x="243282" y="1189443"/>
          <a:ext cx="9450738" cy="21045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716"/>
                <a:gridCol w="9141022"/>
              </a:tblGrid>
              <a:tr h="19132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SP_STOR_COST_MNG : 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입고금액 계산</a:t>
                      </a:r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T_M_STOR_AMT)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전월 기말 당월 기초로 세팅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T_WH_RNDS_BASE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입고수량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STOR_QTY, TOT_STOR_QTY)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CV_T_MFAC_TRAN_SPEC (PM_640@ESPDB2)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이체금액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TRAN_SPEC_AMT)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CT_STYLE_INCOST_CLOSE_MNG -&gt;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원가계산금액 </a:t>
                      </a:r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INCOST_AMT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당월 전체 생산금액 * </a:t>
                      </a:r>
                      <a:r>
                        <a:rPr lang="ko-KR" altLang="en-US" sz="8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칼라별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입고수량비</a:t>
                      </a:r>
                      <a:r>
                        <a:rPr lang="ko-KR" altLang="en-US" sz="8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8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-&gt; </a:t>
                      </a:r>
                      <a:r>
                        <a:rPr lang="ko-KR" altLang="en-US" sz="800" b="1" u="none" strike="noStrike" dirty="0" err="1" smtClean="0">
                          <a:solidFill>
                            <a:srgbClr val="FF0000"/>
                          </a:solidFill>
                          <a:effectLst/>
                        </a:rPr>
                        <a:t>칼라별로</a:t>
                      </a:r>
                      <a:r>
                        <a:rPr lang="ko-KR" altLang="en-US" sz="800" b="1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 나눌 때 분할입고 되는 경우 문제 발생</a:t>
                      </a:r>
                      <a:r>
                        <a:rPr lang="ko-KR" altLang="en-US" sz="800" b="1" u="none" strike="noStrike" baseline="0" dirty="0" smtClean="0">
                          <a:solidFill>
                            <a:srgbClr val="FF0000"/>
                          </a:solidFill>
                          <a:effectLst/>
                        </a:rPr>
                        <a:t> 가능</a:t>
                      </a:r>
                      <a:endParaRPr lang="ko-KR" alt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T_PRDT.MFAC_L_COST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사전원가결재원가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MFAC_L_COST)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T_FILE_STYLE -&gt; </a:t>
                      </a:r>
                      <a:r>
                        <a:rPr lang="ko-KR" altLang="en-US" sz="800" u="none" strike="noStrike">
                          <a:effectLst/>
                        </a:rPr>
                        <a:t>생산사전원가</a:t>
                      </a:r>
                      <a:r>
                        <a:rPr lang="en-US" altLang="ko-KR" sz="800" u="none" strike="noStrike">
                          <a:effectLst/>
                        </a:rPr>
                        <a:t>(MFAC_PRE_COST), </a:t>
                      </a:r>
                      <a:r>
                        <a:rPr lang="ko-KR" altLang="en-US" sz="800" u="none" strike="noStrike">
                          <a:effectLst/>
                        </a:rPr>
                        <a:t>소싱원가적용여부</a:t>
                      </a:r>
                      <a:r>
                        <a:rPr lang="en-US" altLang="ko-KR" sz="800" u="none" strike="noStrike">
                          <a:effectLst/>
                        </a:rPr>
                        <a:t>(SOC_CLSBY)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 err="1">
                          <a:effectLst/>
                        </a:rPr>
                        <a:t>소싱원가</a:t>
                      </a:r>
                      <a:r>
                        <a:rPr lang="ko-KR" altLang="en-US" sz="800" u="none" strike="noStrike" dirty="0">
                          <a:effectLst/>
                        </a:rPr>
                        <a:t> 적용 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en-US" sz="800" u="none" strike="noStrike" dirty="0">
                          <a:effectLst/>
                        </a:rPr>
                        <a:t>INCOST_AMT / </a:t>
                      </a:r>
                      <a:r>
                        <a:rPr lang="ko-KR" altLang="en-US" sz="800" u="none" strike="noStrike" dirty="0">
                          <a:effectLst/>
                        </a:rPr>
                        <a:t>적용</a:t>
                      </a:r>
                      <a:r>
                        <a:rPr lang="en-US" sz="800" u="none" strike="noStrike" dirty="0">
                          <a:effectLst/>
                        </a:rPr>
                        <a:t>X : MFAC_CSUM_AMT(</a:t>
                      </a:r>
                      <a:r>
                        <a:rPr lang="ko-KR" altLang="en-US" sz="800" u="none" strike="noStrike" dirty="0">
                          <a:effectLst/>
                        </a:rPr>
                        <a:t>없음</a:t>
                      </a:r>
                      <a:r>
                        <a:rPr lang="en-US" altLang="ko-KR" sz="800" u="none" strike="noStrike" dirty="0">
                          <a:effectLst/>
                        </a:rPr>
                        <a:t>) + </a:t>
                      </a:r>
                      <a:r>
                        <a:rPr lang="en-US" sz="800" u="none" strike="noStrike" dirty="0">
                          <a:effectLst/>
                        </a:rPr>
                        <a:t>TRAN_SPEC_AMT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입고금액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STOR_AMT)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NVL(MFAC_PRE_COST,MFAC_L_COST) -&gt;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생산사전원가</a:t>
                      </a:r>
                      <a:r>
                        <a:rPr lang="en-US" altLang="ko-KR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MFAC_PRE_COST)</a:t>
                      </a:r>
                      <a:endParaRPr 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1913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당월까지 </a:t>
                      </a:r>
                      <a:r>
                        <a:rPr lang="en-US" sz="800" u="none" strike="noStrike" dirty="0">
                          <a:effectLst/>
                        </a:rPr>
                        <a:t>STOR_QTY, STOR_AMT -&gt;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전월누적</a:t>
                      </a:r>
                      <a:r>
                        <a:rPr lang="ko-KR" altLang="en-US" sz="800" u="none" strike="noStrike" dirty="0">
                          <a:effectLst/>
                        </a:rPr>
                        <a:t> 입고수량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LM_TOT_STOR_QTY, LM_TOT_STOR_AMT)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21674"/>
              </p:ext>
            </p:extLst>
          </p:nvPr>
        </p:nvGraphicFramePr>
        <p:xfrm>
          <a:off x="243283" y="3335248"/>
          <a:ext cx="9463763" cy="321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9227"/>
                <a:gridCol w="9164536"/>
              </a:tblGrid>
              <a:tr h="17833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SP_T_M_RNDS_UPDATE01 : </a:t>
                      </a:r>
                      <a:r>
                        <a:rPr lang="ko-KR" altLang="en-US" sz="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제품월수불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실적 갱신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전월 기말 당월 기초로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세팅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T_M_STOR_AMT -&gt; </a:t>
                      </a:r>
                      <a:r>
                        <a:rPr lang="ko-KR" altLang="en-US" sz="800" u="none" strike="noStrike">
                          <a:effectLst/>
                        </a:rPr>
                        <a:t>입고수량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입고금액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STOR_QTY, STOR_COST)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당월 자가소모 </a:t>
                      </a:r>
                      <a:r>
                        <a:rPr lang="en-US" altLang="ko-KR" sz="800" u="none" strike="noStrike">
                          <a:effectLst/>
                        </a:rPr>
                        <a:t>T_WH_RNDS_BASE(C20113) -&gt; </a:t>
                      </a:r>
                      <a:r>
                        <a:rPr lang="ko-KR" altLang="en-US" sz="800" u="none" strike="noStrike">
                          <a:effectLst/>
                        </a:rPr>
                        <a:t>자가소모 수량</a:t>
                      </a:r>
                      <a:r>
                        <a:rPr lang="en-US" altLang="ko-KR" sz="800" u="none" strike="noStrike">
                          <a:effectLst/>
                        </a:rPr>
                        <a:t>(SELF_CSUM_QTY)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--&gt; </a:t>
                      </a:r>
                      <a:r>
                        <a:rPr lang="ko-KR" altLang="en-US" sz="800" u="none" strike="noStrike">
                          <a:effectLst/>
                        </a:rPr>
                        <a:t>재고수량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창고재고수량</a:t>
                      </a:r>
                      <a:r>
                        <a:rPr lang="en-US" altLang="ko-KR" sz="800" u="none" strike="noStrike">
                          <a:effectLst/>
                        </a:rPr>
                        <a:t>(STOCK_QTY, WH_STOCK_QTY) </a:t>
                      </a:r>
                      <a:r>
                        <a:rPr lang="ko-KR" altLang="en-US" sz="800" u="none" strike="noStrike">
                          <a:effectLst/>
                        </a:rPr>
                        <a:t>차감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당월 이체 </a:t>
                      </a:r>
                      <a:r>
                        <a:rPr lang="en-US" sz="800" u="none" strike="noStrike" dirty="0">
                          <a:effectLst/>
                        </a:rPr>
                        <a:t>T_WH_RNDS_BASE(C20112)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 출고</a:t>
                      </a:r>
                      <a:r>
                        <a:rPr lang="en-US" altLang="ko-KR" sz="800" u="none" strike="noStrike" dirty="0">
                          <a:effectLst/>
                        </a:rPr>
                        <a:t>,</a:t>
                      </a:r>
                      <a:r>
                        <a:rPr lang="ko-KR" altLang="en-US" sz="800" u="none" strike="noStrike" dirty="0">
                          <a:effectLst/>
                        </a:rPr>
                        <a:t>입고 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TRANS_DELV_QTY, TRANS_STOR_QTY)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--&gt; </a:t>
                      </a:r>
                      <a:r>
                        <a:rPr lang="ko-KR" altLang="en-US" sz="800" u="none" strike="noStrike">
                          <a:effectLst/>
                        </a:rPr>
                        <a:t>재고수량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창고재고수량</a:t>
                      </a:r>
                      <a:r>
                        <a:rPr lang="en-US" altLang="ko-KR" sz="800" u="none" strike="noStrike">
                          <a:effectLst/>
                        </a:rPr>
                        <a:t>(STOCK_QTY, WH_STOCK_QTY) </a:t>
                      </a:r>
                      <a:r>
                        <a:rPr lang="ko-KR" altLang="en-US" sz="800" u="none" strike="noStrike">
                          <a:effectLst/>
                        </a:rPr>
                        <a:t>추가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5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당월 매장거래명세 </a:t>
                      </a:r>
                      <a:r>
                        <a:rPr lang="en-US" altLang="ko-KR" sz="800" u="none" strike="noStrike">
                          <a:effectLst/>
                        </a:rPr>
                        <a:t>T_SHOP_RNDS_BASE(C20921) -&gt; </a:t>
                      </a:r>
                      <a:r>
                        <a:rPr lang="ko-KR" altLang="en-US" sz="800" u="none" strike="noStrike">
                          <a:effectLst/>
                        </a:rPr>
                        <a:t>매장출고수량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매장출고공급금액</a:t>
                      </a:r>
                      <a:r>
                        <a:rPr lang="en-US" altLang="ko-KR" sz="800" u="none" strike="noStrike">
                          <a:effectLst/>
                        </a:rPr>
                        <a:t>(SHOP_DELV_QTY, SHOP_DELV_SUPP_AMT)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-&gt; </a:t>
                      </a:r>
                      <a:r>
                        <a:rPr lang="ko-KR" altLang="en-US" sz="800" u="none" strike="noStrike">
                          <a:effectLst/>
                        </a:rPr>
                        <a:t>직영출고수량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직영출고공급금액</a:t>
                      </a:r>
                      <a:r>
                        <a:rPr lang="en-US" altLang="ko-KR" sz="800" u="none" strike="noStrike">
                          <a:effectLst/>
                        </a:rPr>
                        <a:t>(DMNG_DELV_QTY, DMNG_DELV_SUPP_AMT)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                                                     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--&gt;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(STOCK_QTY) </a:t>
                      </a:r>
                      <a:r>
                        <a:rPr lang="ko-KR" altLang="en-US" sz="800" u="none" strike="noStrike" dirty="0">
                          <a:effectLst/>
                        </a:rPr>
                        <a:t>반영 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매장출고면 차감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--&gt; </a:t>
                      </a:r>
                      <a:r>
                        <a:rPr lang="ko-KR" altLang="en-US" sz="800" u="none" strike="noStrike">
                          <a:effectLst/>
                        </a:rPr>
                        <a:t>창고재고수량</a:t>
                      </a:r>
                      <a:r>
                        <a:rPr lang="en-US" altLang="ko-KR" sz="800" u="none" strike="noStrike">
                          <a:effectLst/>
                        </a:rPr>
                        <a:t>(WH_STOCK_QTY) </a:t>
                      </a:r>
                      <a:r>
                        <a:rPr lang="ko-KR" altLang="en-US" sz="800" u="none" strike="noStrike">
                          <a:effectLst/>
                        </a:rPr>
                        <a:t>차감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--&gt; </a:t>
                      </a:r>
                      <a:r>
                        <a:rPr lang="ko-KR" altLang="en-US" sz="800" u="none" strike="noStrike">
                          <a:effectLst/>
                        </a:rPr>
                        <a:t>직영재고수량</a:t>
                      </a:r>
                      <a:r>
                        <a:rPr lang="en-US" altLang="ko-KR" sz="800" u="none" strike="noStrike">
                          <a:effectLst/>
                        </a:rPr>
                        <a:t>(DMNG_STOCK_QTY) </a:t>
                      </a:r>
                      <a:r>
                        <a:rPr lang="ko-KR" altLang="en-US" sz="800" u="none" strike="noStrike">
                          <a:effectLst/>
                        </a:rPr>
                        <a:t>반영 </a:t>
                      </a:r>
                      <a:r>
                        <a:rPr lang="en-US" altLang="ko-KR" sz="800" u="none" strike="noStrike">
                          <a:effectLst/>
                        </a:rPr>
                        <a:t>: </a:t>
                      </a:r>
                      <a:r>
                        <a:rPr lang="ko-KR" altLang="en-US" sz="800" u="none" strike="noStrike">
                          <a:effectLst/>
                        </a:rPr>
                        <a:t>직영이면 추가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*</a:t>
                      </a:r>
                      <a:r>
                        <a:rPr lang="en-US" altLang="ko-KR" sz="800" u="none" strike="noStrike">
                          <a:effectLst/>
                        </a:rPr>
                        <a:t>. </a:t>
                      </a:r>
                      <a:r>
                        <a:rPr lang="ko-KR" altLang="en-US" sz="800" u="none" strike="noStrike">
                          <a:effectLst/>
                        </a:rPr>
                        <a:t>직영</a:t>
                      </a:r>
                      <a:r>
                        <a:rPr lang="en-US" altLang="ko-KR" sz="800" u="none" strike="noStrike">
                          <a:effectLst/>
                        </a:rPr>
                        <a:t>-</a:t>
                      </a:r>
                      <a:r>
                        <a:rPr lang="ko-KR" altLang="en-US" sz="800" u="none" strike="noStrike">
                          <a:effectLst/>
                        </a:rPr>
                        <a:t>매장 나누는 기준 </a:t>
                      </a:r>
                      <a:r>
                        <a:rPr lang="en-US" altLang="ko-KR" sz="800" u="none" strike="noStrike">
                          <a:effectLst/>
                        </a:rPr>
                        <a:t>: T_SHOP.SHOP_TYPE = 'C0041' </a:t>
                      </a:r>
                      <a:r>
                        <a:rPr lang="ko-KR" altLang="en-US" sz="800" u="none" strike="noStrike">
                          <a:effectLst/>
                        </a:rPr>
                        <a:t>직영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6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당월 판매 </a:t>
                      </a:r>
                      <a:r>
                        <a:rPr lang="en-US" sz="800" u="none" strike="noStrike">
                          <a:effectLst/>
                        </a:rPr>
                        <a:t>T_SHOP_RNDS_BASE(C20922) -&gt; </a:t>
                      </a:r>
                      <a:r>
                        <a:rPr lang="ko-KR" altLang="en-US" sz="800" u="none" strike="noStrike">
                          <a:effectLst/>
                        </a:rPr>
                        <a:t>매장판매수량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매장판매공급금액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SHOP_SALE_QTY, SHOP_SALE_SUPP_AMT)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                                          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직영판매수량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직영판매공급금액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(DMNG_SALE_QTY, DMNG_SALE_SUPP_AMT)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-&gt; </a:t>
                      </a:r>
                      <a:r>
                        <a:rPr lang="ko-KR" altLang="en-US" sz="800" u="none" strike="noStrike">
                          <a:effectLst/>
                        </a:rPr>
                        <a:t>직영판매실판매금액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DMNG_SALE_REAL_SALE_AMT)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                           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--&gt; </a:t>
                      </a:r>
                      <a:r>
                        <a:rPr lang="ko-KR" altLang="en-US" sz="800" u="none" strike="noStrike">
                          <a:effectLst/>
                        </a:rPr>
                        <a:t>재고수량</a:t>
                      </a:r>
                      <a:r>
                        <a:rPr lang="en-US" altLang="ko-KR" sz="800" u="none" strike="noStrike">
                          <a:effectLst/>
                        </a:rPr>
                        <a:t>(STOCK_QTY) </a:t>
                      </a:r>
                      <a:r>
                        <a:rPr lang="ko-KR" altLang="en-US" sz="800" u="none" strike="noStrike">
                          <a:effectLst/>
                        </a:rPr>
                        <a:t>반영 </a:t>
                      </a:r>
                      <a:r>
                        <a:rPr lang="en-US" altLang="ko-KR" sz="800" u="none" strike="noStrike">
                          <a:effectLst/>
                        </a:rPr>
                        <a:t>: </a:t>
                      </a:r>
                      <a:r>
                        <a:rPr lang="ko-KR" altLang="en-US" sz="800" u="none" strike="noStrike">
                          <a:effectLst/>
                        </a:rPr>
                        <a:t>직영이면 차감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  <a:tr h="178336"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                                                 </a:t>
                      </a:r>
                      <a:r>
                        <a:rPr lang="en-US" altLang="ko-KR" sz="800" u="none" strike="noStrike" dirty="0">
                          <a:effectLst/>
                        </a:rPr>
                        <a:t>--&gt;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직영재고수량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(STOCK_QTY) </a:t>
                      </a:r>
                      <a:r>
                        <a:rPr lang="ko-KR" altLang="en-US" sz="800" u="none" strike="noStrike" dirty="0">
                          <a:effectLst/>
                        </a:rPr>
                        <a:t>반영 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직영이면 차감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8483" marB="0"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195587"/>
              </p:ext>
            </p:extLst>
          </p:nvPr>
        </p:nvGraphicFramePr>
        <p:xfrm>
          <a:off x="243282" y="729073"/>
          <a:ext cx="9463763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63763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제품수불부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T_M_RNDS)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SP_EXEC_DAILY_1 &gt; SP_T_M_RNDS_MNG01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9" name="Text Box 121"/>
          <p:cNvSpPr txBox="1">
            <a:spLocks noChangeArrowheads="1"/>
          </p:cNvSpPr>
          <p:nvPr/>
        </p:nvSpPr>
        <p:spPr bwMode="gray">
          <a:xfrm>
            <a:off x="2252700" y="338084"/>
            <a:ext cx="2655295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err="1" smtClean="0">
                <a:solidFill>
                  <a:schemeClr val="tx2"/>
                </a:solidFill>
                <a:latin typeface="+mn-ea"/>
                <a:ea typeface="+mn-ea"/>
              </a:rPr>
              <a:t>제품수불부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078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037560"/>
              </p:ext>
            </p:extLst>
          </p:nvPr>
        </p:nvGraphicFramePr>
        <p:xfrm>
          <a:off x="273050" y="710707"/>
          <a:ext cx="9450480" cy="58236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465"/>
                <a:gridCol w="9136015"/>
              </a:tblGrid>
              <a:tr h="30241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SP_T_M_RNDS_UPDATE02_NEW : 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제품원가 및 원가 조정 </a:t>
                      </a:r>
                      <a:r>
                        <a:rPr lang="ko-KR" altLang="en-US" sz="8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처리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당월 이체 </a:t>
                      </a:r>
                      <a:r>
                        <a:rPr lang="en-US" sz="800" u="none" strike="noStrike">
                          <a:effectLst/>
                        </a:rPr>
                        <a:t>T_WH_RNDS_BASE(C20112), T_PRDT_TRANS(</a:t>
                      </a:r>
                      <a:r>
                        <a:rPr lang="ko-KR" altLang="en-US" sz="800" u="none" strike="noStrike">
                          <a:effectLst/>
                        </a:rPr>
                        <a:t>제품이체 테이블</a:t>
                      </a:r>
                      <a:r>
                        <a:rPr lang="en-US" altLang="ko-KR" sz="800" u="none" strike="noStrike">
                          <a:effectLst/>
                        </a:rPr>
                        <a:t>) -&gt; </a:t>
                      </a:r>
                      <a:r>
                        <a:rPr lang="ko-KR" altLang="en-US" sz="800" u="none" strike="noStrike">
                          <a:effectLst/>
                        </a:rPr>
                        <a:t>이체원가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en-US" sz="800" u="none" strike="noStrike">
                          <a:effectLst/>
                        </a:rPr>
                        <a:t>TRANS_DELV_COST) </a:t>
                      </a:r>
                      <a:r>
                        <a:rPr lang="ko-KR" altLang="en-US" sz="800" u="none" strike="noStrike">
                          <a:effectLst/>
                        </a:rPr>
                        <a:t>계산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이체출고금액</a:t>
                      </a:r>
                      <a:r>
                        <a:rPr lang="en-US" altLang="ko-KR" sz="800" u="none" strike="noStrike">
                          <a:effectLst/>
                        </a:rPr>
                        <a:t>(TRANS_DELV_COST) = </a:t>
                      </a:r>
                      <a:r>
                        <a:rPr lang="ko-KR" altLang="en-US" sz="800" u="none" strike="noStrike">
                          <a:effectLst/>
                        </a:rPr>
                        <a:t>이체출고수량</a:t>
                      </a:r>
                      <a:r>
                        <a:rPr lang="en-US" altLang="ko-KR" sz="800" u="none" strike="noStrike">
                          <a:effectLst/>
                        </a:rPr>
                        <a:t>(TRANS_DELV_QTY) * </a:t>
                      </a:r>
                      <a:r>
                        <a:rPr lang="ko-KR" altLang="en-US" sz="800" u="none" strike="noStrike">
                          <a:effectLst/>
                        </a:rPr>
                        <a:t>당월 재고단가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당월 재고단가 계산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: (</a:t>
                      </a:r>
                      <a:r>
                        <a:rPr lang="ko-KR" altLang="en-US" sz="800" u="none" strike="noStrike" dirty="0">
                          <a:effectLst/>
                        </a:rPr>
                        <a:t>기초창고금액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당월 입고금액 </a:t>
                      </a:r>
                      <a:r>
                        <a:rPr lang="en-US" altLang="ko-KR" sz="800" u="none" strike="noStrike" dirty="0">
                          <a:effectLst/>
                        </a:rPr>
                        <a:t>+ T_SHOP_STOCK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매장재고수량 * 전월 재고단가 </a:t>
                      </a:r>
                      <a:r>
                        <a:rPr lang="en-US" altLang="ko-KR" sz="800" u="none" strike="noStrike" dirty="0">
                          <a:effectLst/>
                        </a:rPr>
                        <a:t>+ (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이체입고금액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이체출고금액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)) /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  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기초창고수량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당월 입고금액 </a:t>
                      </a:r>
                      <a:r>
                        <a:rPr lang="en-US" altLang="ko-KR" sz="800" u="none" strike="noStrike">
                          <a:effectLst/>
                        </a:rPr>
                        <a:t>+ T_SHOP_STOCK </a:t>
                      </a:r>
                      <a:r>
                        <a:rPr lang="ko-KR" altLang="en-US" sz="800" u="none" strike="noStrike">
                          <a:effectLst/>
                        </a:rPr>
                        <a:t>매장재고수량                      </a:t>
                      </a:r>
                      <a:r>
                        <a:rPr lang="en-US" altLang="ko-KR" sz="800" u="none" strike="noStrike">
                          <a:effectLst/>
                        </a:rPr>
                        <a:t>+ (</a:t>
                      </a:r>
                      <a:r>
                        <a:rPr lang="ko-KR" altLang="en-US" sz="800" u="none" strike="noStrike">
                          <a:effectLst/>
                        </a:rPr>
                        <a:t>이체입고수량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이체출고수량</a:t>
                      </a:r>
                      <a:r>
                        <a:rPr lang="en-US" altLang="ko-KR" sz="800" u="none" strike="noStrike">
                          <a:effectLst/>
                        </a:rPr>
                        <a:t>))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: </a:t>
                      </a:r>
                      <a:r>
                        <a:rPr lang="ko-KR" altLang="en-US" sz="800" u="none" strike="noStrike">
                          <a:effectLst/>
                        </a:rPr>
                        <a:t>수량이 </a:t>
                      </a:r>
                      <a:r>
                        <a:rPr lang="en-US" altLang="ko-KR" sz="800" u="none" strike="noStrike">
                          <a:effectLst/>
                        </a:rPr>
                        <a:t>0</a:t>
                      </a:r>
                      <a:r>
                        <a:rPr lang="ko-KR" altLang="en-US" sz="800" u="none" strike="noStrike">
                          <a:effectLst/>
                        </a:rPr>
                        <a:t>이거나 금액이 </a:t>
                      </a:r>
                      <a:r>
                        <a:rPr lang="en-US" altLang="ko-KR" sz="800" u="none" strike="noStrike">
                          <a:effectLst/>
                        </a:rPr>
                        <a:t>0</a:t>
                      </a:r>
                      <a:r>
                        <a:rPr lang="ko-KR" altLang="en-US" sz="800" u="none" strike="noStrike">
                          <a:effectLst/>
                        </a:rPr>
                        <a:t>인 경우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전월 재고단가 적용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수량이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이거나 금액이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인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전월 재고단가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인 경우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en-US" altLang="ko-KR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T_PRDT.MFAC_L_COST </a:t>
                      </a:r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적용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자가소모금액</a:t>
                      </a:r>
                      <a:r>
                        <a:rPr lang="en-US" altLang="ko-KR" sz="800" u="none" strike="noStrike">
                          <a:effectLst/>
                        </a:rPr>
                        <a:t>(SELF_CSUM_COST) = </a:t>
                      </a:r>
                      <a:r>
                        <a:rPr lang="ko-KR" altLang="en-US" sz="800" u="none" strike="noStrike">
                          <a:effectLst/>
                        </a:rPr>
                        <a:t>자가소모수량</a:t>
                      </a:r>
                      <a:r>
                        <a:rPr lang="en-US" altLang="ko-KR" sz="800" u="none" strike="noStrike">
                          <a:effectLst/>
                        </a:rPr>
                        <a:t>(SELF_CSUM_QTY) * </a:t>
                      </a:r>
                      <a:r>
                        <a:rPr lang="ko-KR" altLang="en-US" sz="800" u="none" strike="noStrike">
                          <a:effectLst/>
                        </a:rPr>
                        <a:t>재고단가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(STOCK_QTY) = </a:t>
                      </a:r>
                      <a:r>
                        <a:rPr lang="ko-KR" altLang="en-US" sz="800" u="none" strike="noStrike" dirty="0">
                          <a:effectLst/>
                        </a:rPr>
                        <a:t>기초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당월 입고 </a:t>
                      </a:r>
                      <a:r>
                        <a:rPr lang="en-US" altLang="ko-KR" sz="800" u="none" strike="noStrike" dirty="0">
                          <a:effectLst/>
                        </a:rPr>
                        <a:t>+ 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이제입고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이체출고</a:t>
                      </a:r>
                      <a:r>
                        <a:rPr lang="en-US" altLang="ko-KR" sz="800" u="none" strike="noStrike" dirty="0">
                          <a:effectLst/>
                        </a:rPr>
                        <a:t>) -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매장출고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직영판매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자가소모 수량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재고금액</a:t>
                      </a:r>
                      <a:r>
                        <a:rPr lang="en-US" altLang="ko-KR" sz="800" u="none" strike="noStrike">
                          <a:effectLst/>
                        </a:rPr>
                        <a:t>(STOCK_COST) = </a:t>
                      </a:r>
                      <a:r>
                        <a:rPr lang="ko-KR" altLang="en-US" sz="800" u="none" strike="noStrike">
                          <a:effectLst/>
                        </a:rPr>
                        <a:t>재고수량</a:t>
                      </a:r>
                      <a:r>
                        <a:rPr lang="en-US" altLang="ko-KR" sz="800" u="none" strike="noStrike">
                          <a:effectLst/>
                        </a:rPr>
                        <a:t>(STOCK_QTY) * </a:t>
                      </a:r>
                      <a:r>
                        <a:rPr lang="ko-KR" altLang="en-US" sz="800" u="none" strike="noStrike">
                          <a:effectLst/>
                        </a:rPr>
                        <a:t>재고단가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창고재고수량</a:t>
                      </a:r>
                      <a:r>
                        <a:rPr lang="en-US" altLang="ko-KR" sz="800" u="none" strike="noStrike">
                          <a:effectLst/>
                        </a:rPr>
                        <a:t>(WH_STOCK_QTY) =  </a:t>
                      </a:r>
                      <a:r>
                        <a:rPr lang="ko-KR" altLang="en-US" sz="800" u="none" strike="noStrike">
                          <a:effectLst/>
                        </a:rPr>
                        <a:t>기초창고수량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당월 입고 </a:t>
                      </a:r>
                      <a:r>
                        <a:rPr lang="en-US" altLang="ko-KR" sz="800" u="none" strike="noStrike">
                          <a:effectLst/>
                        </a:rPr>
                        <a:t>+ (</a:t>
                      </a:r>
                      <a:r>
                        <a:rPr lang="ko-KR" altLang="en-US" sz="800" u="none" strike="noStrike">
                          <a:effectLst/>
                        </a:rPr>
                        <a:t>이체입고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이체출고</a:t>
                      </a:r>
                      <a:r>
                        <a:rPr lang="en-US" altLang="ko-KR" sz="800" u="none" strike="noStrike">
                          <a:effectLst/>
                        </a:rPr>
                        <a:t>) - </a:t>
                      </a:r>
                      <a:r>
                        <a:rPr lang="ko-KR" altLang="en-US" sz="800" u="none" strike="noStrike">
                          <a:effectLst/>
                        </a:rPr>
                        <a:t>매장출고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직영출고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자가소모 수량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창고재고금액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(WH_STOCK_COST) = </a:t>
                      </a:r>
                      <a:r>
                        <a:rPr lang="ko-KR" altLang="en-US" sz="800" u="none" strike="noStrike" dirty="0">
                          <a:effectLst/>
                        </a:rPr>
                        <a:t>창고재고수량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(WH_STOCK_QTY) *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재고단가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직영재고수량</a:t>
                      </a:r>
                      <a:r>
                        <a:rPr lang="en-US" altLang="ko-KR" sz="800" u="none" strike="noStrike">
                          <a:effectLst/>
                        </a:rPr>
                        <a:t>(DMNG_STOCK_QTY) =  </a:t>
                      </a:r>
                      <a:r>
                        <a:rPr lang="ko-KR" altLang="en-US" sz="800" u="none" strike="noStrike">
                          <a:effectLst/>
                        </a:rPr>
                        <a:t>기초직영수량 </a:t>
                      </a:r>
                      <a:r>
                        <a:rPr lang="en-US" altLang="ko-KR" sz="800" u="none" strike="noStrike">
                          <a:effectLst/>
                        </a:rPr>
                        <a:t>+ </a:t>
                      </a:r>
                      <a:r>
                        <a:rPr lang="ko-KR" altLang="en-US" sz="800" u="none" strike="noStrike">
                          <a:effectLst/>
                        </a:rPr>
                        <a:t>직영출고 </a:t>
                      </a:r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직영판매 수량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직영재고금액</a:t>
                      </a:r>
                      <a:r>
                        <a:rPr lang="en-US" altLang="ko-KR" sz="800" u="none" strike="noStrike">
                          <a:effectLst/>
                        </a:rPr>
                        <a:t>(DMNG_STOCK_COST) = </a:t>
                      </a:r>
                      <a:r>
                        <a:rPr lang="ko-KR" altLang="en-US" sz="800" u="none" strike="noStrike">
                          <a:effectLst/>
                        </a:rPr>
                        <a:t>직영재고수량</a:t>
                      </a:r>
                      <a:r>
                        <a:rPr lang="en-US" altLang="ko-KR" sz="800" u="none" strike="noStrike">
                          <a:effectLst/>
                        </a:rPr>
                        <a:t>(DMNG_STOCK_QTY) * </a:t>
                      </a:r>
                      <a:r>
                        <a:rPr lang="ko-KR" altLang="en-US" sz="800" u="none" strike="noStrike">
                          <a:effectLst/>
                        </a:rPr>
                        <a:t>재고단가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- </a:t>
                      </a:r>
                      <a:r>
                        <a:rPr lang="ko-KR" altLang="en-US" sz="800" u="none" strike="noStrike">
                          <a:effectLst/>
                        </a:rPr>
                        <a:t>직영판매금액</a:t>
                      </a:r>
                      <a:r>
                        <a:rPr lang="en-US" altLang="ko-KR" sz="800" u="none" strike="noStrike">
                          <a:effectLst/>
                        </a:rPr>
                        <a:t>(DMNG_SALE_COST) = </a:t>
                      </a:r>
                      <a:r>
                        <a:rPr lang="ko-KR" altLang="en-US" sz="800" u="none" strike="noStrike">
                          <a:effectLst/>
                        </a:rPr>
                        <a:t>직영판매수량</a:t>
                      </a:r>
                      <a:r>
                        <a:rPr lang="en-US" altLang="ko-KR" sz="800" u="none" strike="noStrike">
                          <a:effectLst/>
                        </a:rPr>
                        <a:t>(DMNG_SALE_QTY) * </a:t>
                      </a:r>
                      <a:r>
                        <a:rPr lang="ko-KR" altLang="en-US" sz="800" u="none" strike="noStrike">
                          <a:effectLst/>
                        </a:rPr>
                        <a:t>재고단가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매장판매금액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(SHOP_SALE_COST) =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매장출고수량</a:t>
                      </a:r>
                      <a:r>
                        <a:rPr lang="en-US" altLang="ko-KR" sz="800" u="none" strike="noStrike" dirty="0">
                          <a:effectLst/>
                        </a:rPr>
                        <a:t>(SSHOP_SALE_QTY) *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재고단가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- T_M_RNDS </a:t>
                      </a:r>
                      <a:r>
                        <a:rPr lang="ko-KR" altLang="en-US" sz="800" u="none" strike="noStrike" dirty="0">
                          <a:effectLst/>
                        </a:rPr>
                        <a:t>전월 </a:t>
                      </a:r>
                      <a:r>
                        <a:rPr lang="en-US" sz="800" u="none" strike="noStrike" dirty="0">
                          <a:effectLst/>
                        </a:rPr>
                        <a:t>RNDS_COST -&gt;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전월수불단가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en-US" sz="800" u="none" strike="noStrike" dirty="0">
                          <a:effectLst/>
                        </a:rPr>
                        <a:t>BMM_RNDS_COST)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3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직영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매장 출고금액 계산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 smtClean="0">
                          <a:effectLst/>
                        </a:rPr>
                        <a:t>직영출고금액</a:t>
                      </a:r>
                      <a:r>
                        <a:rPr lang="en-US" altLang="ko-KR" sz="800" u="none" strike="noStrike" dirty="0" smtClean="0">
                          <a:effectLst/>
                        </a:rPr>
                        <a:t>(DMNG_DELV_COST</a:t>
                      </a:r>
                      <a:r>
                        <a:rPr lang="en-US" altLang="ko-KR" sz="800" u="none" strike="noStrike" dirty="0">
                          <a:effectLst/>
                        </a:rPr>
                        <a:t>) =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직영재고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직영기초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직영판매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매장출고금액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(SHOP_DELV_COST) = (</a:t>
                      </a:r>
                      <a:r>
                        <a:rPr lang="ko-KR" altLang="en-US" sz="800" u="none" strike="noStrike" dirty="0">
                          <a:effectLst/>
                        </a:rPr>
                        <a:t>기초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당월 입고 </a:t>
                      </a:r>
                      <a:r>
                        <a:rPr lang="en-US" altLang="ko-KR" sz="800" u="none" strike="noStrike" dirty="0">
                          <a:effectLst/>
                        </a:rPr>
                        <a:t>+ (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이체입고</a:t>
                      </a:r>
                      <a:r>
                        <a:rPr lang="en-US" altLang="ko-KR" sz="800" u="none" strike="noStrike" dirty="0">
                          <a:effectLst/>
                        </a:rPr>
                        <a:t>+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이체출고</a:t>
                      </a:r>
                      <a:r>
                        <a:rPr lang="en-US" altLang="ko-KR" sz="800" u="none" strike="noStrike" dirty="0">
                          <a:effectLst/>
                        </a:rPr>
                        <a:t>)) - (</a:t>
                      </a:r>
                      <a:r>
                        <a:rPr lang="ko-KR" altLang="en-US" sz="800" u="none" strike="noStrike" dirty="0">
                          <a:effectLst/>
                        </a:rPr>
                        <a:t>직영판매 </a:t>
                      </a:r>
                      <a:r>
                        <a:rPr lang="en-US" altLang="ko-KR" sz="800" u="none" strike="noStrike" dirty="0">
                          <a:effectLst/>
                        </a:rPr>
                        <a:t>+ </a:t>
                      </a:r>
                      <a:r>
                        <a:rPr lang="ko-KR" altLang="en-US" sz="800" u="none" strike="noStrike" dirty="0">
                          <a:effectLst/>
                        </a:rPr>
                        <a:t>자가소모 </a:t>
                      </a:r>
                      <a:r>
                        <a:rPr lang="en-US" altLang="ko-KR" sz="800" u="none" strike="noStrike" dirty="0">
                          <a:effectLst/>
                        </a:rPr>
                        <a:t>-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</a:t>
                      </a:r>
                      <a:r>
                        <a:rPr lang="en-US" altLang="ko-KR" sz="800" u="none" strike="noStrike" dirty="0">
                          <a:effectLst/>
                        </a:rPr>
                        <a:t>) </a:t>
                      </a:r>
                      <a:r>
                        <a:rPr lang="ko-KR" altLang="en-US" sz="800" u="none" strike="noStrike" dirty="0">
                          <a:effectLst/>
                        </a:rPr>
                        <a:t>금액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4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재고단가 반올림 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en-US" sz="800" u="none" strike="noStrike" dirty="0">
                          <a:effectLst/>
                        </a:rPr>
                        <a:t>ROUND(NVL(RNDS_COST,0))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T_PRDT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.RNDS_COST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에 당월 재고단가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  <a:cs typeface="Calibri" panose="020F0502020204030204" pitchFamily="34" charset="0"/>
                        </a:rPr>
                        <a:t>UPDATE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 panose="020B0503020000020004" pitchFamily="50" charset="-127"/>
                        <a:cs typeface="Calibri" panose="020F0502020204030204" pitchFamily="34" charset="0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OLP </a:t>
                      </a:r>
                      <a:r>
                        <a:rPr lang="ko-KR" altLang="en-US" sz="800" u="none" strike="noStrike" dirty="0">
                          <a:effectLst/>
                        </a:rPr>
                        <a:t>생성기준 원가 계산 </a:t>
                      </a:r>
                      <a:r>
                        <a:rPr lang="en-US" altLang="ko-KR" sz="800" u="none" strike="noStrike" dirty="0">
                          <a:effectLst/>
                        </a:rPr>
                        <a:t>(T_M_STOR_AMT </a:t>
                      </a:r>
                      <a:r>
                        <a:rPr lang="ko-KR" altLang="en-US" sz="800" u="none" strike="noStrike" dirty="0">
                          <a:effectLst/>
                        </a:rPr>
                        <a:t>테이블 참고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OLP </a:t>
                      </a:r>
                      <a:r>
                        <a:rPr lang="ko-KR" altLang="en-US" sz="800" u="none" strike="noStrike" dirty="0">
                          <a:effectLst/>
                        </a:rPr>
                        <a:t>생성기준 입고원가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(ATTR4)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소싱원가</a:t>
                      </a:r>
                      <a:r>
                        <a:rPr lang="ko-KR" altLang="en-US" sz="800" u="none" strike="noStrike" dirty="0">
                          <a:effectLst/>
                        </a:rPr>
                        <a:t> 적용 </a:t>
                      </a:r>
                      <a:r>
                        <a:rPr lang="en-US" altLang="ko-KR" sz="800" u="none" strike="noStrike" dirty="0">
                          <a:effectLst/>
                        </a:rPr>
                        <a:t>Y : </a:t>
                      </a:r>
                      <a:r>
                        <a:rPr lang="ko-KR" altLang="en-US" sz="800" u="none" strike="noStrike" dirty="0">
                          <a:effectLst/>
                        </a:rPr>
                        <a:t>누적 입고금액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입고수량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누적입고수량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이면 생산사전원가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(MFAC_PRE_COST))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소싱원가</a:t>
                      </a:r>
                      <a:r>
                        <a:rPr lang="ko-KR" altLang="en-US" sz="800" u="none" strike="noStrike" dirty="0">
                          <a:effectLst/>
                        </a:rPr>
                        <a:t> 적용 </a:t>
                      </a:r>
                      <a:r>
                        <a:rPr lang="en-US" altLang="ko-KR" sz="800" u="none" strike="noStrike" dirty="0">
                          <a:effectLst/>
                        </a:rPr>
                        <a:t>N : </a:t>
                      </a:r>
                      <a:r>
                        <a:rPr lang="ko-KR" altLang="en-US" sz="800" u="none" strike="noStrike" dirty="0">
                          <a:effectLst/>
                        </a:rPr>
                        <a:t>누적 입고금액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입고수량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누적입고수량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이면 사전원가결재원가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(MFAC_L_COST))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OLP </a:t>
                      </a:r>
                      <a:r>
                        <a:rPr lang="ko-KR" altLang="en-US" sz="800" u="none" strike="noStrike" dirty="0">
                          <a:effectLst/>
                        </a:rPr>
                        <a:t>생성기준 수불원가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(ATTR5)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en-US" altLang="ko-KR" sz="800" u="none" strike="noStrike" dirty="0">
                          <a:effectLst/>
                        </a:rPr>
                        <a:t>~ </a:t>
                      </a:r>
                      <a:r>
                        <a:rPr lang="en-US" altLang="ko-KR" sz="800" u="none" strike="noStrike" dirty="0" smtClean="0">
                          <a:effectLst/>
                        </a:rPr>
                        <a:t>10</a:t>
                      </a:r>
                      <a:r>
                        <a:rPr lang="ko-KR" altLang="en-US" sz="800" u="none" strike="noStrike" dirty="0" smtClean="0">
                          <a:effectLst/>
                        </a:rPr>
                        <a:t>일</a:t>
                      </a:r>
                      <a:r>
                        <a:rPr lang="en-US" altLang="ko-KR" sz="800" u="none" strike="noStrike" baseline="0" dirty="0" smtClean="0">
                          <a:effectLst/>
                        </a:rPr>
                        <a:t> </a:t>
                      </a:r>
                      <a:r>
                        <a:rPr lang="ko-KR" altLang="en-US" sz="800" u="none" strike="noStrike" baseline="0" dirty="0" smtClean="0">
                          <a:effectLst/>
                        </a:rPr>
                        <a:t>전월</a:t>
                      </a:r>
                      <a:r>
                        <a:rPr lang="en-US" altLang="ko-KR" sz="800" u="none" strike="noStrike" baseline="0" dirty="0" smtClean="0">
                          <a:effectLst/>
                        </a:rPr>
                        <a:t>, </a:t>
                      </a:r>
                      <a:r>
                        <a:rPr lang="ko-KR" altLang="en-US" sz="800" u="none" strike="noStrike" baseline="0" dirty="0" smtClean="0">
                          <a:effectLst/>
                        </a:rPr>
                        <a:t>당월 </a:t>
                      </a:r>
                      <a:r>
                        <a:rPr lang="en-US" altLang="ko-KR" sz="800" u="none" strike="noStrike" baseline="0" dirty="0" smtClean="0">
                          <a:effectLst/>
                        </a:rPr>
                        <a:t>OR</a:t>
                      </a:r>
                      <a:r>
                        <a:rPr lang="ko-KR" altLang="en-US" sz="800" u="none" strike="noStrike" baseline="0" dirty="0" smtClean="0">
                          <a:effectLst/>
                        </a:rPr>
                        <a:t> </a:t>
                      </a:r>
                      <a:r>
                        <a:rPr lang="en-US" altLang="ko-KR" sz="800" u="none" strike="noStrike" baseline="0" dirty="0" smtClean="0">
                          <a:effectLst/>
                        </a:rPr>
                        <a:t>10</a:t>
                      </a:r>
                      <a:r>
                        <a:rPr lang="ko-KR" altLang="en-US" sz="800" u="none" strike="noStrike" baseline="0" dirty="0" smtClean="0">
                          <a:effectLst/>
                        </a:rPr>
                        <a:t>일 이후 당월</a:t>
                      </a:r>
                      <a:r>
                        <a:rPr lang="ko-KR" altLang="en-US" sz="800" u="none" strike="noStrike" dirty="0" smtClean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:  ATTR5</a:t>
                      </a:r>
                      <a:r>
                        <a:rPr lang="ko-KR" altLang="en-US" sz="800" u="none" strike="noStrike" dirty="0">
                          <a:effectLst/>
                        </a:rPr>
                        <a:t>가 </a:t>
                      </a:r>
                      <a:r>
                        <a:rPr lang="en-US" altLang="ko-KR" sz="800" u="none" strike="noStrike" dirty="0">
                          <a:effectLst/>
                        </a:rPr>
                        <a:t>0</a:t>
                      </a:r>
                      <a:r>
                        <a:rPr lang="ko-KR" altLang="en-US" sz="800" u="none" strike="noStrike" dirty="0">
                          <a:effectLst/>
                        </a:rPr>
                        <a:t>이면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사전원가결재원가</a:t>
                      </a:r>
                      <a:r>
                        <a:rPr lang="en-US" altLang="ko-KR" sz="800" u="none" strike="noStrike" dirty="0">
                          <a:effectLst/>
                        </a:rPr>
                        <a:t>(MFAC_L_COST)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9038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  </a:t>
                      </a:r>
                      <a:r>
                        <a:rPr lang="ko-KR" altLang="en-US" sz="800" u="none" strike="noStrike" dirty="0" smtClean="0">
                          <a:effectLst/>
                        </a:rPr>
                        <a:t>그 외 </a:t>
                      </a:r>
                      <a:r>
                        <a:rPr lang="en-US" altLang="ko-KR" sz="800" u="none" strike="noStrike" smtClean="0">
                          <a:effectLst/>
                        </a:rPr>
                        <a:t>:  RNDS_COST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</a:tbl>
          </a:graphicData>
        </a:graphic>
      </p:graphicFrame>
      <p:sp>
        <p:nvSpPr>
          <p:cNvPr id="14" name="Text Box 121"/>
          <p:cNvSpPr txBox="1">
            <a:spLocks noChangeArrowheads="1"/>
          </p:cNvSpPr>
          <p:nvPr/>
        </p:nvSpPr>
        <p:spPr bwMode="gray">
          <a:xfrm>
            <a:off x="2252700" y="338084"/>
            <a:ext cx="2655295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err="1" smtClean="0">
                <a:solidFill>
                  <a:schemeClr val="tx2"/>
                </a:solidFill>
                <a:latin typeface="+mn-ea"/>
                <a:ea typeface="+mn-ea"/>
              </a:rPr>
              <a:t>제품수불부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02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508027"/>
              </p:ext>
            </p:extLst>
          </p:nvPr>
        </p:nvGraphicFramePr>
        <p:xfrm>
          <a:off x="268690" y="786224"/>
          <a:ext cx="9454840" cy="13177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820"/>
                <a:gridCol w="9181020"/>
              </a:tblGrid>
              <a:tr h="27003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SP_T_M_RNDS_UPDATE01A : </a:t>
                      </a:r>
                      <a:r>
                        <a:rPr lang="ko-KR" altLang="en-US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재고평가금액처리</a:t>
                      </a:r>
                      <a:endParaRPr lang="ko-KR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 err="1">
                          <a:effectLst/>
                        </a:rPr>
                        <a:t>기획년도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시즌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브랜드에 따른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재고평가율</a:t>
                      </a:r>
                      <a:r>
                        <a:rPr lang="ko-KR" altLang="en-US" sz="800" u="none" strike="noStrike" dirty="0">
                          <a:effectLst/>
                        </a:rPr>
                        <a:t> 계산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- 202003 ~ 202207 : </a:t>
                      </a:r>
                      <a:r>
                        <a:rPr lang="ko-KR" altLang="en-US" sz="800" u="none" strike="noStrike" dirty="0">
                          <a:effectLst/>
                        </a:rPr>
                        <a:t>반기 단위로 계산 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프로시저에 하드코딩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- 202207 </a:t>
                      </a:r>
                      <a:r>
                        <a:rPr lang="ko-KR" altLang="en-US" sz="800" u="none" strike="noStrike" dirty="0">
                          <a:effectLst/>
                        </a:rPr>
                        <a:t>이후 </a:t>
                      </a:r>
                      <a:r>
                        <a:rPr lang="en-US" altLang="ko-KR" sz="800" u="none" strike="noStrike" dirty="0">
                          <a:effectLst/>
                        </a:rPr>
                        <a:t>: </a:t>
                      </a:r>
                      <a:r>
                        <a:rPr lang="ko-KR" altLang="en-US" sz="800" u="none" strike="noStrike" dirty="0">
                          <a:effectLst/>
                        </a:rPr>
                        <a:t>월별로 계산</a:t>
                      </a:r>
                      <a:r>
                        <a:rPr lang="en-US" altLang="ko-KR" sz="800" u="none" strike="noStrike" dirty="0">
                          <a:effectLst/>
                        </a:rPr>
                        <a:t>, T_STOCK_VALUE_RATE </a:t>
                      </a:r>
                      <a:r>
                        <a:rPr lang="ko-KR" altLang="en-US" sz="800" u="none" strike="noStrike" dirty="0">
                          <a:effectLst/>
                        </a:rPr>
                        <a:t>테이블 데이터 참조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</a:rPr>
                        <a:t>각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컬럼에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평가율</a:t>
                      </a:r>
                      <a:r>
                        <a:rPr lang="ko-KR" altLang="en-US" sz="800" u="none" strike="noStrike" dirty="0">
                          <a:effectLst/>
                        </a:rPr>
                        <a:t> 저장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 err="1">
                          <a:effectLst/>
                        </a:rPr>
                        <a:t>전기평가율</a:t>
                      </a:r>
                      <a:r>
                        <a:rPr lang="en-US" altLang="ko-KR" sz="800" u="none" strike="noStrike" dirty="0">
                          <a:effectLst/>
                        </a:rPr>
                        <a:t>(ATTR1),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당기평가율</a:t>
                      </a:r>
                      <a:r>
                        <a:rPr lang="en-US" altLang="ko-KR" sz="800" u="none" strike="noStrike" dirty="0">
                          <a:effectLst/>
                        </a:rPr>
                        <a:t>(ATTR2), </a:t>
                      </a:r>
                      <a:r>
                        <a:rPr lang="ko-KR" altLang="en-US" sz="800" u="none" strike="noStrike" dirty="0">
                          <a:effectLst/>
                        </a:rPr>
                        <a:t>다음기수 예상 평가</a:t>
                      </a:r>
                      <a:r>
                        <a:rPr lang="en-US" altLang="ko-KR" sz="800" u="none" strike="noStrike" dirty="0">
                          <a:effectLst/>
                        </a:rPr>
                        <a:t>(ATTR3)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175530"/>
              </p:ext>
            </p:extLst>
          </p:nvPr>
        </p:nvGraphicFramePr>
        <p:xfrm>
          <a:off x="264222" y="3860539"/>
          <a:ext cx="9459308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9308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매장재고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T_SHOP_STOCK)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SP_EXEC_DAILY_3 &gt; SP_SHOP_STOCK_UPDATE_PSY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49191"/>
              </p:ext>
            </p:extLst>
          </p:nvPr>
        </p:nvGraphicFramePr>
        <p:xfrm>
          <a:off x="264222" y="4303830"/>
          <a:ext cx="9459308" cy="209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288"/>
                <a:gridCol w="9181020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전월 기말 당월 기초로 세팅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>
                          <a:effectLst/>
                        </a:rPr>
                        <a:t>2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T_SHOP_RNDS_BASE</a:t>
                      </a:r>
                      <a:r>
                        <a:rPr lang="ko-KR" altLang="en-US" sz="800" u="none" strike="noStrike">
                          <a:effectLst/>
                        </a:rPr>
                        <a:t> </a:t>
                      </a:r>
                      <a:r>
                        <a:rPr lang="en-US" altLang="ko-KR" sz="800" u="none" strike="noStrike">
                          <a:effectLst/>
                        </a:rPr>
                        <a:t>-&gt; </a:t>
                      </a:r>
                      <a:r>
                        <a:rPr lang="ko-KR" altLang="en-US" sz="800" u="none" strike="noStrike">
                          <a:effectLst/>
                        </a:rPr>
                        <a:t>출고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판매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사이즈조정 수량 및 금액 갱신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1) </a:t>
                      </a:r>
                      <a:r>
                        <a:rPr lang="ko-KR" altLang="en-US" sz="800" u="none" strike="noStrike">
                          <a:effectLst/>
                        </a:rPr>
                        <a:t>재고상태</a:t>
                      </a:r>
                      <a:r>
                        <a:rPr lang="en-US" altLang="ko-KR" sz="800" u="none" strike="noStrike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>
                          <a:effectLst/>
                        </a:rPr>
                        <a:t>거래명세</a:t>
                      </a:r>
                      <a:r>
                        <a:rPr lang="en-US" altLang="ko-KR" sz="800" u="none" strike="noStrike">
                          <a:effectLst/>
                        </a:rPr>
                        <a:t>(C20921) &amp; </a:t>
                      </a:r>
                      <a:r>
                        <a:rPr lang="ko-KR" altLang="en-US" sz="800" u="none" strike="noStrike">
                          <a:effectLst/>
                        </a:rPr>
                        <a:t>사입여부</a:t>
                      </a:r>
                      <a:r>
                        <a:rPr lang="en-US" altLang="ko-KR" sz="800" u="none" strike="noStrike">
                          <a:effectLst/>
                        </a:rPr>
                        <a:t>(STRIN_YN) = 'N'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 : NMAL_DELV, RET_DELV QTY / AMT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2) </a:t>
                      </a:r>
                      <a:r>
                        <a:rPr lang="ko-KR" altLang="en-US" sz="800" u="none" strike="noStrike">
                          <a:effectLst/>
                        </a:rPr>
                        <a:t>재고상태</a:t>
                      </a:r>
                      <a:r>
                        <a:rPr lang="en-US" altLang="ko-KR" sz="800" u="none" strike="noStrike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>
                          <a:effectLst/>
                        </a:rPr>
                        <a:t>거래명세</a:t>
                      </a:r>
                      <a:r>
                        <a:rPr lang="en-US" altLang="ko-KR" sz="800" u="none" strike="noStrike">
                          <a:effectLst/>
                        </a:rPr>
                        <a:t>(C20921) &amp; </a:t>
                      </a:r>
                      <a:r>
                        <a:rPr lang="ko-KR" altLang="en-US" sz="800" u="none" strike="noStrike">
                          <a:effectLst/>
                        </a:rPr>
                        <a:t>사입여부</a:t>
                      </a:r>
                      <a:r>
                        <a:rPr lang="en-US" altLang="ko-KR" sz="800" u="none" strike="noStrike">
                          <a:effectLst/>
                        </a:rPr>
                        <a:t>(STRIN_YN) = 'Y'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: NMAL_SALE, RET_SALE QTY / AMT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3)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판매</a:t>
                      </a:r>
                      <a:r>
                        <a:rPr lang="en-US" altLang="ko-KR" sz="800" u="none" strike="noStrike" dirty="0">
                          <a:effectLst/>
                        </a:rPr>
                        <a:t>(C20922)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NMAL_SALE, RET_SALE QTY / 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3)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사이즈조정</a:t>
                      </a:r>
                      <a:r>
                        <a:rPr lang="en-US" altLang="ko-KR" sz="800" u="none" strike="noStrike" dirty="0">
                          <a:effectLst/>
                        </a:rPr>
                        <a:t>(C20923) (</a:t>
                      </a:r>
                      <a:r>
                        <a:rPr lang="ko-KR" altLang="en-US" sz="800" u="none" strike="noStrike" dirty="0">
                          <a:effectLst/>
                        </a:rPr>
                        <a:t>현재는 미사용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>
                          <a:effectLst/>
                        </a:rPr>
                        <a:t>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SIZE_ADJ_STOR, SIZE_ADJ_DELV QTY / 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9525" marB="0" anchor="ctr"/>
                </a:tc>
              </a:tr>
            </a:tbl>
          </a:graphicData>
        </a:graphic>
      </p:graphicFrame>
      <p:sp>
        <p:nvSpPr>
          <p:cNvPr id="14" name="Text Box 121"/>
          <p:cNvSpPr txBox="1">
            <a:spLocks noChangeArrowheads="1"/>
          </p:cNvSpPr>
          <p:nvPr/>
        </p:nvSpPr>
        <p:spPr bwMode="gray">
          <a:xfrm>
            <a:off x="2252700" y="338084"/>
            <a:ext cx="2655295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err="1" smtClean="0">
                <a:solidFill>
                  <a:schemeClr val="tx2"/>
                </a:solidFill>
                <a:latin typeface="+mn-ea"/>
                <a:ea typeface="+mn-ea"/>
              </a:rPr>
              <a:t>제품수불부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15" name="Text Box 121"/>
          <p:cNvSpPr txBox="1">
            <a:spLocks noChangeArrowheads="1"/>
          </p:cNvSpPr>
          <p:nvPr/>
        </p:nvSpPr>
        <p:spPr bwMode="gray">
          <a:xfrm>
            <a:off x="2329402" y="3654025"/>
            <a:ext cx="2655295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재고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563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1. </a:t>
            </a:r>
            <a:r>
              <a:rPr lang="ko-KR" altLang="en-US" dirty="0" smtClean="0">
                <a:latin typeface="+mj-ea"/>
                <a:ea typeface="+mj-ea"/>
              </a:rPr>
              <a:t>주요테이블 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924223"/>
              </p:ext>
            </p:extLst>
          </p:nvPr>
        </p:nvGraphicFramePr>
        <p:xfrm>
          <a:off x="264222" y="777442"/>
          <a:ext cx="9459308" cy="419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59308"/>
              </a:tblGrid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창고재고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T_WH_STOCK_PRDT)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SP_EXEC_DAILY_3 &gt; SP_WHSTOCK_DAILY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470925"/>
              </p:ext>
            </p:extLst>
          </p:nvPr>
        </p:nvGraphicFramePr>
        <p:xfrm>
          <a:off x="273050" y="1268760"/>
          <a:ext cx="9450480" cy="52205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465"/>
                <a:gridCol w="9136015"/>
              </a:tblGrid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</a:rPr>
                        <a:t>전월 기말 당월 기초로 세팅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T_WH_RNDS_BASE</a:t>
                      </a:r>
                      <a:r>
                        <a:rPr lang="ko-KR" altLang="en-US" sz="800" u="none" strike="noStrike">
                          <a:effectLst/>
                        </a:rPr>
                        <a:t> </a:t>
                      </a:r>
                      <a:r>
                        <a:rPr lang="en-US" altLang="ko-KR" sz="800" u="none" strike="noStrike">
                          <a:effectLst/>
                        </a:rPr>
                        <a:t>-&gt; </a:t>
                      </a:r>
                      <a:r>
                        <a:rPr lang="ko-KR" altLang="en-US" sz="800" u="none" strike="noStrike">
                          <a:effectLst/>
                        </a:rPr>
                        <a:t>입고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자가소모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물량이동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사이즈조정</a:t>
                      </a:r>
                      <a:r>
                        <a:rPr lang="en-US" altLang="ko-KR" sz="800" u="none" strike="noStrike">
                          <a:effectLst/>
                        </a:rPr>
                        <a:t>, </a:t>
                      </a:r>
                      <a:r>
                        <a:rPr lang="ko-KR" altLang="en-US" sz="800" u="none" strike="noStrike">
                          <a:effectLst/>
                        </a:rPr>
                        <a:t>이체 수량 갱신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1) </a:t>
                      </a:r>
                      <a:r>
                        <a:rPr lang="ko-KR" altLang="en-US" sz="800" u="none" strike="noStrike">
                          <a:effectLst/>
                        </a:rPr>
                        <a:t>재고상태</a:t>
                      </a:r>
                      <a:r>
                        <a:rPr lang="en-US" altLang="ko-KR" sz="800" u="none" strike="noStrike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>
                          <a:effectLst/>
                        </a:rPr>
                        <a:t>입고</a:t>
                      </a:r>
                      <a:r>
                        <a:rPr lang="en-US" altLang="ko-KR" sz="800" u="none" strike="noStrike">
                          <a:effectLst/>
                        </a:rPr>
                        <a:t>(C20111)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 : NMAL_STOR, RET_STOR 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2) </a:t>
                      </a:r>
                      <a:r>
                        <a:rPr lang="ko-KR" altLang="en-US" sz="800" u="none" strike="noStrike">
                          <a:effectLst/>
                        </a:rPr>
                        <a:t>재고상태</a:t>
                      </a:r>
                      <a:r>
                        <a:rPr lang="en-US" altLang="ko-KR" sz="800" u="none" strike="noStrike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>
                          <a:effectLst/>
                        </a:rPr>
                        <a:t>자가소모</a:t>
                      </a:r>
                      <a:r>
                        <a:rPr lang="en-US" altLang="ko-KR" sz="800" u="none" strike="noStrike">
                          <a:effectLst/>
                        </a:rPr>
                        <a:t>(C20113)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: SELF_CSUM_QTY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3)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물량이동</a:t>
                      </a:r>
                      <a:r>
                        <a:rPr lang="en-US" altLang="ko-KR" sz="800" u="none" strike="noStrike" dirty="0">
                          <a:effectLst/>
                        </a:rPr>
                        <a:t>(C20114</a:t>
                      </a:r>
                      <a:r>
                        <a:rPr lang="en-US" altLang="ko-KR" sz="800" u="none" strike="noStrike" dirty="0" smtClean="0">
                          <a:effectLst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MQTY_MOVE_STOR, MQTY_MOVE_DELV </a:t>
                      </a:r>
                      <a:r>
                        <a:rPr lang="en-US" sz="800" u="none" strike="noStrike" dirty="0" smtClean="0">
                          <a:effectLst/>
                        </a:rPr>
                        <a:t>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4)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사이즈조정</a:t>
                      </a:r>
                      <a:r>
                        <a:rPr lang="en-US" altLang="ko-KR" sz="800" u="none" strike="noStrike" dirty="0">
                          <a:effectLst/>
                        </a:rPr>
                        <a:t>(C20115)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: SIZE_ADJ, SIZE_DELV_ADJ QTY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5)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</a:t>
                      </a:r>
                      <a:r>
                        <a:rPr lang="en-US" altLang="ko-KR" sz="800" u="none" strike="noStrike" dirty="0">
                          <a:effectLst/>
                        </a:rPr>
                        <a:t>(C20112)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TRANS_STOR_QTY (RET_YN = 'Y'</a:t>
                      </a:r>
                      <a:r>
                        <a:rPr lang="ko-KR" altLang="en-US" sz="800" u="none" strike="noStrike" dirty="0">
                          <a:effectLst/>
                        </a:rPr>
                        <a:t>일 때 </a:t>
                      </a:r>
                      <a:r>
                        <a:rPr lang="en-US" altLang="ko-KR" sz="800" u="none" strike="noStrike" dirty="0">
                          <a:effectLst/>
                        </a:rPr>
                        <a:t>-)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T_PRDT_TRANS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이체 수량 갱신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1) T_WH_RNDS_BASE(STOCK_STAT = 'C20112') </a:t>
                      </a:r>
                      <a:r>
                        <a:rPr lang="ko-KR" altLang="en-US" sz="800" u="none" strike="noStrike">
                          <a:effectLst/>
                        </a:rPr>
                        <a:t>와 </a:t>
                      </a:r>
                      <a:r>
                        <a:rPr lang="en-US" sz="800" u="none" strike="noStrike">
                          <a:effectLst/>
                        </a:rPr>
                        <a:t>JOIN : WH_RNDS_ID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: TRANS_STOR_QTY (RET_YN = 'N'</a:t>
                      </a:r>
                      <a:r>
                        <a:rPr lang="ko-KR" altLang="en-US" sz="800" u="none" strike="noStrike">
                          <a:effectLst/>
                        </a:rPr>
                        <a:t>일 때 </a:t>
                      </a:r>
                      <a:r>
                        <a:rPr lang="en-US" altLang="ko-KR" sz="800" u="none" strike="noStrike">
                          <a:effectLst/>
                        </a:rPr>
                        <a:t>-)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T_PRDT_STOCK_OVSH_MNG</a:t>
                      </a:r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en-US" altLang="ko-KR" sz="800" u="none" strike="noStrike" dirty="0">
                          <a:effectLst/>
                        </a:rPr>
                        <a:t>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자가소모</a:t>
                      </a:r>
                      <a:r>
                        <a:rPr lang="en-US" altLang="ko-KR" sz="800" u="none" strike="noStrike" dirty="0">
                          <a:effectLst/>
                        </a:rPr>
                        <a:t>, </a:t>
                      </a:r>
                      <a:r>
                        <a:rPr lang="ko-KR" altLang="en-US" sz="800" u="none" strike="noStrike" dirty="0">
                          <a:effectLst/>
                        </a:rPr>
                        <a:t>물량이동 수량 갱신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1) </a:t>
                      </a:r>
                      <a:r>
                        <a:rPr lang="ko-KR" altLang="en-US" sz="800" u="none" strike="noStrike" dirty="0">
                          <a:effectLst/>
                        </a:rPr>
                        <a:t>발생구분</a:t>
                      </a:r>
                      <a:r>
                        <a:rPr lang="en-US" altLang="ko-KR" sz="800" u="none" strike="noStrike" dirty="0">
                          <a:effectLst/>
                        </a:rPr>
                        <a:t>(OCCUR_CLSBY) = </a:t>
                      </a:r>
                      <a:r>
                        <a:rPr lang="ko-KR" altLang="en-US" sz="800" u="none" strike="noStrike" dirty="0">
                          <a:effectLst/>
                        </a:rPr>
                        <a:t>부족수량등록</a:t>
                      </a:r>
                      <a:r>
                        <a:rPr lang="en-US" altLang="ko-KR" sz="800" u="none" strike="noStrike" dirty="0">
                          <a:effectLst/>
                        </a:rPr>
                        <a:t>(C56901)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 - YA : -MQTY_MOVE_DELV_QTY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>
                          <a:effectLst/>
                        </a:rPr>
                        <a:t>   - GC: +MQTY_MOVE_STOR_QTY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>
                          <a:effectLst/>
                        </a:rPr>
                        <a:t>2) </a:t>
                      </a:r>
                      <a:r>
                        <a:rPr lang="ko-KR" altLang="en-US" sz="800" u="none" strike="noStrike">
                          <a:effectLst/>
                        </a:rPr>
                        <a:t>발생구분</a:t>
                      </a:r>
                      <a:r>
                        <a:rPr lang="en-US" altLang="ko-KR" sz="800" u="none" strike="noStrike">
                          <a:effectLst/>
                        </a:rPr>
                        <a:t>(OCCUR_CLSBY) = </a:t>
                      </a:r>
                      <a:r>
                        <a:rPr lang="ko-KR" altLang="en-US" sz="800" u="none" strike="noStrike">
                          <a:effectLst/>
                        </a:rPr>
                        <a:t>추가입고</a:t>
                      </a:r>
                      <a:r>
                        <a:rPr lang="en-US" altLang="ko-KR" sz="800" u="none" strike="noStrike">
                          <a:effectLst/>
                        </a:rPr>
                        <a:t>(C56902)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 - YA : +MQTY_MOVE_STOR_QTY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 - GC: +MQTY_MOVE_DELV_QTY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3) </a:t>
                      </a:r>
                      <a:r>
                        <a:rPr lang="ko-KR" altLang="en-US" sz="800" u="none" strike="noStrike" dirty="0">
                          <a:effectLst/>
                        </a:rPr>
                        <a:t>발생구분</a:t>
                      </a:r>
                      <a:r>
                        <a:rPr lang="en-US" altLang="ko-KR" sz="800" u="none" strike="noStrike" dirty="0">
                          <a:effectLst/>
                        </a:rPr>
                        <a:t>(OCCUR_CLSBY) = </a:t>
                      </a:r>
                      <a:r>
                        <a:rPr lang="ko-KR" altLang="en-US" sz="800" u="none" strike="noStrike" dirty="0">
                          <a:effectLst/>
                        </a:rPr>
                        <a:t>비용처리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잡손실</a:t>
                      </a:r>
                      <a:r>
                        <a:rPr lang="en-US" altLang="ko-KR" sz="800" u="none" strike="noStrike" dirty="0">
                          <a:effectLst/>
                        </a:rPr>
                        <a:t>)(C56906)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SELF_CSUM_QTY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T_SHOP_RNDS_BASE 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출고 수량 갱신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u="none" strike="noStrike" dirty="0">
                          <a:effectLst/>
                        </a:rPr>
                        <a:t>1) </a:t>
                      </a:r>
                      <a:r>
                        <a:rPr lang="ko-KR" altLang="en-US" sz="800" u="none" strike="noStrike" dirty="0">
                          <a:effectLst/>
                        </a:rPr>
                        <a:t>재고상태</a:t>
                      </a:r>
                      <a:r>
                        <a:rPr lang="en-US" altLang="ko-KR" sz="800" u="none" strike="noStrike" dirty="0">
                          <a:effectLst/>
                        </a:rPr>
                        <a:t>(STOCK_STAT) = </a:t>
                      </a:r>
                      <a:r>
                        <a:rPr lang="ko-KR" altLang="en-US" sz="800" u="none" strike="noStrike" dirty="0">
                          <a:effectLst/>
                        </a:rPr>
                        <a:t>거래명세</a:t>
                      </a:r>
                      <a:r>
                        <a:rPr lang="en-US" altLang="ko-KR" sz="800" u="none" strike="noStrike" dirty="0">
                          <a:effectLst/>
                        </a:rPr>
                        <a:t>(C20921)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 : NMAL_DELV, RET_DELV 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u="none" strike="noStrike" dirty="0">
                          <a:effectLst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T_DELV_INDC.DELV_REQ_QTY (WORK_DT IS NULL)-&gt; </a:t>
                      </a:r>
                      <a:r>
                        <a:rPr lang="ko-KR" altLang="en-US" sz="800" u="none" strike="noStrike" dirty="0">
                          <a:effectLst/>
                        </a:rPr>
                        <a:t>출고요청수량 갱신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  <a:tr h="1800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u="none" strike="noStrike" dirty="0">
                          <a:effectLst/>
                        </a:rPr>
                        <a:t> :  DELV_REQ_QTY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5265" marB="0" anchor="ctr"/>
                </a:tc>
              </a:tr>
            </a:tbl>
          </a:graphicData>
        </a:graphic>
      </p:graphicFrame>
      <p:sp>
        <p:nvSpPr>
          <p:cNvPr id="10" name="Text Box 121"/>
          <p:cNvSpPr txBox="1">
            <a:spLocks noChangeArrowheads="1"/>
          </p:cNvSpPr>
          <p:nvPr/>
        </p:nvSpPr>
        <p:spPr bwMode="gray">
          <a:xfrm>
            <a:off x="2252700" y="338084"/>
            <a:ext cx="2655295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재고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859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72479" y="728700"/>
            <a:ext cx="8415935" cy="307773"/>
          </a:xfrm>
        </p:spPr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현 집계 데이터는 조회 속도를 제외한 모든 분석 자료로 연결 되어 있도록 설계 되어 있음</a:t>
            </a:r>
            <a:r>
              <a:rPr lang="en-US" altLang="ko-KR" dirty="0" smtClean="0">
                <a:latin typeface="+mn-ea"/>
                <a:ea typeface="+mn-ea"/>
              </a:rPr>
              <a:t>.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dirty="0" smtClean="0">
                <a:latin typeface="+mn-ea"/>
                <a:ea typeface="+mn-ea"/>
              </a:rPr>
              <a:t>  </a:t>
            </a:r>
            <a:endParaRPr lang="ko-KR" altLang="en-US" dirty="0" smtClean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8.OLP </a:t>
            </a:r>
            <a:r>
              <a:rPr lang="ko-KR" altLang="en-US" dirty="0" smtClean="0">
                <a:latin typeface="+mn-ea"/>
                <a:ea typeface="+mn-ea"/>
              </a:rPr>
              <a:t>관리  현황</a:t>
            </a:r>
            <a:r>
              <a:rPr lang="en-US" altLang="ko-KR" dirty="0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3" name="내용 개체 틀 1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데이터 관리 현황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22" name="Rectangle 81"/>
          <p:cNvSpPr>
            <a:spLocks noChangeArrowheads="1"/>
          </p:cNvSpPr>
          <p:nvPr/>
        </p:nvSpPr>
        <p:spPr bwMode="auto">
          <a:xfrm>
            <a:off x="228600" y="1088740"/>
            <a:ext cx="9429750" cy="5445605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ea typeface="+mn-ea"/>
              <a:cs typeface="JBold" pitchFamily="18" charset="-127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362490" y="1268760"/>
            <a:ext cx="4230470" cy="5175575"/>
          </a:xfrm>
          <a:prstGeom prst="rect">
            <a:avLst/>
          </a:prstGeom>
          <a:solidFill>
            <a:srgbClr val="EAEAEA"/>
          </a:solidFill>
          <a:ln w="6350" algn="ctr">
            <a:noFill/>
            <a:miter lim="800000"/>
            <a:headEnd/>
            <a:tailEnd/>
          </a:ln>
        </p:spPr>
        <p:txBody>
          <a:bodyPr wrap="none" lIns="126000" tIns="118800" rIns="126000" bIns="118800" anchor="ctr"/>
          <a:lstStyle/>
          <a:p>
            <a:pPr>
              <a:defRPr/>
            </a:pPr>
            <a:endParaRPr lang="ko-KR" altLang="en-US">
              <a:latin typeface="+mn-ea"/>
              <a:ea typeface="+mn-ea"/>
            </a:endParaRPr>
          </a:p>
        </p:txBody>
      </p:sp>
      <p:sp>
        <p:nvSpPr>
          <p:cNvPr id="14" name="AutoShape 19"/>
          <p:cNvSpPr>
            <a:spLocks noChangeArrowheads="1"/>
          </p:cNvSpPr>
          <p:nvPr/>
        </p:nvSpPr>
        <p:spPr bwMode="auto">
          <a:xfrm>
            <a:off x="1892660" y="2798930"/>
            <a:ext cx="1035115" cy="1215135"/>
          </a:xfrm>
          <a:prstGeom prst="rightArrow">
            <a:avLst>
              <a:gd name="adj1" fmla="val 50000"/>
              <a:gd name="adj2" fmla="val 25000"/>
            </a:avLst>
          </a:prstGeom>
          <a:gradFill rotWithShape="1">
            <a:gsLst>
              <a:gs pos="0">
                <a:schemeClr val="bg2">
                  <a:alpha val="69000"/>
                </a:schemeClr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>
              <a:defRPr/>
            </a:pPr>
            <a:endParaRPr lang="ko-KR" altLang="en-US">
              <a:latin typeface="+mn-ea"/>
              <a:ea typeface="+mn-ea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587515" y="1757973"/>
            <a:ext cx="600609" cy="632991"/>
            <a:chOff x="391951" y="2886019"/>
            <a:chExt cx="600609" cy="632991"/>
          </a:xfrm>
        </p:grpSpPr>
        <p:pic>
          <p:nvPicPr>
            <p:cNvPr id="8" name="Picture 14" descr="sfsf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1951" y="2886019"/>
              <a:ext cx="600609" cy="632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416399" y="3068960"/>
              <a:ext cx="44114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제품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정보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9" name="Text Box 105"/>
          <p:cNvSpPr txBox="1">
            <a:spLocks noChangeArrowheads="1"/>
          </p:cNvSpPr>
          <p:nvPr/>
        </p:nvSpPr>
        <p:spPr bwMode="auto">
          <a:xfrm>
            <a:off x="356078" y="1400854"/>
            <a:ext cx="1147334" cy="439975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 wrap="none" lIns="126000" tIns="118800" rIns="126000" bIns="118800">
            <a:spAutoFit/>
          </a:bodyPr>
          <a:lstStyle/>
          <a:p>
            <a:pPr algn="ctr" latinLnBrk="0">
              <a:spcBef>
                <a:spcPct val="0"/>
              </a:spcBef>
              <a:buSzTx/>
              <a:buFontTx/>
              <a:buNone/>
              <a:defRPr/>
            </a:pPr>
            <a:r>
              <a:rPr lang="ko-KR" altLang="en-US" sz="1300" dirty="0" smtClean="0">
                <a:latin typeface="+mn-ea"/>
                <a:ea typeface="+mn-ea"/>
              </a:rPr>
              <a:t>패션 시스템</a:t>
            </a:r>
            <a:endParaRPr lang="ko-KR" altLang="en-US" sz="1300" dirty="0">
              <a:latin typeface="+mn-ea"/>
              <a:ea typeface="+mn-ea"/>
            </a:endParaRPr>
          </a:p>
        </p:txBody>
      </p:sp>
      <p:grpSp>
        <p:nvGrpSpPr>
          <p:cNvPr id="107" name="그룹 106"/>
          <p:cNvGrpSpPr/>
          <p:nvPr/>
        </p:nvGrpSpPr>
        <p:grpSpPr>
          <a:xfrm>
            <a:off x="587515" y="3651104"/>
            <a:ext cx="600609" cy="632991"/>
            <a:chOff x="8438942" y="2075929"/>
            <a:chExt cx="600609" cy="632991"/>
          </a:xfrm>
        </p:grpSpPr>
        <p:pic>
          <p:nvPicPr>
            <p:cNvPr id="105" name="Picture 14" descr="sfsf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38942" y="2075929"/>
              <a:ext cx="600609" cy="632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6" name="Text Box 24"/>
            <p:cNvSpPr txBox="1">
              <a:spLocks noChangeArrowheads="1"/>
            </p:cNvSpPr>
            <p:nvPr/>
          </p:nvSpPr>
          <p:spPr bwMode="auto">
            <a:xfrm>
              <a:off x="8463390" y="2258870"/>
              <a:ext cx="44114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판매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정보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08" name="그룹 107"/>
          <p:cNvGrpSpPr/>
          <p:nvPr/>
        </p:nvGrpSpPr>
        <p:grpSpPr>
          <a:xfrm>
            <a:off x="587515" y="2973108"/>
            <a:ext cx="600609" cy="632991"/>
            <a:chOff x="8438942" y="2075929"/>
            <a:chExt cx="600609" cy="632991"/>
          </a:xfrm>
        </p:grpSpPr>
        <p:pic>
          <p:nvPicPr>
            <p:cNvPr id="109" name="Picture 14" descr="sfsf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38942" y="2075929"/>
              <a:ext cx="600609" cy="632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0" name="Text Box 24"/>
            <p:cNvSpPr txBox="1">
              <a:spLocks noChangeArrowheads="1"/>
            </p:cNvSpPr>
            <p:nvPr/>
          </p:nvSpPr>
          <p:spPr bwMode="auto">
            <a:xfrm>
              <a:off x="8463390" y="2258870"/>
              <a:ext cx="44114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출고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정보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587515" y="2390964"/>
            <a:ext cx="600609" cy="632991"/>
            <a:chOff x="8438942" y="2075929"/>
            <a:chExt cx="600609" cy="632991"/>
          </a:xfrm>
        </p:grpSpPr>
        <p:pic>
          <p:nvPicPr>
            <p:cNvPr id="112" name="Picture 14" descr="sfsf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38942" y="2075929"/>
              <a:ext cx="600609" cy="632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" name="Text Box 24"/>
            <p:cNvSpPr txBox="1">
              <a:spLocks noChangeArrowheads="1"/>
            </p:cNvSpPr>
            <p:nvPr/>
          </p:nvSpPr>
          <p:spPr bwMode="auto">
            <a:xfrm>
              <a:off x="8463390" y="2258870"/>
              <a:ext cx="44114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입고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정보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587515" y="4281174"/>
            <a:ext cx="600609" cy="632991"/>
            <a:chOff x="8438942" y="2075929"/>
            <a:chExt cx="600609" cy="632991"/>
          </a:xfrm>
        </p:grpSpPr>
        <p:pic>
          <p:nvPicPr>
            <p:cNvPr id="115" name="Picture 14" descr="sfsf"/>
            <p:cNvPicPr preferRelativeResize="0"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438942" y="2075929"/>
              <a:ext cx="600609" cy="6329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" name="Text Box 24"/>
            <p:cNvSpPr txBox="1">
              <a:spLocks noChangeArrowheads="1"/>
            </p:cNvSpPr>
            <p:nvPr/>
          </p:nvSpPr>
          <p:spPr bwMode="auto">
            <a:xfrm>
              <a:off x="8463390" y="2258870"/>
              <a:ext cx="441146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재고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ct val="0"/>
                </a:spcBef>
                <a:buSzTx/>
                <a:defRPr/>
              </a:pP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정보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8" name="AutoShape 43"/>
          <p:cNvSpPr>
            <a:spLocks/>
          </p:cNvSpPr>
          <p:nvPr/>
        </p:nvSpPr>
        <p:spPr bwMode="auto">
          <a:xfrm>
            <a:off x="1217585" y="3166782"/>
            <a:ext cx="518818" cy="430054"/>
          </a:xfrm>
          <a:prstGeom prst="rightBrace">
            <a:avLst>
              <a:gd name="adj1" fmla="val 39594"/>
              <a:gd name="adj2" fmla="val 50000"/>
            </a:avLst>
          </a:prstGeom>
          <a:noFill/>
          <a:ln w="3175">
            <a:solidFill>
              <a:srgbClr val="80008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19" name="Text Box 44"/>
          <p:cNvSpPr txBox="1">
            <a:spLocks noChangeArrowheads="1"/>
          </p:cNvSpPr>
          <p:nvPr/>
        </p:nvSpPr>
        <p:spPr bwMode="auto">
          <a:xfrm>
            <a:off x="1847655" y="3203975"/>
            <a:ext cx="1080120" cy="477054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야간 배치 작업</a:t>
            </a:r>
            <a:endParaRPr lang="en-US" altLang="ko-KR" sz="10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00:00 ~ 04:00</a:t>
            </a:r>
            <a:endParaRPr lang="ko-KR" altLang="en-US" sz="1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32" name="그룹 131"/>
          <p:cNvGrpSpPr/>
          <p:nvPr/>
        </p:nvGrpSpPr>
        <p:grpSpPr>
          <a:xfrm>
            <a:off x="3062789" y="4168300"/>
            <a:ext cx="1211454" cy="880880"/>
            <a:chOff x="3543004" y="3158970"/>
            <a:chExt cx="1372808" cy="880880"/>
          </a:xfrm>
        </p:grpSpPr>
        <p:pic>
          <p:nvPicPr>
            <p:cNvPr id="22" name="Picture 27" descr="1"/>
            <p:cNvPicPr preferRelativeResize="0"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7855" y="3158970"/>
              <a:ext cx="1081650" cy="8808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0" name="Text Box 96"/>
            <p:cNvSpPr txBox="1">
              <a:spLocks noChangeArrowheads="1"/>
            </p:cNvSpPr>
            <p:nvPr/>
          </p:nvSpPr>
          <p:spPr bwMode="auto">
            <a:xfrm>
              <a:off x="3543004" y="3485241"/>
              <a:ext cx="1372808" cy="547697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none" lIns="126000" tIns="118800" rIns="126000" bIns="118800">
              <a:spAutoFit/>
            </a:bodyPr>
            <a:lstStyle/>
            <a:p>
              <a:pPr latinLnBrk="0">
                <a:spcBef>
                  <a:spcPct val="0"/>
                </a:spcBef>
                <a:buSzTx/>
                <a:buFontTx/>
                <a:buChar char="-"/>
                <a:defRPr/>
              </a:pPr>
              <a:r>
                <a:rPr lang="ko-KR" altLang="en-US" sz="1000" dirty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  <a:r>
                <a:rPr lang="ko-KR" altLang="en-US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분석 집계 생성</a:t>
              </a:r>
              <a:endParaRPr lang="en-US" altLang="ko-KR" sz="10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latinLnBrk="0">
                <a:spcBef>
                  <a:spcPct val="0"/>
                </a:spcBef>
                <a:buSzTx/>
                <a:defRPr/>
              </a:pPr>
              <a:r>
                <a:rPr lang="en-US" altLang="ko-KR" sz="1000" dirty="0" smtClean="0">
                  <a:solidFill>
                    <a:schemeClr val="bg1"/>
                  </a:solidFill>
                  <a:latin typeface="+mn-ea"/>
                  <a:ea typeface="+mn-ea"/>
                </a:rPr>
                <a:t>  (OLP TABLE)</a:t>
              </a:r>
              <a:endParaRPr lang="ko-KR" altLang="en-US" sz="10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21" name="Text Box 28"/>
          <p:cNvSpPr txBox="1">
            <a:spLocks noChangeArrowheads="1"/>
          </p:cNvSpPr>
          <p:nvPr/>
        </p:nvSpPr>
        <p:spPr bwMode="auto">
          <a:xfrm>
            <a:off x="542510" y="5537697"/>
            <a:ext cx="3870430" cy="771623"/>
          </a:xfrm>
          <a:prstGeom prst="rect">
            <a:avLst/>
          </a:prstGeom>
          <a:solidFill>
            <a:schemeClr val="accent1"/>
          </a:solidFill>
          <a:ln w="9525">
            <a:solidFill>
              <a:srgbClr val="993300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latinLnBrk="0">
              <a:spcBef>
                <a:spcPct val="50000"/>
              </a:spcBef>
              <a:buFontTx/>
              <a:buChar char="•"/>
            </a:pPr>
            <a:r>
              <a:rPr lang="en-US" altLang="ko-KR" sz="1100" b="1" dirty="0">
                <a:latin typeface="+mn-ea"/>
                <a:ea typeface="+mn-ea"/>
              </a:rPr>
              <a:t> </a:t>
            </a:r>
            <a:r>
              <a:rPr lang="en-US" altLang="ko-KR" sz="1100" b="1" dirty="0" smtClean="0">
                <a:latin typeface="+mn-ea"/>
                <a:ea typeface="+mn-ea"/>
              </a:rPr>
              <a:t> </a:t>
            </a:r>
            <a:r>
              <a:rPr lang="ko-KR" altLang="en-US" sz="1100" b="1" dirty="0" smtClean="0">
                <a:latin typeface="+mn-ea"/>
                <a:ea typeface="+mn-ea"/>
              </a:rPr>
              <a:t>신성</a:t>
            </a:r>
            <a:r>
              <a:rPr lang="en-US" altLang="ko-KR" sz="1100" b="1" dirty="0" smtClean="0">
                <a:latin typeface="+mn-ea"/>
                <a:ea typeface="+mn-ea"/>
              </a:rPr>
              <a:t>/</a:t>
            </a:r>
            <a:r>
              <a:rPr lang="ko-KR" altLang="en-US" sz="1100" b="1" dirty="0" err="1" smtClean="0">
                <a:latin typeface="+mn-ea"/>
                <a:ea typeface="+mn-ea"/>
              </a:rPr>
              <a:t>에이션</a:t>
            </a:r>
            <a:r>
              <a:rPr lang="ko-KR" altLang="en-US" sz="1100" b="1" dirty="0" smtClean="0">
                <a:latin typeface="+mn-ea"/>
                <a:ea typeface="+mn-ea"/>
              </a:rPr>
              <a:t>  각 사별로 분석 집계테이블이 존재 함</a:t>
            </a:r>
            <a:r>
              <a:rPr lang="en-US" altLang="ko-KR" sz="1100" b="1" dirty="0" smtClean="0">
                <a:latin typeface="+mn-ea"/>
                <a:ea typeface="+mn-ea"/>
              </a:rPr>
              <a:t>.</a:t>
            </a:r>
            <a:endParaRPr lang="en-US" altLang="ko-KR" sz="1100" b="1" dirty="0">
              <a:latin typeface="+mn-ea"/>
              <a:ea typeface="+mn-ea"/>
            </a:endParaRPr>
          </a:p>
          <a:p>
            <a:pPr latinLnBrk="0">
              <a:spcBef>
                <a:spcPct val="50000"/>
              </a:spcBef>
              <a:buFontTx/>
              <a:buChar char="•"/>
            </a:pPr>
            <a:r>
              <a:rPr lang="en-US" altLang="ko-KR" sz="1100" b="1" dirty="0">
                <a:latin typeface="+mn-ea"/>
                <a:ea typeface="+mn-ea"/>
              </a:rPr>
              <a:t> </a:t>
            </a:r>
            <a:r>
              <a:rPr lang="en-US" altLang="ko-KR" sz="1100" b="1" dirty="0" smtClean="0">
                <a:latin typeface="+mn-ea"/>
                <a:ea typeface="+mn-ea"/>
              </a:rPr>
              <a:t> </a:t>
            </a:r>
            <a:r>
              <a:rPr lang="ko-KR" altLang="en-US" sz="1100" b="1" dirty="0" smtClean="0">
                <a:latin typeface="+mn-ea"/>
                <a:ea typeface="+mn-ea"/>
              </a:rPr>
              <a:t>각 분석데이터의 조회 성격에 따라 테이블이 </a:t>
            </a:r>
            <a:r>
              <a:rPr lang="en-US" altLang="ko-KR" sz="1100" b="1" dirty="0" smtClean="0">
                <a:latin typeface="+mn-ea"/>
                <a:ea typeface="+mn-ea"/>
              </a:rPr>
              <a:t>43</a:t>
            </a:r>
            <a:r>
              <a:rPr lang="ko-KR" altLang="en-US" sz="1100" b="1" dirty="0" smtClean="0">
                <a:latin typeface="+mn-ea"/>
                <a:ea typeface="+mn-ea"/>
              </a:rPr>
              <a:t>개 존재</a:t>
            </a:r>
            <a:r>
              <a:rPr lang="en-US" altLang="ko-KR" sz="1100" b="1" dirty="0" smtClean="0">
                <a:latin typeface="+mn-ea"/>
                <a:ea typeface="+mn-ea"/>
              </a:rPr>
              <a:t>.</a:t>
            </a:r>
          </a:p>
          <a:p>
            <a:pPr latinLnBrk="0">
              <a:spcBef>
                <a:spcPct val="50000"/>
              </a:spcBef>
              <a:buFontTx/>
              <a:buChar char="•"/>
            </a:pPr>
            <a:r>
              <a:rPr lang="en-US" altLang="ko-KR" sz="1100" b="1" dirty="0" smtClean="0">
                <a:latin typeface="+mn-ea"/>
                <a:ea typeface="+mn-ea"/>
              </a:rPr>
              <a:t>  </a:t>
            </a:r>
            <a:r>
              <a:rPr lang="ko-KR" altLang="en-US" sz="1100" b="1" dirty="0" smtClean="0">
                <a:latin typeface="+mn-ea"/>
                <a:ea typeface="+mn-ea"/>
              </a:rPr>
              <a:t>모든 집계 테이블의 관리는 일자 중심으로 관리</a:t>
            </a:r>
            <a:endParaRPr lang="en-US" altLang="ko-KR" sz="1100" b="1" dirty="0">
              <a:latin typeface="+mn-ea"/>
              <a:ea typeface="+mn-ea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868820"/>
              </p:ext>
            </p:extLst>
          </p:nvPr>
        </p:nvGraphicFramePr>
        <p:xfrm>
          <a:off x="4817985" y="1313766"/>
          <a:ext cx="4680521" cy="468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135"/>
                <a:gridCol w="900100"/>
                <a:gridCol w="2565286"/>
              </a:tblGrid>
              <a:tr h="3600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주   요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테이블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집   계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그   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룹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관리 항목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1888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OLP_PRDT_TOT_D</a:t>
                      </a:r>
                    </a:p>
                    <a:p>
                      <a:pPr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제품별별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일자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제품코드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칼라</a:t>
                      </a:r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4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입고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출고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판매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이체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자가소모에 대한 수량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공급가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원가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실판가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  <a:sym typeface="Wingdings" pitchFamily="2" charset="2"/>
                        </a:rPr>
                        <a:t>소비자가 관리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</a:tr>
              <a:tr h="6077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OLP_PRDT_SIZE_TOT_D</a:t>
                      </a:r>
                    </a:p>
                    <a:p>
                      <a:pPr latinLnBrk="1"/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제품사이즈집계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일자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제품코드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칼라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사이즈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상동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6077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OLP_SHOP_PRDT_TOT_D</a:t>
                      </a:r>
                    </a:p>
                    <a:p>
                      <a:pPr latinLnBrk="1"/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매장제품집계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일자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매장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제품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칼라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출고</a:t>
                      </a:r>
                      <a:r>
                        <a:rPr lang="en-US" altLang="ko-KR" sz="1000" dirty="0" smtClean="0"/>
                        <a:t>, </a:t>
                      </a:r>
                      <a:r>
                        <a:rPr lang="ko-KR" altLang="en-US" sz="1000" dirty="0" smtClean="0"/>
                        <a:t>판매에 대한 공급가</a:t>
                      </a:r>
                      <a:r>
                        <a:rPr lang="en-US" altLang="ko-KR" sz="1000" dirty="0" smtClean="0"/>
                        <a:t>,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원가</a:t>
                      </a:r>
                      <a:r>
                        <a:rPr lang="en-US" altLang="ko-KR" sz="1000" baseline="0" dirty="0" smtClean="0"/>
                        <a:t>, </a:t>
                      </a:r>
                      <a:r>
                        <a:rPr lang="ko-KR" altLang="en-US" sz="1000" baseline="0" dirty="0" err="1" smtClean="0"/>
                        <a:t>실판매가</a:t>
                      </a:r>
                      <a:r>
                        <a:rPr lang="en-US" altLang="ko-KR" sz="1000" baseline="0" dirty="0" smtClean="0"/>
                        <a:t>, </a:t>
                      </a:r>
                      <a:r>
                        <a:rPr lang="ko-KR" altLang="en-US" sz="1000" baseline="0" dirty="0" smtClean="0"/>
                        <a:t>소비자가 </a:t>
                      </a:r>
                      <a:r>
                        <a:rPr lang="ko-KR" altLang="en-US" sz="1000" baseline="0" dirty="0" err="1" smtClean="0"/>
                        <a:t>를</a:t>
                      </a:r>
                      <a:r>
                        <a:rPr lang="ko-KR" altLang="en-US" sz="1000" baseline="0" dirty="0" smtClean="0"/>
                        <a:t> 관리</a:t>
                      </a:r>
                      <a:endParaRPr lang="ko-KR" altLang="en-US" sz="1000" dirty="0"/>
                    </a:p>
                  </a:txBody>
                  <a:tcPr/>
                </a:tc>
              </a:tr>
              <a:tr h="607732">
                <a:tc>
                  <a:txBody>
                    <a:bodyPr/>
                    <a:lstStyle/>
                    <a:p>
                      <a:pPr marL="0" marR="0" indent="0" algn="l" defTabSz="91434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/>
                        <a:t>OLP_SHOP_PRDT_SALE_D</a:t>
                      </a:r>
                    </a:p>
                    <a:p>
                      <a:pPr latinLnBrk="1"/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매장제품판매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일자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매장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제품코드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칼라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판매구분</a:t>
                      </a:r>
                      <a:endParaRPr lang="en-US" altLang="ko-KR" sz="1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/>
                        <a:t>상동</a:t>
                      </a:r>
                      <a:endParaRPr lang="ko-KR" altLang="en-US" sz="1000" dirty="0"/>
                    </a:p>
                  </a:txBody>
                  <a:tcPr anchor="ctr"/>
                </a:tc>
              </a:tr>
              <a:tr h="14801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/>
                        <a:t>OLP_PRDT_PARENT_TOT_D</a:t>
                      </a:r>
                    </a:p>
                    <a:p>
                      <a:pPr latinLnBrk="1"/>
                      <a:r>
                        <a:rPr lang="en-US" altLang="ko-KR" sz="1000" dirty="0" smtClean="0"/>
                        <a:t>(</a:t>
                      </a:r>
                      <a:r>
                        <a:rPr lang="ko-KR" altLang="en-US" sz="1000" dirty="0" smtClean="0"/>
                        <a:t>제품상위집계</a:t>
                      </a:r>
                      <a:r>
                        <a:rPr lang="en-US" altLang="ko-KR" sz="1000" dirty="0" smtClean="0"/>
                        <a:t>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smtClean="0"/>
                        <a:t>일자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상위브랜드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브랜드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err="1" smtClean="0"/>
                        <a:t>기획년도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시즌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상위품종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품종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성별</a:t>
                      </a:r>
                      <a:endParaRPr lang="en-US" altLang="ko-KR" sz="1000" dirty="0" smtClean="0"/>
                    </a:p>
                    <a:p>
                      <a:pPr latinLnBrk="1"/>
                      <a:r>
                        <a:rPr lang="ko-KR" altLang="en-US" sz="1000" dirty="0" smtClean="0"/>
                        <a:t>제품구분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34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입고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출고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판매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이체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자가소모에 대한 수량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공급가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원가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실판가</a:t>
                      </a:r>
                      <a:r>
                        <a:rPr lang="en-US" altLang="ko-KR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  <a:sym typeface="Wingdings" pitchFamily="2" charset="2"/>
                        </a:rPr>
                        <a:t>소비자가 관리</a:t>
                      </a:r>
                      <a:endParaRPr lang="en-US" altLang="ko-KR" sz="100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23" name="그룹 122"/>
          <p:cNvGrpSpPr/>
          <p:nvPr/>
        </p:nvGrpSpPr>
        <p:grpSpPr>
          <a:xfrm>
            <a:off x="3245662" y="1898830"/>
            <a:ext cx="1122273" cy="720081"/>
            <a:chOff x="3647855" y="3383994"/>
            <a:chExt cx="1122273" cy="720081"/>
          </a:xfrm>
        </p:grpSpPr>
        <p:pic>
          <p:nvPicPr>
            <p:cNvPr id="124" name="Picture 27" descr="1"/>
            <p:cNvPicPr preferRelativeResize="0"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7855" y="3383994"/>
              <a:ext cx="810089" cy="720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5" name="Text Box 96"/>
            <p:cNvSpPr txBox="1">
              <a:spLocks noChangeArrowheads="1"/>
            </p:cNvSpPr>
            <p:nvPr/>
          </p:nvSpPr>
          <p:spPr bwMode="auto">
            <a:xfrm>
              <a:off x="3690008" y="3575252"/>
              <a:ext cx="1080120" cy="516919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square" lIns="126000" tIns="118800" rIns="126000" bIns="118800">
              <a:spAutoFit/>
            </a:bodyPr>
            <a:lstStyle/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제품별</a:t>
              </a:r>
              <a:r>
                <a:rPr lang="en-US" altLang="ko-KR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_</a:t>
              </a: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일</a:t>
              </a:r>
              <a:endParaRPr lang="en-US" altLang="ko-KR" sz="9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제품별누적</a:t>
              </a:r>
              <a:endParaRPr lang="ko-KR" altLang="en-US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6" name="그룹 125"/>
          <p:cNvGrpSpPr/>
          <p:nvPr/>
        </p:nvGrpSpPr>
        <p:grpSpPr>
          <a:xfrm>
            <a:off x="3155652" y="2618910"/>
            <a:ext cx="1080120" cy="720081"/>
            <a:chOff x="3557845" y="3383994"/>
            <a:chExt cx="1080120" cy="720081"/>
          </a:xfrm>
        </p:grpSpPr>
        <p:pic>
          <p:nvPicPr>
            <p:cNvPr id="127" name="Picture 27" descr="1"/>
            <p:cNvPicPr preferRelativeResize="0"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7855" y="3383994"/>
              <a:ext cx="810089" cy="720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8" name="Text Box 96"/>
            <p:cNvSpPr txBox="1">
              <a:spLocks noChangeArrowheads="1"/>
            </p:cNvSpPr>
            <p:nvPr/>
          </p:nvSpPr>
          <p:spPr bwMode="auto">
            <a:xfrm>
              <a:off x="3557845" y="3575252"/>
              <a:ext cx="1080120" cy="516919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square" lIns="126000" tIns="118800" rIns="126000" bIns="118800">
              <a:spAutoFit/>
            </a:bodyPr>
            <a:lstStyle/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제품사이즈</a:t>
              </a:r>
              <a:r>
                <a:rPr lang="en-US" altLang="ko-KR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_</a:t>
              </a: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일</a:t>
              </a:r>
              <a:endParaRPr lang="en-US" altLang="ko-KR" sz="9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제품사이즈누적</a:t>
              </a:r>
              <a:endParaRPr lang="ko-KR" altLang="en-US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29" name="그룹 128"/>
          <p:cNvGrpSpPr/>
          <p:nvPr/>
        </p:nvGrpSpPr>
        <p:grpSpPr>
          <a:xfrm>
            <a:off x="3155652" y="3338990"/>
            <a:ext cx="1080120" cy="720081"/>
            <a:chOff x="3557845" y="3383994"/>
            <a:chExt cx="1080120" cy="720081"/>
          </a:xfrm>
        </p:grpSpPr>
        <p:pic>
          <p:nvPicPr>
            <p:cNvPr id="130" name="Picture 27" descr="1"/>
            <p:cNvPicPr preferRelativeResize="0"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647855" y="3383994"/>
              <a:ext cx="810089" cy="7200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1" name="Text Box 96"/>
            <p:cNvSpPr txBox="1">
              <a:spLocks noChangeArrowheads="1"/>
            </p:cNvSpPr>
            <p:nvPr/>
          </p:nvSpPr>
          <p:spPr bwMode="auto">
            <a:xfrm>
              <a:off x="3557845" y="3575252"/>
              <a:ext cx="1080120" cy="516919"/>
            </a:xfrm>
            <a:prstGeom prst="rect">
              <a:avLst/>
            </a:prstGeom>
            <a:noFill/>
            <a:ln w="6350" algn="ctr">
              <a:noFill/>
              <a:miter lim="800000"/>
              <a:headEnd/>
              <a:tailEnd/>
            </a:ln>
            <a:effectLst>
              <a:outerShdw dist="17961" dir="2700000" algn="ctr" rotWithShape="0">
                <a:schemeClr val="tx1"/>
              </a:outerShdw>
            </a:effectLst>
          </p:spPr>
          <p:txBody>
            <a:bodyPr wrap="square" lIns="126000" tIns="118800" rIns="126000" bIns="118800">
              <a:spAutoFit/>
            </a:bodyPr>
            <a:lstStyle/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매장제품별</a:t>
              </a:r>
              <a:r>
                <a:rPr lang="en-US" altLang="ko-KR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_</a:t>
              </a: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일</a:t>
              </a:r>
              <a:endParaRPr lang="en-US" altLang="ko-KR" sz="900" dirty="0" smtClean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latinLnBrk="0">
                <a:spcBef>
                  <a:spcPct val="0"/>
                </a:spcBef>
                <a:buSzTx/>
                <a:defRPr/>
              </a:pPr>
              <a:r>
                <a:rPr lang="ko-KR" altLang="en-US" sz="900" dirty="0" smtClean="0">
                  <a:solidFill>
                    <a:schemeClr val="bg1"/>
                  </a:solidFill>
                  <a:latin typeface="+mn-ea"/>
                  <a:ea typeface="+mn-ea"/>
                </a:rPr>
                <a:t>매장제품별누적</a:t>
              </a:r>
              <a:endParaRPr lang="ko-KR" altLang="en-US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6389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Box 121"/>
          <p:cNvSpPr txBox="1">
            <a:spLocks noChangeArrowheads="1"/>
          </p:cNvSpPr>
          <p:nvPr/>
        </p:nvSpPr>
        <p:spPr bwMode="gray">
          <a:xfrm>
            <a:off x="8042693" y="5356060"/>
            <a:ext cx="170170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2</a:t>
            </a:r>
            <a:r>
              <a:rPr lang="en-US" altLang="ko-KR" smtClean="0">
                <a:latin typeface="+mj-ea"/>
                <a:ea typeface="+mj-ea"/>
              </a:rPr>
              <a:t>. </a:t>
            </a:r>
            <a:r>
              <a:rPr lang="ko-KR" altLang="en-US" smtClean="0">
                <a:latin typeface="+mj-ea"/>
                <a:ea typeface="+mj-ea"/>
              </a:rPr>
              <a:t>주요배치작업 </a:t>
            </a:r>
            <a:r>
              <a:rPr lang="ko-KR" altLang="en-US" dirty="0" smtClean="0">
                <a:latin typeface="+mj-ea"/>
                <a:ea typeface="+mj-ea"/>
              </a:rPr>
              <a:t>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479158" y="146175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2160584" y="146175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r>
              <a:rPr lang="en-US" altLang="ko-KR" sz="800" dirty="0" smtClean="0">
                <a:latin typeface="+mn-ea"/>
                <a:ea typeface="+mn-ea"/>
              </a:rPr>
              <a:t>_MM</a:t>
            </a: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T_SHOP_RNDS_MM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71" name="AutoShape 86"/>
          <p:cNvSpPr>
            <a:spLocks noChangeArrowheads="1"/>
          </p:cNvSpPr>
          <p:nvPr/>
        </p:nvSpPr>
        <p:spPr bwMode="auto">
          <a:xfrm>
            <a:off x="1319871" y="146175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월수불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T_M_RNDS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5" name="AutoShape 86"/>
          <p:cNvSpPr>
            <a:spLocks noChangeArrowheads="1"/>
          </p:cNvSpPr>
          <p:nvPr/>
        </p:nvSpPr>
        <p:spPr bwMode="auto">
          <a:xfrm>
            <a:off x="1045896" y="329398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6" name="Rectangle 71"/>
          <p:cNvSpPr>
            <a:spLocks noChangeArrowheads="1"/>
          </p:cNvSpPr>
          <p:nvPr/>
        </p:nvSpPr>
        <p:spPr bwMode="gray">
          <a:xfrm>
            <a:off x="608796" y="2528900"/>
            <a:ext cx="142840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87" name="AutoShape 72"/>
          <p:cNvCxnSpPr>
            <a:cxnSpLocks noChangeShapeType="1"/>
            <a:stCxn id="260" idx="3"/>
            <a:endCxn id="86" idx="0"/>
          </p:cNvCxnSpPr>
          <p:nvPr/>
        </p:nvCxnSpPr>
        <p:spPr bwMode="gray">
          <a:xfrm rot="16200000" flipH="1">
            <a:off x="753070" y="1958972"/>
            <a:ext cx="579384" cy="5604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AutoShape 72"/>
          <p:cNvCxnSpPr>
            <a:cxnSpLocks noChangeShapeType="1"/>
            <a:stCxn id="86" idx="2"/>
            <a:endCxn id="85" idx="1"/>
          </p:cNvCxnSpPr>
          <p:nvPr/>
        </p:nvCxnSpPr>
        <p:spPr bwMode="gray">
          <a:xfrm>
            <a:off x="1322998" y="2746525"/>
            <a:ext cx="6267" cy="547460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Text Box 121"/>
          <p:cNvSpPr txBox="1">
            <a:spLocks noChangeArrowheads="1"/>
          </p:cNvSpPr>
          <p:nvPr/>
        </p:nvSpPr>
        <p:spPr bwMode="gray">
          <a:xfrm>
            <a:off x="153261" y="2843935"/>
            <a:ext cx="112166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94" name="AutoShape 86"/>
          <p:cNvSpPr>
            <a:spLocks noChangeArrowheads="1"/>
          </p:cNvSpPr>
          <p:nvPr/>
        </p:nvSpPr>
        <p:spPr bwMode="auto">
          <a:xfrm>
            <a:off x="325427" y="423909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95" name="AutoShape 143"/>
          <p:cNvCxnSpPr>
            <a:cxnSpLocks noChangeShapeType="1"/>
            <a:stCxn id="109" idx="1"/>
            <a:endCxn id="261" idx="4"/>
          </p:cNvCxnSpPr>
          <p:nvPr/>
        </p:nvCxnSpPr>
        <p:spPr bwMode="gray">
          <a:xfrm rot="10800000">
            <a:off x="2727322" y="1705638"/>
            <a:ext cx="493334" cy="3788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72"/>
          <p:cNvCxnSpPr>
            <a:cxnSpLocks noChangeShapeType="1"/>
            <a:stCxn id="261" idx="3"/>
            <a:endCxn id="86" idx="0"/>
          </p:cNvCxnSpPr>
          <p:nvPr/>
        </p:nvCxnSpPr>
        <p:spPr bwMode="gray">
          <a:xfrm rot="5400000">
            <a:off x="1593784" y="1678731"/>
            <a:ext cx="579384" cy="112095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72"/>
          <p:cNvCxnSpPr>
            <a:cxnSpLocks noChangeShapeType="1"/>
            <a:stCxn id="371" idx="3"/>
            <a:endCxn id="86" idx="0"/>
          </p:cNvCxnSpPr>
          <p:nvPr/>
        </p:nvCxnSpPr>
        <p:spPr bwMode="gray">
          <a:xfrm rot="5400000">
            <a:off x="1173427" y="2099087"/>
            <a:ext cx="579384" cy="280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AutoShape 86"/>
          <p:cNvSpPr>
            <a:spLocks noChangeArrowheads="1"/>
          </p:cNvSpPr>
          <p:nvPr/>
        </p:nvSpPr>
        <p:spPr bwMode="auto">
          <a:xfrm>
            <a:off x="4397792" y="1388451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9" name="Rectangle 71"/>
          <p:cNvSpPr>
            <a:spLocks noChangeArrowheads="1"/>
          </p:cNvSpPr>
          <p:nvPr/>
        </p:nvSpPr>
        <p:spPr bwMode="gray">
          <a:xfrm>
            <a:off x="3220656" y="1975689"/>
            <a:ext cx="1545179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SP_SHOP_RNDS_MM_MNG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10" name="AutoShape 72"/>
          <p:cNvCxnSpPr>
            <a:cxnSpLocks noChangeShapeType="1"/>
            <a:stCxn id="108" idx="2"/>
            <a:endCxn id="109" idx="0"/>
          </p:cNvCxnSpPr>
          <p:nvPr/>
        </p:nvCxnSpPr>
        <p:spPr bwMode="gray">
          <a:xfrm rot="10800000" flipV="1">
            <a:off x="3993246" y="1632329"/>
            <a:ext cx="404546" cy="34335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" name="Text Box 121"/>
          <p:cNvSpPr txBox="1">
            <a:spLocks noChangeArrowheads="1"/>
          </p:cNvSpPr>
          <p:nvPr/>
        </p:nvSpPr>
        <p:spPr bwMode="gray">
          <a:xfrm>
            <a:off x="1760226" y="683695"/>
            <a:ext cx="220266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칼라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사이즈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상위품종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제품구분 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7" name="Rectangle 71"/>
          <p:cNvSpPr>
            <a:spLocks noChangeArrowheads="1"/>
          </p:cNvSpPr>
          <p:nvPr/>
        </p:nvSpPr>
        <p:spPr bwMode="gray">
          <a:xfrm>
            <a:off x="1982670" y="3519010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SP_OLP_PRDT_TOT_D_UPDATE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1991383" y="2798930"/>
            <a:ext cx="1074738" cy="389171"/>
            <a:chOff x="5729470" y="3248980"/>
            <a:chExt cx="1074738" cy="389171"/>
          </a:xfrm>
        </p:grpSpPr>
        <p:sp>
          <p:nvSpPr>
            <p:cNvPr id="134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35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136" name="Text Box 103"/>
          <p:cNvSpPr txBox="1">
            <a:spLocks noChangeArrowheads="1"/>
          </p:cNvSpPr>
          <p:nvPr/>
        </p:nvSpPr>
        <p:spPr bwMode="gray">
          <a:xfrm>
            <a:off x="2487283" y="318425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37" name="AutoShape 72"/>
          <p:cNvCxnSpPr>
            <a:cxnSpLocks noChangeShapeType="1"/>
            <a:stCxn id="86" idx="3"/>
            <a:endCxn id="135" idx="0"/>
          </p:cNvCxnSpPr>
          <p:nvPr/>
        </p:nvCxnSpPr>
        <p:spPr bwMode="gray">
          <a:xfrm>
            <a:off x="2037200" y="2637713"/>
            <a:ext cx="511007" cy="18105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AutoShape 72"/>
          <p:cNvCxnSpPr>
            <a:cxnSpLocks noChangeShapeType="1"/>
            <a:stCxn id="134" idx="2"/>
            <a:endCxn id="127" idx="0"/>
          </p:cNvCxnSpPr>
          <p:nvPr/>
        </p:nvCxnSpPr>
        <p:spPr bwMode="gray">
          <a:xfrm rot="16200000" flipH="1">
            <a:off x="2523226" y="3193394"/>
            <a:ext cx="331142" cy="32009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AutoShape 72"/>
          <p:cNvCxnSpPr>
            <a:cxnSpLocks noChangeShapeType="1"/>
            <a:stCxn id="127" idx="1"/>
            <a:endCxn id="85" idx="4"/>
          </p:cNvCxnSpPr>
          <p:nvPr/>
        </p:nvCxnSpPr>
        <p:spPr bwMode="gray">
          <a:xfrm rot="10800000">
            <a:off x="1612634" y="3537865"/>
            <a:ext cx="370036" cy="8995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7" name="Text Box 103"/>
          <p:cNvSpPr txBox="1">
            <a:spLocks noChangeArrowheads="1"/>
          </p:cNvSpPr>
          <p:nvPr/>
        </p:nvSpPr>
        <p:spPr bwMode="gray">
          <a:xfrm>
            <a:off x="1866515" y="279893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48" name="AutoShape 72"/>
          <p:cNvCxnSpPr>
            <a:cxnSpLocks noChangeShapeType="1"/>
            <a:stCxn id="134" idx="1"/>
            <a:endCxn id="85" idx="1"/>
          </p:cNvCxnSpPr>
          <p:nvPr/>
        </p:nvCxnSpPr>
        <p:spPr bwMode="gray">
          <a:xfrm rot="10800000" flipV="1">
            <a:off x="1329265" y="2993399"/>
            <a:ext cx="662118" cy="30058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AutoShape 72"/>
          <p:cNvCxnSpPr>
            <a:cxnSpLocks noChangeShapeType="1"/>
            <a:stCxn id="85" idx="2"/>
            <a:endCxn id="94" idx="1"/>
          </p:cNvCxnSpPr>
          <p:nvPr/>
        </p:nvCxnSpPr>
        <p:spPr bwMode="gray">
          <a:xfrm rot="10800000" flipV="1">
            <a:off x="608796" y="3537864"/>
            <a:ext cx="437100" cy="70122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8" name="Text Box 121"/>
          <p:cNvSpPr txBox="1">
            <a:spLocks noChangeArrowheads="1"/>
          </p:cNvSpPr>
          <p:nvPr/>
        </p:nvSpPr>
        <p:spPr bwMode="gray">
          <a:xfrm>
            <a:off x="52882" y="4726848"/>
            <a:ext cx="1244709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59" name="Rectangle 71"/>
          <p:cNvSpPr>
            <a:spLocks noChangeArrowheads="1"/>
          </p:cNvSpPr>
          <p:nvPr/>
        </p:nvSpPr>
        <p:spPr bwMode="gray">
          <a:xfrm>
            <a:off x="3892928" y="3004618"/>
            <a:ext cx="1746977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SP_OLP_SHOP_PRDT_TOT_D_OLD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62" name="AutoShape 72"/>
          <p:cNvCxnSpPr>
            <a:cxnSpLocks noChangeShapeType="1"/>
          </p:cNvCxnSpPr>
          <p:nvPr/>
        </p:nvCxnSpPr>
        <p:spPr bwMode="gray">
          <a:xfrm rot="16200000" flipH="1">
            <a:off x="3129499" y="1316415"/>
            <a:ext cx="1055102" cy="232246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5" name="AutoShape 86"/>
          <p:cNvSpPr>
            <a:spLocks noChangeArrowheads="1"/>
          </p:cNvSpPr>
          <p:nvPr/>
        </p:nvSpPr>
        <p:spPr bwMode="auto">
          <a:xfrm>
            <a:off x="4486752" y="4009298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OLP_SHOP_PRDT_TOT_D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5403050" y="3518765"/>
            <a:ext cx="1074738" cy="389171"/>
            <a:chOff x="5729470" y="3248980"/>
            <a:chExt cx="1074738" cy="389171"/>
          </a:xfrm>
        </p:grpSpPr>
        <p:sp>
          <p:nvSpPr>
            <p:cNvPr id="167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69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170" name="AutoShape 72"/>
          <p:cNvCxnSpPr>
            <a:cxnSpLocks noChangeShapeType="1"/>
            <a:stCxn id="159" idx="3"/>
            <a:endCxn id="167" idx="0"/>
          </p:cNvCxnSpPr>
          <p:nvPr/>
        </p:nvCxnSpPr>
        <p:spPr bwMode="gray">
          <a:xfrm>
            <a:off x="5639905" y="3113431"/>
            <a:ext cx="300514" cy="40533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3" name="Text Box 103"/>
          <p:cNvSpPr txBox="1">
            <a:spLocks noChangeArrowheads="1"/>
          </p:cNvSpPr>
          <p:nvPr/>
        </p:nvSpPr>
        <p:spPr bwMode="gray">
          <a:xfrm>
            <a:off x="5306955" y="3457202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74" name="AutoShape 72"/>
          <p:cNvCxnSpPr>
            <a:cxnSpLocks noChangeShapeType="1"/>
            <a:stCxn id="167" idx="1"/>
            <a:endCxn id="165" idx="1"/>
          </p:cNvCxnSpPr>
          <p:nvPr/>
        </p:nvCxnSpPr>
        <p:spPr bwMode="gray">
          <a:xfrm rot="10800000" flipV="1">
            <a:off x="4770122" y="3713234"/>
            <a:ext cx="632929" cy="29606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AutoShape 72"/>
          <p:cNvCxnSpPr>
            <a:cxnSpLocks noChangeShapeType="1"/>
            <a:stCxn id="159" idx="2"/>
            <a:endCxn id="165" idx="1"/>
          </p:cNvCxnSpPr>
          <p:nvPr/>
        </p:nvCxnSpPr>
        <p:spPr bwMode="gray">
          <a:xfrm rot="16200000" flipH="1">
            <a:off x="4374742" y="3613918"/>
            <a:ext cx="787055" cy="370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Rectangle 71"/>
          <p:cNvSpPr>
            <a:spLocks noChangeArrowheads="1"/>
          </p:cNvSpPr>
          <p:nvPr/>
        </p:nvSpPr>
        <p:spPr bwMode="gray">
          <a:xfrm>
            <a:off x="5611616" y="4200205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SP_OLP_SHOP_PRDT_TOT_D_ADJ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84" name="Text Box 103"/>
          <p:cNvSpPr txBox="1">
            <a:spLocks noChangeArrowheads="1"/>
          </p:cNvSpPr>
          <p:nvPr/>
        </p:nvSpPr>
        <p:spPr bwMode="gray">
          <a:xfrm>
            <a:off x="6018938" y="387033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85" name="AutoShape 72"/>
          <p:cNvCxnSpPr>
            <a:cxnSpLocks noChangeShapeType="1"/>
            <a:stCxn id="169" idx="2"/>
            <a:endCxn id="183" idx="0"/>
          </p:cNvCxnSpPr>
          <p:nvPr/>
        </p:nvCxnSpPr>
        <p:spPr bwMode="gray">
          <a:xfrm rot="16200000" flipH="1">
            <a:off x="6072697" y="3795113"/>
            <a:ext cx="292269" cy="51791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AutoShape 72"/>
          <p:cNvCxnSpPr>
            <a:cxnSpLocks noChangeShapeType="1"/>
            <a:stCxn id="183" idx="1"/>
            <a:endCxn id="165" idx="4"/>
          </p:cNvCxnSpPr>
          <p:nvPr/>
        </p:nvCxnSpPr>
        <p:spPr bwMode="gray">
          <a:xfrm rot="10800000">
            <a:off x="5053490" y="4253178"/>
            <a:ext cx="558126" cy="558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3" name="Text Box 121"/>
          <p:cNvSpPr txBox="1">
            <a:spLocks noChangeArrowheads="1"/>
          </p:cNvSpPr>
          <p:nvPr/>
        </p:nvSpPr>
        <p:spPr bwMode="gray">
          <a:xfrm>
            <a:off x="3709649" y="3457744"/>
            <a:ext cx="137836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94" name="AutoShape 86"/>
          <p:cNvSpPr>
            <a:spLocks noChangeArrowheads="1"/>
          </p:cNvSpPr>
          <p:nvPr/>
        </p:nvSpPr>
        <p:spPr bwMode="auto">
          <a:xfrm>
            <a:off x="4643939" y="527462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95" name="AutoShape 72"/>
          <p:cNvCxnSpPr>
            <a:cxnSpLocks noChangeShapeType="1"/>
            <a:stCxn id="165" idx="3"/>
            <a:endCxn id="194" idx="1"/>
          </p:cNvCxnSpPr>
          <p:nvPr/>
        </p:nvCxnSpPr>
        <p:spPr bwMode="gray">
          <a:xfrm rot="16200000" flipH="1">
            <a:off x="4459929" y="4807247"/>
            <a:ext cx="777570" cy="1571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8" name="Text Box 121"/>
          <p:cNvSpPr txBox="1">
            <a:spLocks noChangeArrowheads="1"/>
          </p:cNvSpPr>
          <p:nvPr/>
        </p:nvSpPr>
        <p:spPr bwMode="gray">
          <a:xfrm>
            <a:off x="3722346" y="4754804"/>
            <a:ext cx="178773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99" name="Rectangle 71"/>
          <p:cNvSpPr>
            <a:spLocks noChangeArrowheads="1"/>
          </p:cNvSpPr>
          <p:nvPr/>
        </p:nvSpPr>
        <p:spPr bwMode="gray">
          <a:xfrm>
            <a:off x="6213140" y="2642076"/>
            <a:ext cx="1746977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SP_OLP_PRDT_SIZE_TOT_D_OLD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05" name="AutoShape 72"/>
          <p:cNvCxnSpPr>
            <a:cxnSpLocks noChangeShapeType="1"/>
            <a:stCxn id="261" idx="1"/>
            <a:endCxn id="199" idx="0"/>
          </p:cNvCxnSpPr>
          <p:nvPr/>
        </p:nvCxnSpPr>
        <p:spPr bwMode="gray">
          <a:xfrm rot="16200000" flipH="1">
            <a:off x="4175132" y="-269421"/>
            <a:ext cx="1180318" cy="4642676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" name="AutoShape 72"/>
          <p:cNvCxnSpPr>
            <a:cxnSpLocks noChangeShapeType="1"/>
            <a:stCxn id="371" idx="1"/>
            <a:endCxn id="199" idx="0"/>
          </p:cNvCxnSpPr>
          <p:nvPr/>
        </p:nvCxnSpPr>
        <p:spPr bwMode="gray">
          <a:xfrm rot="16200000" flipH="1">
            <a:off x="3754775" y="-689777"/>
            <a:ext cx="1180318" cy="5483389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" name="AutoShape 72"/>
          <p:cNvCxnSpPr>
            <a:cxnSpLocks noChangeShapeType="1"/>
            <a:stCxn id="260" idx="1"/>
            <a:endCxn id="199" idx="0"/>
          </p:cNvCxnSpPr>
          <p:nvPr/>
        </p:nvCxnSpPr>
        <p:spPr bwMode="gray">
          <a:xfrm rot="16200000" flipH="1">
            <a:off x="3334419" y="-1110134"/>
            <a:ext cx="1180318" cy="6324102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AutoShape 86"/>
          <p:cNvSpPr>
            <a:spLocks noChangeArrowheads="1"/>
          </p:cNvSpPr>
          <p:nvPr/>
        </p:nvSpPr>
        <p:spPr bwMode="auto">
          <a:xfrm>
            <a:off x="7221577" y="357131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제품사이즈집계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OLP_PRDT_SIZE_TOT_D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23" name="AutoShape 86"/>
          <p:cNvSpPr>
            <a:spLocks noChangeArrowheads="1"/>
          </p:cNvSpPr>
          <p:nvPr/>
        </p:nvSpPr>
        <p:spPr bwMode="auto">
          <a:xfrm>
            <a:off x="7580670" y="449705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제품사이즈집계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OLP_PRDT_SIZE_TOT_DACUM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225" name="그룹 224"/>
          <p:cNvGrpSpPr/>
          <p:nvPr/>
        </p:nvGrpSpPr>
        <p:grpSpPr>
          <a:xfrm>
            <a:off x="7973717" y="3113862"/>
            <a:ext cx="1074738" cy="389171"/>
            <a:chOff x="5729470" y="3248980"/>
            <a:chExt cx="1074738" cy="389171"/>
          </a:xfrm>
        </p:grpSpPr>
        <p:sp>
          <p:nvSpPr>
            <p:cNvPr id="226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27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28" name="AutoShape 72"/>
          <p:cNvCxnSpPr>
            <a:cxnSpLocks noChangeShapeType="1"/>
            <a:stCxn id="199" idx="3"/>
            <a:endCxn id="226" idx="0"/>
          </p:cNvCxnSpPr>
          <p:nvPr/>
        </p:nvCxnSpPr>
        <p:spPr bwMode="gray">
          <a:xfrm>
            <a:off x="7960117" y="2750889"/>
            <a:ext cx="550969" cy="36297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0" name="Rectangle 71"/>
          <p:cNvSpPr>
            <a:spLocks noChangeArrowheads="1"/>
          </p:cNvSpPr>
          <p:nvPr/>
        </p:nvSpPr>
        <p:spPr bwMode="gray">
          <a:xfrm>
            <a:off x="8084355" y="4172286"/>
            <a:ext cx="176165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SP_OLP_PRDT_SIZE_TOT_D_UDATE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31" name="Text Box 103"/>
          <p:cNvSpPr txBox="1">
            <a:spLocks noChangeArrowheads="1"/>
          </p:cNvSpPr>
          <p:nvPr/>
        </p:nvSpPr>
        <p:spPr bwMode="gray">
          <a:xfrm>
            <a:off x="7833320" y="3087535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32" name="AutoShape 72"/>
          <p:cNvCxnSpPr>
            <a:cxnSpLocks noChangeShapeType="1"/>
            <a:stCxn id="199" idx="2"/>
            <a:endCxn id="222" idx="1"/>
          </p:cNvCxnSpPr>
          <p:nvPr/>
        </p:nvCxnSpPr>
        <p:spPr bwMode="gray">
          <a:xfrm rot="16200000" flipH="1">
            <a:off x="6939982" y="3006347"/>
            <a:ext cx="711611" cy="4183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7" name="AutoShape 72"/>
          <p:cNvCxnSpPr>
            <a:cxnSpLocks noChangeShapeType="1"/>
            <a:stCxn id="226" idx="1"/>
            <a:endCxn id="222" idx="1"/>
          </p:cNvCxnSpPr>
          <p:nvPr/>
        </p:nvCxnSpPr>
        <p:spPr bwMode="gray">
          <a:xfrm rot="10800000" flipV="1">
            <a:off x="7504947" y="3308330"/>
            <a:ext cx="468771" cy="26298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0" name="Text Box 103"/>
          <p:cNvSpPr txBox="1">
            <a:spLocks noChangeArrowheads="1"/>
          </p:cNvSpPr>
          <p:nvPr/>
        </p:nvSpPr>
        <p:spPr bwMode="gray">
          <a:xfrm>
            <a:off x="8511725" y="3513203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2" name="AutoShape 72"/>
          <p:cNvCxnSpPr>
            <a:cxnSpLocks noChangeShapeType="1"/>
            <a:stCxn id="227" idx="2"/>
            <a:endCxn id="230" idx="0"/>
          </p:cNvCxnSpPr>
          <p:nvPr/>
        </p:nvCxnSpPr>
        <p:spPr bwMode="gray">
          <a:xfrm rot="16200000" flipH="1">
            <a:off x="8413235" y="3620338"/>
            <a:ext cx="669253" cy="4346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" name="AutoShape 72"/>
          <p:cNvCxnSpPr>
            <a:cxnSpLocks noChangeShapeType="1"/>
            <a:stCxn id="230" idx="1"/>
            <a:endCxn id="222" idx="4"/>
          </p:cNvCxnSpPr>
          <p:nvPr/>
        </p:nvCxnSpPr>
        <p:spPr bwMode="gray">
          <a:xfrm rot="10800000">
            <a:off x="7788315" y="3815191"/>
            <a:ext cx="296040" cy="4659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2" name="AutoShape 72"/>
          <p:cNvCxnSpPr>
            <a:cxnSpLocks noChangeShapeType="1"/>
            <a:stCxn id="222" idx="3"/>
            <a:endCxn id="223" idx="1"/>
          </p:cNvCxnSpPr>
          <p:nvPr/>
        </p:nvCxnSpPr>
        <p:spPr bwMode="gray">
          <a:xfrm rot="16200000" flipH="1">
            <a:off x="7465500" y="4098515"/>
            <a:ext cx="437985" cy="35909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4" name="Text Box 121"/>
          <p:cNvSpPr txBox="1">
            <a:spLocks noChangeArrowheads="1"/>
          </p:cNvSpPr>
          <p:nvPr/>
        </p:nvSpPr>
        <p:spPr bwMode="gray">
          <a:xfrm>
            <a:off x="6544038" y="2935875"/>
            <a:ext cx="149865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칼라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사이즈별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55" name="Text Box 121"/>
          <p:cNvSpPr txBox="1">
            <a:spLocks noChangeArrowheads="1"/>
          </p:cNvSpPr>
          <p:nvPr/>
        </p:nvSpPr>
        <p:spPr bwMode="gray">
          <a:xfrm>
            <a:off x="8560441" y="4483727"/>
            <a:ext cx="1247803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칼라사이즈별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58" name="AutoShape 86"/>
          <p:cNvSpPr>
            <a:spLocks noChangeArrowheads="1"/>
          </p:cNvSpPr>
          <p:nvPr/>
        </p:nvSpPr>
        <p:spPr bwMode="auto">
          <a:xfrm>
            <a:off x="6162469" y="550279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59" name="Rectangle 71"/>
          <p:cNvSpPr>
            <a:spLocks noChangeArrowheads="1"/>
          </p:cNvSpPr>
          <p:nvPr/>
        </p:nvSpPr>
        <p:spPr bwMode="gray">
          <a:xfrm>
            <a:off x="5403050" y="4675578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SP_OLP_SHOP_TOT_D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62" name="AutoShape 72"/>
          <p:cNvCxnSpPr>
            <a:cxnSpLocks noChangeShapeType="1"/>
            <a:stCxn id="165" idx="3"/>
            <a:endCxn id="259" idx="1"/>
          </p:cNvCxnSpPr>
          <p:nvPr/>
        </p:nvCxnSpPr>
        <p:spPr bwMode="gray">
          <a:xfrm rot="16200000" flipH="1">
            <a:off x="4942918" y="4324258"/>
            <a:ext cx="287335" cy="63292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3" name="AutoShape 72"/>
          <p:cNvCxnSpPr>
            <a:cxnSpLocks noChangeShapeType="1"/>
            <a:stCxn id="259" idx="2"/>
            <a:endCxn id="258" idx="1"/>
          </p:cNvCxnSpPr>
          <p:nvPr/>
        </p:nvCxnSpPr>
        <p:spPr bwMode="gray">
          <a:xfrm rot="16200000" flipH="1">
            <a:off x="6052735" y="5109690"/>
            <a:ext cx="609591" cy="17661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5" name="AutoShape 86"/>
          <p:cNvSpPr>
            <a:spLocks noChangeArrowheads="1"/>
          </p:cNvSpPr>
          <p:nvPr/>
        </p:nvSpPr>
        <p:spPr bwMode="auto">
          <a:xfrm>
            <a:off x="7268600" y="525891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67" name="AutoShape 72"/>
          <p:cNvCxnSpPr>
            <a:cxnSpLocks noChangeShapeType="1"/>
            <a:stCxn id="258" idx="4"/>
            <a:endCxn id="265" idx="2"/>
          </p:cNvCxnSpPr>
          <p:nvPr/>
        </p:nvCxnSpPr>
        <p:spPr bwMode="gray">
          <a:xfrm flipV="1">
            <a:off x="6729207" y="5502794"/>
            <a:ext cx="539393" cy="2438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1" name="Text Box 121"/>
          <p:cNvSpPr txBox="1">
            <a:spLocks noChangeArrowheads="1"/>
          </p:cNvSpPr>
          <p:nvPr/>
        </p:nvSpPr>
        <p:spPr bwMode="gray">
          <a:xfrm>
            <a:off x="5520397" y="4911815"/>
            <a:ext cx="1364299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75" name="AutoShape 86"/>
          <p:cNvSpPr>
            <a:spLocks noChangeArrowheads="1"/>
          </p:cNvSpPr>
          <p:nvPr/>
        </p:nvSpPr>
        <p:spPr bwMode="auto">
          <a:xfrm>
            <a:off x="7306223" y="746524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제품종합현황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OLP_PRDT_GEN_STAT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78" name="Rectangle 71"/>
          <p:cNvSpPr>
            <a:spLocks noChangeArrowheads="1"/>
          </p:cNvSpPr>
          <p:nvPr/>
        </p:nvSpPr>
        <p:spPr bwMode="gray">
          <a:xfrm>
            <a:off x="5101559" y="947386"/>
            <a:ext cx="1783137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SP_OLP_PRDTGEN_DACUM_MNG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80" name="AutoShape 72"/>
          <p:cNvCxnSpPr>
            <a:cxnSpLocks noChangeShapeType="1"/>
          </p:cNvCxnSpPr>
          <p:nvPr/>
        </p:nvCxnSpPr>
        <p:spPr bwMode="gray">
          <a:xfrm rot="5400000" flipH="1" flipV="1">
            <a:off x="2687124" y="-953399"/>
            <a:ext cx="405559" cy="442475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" name="AutoShape 72"/>
          <p:cNvCxnSpPr>
            <a:cxnSpLocks noChangeShapeType="1"/>
            <a:stCxn id="108" idx="1"/>
            <a:endCxn id="278" idx="1"/>
          </p:cNvCxnSpPr>
          <p:nvPr/>
        </p:nvCxnSpPr>
        <p:spPr bwMode="gray">
          <a:xfrm rot="5400000" flipH="1" flipV="1">
            <a:off x="4725234" y="1012126"/>
            <a:ext cx="332252" cy="42039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8" name="AutoShape 72"/>
          <p:cNvCxnSpPr>
            <a:cxnSpLocks noChangeShapeType="1"/>
            <a:stCxn id="278" idx="3"/>
            <a:endCxn id="275" idx="2"/>
          </p:cNvCxnSpPr>
          <p:nvPr/>
        </p:nvCxnSpPr>
        <p:spPr bwMode="gray">
          <a:xfrm flipV="1">
            <a:off x="6884696" y="990403"/>
            <a:ext cx="421527" cy="657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1" name="Text Box 121"/>
          <p:cNvSpPr txBox="1">
            <a:spLocks noChangeArrowheads="1"/>
          </p:cNvSpPr>
          <p:nvPr/>
        </p:nvSpPr>
        <p:spPr bwMode="gray">
          <a:xfrm>
            <a:off x="8018189" y="733299"/>
            <a:ext cx="170170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</a:t>
            </a:r>
            <a:r>
              <a:rPr lang="ko-KR" altLang="en-US" sz="800" dirty="0" err="1">
                <a:latin typeface="+mn-ea"/>
                <a:ea typeface="+mn-ea"/>
              </a:rPr>
              <a:t>퍈</a:t>
            </a:r>
            <a:r>
              <a:rPr lang="ko-KR" altLang="en-US" sz="800" dirty="0" err="1" smtClean="0">
                <a:latin typeface="+mn-ea"/>
                <a:ea typeface="+mn-ea"/>
              </a:rPr>
              <a:t>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매장재고 원가 및 누계자료</a:t>
            </a:r>
            <a:endParaRPr lang="en-US" altLang="ko-KR" sz="800" dirty="0">
              <a:latin typeface="+mn-ea"/>
              <a:ea typeface="+mn-ea"/>
            </a:endParaRPr>
          </a:p>
        </p:txBody>
      </p:sp>
      <p:cxnSp>
        <p:nvCxnSpPr>
          <p:cNvPr id="293" name="AutoShape 72"/>
          <p:cNvCxnSpPr>
            <a:cxnSpLocks noChangeShapeType="1"/>
            <a:stCxn id="85" idx="3"/>
            <a:endCxn id="278" idx="1"/>
          </p:cNvCxnSpPr>
          <p:nvPr/>
        </p:nvCxnSpPr>
        <p:spPr bwMode="gray">
          <a:xfrm rot="5400000" flipH="1" flipV="1">
            <a:off x="1852640" y="532824"/>
            <a:ext cx="2725544" cy="3772294"/>
          </a:xfrm>
          <a:prstGeom prst="curvedConnector4">
            <a:avLst>
              <a:gd name="adj1" fmla="val -8387"/>
              <a:gd name="adj2" fmla="val 5375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8" name="AutoShape 86"/>
          <p:cNvSpPr>
            <a:spLocks noChangeArrowheads="1"/>
          </p:cNvSpPr>
          <p:nvPr/>
        </p:nvSpPr>
        <p:spPr bwMode="auto">
          <a:xfrm>
            <a:off x="5451152" y="169050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T_WH_STOCK_PRDT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99" name="AutoShape 86"/>
          <p:cNvSpPr>
            <a:spLocks noChangeArrowheads="1"/>
          </p:cNvSpPr>
          <p:nvPr/>
        </p:nvSpPr>
        <p:spPr bwMode="auto">
          <a:xfrm>
            <a:off x="6317958" y="1690502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T_SHOP_STOCK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00" name="AutoShape 72"/>
          <p:cNvCxnSpPr>
            <a:cxnSpLocks noChangeShapeType="1"/>
            <a:stCxn id="298" idx="1"/>
            <a:endCxn id="278" idx="2"/>
          </p:cNvCxnSpPr>
          <p:nvPr/>
        </p:nvCxnSpPr>
        <p:spPr bwMode="gray">
          <a:xfrm rot="5400000" flipH="1" flipV="1">
            <a:off x="5601079" y="1298454"/>
            <a:ext cx="525491" cy="2586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4" name="AutoShape 72"/>
          <p:cNvCxnSpPr>
            <a:cxnSpLocks noChangeShapeType="1"/>
            <a:stCxn id="299" idx="1"/>
            <a:endCxn id="278" idx="2"/>
          </p:cNvCxnSpPr>
          <p:nvPr/>
        </p:nvCxnSpPr>
        <p:spPr bwMode="gray">
          <a:xfrm rot="16200000" flipV="1">
            <a:off x="6034483" y="1123657"/>
            <a:ext cx="525491" cy="60819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5" name="AutoShape 86"/>
          <p:cNvSpPr>
            <a:spLocks noChangeArrowheads="1"/>
          </p:cNvSpPr>
          <p:nvPr/>
        </p:nvSpPr>
        <p:spPr bwMode="auto">
          <a:xfrm>
            <a:off x="9156792" y="234888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브랜드판매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OLP_BRD_SALE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23" name="Rectangle 71"/>
          <p:cNvSpPr>
            <a:spLocks noChangeArrowheads="1"/>
          </p:cNvSpPr>
          <p:nvPr/>
        </p:nvSpPr>
        <p:spPr bwMode="gray">
          <a:xfrm>
            <a:off x="7475857" y="1736281"/>
            <a:ext cx="98420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SP_BRD_SALE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25" name="AutoShape 72"/>
          <p:cNvCxnSpPr>
            <a:cxnSpLocks noChangeShapeType="1"/>
            <a:endCxn id="323" idx="0"/>
          </p:cNvCxnSpPr>
          <p:nvPr/>
        </p:nvCxnSpPr>
        <p:spPr bwMode="gray">
          <a:xfrm rot="16200000" flipH="1">
            <a:off x="7585491" y="1353812"/>
            <a:ext cx="509707" cy="2552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" name="AutoShape 72"/>
          <p:cNvCxnSpPr>
            <a:cxnSpLocks noChangeShapeType="1"/>
            <a:stCxn id="323" idx="2"/>
            <a:endCxn id="315" idx="2"/>
          </p:cNvCxnSpPr>
          <p:nvPr/>
        </p:nvCxnSpPr>
        <p:spPr bwMode="gray">
          <a:xfrm rot="16200000" flipH="1">
            <a:off x="8242949" y="1678915"/>
            <a:ext cx="638853" cy="118883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3" name="AutoShape 86"/>
          <p:cNvSpPr>
            <a:spLocks noChangeArrowheads="1"/>
          </p:cNvSpPr>
          <p:nvPr/>
        </p:nvSpPr>
        <p:spPr bwMode="auto">
          <a:xfrm>
            <a:off x="8860988" y="1686507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매장매출일목표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T_SHOP_SELL_DGOAL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44" name="AutoShape 72"/>
          <p:cNvCxnSpPr>
            <a:cxnSpLocks noChangeShapeType="1"/>
            <a:stCxn id="333" idx="2"/>
            <a:endCxn id="323" idx="3"/>
          </p:cNvCxnSpPr>
          <p:nvPr/>
        </p:nvCxnSpPr>
        <p:spPr bwMode="gray">
          <a:xfrm rot="10800000">
            <a:off x="8460062" y="1845094"/>
            <a:ext cx="400927" cy="852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7" name="Text Box 121"/>
          <p:cNvSpPr txBox="1">
            <a:spLocks noChangeArrowheads="1"/>
          </p:cNvSpPr>
          <p:nvPr/>
        </p:nvSpPr>
        <p:spPr bwMode="gray">
          <a:xfrm>
            <a:off x="8996947" y="2856477"/>
            <a:ext cx="81129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일자별</a:t>
            </a:r>
            <a:r>
              <a:rPr lang="ko-KR" altLang="en-US" sz="900" dirty="0" smtClean="0">
                <a:latin typeface="+mn-ea"/>
                <a:ea typeface="+mn-ea"/>
              </a:rPr>
              <a:t> 판매목표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실적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48" name="AutoShape 86"/>
          <p:cNvSpPr>
            <a:spLocks noChangeArrowheads="1"/>
          </p:cNvSpPr>
          <p:nvPr/>
        </p:nvSpPr>
        <p:spPr bwMode="auto">
          <a:xfrm>
            <a:off x="1595952" y="468914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제품상위집계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OLP_PRDT_PARENT_TOT_D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9" name="Rectangle 71"/>
          <p:cNvSpPr>
            <a:spLocks noChangeArrowheads="1"/>
          </p:cNvSpPr>
          <p:nvPr/>
        </p:nvSpPr>
        <p:spPr bwMode="gray">
          <a:xfrm>
            <a:off x="1892660" y="4149080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SP_OLP_PRDT_P_TOT_D_OLD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50" name="AutoShape 72"/>
          <p:cNvCxnSpPr>
            <a:cxnSpLocks noChangeShapeType="1"/>
            <a:stCxn id="85" idx="3"/>
            <a:endCxn id="349" idx="1"/>
          </p:cNvCxnSpPr>
          <p:nvPr/>
        </p:nvCxnSpPr>
        <p:spPr bwMode="gray">
          <a:xfrm rot="16200000" flipH="1">
            <a:off x="1372887" y="3738120"/>
            <a:ext cx="476150" cy="56339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3" name="AutoShape 72"/>
          <p:cNvCxnSpPr>
            <a:cxnSpLocks noChangeShapeType="1"/>
            <a:stCxn id="349" idx="2"/>
            <a:endCxn id="348" idx="1"/>
          </p:cNvCxnSpPr>
          <p:nvPr/>
        </p:nvCxnSpPr>
        <p:spPr bwMode="gray">
          <a:xfrm rot="5400000">
            <a:off x="2157860" y="4088167"/>
            <a:ext cx="322435" cy="8795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7" name="AutoShape 86"/>
          <p:cNvSpPr>
            <a:spLocks noChangeArrowheads="1"/>
          </p:cNvSpPr>
          <p:nvPr/>
        </p:nvSpPr>
        <p:spPr bwMode="auto">
          <a:xfrm>
            <a:off x="587515" y="5544235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제품상위집계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OLP_PRDT_PARENT_TOT_DACUM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60" name="AutoShape 72"/>
          <p:cNvCxnSpPr>
            <a:cxnSpLocks noChangeShapeType="1"/>
            <a:stCxn id="348" idx="3"/>
            <a:endCxn id="357" idx="1"/>
          </p:cNvCxnSpPr>
          <p:nvPr/>
        </p:nvCxnSpPr>
        <p:spPr bwMode="gray">
          <a:xfrm rot="5400000">
            <a:off x="1191435" y="4856348"/>
            <a:ext cx="367337" cy="10084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4" name="AutoShape 86"/>
          <p:cNvSpPr>
            <a:spLocks noChangeArrowheads="1"/>
          </p:cNvSpPr>
          <p:nvPr/>
        </p:nvSpPr>
        <p:spPr bwMode="auto">
          <a:xfrm>
            <a:off x="2546594" y="5176173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65" name="Rectangle 71"/>
          <p:cNvSpPr>
            <a:spLocks noChangeArrowheads="1"/>
          </p:cNvSpPr>
          <p:nvPr/>
        </p:nvSpPr>
        <p:spPr bwMode="gray">
          <a:xfrm>
            <a:off x="3928921" y="5873645"/>
            <a:ext cx="1805599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66" name="AutoShape 72"/>
          <p:cNvCxnSpPr>
            <a:cxnSpLocks noChangeShapeType="1"/>
            <a:stCxn id="258" idx="2"/>
            <a:endCxn id="365" idx="3"/>
          </p:cNvCxnSpPr>
          <p:nvPr/>
        </p:nvCxnSpPr>
        <p:spPr bwMode="gray">
          <a:xfrm rot="10800000" flipV="1">
            <a:off x="5734521" y="5746672"/>
            <a:ext cx="427949" cy="2357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72"/>
          <p:cNvCxnSpPr>
            <a:cxnSpLocks noChangeShapeType="1"/>
            <a:stCxn id="365" idx="1"/>
            <a:endCxn id="364" idx="4"/>
          </p:cNvCxnSpPr>
          <p:nvPr/>
        </p:nvCxnSpPr>
        <p:spPr bwMode="gray">
          <a:xfrm rot="10800000">
            <a:off x="3113333" y="5420052"/>
            <a:ext cx="815589" cy="5624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6" name="Text Box 121"/>
          <p:cNvSpPr txBox="1">
            <a:spLocks noChangeArrowheads="1"/>
          </p:cNvSpPr>
          <p:nvPr/>
        </p:nvSpPr>
        <p:spPr bwMode="gray">
          <a:xfrm>
            <a:off x="2035011" y="5679404"/>
            <a:ext cx="178773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제품구분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유통형태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판매구분별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재고 수량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금액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85" name="AutoShape 86"/>
          <p:cNvSpPr>
            <a:spLocks noChangeArrowheads="1"/>
          </p:cNvSpPr>
          <p:nvPr/>
        </p:nvSpPr>
        <p:spPr bwMode="auto">
          <a:xfrm>
            <a:off x="1487615" y="606394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93" name="AutoShape 72"/>
          <p:cNvCxnSpPr>
            <a:cxnSpLocks noChangeShapeType="1"/>
            <a:stCxn id="364" idx="3"/>
            <a:endCxn id="385" idx="1"/>
          </p:cNvCxnSpPr>
          <p:nvPr/>
        </p:nvCxnSpPr>
        <p:spPr bwMode="gray">
          <a:xfrm rot="5400000">
            <a:off x="2100467" y="5334449"/>
            <a:ext cx="400015" cy="10589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6" name="Rectangle 71"/>
          <p:cNvSpPr>
            <a:spLocks noChangeArrowheads="1"/>
          </p:cNvSpPr>
          <p:nvPr/>
        </p:nvSpPr>
        <p:spPr bwMode="gray">
          <a:xfrm>
            <a:off x="3945914" y="6173393"/>
            <a:ext cx="1805599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19" name="AutoShape 72"/>
          <p:cNvCxnSpPr>
            <a:cxnSpLocks noChangeShapeType="1"/>
            <a:stCxn id="364" idx="3"/>
            <a:endCxn id="416" idx="1"/>
          </p:cNvCxnSpPr>
          <p:nvPr/>
        </p:nvCxnSpPr>
        <p:spPr bwMode="gray">
          <a:xfrm rot="16200000" flipH="1">
            <a:off x="3078801" y="5415092"/>
            <a:ext cx="618275" cy="111595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" name="AutoShape 86"/>
          <p:cNvSpPr>
            <a:spLocks noChangeArrowheads="1"/>
          </p:cNvSpPr>
          <p:nvPr/>
        </p:nvSpPr>
        <p:spPr bwMode="auto">
          <a:xfrm>
            <a:off x="6483170" y="6038326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월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21" name="AutoShape 72"/>
          <p:cNvCxnSpPr>
            <a:cxnSpLocks noChangeShapeType="1"/>
            <a:stCxn id="416" idx="3"/>
            <a:endCxn id="420" idx="2"/>
          </p:cNvCxnSpPr>
          <p:nvPr/>
        </p:nvCxnSpPr>
        <p:spPr bwMode="gray">
          <a:xfrm flipV="1">
            <a:off x="5751513" y="6282205"/>
            <a:ext cx="731657" cy="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4" name="AutoShape 86"/>
          <p:cNvSpPr>
            <a:spLocks noChangeArrowheads="1"/>
          </p:cNvSpPr>
          <p:nvPr/>
        </p:nvSpPr>
        <p:spPr bwMode="auto">
          <a:xfrm>
            <a:off x="7910059" y="6091270"/>
            <a:ext cx="566738" cy="487758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월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25" name="AutoShape 72"/>
          <p:cNvCxnSpPr>
            <a:cxnSpLocks noChangeShapeType="1"/>
            <a:stCxn id="420" idx="4"/>
            <a:endCxn id="424" idx="2"/>
          </p:cNvCxnSpPr>
          <p:nvPr/>
        </p:nvCxnSpPr>
        <p:spPr bwMode="gray">
          <a:xfrm>
            <a:off x="7049908" y="6282205"/>
            <a:ext cx="860151" cy="529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9203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사각형 설명선 118"/>
          <p:cNvSpPr/>
          <p:nvPr/>
        </p:nvSpPr>
        <p:spPr>
          <a:xfrm>
            <a:off x="3087884" y="2599655"/>
            <a:ext cx="3029457" cy="340867"/>
          </a:xfrm>
          <a:prstGeom prst="wedgeRectCallout">
            <a:avLst>
              <a:gd name="adj1" fmla="val -57581"/>
              <a:gd name="adj2" fmla="val 2919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과거 마감여부 체크 방식 사용하고 있어 사용되지 않음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사용할 수 있도록 조건 수정 필요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현재는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N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으로 처리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6" name="사각형 설명선 115"/>
          <p:cNvSpPr/>
          <p:nvPr/>
        </p:nvSpPr>
        <p:spPr>
          <a:xfrm>
            <a:off x="3521127" y="48074"/>
            <a:ext cx="3029457" cy="916706"/>
          </a:xfrm>
          <a:prstGeom prst="wedgeRectCallout">
            <a:avLst>
              <a:gd name="adj1" fmla="val -15161"/>
              <a:gd name="adj2" fmla="val 9073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테이블 데이터 변경 시 아래 집계데이터 갱신 필요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800" b="1" kern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기본 데이터</a:t>
            </a:r>
            <a:endParaRPr lang="en-US" altLang="ko-KR" sz="800" b="1" kern="0" dirty="0" smtClean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800" b="1" kern="0" dirty="0" smtClean="0">
                <a:solidFill>
                  <a:schemeClr val="accent6"/>
                </a:solidFill>
                <a:latin typeface="맑은 고딕" pitchFamily="50" charset="-127"/>
                <a:ea typeface="맑은 고딕" pitchFamily="50" charset="-127"/>
              </a:rPr>
              <a:t>재고 데이터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26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창고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26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800" b="1" kern="0" dirty="0" err="1" smtClean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제품수불부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25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26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en-US" altLang="ko-KR" sz="800" b="1" kern="0" dirty="0" smtClean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OLP </a:t>
            </a:r>
            <a:r>
              <a:rPr lang="ko-KR" altLang="en-US" sz="800" b="1" kern="0" dirty="0" smtClean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집계 데이터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신성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13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에이션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20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18" name="사각형 설명선 117"/>
          <p:cNvSpPr/>
          <p:nvPr/>
        </p:nvSpPr>
        <p:spPr>
          <a:xfrm>
            <a:off x="2582159" y="2231941"/>
            <a:ext cx="3029457" cy="340867"/>
          </a:xfrm>
          <a:prstGeom prst="wedgeRectCallout">
            <a:avLst>
              <a:gd name="adj1" fmla="val -46704"/>
              <a:gd name="adj2" fmla="val -11339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OLP </a:t>
            </a:r>
            <a:r>
              <a:rPr lang="ko-KR" altLang="en-US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집계를 위한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임시테이블</a:t>
            </a: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월별 매장수불 데이터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" name="Text Box 121"/>
          <p:cNvSpPr txBox="1">
            <a:spLocks noChangeArrowheads="1"/>
          </p:cNvSpPr>
          <p:nvPr/>
        </p:nvSpPr>
        <p:spPr bwMode="gray">
          <a:xfrm>
            <a:off x="8042693" y="5356060"/>
            <a:ext cx="170170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7. </a:t>
            </a:r>
            <a:r>
              <a:rPr lang="ko-KR" altLang="en-US" dirty="0" smtClean="0">
                <a:latin typeface="+mj-ea"/>
                <a:ea typeface="+mj-ea"/>
              </a:rPr>
              <a:t>주요데이터 흐름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j-ea"/>
                <a:ea typeface="+mj-ea"/>
              </a:rPr>
              <a:t>2</a:t>
            </a:r>
            <a:r>
              <a:rPr lang="en-US" altLang="ko-KR" smtClean="0">
                <a:latin typeface="+mj-ea"/>
                <a:ea typeface="+mj-ea"/>
              </a:rPr>
              <a:t>. </a:t>
            </a:r>
            <a:r>
              <a:rPr lang="ko-KR" altLang="en-US" smtClean="0">
                <a:latin typeface="+mj-ea"/>
                <a:ea typeface="+mj-ea"/>
              </a:rPr>
              <a:t>주요배치작업 </a:t>
            </a:r>
            <a:r>
              <a:rPr lang="ko-KR" altLang="en-US" dirty="0" smtClean="0">
                <a:latin typeface="+mj-ea"/>
                <a:ea typeface="+mj-ea"/>
              </a:rPr>
              <a:t>연관관계 설명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60" name="AutoShape 86"/>
          <p:cNvSpPr>
            <a:spLocks noChangeArrowheads="1"/>
          </p:cNvSpPr>
          <p:nvPr/>
        </p:nvSpPr>
        <p:spPr bwMode="auto">
          <a:xfrm>
            <a:off x="479158" y="1461758"/>
            <a:ext cx="566738" cy="487758"/>
          </a:xfrm>
          <a:prstGeom prst="can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61" name="AutoShape 86"/>
          <p:cNvSpPr>
            <a:spLocks noChangeArrowheads="1"/>
          </p:cNvSpPr>
          <p:nvPr/>
        </p:nvSpPr>
        <p:spPr bwMode="auto">
          <a:xfrm>
            <a:off x="2160584" y="1461758"/>
            <a:ext cx="566738" cy="487758"/>
          </a:xfrm>
          <a:prstGeom prst="can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r>
              <a:rPr lang="en-US" altLang="ko-KR" sz="800" dirty="0" smtClean="0">
                <a:latin typeface="+mn-ea"/>
                <a:ea typeface="+mn-ea"/>
              </a:rPr>
              <a:t>_MM</a:t>
            </a: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T_SHOP_RNDS_MM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71" name="AutoShape 86"/>
          <p:cNvSpPr>
            <a:spLocks noChangeArrowheads="1"/>
          </p:cNvSpPr>
          <p:nvPr/>
        </p:nvSpPr>
        <p:spPr bwMode="auto">
          <a:xfrm>
            <a:off x="1319871" y="1461758"/>
            <a:ext cx="566738" cy="487758"/>
          </a:xfrm>
          <a:prstGeom prst="can">
            <a:avLst>
              <a:gd name="adj" fmla="val 25000"/>
            </a:avLst>
          </a:prstGeom>
          <a:solidFill>
            <a:srgbClr val="FFC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월수불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T_M_RNDS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5" name="AutoShape 86"/>
          <p:cNvSpPr>
            <a:spLocks noChangeArrowheads="1"/>
          </p:cNvSpPr>
          <p:nvPr/>
        </p:nvSpPr>
        <p:spPr bwMode="auto">
          <a:xfrm>
            <a:off x="1045896" y="3293985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86" name="Rectangle 71"/>
          <p:cNvSpPr>
            <a:spLocks noChangeArrowheads="1"/>
          </p:cNvSpPr>
          <p:nvPr/>
        </p:nvSpPr>
        <p:spPr bwMode="gray">
          <a:xfrm>
            <a:off x="608796" y="2528900"/>
            <a:ext cx="142840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87" name="AutoShape 72"/>
          <p:cNvCxnSpPr>
            <a:cxnSpLocks noChangeShapeType="1"/>
            <a:stCxn id="260" idx="3"/>
            <a:endCxn id="86" idx="0"/>
          </p:cNvCxnSpPr>
          <p:nvPr/>
        </p:nvCxnSpPr>
        <p:spPr bwMode="gray">
          <a:xfrm rot="16200000" flipH="1">
            <a:off x="753070" y="1958972"/>
            <a:ext cx="579384" cy="5604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AutoShape 72"/>
          <p:cNvCxnSpPr>
            <a:cxnSpLocks noChangeShapeType="1"/>
            <a:stCxn id="86" idx="2"/>
            <a:endCxn id="85" idx="1"/>
          </p:cNvCxnSpPr>
          <p:nvPr/>
        </p:nvCxnSpPr>
        <p:spPr bwMode="gray">
          <a:xfrm>
            <a:off x="1322998" y="2746525"/>
            <a:ext cx="6267" cy="547460"/>
          </a:xfrm>
          <a:prstGeom prst="straightConnector1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3" name="Text Box 121"/>
          <p:cNvSpPr txBox="1">
            <a:spLocks noChangeArrowheads="1"/>
          </p:cNvSpPr>
          <p:nvPr/>
        </p:nvSpPr>
        <p:spPr bwMode="gray">
          <a:xfrm>
            <a:off x="153261" y="2843935"/>
            <a:ext cx="112166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94" name="AutoShape 86"/>
          <p:cNvSpPr>
            <a:spLocks noChangeArrowheads="1"/>
          </p:cNvSpPr>
          <p:nvPr/>
        </p:nvSpPr>
        <p:spPr bwMode="auto">
          <a:xfrm>
            <a:off x="325427" y="4239090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95" name="AutoShape 143"/>
          <p:cNvCxnSpPr>
            <a:cxnSpLocks noChangeShapeType="1"/>
            <a:stCxn id="109" idx="1"/>
            <a:endCxn id="261" idx="4"/>
          </p:cNvCxnSpPr>
          <p:nvPr/>
        </p:nvCxnSpPr>
        <p:spPr bwMode="gray">
          <a:xfrm rot="10800000">
            <a:off x="2727322" y="1705638"/>
            <a:ext cx="493334" cy="3788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AutoShape 72"/>
          <p:cNvCxnSpPr>
            <a:cxnSpLocks noChangeShapeType="1"/>
            <a:stCxn id="261" idx="3"/>
            <a:endCxn id="86" idx="0"/>
          </p:cNvCxnSpPr>
          <p:nvPr/>
        </p:nvCxnSpPr>
        <p:spPr bwMode="gray">
          <a:xfrm rot="5400000">
            <a:off x="1593784" y="1678731"/>
            <a:ext cx="579384" cy="112095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AutoShape 72"/>
          <p:cNvCxnSpPr>
            <a:cxnSpLocks noChangeShapeType="1"/>
            <a:stCxn id="371" idx="3"/>
            <a:endCxn id="86" idx="0"/>
          </p:cNvCxnSpPr>
          <p:nvPr/>
        </p:nvCxnSpPr>
        <p:spPr bwMode="gray">
          <a:xfrm rot="5400000">
            <a:off x="1173427" y="2099087"/>
            <a:ext cx="579384" cy="2802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AutoShape 86"/>
          <p:cNvSpPr>
            <a:spLocks noChangeArrowheads="1"/>
          </p:cNvSpPr>
          <p:nvPr/>
        </p:nvSpPr>
        <p:spPr bwMode="auto">
          <a:xfrm>
            <a:off x="4397792" y="1388451"/>
            <a:ext cx="566738" cy="487758"/>
          </a:xfrm>
          <a:prstGeom prst="can">
            <a:avLst>
              <a:gd name="adj" fmla="val 25000"/>
            </a:avLst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매장수불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T_SHOP_RNDS_BASE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09" name="Rectangle 71"/>
          <p:cNvSpPr>
            <a:spLocks noChangeArrowheads="1"/>
          </p:cNvSpPr>
          <p:nvPr/>
        </p:nvSpPr>
        <p:spPr bwMode="gray">
          <a:xfrm>
            <a:off x="3220656" y="1975689"/>
            <a:ext cx="1545179" cy="217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SP_SHOP_RNDS_MM_MNG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10" name="AutoShape 72"/>
          <p:cNvCxnSpPr>
            <a:cxnSpLocks noChangeShapeType="1"/>
            <a:stCxn id="108" idx="2"/>
            <a:endCxn id="109" idx="0"/>
          </p:cNvCxnSpPr>
          <p:nvPr/>
        </p:nvCxnSpPr>
        <p:spPr bwMode="gray">
          <a:xfrm rot="10800000" flipV="1">
            <a:off x="3993246" y="1632329"/>
            <a:ext cx="404546" cy="34335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2" name="Text Box 121"/>
          <p:cNvSpPr txBox="1">
            <a:spLocks noChangeArrowheads="1"/>
          </p:cNvSpPr>
          <p:nvPr/>
        </p:nvSpPr>
        <p:spPr bwMode="gray">
          <a:xfrm>
            <a:off x="1712640" y="819000"/>
            <a:ext cx="220266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칼라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사이즈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상위품종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제품구분 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27" name="Rectangle 71"/>
          <p:cNvSpPr>
            <a:spLocks noChangeArrowheads="1"/>
          </p:cNvSpPr>
          <p:nvPr/>
        </p:nvSpPr>
        <p:spPr bwMode="gray">
          <a:xfrm>
            <a:off x="1982670" y="3519010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SP_OLP_PRDT_TOT_D_UPDATE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33" name="그룹 132"/>
          <p:cNvGrpSpPr/>
          <p:nvPr/>
        </p:nvGrpSpPr>
        <p:grpSpPr>
          <a:xfrm>
            <a:off x="1991383" y="2798930"/>
            <a:ext cx="1074738" cy="389171"/>
            <a:chOff x="5729470" y="3248980"/>
            <a:chExt cx="1074738" cy="389171"/>
          </a:xfrm>
          <a:noFill/>
        </p:grpSpPr>
        <p:sp>
          <p:nvSpPr>
            <p:cNvPr id="134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35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sp>
        <p:nvSpPr>
          <p:cNvPr id="136" name="Text Box 103"/>
          <p:cNvSpPr txBox="1">
            <a:spLocks noChangeArrowheads="1"/>
          </p:cNvSpPr>
          <p:nvPr/>
        </p:nvSpPr>
        <p:spPr bwMode="gray">
          <a:xfrm>
            <a:off x="2487283" y="318425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37" name="AutoShape 72"/>
          <p:cNvCxnSpPr>
            <a:cxnSpLocks noChangeShapeType="1"/>
            <a:stCxn id="86" idx="3"/>
            <a:endCxn id="135" idx="0"/>
          </p:cNvCxnSpPr>
          <p:nvPr/>
        </p:nvCxnSpPr>
        <p:spPr bwMode="gray">
          <a:xfrm>
            <a:off x="2037200" y="2637713"/>
            <a:ext cx="511007" cy="18105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AutoShape 72"/>
          <p:cNvCxnSpPr>
            <a:cxnSpLocks noChangeShapeType="1"/>
            <a:stCxn id="134" idx="2"/>
            <a:endCxn id="127" idx="0"/>
          </p:cNvCxnSpPr>
          <p:nvPr/>
        </p:nvCxnSpPr>
        <p:spPr bwMode="gray">
          <a:xfrm rot="16200000" flipH="1">
            <a:off x="2523226" y="3193394"/>
            <a:ext cx="331142" cy="32009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AutoShape 72"/>
          <p:cNvCxnSpPr>
            <a:cxnSpLocks noChangeShapeType="1"/>
            <a:stCxn id="127" idx="1"/>
            <a:endCxn id="85" idx="4"/>
          </p:cNvCxnSpPr>
          <p:nvPr/>
        </p:nvCxnSpPr>
        <p:spPr bwMode="gray">
          <a:xfrm rot="10800000">
            <a:off x="1612634" y="3537865"/>
            <a:ext cx="370036" cy="8995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7" name="Text Box 103"/>
          <p:cNvSpPr txBox="1">
            <a:spLocks noChangeArrowheads="1"/>
          </p:cNvSpPr>
          <p:nvPr/>
        </p:nvSpPr>
        <p:spPr bwMode="gray">
          <a:xfrm>
            <a:off x="1866515" y="2798930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48" name="AutoShape 72"/>
          <p:cNvCxnSpPr>
            <a:cxnSpLocks noChangeShapeType="1"/>
            <a:stCxn id="134" idx="1"/>
            <a:endCxn id="85" idx="1"/>
          </p:cNvCxnSpPr>
          <p:nvPr/>
        </p:nvCxnSpPr>
        <p:spPr bwMode="gray">
          <a:xfrm rot="10800000" flipV="1">
            <a:off x="1329265" y="2993399"/>
            <a:ext cx="662118" cy="30058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AutoShape 72"/>
          <p:cNvCxnSpPr>
            <a:cxnSpLocks noChangeShapeType="1"/>
            <a:stCxn id="85" idx="2"/>
            <a:endCxn id="94" idx="1"/>
          </p:cNvCxnSpPr>
          <p:nvPr/>
        </p:nvCxnSpPr>
        <p:spPr bwMode="gray">
          <a:xfrm rot="10800000" flipV="1">
            <a:off x="608796" y="3537864"/>
            <a:ext cx="437100" cy="701226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8" name="Text Box 121"/>
          <p:cNvSpPr txBox="1">
            <a:spLocks noChangeArrowheads="1"/>
          </p:cNvSpPr>
          <p:nvPr/>
        </p:nvSpPr>
        <p:spPr bwMode="gray">
          <a:xfrm>
            <a:off x="52882" y="4726848"/>
            <a:ext cx="1244709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59" name="Rectangle 71"/>
          <p:cNvSpPr>
            <a:spLocks noChangeArrowheads="1"/>
          </p:cNvSpPr>
          <p:nvPr/>
        </p:nvSpPr>
        <p:spPr bwMode="gray">
          <a:xfrm>
            <a:off x="3892928" y="3004618"/>
            <a:ext cx="1746977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SP_OLP_SHOP_PRDT_TOT_D_OLD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62" name="AutoShape 72"/>
          <p:cNvCxnSpPr>
            <a:cxnSpLocks noChangeShapeType="1"/>
          </p:cNvCxnSpPr>
          <p:nvPr/>
        </p:nvCxnSpPr>
        <p:spPr bwMode="gray">
          <a:xfrm rot="16200000" flipH="1">
            <a:off x="3129499" y="1316415"/>
            <a:ext cx="1055102" cy="232246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5" name="AutoShape 86"/>
          <p:cNvSpPr>
            <a:spLocks noChangeArrowheads="1"/>
          </p:cNvSpPr>
          <p:nvPr/>
        </p:nvSpPr>
        <p:spPr bwMode="auto">
          <a:xfrm>
            <a:off x="4486752" y="4009298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OLP_SHOP_PRDT_TOT_D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5403050" y="3518765"/>
            <a:ext cx="1074738" cy="389171"/>
            <a:chOff x="5729470" y="3248980"/>
            <a:chExt cx="1074738" cy="389171"/>
          </a:xfrm>
          <a:noFill/>
        </p:grpSpPr>
        <p:sp>
          <p:nvSpPr>
            <p:cNvPr id="167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169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170" name="AutoShape 72"/>
          <p:cNvCxnSpPr>
            <a:cxnSpLocks noChangeShapeType="1"/>
            <a:stCxn id="159" idx="3"/>
            <a:endCxn id="167" idx="0"/>
          </p:cNvCxnSpPr>
          <p:nvPr/>
        </p:nvCxnSpPr>
        <p:spPr bwMode="gray">
          <a:xfrm>
            <a:off x="5639905" y="3113431"/>
            <a:ext cx="300514" cy="40533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3" name="Text Box 103"/>
          <p:cNvSpPr txBox="1">
            <a:spLocks noChangeArrowheads="1"/>
          </p:cNvSpPr>
          <p:nvPr/>
        </p:nvSpPr>
        <p:spPr bwMode="gray">
          <a:xfrm>
            <a:off x="5306955" y="3457202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74" name="AutoShape 72"/>
          <p:cNvCxnSpPr>
            <a:cxnSpLocks noChangeShapeType="1"/>
            <a:stCxn id="167" idx="1"/>
            <a:endCxn id="165" idx="1"/>
          </p:cNvCxnSpPr>
          <p:nvPr/>
        </p:nvCxnSpPr>
        <p:spPr bwMode="gray">
          <a:xfrm rot="10800000" flipV="1">
            <a:off x="4770122" y="3713234"/>
            <a:ext cx="632929" cy="296064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8" name="AutoShape 72"/>
          <p:cNvCxnSpPr>
            <a:cxnSpLocks noChangeShapeType="1"/>
            <a:stCxn id="159" idx="2"/>
            <a:endCxn id="165" idx="1"/>
          </p:cNvCxnSpPr>
          <p:nvPr/>
        </p:nvCxnSpPr>
        <p:spPr bwMode="gray">
          <a:xfrm rot="16200000" flipH="1">
            <a:off x="4374742" y="3613918"/>
            <a:ext cx="787055" cy="370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3" name="Rectangle 71"/>
          <p:cNvSpPr>
            <a:spLocks noChangeArrowheads="1"/>
          </p:cNvSpPr>
          <p:nvPr/>
        </p:nvSpPr>
        <p:spPr bwMode="gray">
          <a:xfrm>
            <a:off x="5611616" y="4200205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SP_OLP_SHOP_PRDT_TOT_D_ADJ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184" name="Text Box 103"/>
          <p:cNvSpPr txBox="1">
            <a:spLocks noChangeArrowheads="1"/>
          </p:cNvSpPr>
          <p:nvPr/>
        </p:nvSpPr>
        <p:spPr bwMode="gray">
          <a:xfrm>
            <a:off x="6018938" y="3870337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185" name="AutoShape 72"/>
          <p:cNvCxnSpPr>
            <a:cxnSpLocks noChangeShapeType="1"/>
            <a:stCxn id="169" idx="2"/>
            <a:endCxn id="183" idx="0"/>
          </p:cNvCxnSpPr>
          <p:nvPr/>
        </p:nvCxnSpPr>
        <p:spPr bwMode="gray">
          <a:xfrm rot="16200000" flipH="1">
            <a:off x="6072697" y="3795113"/>
            <a:ext cx="292269" cy="51791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8" name="AutoShape 72"/>
          <p:cNvCxnSpPr>
            <a:cxnSpLocks noChangeShapeType="1"/>
            <a:stCxn id="183" idx="1"/>
            <a:endCxn id="165" idx="4"/>
          </p:cNvCxnSpPr>
          <p:nvPr/>
        </p:nvCxnSpPr>
        <p:spPr bwMode="gray">
          <a:xfrm rot="10800000">
            <a:off x="5053490" y="4253178"/>
            <a:ext cx="558126" cy="558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3" name="Text Box 121"/>
          <p:cNvSpPr txBox="1">
            <a:spLocks noChangeArrowheads="1"/>
          </p:cNvSpPr>
          <p:nvPr/>
        </p:nvSpPr>
        <p:spPr bwMode="gray">
          <a:xfrm>
            <a:off x="3709649" y="3457744"/>
            <a:ext cx="137836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94" name="AutoShape 86"/>
          <p:cNvSpPr>
            <a:spLocks noChangeArrowheads="1"/>
          </p:cNvSpPr>
          <p:nvPr/>
        </p:nvSpPr>
        <p:spPr bwMode="auto">
          <a:xfrm>
            <a:off x="4643939" y="5274626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195" name="AutoShape 72"/>
          <p:cNvCxnSpPr>
            <a:cxnSpLocks noChangeShapeType="1"/>
            <a:stCxn id="165" idx="3"/>
            <a:endCxn id="194" idx="1"/>
          </p:cNvCxnSpPr>
          <p:nvPr/>
        </p:nvCxnSpPr>
        <p:spPr bwMode="gray">
          <a:xfrm rot="16200000" flipH="1">
            <a:off x="4459929" y="4807247"/>
            <a:ext cx="777570" cy="15718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8" name="Text Box 121"/>
          <p:cNvSpPr txBox="1">
            <a:spLocks noChangeArrowheads="1"/>
          </p:cNvSpPr>
          <p:nvPr/>
        </p:nvSpPr>
        <p:spPr bwMode="gray">
          <a:xfrm>
            <a:off x="3722346" y="4754804"/>
            <a:ext cx="178773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199" name="Rectangle 71"/>
          <p:cNvSpPr>
            <a:spLocks noChangeArrowheads="1"/>
          </p:cNvSpPr>
          <p:nvPr/>
        </p:nvSpPr>
        <p:spPr bwMode="gray">
          <a:xfrm>
            <a:off x="6213140" y="2642076"/>
            <a:ext cx="1746977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SP_OLP_PRDT_SIZE_TOT_D_OLD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05" name="AutoShape 72"/>
          <p:cNvCxnSpPr>
            <a:cxnSpLocks noChangeShapeType="1"/>
            <a:stCxn id="261" idx="1"/>
            <a:endCxn id="199" idx="0"/>
          </p:cNvCxnSpPr>
          <p:nvPr/>
        </p:nvCxnSpPr>
        <p:spPr bwMode="gray">
          <a:xfrm rot="16200000" flipH="1">
            <a:off x="4175132" y="-269421"/>
            <a:ext cx="1180318" cy="4642676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2" name="AutoShape 72"/>
          <p:cNvCxnSpPr>
            <a:cxnSpLocks noChangeShapeType="1"/>
            <a:stCxn id="371" idx="1"/>
            <a:endCxn id="199" idx="0"/>
          </p:cNvCxnSpPr>
          <p:nvPr/>
        </p:nvCxnSpPr>
        <p:spPr bwMode="gray">
          <a:xfrm rot="16200000" flipH="1">
            <a:off x="3754775" y="-689777"/>
            <a:ext cx="1180318" cy="5483389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4" name="AutoShape 72"/>
          <p:cNvCxnSpPr>
            <a:cxnSpLocks noChangeShapeType="1"/>
            <a:stCxn id="260" idx="1"/>
            <a:endCxn id="199" idx="0"/>
          </p:cNvCxnSpPr>
          <p:nvPr/>
        </p:nvCxnSpPr>
        <p:spPr bwMode="gray">
          <a:xfrm rot="16200000" flipH="1">
            <a:off x="3334419" y="-1110134"/>
            <a:ext cx="1180318" cy="6324102"/>
          </a:xfrm>
          <a:prstGeom prst="bentConnector3">
            <a:avLst>
              <a:gd name="adj1" fmla="val -9684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2" name="AutoShape 86"/>
          <p:cNvSpPr>
            <a:spLocks noChangeArrowheads="1"/>
          </p:cNvSpPr>
          <p:nvPr/>
        </p:nvSpPr>
        <p:spPr bwMode="auto">
          <a:xfrm>
            <a:off x="7221577" y="3571312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제품사이즈집계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OLP_PRDT_SIZE_TOT_D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23" name="AutoShape 86"/>
          <p:cNvSpPr>
            <a:spLocks noChangeArrowheads="1"/>
          </p:cNvSpPr>
          <p:nvPr/>
        </p:nvSpPr>
        <p:spPr bwMode="auto">
          <a:xfrm>
            <a:off x="7580670" y="4497055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제품사이즈집계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OLP_PRDT_SIZE_TOT_DACUM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grpSp>
        <p:nvGrpSpPr>
          <p:cNvPr id="225" name="그룹 224"/>
          <p:cNvGrpSpPr/>
          <p:nvPr/>
        </p:nvGrpSpPr>
        <p:grpSpPr>
          <a:xfrm>
            <a:off x="7973717" y="3113862"/>
            <a:ext cx="1074738" cy="389171"/>
            <a:chOff x="5729470" y="3248980"/>
            <a:chExt cx="1074738" cy="389171"/>
          </a:xfrm>
        </p:grpSpPr>
        <p:sp>
          <p:nvSpPr>
            <p:cNvPr id="226" name="AutoShape 98"/>
            <p:cNvSpPr>
              <a:spLocks noChangeArrowheads="1"/>
            </p:cNvSpPr>
            <p:nvPr/>
          </p:nvSpPr>
          <p:spPr bwMode="auto">
            <a:xfrm>
              <a:off x="5729470" y="3248980"/>
              <a:ext cx="1074738" cy="388938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anchor="ctr"/>
            <a:lstStyle/>
            <a:p>
              <a:pPr eaLnBrk="0" latinLnBrk="0" hangingPunct="0">
                <a:lnSpc>
                  <a:spcPct val="40000"/>
                </a:lnSpc>
                <a:spcBef>
                  <a:spcPct val="50000"/>
                </a:spcBef>
              </a:pPr>
              <a:endParaRPr lang="ko-KR" altLang="ko-KR" sz="900">
                <a:latin typeface="+mn-ea"/>
                <a:ea typeface="+mn-ea"/>
              </a:endParaRPr>
            </a:p>
          </p:txBody>
        </p:sp>
        <p:sp>
          <p:nvSpPr>
            <p:cNvPr id="227" name="Text Box 100"/>
            <p:cNvSpPr txBox="1">
              <a:spLocks noChangeArrowheads="1"/>
            </p:cNvSpPr>
            <p:nvPr/>
          </p:nvSpPr>
          <p:spPr bwMode="gray">
            <a:xfrm>
              <a:off x="5838462" y="3268819"/>
              <a:ext cx="89566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dirty="0" err="1" smtClean="0">
                  <a:latin typeface="+mn-ea"/>
                  <a:ea typeface="+mn-ea"/>
                </a:rPr>
                <a:t>원가차이분</a:t>
              </a:r>
              <a:endParaRPr lang="en-US" altLang="ko-KR" sz="900" dirty="0" smtClean="0">
                <a:latin typeface="+mn-ea"/>
                <a:ea typeface="+mn-ea"/>
              </a:endParaRPr>
            </a:p>
            <a:p>
              <a:pPr algn="ctr"/>
              <a:r>
                <a:rPr lang="ko-KR" altLang="en-US" sz="900" dirty="0" smtClean="0">
                  <a:latin typeface="+mn-ea"/>
                  <a:ea typeface="+mn-ea"/>
                </a:rPr>
                <a:t>반영여부</a:t>
              </a:r>
              <a:endParaRPr lang="ko-KR" altLang="en-US" sz="900" dirty="0">
                <a:latin typeface="+mn-ea"/>
                <a:ea typeface="+mn-ea"/>
              </a:endParaRPr>
            </a:p>
          </p:txBody>
        </p:sp>
      </p:grpSp>
      <p:cxnSp>
        <p:nvCxnSpPr>
          <p:cNvPr id="228" name="AutoShape 72"/>
          <p:cNvCxnSpPr>
            <a:cxnSpLocks noChangeShapeType="1"/>
            <a:stCxn id="199" idx="3"/>
            <a:endCxn id="226" idx="0"/>
          </p:cNvCxnSpPr>
          <p:nvPr/>
        </p:nvCxnSpPr>
        <p:spPr bwMode="gray">
          <a:xfrm>
            <a:off x="7960117" y="2750889"/>
            <a:ext cx="550969" cy="36297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0" name="Rectangle 71"/>
          <p:cNvSpPr>
            <a:spLocks noChangeArrowheads="1"/>
          </p:cNvSpPr>
          <p:nvPr/>
        </p:nvSpPr>
        <p:spPr bwMode="gray">
          <a:xfrm>
            <a:off x="8084355" y="4172286"/>
            <a:ext cx="176165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SP_OLP_PRDT_SIZE_TOT_D_UDATE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31" name="Text Box 103"/>
          <p:cNvSpPr txBox="1">
            <a:spLocks noChangeArrowheads="1"/>
          </p:cNvSpPr>
          <p:nvPr/>
        </p:nvSpPr>
        <p:spPr bwMode="gray">
          <a:xfrm>
            <a:off x="7833320" y="3087535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N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32" name="AutoShape 72"/>
          <p:cNvCxnSpPr>
            <a:cxnSpLocks noChangeShapeType="1"/>
            <a:stCxn id="199" idx="2"/>
            <a:endCxn id="222" idx="1"/>
          </p:cNvCxnSpPr>
          <p:nvPr/>
        </p:nvCxnSpPr>
        <p:spPr bwMode="gray">
          <a:xfrm rot="16200000" flipH="1">
            <a:off x="6939982" y="3006347"/>
            <a:ext cx="711611" cy="41831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7" name="AutoShape 72"/>
          <p:cNvCxnSpPr>
            <a:cxnSpLocks noChangeShapeType="1"/>
            <a:stCxn id="226" idx="1"/>
            <a:endCxn id="222" idx="1"/>
          </p:cNvCxnSpPr>
          <p:nvPr/>
        </p:nvCxnSpPr>
        <p:spPr bwMode="gray">
          <a:xfrm rot="10800000" flipV="1">
            <a:off x="7504947" y="3308330"/>
            <a:ext cx="468771" cy="26298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0" name="Text Box 103"/>
          <p:cNvSpPr txBox="1">
            <a:spLocks noChangeArrowheads="1"/>
          </p:cNvSpPr>
          <p:nvPr/>
        </p:nvSpPr>
        <p:spPr bwMode="gray">
          <a:xfrm>
            <a:off x="8511725" y="3513203"/>
            <a:ext cx="2667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900" b="1" dirty="0" smtClean="0">
                <a:latin typeface="+mn-ea"/>
                <a:ea typeface="+mn-ea"/>
              </a:rPr>
              <a:t>Y</a:t>
            </a:r>
            <a:endParaRPr lang="en-US" altLang="ko-KR" sz="900" b="1" dirty="0">
              <a:latin typeface="+mn-ea"/>
              <a:ea typeface="+mn-ea"/>
            </a:endParaRPr>
          </a:p>
        </p:txBody>
      </p:sp>
      <p:cxnSp>
        <p:nvCxnSpPr>
          <p:cNvPr id="242" name="AutoShape 72"/>
          <p:cNvCxnSpPr>
            <a:cxnSpLocks noChangeShapeType="1"/>
            <a:stCxn id="227" idx="2"/>
            <a:endCxn id="230" idx="0"/>
          </p:cNvCxnSpPr>
          <p:nvPr/>
        </p:nvCxnSpPr>
        <p:spPr bwMode="gray">
          <a:xfrm rot="16200000" flipH="1">
            <a:off x="8413235" y="3620338"/>
            <a:ext cx="669253" cy="43464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" name="AutoShape 72"/>
          <p:cNvCxnSpPr>
            <a:cxnSpLocks noChangeShapeType="1"/>
            <a:stCxn id="230" idx="1"/>
            <a:endCxn id="222" idx="4"/>
          </p:cNvCxnSpPr>
          <p:nvPr/>
        </p:nvCxnSpPr>
        <p:spPr bwMode="gray">
          <a:xfrm rot="10800000">
            <a:off x="7788315" y="3815191"/>
            <a:ext cx="296040" cy="46590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2" name="AutoShape 72"/>
          <p:cNvCxnSpPr>
            <a:cxnSpLocks noChangeShapeType="1"/>
            <a:stCxn id="222" idx="3"/>
            <a:endCxn id="223" idx="1"/>
          </p:cNvCxnSpPr>
          <p:nvPr/>
        </p:nvCxnSpPr>
        <p:spPr bwMode="gray">
          <a:xfrm rot="16200000" flipH="1">
            <a:off x="7465500" y="4098515"/>
            <a:ext cx="437985" cy="35909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4" name="Text Box 121"/>
          <p:cNvSpPr txBox="1">
            <a:spLocks noChangeArrowheads="1"/>
          </p:cNvSpPr>
          <p:nvPr/>
        </p:nvSpPr>
        <p:spPr bwMode="gray">
          <a:xfrm>
            <a:off x="6544038" y="2935875"/>
            <a:ext cx="149865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칼라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사이즈별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55" name="Text Box 121"/>
          <p:cNvSpPr txBox="1">
            <a:spLocks noChangeArrowheads="1"/>
          </p:cNvSpPr>
          <p:nvPr/>
        </p:nvSpPr>
        <p:spPr bwMode="gray">
          <a:xfrm>
            <a:off x="8560441" y="4483727"/>
            <a:ext cx="1247803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칼라사이즈별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 일별누계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58" name="AutoShape 86"/>
          <p:cNvSpPr>
            <a:spLocks noChangeArrowheads="1"/>
          </p:cNvSpPr>
          <p:nvPr/>
        </p:nvSpPr>
        <p:spPr bwMode="auto">
          <a:xfrm>
            <a:off x="6162469" y="5502794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59" name="Rectangle 71"/>
          <p:cNvSpPr>
            <a:spLocks noChangeArrowheads="1"/>
          </p:cNvSpPr>
          <p:nvPr/>
        </p:nvSpPr>
        <p:spPr bwMode="gray">
          <a:xfrm>
            <a:off x="5403050" y="4675578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SP_OLP_SHOP_TOT_D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62" name="AutoShape 72"/>
          <p:cNvCxnSpPr>
            <a:cxnSpLocks noChangeShapeType="1"/>
            <a:stCxn id="165" idx="3"/>
            <a:endCxn id="259" idx="1"/>
          </p:cNvCxnSpPr>
          <p:nvPr/>
        </p:nvCxnSpPr>
        <p:spPr bwMode="gray">
          <a:xfrm rot="16200000" flipH="1">
            <a:off x="4942918" y="4324258"/>
            <a:ext cx="287335" cy="632929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3" name="AutoShape 72"/>
          <p:cNvCxnSpPr>
            <a:cxnSpLocks noChangeShapeType="1"/>
            <a:stCxn id="259" idx="2"/>
            <a:endCxn id="258" idx="1"/>
          </p:cNvCxnSpPr>
          <p:nvPr/>
        </p:nvCxnSpPr>
        <p:spPr bwMode="gray">
          <a:xfrm rot="16200000" flipH="1">
            <a:off x="6052735" y="5109690"/>
            <a:ext cx="609591" cy="17661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5" name="AutoShape 86"/>
          <p:cNvSpPr>
            <a:spLocks noChangeArrowheads="1"/>
          </p:cNvSpPr>
          <p:nvPr/>
        </p:nvSpPr>
        <p:spPr bwMode="auto">
          <a:xfrm>
            <a:off x="7268600" y="5258915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매장집계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OLP_SHOP_TOT_DACUM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67" name="AutoShape 72"/>
          <p:cNvCxnSpPr>
            <a:cxnSpLocks noChangeShapeType="1"/>
            <a:stCxn id="258" idx="4"/>
            <a:endCxn id="265" idx="2"/>
          </p:cNvCxnSpPr>
          <p:nvPr/>
        </p:nvCxnSpPr>
        <p:spPr bwMode="gray">
          <a:xfrm flipV="1">
            <a:off x="6729207" y="5502794"/>
            <a:ext cx="539393" cy="2438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1" name="Text Box 121"/>
          <p:cNvSpPr txBox="1">
            <a:spLocks noChangeArrowheads="1"/>
          </p:cNvSpPr>
          <p:nvPr/>
        </p:nvSpPr>
        <p:spPr bwMode="gray">
          <a:xfrm>
            <a:off x="5520397" y="4911815"/>
            <a:ext cx="1364299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매장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endParaRPr lang="en-US" altLang="ko-KR" sz="800" dirty="0" smtClean="0">
              <a:latin typeface="+mn-ea"/>
              <a:ea typeface="+mn-ea"/>
            </a:endParaRPr>
          </a:p>
          <a:p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</a:p>
          <a:p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실판매금액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원가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275" name="AutoShape 86"/>
          <p:cNvSpPr>
            <a:spLocks noChangeArrowheads="1"/>
          </p:cNvSpPr>
          <p:nvPr/>
        </p:nvSpPr>
        <p:spPr bwMode="auto">
          <a:xfrm>
            <a:off x="7306223" y="746524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제품종합현황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OLP_PRDT_GEN_STAT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78" name="Rectangle 71"/>
          <p:cNvSpPr>
            <a:spLocks noChangeArrowheads="1"/>
          </p:cNvSpPr>
          <p:nvPr/>
        </p:nvSpPr>
        <p:spPr bwMode="gray">
          <a:xfrm>
            <a:off x="5101559" y="947386"/>
            <a:ext cx="1783137" cy="2176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>
                <a:latin typeface="+mn-ea"/>
                <a:ea typeface="+mn-ea"/>
                <a:sym typeface="Wingdings" panose="05000000000000000000" pitchFamily="2" charset="2"/>
              </a:rPr>
              <a:t>SP_OLP_PRDTGEN_DACUM_MNG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280" name="AutoShape 72"/>
          <p:cNvCxnSpPr>
            <a:cxnSpLocks noChangeShapeType="1"/>
          </p:cNvCxnSpPr>
          <p:nvPr/>
        </p:nvCxnSpPr>
        <p:spPr bwMode="gray">
          <a:xfrm rot="5400000" flipH="1" flipV="1">
            <a:off x="2687124" y="-953399"/>
            <a:ext cx="405559" cy="4424757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" name="AutoShape 72"/>
          <p:cNvCxnSpPr>
            <a:cxnSpLocks noChangeShapeType="1"/>
            <a:stCxn id="108" idx="1"/>
            <a:endCxn id="278" idx="1"/>
          </p:cNvCxnSpPr>
          <p:nvPr/>
        </p:nvCxnSpPr>
        <p:spPr bwMode="gray">
          <a:xfrm rot="5400000" flipH="1" flipV="1">
            <a:off x="4725234" y="1012126"/>
            <a:ext cx="332252" cy="420398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8" name="AutoShape 72"/>
          <p:cNvCxnSpPr>
            <a:cxnSpLocks noChangeShapeType="1"/>
            <a:stCxn id="278" idx="3"/>
            <a:endCxn id="275" idx="2"/>
          </p:cNvCxnSpPr>
          <p:nvPr/>
        </p:nvCxnSpPr>
        <p:spPr bwMode="gray">
          <a:xfrm flipV="1">
            <a:off x="6884696" y="990403"/>
            <a:ext cx="421527" cy="657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1" name="Text Box 121"/>
          <p:cNvSpPr txBox="1">
            <a:spLocks noChangeArrowheads="1"/>
          </p:cNvSpPr>
          <p:nvPr/>
        </p:nvSpPr>
        <p:spPr bwMode="gray">
          <a:xfrm>
            <a:off x="8018189" y="733299"/>
            <a:ext cx="1701707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제품구분별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이체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자가소모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판매 수량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공급금액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err="1" smtClean="0">
                <a:latin typeface="+mn-ea"/>
                <a:ea typeface="+mn-ea"/>
              </a:rPr>
              <a:t>실</a:t>
            </a:r>
            <a:r>
              <a:rPr lang="ko-KR" altLang="en-US" sz="800" dirty="0" err="1">
                <a:latin typeface="+mn-ea"/>
                <a:ea typeface="+mn-ea"/>
              </a:rPr>
              <a:t>퍈</a:t>
            </a:r>
            <a:r>
              <a:rPr lang="ko-KR" altLang="en-US" sz="800" dirty="0" err="1" smtClean="0">
                <a:latin typeface="+mn-ea"/>
                <a:ea typeface="+mn-ea"/>
              </a:rPr>
              <a:t>매금액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매장재고 원가 및 누계자료</a:t>
            </a:r>
            <a:endParaRPr lang="en-US" altLang="ko-KR" sz="800" dirty="0">
              <a:latin typeface="+mn-ea"/>
              <a:ea typeface="+mn-ea"/>
            </a:endParaRPr>
          </a:p>
        </p:txBody>
      </p:sp>
      <p:cxnSp>
        <p:nvCxnSpPr>
          <p:cNvPr id="293" name="AutoShape 72"/>
          <p:cNvCxnSpPr>
            <a:cxnSpLocks noChangeShapeType="1"/>
            <a:stCxn id="85" idx="3"/>
            <a:endCxn id="278" idx="1"/>
          </p:cNvCxnSpPr>
          <p:nvPr/>
        </p:nvCxnSpPr>
        <p:spPr bwMode="gray">
          <a:xfrm rot="5400000" flipH="1" flipV="1">
            <a:off x="1852640" y="532824"/>
            <a:ext cx="2725544" cy="3772294"/>
          </a:xfrm>
          <a:prstGeom prst="curvedConnector4">
            <a:avLst>
              <a:gd name="adj1" fmla="val -8387"/>
              <a:gd name="adj2" fmla="val 53756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8" name="AutoShape 86"/>
          <p:cNvSpPr>
            <a:spLocks noChangeArrowheads="1"/>
          </p:cNvSpPr>
          <p:nvPr/>
        </p:nvSpPr>
        <p:spPr bwMode="auto">
          <a:xfrm>
            <a:off x="5451152" y="1690502"/>
            <a:ext cx="566738" cy="487758"/>
          </a:xfrm>
          <a:prstGeom prst="can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창고재고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T_WH_STOCK_PRDT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99" name="AutoShape 86"/>
          <p:cNvSpPr>
            <a:spLocks noChangeArrowheads="1"/>
          </p:cNvSpPr>
          <p:nvPr/>
        </p:nvSpPr>
        <p:spPr bwMode="auto">
          <a:xfrm>
            <a:off x="6317958" y="1690502"/>
            <a:ext cx="566738" cy="487758"/>
          </a:xfrm>
          <a:prstGeom prst="can">
            <a:avLst>
              <a:gd name="adj" fmla="val 25000"/>
            </a:avLst>
          </a:prstGeom>
          <a:solidFill>
            <a:schemeClr val="accent6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smtClean="0">
                <a:latin typeface="+mn-ea"/>
                <a:ea typeface="+mn-ea"/>
              </a:rPr>
              <a:t>매장재고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T_SHOP_STOCK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00" name="AutoShape 72"/>
          <p:cNvCxnSpPr>
            <a:cxnSpLocks noChangeShapeType="1"/>
            <a:stCxn id="298" idx="1"/>
            <a:endCxn id="278" idx="2"/>
          </p:cNvCxnSpPr>
          <p:nvPr/>
        </p:nvCxnSpPr>
        <p:spPr bwMode="gray">
          <a:xfrm rot="5400000" flipH="1" flipV="1">
            <a:off x="5601079" y="1298454"/>
            <a:ext cx="525491" cy="25860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4" name="AutoShape 72"/>
          <p:cNvCxnSpPr>
            <a:cxnSpLocks noChangeShapeType="1"/>
            <a:stCxn id="299" idx="1"/>
            <a:endCxn id="278" idx="2"/>
          </p:cNvCxnSpPr>
          <p:nvPr/>
        </p:nvCxnSpPr>
        <p:spPr bwMode="gray">
          <a:xfrm rot="16200000" flipV="1">
            <a:off x="6034483" y="1123657"/>
            <a:ext cx="525491" cy="60819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5" name="AutoShape 86"/>
          <p:cNvSpPr>
            <a:spLocks noChangeArrowheads="1"/>
          </p:cNvSpPr>
          <p:nvPr/>
        </p:nvSpPr>
        <p:spPr bwMode="auto">
          <a:xfrm>
            <a:off x="9156792" y="2348880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브랜드판매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OLP_BRD_SALE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23" name="Rectangle 71"/>
          <p:cNvSpPr>
            <a:spLocks noChangeArrowheads="1"/>
          </p:cNvSpPr>
          <p:nvPr/>
        </p:nvSpPr>
        <p:spPr bwMode="gray">
          <a:xfrm>
            <a:off x="7475857" y="1736281"/>
            <a:ext cx="98420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SP_BRD_SALE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25" name="AutoShape 72"/>
          <p:cNvCxnSpPr>
            <a:cxnSpLocks noChangeShapeType="1"/>
            <a:endCxn id="323" idx="0"/>
          </p:cNvCxnSpPr>
          <p:nvPr/>
        </p:nvCxnSpPr>
        <p:spPr bwMode="gray">
          <a:xfrm rot="16200000" flipH="1">
            <a:off x="7585491" y="1353812"/>
            <a:ext cx="509707" cy="2552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" name="AutoShape 72"/>
          <p:cNvCxnSpPr>
            <a:cxnSpLocks noChangeShapeType="1"/>
            <a:stCxn id="323" idx="2"/>
            <a:endCxn id="315" idx="2"/>
          </p:cNvCxnSpPr>
          <p:nvPr/>
        </p:nvCxnSpPr>
        <p:spPr bwMode="gray">
          <a:xfrm rot="16200000" flipH="1">
            <a:off x="8242949" y="1678915"/>
            <a:ext cx="638853" cy="1188833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3" name="AutoShape 86"/>
          <p:cNvSpPr>
            <a:spLocks noChangeArrowheads="1"/>
          </p:cNvSpPr>
          <p:nvPr/>
        </p:nvSpPr>
        <p:spPr bwMode="auto">
          <a:xfrm>
            <a:off x="8860988" y="1686507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ko-KR" altLang="en-US" sz="800" dirty="0" err="1" smtClean="0">
                <a:latin typeface="+mn-ea"/>
                <a:ea typeface="+mn-ea"/>
              </a:rPr>
              <a:t>매장매출일목표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T_SHOP_SELL_DGOAL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44" name="AutoShape 72"/>
          <p:cNvCxnSpPr>
            <a:cxnSpLocks noChangeShapeType="1"/>
            <a:stCxn id="333" idx="2"/>
            <a:endCxn id="323" idx="3"/>
          </p:cNvCxnSpPr>
          <p:nvPr/>
        </p:nvCxnSpPr>
        <p:spPr bwMode="gray">
          <a:xfrm rot="10800000">
            <a:off x="8460062" y="1845094"/>
            <a:ext cx="400927" cy="8529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7" name="Text Box 121"/>
          <p:cNvSpPr txBox="1">
            <a:spLocks noChangeArrowheads="1"/>
          </p:cNvSpPr>
          <p:nvPr/>
        </p:nvSpPr>
        <p:spPr bwMode="gray">
          <a:xfrm>
            <a:off x="8996947" y="2856477"/>
            <a:ext cx="811297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900" dirty="0" err="1" smtClean="0">
                <a:latin typeface="+mn-ea"/>
                <a:ea typeface="+mn-ea"/>
              </a:rPr>
              <a:t>일자별</a:t>
            </a:r>
            <a:r>
              <a:rPr lang="ko-KR" altLang="en-US" sz="900" dirty="0" smtClean="0">
                <a:latin typeface="+mn-ea"/>
                <a:ea typeface="+mn-ea"/>
              </a:rPr>
              <a:t> 판매목표</a:t>
            </a:r>
            <a:r>
              <a:rPr lang="en-US" altLang="ko-KR" sz="900" dirty="0" smtClean="0">
                <a:latin typeface="+mn-ea"/>
                <a:ea typeface="+mn-ea"/>
              </a:rPr>
              <a:t>/</a:t>
            </a:r>
            <a:r>
              <a:rPr lang="ko-KR" altLang="en-US" sz="900" dirty="0" smtClean="0">
                <a:latin typeface="+mn-ea"/>
                <a:ea typeface="+mn-ea"/>
              </a:rPr>
              <a:t>실적</a:t>
            </a:r>
            <a:endParaRPr lang="en-US" altLang="ko-KR" sz="900" dirty="0">
              <a:latin typeface="+mn-ea"/>
              <a:ea typeface="+mn-ea"/>
            </a:endParaRPr>
          </a:p>
        </p:txBody>
      </p:sp>
      <p:sp>
        <p:nvSpPr>
          <p:cNvPr id="348" name="AutoShape 86"/>
          <p:cNvSpPr>
            <a:spLocks noChangeArrowheads="1"/>
          </p:cNvSpPr>
          <p:nvPr/>
        </p:nvSpPr>
        <p:spPr bwMode="auto">
          <a:xfrm>
            <a:off x="1595952" y="4689140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제품상위집계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OLP_PRDT_PARENT_TOT_D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49" name="Rectangle 71"/>
          <p:cNvSpPr>
            <a:spLocks noChangeArrowheads="1"/>
          </p:cNvSpPr>
          <p:nvPr/>
        </p:nvSpPr>
        <p:spPr bwMode="gray">
          <a:xfrm>
            <a:off x="1892660" y="4149080"/>
            <a:ext cx="1732344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ko-KR" altLang="en-US" sz="800" dirty="0" smtClean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SP_OLP_PRDT_P_TOT_D_OLD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50" name="AutoShape 72"/>
          <p:cNvCxnSpPr>
            <a:cxnSpLocks noChangeShapeType="1"/>
            <a:stCxn id="85" idx="3"/>
            <a:endCxn id="349" idx="1"/>
          </p:cNvCxnSpPr>
          <p:nvPr/>
        </p:nvCxnSpPr>
        <p:spPr bwMode="gray">
          <a:xfrm rot="16200000" flipH="1">
            <a:off x="1372887" y="3738120"/>
            <a:ext cx="476150" cy="563395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3" name="AutoShape 72"/>
          <p:cNvCxnSpPr>
            <a:cxnSpLocks noChangeShapeType="1"/>
            <a:stCxn id="349" idx="2"/>
            <a:endCxn id="348" idx="1"/>
          </p:cNvCxnSpPr>
          <p:nvPr/>
        </p:nvCxnSpPr>
        <p:spPr bwMode="gray">
          <a:xfrm rot="5400000">
            <a:off x="2157860" y="4088167"/>
            <a:ext cx="322435" cy="87951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7" name="AutoShape 86"/>
          <p:cNvSpPr>
            <a:spLocks noChangeArrowheads="1"/>
          </p:cNvSpPr>
          <p:nvPr/>
        </p:nvSpPr>
        <p:spPr bwMode="auto">
          <a:xfrm>
            <a:off x="587515" y="5544235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제품상위집계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누계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OLP_PRDT_PARENT_TOT_DACUM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60" name="AutoShape 72"/>
          <p:cNvCxnSpPr>
            <a:cxnSpLocks noChangeShapeType="1"/>
            <a:stCxn id="348" idx="3"/>
            <a:endCxn id="357" idx="1"/>
          </p:cNvCxnSpPr>
          <p:nvPr/>
        </p:nvCxnSpPr>
        <p:spPr bwMode="gray">
          <a:xfrm rot="5400000">
            <a:off x="1191435" y="4856348"/>
            <a:ext cx="367337" cy="100843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4" name="AutoShape 86"/>
          <p:cNvSpPr>
            <a:spLocks noChangeArrowheads="1"/>
          </p:cNvSpPr>
          <p:nvPr/>
        </p:nvSpPr>
        <p:spPr bwMode="auto">
          <a:xfrm>
            <a:off x="2546594" y="5176173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365" name="Rectangle 71"/>
          <p:cNvSpPr>
            <a:spLocks noChangeArrowheads="1"/>
          </p:cNvSpPr>
          <p:nvPr/>
        </p:nvSpPr>
        <p:spPr bwMode="gray">
          <a:xfrm>
            <a:off x="3928921" y="5873645"/>
            <a:ext cx="1805599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66" name="AutoShape 72"/>
          <p:cNvCxnSpPr>
            <a:cxnSpLocks noChangeShapeType="1"/>
            <a:stCxn id="258" idx="2"/>
            <a:endCxn id="365" idx="3"/>
          </p:cNvCxnSpPr>
          <p:nvPr/>
        </p:nvCxnSpPr>
        <p:spPr bwMode="gray">
          <a:xfrm rot="10800000" flipV="1">
            <a:off x="5734521" y="5746672"/>
            <a:ext cx="427949" cy="23578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9" name="AutoShape 72"/>
          <p:cNvCxnSpPr>
            <a:cxnSpLocks noChangeShapeType="1"/>
            <a:stCxn id="365" idx="1"/>
            <a:endCxn id="364" idx="4"/>
          </p:cNvCxnSpPr>
          <p:nvPr/>
        </p:nvCxnSpPr>
        <p:spPr bwMode="gray">
          <a:xfrm rot="10800000">
            <a:off x="3113333" y="5420052"/>
            <a:ext cx="815589" cy="5624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6" name="Text Box 121"/>
          <p:cNvSpPr txBox="1">
            <a:spLocks noChangeArrowheads="1"/>
          </p:cNvSpPr>
          <p:nvPr/>
        </p:nvSpPr>
        <p:spPr bwMode="gray">
          <a:xfrm>
            <a:off x="2035011" y="5679404"/>
            <a:ext cx="1787738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ko-KR" altLang="en-US" sz="800" dirty="0" smtClean="0">
                <a:latin typeface="+mn-ea"/>
                <a:ea typeface="+mn-ea"/>
              </a:rPr>
              <a:t>일자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상위브랜드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브랜드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기획년도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시즌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품종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성별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제품구분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유통형태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err="1" smtClean="0">
                <a:latin typeface="+mn-ea"/>
                <a:ea typeface="+mn-ea"/>
              </a:rPr>
              <a:t>판매구분별</a:t>
            </a:r>
            <a:r>
              <a:rPr lang="ko-KR" altLang="en-US" sz="800" dirty="0" smtClean="0">
                <a:latin typeface="+mn-ea"/>
                <a:ea typeface="+mn-ea"/>
              </a:rPr>
              <a:t> 입고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출고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판매</a:t>
            </a:r>
            <a:r>
              <a:rPr lang="en-US" altLang="ko-KR" sz="800" dirty="0" smtClean="0">
                <a:latin typeface="+mn-ea"/>
                <a:ea typeface="+mn-ea"/>
              </a:rPr>
              <a:t>, </a:t>
            </a:r>
            <a:r>
              <a:rPr lang="ko-KR" altLang="en-US" sz="800" dirty="0" smtClean="0">
                <a:latin typeface="+mn-ea"/>
                <a:ea typeface="+mn-ea"/>
              </a:rPr>
              <a:t>재고 수량</a:t>
            </a:r>
            <a:r>
              <a:rPr lang="en-US" altLang="ko-KR" sz="800" dirty="0" smtClean="0">
                <a:latin typeface="+mn-ea"/>
                <a:ea typeface="+mn-ea"/>
              </a:rPr>
              <a:t>/</a:t>
            </a:r>
            <a:r>
              <a:rPr lang="ko-KR" altLang="en-US" sz="800" dirty="0" smtClean="0">
                <a:latin typeface="+mn-ea"/>
                <a:ea typeface="+mn-ea"/>
              </a:rPr>
              <a:t>금액 집계</a:t>
            </a:r>
            <a:endParaRPr lang="en-US" altLang="ko-KR" sz="800" dirty="0">
              <a:latin typeface="+mn-ea"/>
              <a:ea typeface="+mn-ea"/>
            </a:endParaRPr>
          </a:p>
        </p:txBody>
      </p:sp>
      <p:sp>
        <p:nvSpPr>
          <p:cNvPr id="385" name="AutoShape 86"/>
          <p:cNvSpPr>
            <a:spLocks noChangeArrowheads="1"/>
          </p:cNvSpPr>
          <p:nvPr/>
        </p:nvSpPr>
        <p:spPr bwMode="auto">
          <a:xfrm>
            <a:off x="1487615" y="6063946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일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GP_BRD_STOR_DELV_SALE_D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393" name="AutoShape 72"/>
          <p:cNvCxnSpPr>
            <a:cxnSpLocks noChangeShapeType="1"/>
            <a:stCxn id="364" idx="3"/>
            <a:endCxn id="385" idx="1"/>
          </p:cNvCxnSpPr>
          <p:nvPr/>
        </p:nvCxnSpPr>
        <p:spPr bwMode="gray">
          <a:xfrm rot="5400000">
            <a:off x="2100467" y="5334449"/>
            <a:ext cx="400015" cy="10589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6" name="Rectangle 71"/>
          <p:cNvSpPr>
            <a:spLocks noChangeArrowheads="1"/>
          </p:cNvSpPr>
          <p:nvPr/>
        </p:nvSpPr>
        <p:spPr bwMode="gray">
          <a:xfrm>
            <a:off x="3945914" y="6173393"/>
            <a:ext cx="1805599" cy="217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ko-KR" sz="800" dirty="0" smtClean="0">
                <a:latin typeface="+mn-ea"/>
                <a:ea typeface="+mn-ea"/>
                <a:sym typeface="Wingdings" panose="05000000000000000000" pitchFamily="2" charset="2"/>
              </a:rPr>
              <a:t>SP_OLP_BRD_STOR_DELV_SALE_M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19" name="AutoShape 72"/>
          <p:cNvCxnSpPr>
            <a:cxnSpLocks noChangeShapeType="1"/>
            <a:stCxn id="364" idx="3"/>
            <a:endCxn id="416" idx="1"/>
          </p:cNvCxnSpPr>
          <p:nvPr/>
        </p:nvCxnSpPr>
        <p:spPr bwMode="gray">
          <a:xfrm rot="16200000" flipH="1">
            <a:off x="3078801" y="5415092"/>
            <a:ext cx="618275" cy="1115951"/>
          </a:xfrm>
          <a:prstGeom prst="bentConnector2">
            <a:avLst/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" name="AutoShape 86"/>
          <p:cNvSpPr>
            <a:spLocks noChangeArrowheads="1"/>
          </p:cNvSpPr>
          <p:nvPr/>
        </p:nvSpPr>
        <p:spPr bwMode="auto">
          <a:xfrm>
            <a:off x="6483170" y="6038326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월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OLP_BRD_STOR_DELV_SALE_M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21" name="AutoShape 72"/>
          <p:cNvCxnSpPr>
            <a:cxnSpLocks noChangeShapeType="1"/>
            <a:stCxn id="416" idx="3"/>
            <a:endCxn id="420" idx="2"/>
          </p:cNvCxnSpPr>
          <p:nvPr/>
        </p:nvCxnSpPr>
        <p:spPr bwMode="gray">
          <a:xfrm flipV="1">
            <a:off x="5751513" y="6282205"/>
            <a:ext cx="731657" cy="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4" name="AutoShape 86"/>
          <p:cNvSpPr>
            <a:spLocks noChangeArrowheads="1"/>
          </p:cNvSpPr>
          <p:nvPr/>
        </p:nvSpPr>
        <p:spPr bwMode="auto">
          <a:xfrm>
            <a:off x="7910059" y="6091270"/>
            <a:ext cx="566738" cy="487758"/>
          </a:xfrm>
          <a:prstGeom prst="can">
            <a:avLst>
              <a:gd name="adj" fmla="val 25000"/>
            </a:avLst>
          </a:prstGeom>
          <a:solidFill>
            <a:srgbClr val="FFFF6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anchor="ctr"/>
          <a:lstStyle/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</a:t>
            </a:r>
            <a:r>
              <a:rPr lang="ko-KR" altLang="en-US" sz="800" dirty="0" smtClean="0">
                <a:latin typeface="+mn-ea"/>
                <a:ea typeface="+mn-ea"/>
              </a:rPr>
              <a:t>브랜드입고출고판매</a:t>
            </a:r>
            <a:r>
              <a:rPr lang="en-US" altLang="ko-KR" sz="800" dirty="0" smtClean="0">
                <a:latin typeface="+mn-ea"/>
                <a:ea typeface="+mn-ea"/>
              </a:rPr>
              <a:t>_</a:t>
            </a:r>
            <a:r>
              <a:rPr lang="ko-KR" altLang="en-US" sz="800" dirty="0" smtClean="0">
                <a:latin typeface="+mn-ea"/>
                <a:ea typeface="+mn-ea"/>
              </a:rPr>
              <a:t>월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/>
            <a:r>
              <a:rPr lang="en-US" altLang="ko-KR" sz="800" dirty="0" smtClean="0">
                <a:latin typeface="+mn-ea"/>
                <a:ea typeface="+mn-ea"/>
              </a:rPr>
              <a:t>GP_BRD_STOR_DELV_SALE_M</a:t>
            </a:r>
            <a:endParaRPr lang="ko-KR" altLang="en-US" sz="800" dirty="0">
              <a:latin typeface="+mn-ea"/>
              <a:ea typeface="+mn-ea"/>
            </a:endParaRPr>
          </a:p>
        </p:txBody>
      </p:sp>
      <p:cxnSp>
        <p:nvCxnSpPr>
          <p:cNvPr id="425" name="AutoShape 72"/>
          <p:cNvCxnSpPr>
            <a:cxnSpLocks noChangeShapeType="1"/>
            <a:stCxn id="420" idx="4"/>
            <a:endCxn id="424" idx="2"/>
          </p:cNvCxnSpPr>
          <p:nvPr/>
        </p:nvCxnSpPr>
        <p:spPr bwMode="gray">
          <a:xfrm>
            <a:off x="7049908" y="6282205"/>
            <a:ext cx="860151" cy="5294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C33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6257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>
          <a:xfrm>
            <a:off x="272480" y="340094"/>
            <a:ext cx="6768000" cy="334313"/>
          </a:xfrm>
        </p:spPr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</a:t>
            </a:r>
            <a:r>
              <a:rPr lang="en-US" altLang="ko-KR" dirty="0" smtClean="0">
                <a:latin typeface="+mn-ea"/>
                <a:ea typeface="+mn-ea"/>
              </a:rPr>
              <a:t>.</a:t>
            </a:r>
            <a:r>
              <a:rPr lang="ko-KR" altLang="en-US" dirty="0" smtClean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업무 프로세스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1.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제품매입 업무 흐름도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2" name="타원 151"/>
          <p:cNvSpPr/>
          <p:nvPr/>
        </p:nvSpPr>
        <p:spPr bwMode="auto">
          <a:xfrm>
            <a:off x="350101" y="1310087"/>
            <a:ext cx="755650" cy="544513"/>
          </a:xfrm>
          <a:prstGeom prst="ellipse">
            <a:avLst/>
          </a:prstGeom>
          <a:solidFill>
            <a:schemeClr val="accent3">
              <a:lumMod val="65000"/>
              <a:alpha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b="0" dirty="0" smtClean="0">
                <a:latin typeface="+mn-ea"/>
                <a:ea typeface="+mn-ea"/>
              </a:rPr>
              <a:t>제품</a:t>
            </a:r>
            <a:endParaRPr lang="en-US" altLang="ko-KR" sz="1000" b="0" dirty="0" smtClean="0">
              <a:latin typeface="+mn-ea"/>
              <a:ea typeface="+mn-ea"/>
            </a:endParaRPr>
          </a:p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lang="ko-KR" altLang="en-US" sz="1000" dirty="0" smtClean="0">
                <a:latin typeface="+mn-ea"/>
                <a:ea typeface="+mn-ea"/>
              </a:rPr>
              <a:t>매입</a:t>
            </a:r>
            <a:endParaRPr lang="en-US" altLang="ko-KR" sz="1000" b="0" dirty="0">
              <a:latin typeface="+mn-ea"/>
              <a:ea typeface="+mn-ea"/>
            </a:endParaRPr>
          </a:p>
        </p:txBody>
      </p:sp>
      <p:cxnSp>
        <p:nvCxnSpPr>
          <p:cNvPr id="154" name="직선 연결선 153"/>
          <p:cNvCxnSpPr/>
          <p:nvPr/>
        </p:nvCxnSpPr>
        <p:spPr bwMode="auto">
          <a:xfrm>
            <a:off x="1389063" y="1088740"/>
            <a:ext cx="0" cy="5355597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59" name="TextBox 94"/>
          <p:cNvSpPr txBox="1">
            <a:spLocks noChangeArrowheads="1"/>
          </p:cNvSpPr>
          <p:nvPr/>
        </p:nvSpPr>
        <p:spPr bwMode="auto">
          <a:xfrm>
            <a:off x="312738" y="1898830"/>
            <a:ext cx="9620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1000"/>
              </a:lnSpc>
              <a:buSzPct val="70000"/>
            </a:pPr>
            <a:r>
              <a:rPr lang="ko-KR" altLang="en-US" sz="900" b="0" dirty="0">
                <a:solidFill>
                  <a:srgbClr val="404040"/>
                </a:solidFill>
                <a:latin typeface="+mn-ea"/>
                <a:ea typeface="+mn-ea"/>
              </a:rPr>
              <a:t>생산</a:t>
            </a:r>
            <a:r>
              <a:rPr lang="ko-KR" altLang="en-US" sz="900" b="0" dirty="0">
                <a:solidFill>
                  <a:srgbClr val="404040"/>
                </a:solidFill>
                <a:latin typeface="+mn-ea"/>
                <a:ea typeface="+mn-ea"/>
                <a:sym typeface="Wingdings" pitchFamily="2" charset="2"/>
              </a:rPr>
              <a:t>입고</a:t>
            </a:r>
            <a:endParaRPr lang="ko-KR" altLang="en-US" sz="900" b="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173" name="AutoShape 129"/>
          <p:cNvSpPr>
            <a:spLocks noChangeArrowheads="1"/>
          </p:cNvSpPr>
          <p:nvPr/>
        </p:nvSpPr>
        <p:spPr bwMode="auto">
          <a:xfrm>
            <a:off x="1964668" y="1282176"/>
            <a:ext cx="828092" cy="312737"/>
          </a:xfrm>
          <a:prstGeom prst="flowChartAlternateProcess">
            <a:avLst/>
          </a:prstGeom>
          <a:gradFill rotWithShape="0">
            <a:gsLst>
              <a:gs pos="0">
                <a:srgbClr val="DCFFB9">
                  <a:gamma/>
                  <a:shade val="85882"/>
                  <a:invGamma/>
                </a:srgbClr>
              </a:gs>
              <a:gs pos="50000">
                <a:srgbClr val="DCFFB9"/>
              </a:gs>
              <a:gs pos="100000">
                <a:srgbClr val="DCFFB9">
                  <a:gamma/>
                  <a:shade val="85882"/>
                  <a:invGamma/>
                </a:srgbClr>
              </a:gs>
            </a:gsLst>
            <a:lin ang="5400000" scaled="1"/>
          </a:gradFill>
          <a:ln w="0">
            <a:solidFill>
              <a:srgbClr val="68D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t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kumimoji="1" lang="ko-KR" altLang="en-US" sz="900" b="1" dirty="0" err="1" smtClean="0">
                <a:latin typeface="+mn-ea"/>
                <a:ea typeface="+mn-ea"/>
              </a:rPr>
              <a:t>소싱</a:t>
            </a:r>
            <a:r>
              <a:rPr kumimoji="1" lang="ko-KR" altLang="en-US" sz="900" b="1" dirty="0" smtClean="0">
                <a:latin typeface="+mn-ea"/>
                <a:ea typeface="+mn-ea"/>
              </a:rPr>
              <a:t> 본부</a:t>
            </a:r>
            <a:endParaRPr kumimoji="1" lang="ko-KR" altLang="en-US" sz="900" b="1" dirty="0">
              <a:latin typeface="+mn-ea"/>
              <a:ea typeface="+mn-ea"/>
            </a:endParaRPr>
          </a:p>
        </p:txBody>
      </p:sp>
      <p:sp>
        <p:nvSpPr>
          <p:cNvPr id="174" name="AutoShape 129"/>
          <p:cNvSpPr>
            <a:spLocks noChangeArrowheads="1"/>
          </p:cNvSpPr>
          <p:nvPr/>
        </p:nvSpPr>
        <p:spPr bwMode="auto">
          <a:xfrm>
            <a:off x="1964668" y="4061368"/>
            <a:ext cx="828092" cy="312737"/>
          </a:xfrm>
          <a:prstGeom prst="flowChartAlternateProcess">
            <a:avLst/>
          </a:prstGeom>
          <a:gradFill rotWithShape="0">
            <a:gsLst>
              <a:gs pos="0">
                <a:srgbClr val="DCFFB9">
                  <a:gamma/>
                  <a:shade val="85882"/>
                  <a:invGamma/>
                </a:srgbClr>
              </a:gs>
              <a:gs pos="50000">
                <a:srgbClr val="DCFFB9"/>
              </a:gs>
              <a:gs pos="100000">
                <a:srgbClr val="DCFFB9">
                  <a:gamma/>
                  <a:shade val="85882"/>
                  <a:invGamma/>
                </a:srgbClr>
              </a:gs>
            </a:gsLst>
            <a:lin ang="5400000" scaled="1"/>
          </a:gradFill>
          <a:ln w="0">
            <a:solidFill>
              <a:srgbClr val="68D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t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ko-KR" altLang="en-US" sz="900" b="1" dirty="0" smtClean="0">
                <a:latin typeface="+mn-ea"/>
                <a:ea typeface="+mn-ea"/>
              </a:rPr>
              <a:t>패션영업본부</a:t>
            </a:r>
            <a:r>
              <a:rPr kumimoji="1" lang="ko-KR" altLang="en-US" sz="900" b="1" dirty="0" smtClean="0">
                <a:latin typeface="+mn-ea"/>
                <a:ea typeface="+mn-ea"/>
              </a:rPr>
              <a:t> </a:t>
            </a:r>
            <a:endParaRPr kumimoji="1" lang="ko-KR" altLang="en-US" sz="900" b="1" dirty="0">
              <a:latin typeface="+mn-ea"/>
              <a:ea typeface="+mn-ea"/>
            </a:endParaRPr>
          </a:p>
        </p:txBody>
      </p:sp>
      <p:sp>
        <p:nvSpPr>
          <p:cNvPr id="177" name="TextBox 89"/>
          <p:cNvSpPr txBox="1">
            <a:spLocks noChangeArrowheads="1"/>
          </p:cNvSpPr>
          <p:nvPr/>
        </p:nvSpPr>
        <p:spPr bwMode="auto">
          <a:xfrm>
            <a:off x="4820662" y="3343260"/>
            <a:ext cx="94506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900" b="0" dirty="0" smtClean="0">
                <a:latin typeface="+mn-ea"/>
                <a:ea typeface="+mn-ea"/>
              </a:rPr>
              <a:t>수출시스템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181" name="AutoShape 46"/>
          <p:cNvSpPr>
            <a:spLocks noChangeArrowheads="1"/>
          </p:cNvSpPr>
          <p:nvPr/>
        </p:nvSpPr>
        <p:spPr bwMode="gray">
          <a:xfrm>
            <a:off x="7510988" y="1330262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dirty="0" smtClean="0">
                <a:solidFill>
                  <a:srgbClr val="000000"/>
                </a:solidFill>
                <a:latin typeface="+mn-ea"/>
                <a:ea typeface="+mn-ea"/>
              </a:rPr>
              <a:t>창고재고</a:t>
            </a:r>
            <a:endParaRPr lang="ko-KR" altLang="en-US" sz="1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오른쪽 중괄호 12"/>
          <p:cNvSpPr/>
          <p:nvPr/>
        </p:nvSpPr>
        <p:spPr bwMode="auto">
          <a:xfrm>
            <a:off x="4367935" y="1282128"/>
            <a:ext cx="315035" cy="1156762"/>
          </a:xfrm>
          <a:prstGeom prst="rightBrace">
            <a:avLst/>
          </a:prstGeom>
          <a:solidFill>
            <a:schemeClr val="bg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186" name="AutoShape 46"/>
          <p:cNvSpPr>
            <a:spLocks noChangeArrowheads="1"/>
          </p:cNvSpPr>
          <p:nvPr/>
        </p:nvSpPr>
        <p:spPr bwMode="gray">
          <a:xfrm>
            <a:off x="2901624" y="1310087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err="1" smtClean="0">
                <a:solidFill>
                  <a:srgbClr val="000000"/>
                </a:solidFill>
                <a:latin typeface="+mn-ea"/>
                <a:ea typeface="+mn-ea"/>
              </a:rPr>
              <a:t>제품임가</a:t>
            </a:r>
            <a:r>
              <a:rPr lang="ko-KR" altLang="en-US" sz="900" dirty="0" err="1">
                <a:solidFill>
                  <a:srgbClr val="000000"/>
                </a:solidFill>
                <a:latin typeface="+mn-ea"/>
                <a:ea typeface="+mn-ea"/>
              </a:rPr>
              <a:t>공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87" name="AutoShape 46"/>
          <p:cNvSpPr>
            <a:spLocks noChangeArrowheads="1"/>
          </p:cNvSpPr>
          <p:nvPr/>
        </p:nvSpPr>
        <p:spPr bwMode="gray">
          <a:xfrm>
            <a:off x="2909548" y="176381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n-ea"/>
                <a:ea typeface="+mn-ea"/>
              </a:rPr>
              <a:t>완제품매입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89" name="Rectangle 4"/>
          <p:cNvSpPr>
            <a:spLocks noChangeArrowheads="1"/>
          </p:cNvSpPr>
          <p:nvPr/>
        </p:nvSpPr>
        <p:spPr bwMode="auto">
          <a:xfrm>
            <a:off x="1892660" y="1171583"/>
            <a:ext cx="2430270" cy="1314610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90" name="모서리가 둥근 직사각형 189"/>
          <p:cNvSpPr/>
          <p:nvPr/>
        </p:nvSpPr>
        <p:spPr bwMode="auto">
          <a:xfrm>
            <a:off x="4759293" y="1673805"/>
            <a:ext cx="1075365" cy="39649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+mn-ea"/>
                <a:ea typeface="+mn-ea"/>
              </a:rPr>
              <a:t>물류입고</a:t>
            </a:r>
          </a:p>
        </p:txBody>
      </p:sp>
      <p:sp>
        <p:nvSpPr>
          <p:cNvPr id="193" name="모서리가 둥근 직사각형 39"/>
          <p:cNvSpPr>
            <a:spLocks noChangeArrowheads="1"/>
          </p:cNvSpPr>
          <p:nvPr/>
        </p:nvSpPr>
        <p:spPr bwMode="auto">
          <a:xfrm>
            <a:off x="4692002" y="1101976"/>
            <a:ext cx="1398587" cy="534121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+mn-ea"/>
              <a:ea typeface="+mn-ea"/>
            </a:endParaRPr>
          </a:p>
        </p:txBody>
      </p:sp>
      <p:sp>
        <p:nvSpPr>
          <p:cNvPr id="194" name="TextBox 97"/>
          <p:cNvSpPr txBox="1">
            <a:spLocks noChangeArrowheads="1"/>
          </p:cNvSpPr>
          <p:nvPr/>
        </p:nvSpPr>
        <p:spPr bwMode="auto">
          <a:xfrm>
            <a:off x="4747564" y="1081339"/>
            <a:ext cx="69762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>
                <a:latin typeface="+mn-ea"/>
                <a:ea typeface="+mn-ea"/>
              </a:rPr>
              <a:t>입고관리</a:t>
            </a:r>
          </a:p>
        </p:txBody>
      </p:sp>
      <p:sp>
        <p:nvSpPr>
          <p:cNvPr id="195" name="모서리가 둥근 직사각형 41"/>
          <p:cNvSpPr>
            <a:spLocks noChangeArrowheads="1"/>
          </p:cNvSpPr>
          <p:nvPr/>
        </p:nvSpPr>
        <p:spPr bwMode="auto">
          <a:xfrm>
            <a:off x="4747564" y="1319170"/>
            <a:ext cx="1304925" cy="26511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b="0" dirty="0" err="1" smtClean="0">
                <a:latin typeface="+mn-ea"/>
                <a:ea typeface="+mn-ea"/>
              </a:rPr>
              <a:t>생산처입고등록</a:t>
            </a:r>
            <a:endParaRPr lang="ko-KR" altLang="en-US" sz="900" b="0" dirty="0">
              <a:latin typeface="+mn-ea"/>
              <a:ea typeface="+mn-ea"/>
            </a:endParaRPr>
          </a:p>
        </p:txBody>
      </p:sp>
      <p:cxnSp>
        <p:nvCxnSpPr>
          <p:cNvPr id="199" name="꺾인 연결선 198"/>
          <p:cNvCxnSpPr>
            <a:stCxn id="190" idx="3"/>
            <a:endCxn id="181" idx="5"/>
          </p:cNvCxnSpPr>
          <p:nvPr/>
        </p:nvCxnSpPr>
        <p:spPr bwMode="auto">
          <a:xfrm flipV="1">
            <a:off x="5834658" y="1510444"/>
            <a:ext cx="1725462" cy="361608"/>
          </a:xfrm>
          <a:prstGeom prst="bentConnector3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0" name="모서리가 둥근 직사각형 41"/>
          <p:cNvSpPr>
            <a:spLocks noChangeArrowheads="1"/>
          </p:cNvSpPr>
          <p:nvPr/>
        </p:nvSpPr>
        <p:spPr bwMode="auto">
          <a:xfrm>
            <a:off x="7428495" y="1763815"/>
            <a:ext cx="1529950" cy="26511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1000" b="0" dirty="0" smtClean="0">
                <a:latin typeface="+mn-ea"/>
                <a:ea typeface="+mn-ea"/>
              </a:rPr>
              <a:t>입고항목 </a:t>
            </a:r>
            <a:r>
              <a:rPr lang="en-US" altLang="ko-KR" sz="1000" b="0" dirty="0" smtClean="0">
                <a:latin typeface="+mn-ea"/>
                <a:ea typeface="+mn-ea"/>
                <a:sym typeface="Wingdings" pitchFamily="2" charset="2"/>
              </a:rPr>
              <a:t></a:t>
            </a:r>
            <a:r>
              <a:rPr lang="ko-KR" altLang="en-US" sz="1000" b="0" dirty="0" smtClean="0">
                <a:latin typeface="+mn-ea"/>
                <a:ea typeface="+mn-ea"/>
              </a:rPr>
              <a:t> 수량 </a:t>
            </a:r>
            <a:endParaRPr lang="ko-KR" altLang="en-US" sz="1000" b="0" dirty="0">
              <a:latin typeface="+mn-ea"/>
              <a:ea typeface="+mn-ea"/>
            </a:endParaRPr>
          </a:p>
        </p:txBody>
      </p:sp>
      <p:sp>
        <p:nvSpPr>
          <p:cNvPr id="201" name="AutoShape 46"/>
          <p:cNvSpPr>
            <a:spLocks noChangeArrowheads="1"/>
          </p:cNvSpPr>
          <p:nvPr/>
        </p:nvSpPr>
        <p:spPr bwMode="gray">
          <a:xfrm>
            <a:off x="7518285" y="2078527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smtClean="0">
                <a:solidFill>
                  <a:srgbClr val="000000"/>
                </a:solidFill>
                <a:latin typeface="+mn-ea"/>
                <a:ea typeface="+mn-ea"/>
              </a:rPr>
              <a:t>제품수불</a:t>
            </a:r>
            <a:endParaRPr lang="ko-KR" altLang="en-US" sz="10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02" name="모서리가 둥근 직사각형 41"/>
          <p:cNvSpPr>
            <a:spLocks noChangeArrowheads="1"/>
          </p:cNvSpPr>
          <p:nvPr/>
        </p:nvSpPr>
        <p:spPr bwMode="auto">
          <a:xfrm>
            <a:off x="7508858" y="2483895"/>
            <a:ext cx="1529950" cy="26511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1000" b="0" dirty="0" smtClean="0">
                <a:latin typeface="+mn-ea"/>
                <a:ea typeface="+mn-ea"/>
              </a:rPr>
              <a:t>입고항목 </a:t>
            </a:r>
            <a:r>
              <a:rPr lang="en-US" altLang="ko-KR" sz="1000" b="0" dirty="0" smtClean="0">
                <a:latin typeface="+mn-ea"/>
                <a:ea typeface="+mn-ea"/>
                <a:sym typeface="Wingdings" pitchFamily="2" charset="2"/>
              </a:rPr>
              <a:t></a:t>
            </a:r>
            <a:r>
              <a:rPr lang="ko-KR" altLang="en-US" sz="1000" b="0" dirty="0" smtClean="0">
                <a:latin typeface="+mn-ea"/>
                <a:ea typeface="+mn-ea"/>
              </a:rPr>
              <a:t> 수량 </a:t>
            </a:r>
            <a:endParaRPr lang="ko-KR" altLang="en-US" sz="1000" b="0" dirty="0">
              <a:latin typeface="+mn-ea"/>
              <a:ea typeface="+mn-ea"/>
            </a:endParaRPr>
          </a:p>
        </p:txBody>
      </p:sp>
      <p:cxnSp>
        <p:nvCxnSpPr>
          <p:cNvPr id="203" name="꺾인 연결선 202"/>
          <p:cNvCxnSpPr>
            <a:stCxn id="190" idx="3"/>
            <a:endCxn id="201" idx="5"/>
          </p:cNvCxnSpPr>
          <p:nvPr/>
        </p:nvCxnSpPr>
        <p:spPr bwMode="auto">
          <a:xfrm>
            <a:off x="5834658" y="1872052"/>
            <a:ext cx="1732759" cy="386657"/>
          </a:xfrm>
          <a:prstGeom prst="bentConnector3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7" name="Rectangle 171"/>
          <p:cNvSpPr>
            <a:spLocks noChangeArrowheads="1"/>
          </p:cNvSpPr>
          <p:nvPr/>
        </p:nvSpPr>
        <p:spPr bwMode="auto">
          <a:xfrm>
            <a:off x="4868719" y="2263829"/>
            <a:ext cx="914400" cy="3048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latinLnBrk="0">
              <a:spcBef>
                <a:spcPct val="50000"/>
              </a:spcBef>
            </a:pPr>
            <a:r>
              <a:rPr lang="ko-KR" altLang="en-US" sz="800" b="1" dirty="0" smtClean="0">
                <a:latin typeface="+mn-ea"/>
                <a:ea typeface="+mn-ea"/>
              </a:rPr>
              <a:t>마감 진행</a:t>
            </a:r>
            <a:endParaRPr lang="en-US" altLang="ko-KR" sz="800" b="1" dirty="0" smtClean="0">
              <a:latin typeface="+mn-ea"/>
              <a:ea typeface="+mn-ea"/>
            </a:endParaRPr>
          </a:p>
        </p:txBody>
      </p:sp>
      <p:sp>
        <p:nvSpPr>
          <p:cNvPr id="208" name="Rectangle 163"/>
          <p:cNvSpPr>
            <a:spLocks noChangeArrowheads="1"/>
          </p:cNvSpPr>
          <p:nvPr/>
        </p:nvSpPr>
        <p:spPr bwMode="auto">
          <a:xfrm>
            <a:off x="4857436" y="2632077"/>
            <a:ext cx="9144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latinLnBrk="0">
              <a:spcBef>
                <a:spcPct val="50000"/>
              </a:spcBef>
            </a:pPr>
            <a:r>
              <a:rPr lang="ko-KR" altLang="en-US" sz="800" dirty="0" err="1" smtClean="0">
                <a:latin typeface="+mn-ea"/>
                <a:ea typeface="+mn-ea"/>
              </a:rPr>
              <a:t>제품임가공</a:t>
            </a:r>
            <a:r>
              <a:rPr lang="ko-KR" altLang="en-US" sz="800" dirty="0" smtClean="0">
                <a:latin typeface="+mn-ea"/>
                <a:ea typeface="+mn-ea"/>
              </a:rPr>
              <a:t> 관련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latinLnBrk="0"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비용정산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9" name="Rectangle 166"/>
          <p:cNvSpPr>
            <a:spLocks noChangeArrowheads="1"/>
          </p:cNvSpPr>
          <p:nvPr/>
        </p:nvSpPr>
        <p:spPr bwMode="auto">
          <a:xfrm>
            <a:off x="4851322" y="2985819"/>
            <a:ext cx="9144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latinLnBrk="0"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완제품매입정산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10" name="Rectangle 4"/>
          <p:cNvSpPr>
            <a:spLocks noChangeArrowheads="1"/>
          </p:cNvSpPr>
          <p:nvPr/>
        </p:nvSpPr>
        <p:spPr bwMode="auto">
          <a:xfrm>
            <a:off x="4729710" y="2127171"/>
            <a:ext cx="1151425" cy="1526853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11" name="모서리가 둥근 직사각형 41"/>
          <p:cNvSpPr>
            <a:spLocks noChangeArrowheads="1"/>
          </p:cNvSpPr>
          <p:nvPr/>
        </p:nvSpPr>
        <p:spPr bwMode="auto">
          <a:xfrm>
            <a:off x="7518285" y="2708920"/>
            <a:ext cx="1529950" cy="265112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1000" b="0" dirty="0" smtClean="0">
                <a:latin typeface="+mn-ea"/>
                <a:ea typeface="+mn-ea"/>
              </a:rPr>
              <a:t>입고항목 </a:t>
            </a:r>
            <a:r>
              <a:rPr lang="en-US" altLang="ko-KR" sz="1000" b="0" dirty="0" smtClean="0">
                <a:latin typeface="+mn-ea"/>
                <a:ea typeface="+mn-ea"/>
                <a:sym typeface="Wingdings" pitchFamily="2" charset="2"/>
              </a:rPr>
              <a:t></a:t>
            </a:r>
            <a:r>
              <a:rPr lang="ko-KR" altLang="en-US" sz="1000" b="0" dirty="0" smtClean="0">
                <a:latin typeface="+mn-ea"/>
                <a:ea typeface="+mn-ea"/>
              </a:rPr>
              <a:t> 금액 </a:t>
            </a:r>
            <a:endParaRPr lang="ko-KR" altLang="en-US" sz="1000" b="0" dirty="0">
              <a:latin typeface="+mn-ea"/>
              <a:ea typeface="+mn-ea"/>
            </a:endParaRPr>
          </a:p>
        </p:txBody>
      </p:sp>
      <p:sp>
        <p:nvSpPr>
          <p:cNvPr id="206" name="Line 223"/>
          <p:cNvSpPr>
            <a:spLocks noChangeShapeType="1"/>
          </p:cNvSpPr>
          <p:nvPr/>
        </p:nvSpPr>
        <p:spPr bwMode="auto">
          <a:xfrm>
            <a:off x="5881135" y="2841476"/>
            <a:ext cx="1623463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 type="triangle" w="med" len="med"/>
          </a:ln>
        </p:spPr>
        <p:txBody>
          <a:bodyPr wrap="square">
            <a:spAutoFit/>
          </a:bodyPr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12" name="AutoShape 46"/>
          <p:cNvSpPr>
            <a:spLocks noChangeArrowheads="1"/>
          </p:cNvSpPr>
          <p:nvPr/>
        </p:nvSpPr>
        <p:spPr bwMode="gray">
          <a:xfrm>
            <a:off x="2909548" y="403755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900" dirty="0" smtClean="0">
                <a:solidFill>
                  <a:srgbClr val="000000"/>
                </a:solidFill>
                <a:latin typeface="+mn-ea"/>
                <a:ea typeface="+mn-ea"/>
              </a:rPr>
              <a:t>완제품매입</a:t>
            </a:r>
            <a:endParaRPr lang="ko-KR" altLang="en-US" sz="9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16" name="모서리가 둥근 직사각형 39"/>
          <p:cNvSpPr>
            <a:spLocks noChangeArrowheads="1"/>
          </p:cNvSpPr>
          <p:nvPr/>
        </p:nvSpPr>
        <p:spPr bwMode="auto">
          <a:xfrm>
            <a:off x="5970995" y="2978704"/>
            <a:ext cx="1398588" cy="1035361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+mn-ea"/>
              <a:ea typeface="+mn-ea"/>
            </a:endParaRPr>
          </a:p>
        </p:txBody>
      </p:sp>
      <p:sp>
        <p:nvSpPr>
          <p:cNvPr id="217" name="모서리가 둥근 직사각형 41"/>
          <p:cNvSpPr>
            <a:spLocks noChangeArrowheads="1"/>
          </p:cNvSpPr>
          <p:nvPr/>
        </p:nvSpPr>
        <p:spPr bwMode="auto">
          <a:xfrm>
            <a:off x="6026558" y="3166029"/>
            <a:ext cx="1304925" cy="758026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b="0" dirty="0" smtClean="0">
                <a:latin typeface="+mn-ea"/>
                <a:ea typeface="+mn-ea"/>
              </a:rPr>
              <a:t>구매지급</a:t>
            </a:r>
            <a:r>
              <a:rPr lang="en-US" altLang="ko-KR" sz="900" b="0" dirty="0" smtClean="0">
                <a:latin typeface="+mn-ea"/>
                <a:ea typeface="+mn-ea"/>
              </a:rPr>
              <a:t>(</a:t>
            </a:r>
            <a:r>
              <a:rPr lang="ko-KR" altLang="en-US" sz="900" b="0" dirty="0" smtClean="0">
                <a:latin typeface="+mn-ea"/>
                <a:ea typeface="+mn-ea"/>
              </a:rPr>
              <a:t>국내</a:t>
            </a:r>
            <a:r>
              <a:rPr lang="en-US" altLang="ko-KR" sz="900" b="0" dirty="0" smtClean="0">
                <a:latin typeface="+mn-ea"/>
                <a:ea typeface="+mn-ea"/>
              </a:rPr>
              <a:t>/</a:t>
            </a:r>
            <a:r>
              <a:rPr lang="ko-KR" altLang="en-US" sz="900" b="0" dirty="0" smtClean="0">
                <a:latin typeface="+mn-ea"/>
                <a:ea typeface="+mn-ea"/>
              </a:rPr>
              <a:t>수입</a:t>
            </a:r>
            <a:r>
              <a:rPr lang="en-US" altLang="ko-KR" sz="900" b="0" dirty="0" smtClean="0">
                <a:latin typeface="+mn-ea"/>
                <a:ea typeface="+mn-ea"/>
              </a:rPr>
              <a:t>)</a:t>
            </a: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b="0" dirty="0" smtClean="0">
                <a:latin typeface="+mn-ea"/>
                <a:ea typeface="+mn-ea"/>
              </a:rPr>
              <a:t>가공임</a:t>
            </a:r>
            <a:r>
              <a:rPr lang="en-US" altLang="ko-KR" sz="900" b="0" dirty="0" smtClean="0">
                <a:latin typeface="+mn-ea"/>
                <a:ea typeface="+mn-ea"/>
              </a:rPr>
              <a:t>(</a:t>
            </a:r>
            <a:r>
              <a:rPr lang="ko-KR" altLang="en-US" sz="900" b="0" dirty="0" smtClean="0">
                <a:latin typeface="+mn-ea"/>
                <a:ea typeface="+mn-ea"/>
              </a:rPr>
              <a:t>선급</a:t>
            </a:r>
            <a:r>
              <a:rPr lang="en-US" altLang="ko-KR" sz="900" b="0" dirty="0" smtClean="0">
                <a:latin typeface="+mn-ea"/>
                <a:ea typeface="+mn-ea"/>
              </a:rPr>
              <a:t>/</a:t>
            </a:r>
            <a:r>
              <a:rPr lang="ko-KR" altLang="en-US" sz="900" b="0" dirty="0" smtClean="0">
                <a:latin typeface="+mn-ea"/>
                <a:ea typeface="+mn-ea"/>
              </a:rPr>
              <a:t>지급</a:t>
            </a:r>
            <a:r>
              <a:rPr lang="en-US" altLang="ko-KR" sz="900" b="0" dirty="0" smtClean="0">
                <a:latin typeface="+mn-ea"/>
                <a:ea typeface="+mn-ea"/>
              </a:rPr>
              <a:t>)</a:t>
            </a:r>
            <a:endParaRPr lang="ko-KR" altLang="en-US" sz="900" b="0" dirty="0">
              <a:latin typeface="+mn-ea"/>
              <a:ea typeface="+mn-ea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en-US" altLang="ko-KR" sz="900" b="0" dirty="0" smtClean="0">
                <a:latin typeface="+mn-ea"/>
                <a:ea typeface="+mn-ea"/>
              </a:rPr>
              <a:t>CM(H/C) : </a:t>
            </a:r>
            <a:r>
              <a:rPr lang="ko-KR" altLang="en-US" sz="900" b="0" dirty="0" smtClean="0">
                <a:latin typeface="+mn-ea"/>
                <a:ea typeface="+mn-ea"/>
              </a:rPr>
              <a:t>공임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b="0" dirty="0" smtClean="0">
                <a:latin typeface="+mn-ea"/>
                <a:ea typeface="+mn-ea"/>
              </a:rPr>
              <a:t>제품</a:t>
            </a:r>
            <a:r>
              <a:rPr lang="en-US" altLang="ko-KR" sz="900" b="0" dirty="0" smtClean="0">
                <a:latin typeface="+mn-ea"/>
                <a:ea typeface="+mn-ea"/>
              </a:rPr>
              <a:t>/</a:t>
            </a:r>
            <a:r>
              <a:rPr lang="ko-KR" altLang="en-US" sz="900" b="0" dirty="0" smtClean="0">
                <a:latin typeface="+mn-ea"/>
                <a:ea typeface="+mn-ea"/>
              </a:rPr>
              <a:t>자재 운반비 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218" name="TextBox 97"/>
          <p:cNvSpPr txBox="1">
            <a:spLocks noChangeArrowheads="1"/>
          </p:cNvSpPr>
          <p:nvPr/>
        </p:nvSpPr>
        <p:spPr bwMode="auto">
          <a:xfrm>
            <a:off x="5929423" y="2933945"/>
            <a:ext cx="12105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 smtClean="0">
                <a:latin typeface="+mn-ea"/>
                <a:ea typeface="+mn-ea"/>
              </a:rPr>
              <a:t>제품사후원가산출</a:t>
            </a:r>
            <a:endParaRPr lang="ko-KR" altLang="en-US" sz="1000" b="0" dirty="0">
              <a:latin typeface="+mn-ea"/>
              <a:ea typeface="+mn-ea"/>
            </a:endParaRPr>
          </a:p>
        </p:txBody>
      </p:sp>
      <p:sp>
        <p:nvSpPr>
          <p:cNvPr id="219" name="TextBox 89"/>
          <p:cNvSpPr txBox="1">
            <a:spLocks noChangeArrowheads="1"/>
          </p:cNvSpPr>
          <p:nvPr/>
        </p:nvSpPr>
        <p:spPr bwMode="auto">
          <a:xfrm>
            <a:off x="1979903" y="4458308"/>
            <a:ext cx="202799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171450" indent="-171450" eaLnBrk="1" hangingPunct="1">
              <a:buFontTx/>
              <a:buChar char="-"/>
            </a:pPr>
            <a:r>
              <a:rPr lang="ko-KR" altLang="en-US" sz="900" b="0" dirty="0" smtClean="0">
                <a:latin typeface="+mn-ea"/>
                <a:ea typeface="+mn-ea"/>
              </a:rPr>
              <a:t>벨트</a:t>
            </a:r>
            <a:r>
              <a:rPr lang="en-US" altLang="ko-KR" sz="900" b="0" dirty="0" smtClean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타이</a:t>
            </a:r>
            <a:r>
              <a:rPr lang="en-US" altLang="ko-KR" sz="900" b="0" dirty="0" smtClean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양말</a:t>
            </a:r>
            <a:r>
              <a:rPr lang="en-US" altLang="ko-KR" sz="900" b="0" dirty="0" smtClean="0">
                <a:latin typeface="+mn-ea"/>
                <a:ea typeface="+mn-ea"/>
              </a:rPr>
              <a:t>, </a:t>
            </a:r>
            <a:r>
              <a:rPr lang="ko-KR" altLang="en-US" sz="900" b="0" dirty="0" err="1" smtClean="0">
                <a:latin typeface="+mn-ea"/>
                <a:ea typeface="+mn-ea"/>
              </a:rPr>
              <a:t>모자등</a:t>
            </a:r>
            <a:r>
              <a:rPr lang="en-US" altLang="ko-KR" sz="900" b="0" dirty="0" smtClean="0">
                <a:latin typeface="+mn-ea"/>
                <a:ea typeface="+mn-ea"/>
              </a:rPr>
              <a:t>(ACC)</a:t>
            </a:r>
          </a:p>
          <a:p>
            <a:pPr marL="171450" indent="-171450" eaLnBrk="1" hangingPunct="1">
              <a:buFontTx/>
              <a:buChar char="-"/>
            </a:pPr>
            <a:r>
              <a:rPr lang="ko-KR" altLang="en-US" sz="900" b="0" dirty="0" err="1" smtClean="0">
                <a:latin typeface="+mn-ea"/>
                <a:ea typeface="+mn-ea"/>
              </a:rPr>
              <a:t>패딩</a:t>
            </a:r>
            <a:r>
              <a:rPr lang="en-US" altLang="ko-KR" sz="900" b="0" dirty="0" smtClean="0">
                <a:latin typeface="+mn-ea"/>
                <a:ea typeface="+mn-ea"/>
              </a:rPr>
              <a:t>, </a:t>
            </a:r>
            <a:r>
              <a:rPr lang="ko-KR" altLang="en-US" sz="900" b="0" dirty="0" smtClean="0">
                <a:latin typeface="+mn-ea"/>
                <a:ea typeface="+mn-ea"/>
              </a:rPr>
              <a:t>드레스셔츠</a:t>
            </a:r>
            <a:r>
              <a:rPr lang="en-US" altLang="ko-KR" sz="900" b="0" dirty="0">
                <a:latin typeface="+mn-ea"/>
                <a:ea typeface="+mn-ea"/>
              </a:rPr>
              <a:t> </a:t>
            </a:r>
            <a:r>
              <a:rPr lang="ko-KR" altLang="en-US" sz="900" b="0" dirty="0" smtClean="0">
                <a:latin typeface="+mn-ea"/>
                <a:ea typeface="+mn-ea"/>
              </a:rPr>
              <a:t>등 패션영업부에서 진행하는 완제품</a:t>
            </a:r>
            <a:r>
              <a:rPr lang="en-US" altLang="ko-KR" sz="900" b="0" dirty="0" smtClean="0">
                <a:latin typeface="+mn-ea"/>
                <a:ea typeface="+mn-ea"/>
              </a:rPr>
              <a:t> 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220" name="Rectangle 4"/>
          <p:cNvSpPr>
            <a:spLocks noChangeArrowheads="1"/>
          </p:cNvSpPr>
          <p:nvPr/>
        </p:nvSpPr>
        <p:spPr bwMode="auto">
          <a:xfrm>
            <a:off x="1892660" y="3924055"/>
            <a:ext cx="2430270" cy="1160993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175" name="꺾인 연결선 174"/>
          <p:cNvCxnSpPr>
            <a:stCxn id="152" idx="6"/>
            <a:endCxn id="174" idx="1"/>
          </p:cNvCxnSpPr>
          <p:nvPr/>
        </p:nvCxnSpPr>
        <p:spPr bwMode="auto">
          <a:xfrm>
            <a:off x="1105751" y="1582344"/>
            <a:ext cx="858917" cy="2635393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cxnSp>
        <p:nvCxnSpPr>
          <p:cNvPr id="153" name="꺾인 연결선 152"/>
          <p:cNvCxnSpPr>
            <a:stCxn id="152" idx="6"/>
            <a:endCxn id="173" idx="1"/>
          </p:cNvCxnSpPr>
          <p:nvPr/>
        </p:nvCxnSpPr>
        <p:spPr bwMode="auto">
          <a:xfrm flipV="1">
            <a:off x="1105751" y="1438545"/>
            <a:ext cx="858917" cy="143799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ysDot"/>
            <a:round/>
            <a:headEnd type="none" w="med" len="med"/>
            <a:tailEnd type="stealth" w="sm" len="sm"/>
          </a:ln>
          <a:effectLst/>
        </p:spPr>
      </p:cxnSp>
      <p:sp>
        <p:nvSpPr>
          <p:cNvPr id="222" name="Rectangle 171"/>
          <p:cNvSpPr>
            <a:spLocks noChangeArrowheads="1"/>
          </p:cNvSpPr>
          <p:nvPr/>
        </p:nvSpPr>
        <p:spPr bwMode="auto">
          <a:xfrm>
            <a:off x="4898302" y="4870802"/>
            <a:ext cx="914400" cy="304800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latinLnBrk="0">
              <a:spcBef>
                <a:spcPct val="50000"/>
              </a:spcBef>
            </a:pPr>
            <a:r>
              <a:rPr lang="ko-KR" altLang="en-US" sz="800" b="1" dirty="0" smtClean="0">
                <a:latin typeface="+mn-ea"/>
                <a:ea typeface="+mn-ea"/>
              </a:rPr>
              <a:t>마감 진행</a:t>
            </a:r>
            <a:endParaRPr lang="en-US" altLang="ko-KR" sz="800" b="1" dirty="0" smtClean="0">
              <a:latin typeface="+mn-ea"/>
              <a:ea typeface="+mn-ea"/>
            </a:endParaRPr>
          </a:p>
        </p:txBody>
      </p:sp>
      <p:sp>
        <p:nvSpPr>
          <p:cNvPr id="223" name="Rectangle 163"/>
          <p:cNvSpPr>
            <a:spLocks noChangeArrowheads="1"/>
          </p:cNvSpPr>
          <p:nvPr/>
        </p:nvSpPr>
        <p:spPr bwMode="auto">
          <a:xfrm>
            <a:off x="4887019" y="5239050"/>
            <a:ext cx="9144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19050" tIns="38100" rIns="19050" bIns="38100" anchor="ctr"/>
          <a:lstStyle/>
          <a:p>
            <a:pPr algn="ctr" latinLnBrk="0">
              <a:spcBef>
                <a:spcPct val="50000"/>
              </a:spcBef>
            </a:pPr>
            <a:r>
              <a:rPr lang="ko-KR" altLang="en-US" sz="800" dirty="0" smtClean="0">
                <a:latin typeface="+mn-ea"/>
                <a:ea typeface="+mn-ea"/>
              </a:rPr>
              <a:t>생산세금계산서</a:t>
            </a:r>
            <a:endParaRPr lang="en-US" altLang="ko-KR" sz="800" dirty="0" smtClean="0">
              <a:latin typeface="+mn-ea"/>
              <a:ea typeface="+mn-ea"/>
            </a:endParaRPr>
          </a:p>
          <a:p>
            <a:pPr algn="ctr" latinLnBrk="0">
              <a:spcBef>
                <a:spcPct val="50000"/>
              </a:spcBef>
            </a:pPr>
            <a:r>
              <a:rPr lang="en-US" altLang="ko-KR" sz="800" dirty="0" smtClean="0">
                <a:latin typeface="+mn-ea"/>
                <a:ea typeface="+mn-ea"/>
              </a:rPr>
              <a:t>ESP</a:t>
            </a:r>
            <a:r>
              <a:rPr lang="ko-KR" altLang="en-US" sz="800" dirty="0" smtClean="0">
                <a:latin typeface="+mn-ea"/>
                <a:ea typeface="+mn-ea"/>
              </a:rPr>
              <a:t>시스템</a:t>
            </a:r>
            <a:endParaRPr lang="en-US" altLang="ko-KR" sz="800" dirty="0" smtClean="0">
              <a:latin typeface="+mn-ea"/>
              <a:ea typeface="+mn-ea"/>
            </a:endParaRPr>
          </a:p>
        </p:txBody>
      </p:sp>
      <p:sp>
        <p:nvSpPr>
          <p:cNvPr id="225" name="Rectangle 4"/>
          <p:cNvSpPr>
            <a:spLocks noChangeArrowheads="1"/>
          </p:cNvSpPr>
          <p:nvPr/>
        </p:nvSpPr>
        <p:spPr bwMode="auto">
          <a:xfrm>
            <a:off x="4759293" y="4734145"/>
            <a:ext cx="1151425" cy="1035443"/>
          </a:xfrm>
          <a:prstGeom prst="rect">
            <a:avLst/>
          </a:prstGeom>
          <a:noFill/>
          <a:ln w="25400">
            <a:solidFill>
              <a:srgbClr val="0000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230" name="꺾인 연결선 229"/>
          <p:cNvCxnSpPr>
            <a:stCxn id="225" idx="3"/>
          </p:cNvCxnSpPr>
          <p:nvPr/>
        </p:nvCxnSpPr>
        <p:spPr bwMode="auto">
          <a:xfrm flipV="1">
            <a:off x="5910718" y="2974032"/>
            <a:ext cx="2268845" cy="2277835"/>
          </a:xfrm>
          <a:prstGeom prst="bentConnector2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sp>
        <p:nvSpPr>
          <p:cNvPr id="231" name="TextBox 89"/>
          <p:cNvSpPr txBox="1">
            <a:spLocks noChangeArrowheads="1"/>
          </p:cNvSpPr>
          <p:nvPr/>
        </p:nvSpPr>
        <p:spPr bwMode="auto">
          <a:xfrm>
            <a:off x="4794871" y="5536976"/>
            <a:ext cx="105420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ko-KR" altLang="en-US" sz="900" b="0" dirty="0" smtClean="0">
                <a:latin typeface="+mn-ea"/>
                <a:ea typeface="+mn-ea"/>
              </a:rPr>
              <a:t>패션시스템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233" name="오른쪽 중괄호 232"/>
          <p:cNvSpPr/>
          <p:nvPr/>
        </p:nvSpPr>
        <p:spPr bwMode="auto">
          <a:xfrm>
            <a:off x="4367935" y="3920699"/>
            <a:ext cx="315035" cy="1156762"/>
          </a:xfrm>
          <a:prstGeom prst="rightBrace">
            <a:avLst/>
          </a:prstGeom>
          <a:solidFill>
            <a:schemeClr val="bg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+mn-ea"/>
              <a:ea typeface="+mn-ea"/>
            </a:endParaRPr>
          </a:p>
        </p:txBody>
      </p:sp>
      <p:sp>
        <p:nvSpPr>
          <p:cNvPr id="234" name="모서리가 둥근 직사각형 233"/>
          <p:cNvSpPr/>
          <p:nvPr/>
        </p:nvSpPr>
        <p:spPr bwMode="auto">
          <a:xfrm>
            <a:off x="4759293" y="4292647"/>
            <a:ext cx="1075365" cy="39649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extrusionH="88900">
            <a:bevelT w="38100" h="101600" prst="slope"/>
            <a:extrusionClr>
              <a:schemeClr val="tx1">
                <a:lumMod val="75000"/>
                <a:lumOff val="25000"/>
              </a:schemeClr>
            </a:extrusionClr>
            <a:contourClr>
              <a:schemeClr val="bg1">
                <a:lumMod val="95000"/>
              </a:schemeClr>
            </a:contourClr>
          </a:sp3d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50000"/>
              </a:spcBef>
              <a:defRPr/>
            </a:pPr>
            <a:r>
              <a:rPr lang="ko-KR" altLang="en-US" sz="1000" b="0" dirty="0">
                <a:latin typeface="+mn-ea"/>
                <a:ea typeface="+mn-ea"/>
              </a:rPr>
              <a:t>물류입고</a:t>
            </a:r>
          </a:p>
        </p:txBody>
      </p:sp>
      <p:sp>
        <p:nvSpPr>
          <p:cNvPr id="238" name="모서리가 둥근 직사각형 39"/>
          <p:cNvSpPr>
            <a:spLocks noChangeArrowheads="1"/>
          </p:cNvSpPr>
          <p:nvPr/>
        </p:nvSpPr>
        <p:spPr bwMode="auto">
          <a:xfrm>
            <a:off x="5970995" y="5363970"/>
            <a:ext cx="1398588" cy="630316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B4CCE2"/>
              </a:gs>
              <a:gs pos="100000">
                <a:srgbClr val="D6E3EF"/>
              </a:gs>
            </a:gsLst>
            <a:lin ang="5400000" scaled="1"/>
          </a:gradFill>
          <a:ln w="3175" algn="ctr">
            <a:solidFill>
              <a:srgbClr val="91C3D3"/>
            </a:solidFill>
            <a:round/>
            <a:headEnd/>
            <a:tailEnd/>
          </a:ln>
        </p:spPr>
        <p:txBody>
          <a:bodyPr anchor="ctr"/>
          <a:lstStyle/>
          <a:p>
            <a:pPr marL="180975" indent="-179388" algn="l">
              <a:lnSpc>
                <a:spcPct val="100000"/>
              </a:lnSpc>
              <a:tabLst>
                <a:tab pos="139700" algn="l"/>
              </a:tabLst>
            </a:pPr>
            <a:endParaRPr lang="ko-KR" altLang="ko-KR" b="0">
              <a:latin typeface="+mn-ea"/>
              <a:ea typeface="+mn-ea"/>
            </a:endParaRPr>
          </a:p>
        </p:txBody>
      </p:sp>
      <p:sp>
        <p:nvSpPr>
          <p:cNvPr id="239" name="모서리가 둥근 직사각형 41"/>
          <p:cNvSpPr>
            <a:spLocks noChangeArrowheads="1"/>
          </p:cNvSpPr>
          <p:nvPr/>
        </p:nvSpPr>
        <p:spPr bwMode="auto">
          <a:xfrm>
            <a:off x="6026558" y="5551294"/>
            <a:ext cx="1304925" cy="379013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3175" algn="ctr">
            <a:noFill/>
            <a:round/>
            <a:headEnd/>
            <a:tailEnd/>
          </a:ln>
        </p:spPr>
        <p:txBody>
          <a:bodyPr anchor="ctr"/>
          <a:lstStyle/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b="0" dirty="0" smtClean="0">
                <a:latin typeface="+mn-ea"/>
                <a:ea typeface="+mn-ea"/>
              </a:rPr>
              <a:t>생산세금계산서</a:t>
            </a:r>
            <a:endParaRPr lang="en-US" altLang="ko-KR" sz="900" b="0" dirty="0" smtClean="0">
              <a:latin typeface="+mn-ea"/>
              <a:ea typeface="+mn-ea"/>
            </a:endParaRPr>
          </a:p>
          <a:p>
            <a:pPr marL="82550" indent="-82550" algn="l">
              <a:lnSpc>
                <a:spcPct val="100000"/>
              </a:lnSpc>
              <a:spcBef>
                <a:spcPct val="20000"/>
              </a:spcBef>
              <a:buClr>
                <a:srgbClr val="003366"/>
              </a:buClr>
              <a:buFont typeface="Wingdings" pitchFamily="2" charset="2"/>
              <a:buChar char="§"/>
            </a:pPr>
            <a:r>
              <a:rPr lang="ko-KR" altLang="en-US" sz="900" dirty="0" err="1" smtClean="0">
                <a:latin typeface="+mn-ea"/>
                <a:ea typeface="+mn-ea"/>
              </a:rPr>
              <a:t>재가공</a:t>
            </a:r>
            <a:r>
              <a:rPr lang="ko-KR" altLang="en-US" sz="900" dirty="0" smtClean="0">
                <a:latin typeface="+mn-ea"/>
                <a:ea typeface="+mn-ea"/>
              </a:rPr>
              <a:t> 및 기타비용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240" name="TextBox 97"/>
          <p:cNvSpPr txBox="1">
            <a:spLocks noChangeArrowheads="1"/>
          </p:cNvSpPr>
          <p:nvPr/>
        </p:nvSpPr>
        <p:spPr bwMode="auto">
          <a:xfrm>
            <a:off x="5929423" y="5319210"/>
            <a:ext cx="12105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00" b="0" dirty="0" smtClean="0">
                <a:latin typeface="+mn-ea"/>
                <a:ea typeface="+mn-ea"/>
              </a:rPr>
              <a:t>제품사후원가산출</a:t>
            </a:r>
            <a:endParaRPr lang="ko-KR" altLang="en-US" sz="1000" b="0" dirty="0">
              <a:latin typeface="+mn-ea"/>
              <a:ea typeface="+mn-ea"/>
            </a:endParaRPr>
          </a:p>
        </p:txBody>
      </p:sp>
      <p:sp>
        <p:nvSpPr>
          <p:cNvPr id="50" name="사각형 설명선 49"/>
          <p:cNvSpPr/>
          <p:nvPr/>
        </p:nvSpPr>
        <p:spPr>
          <a:xfrm>
            <a:off x="7580308" y="5301215"/>
            <a:ext cx="1829781" cy="629092"/>
          </a:xfrm>
          <a:prstGeom prst="wedgeRectCallout">
            <a:avLst>
              <a:gd name="adj1" fmla="val -75111"/>
              <a:gd name="adj2" fmla="val -947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생산거래명세등록 화면에서 등록된 내역 바탕으로 금액 반영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(T_MFAC_TRAN_SPEC)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사각형 설명선 50"/>
          <p:cNvSpPr/>
          <p:nvPr/>
        </p:nvSpPr>
        <p:spPr>
          <a:xfrm>
            <a:off x="6147252" y="4111853"/>
            <a:ext cx="1829781" cy="474039"/>
          </a:xfrm>
          <a:prstGeom prst="wedgeRectCallout">
            <a:avLst>
              <a:gd name="adj1" fmla="val 14931"/>
              <a:gd name="adj2" fmla="val -26243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CT_STYLE_INCOST_CLOSE_MNG</a:t>
            </a: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마감된 금액 반영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583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8. </a:t>
            </a:r>
            <a:r>
              <a:rPr lang="ko-KR" altLang="en-US" dirty="0" smtClean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제품수불 설명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2.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제품 입고 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50" name="AutoShape 46"/>
          <p:cNvSpPr>
            <a:spLocks noChangeArrowheads="1"/>
          </p:cNvSpPr>
          <p:nvPr/>
        </p:nvSpPr>
        <p:spPr bwMode="gray">
          <a:xfrm>
            <a:off x="272480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창고재고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98" y="4269672"/>
            <a:ext cx="9429750" cy="227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93784"/>
            <a:ext cx="9410748" cy="2205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AutoShape 46"/>
          <p:cNvSpPr>
            <a:spLocks noChangeArrowheads="1"/>
          </p:cNvSpPr>
          <p:nvPr/>
        </p:nvSpPr>
        <p:spPr bwMode="gray">
          <a:xfrm>
            <a:off x="227475" y="3871430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제품수불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4772980" y="2708920"/>
            <a:ext cx="720080" cy="99011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4024619" y="5195752"/>
            <a:ext cx="585065" cy="117013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56" name="TextBox 89"/>
          <p:cNvSpPr txBox="1">
            <a:spLocks noChangeArrowheads="1"/>
          </p:cNvSpPr>
          <p:nvPr/>
        </p:nvSpPr>
        <p:spPr bwMode="auto">
          <a:xfrm>
            <a:off x="1487615" y="1051355"/>
            <a:ext cx="78758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000" b="0" dirty="0" smtClean="0">
                <a:latin typeface="+mn-ea"/>
                <a:ea typeface="+mn-ea"/>
              </a:rPr>
              <a:t>물류관리</a:t>
            </a:r>
            <a:r>
              <a:rPr lang="en-US" altLang="ko-KR" sz="1000" b="0" dirty="0" smtClean="0">
                <a:latin typeface="+mn-ea"/>
                <a:ea typeface="+mn-ea"/>
              </a:rPr>
              <a:t>&gt;</a:t>
            </a:r>
            <a:r>
              <a:rPr lang="ko-KR" altLang="en-US" sz="1000" b="0" dirty="0" smtClean="0">
                <a:latin typeface="+mn-ea"/>
                <a:ea typeface="+mn-ea"/>
              </a:rPr>
              <a:t>창고재고</a:t>
            </a:r>
            <a:r>
              <a:rPr lang="en-US" altLang="ko-KR" sz="1000" b="0" dirty="0" smtClean="0">
                <a:latin typeface="+mn-ea"/>
                <a:ea typeface="+mn-ea"/>
              </a:rPr>
              <a:t>&gt;</a:t>
            </a:r>
            <a:r>
              <a:rPr lang="ko-KR" altLang="en-US" sz="1000" b="0" dirty="0" smtClean="0">
                <a:latin typeface="+mn-ea"/>
                <a:ea typeface="+mn-ea"/>
              </a:rPr>
              <a:t>창고재고현황</a:t>
            </a:r>
            <a:endParaRPr lang="en-US" altLang="ko-KR" sz="1000" b="0" dirty="0" smtClean="0">
              <a:latin typeface="+mn-ea"/>
              <a:ea typeface="+mn-ea"/>
            </a:endParaRPr>
          </a:p>
          <a:p>
            <a:pPr marL="171450" indent="-171450" eaLnBrk="1" hangingPunct="1">
              <a:buFontTx/>
              <a:buChar char="-"/>
            </a:pPr>
            <a:r>
              <a:rPr lang="ko-KR" altLang="en-US" sz="1000" b="0" dirty="0" smtClean="0">
                <a:latin typeface="+mn-ea"/>
                <a:ea typeface="+mn-ea"/>
              </a:rPr>
              <a:t>창고는 실물창고</a:t>
            </a:r>
            <a:r>
              <a:rPr lang="en-US" altLang="ko-KR" sz="1000" b="0" dirty="0" smtClean="0">
                <a:latin typeface="+mn-ea"/>
                <a:ea typeface="+mn-ea"/>
              </a:rPr>
              <a:t>(YA)</a:t>
            </a:r>
            <a:r>
              <a:rPr lang="ko-KR" altLang="en-US" sz="1000" b="0" dirty="0" smtClean="0">
                <a:latin typeface="+mn-ea"/>
                <a:ea typeface="+mn-ea"/>
              </a:rPr>
              <a:t>와 가상창고</a:t>
            </a:r>
            <a:r>
              <a:rPr lang="en-US" altLang="ko-KR" sz="1000" b="0" dirty="0" smtClean="0">
                <a:latin typeface="+mn-ea"/>
                <a:ea typeface="+mn-ea"/>
              </a:rPr>
              <a:t>(X,B</a:t>
            </a:r>
            <a:r>
              <a:rPr lang="ko-KR" altLang="en-US" sz="1000" b="0" dirty="0" smtClean="0">
                <a:latin typeface="+mn-ea"/>
                <a:ea typeface="+mn-ea"/>
              </a:rPr>
              <a:t>창고</a:t>
            </a:r>
            <a:r>
              <a:rPr lang="en-US" altLang="ko-KR" sz="1000" b="0" dirty="0" smtClean="0">
                <a:latin typeface="+mn-ea"/>
                <a:ea typeface="+mn-ea"/>
              </a:rPr>
              <a:t>)</a:t>
            </a:r>
            <a:r>
              <a:rPr lang="ko-KR" altLang="en-US" sz="1000" b="0" dirty="0" smtClean="0">
                <a:latin typeface="+mn-ea"/>
                <a:ea typeface="+mn-ea"/>
              </a:rPr>
              <a:t>로 운영</a:t>
            </a:r>
            <a:endParaRPr lang="en-US" altLang="ko-KR" sz="1000" b="0" dirty="0" smtClean="0">
              <a:latin typeface="+mn-ea"/>
              <a:ea typeface="+mn-ea"/>
            </a:endParaRPr>
          </a:p>
          <a:p>
            <a:pPr marL="171450" indent="-171450" eaLnBrk="1" hangingPunct="1">
              <a:buFontTx/>
              <a:buChar char="-"/>
            </a:pPr>
            <a:r>
              <a:rPr lang="ko-KR" altLang="en-US" sz="1000" b="0" dirty="0" smtClean="0">
                <a:latin typeface="+mn-ea"/>
                <a:ea typeface="+mn-ea"/>
              </a:rPr>
              <a:t>창고에서 발생되는 입</a:t>
            </a:r>
            <a:r>
              <a:rPr lang="en-US" altLang="ko-KR" sz="1000" b="0" dirty="0" smtClean="0">
                <a:latin typeface="+mn-ea"/>
                <a:ea typeface="+mn-ea"/>
              </a:rPr>
              <a:t>/</a:t>
            </a:r>
            <a:r>
              <a:rPr lang="ko-KR" altLang="en-US" sz="1000" b="0" dirty="0" smtClean="0">
                <a:latin typeface="+mn-ea"/>
                <a:ea typeface="+mn-ea"/>
              </a:rPr>
              <a:t>출고 내역을 관리 하고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수량만 관리</a:t>
            </a:r>
            <a:r>
              <a:rPr lang="ko-KR" altLang="en-US" sz="1000" b="0" dirty="0" smtClean="0">
                <a:latin typeface="+mn-ea"/>
                <a:ea typeface="+mn-ea"/>
              </a:rPr>
              <a:t> 함</a:t>
            </a:r>
            <a:r>
              <a:rPr lang="en-US" altLang="ko-KR" sz="900" b="0" dirty="0" smtClean="0">
                <a:latin typeface="+mn-ea"/>
                <a:ea typeface="+mn-ea"/>
              </a:rPr>
              <a:t>.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57" name="TextBox 89"/>
          <p:cNvSpPr txBox="1">
            <a:spLocks noChangeArrowheads="1"/>
          </p:cNvSpPr>
          <p:nvPr/>
        </p:nvSpPr>
        <p:spPr bwMode="auto">
          <a:xfrm>
            <a:off x="1352600" y="3857815"/>
            <a:ext cx="78758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000" b="0" dirty="0" smtClean="0">
                <a:latin typeface="+mn-ea"/>
                <a:ea typeface="+mn-ea"/>
              </a:rPr>
              <a:t>영</a:t>
            </a:r>
            <a:r>
              <a:rPr lang="ko-KR" altLang="en-US" sz="1000" b="0" dirty="0">
                <a:latin typeface="+mn-ea"/>
                <a:ea typeface="+mn-ea"/>
              </a:rPr>
              <a:t>업</a:t>
            </a:r>
            <a:r>
              <a:rPr lang="ko-KR" altLang="en-US" sz="1000" b="0" dirty="0" smtClean="0">
                <a:latin typeface="+mn-ea"/>
                <a:ea typeface="+mn-ea"/>
              </a:rPr>
              <a:t>관리</a:t>
            </a:r>
            <a:r>
              <a:rPr lang="en-US" altLang="ko-KR" sz="1000" b="0" dirty="0" smtClean="0">
                <a:latin typeface="+mn-ea"/>
                <a:ea typeface="+mn-ea"/>
              </a:rPr>
              <a:t>&gt;</a:t>
            </a:r>
            <a:r>
              <a:rPr lang="ko-KR" altLang="en-US" sz="1000" b="0" dirty="0" smtClean="0">
                <a:latin typeface="+mn-ea"/>
                <a:ea typeface="+mn-ea"/>
              </a:rPr>
              <a:t>수불</a:t>
            </a:r>
            <a:r>
              <a:rPr lang="en-US" altLang="ko-KR" sz="1000" b="0" dirty="0" smtClean="0">
                <a:latin typeface="+mn-ea"/>
                <a:ea typeface="+mn-ea"/>
              </a:rPr>
              <a:t>&gt;</a:t>
            </a:r>
            <a:r>
              <a:rPr lang="ko-KR" altLang="en-US" sz="1000" b="0" dirty="0" err="1" smtClean="0">
                <a:latin typeface="+mn-ea"/>
                <a:ea typeface="+mn-ea"/>
              </a:rPr>
              <a:t>제품월수불현황</a:t>
            </a:r>
            <a:endParaRPr lang="en-US" altLang="ko-KR" sz="1000" b="0" dirty="0" smtClean="0">
              <a:latin typeface="+mn-ea"/>
              <a:ea typeface="+mn-ea"/>
            </a:endParaRPr>
          </a:p>
          <a:p>
            <a:pPr marL="171450" indent="-171450" eaLnBrk="1" hangingPunct="1">
              <a:buFontTx/>
              <a:buChar char="-"/>
            </a:pPr>
            <a:r>
              <a:rPr lang="ko-KR" altLang="en-US" sz="1000" b="0" dirty="0" smtClean="0">
                <a:latin typeface="+mn-ea"/>
                <a:ea typeface="+mn-ea"/>
              </a:rPr>
              <a:t>제품에 관련된 입고</a:t>
            </a:r>
            <a:r>
              <a:rPr lang="en-US" altLang="ko-KR" sz="1000" b="0" dirty="0" smtClean="0">
                <a:latin typeface="+mn-ea"/>
                <a:ea typeface="+mn-ea"/>
              </a:rPr>
              <a:t>, </a:t>
            </a:r>
            <a:r>
              <a:rPr lang="ko-KR" altLang="en-US" sz="1000" b="0" dirty="0" smtClean="0">
                <a:latin typeface="+mn-ea"/>
                <a:ea typeface="+mn-ea"/>
              </a:rPr>
              <a:t>출고</a:t>
            </a:r>
            <a:r>
              <a:rPr lang="en-US" altLang="ko-KR" sz="1000" b="0" dirty="0" smtClean="0">
                <a:latin typeface="+mn-ea"/>
                <a:ea typeface="+mn-ea"/>
              </a:rPr>
              <a:t>, </a:t>
            </a:r>
            <a:r>
              <a:rPr lang="ko-KR" altLang="en-US" sz="1000" b="0" dirty="0" err="1" smtClean="0">
                <a:latin typeface="+mn-ea"/>
                <a:ea typeface="+mn-ea"/>
              </a:rPr>
              <a:t>자가가소모</a:t>
            </a:r>
            <a:r>
              <a:rPr lang="en-US" altLang="ko-KR" sz="1000" b="0" dirty="0" smtClean="0">
                <a:latin typeface="+mn-ea"/>
                <a:ea typeface="+mn-ea"/>
              </a:rPr>
              <a:t>, </a:t>
            </a:r>
            <a:r>
              <a:rPr lang="ko-KR" altLang="en-US" sz="1000" b="0" dirty="0" smtClean="0">
                <a:latin typeface="+mn-ea"/>
                <a:ea typeface="+mn-ea"/>
              </a:rPr>
              <a:t>판매에 대한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수량 및 원가금액</a:t>
            </a:r>
            <a:r>
              <a:rPr lang="en-US" altLang="ko-KR" sz="1000" dirty="0" smtClean="0">
                <a:solidFill>
                  <a:schemeClr val="tx2"/>
                </a:solidFill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월별 수불 단가를 관리</a:t>
            </a:r>
            <a:r>
              <a:rPr lang="ko-KR" altLang="en-US" sz="1000" b="0" dirty="0" smtClean="0">
                <a:latin typeface="+mn-ea"/>
                <a:ea typeface="+mn-ea"/>
              </a:rPr>
              <a:t>함</a:t>
            </a:r>
            <a:r>
              <a:rPr lang="en-US" altLang="ko-KR" sz="1000" b="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14" name="Text Box 121"/>
          <p:cNvSpPr txBox="1">
            <a:spLocks noChangeArrowheads="1"/>
          </p:cNvSpPr>
          <p:nvPr/>
        </p:nvSpPr>
        <p:spPr bwMode="gray">
          <a:xfrm>
            <a:off x="1497377" y="346856"/>
            <a:ext cx="2915563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err="1">
                <a:solidFill>
                  <a:schemeClr val="tx2"/>
                </a:solidFill>
                <a:latin typeface="+mn-ea"/>
                <a:ea typeface="+mn-ea"/>
              </a:rPr>
              <a:t>제품수불부</a:t>
            </a:r>
            <a:r>
              <a:rPr lang="en-US" altLang="ko-KR" sz="800" dirty="0">
                <a:solidFill>
                  <a:schemeClr val="tx2"/>
                </a:solidFill>
                <a:latin typeface="+mn-ea"/>
                <a:ea typeface="+mn-ea"/>
              </a:rPr>
              <a:t>_</a:t>
            </a:r>
            <a:r>
              <a:rPr lang="ko-KR" altLang="en-US" sz="800" dirty="0">
                <a:solidFill>
                  <a:schemeClr val="tx2"/>
                </a:solidFill>
                <a:latin typeface="+mn-ea"/>
                <a:ea typeface="+mn-ea"/>
              </a:rPr>
              <a:t>예시 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769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67" y="2894107"/>
            <a:ext cx="4298283" cy="215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제품수불 설명</a:t>
            </a: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수불단가 계산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50" name="AutoShape 46"/>
          <p:cNvSpPr>
            <a:spLocks noChangeArrowheads="1"/>
          </p:cNvSpPr>
          <p:nvPr/>
        </p:nvSpPr>
        <p:spPr bwMode="gray">
          <a:xfrm>
            <a:off x="272480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수불원가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6" name="TextBox 89"/>
          <p:cNvSpPr txBox="1">
            <a:spLocks noChangeArrowheads="1"/>
          </p:cNvSpPr>
          <p:nvPr/>
        </p:nvSpPr>
        <p:spPr bwMode="auto">
          <a:xfrm>
            <a:off x="1487615" y="1403775"/>
            <a:ext cx="4318065" cy="77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	</a:t>
            </a:r>
            <a:r>
              <a:rPr lang="en-US" altLang="ko-KR" sz="1000" dirty="0" smtClean="0">
                <a:solidFill>
                  <a:schemeClr val="tx2"/>
                </a:solidFill>
                <a:latin typeface="+mn-ea"/>
                <a:ea typeface="+mn-ea"/>
              </a:rPr>
              <a:t>            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기초재고금액 </a:t>
            </a:r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+ </a:t>
            </a:r>
            <a:r>
              <a:rPr lang="ko-KR" altLang="en-US" sz="1000" dirty="0">
                <a:solidFill>
                  <a:schemeClr val="tx2"/>
                </a:solidFill>
                <a:latin typeface="+mn-ea"/>
                <a:ea typeface="+mn-ea"/>
              </a:rPr>
              <a:t>당월 매입금액 </a:t>
            </a:r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+ </a:t>
            </a:r>
            <a:r>
              <a:rPr lang="ko-KR" altLang="en-US" sz="1000" dirty="0">
                <a:solidFill>
                  <a:schemeClr val="tx2"/>
                </a:solidFill>
                <a:latin typeface="+mn-ea"/>
                <a:ea typeface="+mn-ea"/>
              </a:rPr>
              <a:t>이체 금액</a:t>
            </a:r>
            <a:endParaRPr lang="en-US" altLang="ko-KR" sz="1000" dirty="0">
              <a:solidFill>
                <a:schemeClr val="tx2"/>
              </a:solidFill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>
                <a:solidFill>
                  <a:schemeClr val="tx2"/>
                </a:solidFill>
                <a:latin typeface="+mn-ea"/>
                <a:ea typeface="+mn-ea"/>
              </a:rPr>
              <a:t>당월 제품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수불단가 </a:t>
            </a:r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=   ---------------------------------------------------</a:t>
            </a:r>
          </a:p>
          <a:p>
            <a:pPr eaLnBrk="1" hangingPunct="1"/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                                 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기초재고수량 </a:t>
            </a:r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+ </a:t>
            </a:r>
            <a:r>
              <a:rPr lang="ko-KR" altLang="en-US" sz="1000" dirty="0">
                <a:solidFill>
                  <a:schemeClr val="tx2"/>
                </a:solidFill>
                <a:latin typeface="+mn-ea"/>
                <a:ea typeface="+mn-ea"/>
              </a:rPr>
              <a:t>당월 매입수량 </a:t>
            </a:r>
            <a:r>
              <a:rPr lang="en-US" altLang="ko-KR" sz="1000" dirty="0">
                <a:solidFill>
                  <a:schemeClr val="tx2"/>
                </a:solidFill>
                <a:latin typeface="+mn-ea"/>
                <a:ea typeface="+mn-ea"/>
              </a:rPr>
              <a:t>+ </a:t>
            </a:r>
            <a:r>
              <a:rPr lang="ko-KR" altLang="en-US" sz="1000" dirty="0">
                <a:solidFill>
                  <a:schemeClr val="tx2"/>
                </a:solidFill>
                <a:latin typeface="+mn-ea"/>
                <a:ea typeface="+mn-ea"/>
              </a:rPr>
              <a:t>이체 수량</a:t>
            </a:r>
            <a:endParaRPr lang="en-US" altLang="ko-KR" sz="1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410807" y="1100297"/>
            <a:ext cx="80876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ko-KR" altLang="en-US" sz="1100" b="1" dirty="0" smtClean="0">
                <a:latin typeface="+mn-ea"/>
                <a:ea typeface="+mn-ea"/>
              </a:rPr>
              <a:t>월 이동평균법 </a:t>
            </a:r>
            <a:r>
              <a:rPr lang="en-US" altLang="ko-KR" sz="1100" b="1" dirty="0" smtClean="0">
                <a:latin typeface="+mn-ea"/>
                <a:ea typeface="+mn-ea"/>
              </a:rPr>
              <a:t>–  </a:t>
            </a:r>
            <a:r>
              <a:rPr lang="ko-KR" altLang="en-US" sz="1100" b="1" dirty="0" smtClean="0">
                <a:latin typeface="+mn-ea"/>
                <a:ea typeface="+mn-ea"/>
              </a:rPr>
              <a:t>기초재고 자산금액에 기간</a:t>
            </a:r>
            <a:r>
              <a:rPr lang="en-US" altLang="ko-KR" sz="1100" b="1" dirty="0" smtClean="0">
                <a:latin typeface="+mn-ea"/>
                <a:ea typeface="+mn-ea"/>
              </a:rPr>
              <a:t>(</a:t>
            </a:r>
            <a:r>
              <a:rPr lang="ko-KR" altLang="en-US" sz="1100" b="1" dirty="0" smtClean="0">
                <a:latin typeface="+mn-ea"/>
                <a:ea typeface="+mn-ea"/>
              </a:rPr>
              <a:t>월</a:t>
            </a:r>
            <a:r>
              <a:rPr lang="en-US" altLang="ko-KR" sz="1100" b="1" dirty="0" smtClean="0">
                <a:latin typeface="+mn-ea"/>
                <a:ea typeface="+mn-ea"/>
              </a:rPr>
              <a:t>)</a:t>
            </a:r>
            <a:r>
              <a:rPr lang="ko-KR" altLang="en-US" sz="1100" b="1" dirty="0" smtClean="0">
                <a:latin typeface="+mn-ea"/>
                <a:ea typeface="+mn-ea"/>
              </a:rPr>
              <a:t>중에 취득한 재고자산금액을 합하고 이를 총수량으로 나누어 평균원가를 산출</a:t>
            </a:r>
            <a:endParaRPr lang="en-US" altLang="ko-KR" sz="1100" b="1" dirty="0" smtClean="0">
              <a:latin typeface="+mn-ea"/>
              <a:ea typeface="+mn-ea"/>
            </a:endParaRPr>
          </a:p>
        </p:txBody>
      </p:sp>
      <p:sp>
        <p:nvSpPr>
          <p:cNvPr id="16" name="TextBox 89"/>
          <p:cNvSpPr txBox="1">
            <a:spLocks noChangeArrowheads="1"/>
          </p:cNvSpPr>
          <p:nvPr/>
        </p:nvSpPr>
        <p:spPr bwMode="auto">
          <a:xfrm>
            <a:off x="226165" y="1988840"/>
            <a:ext cx="925988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100" dirty="0">
                <a:latin typeface="+mn-ea"/>
                <a:ea typeface="+mn-ea"/>
              </a:rPr>
              <a:t>용어 </a:t>
            </a:r>
            <a:r>
              <a:rPr lang="en-US" altLang="ko-KR" sz="1100" dirty="0">
                <a:latin typeface="+mn-ea"/>
                <a:ea typeface="+mn-ea"/>
              </a:rPr>
              <a:t>: </a:t>
            </a:r>
            <a:r>
              <a:rPr lang="ko-KR" altLang="en-US" sz="1100" dirty="0" smtClean="0">
                <a:latin typeface="+mn-ea"/>
                <a:ea typeface="+mn-ea"/>
              </a:rPr>
              <a:t>이체</a:t>
            </a:r>
            <a:r>
              <a:rPr lang="en-US" altLang="ko-KR" sz="1100" dirty="0" smtClean="0">
                <a:latin typeface="+mn-ea"/>
                <a:ea typeface="+mn-ea"/>
              </a:rPr>
              <a:t>(</a:t>
            </a:r>
            <a:r>
              <a:rPr lang="ko-KR" altLang="en-US" sz="1100" dirty="0" smtClean="0">
                <a:latin typeface="+mn-ea"/>
                <a:ea typeface="+mn-ea"/>
              </a:rPr>
              <a:t>수량</a:t>
            </a:r>
            <a:r>
              <a:rPr lang="en-US" altLang="ko-KR" sz="1100" dirty="0">
                <a:latin typeface="+mn-ea"/>
                <a:ea typeface="+mn-ea"/>
              </a:rPr>
              <a:t>/</a:t>
            </a:r>
            <a:r>
              <a:rPr lang="ko-KR" altLang="en-US" sz="1100" dirty="0" smtClean="0">
                <a:latin typeface="+mn-ea"/>
                <a:ea typeface="+mn-ea"/>
              </a:rPr>
              <a:t>금액</a:t>
            </a:r>
            <a:r>
              <a:rPr lang="en-US" altLang="ko-KR" sz="1100" dirty="0" smtClean="0">
                <a:latin typeface="+mn-ea"/>
                <a:ea typeface="+mn-ea"/>
              </a:rPr>
              <a:t>)</a:t>
            </a:r>
            <a:r>
              <a:rPr lang="ko-KR" altLang="en-US" sz="1100" dirty="0" smtClean="0">
                <a:latin typeface="+mn-ea"/>
                <a:ea typeface="+mn-ea"/>
              </a:rPr>
              <a:t> </a:t>
            </a:r>
            <a:r>
              <a:rPr lang="en-US" altLang="ko-KR" sz="1100" dirty="0" smtClean="0">
                <a:latin typeface="+mn-ea"/>
                <a:ea typeface="+mn-ea"/>
              </a:rPr>
              <a:t>– </a:t>
            </a:r>
            <a:r>
              <a:rPr lang="ko-KR" altLang="en-US" sz="1100" dirty="0">
                <a:latin typeface="+mn-ea"/>
                <a:ea typeface="+mn-ea"/>
              </a:rPr>
              <a:t>부서의 자산이 타 부서의 자산으로 이체 되는 건</a:t>
            </a:r>
            <a:r>
              <a:rPr lang="en-US" altLang="ko-KR" sz="1100" dirty="0" smtClean="0">
                <a:latin typeface="+mn-ea"/>
                <a:ea typeface="+mn-ea"/>
              </a:rPr>
              <a:t>.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7" name="TextBox 89"/>
          <p:cNvSpPr txBox="1">
            <a:spLocks noChangeArrowheads="1"/>
          </p:cNvSpPr>
          <p:nvPr/>
        </p:nvSpPr>
        <p:spPr bwMode="auto">
          <a:xfrm>
            <a:off x="227475" y="2251901"/>
            <a:ext cx="925988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100" dirty="0" smtClean="0">
                <a:latin typeface="+mn-ea"/>
                <a:ea typeface="+mn-ea"/>
              </a:rPr>
              <a:t>기초재고는 매장재고 </a:t>
            </a:r>
            <a:r>
              <a:rPr lang="en-US" altLang="ko-KR" sz="1100" dirty="0" smtClean="0">
                <a:latin typeface="+mn-ea"/>
                <a:ea typeface="+mn-ea"/>
              </a:rPr>
              <a:t>+ </a:t>
            </a:r>
            <a:r>
              <a:rPr lang="ko-KR" altLang="en-US" sz="1100" dirty="0" smtClean="0">
                <a:latin typeface="+mn-ea"/>
                <a:ea typeface="+mn-ea"/>
              </a:rPr>
              <a:t>창고재고의 수량과 금액이며 매장재고의 기초 수량에 전월 수불단가를 곱하여 계산한다</a:t>
            </a:r>
            <a:r>
              <a:rPr lang="en-US" altLang="ko-KR" sz="1100" dirty="0" smtClean="0">
                <a:latin typeface="+mn-ea"/>
                <a:ea typeface="+mn-ea"/>
              </a:rPr>
              <a:t>.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8" name="AutoShape 46"/>
          <p:cNvSpPr>
            <a:spLocks noChangeArrowheads="1"/>
          </p:cNvSpPr>
          <p:nvPr/>
        </p:nvSpPr>
        <p:spPr bwMode="gray">
          <a:xfrm>
            <a:off x="272480" y="2533744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err="1" smtClean="0">
                <a:solidFill>
                  <a:srgbClr val="000000"/>
                </a:solidFill>
                <a:latin typeface="+mn-ea"/>
                <a:ea typeface="+mn-ea"/>
              </a:rPr>
              <a:t>당월매입만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 존재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3439554" y="3609019"/>
            <a:ext cx="585065" cy="144015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66" y="3203974"/>
            <a:ext cx="4862939" cy="1845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8598405" y="4194084"/>
            <a:ext cx="517558" cy="85509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713336"/>
              </p:ext>
            </p:extLst>
          </p:nvPr>
        </p:nvGraphicFramePr>
        <p:xfrm>
          <a:off x="285528" y="5231890"/>
          <a:ext cx="4712477" cy="112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6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244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5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750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5509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249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기초수량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기초원가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입고수량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입고원가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 smtClean="0">
                          <a:effectLst/>
                          <a:latin typeface="+mn-ea"/>
                          <a:ea typeface="+mn-ea"/>
                        </a:rPr>
                        <a:t>당월수불단가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500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21,094,694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DBL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699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29,490,382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IV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599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25,271,444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RD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393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16,580,430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89"/>
          <p:cNvSpPr txBox="1">
            <a:spLocks noChangeArrowheads="1"/>
          </p:cNvSpPr>
          <p:nvPr/>
        </p:nvSpPr>
        <p:spPr bwMode="auto">
          <a:xfrm>
            <a:off x="5178025" y="5403210"/>
            <a:ext cx="4318065" cy="77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기초수량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기초원가가 없는 것으로 보아 당월</a:t>
            </a:r>
            <a:r>
              <a:rPr lang="en-US" altLang="ko-KR" sz="1000" dirty="0" smtClean="0">
                <a:latin typeface="+mn-ea"/>
                <a:ea typeface="+mn-ea"/>
              </a:rPr>
              <a:t>(2016</a:t>
            </a:r>
            <a:r>
              <a:rPr lang="ko-KR" altLang="en-US" sz="1000" dirty="0" smtClean="0">
                <a:latin typeface="+mn-ea"/>
                <a:ea typeface="+mn-ea"/>
              </a:rPr>
              <a:t>년</a:t>
            </a:r>
            <a:r>
              <a:rPr lang="en-US" altLang="ko-KR" sz="1000" dirty="0" smtClean="0">
                <a:latin typeface="+mn-ea"/>
                <a:ea typeface="+mn-ea"/>
              </a:rPr>
              <a:t>10</a:t>
            </a:r>
            <a:r>
              <a:rPr lang="ko-KR" altLang="en-US" sz="1000" dirty="0" smtClean="0">
                <a:latin typeface="+mn-ea"/>
                <a:ea typeface="+mn-ea"/>
              </a:rPr>
              <a:t>월</a:t>
            </a:r>
            <a:r>
              <a:rPr lang="en-US" altLang="ko-KR" sz="1000" dirty="0" smtClean="0">
                <a:latin typeface="+mn-ea"/>
                <a:ea typeface="+mn-ea"/>
              </a:rPr>
              <a:t>) </a:t>
            </a:r>
            <a:r>
              <a:rPr lang="ko-KR" altLang="en-US" sz="1000" dirty="0" smtClean="0">
                <a:latin typeface="+mn-ea"/>
                <a:ea typeface="+mn-ea"/>
              </a:rPr>
              <a:t>최초 입고된</a:t>
            </a:r>
            <a:endParaRPr lang="en-US" altLang="ko-KR" sz="1000" dirty="0" smtClean="0"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제품으로 당월 수불원가는 입고원가 </a:t>
            </a:r>
            <a:r>
              <a:rPr lang="en-US" altLang="ko-KR" sz="1000" dirty="0" smtClean="0">
                <a:latin typeface="+mn-ea"/>
                <a:ea typeface="+mn-ea"/>
              </a:rPr>
              <a:t>/ </a:t>
            </a:r>
            <a:r>
              <a:rPr lang="ko-KR" altLang="en-US" sz="1000" dirty="0" smtClean="0">
                <a:latin typeface="+mn-ea"/>
                <a:ea typeface="+mn-ea"/>
              </a:rPr>
              <a:t>입고 수량으로 당월 수불단가가 산정 됨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  <a:r>
              <a:rPr lang="ko-KR" altLang="en-US" sz="1000" dirty="0" smtClean="0">
                <a:latin typeface="+mn-ea"/>
                <a:ea typeface="+mn-ea"/>
              </a:rPr>
              <a:t> 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2866296" y="5190135"/>
            <a:ext cx="2176714" cy="120919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19" name="사각형 설명선 18"/>
          <p:cNvSpPr/>
          <p:nvPr/>
        </p:nvSpPr>
        <p:spPr>
          <a:xfrm>
            <a:off x="5764006" y="1886204"/>
            <a:ext cx="3029457" cy="340867"/>
          </a:xfrm>
          <a:prstGeom prst="wedgeRectCallout">
            <a:avLst>
              <a:gd name="adj1" fmla="val -63563"/>
              <a:gd name="adj2" fmla="val 2677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과거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지오지아에서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800" b="1" kern="0" dirty="0" err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앤드지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브랜드 분리 시 사용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미사용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21" name="Text Box 121"/>
          <p:cNvSpPr txBox="1">
            <a:spLocks noChangeArrowheads="1"/>
          </p:cNvSpPr>
          <p:nvPr/>
        </p:nvSpPr>
        <p:spPr bwMode="gray">
          <a:xfrm>
            <a:off x="1667635" y="733508"/>
            <a:ext cx="3060340" cy="2154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패션시스템 교육자료 엑셀파일 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– </a:t>
            </a:r>
            <a:r>
              <a:rPr lang="ko-KR" altLang="en-US" sz="800" dirty="0" err="1" smtClean="0">
                <a:solidFill>
                  <a:schemeClr val="tx2"/>
                </a:solidFill>
                <a:latin typeface="+mn-ea"/>
                <a:ea typeface="+mn-ea"/>
              </a:rPr>
              <a:t>제품수불부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_</a:t>
            </a:r>
            <a:r>
              <a:rPr lang="ko-KR" altLang="en-US" sz="800" dirty="0" smtClean="0">
                <a:solidFill>
                  <a:schemeClr val="tx2"/>
                </a:solidFill>
                <a:latin typeface="+mn-ea"/>
                <a:ea typeface="+mn-ea"/>
              </a:rPr>
              <a:t>예시 탭 참고</a:t>
            </a:r>
            <a:r>
              <a:rPr lang="en-US" altLang="ko-KR" sz="800" dirty="0" smtClean="0">
                <a:solidFill>
                  <a:schemeClr val="tx2"/>
                </a:solidFill>
                <a:latin typeface="+mn-ea"/>
                <a:ea typeface="+mn-ea"/>
              </a:rPr>
              <a:t>)</a:t>
            </a:r>
            <a:endParaRPr lang="en-US" altLang="ko-KR" sz="8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102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제품수불 설명</a:t>
            </a: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수불단가 계산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50" name="AutoShape 46"/>
          <p:cNvSpPr>
            <a:spLocks noChangeArrowheads="1"/>
          </p:cNvSpPr>
          <p:nvPr/>
        </p:nvSpPr>
        <p:spPr bwMode="gray">
          <a:xfrm>
            <a:off x="272480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수불원가적용 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003467"/>
              </p:ext>
            </p:extLst>
          </p:nvPr>
        </p:nvGraphicFramePr>
        <p:xfrm>
          <a:off x="285528" y="1490535"/>
          <a:ext cx="4712477" cy="112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6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244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5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7507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5509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249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기초수량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기초원가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입고수량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입고원가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err="1">
                          <a:effectLst/>
                          <a:latin typeface="+mn-ea"/>
                          <a:ea typeface="+mn-ea"/>
                        </a:rPr>
                        <a:t>당월수불원가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500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21,094,694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DBL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699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29,490,382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IV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599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25,271,444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249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+mn-ea"/>
                          <a:ea typeface="+mn-ea"/>
                        </a:rPr>
                        <a:t>RD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393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16,580,430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097904" y="1448780"/>
            <a:ext cx="945105" cy="120919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98" y="2753925"/>
            <a:ext cx="9429750" cy="2276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4592960" y="3519011"/>
            <a:ext cx="5039420" cy="121513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06695"/>
              </p:ext>
            </p:extLst>
          </p:nvPr>
        </p:nvGraphicFramePr>
        <p:xfrm>
          <a:off x="231774" y="4869160"/>
          <a:ext cx="8755690" cy="791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5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68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60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6256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284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96256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6256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6256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501739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28922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89845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539076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</a:tblGrid>
              <a:tr h="13188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기초재고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8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1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18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500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21,094,694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84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3,543,909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281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11,855,218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18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DBL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699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29,490,382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112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4,725,211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260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10,969,241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18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IV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599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25,271,444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112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4,725,212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250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10,547,347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188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RD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393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16,580,430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84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3,543,909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243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10,252,022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92" marR="8792" marT="8792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032489"/>
              </p:ext>
            </p:extLst>
          </p:nvPr>
        </p:nvGraphicFramePr>
        <p:xfrm>
          <a:off x="249864" y="5714828"/>
          <a:ext cx="9382514" cy="776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2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2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8853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61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7072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6508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9011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45005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9505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9011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95055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9001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495055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73933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1250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8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창고재고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기말재고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수불원가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2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2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BK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126,568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135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5,695,567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413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17,424,217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2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DBL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210,947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327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13,795,930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582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24,554,224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2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IV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84,379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237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9,998,885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485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20,461,854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2506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MKW4JP5902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+mn-ea"/>
                          <a:ea typeface="+mn-ea"/>
                        </a:rPr>
                        <a:t>RD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168,758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66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2,784,500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305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>
                          <a:effectLst/>
                          <a:latin typeface="+mn-ea"/>
                          <a:ea typeface="+mn-ea"/>
                        </a:rPr>
                        <a:t>12,867,764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u="none" strike="noStrike" dirty="0">
                          <a:effectLst/>
                          <a:latin typeface="+mn-ea"/>
                          <a:ea typeface="+mn-ea"/>
                        </a:rPr>
                        <a:t>42,189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500" marR="7500" marT="750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4513202" y="5675531"/>
            <a:ext cx="486363" cy="85151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6475873" y="5707071"/>
            <a:ext cx="486363" cy="79169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8501098" y="4869160"/>
            <a:ext cx="486363" cy="162960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6465711" y="4869160"/>
            <a:ext cx="486363" cy="79169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cxnSp>
        <p:nvCxnSpPr>
          <p:cNvPr id="3" name="직선 화살표 연결선 2"/>
          <p:cNvCxnSpPr>
            <a:stCxn id="22" idx="2"/>
          </p:cNvCxnSpPr>
          <p:nvPr/>
        </p:nvCxnSpPr>
        <p:spPr bwMode="auto">
          <a:xfrm>
            <a:off x="4570457" y="2657975"/>
            <a:ext cx="1552673" cy="221118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1257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48" y="1385049"/>
            <a:ext cx="4833368" cy="269997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7594"/>
            <a:ext cx="4499392" cy="2707430"/>
          </a:xfrm>
          <a:prstGeom prst="rect">
            <a:avLst/>
          </a:prstGeom>
        </p:spPr>
      </p:pic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</a:t>
            </a:r>
            <a:r>
              <a:rPr lang="en-US" altLang="ko-KR" dirty="0" smtClean="0">
                <a:latin typeface="+mn-ea"/>
                <a:ea typeface="+mn-ea"/>
              </a:rPr>
              <a:t>. </a:t>
            </a:r>
            <a:r>
              <a:rPr lang="ko-KR" altLang="en-US" dirty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 smtClean="0">
                <a:latin typeface="+mn-ea"/>
                <a:ea typeface="+mn-ea"/>
              </a:rPr>
              <a:t>제품수불설명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3.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수불단가 계산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18" name="AutoShape 46"/>
          <p:cNvSpPr>
            <a:spLocks noChangeArrowheads="1"/>
          </p:cNvSpPr>
          <p:nvPr/>
        </p:nvSpPr>
        <p:spPr bwMode="gray">
          <a:xfrm>
            <a:off x="255756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err="1" smtClean="0">
                <a:solidFill>
                  <a:srgbClr val="000000"/>
                </a:solidFill>
                <a:latin typeface="+mn-ea"/>
                <a:ea typeface="+mn-ea"/>
              </a:rPr>
              <a:t>전월재고존재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2117685" y="2573906"/>
            <a:ext cx="2025225" cy="144016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8778425" y="2528900"/>
            <a:ext cx="810090" cy="1485166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2" name="TextBox 89"/>
          <p:cNvSpPr txBox="1">
            <a:spLocks noChangeArrowheads="1"/>
          </p:cNvSpPr>
          <p:nvPr/>
        </p:nvSpPr>
        <p:spPr bwMode="auto">
          <a:xfrm>
            <a:off x="317502" y="5898265"/>
            <a:ext cx="9045988" cy="5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dirty="0" smtClean="0">
                <a:latin typeface="+mn-ea"/>
                <a:ea typeface="+mn-ea"/>
              </a:rPr>
              <a:t>- </a:t>
            </a:r>
            <a:r>
              <a:rPr lang="ko-KR" altLang="en-US" sz="1000" dirty="0" smtClean="0">
                <a:latin typeface="+mn-ea"/>
                <a:ea typeface="+mn-ea"/>
              </a:rPr>
              <a:t>기초수량</a:t>
            </a:r>
            <a:r>
              <a:rPr lang="en-US" altLang="ko-KR" sz="1000" dirty="0" smtClean="0">
                <a:latin typeface="+mn-ea"/>
                <a:ea typeface="+mn-ea"/>
              </a:rPr>
              <a:t>, </a:t>
            </a:r>
            <a:r>
              <a:rPr lang="ko-KR" altLang="en-US" sz="1000" dirty="0" smtClean="0">
                <a:latin typeface="+mn-ea"/>
                <a:ea typeface="+mn-ea"/>
              </a:rPr>
              <a:t>기초원가가 있고 당월 </a:t>
            </a:r>
            <a:r>
              <a:rPr lang="ko-KR" altLang="en-US" sz="1000" dirty="0" err="1" smtClean="0">
                <a:latin typeface="+mn-ea"/>
                <a:ea typeface="+mn-ea"/>
              </a:rPr>
              <a:t>입고분이</a:t>
            </a:r>
            <a:r>
              <a:rPr lang="ko-KR" altLang="en-US" sz="1000" dirty="0" smtClean="0">
                <a:latin typeface="+mn-ea"/>
                <a:ea typeface="+mn-ea"/>
              </a:rPr>
              <a:t> 발생하여 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기초원가 </a:t>
            </a:r>
            <a:r>
              <a:rPr lang="en-US" altLang="ko-KR" sz="1000" dirty="0" smtClean="0">
                <a:latin typeface="+mn-ea"/>
                <a:ea typeface="+mn-ea"/>
              </a:rPr>
              <a:t>+ </a:t>
            </a:r>
            <a:r>
              <a:rPr lang="ko-KR" altLang="en-US" sz="1000" dirty="0" err="1" smtClean="0">
                <a:latin typeface="+mn-ea"/>
                <a:ea typeface="+mn-ea"/>
              </a:rPr>
              <a:t>당월입고금액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r>
              <a:rPr lang="ko-KR" altLang="en-US" sz="1000" dirty="0" smtClean="0">
                <a:latin typeface="+mn-ea"/>
                <a:ea typeface="+mn-ea"/>
              </a:rPr>
              <a:t>  </a:t>
            </a:r>
            <a:r>
              <a:rPr lang="en-US" altLang="ko-KR" sz="1000" dirty="0" smtClean="0">
                <a:latin typeface="+mn-ea"/>
                <a:ea typeface="+mn-ea"/>
              </a:rPr>
              <a:t>/ (</a:t>
            </a:r>
            <a:r>
              <a:rPr lang="ko-KR" altLang="en-US" sz="1000" dirty="0" smtClean="0">
                <a:latin typeface="+mn-ea"/>
                <a:ea typeface="+mn-ea"/>
              </a:rPr>
              <a:t>기초수량 </a:t>
            </a:r>
            <a:r>
              <a:rPr lang="en-US" altLang="ko-KR" sz="1000" dirty="0" smtClean="0">
                <a:latin typeface="+mn-ea"/>
                <a:ea typeface="+mn-ea"/>
              </a:rPr>
              <a:t>+ </a:t>
            </a:r>
            <a:r>
              <a:rPr lang="ko-KR" altLang="en-US" sz="1000" dirty="0" smtClean="0">
                <a:latin typeface="+mn-ea"/>
                <a:ea typeface="+mn-ea"/>
              </a:rPr>
              <a:t>입고수량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r>
              <a:rPr lang="ko-KR" altLang="en-US" sz="1000" dirty="0" smtClean="0">
                <a:latin typeface="+mn-ea"/>
                <a:ea typeface="+mn-ea"/>
              </a:rPr>
              <a:t>으로 각 당월 수불단가를 계산한다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r>
              <a:rPr lang="en-US" altLang="ko-KR" sz="1000" dirty="0" smtClean="0">
                <a:latin typeface="+mn-ea"/>
                <a:ea typeface="+mn-ea"/>
              </a:rPr>
              <a:t>- </a:t>
            </a:r>
            <a:r>
              <a:rPr lang="ko-KR" altLang="en-US" sz="1000" dirty="0" smtClean="0">
                <a:latin typeface="+mn-ea"/>
                <a:ea typeface="+mn-ea"/>
              </a:rPr>
              <a:t>만일 이체에 대한 수량과 금액이 있다면 이체 내역을 포함 하여 계산 한다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r>
              <a:rPr lang="en-US" altLang="ko-KR" sz="1000" dirty="0" smtClean="0">
                <a:latin typeface="+mn-ea"/>
                <a:ea typeface="+mn-ea"/>
              </a:rPr>
              <a:t>- </a:t>
            </a:r>
            <a:r>
              <a:rPr lang="ko-KR" altLang="en-US" sz="1000" dirty="0" smtClean="0">
                <a:latin typeface="+mn-ea"/>
                <a:ea typeface="+mn-ea"/>
              </a:rPr>
              <a:t>매장재고의 기초금액은 </a:t>
            </a:r>
            <a:r>
              <a:rPr lang="ko-KR" altLang="en-US" sz="1000" dirty="0" err="1" smtClean="0">
                <a:latin typeface="+mn-ea"/>
                <a:ea typeface="+mn-ea"/>
              </a:rPr>
              <a:t>매장별</a:t>
            </a:r>
            <a:r>
              <a:rPr lang="ko-KR" altLang="en-US" sz="1000" dirty="0" smtClean="0">
                <a:latin typeface="+mn-ea"/>
                <a:ea typeface="+mn-ea"/>
              </a:rPr>
              <a:t> 공급금액으로 매장재고의 원가가 아님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  <a:endParaRPr lang="en-US" altLang="ko-KR" sz="1000" dirty="0">
              <a:latin typeface="+mn-ea"/>
              <a:ea typeface="+mn-ea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006503"/>
              </p:ext>
            </p:extLst>
          </p:nvPr>
        </p:nvGraphicFramePr>
        <p:xfrm>
          <a:off x="285090" y="4123125"/>
          <a:ext cx="9184106" cy="18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643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355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429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42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4299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00574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9532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9532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2216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69826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76768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1800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제품월수불전월재고현황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매장재고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입고내역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기초 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 err="1">
                          <a:effectLst/>
                          <a:latin typeface="+mn-ea"/>
                          <a:ea typeface="+mn-ea"/>
                        </a:rPr>
                        <a:t>당월수불원가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00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기초수량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기초원가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기초수량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매장</a:t>
                      </a:r>
                      <a:r>
                        <a:rPr lang="en-US" altLang="ko-KR" sz="9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기초원가</a:t>
                      </a:r>
                      <a:r>
                        <a:rPr lang="en-US" altLang="ko-KR" sz="9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strike="noStrike" dirty="0" smtClean="0">
                          <a:effectLst/>
                          <a:latin typeface="+mn-ea"/>
                          <a:ea typeface="+mn-ea"/>
                        </a:rPr>
                        <a:t>매장</a:t>
                      </a:r>
                      <a:r>
                        <a:rPr lang="en-US" altLang="ko-KR" sz="900" b="1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입고수량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입고원가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7,165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43,605,927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17,409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105,950,536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47,591,536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197,147,999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BNV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7,885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47,959,023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19,485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118,513,832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49,941,736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35,870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216,414,591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48,602,708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21,191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128,855,246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10,100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59,342,533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39,284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236,800,487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9,576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58,197,538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25,134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152,750,306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70,505,980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46,710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281,453,824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42,703,254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18,027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109,628,533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8,307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48,807,764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33,356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201,139,551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9,973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60,623,388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23,434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142,449,462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64,630,481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44,407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267,703,331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LYE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32,189,328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11,690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71,159,843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103,349,171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0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5,995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36,484,263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16,313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99,277,360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7,112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41,786,544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29,420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177,548,167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6,035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사각형 설명선 15"/>
          <p:cNvSpPr/>
          <p:nvPr/>
        </p:nvSpPr>
        <p:spPr>
          <a:xfrm>
            <a:off x="4978259" y="6148473"/>
            <a:ext cx="2585032" cy="340867"/>
          </a:xfrm>
          <a:prstGeom prst="wedgeRectCallout">
            <a:avLst>
              <a:gd name="adj1" fmla="val -65195"/>
              <a:gd name="adj2" fmla="val 74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기초원가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 =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기초수량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매장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 *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전월 수불단가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783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제품수불설명</a:t>
            </a: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출고원가 조정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18" name="AutoShape 46"/>
          <p:cNvSpPr>
            <a:spLocks noChangeArrowheads="1"/>
          </p:cNvSpPr>
          <p:nvPr/>
        </p:nvSpPr>
        <p:spPr bwMode="gray">
          <a:xfrm>
            <a:off x="255756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err="1" smtClean="0">
                <a:solidFill>
                  <a:srgbClr val="000000"/>
                </a:solidFill>
                <a:latin typeface="+mn-ea"/>
                <a:ea typeface="+mn-ea"/>
              </a:rPr>
              <a:t>전월재고존재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04062"/>
              </p:ext>
            </p:extLst>
          </p:nvPr>
        </p:nvGraphicFramePr>
        <p:xfrm>
          <a:off x="272480" y="1493783"/>
          <a:ext cx="9226020" cy="18752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01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475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768835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</a:tblGrid>
              <a:tr h="1875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기초재고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15,446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94,003,790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8,100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47,591,536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3,558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20,991,965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3,148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18,562,304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5,897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103,399,289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8,500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49,941,736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3,640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21,453,014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21,381,786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5,910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17,832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108,430,312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10,100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59,342,533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4,054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23,838,367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3,723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21,922,935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5,889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21,067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128,033,369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70,505,980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29,962,307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24,970,302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5,885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15,418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93,762,286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8,307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48,807,764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3,741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22,064,810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3,263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19,245,742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20,783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126,334,692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64,630,481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4,498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26,480,173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3,920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23,087,086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11,005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66,990,083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4,413,249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3,439,291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87521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13,733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83,576,043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7,112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41,786,544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3,122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18,405,206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2,751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16,208,788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5,892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6" name="타원 25"/>
          <p:cNvSpPr/>
          <p:nvPr/>
        </p:nvSpPr>
        <p:spPr>
          <a:xfrm>
            <a:off x="6636006" y="1808820"/>
            <a:ext cx="702260" cy="1649858"/>
          </a:xfrm>
          <a:prstGeom prst="ellipse">
            <a:avLst/>
          </a:prstGeom>
          <a:noFill/>
          <a:ln w="34925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766574"/>
              </p:ext>
            </p:extLst>
          </p:nvPr>
        </p:nvGraphicFramePr>
        <p:xfrm>
          <a:off x="272480" y="3542454"/>
          <a:ext cx="9226020" cy="14957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50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504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720084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510052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615068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3066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창고재고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기말재고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단가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수불단가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306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711" marR="8711" marT="8711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4,689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28,292,433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3,727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22,487,929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8,557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51,631,126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16,259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98,103,364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6,034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BNV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4,847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29,243,421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25,635,506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9,127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55,065,960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17,611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106,252,505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6,033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4,562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27,499,334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3,758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22,652,892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10,316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62,183,938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20,120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121,281,585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6,837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41,196,741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5,848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35,237,464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12,241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73,758,858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22,127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133,327,527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6,026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4,843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29,203,707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3,754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22,636,943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8,323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50,188,406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16,228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97,856,237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6,030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5,869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35,380,702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4,555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27,459,380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12,555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75,686,611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22,730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137,025,620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6,028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3,636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22,133,207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3,363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20,471,390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3,998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24,336,788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6,917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42,105,443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6,087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06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MKC4TC3001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21,122,318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2,572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15,521,886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7,234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43,656,813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15,151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91,435,495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6,035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타원 21"/>
          <p:cNvSpPr/>
          <p:nvPr/>
        </p:nvSpPr>
        <p:spPr>
          <a:xfrm>
            <a:off x="8956090" y="1808820"/>
            <a:ext cx="702260" cy="1649858"/>
          </a:xfrm>
          <a:prstGeom prst="ellipse">
            <a:avLst/>
          </a:prstGeom>
          <a:noFill/>
          <a:ln w="34925">
            <a:solidFill>
              <a:schemeClr val="accent1"/>
            </a:solidFill>
          </a:ln>
        </p:spPr>
        <p:txBody>
          <a:bodyPr wrap="square" rtlCol="0" anchor="ctr">
            <a:noAutofit/>
          </a:bodyPr>
          <a:lstStyle/>
          <a:p>
            <a:pPr marL="268288" indent="-215900" algn="ctr">
              <a:spcBef>
                <a:spcPct val="20000"/>
              </a:spcBef>
              <a:buClr>
                <a:srgbClr val="FFD200"/>
              </a:buClr>
              <a:buSzPct val="75000"/>
            </a:pPr>
            <a:endParaRPr lang="ko-KR" altLang="en-US" sz="1200" b="1" kern="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8904013" y="3542454"/>
            <a:ext cx="616569" cy="149570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8" name="Rectangle 4"/>
          <p:cNvSpPr>
            <a:spLocks noChangeArrowheads="1"/>
          </p:cNvSpPr>
          <p:nvPr/>
        </p:nvSpPr>
        <p:spPr bwMode="auto">
          <a:xfrm>
            <a:off x="6438165" y="3535157"/>
            <a:ext cx="616569" cy="149570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4606461" y="3542454"/>
            <a:ext cx="616569" cy="149570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2761256" y="3542454"/>
            <a:ext cx="616569" cy="149570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331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제품수불</a:t>
            </a: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1. </a:t>
            </a:r>
            <a:r>
              <a:rPr lang="ko-KR" altLang="en-US" dirty="0">
                <a:latin typeface="+mn-ea"/>
                <a:ea typeface="+mn-ea"/>
              </a:rPr>
              <a:t>제품수불설명</a:t>
            </a:r>
          </a:p>
        </p:txBody>
      </p:sp>
      <p:sp>
        <p:nvSpPr>
          <p:cNvPr id="96" name="내용 개체 틀 15"/>
          <p:cNvSpPr txBox="1">
            <a:spLocks/>
          </p:cNvSpPr>
          <p:nvPr/>
        </p:nvSpPr>
        <p:spPr bwMode="gray">
          <a:xfrm>
            <a:off x="272480" y="674407"/>
            <a:ext cx="9359900" cy="307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8" rIns="91434" bIns="45718" numCol="1" anchor="t" anchorCtr="0" compatLnSpc="1">
            <a:prstTxWarp prst="textNoShape">
              <a:avLst/>
            </a:prstTxWarp>
            <a:spAutoFit/>
          </a:bodyPr>
          <a:lstStyle>
            <a:lvl1pPr marL="0" marR="0" indent="0" algn="l" defTabSz="91434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Tx/>
              <a:buNone/>
              <a:tabLst/>
              <a:defRPr sz="1400" b="0" baseline="0">
                <a:solidFill>
                  <a:schemeClr val="tx1">
                    <a:lumMod val="50000"/>
                  </a:schemeClr>
                </a:solidFill>
                <a:latin typeface="JBold" pitchFamily="18" charset="-127"/>
                <a:ea typeface="JBold" pitchFamily="18" charset="-127"/>
                <a:cs typeface="JBold" pitchFamily="18" charset="-127"/>
              </a:defRPr>
            </a:lvl1pPr>
            <a:lvl2pPr marL="268271" indent="-215887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chemeClr val="accent1">
                  <a:lumMod val="75000"/>
                </a:schemeClr>
              </a:buClr>
              <a:buSzPct val="75000"/>
              <a:buFont typeface="Wingdings" pitchFamily="2" charset="2"/>
              <a:buChar char="§"/>
              <a:defRPr sz="1200" baseline="0">
                <a:solidFill>
                  <a:schemeClr val="tx1">
                    <a:lumMod val="50000"/>
                  </a:schemeClr>
                </a:solidFill>
                <a:latin typeface="+mn-ea"/>
                <a:ea typeface="+mn-ea"/>
                <a:cs typeface="JBold" pitchFamily="18" charset="-127"/>
              </a:defRPr>
            </a:lvl2pPr>
            <a:lvl3pPr marL="539966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•"/>
              <a:defRPr sz="14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 marL="809949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–"/>
              <a:defRPr sz="1400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4pPr>
            <a:lvl5pPr marL="1079932" indent="-215986" algn="l" rtl="0" eaLnBrk="0" fontAlgn="base" latinLnBrk="0" hangingPunct="0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»"/>
              <a:defRPr sz="1200" b="1" baseline="0">
                <a:solidFill>
                  <a:schemeClr val="tx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5pPr>
            <a:lvl6pPr marL="2257282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6pPr>
            <a:lvl7pPr marL="2714453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7pPr>
            <a:lvl8pPr marL="3171625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8pPr>
            <a:lvl9pPr marL="3628796" indent="-357165" algn="l" rtl="0" eaLnBrk="1" fontAlgn="base" latinLnBrk="1" hangingPunct="1">
              <a:spcBef>
                <a:spcPct val="20000"/>
              </a:spcBef>
              <a:spcAft>
                <a:spcPct val="0"/>
              </a:spcAft>
              <a:buClr>
                <a:srgbClr val="FFD200"/>
              </a:buClr>
              <a:buSzPct val="75000"/>
              <a:buFont typeface="Arial" charset="0"/>
              <a:buChar char="►"/>
              <a:defRPr sz="1600">
                <a:solidFill>
                  <a:srgbClr val="646464"/>
                </a:solidFill>
                <a:latin typeface="+mn-lt"/>
              </a:defRPr>
            </a:lvl9pPr>
          </a:lstStyle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lang="en-US" altLang="ko-KR" dirty="0" smtClean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+mn-ea"/>
                <a:ea typeface="+mn-ea"/>
              </a:rPr>
              <a:t>출고원가 조정</a:t>
            </a:r>
            <a:endParaRPr lang="ko-KR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2" name="Rectangle 223"/>
          <p:cNvSpPr>
            <a:spLocks noChangeArrowheads="1"/>
          </p:cNvSpPr>
          <p:nvPr/>
        </p:nvSpPr>
        <p:spPr bwMode="auto">
          <a:xfrm>
            <a:off x="228600" y="1031528"/>
            <a:ext cx="9429750" cy="5457812"/>
          </a:xfrm>
          <a:prstGeom prst="rect">
            <a:avLst/>
          </a:prstGeom>
          <a:noFill/>
          <a:ln w="19050" algn="ctr">
            <a:solidFill>
              <a:srgbClr val="B2B2B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latinLnBrk="1">
              <a:lnSpc>
                <a:spcPct val="100000"/>
              </a:lnSpc>
            </a:pPr>
            <a:endParaRPr lang="ko-KR" altLang="ko-KR" sz="1100" b="0">
              <a:latin typeface="+mn-ea"/>
              <a:ea typeface="+mn-ea"/>
            </a:endParaRPr>
          </a:p>
        </p:txBody>
      </p:sp>
      <p:sp>
        <p:nvSpPr>
          <p:cNvPr id="18" name="AutoShape 46"/>
          <p:cNvSpPr>
            <a:spLocks noChangeArrowheads="1"/>
          </p:cNvSpPr>
          <p:nvPr/>
        </p:nvSpPr>
        <p:spPr bwMode="gray">
          <a:xfrm>
            <a:off x="255756" y="1043735"/>
            <a:ext cx="1119188" cy="360363"/>
          </a:xfrm>
          <a:prstGeom prst="bevel">
            <a:avLst>
              <a:gd name="adj" fmla="val 13634"/>
            </a:avLst>
          </a:prstGeom>
          <a:gradFill rotWithShape="0">
            <a:gsLst>
              <a:gs pos="0">
                <a:srgbClr val="FFFFFF"/>
              </a:gs>
              <a:gs pos="100000">
                <a:srgbClr val="D8E3C9"/>
              </a:gs>
            </a:gsLst>
            <a:path path="rect">
              <a:fillToRect l="50000" t="50000" r="50000" b="50000"/>
            </a:path>
          </a:gra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wrap="none" lIns="93485" tIns="46744" rIns="93485" bIns="46744" anchor="ctr"/>
          <a:lstStyle/>
          <a:p>
            <a:pPr algn="ctr" defTabSz="935038" eaLnBrk="1" latinLnBrk="1" hangingPunct="1">
              <a:lnSpc>
                <a:spcPct val="130000"/>
              </a:lnSpc>
              <a:spcAft>
                <a:spcPct val="20000"/>
              </a:spcAft>
            </a:pPr>
            <a:r>
              <a:rPr lang="ko-KR" altLang="en-US" sz="1000" b="1" dirty="0" err="1" smtClean="0">
                <a:solidFill>
                  <a:srgbClr val="000000"/>
                </a:solidFill>
                <a:latin typeface="+mn-ea"/>
                <a:ea typeface="+mn-ea"/>
              </a:rPr>
              <a:t>전월재고존재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910522"/>
              </p:ext>
            </p:extLst>
          </p:nvPr>
        </p:nvGraphicFramePr>
        <p:xfrm>
          <a:off x="317485" y="1493785"/>
          <a:ext cx="8775973" cy="62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9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473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30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297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88621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473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8862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831697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5908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4738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+mn-ea"/>
                          <a:ea typeface="+mn-ea"/>
                        </a:rPr>
                        <a:t>기초재고</a:t>
                      </a:r>
                      <a:r>
                        <a:rPr lang="en-US" altLang="ko-KR" sz="1000" b="1" u="none" strike="noStrike" dirty="0" smtClean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 smtClean="0">
                          <a:effectLst/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1000" b="1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창고재고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기말재고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95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MKC4TC3001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BNV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7,885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8,500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3,640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3,618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4,847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4,249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9,127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17,611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7,885(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기초재고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창고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))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8,500(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) -7,258(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) + 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))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9,127(</a:t>
                      </a:r>
                      <a:r>
                        <a:rPr lang="ko-KR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창고재고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83667"/>
              </p:ext>
            </p:extLst>
          </p:nvPr>
        </p:nvGraphicFramePr>
        <p:xfrm>
          <a:off x="317485" y="2245525"/>
          <a:ext cx="8775975" cy="733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72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7277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70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479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015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7277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0156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58462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706430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81009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제품코드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칼라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기초재고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입고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일반매장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직영</a:t>
                      </a:r>
                      <a:r>
                        <a:rPr lang="en-US" altLang="ko-KR" sz="1000" b="1" u="none" strike="noStrike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창고재고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>
                          <a:effectLst/>
                          <a:latin typeface="+mn-ea"/>
                          <a:ea typeface="+mn-ea"/>
                        </a:rPr>
                        <a:t>기말재고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 smtClean="0">
                          <a:effectLst/>
                          <a:latin typeface="+mn-ea"/>
                          <a:ea typeface="+mn-ea"/>
                        </a:rPr>
                        <a:t>수불단가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95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MKC4TC3001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BNV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47,959,023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49,941,736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21,453,014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21,381,786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29,243,421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25,635,506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55,065,960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106,252,505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6,033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5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47,959,023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49,941,736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– 42,834,800=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55,065,960</a:t>
                      </a:r>
                      <a:endParaRPr lang="en-US" altLang="ko-KR" sz="1000" b="1" u="none" strike="noStrike" dirty="0" smtClean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000" b="1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47,959,023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49,941,736</a:t>
                      </a:r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 – 43,787,514 </a:t>
                      </a: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en-US" altLang="ko-KR" sz="10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54,113,245      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출고 금액이 조정 된 금액 적용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출고 금액을 당월 수불 단가 적용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약 </a:t>
                      </a:r>
                      <a:r>
                        <a:rPr lang="en-US" altLang="ko-KR" sz="1000" b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952,715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원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차이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89"/>
          <p:cNvSpPr txBox="1">
            <a:spLocks noChangeArrowheads="1"/>
          </p:cNvSpPr>
          <p:nvPr/>
        </p:nvSpPr>
        <p:spPr bwMode="auto">
          <a:xfrm>
            <a:off x="510482" y="3102039"/>
            <a:ext cx="8865985" cy="154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각 항목별 수불 단가를 확인 하면 당월 수불단가와 동일 하나 </a:t>
            </a:r>
            <a:r>
              <a:rPr lang="ko-KR" altLang="en-US" sz="1000" dirty="0" smtClean="0">
                <a:solidFill>
                  <a:schemeClr val="tx2"/>
                </a:solidFill>
                <a:latin typeface="+mn-ea"/>
                <a:ea typeface="+mn-ea"/>
              </a:rPr>
              <a:t>출고 관련 단가는 수불 단가와 차이</a:t>
            </a:r>
            <a:r>
              <a:rPr lang="ko-KR" altLang="en-US" sz="1000" dirty="0" smtClean="0">
                <a:latin typeface="+mn-ea"/>
                <a:ea typeface="+mn-ea"/>
              </a:rPr>
              <a:t>가 나는 것을 확인 할 수 있다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출고 단가가 차이 나는 원인은 당월 입고된 내역이 수불단가와 동일하면 문제 없지만 수불단가와 차이 나는 금액을 조정 처리 하기 때문이다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당월 입고 단가 </a:t>
            </a:r>
            <a:r>
              <a:rPr lang="en-US" altLang="ko-KR" sz="1000" dirty="0" smtClean="0">
                <a:latin typeface="+mn-ea"/>
                <a:ea typeface="+mn-ea"/>
                <a:sym typeface="Wingdings" pitchFamily="2" charset="2"/>
              </a:rPr>
              <a:t> 5,875</a:t>
            </a:r>
            <a:r>
              <a:rPr lang="ko-KR" altLang="en-US" sz="1000" dirty="0" smtClean="0">
                <a:latin typeface="+mn-ea"/>
                <a:ea typeface="+mn-ea"/>
                <a:sym typeface="Wingdings" pitchFamily="2" charset="2"/>
              </a:rPr>
              <a:t>원</a:t>
            </a:r>
            <a:endParaRPr lang="en-US" altLang="ko-KR" sz="1000" dirty="0"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보편적으로 재고는 기초 </a:t>
            </a:r>
            <a:r>
              <a:rPr lang="en-US" altLang="ko-KR" sz="1000" dirty="0" smtClean="0">
                <a:latin typeface="+mn-ea"/>
                <a:ea typeface="+mn-ea"/>
              </a:rPr>
              <a:t>+ </a:t>
            </a:r>
            <a:r>
              <a:rPr lang="ko-KR" altLang="en-US" sz="1000" dirty="0" smtClean="0">
                <a:latin typeface="+mn-ea"/>
                <a:ea typeface="+mn-ea"/>
              </a:rPr>
              <a:t>입고 </a:t>
            </a:r>
            <a:r>
              <a:rPr lang="en-US" altLang="ko-KR" sz="1000" dirty="0" smtClean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자가소모 </a:t>
            </a:r>
            <a:r>
              <a:rPr lang="en-US" altLang="ko-KR" sz="1000" dirty="0" smtClean="0">
                <a:latin typeface="+mn-ea"/>
                <a:ea typeface="+mn-ea"/>
              </a:rPr>
              <a:t>– </a:t>
            </a:r>
            <a:r>
              <a:rPr lang="ko-KR" altLang="en-US" sz="1000" dirty="0" smtClean="0">
                <a:latin typeface="+mn-ea"/>
                <a:ea typeface="+mn-ea"/>
              </a:rPr>
              <a:t>판매 </a:t>
            </a:r>
            <a:r>
              <a:rPr lang="en-US" altLang="ko-KR" sz="1000" dirty="0" smtClean="0">
                <a:latin typeface="+mn-ea"/>
                <a:ea typeface="+mn-ea"/>
              </a:rPr>
              <a:t>= </a:t>
            </a:r>
            <a:r>
              <a:rPr lang="ko-KR" altLang="en-US" sz="1000" dirty="0" smtClean="0">
                <a:latin typeface="+mn-ea"/>
                <a:ea typeface="+mn-ea"/>
              </a:rPr>
              <a:t>재고로 계산 되고 있고 수량은 해당 수식에 전혀 문제 없지만 금액은 해당 공식을 적용 할 경우 </a:t>
            </a:r>
            <a:endParaRPr lang="en-US" altLang="ko-KR" sz="1000" dirty="0" smtClean="0"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당월 수불단가와 차이가 난다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따라서 수불단가가 적용된 출고금액을 적용하는 것이 아니라 차이금액을 매출로 조정하여 기말</a:t>
            </a:r>
            <a:r>
              <a:rPr lang="en-US" altLang="ko-KR" sz="1000" dirty="0" smtClean="0">
                <a:latin typeface="+mn-ea"/>
                <a:ea typeface="+mn-ea"/>
              </a:rPr>
              <a:t>/</a:t>
            </a:r>
            <a:r>
              <a:rPr lang="ko-KR" altLang="en-US" sz="1000" dirty="0" smtClean="0">
                <a:latin typeface="+mn-ea"/>
                <a:ea typeface="+mn-ea"/>
              </a:rPr>
              <a:t>창고 재고금액을 당월 수불단가 </a:t>
            </a:r>
            <a:r>
              <a:rPr lang="en-US" altLang="ko-KR" sz="1000" dirty="0" smtClean="0">
                <a:latin typeface="+mn-ea"/>
                <a:ea typeface="+mn-ea"/>
              </a:rPr>
              <a:t>* </a:t>
            </a:r>
            <a:r>
              <a:rPr lang="ko-KR" altLang="en-US" sz="1000" dirty="0" smtClean="0">
                <a:latin typeface="+mn-ea"/>
                <a:ea typeface="+mn-ea"/>
              </a:rPr>
              <a:t>수량이 되도록 한다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</a:p>
          <a:p>
            <a:pPr eaLnBrk="1" hangingPunct="1"/>
            <a:endParaRPr lang="en-US" altLang="ko-KR" sz="1000" dirty="0">
              <a:latin typeface="+mn-ea"/>
              <a:ea typeface="+mn-ea"/>
            </a:endParaRPr>
          </a:p>
          <a:p>
            <a:pPr eaLnBrk="1" hangingPunct="1"/>
            <a:endParaRPr lang="en-US" altLang="ko-KR" sz="10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endParaRPr lang="en-US" altLang="ko-KR" sz="10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endParaRPr lang="en-US" altLang="ko-KR" sz="1000" dirty="0" smtClean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매출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=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출고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일반매장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) +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판매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(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  <a:ea typeface="+mn-ea"/>
              </a:rPr>
              <a:t>직영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  <a:ea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  <a:ea typeface="+mn-ea"/>
            </a:endParaRPr>
          </a:p>
          <a:p>
            <a:pPr eaLnBrk="1" hangingPunct="1"/>
            <a:r>
              <a:rPr lang="ko-KR" altLang="en-US" sz="1000" dirty="0" smtClean="0">
                <a:latin typeface="+mn-ea"/>
                <a:ea typeface="+mn-ea"/>
              </a:rPr>
              <a:t>출고</a:t>
            </a:r>
            <a:r>
              <a:rPr lang="en-US" altLang="ko-KR" sz="1000" dirty="0" smtClean="0">
                <a:latin typeface="+mn-ea"/>
                <a:ea typeface="+mn-ea"/>
              </a:rPr>
              <a:t>(</a:t>
            </a:r>
            <a:r>
              <a:rPr lang="ko-KR" altLang="en-US" sz="1000" dirty="0" smtClean="0">
                <a:latin typeface="+mn-ea"/>
                <a:ea typeface="+mn-ea"/>
              </a:rPr>
              <a:t>일반매장</a:t>
            </a:r>
            <a:r>
              <a:rPr lang="en-US" altLang="ko-KR" sz="1000" dirty="0" smtClean="0">
                <a:latin typeface="+mn-ea"/>
                <a:ea typeface="+mn-ea"/>
              </a:rPr>
              <a:t>)</a:t>
            </a:r>
            <a:r>
              <a:rPr lang="ko-KR" altLang="en-US" sz="1000" dirty="0" smtClean="0">
                <a:latin typeface="+mn-ea"/>
                <a:ea typeface="+mn-ea"/>
              </a:rPr>
              <a:t>은 매출로 인식 하고 있으며 향후 수불에 매출원가금액을 어떻게 관리 할 것인지는 </a:t>
            </a:r>
            <a:r>
              <a:rPr lang="ko-KR" altLang="en-US" sz="1000" dirty="0" err="1" smtClean="0">
                <a:latin typeface="+mn-ea"/>
                <a:ea typeface="+mn-ea"/>
              </a:rPr>
              <a:t>회계팀</a:t>
            </a:r>
            <a:r>
              <a:rPr lang="ko-KR" altLang="en-US" sz="1000" dirty="0" smtClean="0">
                <a:latin typeface="+mn-ea"/>
                <a:ea typeface="+mn-ea"/>
              </a:rPr>
              <a:t> 또는 관련 담당자 협의가 필요 함</a:t>
            </a:r>
            <a:r>
              <a:rPr lang="en-US" altLang="ko-KR" sz="1000" dirty="0" smtClean="0">
                <a:latin typeface="+mn-ea"/>
                <a:ea typeface="+mn-ea"/>
              </a:rPr>
              <a:t>.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" name="사각형 설명선 9"/>
          <p:cNvSpPr/>
          <p:nvPr/>
        </p:nvSpPr>
        <p:spPr>
          <a:xfrm>
            <a:off x="519356" y="5062699"/>
            <a:ext cx="5908652" cy="812431"/>
          </a:xfrm>
          <a:prstGeom prst="wedgeRectCallout">
            <a:avLst>
              <a:gd name="adj1" fmla="val -40976"/>
              <a:gd name="adj2" fmla="val 50946"/>
            </a:avLst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출고금액에 차이금액을 반영하는 이유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: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수불단가로 계산했을 때와 공식대로 계산했을 때 발생하는 차이금액도 매출원가에 포함시켜야 하기 때문에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매출원가에 계산에 포함되는 출고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일반매장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금액에 차이금액 반영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   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직영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은 금액 변동 시 월별 마감 이슈가 있기 때문에 출고로 처리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13" name="사각형 설명선 12"/>
          <p:cNvSpPr/>
          <p:nvPr/>
        </p:nvSpPr>
        <p:spPr>
          <a:xfrm>
            <a:off x="3466416" y="4181658"/>
            <a:ext cx="5908652" cy="340867"/>
          </a:xfrm>
          <a:prstGeom prst="wedgeRectCallout">
            <a:avLst>
              <a:gd name="adj1" fmla="val -38048"/>
              <a:gd name="adj2" fmla="val -7472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marL="268288" indent="-215900">
              <a:spcBef>
                <a:spcPct val="20000"/>
              </a:spcBef>
              <a:buClr>
                <a:srgbClr val="FFD200"/>
              </a:buClr>
              <a:buSzPct val="75000"/>
            </a:pP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*. ‘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 금액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=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기초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입고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자가소모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판매 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기말 금액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’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으로 역산해서 계산하여</a:t>
            </a:r>
            <a:r>
              <a:rPr lang="en-US" altLang="ko-KR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800" b="1" kern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출고금액에 차이금액이 포함되는 것 </a:t>
            </a:r>
            <a:endParaRPr lang="en-US" altLang="ko-KR" sz="800" b="1" kern="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63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CN_DEFAULTS_TEXT_BOX_FRAME" val="TXTF_WIDTH$True|TXTF_HEIGHT$True|TXTF_TOP$True|TXTF_LEFT$True|TXTF_FILL_COLOR$True|TXTF_LINE_WEIGHT$False|TXTF_LINE_STYLE$False|TXTF_LINE_COLOR$False|TXTF_MARGIN_TOP$False|TXTF_MARGIN_BOTTOM$False|TXTF_MARGIN_LEFT$False|TXTF_MARGIN_RIGHT$False|TXTF_WORD_WRAP$True|TXTF_FIT_SHAPE$False|TXTF_ROTATION$True|TXTF_ANCHOR_POINT$False"/>
  <p:tag name="ACN_DEFAULTS_TEXT_BOX_TEXTRANGE" val="TXT_BOLD$False|TXT_ITALIC$False|TXT_UNDERLINE$False|TXT_FONT_TYPE$True|TXT_FONT_SIZE$True|TXT_FONT_COLOR$True|TXT_SHADOW$False|TXT_SCRIPT$True"/>
  <p:tag name="ACN_DEFAULTS_TEXT_BOX_PARAGRAPH" val="PARA_ALIGNMENT$False|PARA_LINE_SPACING$False|PARA_BEFORE_PARAGRAPH$False|PARA_AFTER_PARAGRAPH$False"/>
  <p:tag name="ACN_DEFAULTS_TEXT_BOX_INDENTLEVEL" val="IND_PRESERVE$True|IND_False$False|IND_ADD$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BodyText"/>
  <p:tag name="DATE" val="2012-05-14 오전 10:15:57"/>
</p:tagLst>
</file>

<file path=ppt/theme/theme1.xml><?xml version="1.0" encoding="utf-8"?>
<a:theme xmlns:a="http://schemas.openxmlformats.org/drawingml/2006/main" name="경영정보팀 주간보고서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solidFill>
            <a:schemeClr val="accent1"/>
          </a:solidFill>
        </a:ln>
      </a:spPr>
      <a:bodyPr wrap="square" rtlCol="0" anchor="ctr">
        <a:noAutofit/>
      </a:bodyPr>
      <a:lstStyle>
        <a:defPPr marL="268288" indent="-215900" algn="ctr">
          <a:spcBef>
            <a:spcPct val="20000"/>
          </a:spcBef>
          <a:buClr>
            <a:srgbClr val="FFD200"/>
          </a:buClr>
          <a:buSzPct val="75000"/>
          <a:defRPr sz="1200" b="1" kern="0" dirty="0" smtClean="0">
            <a:solidFill>
              <a:schemeClr val="bg1"/>
            </a:solidFill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 marL="268288" indent="-215900">
          <a:spcBef>
            <a:spcPct val="20000"/>
          </a:spcBef>
          <a:buClr>
            <a:srgbClr val="FFD200"/>
          </a:buClr>
          <a:buSzPct val="75000"/>
          <a:buFont typeface="Arial" charset="0"/>
          <a:buChar char="►"/>
          <a:defRPr sz="1400" kern="0" dirty="0" smtClean="0">
            <a:solidFill>
              <a:srgbClr val="646464">
                <a:lumMod val="50000"/>
              </a:srgbClr>
            </a:solidFill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4799F8C061FF54FA9C3F03411021153" ma:contentTypeVersion="0" ma:contentTypeDescription="새 문서를 만듭니다." ma:contentTypeScope="" ma:versionID="785d639d16b9fcf75a50f3b6492efe30">
  <xsd:schema xmlns:xsd="http://www.w3.org/2001/XMLSchema" xmlns:p="http://schemas.microsoft.com/office/2006/metadata/properties" targetNamespace="http://schemas.microsoft.com/office/2006/metadata/properties" ma:root="true" ma:fieldsID="6d1ee5c80bf69a1ee28e268965e8a72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 ma:readOnly="true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8FE0ED-DF9C-4FBE-81BA-D32F2B2E97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E68AE160-D632-463C-AAE1-DFCBE262CDA4}">
  <ds:schemaRefs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096ECB2-C7A9-48BE-915A-90E7F0B570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61347</TotalTime>
  <Words>8486</Words>
  <Application>Microsoft Office PowerPoint</Application>
  <PresentationFormat>A4 용지(210x297mm)</PresentationFormat>
  <Paragraphs>2883</Paragraphs>
  <Slides>43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6" baseType="lpstr">
      <vt:lpstr>맑은 고딕</vt:lpstr>
      <vt:lpstr>나눔고딕 ExtraBold</vt:lpstr>
      <vt:lpstr>Arial</vt:lpstr>
      <vt:lpstr>Helvetica</vt:lpstr>
      <vt:lpstr>Wingdings</vt:lpstr>
      <vt:lpstr>돋움</vt:lpstr>
      <vt:lpstr>굴림체</vt:lpstr>
      <vt:lpstr>Calibri</vt:lpstr>
      <vt:lpstr>나눔고딕</vt:lpstr>
      <vt:lpstr>JBold</vt:lpstr>
      <vt:lpstr>Times New Roman</vt:lpstr>
      <vt:lpstr>굴림</vt:lpstr>
      <vt:lpstr>경영정보팀 주간보고서</vt:lpstr>
      <vt:lpstr>패션시스템</vt:lpstr>
      <vt:lpstr>1. 패션시스템 구성도</vt:lpstr>
      <vt:lpstr>2. 공통 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3. 정보관리</vt:lpstr>
      <vt:lpstr>4. 물류관리</vt:lpstr>
      <vt:lpstr>4. 물류관리</vt:lpstr>
      <vt:lpstr>4. 물류관리</vt:lpstr>
      <vt:lpstr>4. 물류관리</vt:lpstr>
      <vt:lpstr>4. 물류관리</vt:lpstr>
      <vt:lpstr>5. 영업관리</vt:lpstr>
      <vt:lpstr>6. 매장관리</vt:lpstr>
      <vt:lpstr>6. 매장관리</vt:lpstr>
      <vt:lpstr>6. 매장관리</vt:lpstr>
      <vt:lpstr>7. 주요데이터 흐름</vt:lpstr>
      <vt:lpstr>7. 주요데이터 흐름</vt:lpstr>
      <vt:lpstr>7. 주요데이터 흐름</vt:lpstr>
      <vt:lpstr>7. 주요데이터 흐름</vt:lpstr>
      <vt:lpstr>7. 주요데이터 흐름</vt:lpstr>
      <vt:lpstr>7. 주요데이터 흐름</vt:lpstr>
      <vt:lpstr>8.OLP 관리  현황 </vt:lpstr>
      <vt:lpstr>7. 주요데이터 흐름</vt:lpstr>
      <vt:lpstr>7. 주요데이터 흐름</vt:lpstr>
      <vt:lpstr>8.제품수불</vt:lpstr>
      <vt:lpstr>8. 제품수불</vt:lpstr>
      <vt:lpstr>8. 제품수불</vt:lpstr>
      <vt:lpstr>8. 제품수불</vt:lpstr>
      <vt:lpstr>8. 제품수불</vt:lpstr>
      <vt:lpstr>8. 제품수불</vt:lpstr>
      <vt:lpstr>8. 제품수불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패션시스템</dc:title>
  <dc:creator>Administrator</dc:creator>
  <dc:description/>
  <cp:lastModifiedBy>Microsoft 계정</cp:lastModifiedBy>
  <cp:revision>2621</cp:revision>
  <cp:lastPrinted>2016-03-16T07:17:05Z</cp:lastPrinted>
  <dcterms:created xsi:type="dcterms:W3CDTF">2010-03-03T04:03:39Z</dcterms:created>
  <dcterms:modified xsi:type="dcterms:W3CDTF">2023-02-02T00:42:06Z</dcterms:modified>
</cp:coreProperties>
</file>