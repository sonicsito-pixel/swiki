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6" r:id="rId2"/>
  </p:sldMasterIdLst>
  <p:notesMasterIdLst>
    <p:notesMasterId r:id="rId42"/>
  </p:notesMasterIdLst>
  <p:sldIdLst>
    <p:sldId id="256" r:id="rId3"/>
    <p:sldId id="351" r:id="rId4"/>
    <p:sldId id="369" r:id="rId5"/>
    <p:sldId id="370" r:id="rId6"/>
    <p:sldId id="371" r:id="rId7"/>
    <p:sldId id="372" r:id="rId8"/>
    <p:sldId id="373" r:id="rId9"/>
    <p:sldId id="364" r:id="rId10"/>
    <p:sldId id="365" r:id="rId11"/>
    <p:sldId id="378" r:id="rId12"/>
    <p:sldId id="374" r:id="rId13"/>
    <p:sldId id="375" r:id="rId14"/>
    <p:sldId id="376" r:id="rId15"/>
    <p:sldId id="377" r:id="rId16"/>
    <p:sldId id="357" r:id="rId17"/>
    <p:sldId id="366" r:id="rId18"/>
    <p:sldId id="358" r:id="rId19"/>
    <p:sldId id="362" r:id="rId20"/>
    <p:sldId id="359" r:id="rId21"/>
    <p:sldId id="367" r:id="rId22"/>
    <p:sldId id="360" r:id="rId23"/>
    <p:sldId id="363" r:id="rId24"/>
    <p:sldId id="368" r:id="rId25"/>
    <p:sldId id="379" r:id="rId26"/>
    <p:sldId id="388" r:id="rId27"/>
    <p:sldId id="389" r:id="rId28"/>
    <p:sldId id="390" r:id="rId29"/>
    <p:sldId id="391" r:id="rId30"/>
    <p:sldId id="392" r:id="rId31"/>
    <p:sldId id="396" r:id="rId32"/>
    <p:sldId id="397" r:id="rId33"/>
    <p:sldId id="394" r:id="rId34"/>
    <p:sldId id="395" r:id="rId35"/>
    <p:sldId id="387" r:id="rId36"/>
    <p:sldId id="380" r:id="rId37"/>
    <p:sldId id="381" r:id="rId38"/>
    <p:sldId id="384" r:id="rId39"/>
    <p:sldId id="385" r:id="rId40"/>
    <p:sldId id="386" r:id="rId4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E75B6"/>
    <a:srgbClr val="A7A6A6"/>
    <a:srgbClr val="BFBFB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94" autoAdjust="0"/>
    <p:restoredTop sz="96383" autoAdjust="0"/>
  </p:normalViewPr>
  <p:slideViewPr>
    <p:cSldViewPr snapToGrid="0">
      <p:cViewPr varScale="1">
        <p:scale>
          <a:sx n="98" d="100"/>
          <a:sy n="98" d="100"/>
        </p:scale>
        <p:origin x="1014" y="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9901B-C63A-44F8-ADF0-3B68EA0BB6A9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BF29F-A671-4EEB-8DDD-461D199293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9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EA20D-87F0-4E49-BB3F-6DC1F15F81F4}" type="slidenum">
              <a:rPr lang="en-US" altLang="ko-KR" smtClean="0"/>
              <a:pPr/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4194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EA20D-87F0-4E49-BB3F-6DC1F15F81F4}" type="slidenum">
              <a:rPr lang="en-US" altLang="ko-KR" smtClean="0"/>
              <a:pPr/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4188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EA20D-87F0-4E49-BB3F-6DC1F15F81F4}" type="slidenum">
              <a:rPr lang="en-US" altLang="ko-KR" smtClean="0"/>
              <a:pPr/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4174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Documents and Settings\김영로\My Documents\가져갈 파일\파워포인트 양식\139\06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2365219"/>
            <a:ext cx="9731017" cy="4501950"/>
          </a:xfrm>
          <a:prstGeom prst="rect">
            <a:avLst/>
          </a:prstGeom>
          <a:noFill/>
        </p:spPr>
      </p:pic>
      <p:sp>
        <p:nvSpPr>
          <p:cNvPr id="15" name="직사각형 14"/>
          <p:cNvSpPr/>
          <p:nvPr userDrawn="1"/>
        </p:nvSpPr>
        <p:spPr>
          <a:xfrm>
            <a:off x="9731017" y="-4788"/>
            <a:ext cx="217538" cy="6865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/>
            <a:endParaRPr lang="ko-KR" altLang="en-US" sz="1200" b="1" kern="1200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" descr="1113396_83515382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0" y="0"/>
            <a:ext cx="4572000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91883" y="3427812"/>
            <a:ext cx="5679363" cy="489363"/>
          </a:xfrm>
          <a:prstGeom prst="rect">
            <a:avLst/>
          </a:prstGeom>
        </p:spPr>
        <p:txBody>
          <a:bodyPr wrap="none" lIns="91434" tIns="0" rIns="91434" bIns="45718">
            <a:spAutoFit/>
          </a:bodyPr>
          <a:lstStyle>
            <a:lvl1pPr>
              <a:defRPr sz="3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en-US" altLang="ko-KR" dirty="0"/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738393" y="4437112"/>
            <a:ext cx="3751682" cy="3284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85000"/>
              </a:lnSpc>
              <a:buFont typeface="Arial" charset="0"/>
              <a:buNone/>
              <a:defRPr sz="18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 smtClean="0"/>
              <a:t>Click to edit Master subtitle style</a:t>
            </a:r>
            <a:endParaRPr lang="en-US" altLang="ko-KR" dirty="0"/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817" y="116141"/>
            <a:ext cx="2556426" cy="24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871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1390" y="728701"/>
            <a:ext cx="7604919" cy="44268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68575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050" b="0" baseline="0">
                <a:solidFill>
                  <a:schemeClr val="tx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  <a:lvl2pPr marL="201203" indent="-161915" latinLnBrk="0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  <a:defRPr sz="900" baseline="0">
                <a:solidFill>
                  <a:schemeClr val="tx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2pPr>
            <a:lvl3pPr marL="404975" indent="-161990" latinLnBrk="0">
              <a:defRPr sz="105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607462" indent="-161990" latinLnBrk="0">
              <a:defRPr sz="105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809949" indent="-161990" latinLnBrk="0">
              <a:defRPr sz="9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>
              <a:defRPr sz="135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5" name="Content Placeholder 17"/>
          <p:cNvSpPr>
            <a:spLocks noGrp="1"/>
          </p:cNvSpPr>
          <p:nvPr>
            <p:ph sz="quarter" idx="12" hasCustomPrompt="1"/>
          </p:nvPr>
        </p:nvSpPr>
        <p:spPr>
          <a:xfrm>
            <a:off x="6927717" y="105391"/>
            <a:ext cx="2793287" cy="432061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ts val="75"/>
              </a:spcBef>
              <a:spcAft>
                <a:spcPts val="75"/>
              </a:spcAft>
              <a:buClr>
                <a:srgbClr val="FFD200"/>
              </a:buClr>
              <a:buSzPct val="75000"/>
              <a:buNone/>
              <a:defRPr lang="en-US" altLang="ko-KR" sz="750" b="0" kern="0" baseline="0" dirty="0" smtClean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  <a:lvl2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75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75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75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ko-KR" altLang="en-US" sz="750" kern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 smtClean="0"/>
              <a:t>Lev.2 Lev.3 Lev.4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6781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2480" y="728700"/>
            <a:ext cx="9359900" cy="53809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  <a:lvl2pPr marL="268271" indent="-215887" latinLnBrk="0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2pPr>
            <a:lvl3pPr marL="539966" indent="-215986" latinLnBrk="0"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latinLnBrk="0"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latinLnBrk="0"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4950" y="73231"/>
            <a:ext cx="6768000" cy="2700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>
              <a:defRPr sz="16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5" name="Content Placeholder 17"/>
          <p:cNvSpPr>
            <a:spLocks noGrp="1"/>
          </p:cNvSpPr>
          <p:nvPr>
            <p:ph sz="quarter" idx="12" hasCustomPrompt="1"/>
          </p:nvPr>
        </p:nvSpPr>
        <p:spPr>
          <a:xfrm>
            <a:off x="6285638" y="79989"/>
            <a:ext cx="3437892" cy="263271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ts val="100"/>
              </a:spcBef>
              <a:spcAft>
                <a:spcPts val="100"/>
              </a:spcAft>
              <a:buClr>
                <a:srgbClr val="FFD200"/>
              </a:buClr>
              <a:buSzPct val="75000"/>
              <a:buNone/>
              <a:defRPr lang="en-US" altLang="ko-KR" sz="1000" b="0" kern="0" baseline="0" dirty="0" smtClean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  <a:lvl2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ko-KR" altLang="en-US" sz="1000" kern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 smtClean="0"/>
              <a:t>Lev.2 Lev.3 Lev.4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50369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4"/>
          <p:cNvSpPr>
            <a:spLocks noChangeArrowheads="1"/>
          </p:cNvSpPr>
          <p:nvPr userDrawn="1"/>
        </p:nvSpPr>
        <p:spPr bwMode="auto">
          <a:xfrm>
            <a:off x="615046" y="620713"/>
            <a:ext cx="5529263" cy="53975"/>
          </a:xfrm>
          <a:prstGeom prst="rect">
            <a:avLst/>
          </a:prstGeom>
          <a:gradFill rotWithShape="1">
            <a:gsLst>
              <a:gs pos="0">
                <a:srgbClr val="002060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ko-KR" altLang="en-US" dirty="0">
              <a:solidFill>
                <a:prstClr val="black"/>
              </a:solidFill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 userDrawn="1"/>
        </p:nvSpPr>
        <p:spPr bwMode="auto">
          <a:xfrm>
            <a:off x="4896451" y="6647484"/>
            <a:ext cx="139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fld id="{E8AFD538-2A79-4CFF-84E2-21FAF79C6879}" type="slidenum">
              <a:rPr kumimoji="0" lang="en-US" altLang="ko-KR" sz="900" smtClean="0">
                <a:latin typeface="Arial" pitchFamily="34" charset="0"/>
                <a:cs typeface="Arial" pitchFamily="34" charset="0"/>
              </a:rPr>
              <a:pPr>
                <a:defRPr/>
              </a:pPr>
              <a:t>‹#›</a:t>
            </a:fld>
            <a:endParaRPr kumimoji="0" lang="en-US" altLang="ko-KR" sz="9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93"/>
          <p:cNvSpPr>
            <a:spLocks noChangeShapeType="1"/>
          </p:cNvSpPr>
          <p:nvPr userDrawn="1"/>
        </p:nvSpPr>
        <p:spPr bwMode="auto">
          <a:xfrm>
            <a:off x="250825" y="620713"/>
            <a:ext cx="9401175" cy="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70AA0AE-DE05-DC9E-4F85-E354B851F7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5718" y="6647194"/>
            <a:ext cx="1152128" cy="13681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5861BC04-3743-93F0-EF28-E6ACD897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202" y="6608031"/>
            <a:ext cx="1478415" cy="985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480FE10-81CE-1F8D-85FD-5060259D0595}"/>
              </a:ext>
            </a:extLst>
          </p:cNvPr>
          <p:cNvSpPr txBox="1"/>
          <p:nvPr userDrawn="1"/>
        </p:nvSpPr>
        <p:spPr>
          <a:xfrm>
            <a:off x="5841557" y="6568788"/>
            <a:ext cx="259878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© MOBYUS &amp; VALUE CHAIN Co., Ltd. All Rights Reserved.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92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6394623" y="550585"/>
            <a:ext cx="3167154" cy="392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287" tIns="43646" rIns="87287" bIns="43646" anchor="ctr"/>
          <a:lstStyle/>
          <a:p>
            <a:pPr algn="l">
              <a:defRPr/>
            </a:pPr>
            <a:endParaRPr lang="ko-KR" altLang="ko-KR" sz="1719" dirty="0">
              <a:effectLst>
                <a:outerShdw blurRad="38100" dist="38100" dir="2700000" algn="tl">
                  <a:srgbClr val="C0C0C0"/>
                </a:outerShdw>
              </a:effectLst>
              <a:latin typeface="-윤명조220" pitchFamily="18" charset="-127"/>
            </a:endParaRPr>
          </a:p>
        </p:txBody>
      </p:sp>
      <p:cxnSp>
        <p:nvCxnSpPr>
          <p:cNvPr id="8" name="직선 연결선 15"/>
          <p:cNvCxnSpPr>
            <a:cxnSpLocks noChangeShapeType="1"/>
          </p:cNvCxnSpPr>
          <p:nvPr/>
        </p:nvCxnSpPr>
        <p:spPr bwMode="auto">
          <a:xfrm>
            <a:off x="244835" y="1096466"/>
            <a:ext cx="9280673" cy="0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" name="직사각형 8"/>
          <p:cNvSpPr/>
          <p:nvPr/>
        </p:nvSpPr>
        <p:spPr bwMode="auto">
          <a:xfrm>
            <a:off x="250078" y="539093"/>
            <a:ext cx="173583" cy="56743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32576" tIns="32576" rIns="32576" bIns="32576" anchor="ctr"/>
          <a:lstStyle/>
          <a:p>
            <a:pPr marL="147963" indent="-147963" defTabSz="759924">
              <a:defRPr/>
            </a:pPr>
            <a:endParaRPr lang="ko-KR" altLang="en-US" sz="1086">
              <a:latin typeface="Arial" pitchFamily="34" charset="0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250078" y="539093"/>
            <a:ext cx="173583" cy="56743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32576" tIns="32576" rIns="32576" bIns="32576" anchor="ctr"/>
          <a:lstStyle/>
          <a:p>
            <a:pPr marL="147963" indent="-147963" defTabSz="759924">
              <a:defRPr/>
            </a:pPr>
            <a:endParaRPr lang="ko-KR" altLang="en-US" sz="1086">
              <a:latin typeface="Arial" pitchFamily="34" charset="0"/>
            </a:endParaRPr>
          </a:p>
        </p:txBody>
      </p:sp>
      <p:sp>
        <p:nvSpPr>
          <p:cNvPr id="16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FF52827-A60A-4B5C-8FD7-96A302FA7AE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8" name="제목 17"/>
          <p:cNvSpPr>
            <a:spLocks noGrp="1"/>
          </p:cNvSpPr>
          <p:nvPr>
            <p:ph type="title"/>
          </p:nvPr>
        </p:nvSpPr>
        <p:spPr>
          <a:xfrm>
            <a:off x="453082" y="545526"/>
            <a:ext cx="2776401" cy="402291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0" name="Text Box 13"/>
          <p:cNvSpPr txBox="1">
            <a:spLocks noChangeArrowheads="1"/>
          </p:cNvSpPr>
          <p:nvPr userDrawn="1"/>
        </p:nvSpPr>
        <p:spPr bwMode="auto">
          <a:xfrm>
            <a:off x="4896451" y="6574008"/>
            <a:ext cx="139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fld id="{E8AFD538-2A79-4CFF-84E2-21FAF79C6879}" type="slidenum">
              <a:rPr kumimoji="0" lang="en-US" altLang="ko-KR" sz="900" smtClean="0">
                <a:latin typeface="Arial" pitchFamily="34" charset="0"/>
                <a:cs typeface="Arial" pitchFamily="34" charset="0"/>
              </a:rPr>
              <a:pPr>
                <a:defRPr/>
              </a:pPr>
              <a:t>‹#›</a:t>
            </a:fld>
            <a:endParaRPr kumimoji="0" lang="en-US" altLang="ko-KR" sz="9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9F8A474-24F3-0025-25BE-06AF349542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76" y="638411"/>
            <a:ext cx="1198104" cy="3423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1302B5E1-6061-8A6C-FF21-EE249BADBF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202" y="6608031"/>
            <a:ext cx="1478415" cy="985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9BB9206-1256-381C-3994-560487E629E9}"/>
              </a:ext>
            </a:extLst>
          </p:cNvPr>
          <p:cNvSpPr txBox="1"/>
          <p:nvPr userDrawn="1"/>
        </p:nvSpPr>
        <p:spPr>
          <a:xfrm>
            <a:off x="5841557" y="6568788"/>
            <a:ext cx="259878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© MOBYUS &amp; VALUE CHAIN Co., Ltd. All Rights Reserved.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6928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93"/>
          <p:cNvSpPr>
            <a:spLocks noChangeShapeType="1"/>
          </p:cNvSpPr>
          <p:nvPr userDrawn="1"/>
        </p:nvSpPr>
        <p:spPr bwMode="auto">
          <a:xfrm>
            <a:off x="250825" y="620713"/>
            <a:ext cx="9401175" cy="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3" name="Rectangle 94"/>
          <p:cNvSpPr>
            <a:spLocks noChangeArrowheads="1"/>
          </p:cNvSpPr>
          <p:nvPr userDrawn="1"/>
        </p:nvSpPr>
        <p:spPr bwMode="auto">
          <a:xfrm>
            <a:off x="495300" y="620713"/>
            <a:ext cx="5529263" cy="5397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ko-KR" altLang="en-US" dirty="0">
              <a:solidFill>
                <a:prstClr val="black"/>
              </a:solidFill>
              <a:latin typeface="+mn-ea"/>
              <a:ea typeface="+mn-ea"/>
              <a:cs typeface="Tahoma" pitchFamily="34" charset="0"/>
            </a:endParaRP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4879975" y="6631345"/>
            <a:ext cx="12984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l" eaLnBrk="1" latinLnBrk="1" hangingPunct="1">
              <a:spcBef>
                <a:spcPct val="0"/>
              </a:spcBef>
              <a:buSzTx/>
              <a:defRPr/>
            </a:pPr>
            <a:fld id="{B17A54CD-6B93-49BF-85A5-8812784E4C96}" type="slidenum">
              <a:rPr kumimoji="0" lang="en-US" altLang="ko-KR" sz="800">
                <a:solidFill>
                  <a:srgbClr val="000000"/>
                </a:solidFill>
                <a:latin typeface="+mn-ea"/>
                <a:ea typeface="+mn-ea"/>
                <a:cs typeface="Arial" charset="0"/>
              </a:rPr>
              <a:pPr algn="l" eaLnBrk="1" latinLnBrk="1" hangingPunct="1">
                <a:spcBef>
                  <a:spcPct val="0"/>
                </a:spcBef>
                <a:buSzTx/>
                <a:defRPr/>
              </a:pPr>
              <a:t>‹#›</a:t>
            </a:fld>
            <a:endParaRPr kumimoji="0" lang="en-US" altLang="ko-KR" sz="800">
              <a:solidFill>
                <a:srgbClr val="00000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02657CB7-8D17-4024-AE1C-1E8FB52D01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764" y="6649594"/>
            <a:ext cx="1775684" cy="1197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FC61557D-0A26-4D72-9109-19B77FD1FD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6599" y="6578629"/>
            <a:ext cx="2016000" cy="239400"/>
          </a:xfrm>
          <a:prstGeom prst="rect">
            <a:avLst/>
          </a:prstGeom>
        </p:spPr>
      </p:pic>
      <p:sp>
        <p:nvSpPr>
          <p:cNvPr id="11" name="Text Box 44">
            <a:extLst>
              <a:ext uri="{FF2B5EF4-FFF2-40B4-BE49-F238E27FC236}">
                <a16:creationId xmlns:a16="http://schemas.microsoft.com/office/drawing/2014/main" xmlns="" id="{3D01F774-17B1-4941-90A5-04CF9747EC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85048" y="6658032"/>
            <a:ext cx="233237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algn="just" eaLnBrk="0" hangingPunct="0">
              <a:spcBef>
                <a:spcPct val="20000"/>
              </a:spcBef>
              <a:buFont typeface="Arial" pitchFamily="34" charset="0"/>
              <a:defRPr sz="1300">
                <a:solidFill>
                  <a:schemeClr val="tx1"/>
                </a:solidFill>
                <a:latin typeface="Arial" pitchFamily="34" charset="0"/>
                <a:ea typeface="맑은 고딕" pitchFamily="50" charset="-127"/>
              </a:defRPr>
            </a:lvl1pPr>
            <a:lvl2pPr marL="742950" indent="-285750" algn="l" eaLnBrk="0" latinLnBrk="1" hangingPunct="0">
              <a:spcBef>
                <a:spcPct val="20000"/>
              </a:spcBef>
              <a:buFont typeface="Arial" pitchFamily="34" charset="0"/>
              <a:defRPr kumimoji="1"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eaLnBrk="0" latinLnBrk="1" hangingPunct="0">
              <a:spcBef>
                <a:spcPct val="20000"/>
              </a:spcBef>
              <a:buFont typeface="Arial" pitchFamily="34" charset="0"/>
              <a:defRPr kumimoji="1"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eaLnBrk="0" latinLnBrk="1" hangingPunct="0">
              <a:spcBef>
                <a:spcPct val="20000"/>
              </a:spcBef>
              <a:buFont typeface="Arial" pitchFamily="34" charset="0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eaLnBrk="0" latinLnBrk="1" hangingPunct="0">
              <a:spcBef>
                <a:spcPct val="20000"/>
              </a:spcBef>
              <a:buFont typeface="Arial" pitchFamily="34" charset="0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 eaLnBrk="1" latinLnBrk="1" hangingPunct="1">
              <a:spcBef>
                <a:spcPct val="0"/>
              </a:spcBef>
              <a:buFontTx/>
              <a:buNone/>
            </a:pPr>
            <a:r>
              <a:rPr kumimoji="0" lang="en-US" altLang="ko-KR" sz="700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©</a:t>
            </a:r>
            <a:r>
              <a:rPr kumimoji="0" lang="en-US" altLang="ko-KR" sz="400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 </a:t>
            </a:r>
            <a:r>
              <a:rPr kumimoji="0" lang="en-US" altLang="ko-KR" sz="700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Copyright </a:t>
            </a:r>
            <a:r>
              <a:rPr kumimoji="0" lang="en-US" altLang="ko-KR" sz="400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 </a:t>
            </a:r>
            <a:r>
              <a:rPr kumimoji="0" lang="en-US" altLang="ko-KR" sz="700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MOBYUS &amp; VALUE CHAIN Corporation</a:t>
            </a:r>
            <a:r>
              <a:rPr kumimoji="0" lang="en-US" altLang="ko-KR" sz="400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   </a:t>
            </a:r>
            <a:r>
              <a:rPr kumimoji="0" lang="en-US" altLang="ko-KR" sz="700" dirty="0">
                <a:solidFill>
                  <a:schemeClr val="bg1">
                    <a:lumMod val="85000"/>
                  </a:schemeClr>
                </a:solidFill>
                <a:cs typeface="Arial" pitchFamily="34" charset="0"/>
              </a:rPr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213311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377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155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50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316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857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888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293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612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83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81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541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 11"/>
          <p:cNvSpPr>
            <a:spLocks noChangeShapeType="1"/>
          </p:cNvSpPr>
          <p:nvPr userDrawn="1"/>
        </p:nvSpPr>
        <p:spPr bwMode="auto">
          <a:xfrm>
            <a:off x="273050" y="6578600"/>
            <a:ext cx="9359900" cy="0"/>
          </a:xfrm>
          <a:prstGeom prst="line">
            <a:avLst/>
          </a:prstGeom>
          <a:noFill/>
          <a:ln w="31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9"/>
          <p:cNvSpPr txBox="1">
            <a:spLocks noChangeArrowheads="1"/>
          </p:cNvSpPr>
          <p:nvPr userDrawn="1"/>
        </p:nvSpPr>
        <p:spPr bwMode="auto">
          <a:xfrm>
            <a:off x="4991100" y="6613525"/>
            <a:ext cx="3556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4" tIns="45718" rIns="91434" bIns="45718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9pPr>
          </a:lstStyle>
          <a:p>
            <a:pPr algn="ctr" eaLnBrk="1" latinLnBrk="0" hangingPunct="1"/>
            <a:fld id="{C64E92E5-CD45-4384-8691-9106A4F9B511}" type="slidenum">
              <a:rPr kumimoji="0" lang="ko-KR" altLang="en-US" sz="100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pPr algn="ctr" eaLnBrk="1" latinLnBrk="0" hangingPunct="1"/>
              <a:t>‹#›</a:t>
            </a:fld>
            <a:endParaRPr kumimoji="0" lang="en-US" altLang="ko-KR" sz="1000" dirty="0">
              <a:solidFill>
                <a:srgbClr val="646464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JBold" pitchFamily="18" charset="-127"/>
            </a:endParaRPr>
          </a:p>
        </p:txBody>
      </p:sp>
      <p:sp>
        <p:nvSpPr>
          <p:cNvPr id="15" name="AcnBodyText_ID_6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 bwMode="gray">
          <a:xfrm>
            <a:off x="179388" y="2200275"/>
            <a:ext cx="8780462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34" tIns="45718" rIns="91434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 smtClean="0"/>
          </a:p>
        </p:txBody>
      </p:sp>
      <p:sp>
        <p:nvSpPr>
          <p:cNvPr id="16" name="TextBox 1"/>
          <p:cNvSpPr txBox="1">
            <a:spLocks noChangeArrowheads="1"/>
          </p:cNvSpPr>
          <p:nvPr userDrawn="1"/>
        </p:nvSpPr>
        <p:spPr bwMode="auto">
          <a:xfrm>
            <a:off x="8503010" y="6622384"/>
            <a:ext cx="121411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52388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rgbClr val="FFD200"/>
              </a:buClr>
              <a:buSzPct val="75000"/>
              <a:buFont typeface="Arial" charset="0"/>
              <a:buNone/>
            </a:pPr>
            <a:r>
              <a:rPr lang="ko-KR" altLang="en-US" sz="800" b="0" dirty="0" smtClean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경영기획실 패션</a:t>
            </a:r>
            <a:r>
              <a:rPr lang="en-US" altLang="ko-KR" sz="800" b="0" dirty="0" smtClean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IT</a:t>
            </a:r>
            <a:r>
              <a:rPr lang="ko-KR" altLang="en-US" sz="800" b="0" dirty="0" smtClean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팀</a:t>
            </a:r>
            <a:endParaRPr lang="ko-KR" altLang="en-US" sz="800" b="0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JBold" pitchFamily="18" charset="-127"/>
            </a:endParaRPr>
          </a:p>
        </p:txBody>
      </p:sp>
      <p:cxnSp>
        <p:nvCxnSpPr>
          <p:cNvPr id="17" name="Straight Connector 11"/>
          <p:cNvCxnSpPr>
            <a:cxnSpLocks noChangeShapeType="1"/>
          </p:cNvCxnSpPr>
          <p:nvPr userDrawn="1"/>
        </p:nvCxnSpPr>
        <p:spPr bwMode="auto">
          <a:xfrm rot="16200000">
            <a:off x="9570535" y="325232"/>
            <a:ext cx="396000" cy="0"/>
          </a:xfrm>
          <a:prstGeom prst="line">
            <a:avLst/>
          </a:prstGeom>
          <a:noFill/>
          <a:ln w="57150" algn="ctr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</p:cxnSp>
      <p:sp>
        <p:nvSpPr>
          <p:cNvPr id="18" name="Line 11"/>
          <p:cNvSpPr>
            <a:spLocks noChangeShapeType="1"/>
          </p:cNvSpPr>
          <p:nvPr userDrawn="1"/>
        </p:nvSpPr>
        <p:spPr bwMode="auto">
          <a:xfrm>
            <a:off x="227475" y="668186"/>
            <a:ext cx="9469986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24" y="6630114"/>
            <a:ext cx="2052000" cy="1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4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8" r:id="rId4"/>
    <p:sldLayoutId id="2147483679" r:id="rId5"/>
    <p:sldLayoutId id="2147483680" r:id="rId6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868EF-47B3-4F29-BBE1-2BCB1FACA80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D1F89-FC52-4D4D-94B2-E515A86CEF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42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23.png"/><Relationship Id="rId12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30.png"/><Relationship Id="rId5" Type="http://schemas.openxmlformats.org/officeDocument/2006/relationships/image" Target="../media/image22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13.png"/><Relationship Id="rId1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47637" y="3427812"/>
            <a:ext cx="3568594" cy="489363"/>
          </a:xfrm>
        </p:spPr>
        <p:txBody>
          <a:bodyPr/>
          <a:lstStyle/>
          <a:p>
            <a:pPr algn="r"/>
            <a:r>
              <a:rPr lang="en-US" altLang="ko-KR" b="1" dirty="0" smtClean="0"/>
              <a:t>WMS </a:t>
            </a:r>
            <a:r>
              <a:rPr lang="ko-KR" altLang="en-US" b="1" dirty="0" smtClean="0"/>
              <a:t>사용자 교육</a:t>
            </a:r>
            <a:endParaRPr lang="ko-KR" altLang="en-US" sz="2000" b="1" dirty="0"/>
          </a:p>
        </p:txBody>
      </p:sp>
      <p:sp>
        <p:nvSpPr>
          <p:cNvPr id="5" name="부제목 2"/>
          <p:cNvSpPr txBox="1">
            <a:spLocks/>
          </p:cNvSpPr>
          <p:nvPr/>
        </p:nvSpPr>
        <p:spPr bwMode="gray">
          <a:xfrm>
            <a:off x="6869780" y="5400946"/>
            <a:ext cx="2299014" cy="32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indent="0" algn="r" defTabSz="914400" rtl="0" eaLnBrk="1" latinLnBrk="1" hangingPunct="1">
              <a:lnSpc>
                <a:spcPct val="85000"/>
              </a:lnSpc>
              <a:spcBef>
                <a:spcPts val="1000"/>
              </a:spcBef>
              <a:buFont typeface="Arial" charset="0"/>
              <a:buNone/>
              <a:defRPr sz="1800" kern="120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경영기획실 패션</a:t>
            </a:r>
            <a:r>
              <a:rPr lang="en-US" altLang="ko-KR" dirty="0" smtClean="0"/>
              <a:t>IT</a:t>
            </a:r>
            <a:r>
              <a:rPr lang="ko-KR" altLang="en-US" dirty="0" smtClean="0"/>
              <a:t>팀</a:t>
            </a:r>
            <a:endParaRPr lang="en-US" altLang="ko-KR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6686796" y="5667391"/>
            <a:ext cx="2452707" cy="6191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>
              <a:lnSpc>
                <a:spcPct val="200000"/>
              </a:lnSpc>
            </a:pPr>
            <a:r>
              <a:rPr lang="en-US" altLang="ko-KR" sz="1400" dirty="0" smtClean="0">
                <a:solidFill>
                  <a:schemeClr val="bg1">
                    <a:lumMod val="65000"/>
                  </a:schemeClr>
                </a:solidFill>
                <a:latin typeface="+mn-ea"/>
                <a:cs typeface="JBold" pitchFamily="18" charset="-127"/>
              </a:rPr>
              <a:t>2024.02</a:t>
            </a:r>
          </a:p>
        </p:txBody>
      </p:sp>
    </p:spTree>
    <p:extLst>
      <p:ext uri="{BB962C8B-B14F-4D97-AF65-F5344CB8AC3E}">
        <p14:creationId xmlns:p14="http://schemas.microsoft.com/office/powerpoint/2010/main" val="1118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WMS </a:t>
            </a:r>
            <a:r>
              <a:rPr lang="ko-KR" altLang="en-US" sz="1400" b="1" dirty="0" smtClean="0"/>
              <a:t>교육 순서</a:t>
            </a:r>
            <a:endParaRPr lang="ko-KR" altLang="en-US" sz="1400" b="1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gray">
          <a:xfrm>
            <a:off x="323030" y="793659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ko-KR" altLang="en-US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 차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030" y="1221964"/>
            <a:ext cx="197522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b="1" dirty="0" smtClean="0">
                <a:latin typeface="+mn-ea"/>
              </a:rPr>
              <a:t>용어 및 개념 정리</a:t>
            </a:r>
            <a:endParaRPr lang="en-US" altLang="ko-KR" sz="1400" b="1" dirty="0" smtClean="0">
              <a:latin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b="1" dirty="0" smtClean="0">
                <a:latin typeface="+mn-ea"/>
              </a:rPr>
              <a:t>마스터 정보 </a:t>
            </a:r>
            <a:r>
              <a:rPr lang="en-US" altLang="ko-KR" sz="1400" b="1" dirty="0" smtClean="0">
                <a:latin typeface="+mn-ea"/>
              </a:rPr>
              <a:t>I/F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b="1" dirty="0" smtClean="0">
                <a:latin typeface="+mn-ea"/>
              </a:rPr>
              <a:t>입고 프로세스</a:t>
            </a:r>
            <a:endParaRPr lang="en-US" altLang="ko-KR" sz="1400" b="1" dirty="0" smtClean="0">
              <a:latin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b="1" dirty="0" smtClean="0">
                <a:latin typeface="+mn-ea"/>
              </a:rPr>
              <a:t>출고 프로세스</a:t>
            </a:r>
            <a:endParaRPr lang="en-US" altLang="ko-KR" sz="1400" b="1" dirty="0" smtClean="0">
              <a:latin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1400" b="1" dirty="0" smtClean="0">
                <a:latin typeface="+mn-ea"/>
              </a:rPr>
              <a:t>기타 실적 </a:t>
            </a:r>
            <a:r>
              <a:rPr lang="en-US" altLang="ko-KR" sz="1400" b="1" dirty="0" smtClean="0">
                <a:latin typeface="+mn-ea"/>
              </a:rPr>
              <a:t>I/F </a:t>
            </a:r>
          </a:p>
        </p:txBody>
      </p:sp>
    </p:spTree>
    <p:extLst>
      <p:ext uri="{BB962C8B-B14F-4D97-AF65-F5344CB8AC3E}">
        <p14:creationId xmlns:p14="http://schemas.microsoft.com/office/powerpoint/2010/main" val="187952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1</a:t>
            </a:r>
            <a:r>
              <a:rPr lang="en-US" altLang="ko-KR" sz="1400" b="1" dirty="0" smtClean="0"/>
              <a:t>. </a:t>
            </a:r>
            <a:r>
              <a:rPr lang="ko-KR" altLang="en-US" sz="1400" b="1" dirty="0" smtClean="0"/>
              <a:t>용어 및 개념정리</a:t>
            </a:r>
            <a:endParaRPr lang="ko-KR" altLang="en-US" sz="1400" b="1" dirty="0"/>
          </a:p>
        </p:txBody>
      </p:sp>
      <p:grpSp>
        <p:nvGrpSpPr>
          <p:cNvPr id="60" name="그룹 59">
            <a:extLst>
              <a:ext uri="{FF2B5EF4-FFF2-40B4-BE49-F238E27FC236}">
                <a16:creationId xmlns="" xmlns:a16="http://schemas.microsoft.com/office/drawing/2014/main" id="{86EEB561-496F-44CB-A297-9A24A87F7911}"/>
              </a:ext>
            </a:extLst>
          </p:cNvPr>
          <p:cNvGrpSpPr/>
          <p:nvPr/>
        </p:nvGrpSpPr>
        <p:grpSpPr>
          <a:xfrm>
            <a:off x="323030" y="1251123"/>
            <a:ext cx="9286483" cy="1378651"/>
            <a:chOff x="251400" y="1009853"/>
            <a:chExt cx="9403200" cy="1543494"/>
          </a:xfrm>
        </p:grpSpPr>
        <p:sp>
          <p:nvSpPr>
            <p:cNvPr id="61" name="AutoShape 26">
              <a:extLst>
                <a:ext uri="{FF2B5EF4-FFF2-40B4-BE49-F238E27FC236}">
                  <a16:creationId xmlns="" xmlns:a16="http://schemas.microsoft.com/office/drawing/2014/main" id="{2E3A8CF7-F7D3-4597-9327-FD611EC73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00" y="1193942"/>
              <a:ext cx="9403200" cy="1359405"/>
            </a:xfrm>
            <a:prstGeom prst="roundRect">
              <a:avLst>
                <a:gd name="adj" fmla="val 5501"/>
              </a:avLst>
            </a:prstGeom>
            <a:solidFill>
              <a:schemeClr val="bg1"/>
            </a:solidFill>
            <a:ln w="63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square" lIns="144000" tIns="288000" rIns="144000" bIns="144000" anchor="t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개별적인 상품에 대해 재고 관리 목적으로 추적이 용이하도록 하기 위해 사용되는 </a:t>
              </a:r>
              <a:r>
                <a:rPr lang="ko-KR" altLang="en-US" sz="14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분류의 최하 단위 식별 관리 코드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이며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EAN-13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또는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EAN-8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 부착되는 상품 단위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단품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 동일한 개념으로 사용되는 것이 보통이다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업체의 관행에 따라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SKU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개념이 약간 다르게 사용되기도 한다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62" name="AutoShape 24">
              <a:extLst>
                <a:ext uri="{FF2B5EF4-FFF2-40B4-BE49-F238E27FC236}">
                  <a16:creationId xmlns="" xmlns:a16="http://schemas.microsoft.com/office/drawing/2014/main" id="{6D125460-0D27-44C0-9C2A-8D4393C09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97" y="1009853"/>
              <a:ext cx="4341283" cy="396408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round/>
              <a:headEnd/>
              <a:tailEnd type="none" w="sm" len="sm"/>
            </a:ln>
          </p:spPr>
          <p:txBody>
            <a:bodyPr wrap="none" lIns="180000" tIns="18000" rIns="180000" bIns="18000" anchor="t">
              <a:spAutoFit/>
            </a:bodyPr>
            <a:lstStyle/>
            <a:p>
              <a:pPr marL="285750" indent="-285750" eaLnBrk="0" fontAlgn="auto" latinLnBrk="0" hangingPunct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v"/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SKU (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S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tock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K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eeping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U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nit ) : </a:t>
              </a:r>
              <a:r>
                <a:rPr lang="ko-KR" alt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재고보관단위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="" xmlns:a16="http://schemas.microsoft.com/office/drawing/2014/main" id="{A380E151-A40B-4167-B74E-ABC3D11B1E04}"/>
              </a:ext>
            </a:extLst>
          </p:cNvPr>
          <p:cNvGrpSpPr/>
          <p:nvPr/>
        </p:nvGrpSpPr>
        <p:grpSpPr>
          <a:xfrm>
            <a:off x="323030" y="2666123"/>
            <a:ext cx="9403200" cy="1239984"/>
            <a:chOff x="251400" y="1009853"/>
            <a:chExt cx="9403200" cy="1239984"/>
          </a:xfrm>
        </p:grpSpPr>
        <p:sp>
          <p:nvSpPr>
            <p:cNvPr id="67" name="AutoShape 26">
              <a:extLst>
                <a:ext uri="{FF2B5EF4-FFF2-40B4-BE49-F238E27FC236}">
                  <a16:creationId xmlns="" xmlns:a16="http://schemas.microsoft.com/office/drawing/2014/main" id="{9CD7469E-E45A-4480-8696-7871FFD55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00" y="1193942"/>
              <a:ext cx="9403200" cy="1055895"/>
            </a:xfrm>
            <a:prstGeom prst="roundRect">
              <a:avLst>
                <a:gd name="adj" fmla="val 5501"/>
              </a:avLst>
            </a:prstGeom>
            <a:solidFill>
              <a:schemeClr val="bg1"/>
            </a:solidFill>
            <a:ln w="63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square" lIns="144000" tIns="288000" rIns="144000" bIns="144000" anchor="t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신성통상에서 자체 정의한 용어이며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Assort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형태로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구성되어 포장된 제품의 식별을 위해 사용되는 코드이다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 Box-Assort, Set-Assort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있다</a:t>
              </a:r>
              <a:endPara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AutoShape 24">
              <a:extLst>
                <a:ext uri="{FF2B5EF4-FFF2-40B4-BE49-F238E27FC236}">
                  <a16:creationId xmlns="" xmlns:a16="http://schemas.microsoft.com/office/drawing/2014/main" id="{FF456B60-9E37-43E1-A2F6-88BD1E85E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97" y="1009853"/>
              <a:ext cx="5350221" cy="35407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round/>
              <a:headEnd/>
              <a:tailEnd type="none" w="sm" len="sm"/>
            </a:ln>
          </p:spPr>
          <p:txBody>
            <a:bodyPr wrap="none" lIns="180000" tIns="18000" rIns="180000" bIns="18000" anchor="t">
              <a:spAutoFit/>
            </a:bodyPr>
            <a:lstStyle/>
            <a:p>
              <a:pPr marL="285750" indent="-285750" eaLnBrk="0" fontAlgn="auto" latinLnBrk="0" hangingPunct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v"/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LKU (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L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ogistics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S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tock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K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eeping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U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nit ) : Assort </a:t>
              </a:r>
              <a:r>
                <a:rPr lang="ko-KR" alt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보관단위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="" xmlns:a16="http://schemas.microsoft.com/office/drawing/2014/main" id="{86EEB561-496F-44CB-A297-9A24A87F7911}"/>
              </a:ext>
            </a:extLst>
          </p:cNvPr>
          <p:cNvGrpSpPr/>
          <p:nvPr/>
        </p:nvGrpSpPr>
        <p:grpSpPr>
          <a:xfrm>
            <a:off x="323030" y="3906107"/>
            <a:ext cx="9403200" cy="1249908"/>
            <a:chOff x="251400" y="1009853"/>
            <a:chExt cx="9403200" cy="1249908"/>
          </a:xfrm>
        </p:grpSpPr>
        <p:sp>
          <p:nvSpPr>
            <p:cNvPr id="71" name="AutoShape 26">
              <a:extLst>
                <a:ext uri="{FF2B5EF4-FFF2-40B4-BE49-F238E27FC236}">
                  <a16:creationId xmlns="" xmlns:a16="http://schemas.microsoft.com/office/drawing/2014/main" id="{2E3A8CF7-F7D3-4597-9327-FD611EC73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00" y="1193942"/>
              <a:ext cx="9403200" cy="1065819"/>
            </a:xfrm>
            <a:prstGeom prst="roundRect">
              <a:avLst>
                <a:gd name="adj" fmla="val 6740"/>
              </a:avLst>
            </a:prstGeom>
            <a:solidFill>
              <a:schemeClr val="bg1"/>
            </a:solidFill>
            <a:ln w="63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square" lIns="144000" tIns="288000" rIns="144000" bIns="144000" anchor="t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공급망 상에서 효율적인 운송 및 보관을 목적으로 만들어진 </a:t>
              </a:r>
              <a:r>
                <a:rPr lang="ko-KR" altLang="en-US" sz="14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단품의 포장단위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말하며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주로 박스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팔레트나 컨테이너 등을 지칭한다</a:t>
              </a:r>
              <a:endPara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AutoShape 24">
              <a:extLst>
                <a:ext uri="{FF2B5EF4-FFF2-40B4-BE49-F238E27FC236}">
                  <a16:creationId xmlns="" xmlns:a16="http://schemas.microsoft.com/office/drawing/2014/main" id="{6D125460-0D27-44C0-9C2A-8D4393C09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97" y="1009853"/>
              <a:ext cx="3855757" cy="35407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round/>
              <a:headEnd/>
              <a:tailEnd type="none" w="sm" len="sm"/>
            </a:ln>
          </p:spPr>
          <p:txBody>
            <a:bodyPr wrap="none" lIns="180000" tIns="18000" rIns="180000" bIns="18000" anchor="t">
              <a:spAutoFit/>
            </a:bodyPr>
            <a:lstStyle/>
            <a:p>
              <a:pPr marL="285750" indent="-285750" eaLnBrk="0" fontAlgn="auto" latinLnBrk="0" hangingPunct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v"/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U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nit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O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f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M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aterials ) : </a:t>
              </a:r>
              <a:r>
                <a:rPr lang="ko-KR" alt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측정단위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="" xmlns:a16="http://schemas.microsoft.com/office/drawing/2014/main" id="{3432D6E8-92E9-425C-BE2B-3C436DBFEFD2}"/>
              </a:ext>
            </a:extLst>
          </p:cNvPr>
          <p:cNvGrpSpPr/>
          <p:nvPr/>
        </p:nvGrpSpPr>
        <p:grpSpPr>
          <a:xfrm>
            <a:off x="279041" y="5156015"/>
            <a:ext cx="9403200" cy="1388462"/>
            <a:chOff x="251400" y="1009853"/>
            <a:chExt cx="9403200" cy="1543494"/>
          </a:xfrm>
        </p:grpSpPr>
        <p:sp>
          <p:nvSpPr>
            <p:cNvPr id="74" name="AutoShape 26">
              <a:extLst>
                <a:ext uri="{FF2B5EF4-FFF2-40B4-BE49-F238E27FC236}">
                  <a16:creationId xmlns="" xmlns:a16="http://schemas.microsoft.com/office/drawing/2014/main" id="{1355D0AE-383B-40A9-B9BA-788972FAF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00" y="1193942"/>
              <a:ext cx="9403200" cy="1359405"/>
            </a:xfrm>
            <a:prstGeom prst="roundRect">
              <a:avLst>
                <a:gd name="adj" fmla="val 5502"/>
              </a:avLst>
            </a:prstGeom>
            <a:solidFill>
              <a:schemeClr val="bg1"/>
            </a:solidFill>
            <a:ln w="635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square" lIns="144000" tIns="288000" rIns="144000" bIns="144000" anchor="t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모든 품목에 대해 </a:t>
              </a:r>
              <a:r>
                <a:rPr lang="ko-KR" altLang="en-US" sz="14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상위 품목과 부품의 관계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 사용량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단위 등을 표시한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list,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도표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또는 그림을 말한다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상위 품목은 하나 이상의 부품으로 제조되는 품목이고 부품은 상위 품목으로 전환되기 위해 적어도 하나 이상의 공정을 거쳐야 하는 품목이다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75" name="AutoShape 24">
              <a:extLst>
                <a:ext uri="{FF2B5EF4-FFF2-40B4-BE49-F238E27FC236}">
                  <a16:creationId xmlns="" xmlns:a16="http://schemas.microsoft.com/office/drawing/2014/main" id="{98534778-EF21-4B84-AC76-6D4AF1F0B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97" y="1009853"/>
              <a:ext cx="3837783" cy="393607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algn="ctr">
              <a:noFill/>
              <a:round/>
              <a:headEnd/>
              <a:tailEnd type="none" w="sm" len="sm"/>
            </a:ln>
          </p:spPr>
          <p:txBody>
            <a:bodyPr wrap="none" lIns="180000" tIns="18000" rIns="180000" bIns="18000" anchor="t">
              <a:spAutoFit/>
            </a:bodyPr>
            <a:lstStyle/>
            <a:p>
              <a:pPr marL="285750" indent="-285750" eaLnBrk="0" fontAlgn="auto" latinLnBrk="0" hangingPunct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v"/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BOM</a:t>
              </a:r>
              <a:r>
                <a:rPr lang="ko-KR" alt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ill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O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f </a:t>
              </a:r>
              <a:r>
                <a:rPr lang="en-US" altLang="ko-KR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M</a:t>
              </a:r>
              <a:r>
                <a:rPr lang="en-US" altLang="ko-KR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aterial ) : </a:t>
              </a:r>
              <a:r>
                <a:rPr lang="ko-KR" alt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자재명세서</a:t>
              </a:r>
            </a:p>
          </p:txBody>
        </p:sp>
      </p:grpSp>
      <p:sp>
        <p:nvSpPr>
          <p:cNvPr id="16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재고보관 단위</a:t>
            </a:r>
            <a:endParaRPr lang="ko-KR" altLang="en-US" sz="1400" b="1" dirty="0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1</a:t>
            </a:r>
          </a:p>
        </p:txBody>
      </p:sp>
    </p:spTree>
    <p:extLst>
      <p:ext uri="{BB962C8B-B14F-4D97-AF65-F5344CB8AC3E}">
        <p14:creationId xmlns:p14="http://schemas.microsoft.com/office/powerpoint/2010/main" val="100636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1. </a:t>
            </a:r>
            <a:r>
              <a:rPr lang="ko-KR" altLang="en-US" sz="1400" b="1" dirty="0" smtClean="0"/>
              <a:t>용어 및 개념정리</a:t>
            </a:r>
            <a:endParaRPr lang="ko-KR" altLang="en-US" sz="1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8" y="2820680"/>
            <a:ext cx="558564" cy="40295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99011" y="1219617"/>
            <a:ext cx="3916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200" b="1" dirty="0" smtClean="0"/>
              <a:t>하나의 제품코드 하나의 칼라 하나의 사이즈를 패킹</a:t>
            </a:r>
            <a:endParaRPr lang="ko-KR" altLang="en-US" sz="1200" b="1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831272" y="2726574"/>
            <a:ext cx="3208713" cy="116378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93" y="2819241"/>
            <a:ext cx="558564" cy="402953"/>
          </a:xfrm>
          <a:prstGeom prst="rect">
            <a:avLst/>
          </a:prstGeom>
          <a:noFill/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57" y="2814221"/>
            <a:ext cx="558564" cy="402953"/>
          </a:xfrm>
          <a:prstGeom prst="rect">
            <a:avLst/>
          </a:prstGeom>
          <a:noFill/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749" y="2819241"/>
            <a:ext cx="558564" cy="402953"/>
          </a:xfrm>
          <a:prstGeom prst="rect">
            <a:avLst/>
          </a:prstGeom>
          <a:noFill/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661" y="2807360"/>
            <a:ext cx="558564" cy="402953"/>
          </a:xfrm>
          <a:prstGeom prst="rect">
            <a:avLst/>
          </a:prstGeom>
          <a:noFill/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44" y="3364624"/>
            <a:ext cx="558564" cy="402953"/>
          </a:xfrm>
          <a:prstGeom prst="rect">
            <a:avLst/>
          </a:prstGeom>
          <a:noFill/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262" y="3354872"/>
            <a:ext cx="558564" cy="402953"/>
          </a:xfrm>
          <a:prstGeom prst="rect">
            <a:avLst/>
          </a:prstGeom>
          <a:noFill/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313" y="3341539"/>
            <a:ext cx="558564" cy="402953"/>
          </a:xfrm>
          <a:prstGeom prst="rect">
            <a:avLst/>
          </a:prstGeom>
          <a:noFill/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205" y="3354872"/>
            <a:ext cx="558564" cy="402953"/>
          </a:xfrm>
          <a:prstGeom prst="rect">
            <a:avLst/>
          </a:prstGeom>
          <a:noFill/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117" y="3342991"/>
            <a:ext cx="558564" cy="402953"/>
          </a:xfrm>
          <a:prstGeom prst="rect">
            <a:avLst/>
          </a:prstGeom>
          <a:noFill/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88" y="2820680"/>
            <a:ext cx="558564" cy="402953"/>
          </a:xfrm>
          <a:prstGeom prst="rect">
            <a:avLst/>
          </a:prstGeom>
          <a:noFill/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806" y="2810928"/>
            <a:ext cx="558564" cy="402953"/>
          </a:xfrm>
          <a:prstGeom prst="rect">
            <a:avLst/>
          </a:prstGeom>
          <a:noFill/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57" y="2797595"/>
            <a:ext cx="558564" cy="402953"/>
          </a:xfrm>
          <a:prstGeom prst="rect">
            <a:avLst/>
          </a:prstGeom>
          <a:noFill/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749" y="2810928"/>
            <a:ext cx="558564" cy="402953"/>
          </a:xfrm>
          <a:prstGeom prst="rect">
            <a:avLst/>
          </a:prstGeom>
          <a:noFill/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661" y="2799047"/>
            <a:ext cx="558564" cy="40295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142433" y="2914794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46" name="TextBox 45"/>
          <p:cNvSpPr txBox="1"/>
          <p:nvPr/>
        </p:nvSpPr>
        <p:spPr>
          <a:xfrm>
            <a:off x="1776916" y="2914794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47" name="TextBox 46"/>
          <p:cNvSpPr txBox="1"/>
          <p:nvPr/>
        </p:nvSpPr>
        <p:spPr>
          <a:xfrm>
            <a:off x="2378792" y="2909918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48" name="TextBox 47"/>
          <p:cNvSpPr txBox="1"/>
          <p:nvPr/>
        </p:nvSpPr>
        <p:spPr>
          <a:xfrm>
            <a:off x="2935503" y="2903568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49" name="TextBox 48"/>
          <p:cNvSpPr txBox="1"/>
          <p:nvPr/>
        </p:nvSpPr>
        <p:spPr>
          <a:xfrm>
            <a:off x="3512324" y="2913332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50" name="TextBox 49"/>
          <p:cNvSpPr txBox="1"/>
          <p:nvPr/>
        </p:nvSpPr>
        <p:spPr>
          <a:xfrm>
            <a:off x="1142433" y="3468058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51" name="TextBox 50"/>
          <p:cNvSpPr txBox="1"/>
          <p:nvPr/>
        </p:nvSpPr>
        <p:spPr>
          <a:xfrm>
            <a:off x="1776916" y="3468058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52" name="TextBox 51"/>
          <p:cNvSpPr txBox="1"/>
          <p:nvPr/>
        </p:nvSpPr>
        <p:spPr>
          <a:xfrm>
            <a:off x="2362166" y="3454869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53" name="TextBox 52"/>
          <p:cNvSpPr txBox="1"/>
          <p:nvPr/>
        </p:nvSpPr>
        <p:spPr>
          <a:xfrm>
            <a:off x="2927190" y="3448519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54" name="TextBox 53"/>
          <p:cNvSpPr txBox="1"/>
          <p:nvPr/>
        </p:nvSpPr>
        <p:spPr>
          <a:xfrm>
            <a:off x="3504011" y="3458283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10" name="TextBox 9"/>
          <p:cNvSpPr txBox="1"/>
          <p:nvPr/>
        </p:nvSpPr>
        <p:spPr>
          <a:xfrm>
            <a:off x="909164" y="3984462"/>
            <a:ext cx="2435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Ex) </a:t>
            </a:r>
            <a:r>
              <a:rPr lang="en-US" altLang="ko-KR" dirty="0"/>
              <a:t>BZC5WD1101BL.095</a:t>
            </a:r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1336064" y="4281054"/>
            <a:ext cx="1236359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79424" y="4499473"/>
            <a:ext cx="1234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제품코드</a:t>
            </a:r>
            <a:r>
              <a:rPr lang="en-US" altLang="ko-KR" sz="1400" dirty="0" smtClean="0"/>
              <a:t>(10)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2306503" y="4518654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컬러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3115665" y="4518654"/>
            <a:ext cx="963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사이즈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cxnSp>
        <p:nvCxnSpPr>
          <p:cNvPr id="57" name="직선 연결선 56"/>
          <p:cNvCxnSpPr/>
          <p:nvPr/>
        </p:nvCxnSpPr>
        <p:spPr>
          <a:xfrm>
            <a:off x="2603077" y="4281054"/>
            <a:ext cx="280545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flipV="1">
            <a:off x="2922632" y="4281054"/>
            <a:ext cx="311028" cy="2052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endCxn id="16" idx="0"/>
          </p:cNvCxnSpPr>
          <p:nvPr/>
        </p:nvCxnSpPr>
        <p:spPr>
          <a:xfrm flipH="1">
            <a:off x="1596741" y="4281054"/>
            <a:ext cx="340124" cy="218419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2638491" y="4284610"/>
            <a:ext cx="137197" cy="226322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endCxn id="56" idx="0"/>
          </p:cNvCxnSpPr>
          <p:nvPr/>
        </p:nvCxnSpPr>
        <p:spPr>
          <a:xfrm>
            <a:off x="3050771" y="4297680"/>
            <a:ext cx="546757" cy="220974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오른쪽 화살표 41"/>
          <p:cNvSpPr/>
          <p:nvPr/>
        </p:nvSpPr>
        <p:spPr>
          <a:xfrm>
            <a:off x="4202410" y="3106093"/>
            <a:ext cx="1949008" cy="661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r>
              <a:rPr lang="ko-KR" altLang="en-US" smtClean="0"/>
              <a:t>묶음</a:t>
            </a:r>
            <a:r>
              <a:rPr lang="en-US" altLang="ko-KR" dirty="0"/>
              <a:t> </a:t>
            </a:r>
            <a:r>
              <a:rPr lang="en-US" altLang="ko-KR" dirty="0" smtClean="0"/>
              <a:t>1BOX</a:t>
            </a:r>
            <a:endParaRPr lang="ko-KR" altLang="en-US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644" y="2009695"/>
            <a:ext cx="2635462" cy="2635462"/>
          </a:xfrm>
          <a:prstGeom prst="rect">
            <a:avLst/>
          </a:prstGeom>
        </p:spPr>
      </p:pic>
      <p:sp>
        <p:nvSpPr>
          <p:cNvPr id="60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2-1</a:t>
            </a:r>
          </a:p>
        </p:txBody>
      </p:sp>
      <p:sp>
        <p:nvSpPr>
          <p:cNvPr id="61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패킹유형 </a:t>
            </a:r>
            <a:r>
              <a:rPr lang="en-US" altLang="ko-KR" sz="1400" b="1" dirty="0" smtClean="0"/>
              <a:t>– SOLID </a:t>
            </a:r>
            <a:r>
              <a:rPr lang="ko-KR" altLang="en-US" sz="1400" b="1" dirty="0" smtClean="0"/>
              <a:t>패킹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2672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그림 1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68" y="4390867"/>
            <a:ext cx="1899259" cy="957186"/>
          </a:xfrm>
          <a:prstGeom prst="rect">
            <a:avLst/>
          </a:prstGeom>
        </p:spPr>
      </p:pic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1. </a:t>
            </a:r>
            <a:r>
              <a:rPr lang="ko-KR" altLang="en-US" sz="1400" b="1" dirty="0" smtClean="0"/>
              <a:t>용어 및 개념정리</a:t>
            </a:r>
            <a:endParaRPr lang="ko-KR" altLang="en-US" sz="1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301" y="1731713"/>
            <a:ext cx="558564" cy="40295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99011" y="1219617"/>
            <a:ext cx="32044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200" b="1" dirty="0"/>
              <a:t>BOX SIZE </a:t>
            </a:r>
            <a:r>
              <a:rPr lang="en-US" altLang="ko-KR" sz="1200" b="1" dirty="0" smtClean="0"/>
              <a:t>ASSORT – 1</a:t>
            </a:r>
            <a:r>
              <a:rPr lang="ko-KR" altLang="en-US" sz="1200" b="1" smtClean="0"/>
              <a:t>제품 </a:t>
            </a:r>
            <a:r>
              <a:rPr lang="en-US" altLang="ko-KR" sz="1200" b="1" dirty="0" smtClean="0"/>
              <a:t>1 </a:t>
            </a:r>
            <a:r>
              <a:rPr lang="ko-KR" altLang="en-US" sz="1200" b="1" smtClean="0"/>
              <a:t>칼라 </a:t>
            </a:r>
            <a:r>
              <a:rPr lang="en-US" altLang="ko-KR" sz="1200" b="1" dirty="0" smtClean="0"/>
              <a:t>N</a:t>
            </a:r>
            <a:r>
              <a:rPr lang="ko-KR" altLang="en-US" sz="1200" b="1" smtClean="0"/>
              <a:t>사이즈</a:t>
            </a:r>
            <a:endParaRPr lang="ko-KR" altLang="en-US" sz="1200" b="1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839585" y="1637607"/>
            <a:ext cx="3208713" cy="116378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806" y="1730274"/>
            <a:ext cx="558564" cy="402953"/>
          </a:xfrm>
          <a:prstGeom prst="rect">
            <a:avLst/>
          </a:prstGeom>
          <a:noFill/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857" y="1725254"/>
            <a:ext cx="558564" cy="402953"/>
          </a:xfrm>
          <a:prstGeom prst="rect">
            <a:avLst/>
          </a:prstGeom>
          <a:noFill/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062" y="1730274"/>
            <a:ext cx="558564" cy="402953"/>
          </a:xfrm>
          <a:prstGeom prst="rect">
            <a:avLst/>
          </a:prstGeom>
          <a:noFill/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974" y="1718393"/>
            <a:ext cx="558564" cy="402953"/>
          </a:xfrm>
          <a:prstGeom prst="rect">
            <a:avLst/>
          </a:prstGeom>
          <a:noFill/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57" y="2275657"/>
            <a:ext cx="558564" cy="402953"/>
          </a:xfrm>
          <a:prstGeom prst="rect">
            <a:avLst/>
          </a:prstGeom>
          <a:noFill/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75" y="2265905"/>
            <a:ext cx="558564" cy="402953"/>
          </a:xfrm>
          <a:prstGeom prst="rect">
            <a:avLst/>
          </a:prstGeom>
          <a:noFill/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626" y="2252572"/>
            <a:ext cx="558564" cy="402953"/>
          </a:xfrm>
          <a:prstGeom prst="rect">
            <a:avLst/>
          </a:prstGeom>
          <a:noFill/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18" y="2265905"/>
            <a:ext cx="558564" cy="402953"/>
          </a:xfrm>
          <a:prstGeom prst="rect">
            <a:avLst/>
          </a:prstGeom>
          <a:noFill/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430" y="2254024"/>
            <a:ext cx="558564" cy="402953"/>
          </a:xfrm>
          <a:prstGeom prst="rect">
            <a:avLst/>
          </a:prstGeom>
          <a:noFill/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301" y="1731713"/>
            <a:ext cx="558564" cy="402953"/>
          </a:xfrm>
          <a:prstGeom prst="rect">
            <a:avLst/>
          </a:prstGeom>
          <a:noFill/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119" y="1721961"/>
            <a:ext cx="558564" cy="402953"/>
          </a:xfrm>
          <a:prstGeom prst="rect">
            <a:avLst/>
          </a:prstGeom>
          <a:noFill/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70" y="1708628"/>
            <a:ext cx="558564" cy="402953"/>
          </a:xfrm>
          <a:prstGeom prst="rect">
            <a:avLst/>
          </a:prstGeom>
          <a:noFill/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062" y="1721961"/>
            <a:ext cx="558564" cy="402953"/>
          </a:xfrm>
          <a:prstGeom prst="rect">
            <a:avLst/>
          </a:prstGeom>
          <a:noFill/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974" y="1710080"/>
            <a:ext cx="558564" cy="402953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150746" y="1825827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46" name="TextBox 45"/>
          <p:cNvSpPr txBox="1"/>
          <p:nvPr/>
        </p:nvSpPr>
        <p:spPr>
          <a:xfrm>
            <a:off x="1760290" y="1825827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100</a:t>
            </a:r>
            <a:endParaRPr lang="ko-KR" altLang="en-US" sz="1100" b="1"/>
          </a:p>
        </p:txBody>
      </p:sp>
      <p:sp>
        <p:nvSpPr>
          <p:cNvPr id="47" name="TextBox 46"/>
          <p:cNvSpPr txBox="1"/>
          <p:nvPr/>
        </p:nvSpPr>
        <p:spPr>
          <a:xfrm>
            <a:off x="2345539" y="1820951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105</a:t>
            </a:r>
            <a:endParaRPr lang="ko-KR" altLang="en-US" sz="1100" b="1"/>
          </a:p>
        </p:txBody>
      </p:sp>
      <p:sp>
        <p:nvSpPr>
          <p:cNvPr id="48" name="TextBox 47"/>
          <p:cNvSpPr txBox="1"/>
          <p:nvPr/>
        </p:nvSpPr>
        <p:spPr>
          <a:xfrm>
            <a:off x="2910564" y="1814601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110</a:t>
            </a:r>
            <a:endParaRPr lang="ko-KR" altLang="en-US" sz="1100" b="1"/>
          </a:p>
        </p:txBody>
      </p:sp>
      <p:sp>
        <p:nvSpPr>
          <p:cNvPr id="49" name="TextBox 48"/>
          <p:cNvSpPr txBox="1"/>
          <p:nvPr/>
        </p:nvSpPr>
        <p:spPr>
          <a:xfrm>
            <a:off x="3479072" y="1824365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115</a:t>
            </a:r>
            <a:endParaRPr lang="ko-KR" altLang="en-US" sz="1100" b="1"/>
          </a:p>
        </p:txBody>
      </p:sp>
      <p:sp>
        <p:nvSpPr>
          <p:cNvPr id="50" name="TextBox 49"/>
          <p:cNvSpPr txBox="1"/>
          <p:nvPr/>
        </p:nvSpPr>
        <p:spPr>
          <a:xfrm>
            <a:off x="1150746" y="2379091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51" name="TextBox 50"/>
          <p:cNvSpPr txBox="1"/>
          <p:nvPr/>
        </p:nvSpPr>
        <p:spPr>
          <a:xfrm>
            <a:off x="1751977" y="2379091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100</a:t>
            </a:r>
            <a:endParaRPr lang="ko-KR" altLang="en-US" sz="1100" b="1"/>
          </a:p>
        </p:txBody>
      </p:sp>
      <p:sp>
        <p:nvSpPr>
          <p:cNvPr id="52" name="TextBox 51"/>
          <p:cNvSpPr txBox="1"/>
          <p:nvPr/>
        </p:nvSpPr>
        <p:spPr>
          <a:xfrm>
            <a:off x="2345540" y="2365902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105</a:t>
            </a:r>
            <a:endParaRPr lang="ko-KR" altLang="en-US" sz="1100" b="1"/>
          </a:p>
        </p:txBody>
      </p:sp>
      <p:sp>
        <p:nvSpPr>
          <p:cNvPr id="53" name="TextBox 52"/>
          <p:cNvSpPr txBox="1"/>
          <p:nvPr/>
        </p:nvSpPr>
        <p:spPr>
          <a:xfrm>
            <a:off x="2910564" y="2359552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87385" y="2361003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115</a:t>
            </a:r>
            <a:endParaRPr lang="ko-KR" altLang="en-US" sz="1100" b="1"/>
          </a:p>
        </p:txBody>
      </p:sp>
      <p:sp>
        <p:nvSpPr>
          <p:cNvPr id="10" name="TextBox 9"/>
          <p:cNvSpPr txBox="1"/>
          <p:nvPr/>
        </p:nvSpPr>
        <p:spPr>
          <a:xfrm>
            <a:off x="917477" y="2895495"/>
            <a:ext cx="25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</a:t>
            </a:r>
            <a:r>
              <a:rPr lang="en-US" altLang="ko-KR" dirty="0"/>
              <a:t>) </a:t>
            </a:r>
            <a:r>
              <a:rPr lang="en-US" altLang="ko-KR" dirty="0" smtClean="0"/>
              <a:t>MTE2RS2201 LGR B00</a:t>
            </a:r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1344377" y="3192087"/>
            <a:ext cx="1193423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7737" y="3410506"/>
            <a:ext cx="1234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제품코드</a:t>
            </a:r>
            <a:r>
              <a:rPr lang="en-US" altLang="ko-KR" sz="1400" dirty="0" smtClean="0"/>
              <a:t>(10)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2197431" y="3429687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컬러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cxnSp>
        <p:nvCxnSpPr>
          <p:cNvPr id="57" name="직선 연결선 56"/>
          <p:cNvCxnSpPr/>
          <p:nvPr/>
        </p:nvCxnSpPr>
        <p:spPr>
          <a:xfrm>
            <a:off x="2611390" y="3192087"/>
            <a:ext cx="34422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flipV="1">
            <a:off x="3023307" y="3192087"/>
            <a:ext cx="311028" cy="2052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endCxn id="16" idx="0"/>
          </p:cNvCxnSpPr>
          <p:nvPr/>
        </p:nvCxnSpPr>
        <p:spPr>
          <a:xfrm flipH="1">
            <a:off x="1605054" y="3192087"/>
            <a:ext cx="340124" cy="218419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2562495" y="3224583"/>
            <a:ext cx="113718" cy="236621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930945" y="3420667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  <a:r>
              <a:rPr lang="ko-KR" altLang="en-US" sz="1400" smtClean="0"/>
              <a:t>순번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489123" y="3902324"/>
            <a:ext cx="3332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BOX COLOR ASSORT –1</a:t>
            </a:r>
            <a:r>
              <a:rPr lang="ko-KR" altLang="en-US" sz="1200" b="1" smtClean="0"/>
              <a:t>제품</a:t>
            </a:r>
            <a:r>
              <a:rPr lang="en-US" altLang="ko-KR" sz="1200" b="1" dirty="0" smtClean="0"/>
              <a:t> </a:t>
            </a:r>
            <a:r>
              <a:rPr lang="en-US" altLang="ko-KR" sz="1200" b="1" dirty="0"/>
              <a:t>N</a:t>
            </a:r>
            <a:r>
              <a:rPr lang="en-US" altLang="ko-KR" sz="1200" b="1" dirty="0" smtClean="0"/>
              <a:t> </a:t>
            </a:r>
            <a:r>
              <a:rPr lang="ko-KR" altLang="en-US" sz="1200" b="1" smtClean="0"/>
              <a:t>칼라 </a:t>
            </a:r>
            <a:r>
              <a:rPr lang="en-US" altLang="ko-KR" sz="1200" b="1" dirty="0" smtClean="0"/>
              <a:t>N</a:t>
            </a:r>
            <a:r>
              <a:rPr lang="ko-KR" altLang="en-US" sz="1200" b="1" smtClean="0"/>
              <a:t>사이즈</a:t>
            </a:r>
            <a:endParaRPr lang="ko-KR" altLang="en-US" sz="1200" b="1" dirty="0"/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66" y="4424035"/>
            <a:ext cx="558564" cy="402953"/>
          </a:xfrm>
          <a:prstGeom prst="rect">
            <a:avLst/>
          </a:prstGeom>
          <a:noFill/>
        </p:spPr>
      </p:pic>
      <p:sp>
        <p:nvSpPr>
          <p:cNvPr id="80" name="모서리가 둥근 직사각형 79"/>
          <p:cNvSpPr/>
          <p:nvPr/>
        </p:nvSpPr>
        <p:spPr>
          <a:xfrm>
            <a:off x="905815" y="4329929"/>
            <a:ext cx="3208713" cy="116378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552" y="4424035"/>
            <a:ext cx="604742" cy="439416"/>
          </a:xfrm>
          <a:prstGeom prst="rect">
            <a:avLst/>
          </a:prstGeom>
          <a:noFill/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37" y="4930070"/>
            <a:ext cx="606497" cy="437532"/>
          </a:xfrm>
          <a:prstGeom prst="rect">
            <a:avLst/>
          </a:prstGeom>
          <a:noFill/>
        </p:spPr>
      </p:pic>
      <p:pic>
        <p:nvPicPr>
          <p:cNvPr id="90" name="그림 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32" y="4424014"/>
            <a:ext cx="623186" cy="449572"/>
          </a:xfrm>
          <a:prstGeom prst="rect">
            <a:avLst/>
          </a:prstGeom>
          <a:noFill/>
        </p:spPr>
      </p:pic>
      <p:sp>
        <p:nvSpPr>
          <p:cNvPr id="95" name="TextBox 94"/>
          <p:cNvSpPr txBox="1"/>
          <p:nvPr/>
        </p:nvSpPr>
        <p:spPr>
          <a:xfrm>
            <a:off x="1167567" y="4517995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96" name="TextBox 95"/>
          <p:cNvSpPr txBox="1"/>
          <p:nvPr/>
        </p:nvSpPr>
        <p:spPr>
          <a:xfrm>
            <a:off x="1731063" y="4555210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100</a:t>
            </a:r>
            <a:endParaRPr lang="ko-KR" altLang="en-US" sz="1100" b="1"/>
          </a:p>
        </p:txBody>
      </p:sp>
      <p:sp>
        <p:nvSpPr>
          <p:cNvPr id="97" name="TextBox 96"/>
          <p:cNvSpPr txBox="1"/>
          <p:nvPr/>
        </p:nvSpPr>
        <p:spPr>
          <a:xfrm>
            <a:off x="2370204" y="4513273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105</a:t>
            </a:r>
            <a:endParaRPr lang="ko-KR" altLang="en-US" sz="1100" b="1"/>
          </a:p>
        </p:txBody>
      </p:sp>
      <p:sp>
        <p:nvSpPr>
          <p:cNvPr id="98" name="TextBox 97"/>
          <p:cNvSpPr txBox="1"/>
          <p:nvPr/>
        </p:nvSpPr>
        <p:spPr>
          <a:xfrm>
            <a:off x="2995376" y="4540860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110</a:t>
            </a:r>
            <a:endParaRPr lang="ko-KR" altLang="en-US" sz="1100" b="1"/>
          </a:p>
        </p:txBody>
      </p:sp>
      <p:sp>
        <p:nvSpPr>
          <p:cNvPr id="99" name="TextBox 98"/>
          <p:cNvSpPr txBox="1"/>
          <p:nvPr/>
        </p:nvSpPr>
        <p:spPr>
          <a:xfrm>
            <a:off x="3555391" y="4513527"/>
            <a:ext cx="402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115</a:t>
            </a:r>
            <a:endParaRPr lang="ko-KR" altLang="en-US" sz="1100" b="1"/>
          </a:p>
        </p:txBody>
      </p:sp>
      <p:sp>
        <p:nvSpPr>
          <p:cNvPr id="101" name="TextBox 100"/>
          <p:cNvSpPr txBox="1"/>
          <p:nvPr/>
        </p:nvSpPr>
        <p:spPr>
          <a:xfrm>
            <a:off x="1712920" y="5063716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100</a:t>
            </a:r>
            <a:endParaRPr lang="ko-KR" altLang="en-US" sz="1100" b="1"/>
          </a:p>
        </p:txBody>
      </p:sp>
      <p:sp>
        <p:nvSpPr>
          <p:cNvPr id="102" name="TextBox 101"/>
          <p:cNvSpPr txBox="1"/>
          <p:nvPr/>
        </p:nvSpPr>
        <p:spPr>
          <a:xfrm>
            <a:off x="2370205" y="5058224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105</a:t>
            </a:r>
            <a:endParaRPr lang="ko-KR" altLang="en-US" sz="1100" b="1"/>
          </a:p>
        </p:txBody>
      </p:sp>
      <p:sp>
        <p:nvSpPr>
          <p:cNvPr id="103" name="TextBox 102"/>
          <p:cNvSpPr txBox="1"/>
          <p:nvPr/>
        </p:nvSpPr>
        <p:spPr>
          <a:xfrm>
            <a:off x="2935229" y="5051874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20263" y="5039373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115</a:t>
            </a:r>
            <a:endParaRPr lang="ko-KR" altLang="en-US" sz="1100" b="1"/>
          </a:p>
        </p:txBody>
      </p:sp>
      <p:sp>
        <p:nvSpPr>
          <p:cNvPr id="105" name="TextBox 104"/>
          <p:cNvSpPr txBox="1"/>
          <p:nvPr/>
        </p:nvSpPr>
        <p:spPr>
          <a:xfrm>
            <a:off x="942142" y="5587817"/>
            <a:ext cx="2392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</a:t>
            </a:r>
            <a:r>
              <a:rPr lang="en-US" altLang="ko-KR" dirty="0"/>
              <a:t>) </a:t>
            </a:r>
            <a:r>
              <a:rPr lang="en-US" altLang="ko-KR" dirty="0" smtClean="0"/>
              <a:t>MTE2RS2201 ... B00</a:t>
            </a:r>
            <a:endParaRPr lang="ko-KR" altLang="en-US"/>
          </a:p>
        </p:txBody>
      </p:sp>
      <p:cxnSp>
        <p:nvCxnSpPr>
          <p:cNvPr id="106" name="직선 연결선 105"/>
          <p:cNvCxnSpPr/>
          <p:nvPr/>
        </p:nvCxnSpPr>
        <p:spPr>
          <a:xfrm>
            <a:off x="1369042" y="5884409"/>
            <a:ext cx="1193423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12402" y="6102828"/>
            <a:ext cx="1234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제품코드</a:t>
            </a:r>
            <a:r>
              <a:rPr lang="en-US" altLang="ko-KR" sz="1400" dirty="0" smtClean="0"/>
              <a:t>(10)</a:t>
            </a:r>
            <a:endParaRPr lang="ko-KR" altLang="en-US" sz="1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2222096" y="6122009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컬러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cxnSp>
        <p:nvCxnSpPr>
          <p:cNvPr id="109" name="직선 연결선 108"/>
          <p:cNvCxnSpPr/>
          <p:nvPr/>
        </p:nvCxnSpPr>
        <p:spPr>
          <a:xfrm>
            <a:off x="2636055" y="5884409"/>
            <a:ext cx="280545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V="1">
            <a:off x="2955610" y="5884409"/>
            <a:ext cx="311028" cy="2052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endCxn id="107" idx="0"/>
          </p:cNvCxnSpPr>
          <p:nvPr/>
        </p:nvCxnSpPr>
        <p:spPr>
          <a:xfrm flipH="1">
            <a:off x="1629719" y="5884409"/>
            <a:ext cx="340124" cy="218419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 flipH="1">
            <a:off x="2587160" y="5916905"/>
            <a:ext cx="113718" cy="236621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2955610" y="611298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</a:t>
            </a:r>
            <a:r>
              <a:rPr lang="ko-KR" altLang="en-US" sz="1400" smtClean="0"/>
              <a:t>순번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pic>
        <p:nvPicPr>
          <p:cNvPr id="115" name="그림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01" y="4932318"/>
            <a:ext cx="589716" cy="45507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174231" y="5039373"/>
            <a:ext cx="437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/>
              <a:t>90</a:t>
            </a:r>
            <a:endParaRPr lang="ko-KR" altLang="en-US" sz="1100" b="1"/>
          </a:p>
        </p:txBody>
      </p:sp>
      <p:sp>
        <p:nvSpPr>
          <p:cNvPr id="117" name="오른쪽 화살표 116"/>
          <p:cNvSpPr/>
          <p:nvPr/>
        </p:nvSpPr>
        <p:spPr>
          <a:xfrm>
            <a:off x="4210723" y="2017126"/>
            <a:ext cx="1949008" cy="661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r>
              <a:rPr lang="ko-KR" altLang="en-US" smtClean="0"/>
              <a:t>묶음</a:t>
            </a:r>
            <a:r>
              <a:rPr lang="en-US" altLang="ko-KR" dirty="0"/>
              <a:t> </a:t>
            </a:r>
            <a:r>
              <a:rPr lang="en-US" altLang="ko-KR" dirty="0" smtClean="0"/>
              <a:t>1BOX</a:t>
            </a:r>
            <a:endParaRPr lang="ko-KR" altLang="en-US"/>
          </a:p>
        </p:txBody>
      </p:sp>
      <p:pic>
        <p:nvPicPr>
          <p:cNvPr id="118" name="그림 1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57" y="920728"/>
            <a:ext cx="2635462" cy="2635462"/>
          </a:xfrm>
          <a:prstGeom prst="rect">
            <a:avLst/>
          </a:prstGeom>
        </p:spPr>
      </p:pic>
      <p:sp>
        <p:nvSpPr>
          <p:cNvPr id="119" name="오른쪽 화살표 118"/>
          <p:cNvSpPr/>
          <p:nvPr/>
        </p:nvSpPr>
        <p:spPr>
          <a:xfrm>
            <a:off x="4174308" y="4555210"/>
            <a:ext cx="1949008" cy="661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r>
              <a:rPr lang="ko-KR" altLang="en-US" smtClean="0"/>
              <a:t>묶음</a:t>
            </a:r>
            <a:r>
              <a:rPr lang="en-US" altLang="ko-KR" dirty="0"/>
              <a:t> </a:t>
            </a:r>
            <a:r>
              <a:rPr lang="en-US" altLang="ko-KR" dirty="0" smtClean="0"/>
              <a:t>1BOX</a:t>
            </a:r>
            <a:endParaRPr lang="ko-KR" altLang="en-US"/>
          </a:p>
        </p:txBody>
      </p:sp>
      <p:pic>
        <p:nvPicPr>
          <p:cNvPr id="120" name="그림 1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29" y="3718283"/>
            <a:ext cx="2635462" cy="2635462"/>
          </a:xfrm>
          <a:prstGeom prst="rect">
            <a:avLst/>
          </a:prstGeom>
        </p:spPr>
      </p:pic>
      <p:cxnSp>
        <p:nvCxnSpPr>
          <p:cNvPr id="74" name="직선 화살표 연결선 73"/>
          <p:cNvCxnSpPr>
            <a:endCxn id="77" idx="0"/>
          </p:cNvCxnSpPr>
          <p:nvPr/>
        </p:nvCxnSpPr>
        <p:spPr>
          <a:xfrm>
            <a:off x="3178821" y="3233546"/>
            <a:ext cx="193111" cy="187121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>
            <a:off x="3032770" y="5934888"/>
            <a:ext cx="193111" cy="187121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2-2</a:t>
            </a:r>
          </a:p>
        </p:txBody>
      </p:sp>
      <p:sp>
        <p:nvSpPr>
          <p:cNvPr id="75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패킹유형 </a:t>
            </a:r>
            <a:r>
              <a:rPr lang="en-US" altLang="ko-KR" sz="1400" b="1" dirty="0" smtClean="0"/>
              <a:t>– ASSORT </a:t>
            </a:r>
            <a:r>
              <a:rPr lang="ko-KR" altLang="en-US" sz="1400" b="1" dirty="0" smtClean="0"/>
              <a:t>패킹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65066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1. </a:t>
            </a:r>
            <a:r>
              <a:rPr lang="ko-KR" altLang="en-US" sz="1400" b="1" dirty="0" smtClean="0"/>
              <a:t>용어 및 개념정리</a:t>
            </a:r>
            <a:endParaRPr lang="ko-KR" altLang="en-US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99011" y="1219617"/>
            <a:ext cx="27367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200" b="1" dirty="0"/>
              <a:t>SET </a:t>
            </a:r>
            <a:r>
              <a:rPr lang="en-US" altLang="ko-KR" sz="1200" b="1" dirty="0" smtClean="0"/>
              <a:t>SIZE </a:t>
            </a:r>
            <a:r>
              <a:rPr lang="en-US" altLang="ko-KR" sz="1200" b="1" dirty="0"/>
              <a:t>ASSORT </a:t>
            </a:r>
            <a:r>
              <a:rPr lang="en-US" altLang="ko-KR" sz="1200" b="1" dirty="0" smtClean="0"/>
              <a:t>– 1 </a:t>
            </a:r>
            <a:r>
              <a:rPr lang="ko-KR" altLang="en-US" sz="1200" b="1" smtClean="0"/>
              <a:t>칼라 </a:t>
            </a:r>
            <a:r>
              <a:rPr lang="en-US" altLang="ko-KR" sz="1200" b="1" dirty="0" smtClean="0"/>
              <a:t>N</a:t>
            </a:r>
            <a:r>
              <a:rPr lang="ko-KR" altLang="en-US" sz="1200" b="1" smtClean="0"/>
              <a:t>사이즈</a:t>
            </a:r>
            <a:endParaRPr lang="ko-KR" altLang="en-US" sz="1200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612074" y="1611831"/>
            <a:ext cx="405450" cy="275223"/>
            <a:chOff x="281144" y="2211152"/>
            <a:chExt cx="405450" cy="275223"/>
          </a:xfrm>
        </p:grpSpPr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1009118" y="2292172"/>
            <a:ext cx="388045" cy="276306"/>
            <a:chOff x="1086262" y="2209713"/>
            <a:chExt cx="388045" cy="276306"/>
          </a:xfrm>
        </p:grpSpPr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6262" y="2209713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47" name="TextBox 46"/>
            <p:cNvSpPr txBox="1"/>
            <p:nvPr/>
          </p:nvSpPr>
          <p:spPr>
            <a:xfrm>
              <a:off x="1106722" y="2275803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71178" y="3078026"/>
            <a:ext cx="257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</a:t>
            </a:r>
            <a:r>
              <a:rPr lang="en-US" altLang="ko-KR" dirty="0"/>
              <a:t>) </a:t>
            </a:r>
            <a:r>
              <a:rPr lang="en-US" altLang="ko-KR" b="1" dirty="0" smtClean="0"/>
              <a:t>MTE2RS2201</a:t>
            </a:r>
            <a:r>
              <a:rPr lang="en-US" altLang="ko-KR" dirty="0" smtClean="0"/>
              <a:t> </a:t>
            </a:r>
            <a:r>
              <a:rPr lang="en-US" altLang="ko-KR" dirty="0"/>
              <a:t>LGR </a:t>
            </a:r>
            <a:r>
              <a:rPr lang="en-US" altLang="ko-KR" dirty="0" smtClean="0"/>
              <a:t>S00</a:t>
            </a:r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898078" y="3374618"/>
            <a:ext cx="1193423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1438" y="3593037"/>
            <a:ext cx="1234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제품코드</a:t>
            </a:r>
            <a:r>
              <a:rPr lang="en-US" altLang="ko-KR" sz="1400" dirty="0" smtClean="0"/>
              <a:t>(10)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1751132" y="3612218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컬러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2592370" y="3377077"/>
            <a:ext cx="311028" cy="2052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endCxn id="16" idx="0"/>
          </p:cNvCxnSpPr>
          <p:nvPr/>
        </p:nvCxnSpPr>
        <p:spPr>
          <a:xfrm flipH="1">
            <a:off x="1158755" y="3374618"/>
            <a:ext cx="340124" cy="218419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2116196" y="3378103"/>
            <a:ext cx="144866" cy="265632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484646" y="3603198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</a:t>
            </a:r>
            <a:r>
              <a:rPr lang="ko-KR" altLang="en-US" sz="1400" smtClean="0"/>
              <a:t>순번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489123" y="3902324"/>
            <a:ext cx="2899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200" b="1" dirty="0"/>
              <a:t>SET </a:t>
            </a:r>
            <a:r>
              <a:rPr lang="en-US" altLang="ko-KR" sz="1200" b="1" dirty="0" smtClean="0"/>
              <a:t>COLOR ASSORT – </a:t>
            </a:r>
            <a:r>
              <a:rPr lang="en-US" altLang="ko-KR" sz="1200" b="1" dirty="0"/>
              <a:t>N</a:t>
            </a:r>
            <a:r>
              <a:rPr lang="en-US" altLang="ko-KR" sz="1200" b="1" dirty="0" smtClean="0"/>
              <a:t> </a:t>
            </a:r>
            <a:r>
              <a:rPr lang="ko-KR" altLang="en-US" sz="1200" b="1" smtClean="0"/>
              <a:t>칼라 </a:t>
            </a:r>
            <a:r>
              <a:rPr lang="en-US" altLang="ko-KR" sz="1200" b="1" dirty="0" smtClean="0"/>
              <a:t>N</a:t>
            </a:r>
            <a:r>
              <a:rPr lang="ko-KR" altLang="en-US" sz="1200" b="1" smtClean="0"/>
              <a:t>사이즈</a:t>
            </a:r>
            <a:endParaRPr lang="ko-KR" altLang="en-US" sz="12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4475" y="4254277"/>
            <a:ext cx="896362" cy="160188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/>
          <p:cNvSpPr txBox="1"/>
          <p:nvPr/>
        </p:nvSpPr>
        <p:spPr>
          <a:xfrm>
            <a:off x="493508" y="5800477"/>
            <a:ext cx="2372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</a:t>
            </a:r>
            <a:r>
              <a:rPr lang="en-US" altLang="ko-KR" dirty="0"/>
              <a:t>) </a:t>
            </a:r>
            <a:r>
              <a:rPr lang="en-US" altLang="ko-KR" dirty="0" smtClean="0"/>
              <a:t>MTE2RS2201 ... S00</a:t>
            </a:r>
            <a:endParaRPr lang="ko-KR" altLang="en-US"/>
          </a:p>
        </p:txBody>
      </p:sp>
      <p:cxnSp>
        <p:nvCxnSpPr>
          <p:cNvPr id="106" name="직선 연결선 105"/>
          <p:cNvCxnSpPr/>
          <p:nvPr/>
        </p:nvCxnSpPr>
        <p:spPr>
          <a:xfrm>
            <a:off x="920408" y="6097069"/>
            <a:ext cx="1193423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63768" y="6315488"/>
            <a:ext cx="1234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제품코드</a:t>
            </a:r>
            <a:r>
              <a:rPr lang="en-US" altLang="ko-KR" sz="1400" dirty="0" smtClean="0"/>
              <a:t>(10)</a:t>
            </a:r>
            <a:endParaRPr lang="ko-KR" altLang="en-US" sz="1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1773462" y="6334669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컬러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cxnSp>
        <p:nvCxnSpPr>
          <p:cNvPr id="109" name="직선 연결선 108"/>
          <p:cNvCxnSpPr/>
          <p:nvPr/>
        </p:nvCxnSpPr>
        <p:spPr>
          <a:xfrm>
            <a:off x="2187421" y="6097069"/>
            <a:ext cx="280545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V="1">
            <a:off x="2506976" y="6097069"/>
            <a:ext cx="311028" cy="2052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 flipH="1">
            <a:off x="1181085" y="6097069"/>
            <a:ext cx="340124" cy="218419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 flipH="1">
            <a:off x="2138526" y="6129565"/>
            <a:ext cx="113718" cy="236621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2506976" y="6325649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</a:t>
            </a:r>
            <a:r>
              <a:rPr lang="ko-KR" altLang="en-US" sz="1400" smtClean="0"/>
              <a:t>순번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486122" y="5026030"/>
            <a:ext cx="899546" cy="735084"/>
            <a:chOff x="469495" y="4984465"/>
            <a:chExt cx="907829" cy="673566"/>
          </a:xfrm>
        </p:grpSpPr>
        <p:pic>
          <p:nvPicPr>
            <p:cNvPr id="116" name="그림 11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" r="37840"/>
            <a:stretch/>
          </p:blipFill>
          <p:spPr>
            <a:xfrm>
              <a:off x="469495" y="4984465"/>
              <a:ext cx="819090" cy="663975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513337" y="5078245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31901" y="5442587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940183" y="5071303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6194" y="5434444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sp>
        <p:nvSpPr>
          <p:cNvPr id="117" name="오른쪽 화살표 116"/>
          <p:cNvSpPr/>
          <p:nvPr/>
        </p:nvSpPr>
        <p:spPr>
          <a:xfrm>
            <a:off x="4210723" y="2017126"/>
            <a:ext cx="1949008" cy="661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r>
              <a:rPr lang="ko-KR" altLang="en-US" smtClean="0"/>
              <a:t>묶음</a:t>
            </a:r>
            <a:r>
              <a:rPr lang="en-US" altLang="ko-KR" dirty="0" smtClean="0"/>
              <a:t> 1BOX</a:t>
            </a:r>
            <a:endParaRPr lang="ko-KR" altLang="en-US"/>
          </a:p>
        </p:txBody>
      </p:sp>
      <p:pic>
        <p:nvPicPr>
          <p:cNvPr id="118" name="그림 1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57" y="920728"/>
            <a:ext cx="2635462" cy="2635462"/>
          </a:xfrm>
          <a:prstGeom prst="rect">
            <a:avLst/>
          </a:prstGeom>
        </p:spPr>
      </p:pic>
      <p:sp>
        <p:nvSpPr>
          <p:cNvPr id="119" name="오른쪽 화살표 118"/>
          <p:cNvSpPr/>
          <p:nvPr/>
        </p:nvSpPr>
        <p:spPr>
          <a:xfrm>
            <a:off x="4238656" y="4555016"/>
            <a:ext cx="1949008" cy="661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r>
              <a:rPr lang="ko-KR" altLang="en-US" smtClean="0"/>
              <a:t>묶음</a:t>
            </a:r>
            <a:r>
              <a:rPr lang="en-US" altLang="ko-KR" dirty="0" smtClean="0"/>
              <a:t> 1BOX</a:t>
            </a:r>
            <a:endParaRPr lang="ko-KR" altLang="en-US"/>
          </a:p>
        </p:txBody>
      </p:sp>
      <p:pic>
        <p:nvPicPr>
          <p:cNvPr id="120" name="그림 1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29" y="3718283"/>
            <a:ext cx="2635462" cy="2635462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1003372" y="2658129"/>
            <a:ext cx="391739" cy="281182"/>
            <a:chOff x="696824" y="2210270"/>
            <a:chExt cx="391739" cy="281182"/>
          </a:xfrm>
        </p:grpSpPr>
        <p:pic>
          <p:nvPicPr>
            <p:cNvPr id="82" name="그림 8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83" name="TextBox 82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grpSp>
        <p:nvGrpSpPr>
          <p:cNvPr id="121" name="그룹 120"/>
          <p:cNvGrpSpPr/>
          <p:nvPr/>
        </p:nvGrpSpPr>
        <p:grpSpPr>
          <a:xfrm>
            <a:off x="613898" y="2287795"/>
            <a:ext cx="405450" cy="275223"/>
            <a:chOff x="281144" y="2211152"/>
            <a:chExt cx="405450" cy="275223"/>
          </a:xfrm>
        </p:grpSpPr>
        <p:pic>
          <p:nvPicPr>
            <p:cNvPr id="122" name="그림 1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23" name="TextBox 122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615790" y="1940159"/>
            <a:ext cx="405450" cy="275223"/>
            <a:chOff x="281144" y="2211152"/>
            <a:chExt cx="405450" cy="275223"/>
          </a:xfrm>
        </p:grpSpPr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26" name="TextBox 125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27" name="그룹 126"/>
          <p:cNvGrpSpPr/>
          <p:nvPr/>
        </p:nvGrpSpPr>
        <p:grpSpPr>
          <a:xfrm>
            <a:off x="1008488" y="1910257"/>
            <a:ext cx="405450" cy="275223"/>
            <a:chOff x="281144" y="2211152"/>
            <a:chExt cx="405450" cy="275223"/>
          </a:xfrm>
        </p:grpSpPr>
        <p:pic>
          <p:nvPicPr>
            <p:cNvPr id="128" name="그림 1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29" name="TextBox 128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599556" y="2669398"/>
            <a:ext cx="391739" cy="281182"/>
            <a:chOff x="696824" y="2210270"/>
            <a:chExt cx="391739" cy="281182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32" name="TextBox 131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sp>
        <p:nvSpPr>
          <p:cNvPr id="7" name="모서리가 둥근 직사각형 6"/>
          <p:cNvSpPr/>
          <p:nvPr/>
        </p:nvSpPr>
        <p:spPr>
          <a:xfrm>
            <a:off x="568818" y="1567176"/>
            <a:ext cx="879491" cy="1492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3" name="그룹 132"/>
          <p:cNvGrpSpPr/>
          <p:nvPr/>
        </p:nvGrpSpPr>
        <p:grpSpPr>
          <a:xfrm>
            <a:off x="991295" y="1613758"/>
            <a:ext cx="391739" cy="281182"/>
            <a:chOff x="696824" y="2210270"/>
            <a:chExt cx="391739" cy="281182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35" name="TextBox 134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1604736" y="1603751"/>
            <a:ext cx="405450" cy="275223"/>
            <a:chOff x="281144" y="2211152"/>
            <a:chExt cx="405450" cy="275223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38" name="TextBox 137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2001780" y="2284092"/>
            <a:ext cx="388045" cy="276306"/>
            <a:chOff x="1086262" y="2209713"/>
            <a:chExt cx="388045" cy="276306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6262" y="2209713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41" name="TextBox 140"/>
            <p:cNvSpPr txBox="1"/>
            <p:nvPr/>
          </p:nvSpPr>
          <p:spPr>
            <a:xfrm>
              <a:off x="1106722" y="2275803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1996034" y="2650049"/>
            <a:ext cx="391739" cy="281182"/>
            <a:chOff x="696824" y="2210270"/>
            <a:chExt cx="391739" cy="281182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44" name="TextBox 143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grpSp>
        <p:nvGrpSpPr>
          <p:cNvPr id="145" name="그룹 144"/>
          <p:cNvGrpSpPr/>
          <p:nvPr/>
        </p:nvGrpSpPr>
        <p:grpSpPr>
          <a:xfrm>
            <a:off x="1606560" y="2279715"/>
            <a:ext cx="405450" cy="275223"/>
            <a:chOff x="281144" y="2211152"/>
            <a:chExt cx="405450" cy="275223"/>
          </a:xfrm>
        </p:grpSpPr>
        <p:pic>
          <p:nvPicPr>
            <p:cNvPr id="146" name="그림 1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47" name="TextBox 146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1608452" y="1932079"/>
            <a:ext cx="405450" cy="275223"/>
            <a:chOff x="281144" y="2211152"/>
            <a:chExt cx="405450" cy="275223"/>
          </a:xfrm>
        </p:grpSpPr>
        <p:pic>
          <p:nvPicPr>
            <p:cNvPr id="149" name="그림 1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50" name="TextBox 149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51" name="그룹 150"/>
          <p:cNvGrpSpPr/>
          <p:nvPr/>
        </p:nvGrpSpPr>
        <p:grpSpPr>
          <a:xfrm>
            <a:off x="2001150" y="1902177"/>
            <a:ext cx="405450" cy="275223"/>
            <a:chOff x="281144" y="2211152"/>
            <a:chExt cx="405450" cy="275223"/>
          </a:xfrm>
        </p:grpSpPr>
        <p:pic>
          <p:nvPicPr>
            <p:cNvPr id="152" name="그림 1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53" name="TextBox 152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1592218" y="2661318"/>
            <a:ext cx="391739" cy="281182"/>
            <a:chOff x="696824" y="2210270"/>
            <a:chExt cx="391739" cy="281182"/>
          </a:xfrm>
        </p:grpSpPr>
        <p:pic>
          <p:nvPicPr>
            <p:cNvPr id="155" name="그림 1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56" name="TextBox 155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sp>
        <p:nvSpPr>
          <p:cNvPr id="157" name="모서리가 둥근 직사각형 156"/>
          <p:cNvSpPr/>
          <p:nvPr/>
        </p:nvSpPr>
        <p:spPr>
          <a:xfrm>
            <a:off x="1561480" y="1559096"/>
            <a:ext cx="879491" cy="1492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8" name="그룹 157"/>
          <p:cNvGrpSpPr/>
          <p:nvPr/>
        </p:nvGrpSpPr>
        <p:grpSpPr>
          <a:xfrm>
            <a:off x="1983957" y="1605678"/>
            <a:ext cx="391739" cy="281182"/>
            <a:chOff x="696824" y="2210270"/>
            <a:chExt cx="391739" cy="281182"/>
          </a:xfrm>
        </p:grpSpPr>
        <p:pic>
          <p:nvPicPr>
            <p:cNvPr id="159" name="그림 1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60" name="TextBox 159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grpSp>
        <p:nvGrpSpPr>
          <p:cNvPr id="161" name="그룹 160"/>
          <p:cNvGrpSpPr/>
          <p:nvPr/>
        </p:nvGrpSpPr>
        <p:grpSpPr>
          <a:xfrm>
            <a:off x="2615102" y="1600442"/>
            <a:ext cx="405450" cy="275223"/>
            <a:chOff x="281144" y="2211152"/>
            <a:chExt cx="405450" cy="275223"/>
          </a:xfrm>
        </p:grpSpPr>
        <p:pic>
          <p:nvPicPr>
            <p:cNvPr id="162" name="그림 16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63" name="TextBox 162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64" name="그룹 163"/>
          <p:cNvGrpSpPr/>
          <p:nvPr/>
        </p:nvGrpSpPr>
        <p:grpSpPr>
          <a:xfrm>
            <a:off x="3012146" y="2280783"/>
            <a:ext cx="388045" cy="276306"/>
            <a:chOff x="1086262" y="2209713"/>
            <a:chExt cx="388045" cy="276306"/>
          </a:xfrm>
        </p:grpSpPr>
        <p:pic>
          <p:nvPicPr>
            <p:cNvPr id="165" name="그림 1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6262" y="2209713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66" name="TextBox 165"/>
            <p:cNvSpPr txBox="1"/>
            <p:nvPr/>
          </p:nvSpPr>
          <p:spPr>
            <a:xfrm>
              <a:off x="1106722" y="2275803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</p:grpSp>
      <p:grpSp>
        <p:nvGrpSpPr>
          <p:cNvPr id="167" name="그룹 166"/>
          <p:cNvGrpSpPr/>
          <p:nvPr/>
        </p:nvGrpSpPr>
        <p:grpSpPr>
          <a:xfrm>
            <a:off x="3006400" y="2646740"/>
            <a:ext cx="391739" cy="281182"/>
            <a:chOff x="696824" y="2210270"/>
            <a:chExt cx="391739" cy="281182"/>
          </a:xfrm>
        </p:grpSpPr>
        <p:pic>
          <p:nvPicPr>
            <p:cNvPr id="168" name="그림 16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69" name="TextBox 168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grpSp>
        <p:nvGrpSpPr>
          <p:cNvPr id="170" name="그룹 169"/>
          <p:cNvGrpSpPr/>
          <p:nvPr/>
        </p:nvGrpSpPr>
        <p:grpSpPr>
          <a:xfrm>
            <a:off x="2616926" y="2276406"/>
            <a:ext cx="405450" cy="275223"/>
            <a:chOff x="281144" y="2211152"/>
            <a:chExt cx="405450" cy="275223"/>
          </a:xfrm>
        </p:grpSpPr>
        <p:pic>
          <p:nvPicPr>
            <p:cNvPr id="171" name="그림 1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72" name="TextBox 171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73" name="그룹 172"/>
          <p:cNvGrpSpPr/>
          <p:nvPr/>
        </p:nvGrpSpPr>
        <p:grpSpPr>
          <a:xfrm>
            <a:off x="2618818" y="1928770"/>
            <a:ext cx="405450" cy="275223"/>
            <a:chOff x="281144" y="2211152"/>
            <a:chExt cx="405450" cy="275223"/>
          </a:xfrm>
        </p:grpSpPr>
        <p:pic>
          <p:nvPicPr>
            <p:cNvPr id="174" name="그림 1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75" name="TextBox 174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3011516" y="1898868"/>
            <a:ext cx="405450" cy="275223"/>
            <a:chOff x="281144" y="2211152"/>
            <a:chExt cx="405450" cy="275223"/>
          </a:xfrm>
        </p:grpSpPr>
        <p:pic>
          <p:nvPicPr>
            <p:cNvPr id="177" name="그림 1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144" y="2211152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78" name="TextBox 177"/>
            <p:cNvSpPr txBox="1"/>
            <p:nvPr/>
          </p:nvSpPr>
          <p:spPr>
            <a:xfrm>
              <a:off x="319009" y="2304139"/>
              <a:ext cx="367585" cy="110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179" name="그룹 178"/>
          <p:cNvGrpSpPr/>
          <p:nvPr/>
        </p:nvGrpSpPr>
        <p:grpSpPr>
          <a:xfrm>
            <a:off x="2602584" y="2658009"/>
            <a:ext cx="391739" cy="281182"/>
            <a:chOff x="696824" y="2210270"/>
            <a:chExt cx="391739" cy="281182"/>
          </a:xfrm>
        </p:grpSpPr>
        <p:pic>
          <p:nvPicPr>
            <p:cNvPr id="180" name="그림 17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81" name="TextBox 180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sp>
        <p:nvSpPr>
          <p:cNvPr id="182" name="모서리가 둥근 직사각형 181"/>
          <p:cNvSpPr/>
          <p:nvPr/>
        </p:nvSpPr>
        <p:spPr>
          <a:xfrm>
            <a:off x="2571846" y="1555787"/>
            <a:ext cx="879491" cy="1492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3" name="그룹 182"/>
          <p:cNvGrpSpPr/>
          <p:nvPr/>
        </p:nvGrpSpPr>
        <p:grpSpPr>
          <a:xfrm>
            <a:off x="2994323" y="1602369"/>
            <a:ext cx="391739" cy="281182"/>
            <a:chOff x="696824" y="2210270"/>
            <a:chExt cx="391739" cy="281182"/>
          </a:xfrm>
        </p:grpSpPr>
        <p:pic>
          <p:nvPicPr>
            <p:cNvPr id="184" name="그림 18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824" y="2210270"/>
              <a:ext cx="381508" cy="275223"/>
            </a:xfrm>
            <a:prstGeom prst="rect">
              <a:avLst/>
            </a:prstGeom>
            <a:noFill/>
          </p:spPr>
        </p:pic>
        <p:sp>
          <p:nvSpPr>
            <p:cNvPr id="185" name="TextBox 184"/>
            <p:cNvSpPr txBox="1"/>
            <p:nvPr/>
          </p:nvSpPr>
          <p:spPr>
            <a:xfrm>
              <a:off x="720978" y="2281236"/>
              <a:ext cx="367585" cy="210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488166" y="4273429"/>
            <a:ext cx="899546" cy="735084"/>
            <a:chOff x="469495" y="4984465"/>
            <a:chExt cx="907829" cy="673566"/>
          </a:xfrm>
        </p:grpSpPr>
        <p:pic>
          <p:nvPicPr>
            <p:cNvPr id="192" name="그림 19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" r="37840"/>
            <a:stretch/>
          </p:blipFill>
          <p:spPr>
            <a:xfrm>
              <a:off x="469495" y="4984465"/>
              <a:ext cx="819090" cy="663975"/>
            </a:xfrm>
            <a:prstGeom prst="rect">
              <a:avLst/>
            </a:prstGeom>
          </p:spPr>
        </p:pic>
        <p:sp>
          <p:nvSpPr>
            <p:cNvPr id="193" name="TextBox 192"/>
            <p:cNvSpPr txBox="1"/>
            <p:nvPr/>
          </p:nvSpPr>
          <p:spPr>
            <a:xfrm>
              <a:off x="513337" y="5078245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931901" y="5442587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40183" y="5071303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526194" y="5434444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sp>
        <p:nvSpPr>
          <p:cNvPr id="197" name="모서리가 둥근 직사각형 196"/>
          <p:cNvSpPr/>
          <p:nvPr/>
        </p:nvSpPr>
        <p:spPr>
          <a:xfrm>
            <a:off x="1510238" y="4249083"/>
            <a:ext cx="896362" cy="160188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8" name="그룹 197"/>
          <p:cNvGrpSpPr/>
          <p:nvPr/>
        </p:nvGrpSpPr>
        <p:grpSpPr>
          <a:xfrm>
            <a:off x="1531885" y="5020836"/>
            <a:ext cx="899546" cy="735084"/>
            <a:chOff x="469495" y="4984465"/>
            <a:chExt cx="907829" cy="673566"/>
          </a:xfrm>
        </p:grpSpPr>
        <p:pic>
          <p:nvPicPr>
            <p:cNvPr id="199" name="그림 19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" r="37840"/>
            <a:stretch/>
          </p:blipFill>
          <p:spPr>
            <a:xfrm>
              <a:off x="469495" y="4984465"/>
              <a:ext cx="819090" cy="663975"/>
            </a:xfrm>
            <a:prstGeom prst="rect">
              <a:avLst/>
            </a:prstGeom>
          </p:spPr>
        </p:pic>
        <p:sp>
          <p:nvSpPr>
            <p:cNvPr id="200" name="TextBox 199"/>
            <p:cNvSpPr txBox="1"/>
            <p:nvPr/>
          </p:nvSpPr>
          <p:spPr>
            <a:xfrm>
              <a:off x="513337" y="5078245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931901" y="5442587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940183" y="5071303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526194" y="5434444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204" name="그룹 203"/>
          <p:cNvGrpSpPr/>
          <p:nvPr/>
        </p:nvGrpSpPr>
        <p:grpSpPr>
          <a:xfrm>
            <a:off x="1533929" y="4268235"/>
            <a:ext cx="899546" cy="735084"/>
            <a:chOff x="469495" y="4984465"/>
            <a:chExt cx="907829" cy="673566"/>
          </a:xfrm>
        </p:grpSpPr>
        <p:pic>
          <p:nvPicPr>
            <p:cNvPr id="205" name="그림 20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" r="37840"/>
            <a:stretch/>
          </p:blipFill>
          <p:spPr>
            <a:xfrm>
              <a:off x="469495" y="4984465"/>
              <a:ext cx="819090" cy="663975"/>
            </a:xfrm>
            <a:prstGeom prst="rect">
              <a:avLst/>
            </a:prstGeom>
          </p:spPr>
        </p:pic>
        <p:sp>
          <p:nvSpPr>
            <p:cNvPr id="206" name="TextBox 205"/>
            <p:cNvSpPr txBox="1"/>
            <p:nvPr/>
          </p:nvSpPr>
          <p:spPr>
            <a:xfrm>
              <a:off x="513337" y="5078245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931901" y="5442587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940183" y="5071303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526194" y="5434444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sp>
        <p:nvSpPr>
          <p:cNvPr id="223" name="모서리가 둥근 직사각형 222"/>
          <p:cNvSpPr/>
          <p:nvPr/>
        </p:nvSpPr>
        <p:spPr>
          <a:xfrm>
            <a:off x="2504953" y="4224201"/>
            <a:ext cx="896362" cy="160188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4" name="그룹 223"/>
          <p:cNvGrpSpPr/>
          <p:nvPr/>
        </p:nvGrpSpPr>
        <p:grpSpPr>
          <a:xfrm>
            <a:off x="2526600" y="4995954"/>
            <a:ext cx="899546" cy="735084"/>
            <a:chOff x="469495" y="4984465"/>
            <a:chExt cx="907829" cy="673566"/>
          </a:xfrm>
        </p:grpSpPr>
        <p:pic>
          <p:nvPicPr>
            <p:cNvPr id="225" name="그림 22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" r="37840"/>
            <a:stretch/>
          </p:blipFill>
          <p:spPr>
            <a:xfrm>
              <a:off x="469495" y="4984465"/>
              <a:ext cx="819090" cy="663975"/>
            </a:xfrm>
            <a:prstGeom prst="rect">
              <a:avLst/>
            </a:prstGeom>
          </p:spPr>
        </p:pic>
        <p:sp>
          <p:nvSpPr>
            <p:cNvPr id="226" name="TextBox 225"/>
            <p:cNvSpPr txBox="1"/>
            <p:nvPr/>
          </p:nvSpPr>
          <p:spPr>
            <a:xfrm>
              <a:off x="513337" y="5078245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931901" y="5442587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940183" y="5071303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526194" y="5434444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grpSp>
        <p:nvGrpSpPr>
          <p:cNvPr id="230" name="그룹 229"/>
          <p:cNvGrpSpPr/>
          <p:nvPr/>
        </p:nvGrpSpPr>
        <p:grpSpPr>
          <a:xfrm>
            <a:off x="2528644" y="4243353"/>
            <a:ext cx="899546" cy="735084"/>
            <a:chOff x="469495" y="4984465"/>
            <a:chExt cx="907829" cy="673566"/>
          </a:xfrm>
        </p:grpSpPr>
        <p:pic>
          <p:nvPicPr>
            <p:cNvPr id="231" name="그림 230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" r="37840"/>
            <a:stretch/>
          </p:blipFill>
          <p:spPr>
            <a:xfrm>
              <a:off x="469495" y="4984465"/>
              <a:ext cx="819090" cy="663975"/>
            </a:xfrm>
            <a:prstGeom prst="rect">
              <a:avLst/>
            </a:prstGeom>
          </p:spPr>
        </p:pic>
        <p:sp>
          <p:nvSpPr>
            <p:cNvPr id="232" name="TextBox 231"/>
            <p:cNvSpPr txBox="1"/>
            <p:nvPr/>
          </p:nvSpPr>
          <p:spPr>
            <a:xfrm>
              <a:off x="513337" y="5078245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931901" y="5442587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100</a:t>
              </a:r>
              <a:endParaRPr lang="ko-KR" altLang="en-US" sz="800" b="1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40183" y="5071303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105</a:t>
              </a:r>
              <a:endParaRPr lang="ko-KR" altLang="en-US" sz="800" b="1"/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526194" y="5434444"/>
              <a:ext cx="4371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/>
                <a:t>90</a:t>
              </a:r>
              <a:endParaRPr lang="ko-KR" altLang="en-US" sz="800" b="1"/>
            </a:p>
          </p:txBody>
        </p:sp>
      </p:grpSp>
      <p:cxnSp>
        <p:nvCxnSpPr>
          <p:cNvPr id="188" name="직선 연결선 187"/>
          <p:cNvCxnSpPr/>
          <p:nvPr/>
        </p:nvCxnSpPr>
        <p:spPr>
          <a:xfrm>
            <a:off x="2153743" y="3374618"/>
            <a:ext cx="347900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/>
          <p:cNvCxnSpPr>
            <a:endCxn id="77" idx="0"/>
          </p:cNvCxnSpPr>
          <p:nvPr/>
        </p:nvCxnSpPr>
        <p:spPr>
          <a:xfrm>
            <a:off x="2747884" y="3391095"/>
            <a:ext cx="177749" cy="212103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2-3</a:t>
            </a:r>
          </a:p>
        </p:txBody>
      </p:sp>
      <p:sp>
        <p:nvSpPr>
          <p:cNvPr id="187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패킹유형 </a:t>
            </a:r>
            <a:r>
              <a:rPr lang="en-US" altLang="ko-KR" sz="1400" b="1" dirty="0" smtClean="0"/>
              <a:t>– ASSORT </a:t>
            </a:r>
            <a:r>
              <a:rPr lang="ko-KR" altLang="en-US" sz="1400" b="1" dirty="0" smtClean="0"/>
              <a:t>패킹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8576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1. </a:t>
            </a:r>
            <a:r>
              <a:rPr lang="ko-KR" altLang="en-US" sz="1400" b="1" dirty="0" smtClean="0"/>
              <a:t>용어 및 개념정리</a:t>
            </a:r>
            <a:endParaRPr lang="ko-KR" altLang="en-US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23030" y="1934512"/>
            <a:ext cx="290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1200" b="1" dirty="0" smtClean="0"/>
              <a:t>MIX ASSORT – </a:t>
            </a:r>
            <a:r>
              <a:rPr lang="en-US" altLang="ko-KR" sz="1200" b="1" dirty="0"/>
              <a:t>N</a:t>
            </a:r>
            <a:r>
              <a:rPr lang="ko-KR" altLang="en-US" sz="1200" b="1" smtClean="0"/>
              <a:t>칼라  </a:t>
            </a:r>
            <a:r>
              <a:rPr lang="en-US" altLang="ko-KR" sz="1200" b="1" dirty="0" smtClean="0"/>
              <a:t>N</a:t>
            </a:r>
            <a:r>
              <a:rPr lang="ko-KR" altLang="en-US" sz="1200" b="1" smtClean="0"/>
              <a:t>사이즈 </a:t>
            </a:r>
            <a:r>
              <a:rPr lang="en-US" altLang="ko-KR" sz="1200" b="1" dirty="0" smtClean="0"/>
              <a:t>N</a:t>
            </a:r>
            <a:r>
              <a:rPr lang="ko-KR" altLang="en-US" sz="1200" b="1" smtClean="0"/>
              <a:t>품번</a:t>
            </a:r>
            <a:endParaRPr lang="ko-KR" altLang="en-US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95197" y="3792921"/>
            <a:ext cx="2478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</a:t>
            </a:r>
            <a:r>
              <a:rPr lang="en-US" altLang="ko-KR" dirty="0"/>
              <a:t>) </a:t>
            </a:r>
            <a:r>
              <a:rPr lang="en-US" altLang="ko-KR" b="1" dirty="0"/>
              <a:t>NNC2TR1994AT0018</a:t>
            </a:r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822097" y="4089513"/>
            <a:ext cx="1193423" cy="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5312" y="4452752"/>
            <a:ext cx="1234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제품코드</a:t>
            </a:r>
            <a:r>
              <a:rPr lang="en-US" altLang="ko-KR" sz="1400" dirty="0" smtClean="0"/>
              <a:t>(10)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1359878" y="4452752"/>
            <a:ext cx="1681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차수＋Ｔ＋</a:t>
            </a:r>
            <a:r>
              <a:rPr lang="ko-KR" altLang="en-US" sz="1400" dirty="0"/>
              <a:t>순</a:t>
            </a:r>
            <a:r>
              <a:rPr lang="ko-KR" altLang="en-US" sz="1400" dirty="0" smtClean="0"/>
              <a:t>번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2032143" y="4089513"/>
            <a:ext cx="311028" cy="2052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endCxn id="16" idx="0"/>
          </p:cNvCxnSpPr>
          <p:nvPr/>
        </p:nvCxnSpPr>
        <p:spPr>
          <a:xfrm flipH="1">
            <a:off x="782629" y="4091565"/>
            <a:ext cx="355299" cy="361187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2135920" y="4091565"/>
            <a:ext cx="55589" cy="311492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endCxn id="77" idx="0"/>
          </p:cNvCxnSpPr>
          <p:nvPr/>
        </p:nvCxnSpPr>
        <p:spPr>
          <a:xfrm>
            <a:off x="2583602" y="4091565"/>
            <a:ext cx="910490" cy="316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101997" y="4407603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순번</a:t>
            </a:r>
            <a:r>
              <a:rPr lang="en-US" altLang="ko-KR" sz="1400" dirty="0" smtClean="0"/>
              <a:t>(3) </a:t>
            </a:r>
            <a:endParaRPr lang="ko-KR" altLang="en-US" sz="1400" dirty="0"/>
          </a:p>
        </p:txBody>
      </p:sp>
      <p:sp>
        <p:nvSpPr>
          <p:cNvPr id="117" name="오른쪽 화살표 116"/>
          <p:cNvSpPr/>
          <p:nvPr/>
        </p:nvSpPr>
        <p:spPr>
          <a:xfrm>
            <a:off x="4134742" y="2732021"/>
            <a:ext cx="1949008" cy="661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r>
              <a:rPr lang="ko-KR" altLang="en-US" smtClean="0"/>
              <a:t>묶음</a:t>
            </a:r>
            <a:r>
              <a:rPr lang="en-US" altLang="ko-KR" dirty="0" smtClean="0"/>
              <a:t> 1BOX</a:t>
            </a:r>
            <a:endParaRPr lang="ko-KR" altLang="en-US"/>
          </a:p>
        </p:txBody>
      </p:sp>
      <p:pic>
        <p:nvPicPr>
          <p:cNvPr id="118" name="그림 1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212" y="1767595"/>
            <a:ext cx="2635462" cy="2635462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492837" y="2282071"/>
            <a:ext cx="879491" cy="1492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1485499" y="2273991"/>
            <a:ext cx="879491" cy="1492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2495865" y="2270682"/>
            <a:ext cx="879491" cy="14929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r="31864"/>
          <a:stretch/>
        </p:blipFill>
        <p:spPr>
          <a:xfrm>
            <a:off x="574496" y="2314199"/>
            <a:ext cx="756681" cy="1068888"/>
          </a:xfrm>
          <a:prstGeom prst="rect">
            <a:avLst/>
          </a:prstGeom>
        </p:spPr>
      </p:pic>
      <p:pic>
        <p:nvPicPr>
          <p:cNvPr id="304" name="그림 30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-1" r="31864" b="67331"/>
          <a:stretch/>
        </p:blipFill>
        <p:spPr>
          <a:xfrm>
            <a:off x="574496" y="3393505"/>
            <a:ext cx="756681" cy="349200"/>
          </a:xfrm>
          <a:prstGeom prst="rect">
            <a:avLst/>
          </a:prstGeom>
        </p:spPr>
      </p:pic>
      <p:pic>
        <p:nvPicPr>
          <p:cNvPr id="305" name="그림 30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r="31864"/>
          <a:stretch/>
        </p:blipFill>
        <p:spPr>
          <a:xfrm>
            <a:off x="1551017" y="2306756"/>
            <a:ext cx="756681" cy="1068888"/>
          </a:xfrm>
          <a:prstGeom prst="rect">
            <a:avLst/>
          </a:prstGeom>
        </p:spPr>
      </p:pic>
      <p:pic>
        <p:nvPicPr>
          <p:cNvPr id="306" name="그림 30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-1" r="31864" b="67331"/>
          <a:stretch/>
        </p:blipFill>
        <p:spPr>
          <a:xfrm>
            <a:off x="1551017" y="3386062"/>
            <a:ext cx="756681" cy="349200"/>
          </a:xfrm>
          <a:prstGeom prst="rect">
            <a:avLst/>
          </a:prstGeom>
        </p:spPr>
      </p:pic>
      <p:pic>
        <p:nvPicPr>
          <p:cNvPr id="307" name="그림 30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r="31864"/>
          <a:stretch/>
        </p:blipFill>
        <p:spPr>
          <a:xfrm>
            <a:off x="2583602" y="2314199"/>
            <a:ext cx="756681" cy="1068888"/>
          </a:xfrm>
          <a:prstGeom prst="rect">
            <a:avLst/>
          </a:prstGeom>
        </p:spPr>
      </p:pic>
      <p:pic>
        <p:nvPicPr>
          <p:cNvPr id="308" name="그림 30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-1" r="31864" b="67331"/>
          <a:stretch/>
        </p:blipFill>
        <p:spPr>
          <a:xfrm>
            <a:off x="2583602" y="3393505"/>
            <a:ext cx="756681" cy="349200"/>
          </a:xfrm>
          <a:prstGeom prst="rect">
            <a:avLst/>
          </a:prstGeom>
        </p:spPr>
      </p:pic>
      <p:cxnSp>
        <p:nvCxnSpPr>
          <p:cNvPr id="25" name="직선 연결선 24"/>
          <p:cNvCxnSpPr/>
          <p:nvPr/>
        </p:nvCxnSpPr>
        <p:spPr>
          <a:xfrm flipV="1">
            <a:off x="2425266" y="4083420"/>
            <a:ext cx="311028" cy="2052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2-4</a:t>
            </a:r>
          </a:p>
        </p:txBody>
      </p:sp>
      <p:sp>
        <p:nvSpPr>
          <p:cNvPr id="27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패킹유형 </a:t>
            </a:r>
            <a:r>
              <a:rPr lang="en-US" altLang="ko-KR" sz="1400" b="1" dirty="0" smtClean="0"/>
              <a:t>– ASSORT </a:t>
            </a:r>
            <a:r>
              <a:rPr lang="ko-KR" altLang="en-US" sz="1400" b="1" dirty="0" smtClean="0"/>
              <a:t>패킹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61117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1. </a:t>
            </a:r>
            <a:r>
              <a:rPr lang="ko-KR" altLang="en-US" sz="1400" b="1" dirty="0" smtClean="0"/>
              <a:t>용어 및 개념정리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3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출고유형 정의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graphicFrame>
        <p:nvGraphicFramePr>
          <p:cNvPr id="87" name="표 86">
            <a:extLst>
              <a:ext uri="{FF2B5EF4-FFF2-40B4-BE49-F238E27FC236}">
                <a16:creationId xmlns="" xmlns:a16="http://schemas.microsoft.com/office/drawing/2014/main" id="{7AE79CF7-9052-4BFF-A2E7-64EC7FB4A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283751"/>
              </p:ext>
            </p:extLst>
          </p:nvPr>
        </p:nvGraphicFramePr>
        <p:xfrm>
          <a:off x="517810" y="2323448"/>
          <a:ext cx="8947463" cy="4167000"/>
        </p:xfrm>
        <a:graphic>
          <a:graphicData uri="http://schemas.openxmlformats.org/drawingml/2006/table">
            <a:tbl>
              <a:tblPr/>
              <a:tblGrid>
                <a:gridCol w="709628">
                  <a:extLst>
                    <a:ext uri="{9D8B030D-6E8A-4147-A177-3AD203B41FA5}">
                      <a16:colId xmlns="" xmlns:a16="http://schemas.microsoft.com/office/drawing/2014/main" val="4160025306"/>
                    </a:ext>
                  </a:extLst>
                </a:gridCol>
                <a:gridCol w="906162">
                  <a:extLst>
                    <a:ext uri="{9D8B030D-6E8A-4147-A177-3AD203B41FA5}">
                      <a16:colId xmlns="" xmlns:a16="http://schemas.microsoft.com/office/drawing/2014/main" val="796519669"/>
                    </a:ext>
                  </a:extLst>
                </a:gridCol>
                <a:gridCol w="1375719"/>
                <a:gridCol w="1581665"/>
                <a:gridCol w="4374289"/>
              </a:tblGrid>
              <a:tr h="3424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pc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출고분류</a:t>
                      </a:r>
                      <a:endParaRPr lang="ko-KR" altLang="en-US" sz="900" b="1" i="0" u="none" strike="noStrike" spc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0" marR="0" marT="82800" marB="864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pc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출고유형</a:t>
                      </a:r>
                      <a:endParaRPr lang="ko-KR" altLang="en-US" sz="900" b="1" i="0" u="none" strike="noStrike" spc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0" marR="0" marT="82800" marB="86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pc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출고지시 </a:t>
                      </a:r>
                      <a:endParaRPr lang="en-US" altLang="ko-KR" sz="900" b="1" i="0" u="none" strike="noStrike" spc="0" dirty="0" smtClean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spc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생성 화면</a:t>
                      </a:r>
                      <a:endParaRPr lang="ko-KR" altLang="en-US" sz="900" b="1" i="0" u="none" strike="noStrike" spc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0" marR="0" marT="82800" marB="86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pc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출고실적</a:t>
                      </a:r>
                      <a:endParaRPr lang="en-US" altLang="ko-KR" sz="900" b="1" i="0" u="none" strike="noStrike" spc="0" dirty="0" smtClean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spc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조회 화면</a:t>
                      </a:r>
                      <a:endParaRPr lang="ko-KR" altLang="en-US" sz="900" b="1" i="0" u="none" strike="noStrike" spc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0" marR="0" marT="82800" marB="86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pc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900" b="1" i="0" u="none" strike="noStrike" spc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0" marR="0" marT="82800" marB="864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18733783"/>
                  </a:ext>
                </a:extLst>
              </a:tr>
              <a:tr h="25200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매장출고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초도출고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제품초도배분등록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거래명세서현황</a:t>
                      </a:r>
                      <a:endParaRPr lang="en-US" altLang="ko-KR" sz="9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조정거래명세서</a:t>
                      </a:r>
                      <a:endParaRPr lang="en-US" altLang="ko-KR" sz="9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매장등급별 배분 출고 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대부분 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ASSORT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SOLID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 가능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98298502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반응출고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반응출고등록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수기로 매장 출고 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(SOLID</a:t>
                      </a:r>
                      <a:r>
                        <a:rPr lang="en-US" altLang="ko-KR" sz="900" b="0" spc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spc="0" baseline="0" dirty="0" smtClean="0">
                          <a:latin typeface="+mn-ea"/>
                          <a:ea typeface="+mn-ea"/>
                        </a:rPr>
                        <a:t>출고만 가능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149070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판매분출고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spc="0" dirty="0" err="1" smtClean="0">
                          <a:latin typeface="+mn-ea"/>
                          <a:ea typeface="+mn-ea"/>
                        </a:rPr>
                        <a:t>모플</a:t>
                      </a: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 자동 생성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특정 매장에서 판매된 제품코드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칼라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사이즈 수량만큼 다음날 출고 예정정보 생성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이월행사출고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출고요청서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수기로 매장 출고 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(SOLID/ASSORT</a:t>
                      </a:r>
                      <a:r>
                        <a:rPr lang="en-US" altLang="ko-KR" sz="900" b="0" spc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spc="0" baseline="0" dirty="0" smtClean="0">
                          <a:latin typeface="+mn-ea"/>
                          <a:ea typeface="+mn-ea"/>
                        </a:rPr>
                        <a:t>출고 가능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5384409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신상행사출고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출고요청서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spc="0" dirty="0" smtClean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수기로 매장 출고 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(SOLID/ASSORT</a:t>
                      </a:r>
                      <a:r>
                        <a:rPr lang="en-US" altLang="ko-KR" sz="900" b="0" spc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spc="0" baseline="0" dirty="0" smtClean="0">
                          <a:latin typeface="+mn-ea"/>
                          <a:ea typeface="+mn-ea"/>
                        </a:rPr>
                        <a:t>출고 가능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spc="0" dirty="0" smtClean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dirty="0" err="1" smtClean="0">
                          <a:latin typeface="+mn-ea"/>
                          <a:ea typeface="+mn-ea"/>
                        </a:rPr>
                        <a:t>선작업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출고요청서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spc="0" dirty="0" smtClean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임시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신규매장 오픈 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행사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땡처리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제품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출고 시 사용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 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HOLD)</a:t>
                      </a:r>
                      <a:endParaRPr lang="ko-KR" altLang="en-US" sz="900" b="0" i="0" u="none" strike="noStrike" spc="0" baseline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2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해외출고</a:t>
                      </a:r>
                      <a:endParaRPr lang="ko-KR" altLang="en-US" sz="900" b="0" spc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출고요청서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spc="0" dirty="0" smtClean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말레이시아 해외출고 건 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YA &gt; MY(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해외창고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재고 이관을 위한 출고유형</a:t>
                      </a:r>
                      <a:endParaRPr lang="ko-KR" altLang="en-US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2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고객출고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온라인주문출고</a:t>
                      </a:r>
                      <a:endParaRPr lang="ko-KR" altLang="en-US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굿웨어몰</a:t>
                      </a:r>
                      <a:endParaRPr lang="ko-KR" altLang="en-US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고객 주문 건 출고 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(E-</a:t>
                      </a:r>
                      <a:r>
                        <a:rPr lang="ko-KR" altLang="en-US" sz="900" b="0" i="0" u="none" strike="noStrike" spc="0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비지니스테크팀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담당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온라인교품출고</a:t>
                      </a:r>
                      <a:endParaRPr lang="ko-KR" altLang="en-US" sz="900" b="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 u="none" strike="noStrike" spc="0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굿웨어몰</a:t>
                      </a:r>
                      <a:endParaRPr lang="ko-KR" altLang="en-US" sz="900" b="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spc="0" baseline="0" dirty="0" smtClean="0">
                          <a:latin typeface="+mn-ea"/>
                          <a:ea typeface="+mn-ea"/>
                        </a:rPr>
                        <a:t>고객 주문 반품 건 출고 </a:t>
                      </a:r>
                      <a:r>
                        <a:rPr lang="en-US" altLang="ko-KR" sz="900" b="0" spc="0" baseline="0" dirty="0" smtClean="0">
                          <a:latin typeface="+mn-ea"/>
                          <a:ea typeface="+mn-ea"/>
                        </a:rPr>
                        <a:t>(E-</a:t>
                      </a:r>
                      <a:r>
                        <a:rPr lang="ko-KR" altLang="en-US" sz="900" b="0" spc="0" baseline="0" dirty="0" err="1" smtClean="0">
                          <a:latin typeface="+mn-ea"/>
                          <a:ea typeface="+mn-ea"/>
                        </a:rPr>
                        <a:t>비지니스테크팀</a:t>
                      </a:r>
                      <a:r>
                        <a:rPr lang="ko-KR" altLang="en-US" sz="900" b="0" spc="0" baseline="0" dirty="0" smtClean="0">
                          <a:latin typeface="+mn-ea"/>
                          <a:ea typeface="+mn-ea"/>
                        </a:rPr>
                        <a:t> 담당</a:t>
                      </a:r>
                      <a:r>
                        <a:rPr lang="en-US" altLang="ko-KR" sz="900" b="0" spc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spc="0" baseline="0" dirty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업체반품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업체출고</a:t>
                      </a:r>
                      <a:endParaRPr lang="en-US" altLang="ko-KR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출고요청서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spc="0" dirty="0" smtClean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입고현황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창고 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900" b="0" i="0" u="none" strike="noStrike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생산처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출고 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입고반품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9283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이관출고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이관출고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pc="0" dirty="0" smtClean="0">
                          <a:latin typeface="+mn-ea"/>
                          <a:ea typeface="+mn-ea"/>
                        </a:rPr>
                        <a:t>출고요청서</a:t>
                      </a:r>
                      <a:r>
                        <a:rPr lang="en-US" altLang="ko-KR" sz="900" b="0" spc="0" dirty="0" smtClean="0">
                          <a:latin typeface="+mn-ea"/>
                          <a:ea typeface="+mn-ea"/>
                        </a:rPr>
                        <a:t>(WMS)</a:t>
                      </a:r>
                      <a:endParaRPr lang="ko-KR" altLang="en-US" sz="900" b="0" spc="0" dirty="0" smtClean="0"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B2B&lt;&gt;B2C : 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거래명세서현황</a:t>
                      </a:r>
                      <a:endParaRPr lang="en-US" altLang="ko-KR" sz="9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B2B&lt;&gt;B2B 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0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창고간제품이동</a:t>
                      </a:r>
                      <a:endParaRPr lang="en-US" altLang="ko-KR" sz="900" b="0" i="0" u="none" strike="noStrike" spc="0" baseline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B2C&lt;&gt;B2C : 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거래명세서현황</a:t>
                      </a:r>
                      <a:endParaRPr lang="ko-KR" altLang="en-US" sz="900" b="0" i="0" u="none" strike="noStrike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창고간 재고이동 출고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028439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자가소모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자가소모출고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자가소모출고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자가소모등록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재고실사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기증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기부</a:t>
                      </a:r>
                      <a:r>
                        <a:rPr lang="en-US" altLang="ko-KR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소각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06926308"/>
                  </a:ext>
                </a:extLst>
              </a:tr>
              <a:tr h="252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스타일재고조정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스타일수량조정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자가소모등록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동일 스타일 내 컬러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사이즈별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재고 조정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2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재고이동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로트별재고이동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pc="0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창고간제품이동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WMS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 관리하는 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ZONE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ZONE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으로 재고 이동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(F/A-ONE</a:t>
                      </a:r>
                      <a:r>
                        <a:rPr lang="ko-KR" altLang="en-US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에서는 창고와 동일 개념</a:t>
                      </a:r>
                      <a:r>
                        <a:rPr lang="en-US" altLang="ko-KR" sz="900" b="0" i="0" u="none" strike="noStrike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18000" marB="1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9" name="직사각형 88"/>
          <p:cNvSpPr/>
          <p:nvPr/>
        </p:nvSpPr>
        <p:spPr>
          <a:xfrm>
            <a:off x="534287" y="2754002"/>
            <a:ext cx="2975032" cy="2279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17810" y="291420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dirty="0" smtClean="0">
                <a:solidFill>
                  <a:srgbClr val="FF0000"/>
                </a:solidFill>
                <a:latin typeface="+mn-ea"/>
              </a:rPr>
              <a:t>판매출고</a:t>
            </a:r>
            <a:endParaRPr lang="ko-KR" alt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999247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315576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‘</a:t>
            </a:r>
            <a:r>
              <a:rPr lang="ko-KR" altLang="en-US" sz="1100" b="0" dirty="0" smtClean="0">
                <a:latin typeface="+mn-ea"/>
                <a:ea typeface="+mn-ea"/>
              </a:rPr>
              <a:t>출고</a:t>
            </a:r>
            <a:r>
              <a:rPr lang="en-US" altLang="ko-KR" sz="1100" b="0" dirty="0" smtClean="0">
                <a:latin typeface="+mn-ea"/>
                <a:ea typeface="+mn-ea"/>
              </a:rPr>
              <a:t>’</a:t>
            </a:r>
            <a:r>
              <a:rPr lang="ko-KR" altLang="en-US" sz="1100" b="0" dirty="0" smtClean="0">
                <a:latin typeface="+mn-ea"/>
                <a:ea typeface="+mn-ea"/>
              </a:rPr>
              <a:t>란 주문에 맞추어 보관중인 제품</a:t>
            </a:r>
            <a:r>
              <a:rPr lang="en-US" altLang="ko-KR" sz="1100" b="0" dirty="0" smtClean="0">
                <a:latin typeface="+mn-ea"/>
                <a:ea typeface="+mn-ea"/>
              </a:rPr>
              <a:t>/</a:t>
            </a:r>
            <a:r>
              <a:rPr lang="ko-KR" altLang="en-US" sz="1100" b="0" dirty="0" smtClean="0">
                <a:latin typeface="+mn-ea"/>
                <a:ea typeface="+mn-ea"/>
              </a:rPr>
              <a:t>상품을 창고 외로 반출되고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재고가 차감되는 상태 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출고지시는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생성되고 이관출고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err="1" smtClean="0">
                <a:latin typeface="+mn-ea"/>
                <a:ea typeface="+mn-ea"/>
              </a:rPr>
              <a:t>선작업의</a:t>
            </a:r>
            <a:r>
              <a:rPr lang="ko-KR" altLang="en-US" sz="1100" b="0" dirty="0" smtClean="0">
                <a:latin typeface="+mn-ea"/>
                <a:ea typeface="+mn-ea"/>
              </a:rPr>
              <a:t> 경우에만 </a:t>
            </a: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에서도 생성 가능</a:t>
            </a:r>
            <a:r>
              <a:rPr lang="en-US" altLang="ko-KR" sz="1100" b="0" dirty="0" smtClean="0">
                <a:latin typeface="+mn-ea"/>
                <a:ea typeface="+mn-ea"/>
              </a:rPr>
              <a:t>(</a:t>
            </a:r>
            <a:r>
              <a:rPr lang="ko-KR" altLang="en-US" sz="1100" b="0" dirty="0" err="1" smtClean="0">
                <a:latin typeface="+mn-ea"/>
                <a:ea typeface="+mn-ea"/>
              </a:rPr>
              <a:t>판매분출고는</a:t>
            </a:r>
            <a:r>
              <a:rPr lang="ko-KR" altLang="en-US" sz="1100" b="0" dirty="0" smtClean="0">
                <a:latin typeface="+mn-ea"/>
                <a:ea typeface="+mn-ea"/>
              </a:rPr>
              <a:t> </a:t>
            </a:r>
            <a:r>
              <a:rPr lang="ko-KR" altLang="en-US" sz="1100" b="0" dirty="0" err="1" smtClean="0">
                <a:latin typeface="+mn-ea"/>
                <a:ea typeface="+mn-ea"/>
              </a:rPr>
              <a:t>모플</a:t>
            </a:r>
            <a:r>
              <a:rPr lang="en-US" altLang="ko-KR" sz="1100" b="0" dirty="0" smtClean="0">
                <a:latin typeface="+mn-ea"/>
                <a:ea typeface="+mn-ea"/>
              </a:rPr>
              <a:t>(AI)</a:t>
            </a:r>
            <a:r>
              <a:rPr lang="ko-KR" altLang="en-US" sz="1100" b="0" dirty="0" smtClean="0">
                <a:latin typeface="+mn-ea"/>
                <a:ea typeface="+mn-ea"/>
              </a:rPr>
              <a:t>에서 생성</a:t>
            </a:r>
            <a:r>
              <a:rPr lang="en-US" altLang="ko-KR" sz="1100" b="0" dirty="0" smtClean="0">
                <a:latin typeface="+mn-ea"/>
                <a:ea typeface="+mn-ea"/>
              </a:rPr>
              <a:t>)</a:t>
            </a: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모든 출고는 </a:t>
            </a: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의 </a:t>
            </a:r>
            <a:r>
              <a:rPr lang="ko-KR" altLang="en-US" sz="1100" b="0" dirty="0" err="1" smtClean="0">
                <a:latin typeface="+mn-ea"/>
                <a:ea typeface="+mn-ea"/>
              </a:rPr>
              <a:t>실가용수량</a:t>
            </a:r>
            <a:r>
              <a:rPr lang="ko-KR" altLang="en-US" sz="1100" b="0" dirty="0" smtClean="0">
                <a:latin typeface="+mn-ea"/>
                <a:ea typeface="+mn-ea"/>
              </a:rPr>
              <a:t> 확인 후 출고지시생성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664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용어 및 개념정리</a:t>
            </a:r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</a:t>
            </a:r>
            <a:r>
              <a:rPr lang="en-US" altLang="ko-KR" sz="13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존</a:t>
            </a:r>
            <a:r>
              <a:rPr lang="en-US" altLang="ko-KR" sz="1400" b="1" dirty="0" smtClean="0"/>
              <a:t>(ZONE) </a:t>
            </a:r>
            <a:r>
              <a:rPr lang="ko-KR" altLang="en-US" sz="1400" b="1" dirty="0" smtClean="0"/>
              <a:t>정의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77103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686278" cy="63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‘</a:t>
            </a:r>
            <a:r>
              <a:rPr lang="ko-KR" altLang="en-US" sz="1100" b="0" dirty="0" smtClean="0">
                <a:latin typeface="+mn-ea"/>
                <a:ea typeface="+mn-ea"/>
              </a:rPr>
              <a:t>존</a:t>
            </a:r>
            <a:r>
              <a:rPr lang="en-US" altLang="ko-KR" sz="1100" b="0" dirty="0" smtClean="0">
                <a:latin typeface="+mn-ea"/>
                <a:ea typeface="+mn-ea"/>
              </a:rPr>
              <a:t>’</a:t>
            </a:r>
            <a:r>
              <a:rPr lang="ko-KR" altLang="en-US" sz="1100" b="0" dirty="0" smtClean="0">
                <a:latin typeface="+mn-ea"/>
                <a:ea typeface="+mn-ea"/>
              </a:rPr>
              <a:t>은 재고를 보관하는 일정 구역을 말하며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창고나 층 단위 대구역과 재고 보관 성격에 따라 나누는 </a:t>
            </a:r>
            <a:r>
              <a:rPr lang="ko-KR" altLang="en-US" sz="1100" b="0" dirty="0" err="1" smtClean="0">
                <a:latin typeface="+mn-ea"/>
                <a:ea typeface="+mn-ea"/>
              </a:rPr>
              <a:t>소구역을</a:t>
            </a:r>
            <a:r>
              <a:rPr lang="ko-KR" altLang="en-US" sz="1100" b="0" dirty="0" smtClean="0">
                <a:latin typeface="+mn-ea"/>
                <a:ea typeface="+mn-ea"/>
              </a:rPr>
              <a:t> 모두 포함하여 정의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>
                <a:latin typeface="+mn-ea"/>
                <a:ea typeface="+mn-ea"/>
              </a:rPr>
              <a:t>재고보관 </a:t>
            </a:r>
            <a:r>
              <a:rPr lang="ko-KR" altLang="en-US" sz="1100" b="0" dirty="0" smtClean="0">
                <a:latin typeface="+mn-ea"/>
                <a:ea typeface="+mn-ea"/>
              </a:rPr>
              <a:t>단위는 존 </a:t>
            </a:r>
            <a:r>
              <a:rPr lang="en-US" altLang="ko-KR" sz="1100" b="0" dirty="0" smtClean="0">
                <a:latin typeface="+mn-ea"/>
                <a:ea typeface="+mn-ea"/>
              </a:rPr>
              <a:t>&gt; </a:t>
            </a:r>
            <a:r>
              <a:rPr lang="ko-KR" altLang="en-US" sz="1100" b="0" dirty="0" smtClean="0">
                <a:latin typeface="+mn-ea"/>
                <a:ea typeface="+mn-ea"/>
              </a:rPr>
              <a:t>로케이션 </a:t>
            </a:r>
            <a:r>
              <a:rPr lang="en-US" altLang="ko-KR" sz="1100" b="0" dirty="0" smtClean="0">
                <a:latin typeface="+mn-ea"/>
                <a:ea typeface="+mn-ea"/>
              </a:rPr>
              <a:t>&gt; </a:t>
            </a:r>
            <a:r>
              <a:rPr lang="ko-KR" altLang="en-US" sz="1100" b="0" dirty="0" smtClean="0">
                <a:latin typeface="+mn-ea"/>
                <a:ea typeface="+mn-ea"/>
              </a:rPr>
              <a:t>셀 의 순서이고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셀이 재고보관 최소단위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sp>
        <p:nvSpPr>
          <p:cNvPr id="14" name="모서리가 둥근 직사각형 7">
            <a:extLst>
              <a:ext uri="{FF2B5EF4-FFF2-40B4-BE49-F238E27FC236}">
                <a16:creationId xmlns:a16="http://schemas.microsoft.com/office/drawing/2014/main" xmlns="" id="{4E649E74-CAB6-48F1-A4EC-6DBD4A54D33E}"/>
              </a:ext>
            </a:extLst>
          </p:cNvPr>
          <p:cNvSpPr/>
          <p:nvPr/>
        </p:nvSpPr>
        <p:spPr>
          <a:xfrm>
            <a:off x="478996" y="2172823"/>
            <a:ext cx="3276000" cy="4291398"/>
          </a:xfrm>
          <a:prstGeom prst="roundRect">
            <a:avLst>
              <a:gd name="adj" fmla="val 1299"/>
            </a:avLst>
          </a:prstGeom>
          <a:noFill/>
          <a:ln w="12700" cap="flat" cmpd="sng" algn="ctr">
            <a:solidFill>
              <a:srgbClr val="0070C0">
                <a:alpha val="7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56">
            <a:extLst>
              <a:ext uri="{FF2B5EF4-FFF2-40B4-BE49-F238E27FC236}">
                <a16:creationId xmlns:a16="http://schemas.microsoft.com/office/drawing/2014/main" xmlns="" id="{F1B9666C-8EB5-40A3-8B5D-DEAFDB908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2796" y="2297976"/>
            <a:ext cx="1168400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b="1" dirty="0">
                <a:solidFill>
                  <a:srgbClr val="254061"/>
                </a:solidFill>
                <a:latin typeface="맑은 고딕" pitchFamily="50" charset="-127"/>
                <a:ea typeface="맑은 고딕" pitchFamily="50" charset="-127"/>
              </a:rPr>
              <a:t>Location </a:t>
            </a:r>
            <a:r>
              <a:rPr lang="ko-KR" altLang="en-US" sz="1200" b="1" dirty="0">
                <a:solidFill>
                  <a:srgbClr val="254061"/>
                </a:solidFill>
                <a:latin typeface="맑은 고딕" pitchFamily="50" charset="-127"/>
                <a:ea typeface="맑은 고딕" pitchFamily="50" charset="-127"/>
              </a:rPr>
              <a:t>체계</a:t>
            </a:r>
          </a:p>
        </p:txBody>
      </p:sp>
      <p:pic>
        <p:nvPicPr>
          <p:cNvPr id="16" name="Picture 5" descr="warehouse_R">
            <a:extLst>
              <a:ext uri="{FF2B5EF4-FFF2-40B4-BE49-F238E27FC236}">
                <a16:creationId xmlns:a16="http://schemas.microsoft.com/office/drawing/2014/main" xmlns="" id="{30988A3F-3848-458B-B60E-62B002A88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2225" y="2850115"/>
            <a:ext cx="530721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5" descr="warehouse_R">
            <a:extLst>
              <a:ext uri="{FF2B5EF4-FFF2-40B4-BE49-F238E27FC236}">
                <a16:creationId xmlns:a16="http://schemas.microsoft.com/office/drawing/2014/main" xmlns="" id="{86792771-925B-47BC-8CE6-4B5A7DC93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1636" y="2850115"/>
            <a:ext cx="530721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5" descr="warehouse_R">
            <a:extLst>
              <a:ext uri="{FF2B5EF4-FFF2-40B4-BE49-F238E27FC236}">
                <a16:creationId xmlns:a16="http://schemas.microsoft.com/office/drawing/2014/main" xmlns="" id="{9827E948-F36F-4CCA-A7B4-58CB0A06B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3041" y="2850115"/>
            <a:ext cx="530721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그룹 62">
            <a:extLst>
              <a:ext uri="{FF2B5EF4-FFF2-40B4-BE49-F238E27FC236}">
                <a16:creationId xmlns:a16="http://schemas.microsoft.com/office/drawing/2014/main" xmlns="" id="{0E256200-D0CB-43F0-9D87-0666F97050D1}"/>
              </a:ext>
            </a:extLst>
          </p:cNvPr>
          <p:cNvGrpSpPr>
            <a:grpSpLocks noChangeAspect="1"/>
          </p:cNvGrpSpPr>
          <p:nvPr/>
        </p:nvGrpSpPr>
        <p:grpSpPr>
          <a:xfrm>
            <a:off x="2538262" y="2979204"/>
            <a:ext cx="268875" cy="50007"/>
            <a:chOff x="-170920" y="2143116"/>
            <a:chExt cx="384110" cy="7143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xmlns="" id="{00D1CFA8-BB5E-4898-94A3-70ACAD6F9741}"/>
                </a:ext>
              </a:extLst>
            </p:cNvPr>
            <p:cNvSpPr/>
            <p:nvPr/>
          </p:nvSpPr>
          <p:spPr>
            <a:xfrm>
              <a:off x="-170920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xmlns="" id="{FBA898A6-29F0-4802-B15D-F1E3D8265F68}"/>
                </a:ext>
              </a:extLst>
            </p:cNvPr>
            <p:cNvSpPr/>
            <p:nvPr/>
          </p:nvSpPr>
          <p:spPr>
            <a:xfrm>
              <a:off x="-14584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xmlns="" id="{76C50782-C2BD-43B9-B43F-866EA61D58C2}"/>
                </a:ext>
              </a:extLst>
            </p:cNvPr>
            <p:cNvSpPr/>
            <p:nvPr/>
          </p:nvSpPr>
          <p:spPr>
            <a:xfrm>
              <a:off x="141751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111">
            <a:extLst>
              <a:ext uri="{FF2B5EF4-FFF2-40B4-BE49-F238E27FC236}">
                <a16:creationId xmlns:a16="http://schemas.microsoft.com/office/drawing/2014/main" xmlns="" id="{7F922E07-BB4C-4D39-9404-49963A8A9CA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>
            <a:off x="1594996" y="2557200"/>
            <a:ext cx="1044000" cy="1587"/>
          </a:xfrm>
          <a:prstGeom prst="line">
            <a:avLst/>
          </a:prstGeom>
          <a:noFill/>
          <a:ln w="12700" algn="ctr">
            <a:solidFill>
              <a:srgbClr val="254061">
                <a:alpha val="70195"/>
              </a:srgbClr>
            </a:solidFill>
            <a:round/>
            <a:headEnd/>
            <a:tailEnd/>
          </a:ln>
        </p:spPr>
      </p:cxnSp>
      <p:sp>
        <p:nvSpPr>
          <p:cNvPr id="25" name="TextBox 67">
            <a:extLst>
              <a:ext uri="{FF2B5EF4-FFF2-40B4-BE49-F238E27FC236}">
                <a16:creationId xmlns:a16="http://schemas.microsoft.com/office/drawing/2014/main" xmlns="" id="{E9729672-1A09-43EF-A452-D2ED0A3F7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4" y="2916820"/>
            <a:ext cx="473454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Center</a:t>
            </a: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68">
            <a:extLst>
              <a:ext uri="{FF2B5EF4-FFF2-40B4-BE49-F238E27FC236}">
                <a16:creationId xmlns:a16="http://schemas.microsoft.com/office/drawing/2014/main" xmlns="" id="{02A638B8-721A-4122-8A69-EC336099C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4" y="3660372"/>
            <a:ext cx="351626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Area</a:t>
            </a: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69">
            <a:extLst>
              <a:ext uri="{FF2B5EF4-FFF2-40B4-BE49-F238E27FC236}">
                <a16:creationId xmlns:a16="http://schemas.microsoft.com/office/drawing/2014/main" xmlns="" id="{7D4204D9-9250-4F1E-B6B5-FD6B7D621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4" y="4389939"/>
            <a:ext cx="656196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Bay/Zone</a:t>
            </a: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70">
            <a:extLst>
              <a:ext uri="{FF2B5EF4-FFF2-40B4-BE49-F238E27FC236}">
                <a16:creationId xmlns:a16="http://schemas.microsoft.com/office/drawing/2014/main" xmlns="" id="{53F4DAD7-9B28-4063-A8A1-78766C387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4" y="5168420"/>
            <a:ext cx="593680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Location</a:t>
            </a: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9" name="Picture 3" descr="distribution center 3">
            <a:extLst>
              <a:ext uri="{FF2B5EF4-FFF2-40B4-BE49-F238E27FC236}">
                <a16:creationId xmlns:a16="http://schemas.microsoft.com/office/drawing/2014/main" xmlns="" id="{70236F67-78D1-4E14-8488-FB7B60343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1585" y="3619804"/>
            <a:ext cx="432000" cy="307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3" descr="distribution center 3">
            <a:extLst>
              <a:ext uri="{FF2B5EF4-FFF2-40B4-BE49-F238E27FC236}">
                <a16:creationId xmlns:a16="http://schemas.microsoft.com/office/drawing/2014/main" xmlns="" id="{0D60D2D2-E4EC-4E15-A69B-AF5264874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0996" y="3618211"/>
            <a:ext cx="432000" cy="307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" descr="distribution center 3">
            <a:extLst>
              <a:ext uri="{FF2B5EF4-FFF2-40B4-BE49-F238E27FC236}">
                <a16:creationId xmlns:a16="http://schemas.microsoft.com/office/drawing/2014/main" xmlns="" id="{2345D6B6-A480-46A8-BA12-5A733C2D3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89601" y="3619804"/>
            <a:ext cx="432000" cy="307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2" name="직선 화살표 연결선 122">
            <a:extLst>
              <a:ext uri="{FF2B5EF4-FFF2-40B4-BE49-F238E27FC236}">
                <a16:creationId xmlns:a16="http://schemas.microsoft.com/office/drawing/2014/main" xmlns="" id="{7409A872-2212-4333-88DE-E3D135773E62}"/>
              </a:ext>
            </a:extLst>
          </p:cNvPr>
          <p:cNvCxnSpPr>
            <a:cxnSpLocks noChangeShapeType="1"/>
            <a:stCxn id="30" idx="0"/>
            <a:endCxn id="17" idx="2"/>
          </p:cNvCxnSpPr>
          <p:nvPr/>
        </p:nvCxnSpPr>
        <p:spPr bwMode="auto">
          <a:xfrm flipV="1">
            <a:off x="2116996" y="3210115"/>
            <a:ext cx="1" cy="408096"/>
          </a:xfrm>
          <a:prstGeom prst="straightConnector1">
            <a:avLst/>
          </a:prstGeom>
          <a:noFill/>
          <a:ln w="9525" algn="ctr">
            <a:solidFill>
              <a:srgbClr val="4F6228"/>
            </a:solidFill>
            <a:prstDash val="sysDot"/>
            <a:round/>
            <a:headEnd type="triangle" w="sm" len="sm"/>
            <a:tailEnd type="oval" w="sm" len="sm"/>
          </a:ln>
        </p:spPr>
      </p:cxnSp>
      <p:cxnSp>
        <p:nvCxnSpPr>
          <p:cNvPr id="33" name="직선 화살표 연결선 123">
            <a:extLst>
              <a:ext uri="{FF2B5EF4-FFF2-40B4-BE49-F238E27FC236}">
                <a16:creationId xmlns:a16="http://schemas.microsoft.com/office/drawing/2014/main" xmlns="" id="{53AAED0F-4059-4BB4-8043-A09139B97FA4}"/>
              </a:ext>
            </a:extLst>
          </p:cNvPr>
          <p:cNvCxnSpPr>
            <a:cxnSpLocks noChangeShapeType="1"/>
            <a:stCxn id="17" idx="2"/>
            <a:endCxn id="29" idx="0"/>
          </p:cNvCxnSpPr>
          <p:nvPr/>
        </p:nvCxnSpPr>
        <p:spPr bwMode="auto">
          <a:xfrm rot="5400000">
            <a:off x="1517447" y="3020253"/>
            <a:ext cx="409689" cy="789412"/>
          </a:xfrm>
          <a:prstGeom prst="bentConnector3">
            <a:avLst/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cxnSp>
        <p:nvCxnSpPr>
          <p:cNvPr id="34" name="직선 화살표 연결선 124">
            <a:extLst>
              <a:ext uri="{FF2B5EF4-FFF2-40B4-BE49-F238E27FC236}">
                <a16:creationId xmlns:a16="http://schemas.microsoft.com/office/drawing/2014/main" xmlns="" id="{0E62A88A-FB63-4382-8225-CFAE0CDCFCEE}"/>
              </a:ext>
            </a:extLst>
          </p:cNvPr>
          <p:cNvCxnSpPr>
            <a:cxnSpLocks noChangeShapeType="1"/>
            <a:stCxn id="17" idx="2"/>
            <a:endCxn id="31" idx="0"/>
          </p:cNvCxnSpPr>
          <p:nvPr/>
        </p:nvCxnSpPr>
        <p:spPr bwMode="auto">
          <a:xfrm rot="16200000" flipH="1">
            <a:off x="2306455" y="3020657"/>
            <a:ext cx="409689" cy="788604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cxnSp>
        <p:nvCxnSpPr>
          <p:cNvPr id="35" name="직선 화살표 연결선 125">
            <a:extLst>
              <a:ext uri="{FF2B5EF4-FFF2-40B4-BE49-F238E27FC236}">
                <a16:creationId xmlns:a16="http://schemas.microsoft.com/office/drawing/2014/main" xmlns="" id="{1A38BC15-D2E2-4B61-981D-906278A9F5BB}"/>
              </a:ext>
            </a:extLst>
          </p:cNvPr>
          <p:cNvCxnSpPr>
            <a:cxnSpLocks noChangeShapeType="1"/>
            <a:stCxn id="30" idx="2"/>
            <a:endCxn id="66" idx="0"/>
          </p:cNvCxnSpPr>
          <p:nvPr/>
        </p:nvCxnSpPr>
        <p:spPr bwMode="auto">
          <a:xfrm>
            <a:off x="2116996" y="3925938"/>
            <a:ext cx="0" cy="408096"/>
          </a:xfrm>
          <a:prstGeom prst="straightConnector1">
            <a:avLst/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cxnSp>
        <p:nvCxnSpPr>
          <p:cNvPr id="36" name="직선 화살표 연결선 126">
            <a:extLst>
              <a:ext uri="{FF2B5EF4-FFF2-40B4-BE49-F238E27FC236}">
                <a16:creationId xmlns:a16="http://schemas.microsoft.com/office/drawing/2014/main" xmlns="" id="{044C5A7A-2E8A-41EA-852D-07E18A06C3CB}"/>
              </a:ext>
            </a:extLst>
          </p:cNvPr>
          <p:cNvCxnSpPr>
            <a:cxnSpLocks noChangeShapeType="1"/>
            <a:stCxn id="30" idx="2"/>
            <a:endCxn id="69" idx="0"/>
          </p:cNvCxnSpPr>
          <p:nvPr/>
        </p:nvCxnSpPr>
        <p:spPr bwMode="auto">
          <a:xfrm rot="16200000" flipH="1">
            <a:off x="2319614" y="3723319"/>
            <a:ext cx="383368" cy="788605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cxnSp>
        <p:nvCxnSpPr>
          <p:cNvPr id="37" name="직선 화살표 연결선 127">
            <a:extLst>
              <a:ext uri="{FF2B5EF4-FFF2-40B4-BE49-F238E27FC236}">
                <a16:creationId xmlns:a16="http://schemas.microsoft.com/office/drawing/2014/main" xmlns="" id="{34B0AE1A-652B-4BA9-B08E-3CA19FE64805}"/>
              </a:ext>
            </a:extLst>
          </p:cNvPr>
          <p:cNvCxnSpPr>
            <a:cxnSpLocks noChangeShapeType="1"/>
            <a:stCxn id="66" idx="2"/>
            <a:endCxn id="83" idx="0"/>
          </p:cNvCxnSpPr>
          <p:nvPr/>
        </p:nvCxnSpPr>
        <p:spPr bwMode="auto">
          <a:xfrm>
            <a:off x="2116996" y="4672171"/>
            <a:ext cx="1" cy="408359"/>
          </a:xfrm>
          <a:prstGeom prst="straightConnector1">
            <a:avLst/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sp>
        <p:nvSpPr>
          <p:cNvPr id="38" name="TextBox 83">
            <a:extLst>
              <a:ext uri="{FF2B5EF4-FFF2-40B4-BE49-F238E27FC236}">
                <a16:creationId xmlns:a16="http://schemas.microsoft.com/office/drawing/2014/main" xmlns="" id="{A2AF27EA-3E73-41C4-8EFB-2257369F7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560" y="3115805"/>
            <a:ext cx="37887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센터</a:t>
            </a:r>
          </a:p>
        </p:txBody>
      </p:sp>
      <p:sp>
        <p:nvSpPr>
          <p:cNvPr id="39" name="TextBox 84">
            <a:extLst>
              <a:ext uri="{FF2B5EF4-FFF2-40B4-BE49-F238E27FC236}">
                <a16:creationId xmlns:a16="http://schemas.microsoft.com/office/drawing/2014/main" xmlns="" id="{DCB9BAE6-A628-4A89-98A7-D791481A4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851" y="3115805"/>
            <a:ext cx="370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센터</a:t>
            </a:r>
          </a:p>
        </p:txBody>
      </p:sp>
      <p:sp>
        <p:nvSpPr>
          <p:cNvPr id="40" name="TextBox 85">
            <a:extLst>
              <a:ext uri="{FF2B5EF4-FFF2-40B4-BE49-F238E27FC236}">
                <a16:creationId xmlns:a16="http://schemas.microsoft.com/office/drawing/2014/main" xmlns="" id="{B08D7FC8-AB13-488C-A782-1925C46B3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3417" y="3115805"/>
            <a:ext cx="391701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N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센터</a:t>
            </a:r>
          </a:p>
        </p:txBody>
      </p:sp>
      <p:sp>
        <p:nvSpPr>
          <p:cNvPr id="41" name="TextBox 86">
            <a:extLst>
              <a:ext uri="{FF2B5EF4-FFF2-40B4-BE49-F238E27FC236}">
                <a16:creationId xmlns:a16="http://schemas.microsoft.com/office/drawing/2014/main" xmlns="" id="{BE98F1DC-1D36-4F2D-B7B2-9709680B5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812" y="3835897"/>
            <a:ext cx="26346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동</a:t>
            </a:r>
            <a:endParaRPr lang="en-US" altLang="ko-KR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층</a:t>
            </a:r>
          </a:p>
        </p:txBody>
      </p:sp>
      <p:sp>
        <p:nvSpPr>
          <p:cNvPr id="42" name="TextBox 87">
            <a:extLst>
              <a:ext uri="{FF2B5EF4-FFF2-40B4-BE49-F238E27FC236}">
                <a16:creationId xmlns:a16="http://schemas.microsoft.com/office/drawing/2014/main" xmlns="" id="{6CC2CFD0-A382-47A1-84FD-5ED2B2D20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7113" y="3835897"/>
            <a:ext cx="26346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동</a:t>
            </a:r>
            <a:endParaRPr lang="en-US" altLang="ko-KR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층</a:t>
            </a:r>
          </a:p>
        </p:txBody>
      </p:sp>
      <p:sp>
        <p:nvSpPr>
          <p:cNvPr id="43" name="TextBox 88">
            <a:extLst>
              <a:ext uri="{FF2B5EF4-FFF2-40B4-BE49-F238E27FC236}">
                <a16:creationId xmlns:a16="http://schemas.microsoft.com/office/drawing/2014/main" xmlns="" id="{5C07700B-8DEA-47C3-AA6A-B4B694CC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381" y="3835897"/>
            <a:ext cx="25544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동</a:t>
            </a:r>
          </a:p>
        </p:txBody>
      </p:sp>
      <p:sp>
        <p:nvSpPr>
          <p:cNvPr id="44" name="TextBox 89">
            <a:extLst>
              <a:ext uri="{FF2B5EF4-FFF2-40B4-BE49-F238E27FC236}">
                <a16:creationId xmlns:a16="http://schemas.microsoft.com/office/drawing/2014/main" xmlns="" id="{F8301FE5-49CA-4738-B98E-4ED619A9F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351" y="4694464"/>
            <a:ext cx="41895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ko-KR" altLang="en-US" sz="900" dirty="0" err="1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보관존</a:t>
            </a:r>
            <a:endParaRPr lang="ko-KR" altLang="en-US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90">
            <a:extLst>
              <a:ext uri="{FF2B5EF4-FFF2-40B4-BE49-F238E27FC236}">
                <a16:creationId xmlns:a16="http://schemas.microsoft.com/office/drawing/2014/main" xmlns="" id="{D99D51B3-9F57-45F5-8EF5-51804E14F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956" y="4694464"/>
            <a:ext cx="41895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ko-KR" altLang="en-US" sz="900" dirty="0" err="1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피킹존</a:t>
            </a:r>
            <a:endParaRPr lang="ko-KR" altLang="en-US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91">
            <a:extLst>
              <a:ext uri="{FF2B5EF4-FFF2-40B4-BE49-F238E27FC236}">
                <a16:creationId xmlns:a16="http://schemas.microsoft.com/office/drawing/2014/main" xmlns="" id="{197D0FC7-F347-4FB7-8A7A-E4CF74569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256" y="5408991"/>
            <a:ext cx="27307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X, Y</a:t>
            </a:r>
            <a:endParaRPr lang="ko-KR" altLang="en-US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8" name="그룹 62">
            <a:extLst>
              <a:ext uri="{FF2B5EF4-FFF2-40B4-BE49-F238E27FC236}">
                <a16:creationId xmlns:a16="http://schemas.microsoft.com/office/drawing/2014/main" xmlns="" id="{B8E1AFB9-E4C9-4A0E-A6DC-B9271F39214B}"/>
              </a:ext>
            </a:extLst>
          </p:cNvPr>
          <p:cNvGrpSpPr>
            <a:grpSpLocks noChangeAspect="1"/>
          </p:cNvGrpSpPr>
          <p:nvPr/>
        </p:nvGrpSpPr>
        <p:grpSpPr>
          <a:xfrm>
            <a:off x="3353391" y="3748663"/>
            <a:ext cx="268875" cy="50007"/>
            <a:chOff x="-170920" y="2143116"/>
            <a:chExt cx="384110" cy="7143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xmlns="" id="{E88C7116-8F59-46E7-B17A-52A4F456B1FE}"/>
                </a:ext>
              </a:extLst>
            </p:cNvPr>
            <p:cNvSpPr/>
            <p:nvPr/>
          </p:nvSpPr>
          <p:spPr>
            <a:xfrm>
              <a:off x="-170920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xmlns="" id="{C52EDA70-388D-400A-8D58-1527734CBC4F}"/>
                </a:ext>
              </a:extLst>
            </p:cNvPr>
            <p:cNvSpPr/>
            <p:nvPr/>
          </p:nvSpPr>
          <p:spPr>
            <a:xfrm>
              <a:off x="-14584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xmlns="" id="{B121C794-37DB-4EB3-9666-2DECA83D57E9}"/>
                </a:ext>
              </a:extLst>
            </p:cNvPr>
            <p:cNvSpPr/>
            <p:nvPr/>
          </p:nvSpPr>
          <p:spPr>
            <a:xfrm>
              <a:off x="141751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2" name="그룹 62">
            <a:extLst>
              <a:ext uri="{FF2B5EF4-FFF2-40B4-BE49-F238E27FC236}">
                <a16:creationId xmlns:a16="http://schemas.microsoft.com/office/drawing/2014/main" xmlns="" id="{1702A445-71DB-48C9-A955-08B89DE58D7C}"/>
              </a:ext>
            </a:extLst>
          </p:cNvPr>
          <p:cNvGrpSpPr>
            <a:grpSpLocks noChangeAspect="1"/>
          </p:cNvGrpSpPr>
          <p:nvPr/>
        </p:nvGrpSpPr>
        <p:grpSpPr>
          <a:xfrm>
            <a:off x="3353391" y="4453503"/>
            <a:ext cx="268875" cy="50007"/>
            <a:chOff x="-170920" y="2143116"/>
            <a:chExt cx="384110" cy="7143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xmlns="" id="{F925AC61-EB38-480D-8C61-CC8C1A8B1858}"/>
                </a:ext>
              </a:extLst>
            </p:cNvPr>
            <p:cNvSpPr/>
            <p:nvPr/>
          </p:nvSpPr>
          <p:spPr>
            <a:xfrm>
              <a:off x="-170920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xmlns="" id="{7083BFFE-E6C6-40FE-A6E9-97DBD448AC55}"/>
                </a:ext>
              </a:extLst>
            </p:cNvPr>
            <p:cNvSpPr/>
            <p:nvPr/>
          </p:nvSpPr>
          <p:spPr>
            <a:xfrm>
              <a:off x="-14584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xmlns="" id="{7F16F13A-D78D-4FB8-999F-F077720F3C0D}"/>
                </a:ext>
              </a:extLst>
            </p:cNvPr>
            <p:cNvSpPr/>
            <p:nvPr/>
          </p:nvSpPr>
          <p:spPr>
            <a:xfrm>
              <a:off x="141751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3118089C-CBB8-410E-B9E2-7CC314475A41}"/>
              </a:ext>
            </a:extLst>
          </p:cNvPr>
          <p:cNvGrpSpPr>
            <a:grpSpLocks noChangeAspect="1"/>
          </p:cNvGrpSpPr>
          <p:nvPr/>
        </p:nvGrpSpPr>
        <p:grpSpPr>
          <a:xfrm>
            <a:off x="3353391" y="5258305"/>
            <a:ext cx="268875" cy="50007"/>
            <a:chOff x="-170920" y="2143116"/>
            <a:chExt cx="384110" cy="7143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xmlns="" id="{6960C8EA-4D92-4055-B2EA-33AA6878DF7E}"/>
                </a:ext>
              </a:extLst>
            </p:cNvPr>
            <p:cNvSpPr/>
            <p:nvPr/>
          </p:nvSpPr>
          <p:spPr>
            <a:xfrm>
              <a:off x="-170920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xmlns="" id="{3C43725B-4A59-41F0-801C-3E499966EDAA}"/>
                </a:ext>
              </a:extLst>
            </p:cNvPr>
            <p:cNvSpPr/>
            <p:nvPr/>
          </p:nvSpPr>
          <p:spPr>
            <a:xfrm>
              <a:off x="-14584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xmlns="" id="{3D90706D-2FC3-4637-87F0-4A11BE7105F3}"/>
                </a:ext>
              </a:extLst>
            </p:cNvPr>
            <p:cNvSpPr/>
            <p:nvPr/>
          </p:nvSpPr>
          <p:spPr>
            <a:xfrm>
              <a:off x="141751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xmlns="" id="{949F4ACF-EA49-4B13-9057-B632F7DB105E}"/>
              </a:ext>
            </a:extLst>
          </p:cNvPr>
          <p:cNvGrpSpPr/>
          <p:nvPr/>
        </p:nvGrpSpPr>
        <p:grpSpPr>
          <a:xfrm>
            <a:off x="1882996" y="5890997"/>
            <a:ext cx="468000" cy="252000"/>
            <a:chOff x="7179939" y="5283993"/>
            <a:chExt cx="642942" cy="353474"/>
          </a:xfrm>
        </p:grpSpPr>
        <p:pic>
          <p:nvPicPr>
            <p:cNvPr id="61" name="그림 60" descr="그림7.png">
              <a:extLst>
                <a:ext uri="{FF2B5EF4-FFF2-40B4-BE49-F238E27FC236}">
                  <a16:creationId xmlns:a16="http://schemas.microsoft.com/office/drawing/2014/main" xmlns="" id="{6B61923F-17F8-4BEE-A48A-CD08B15814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prstClr val="black"/>
                <a:srgbClr val="F79646">
                  <a:tint val="45000"/>
                  <a:satMod val="400000"/>
                </a:srgbClr>
              </a:duotone>
            </a:blip>
            <a:srcRect t="778" b="30416"/>
            <a:stretch/>
          </p:blipFill>
          <p:spPr>
            <a:xfrm>
              <a:off x="7179939" y="5283993"/>
              <a:ext cx="642942" cy="180975"/>
            </a:xfrm>
            <a:prstGeom prst="rect">
              <a:avLst/>
            </a:prstGeom>
            <a:noFill/>
          </p:spPr>
        </p:pic>
        <p:pic>
          <p:nvPicPr>
            <p:cNvPr id="62" name="그림 61" descr="그림7.png">
              <a:extLst>
                <a:ext uri="{FF2B5EF4-FFF2-40B4-BE49-F238E27FC236}">
                  <a16:creationId xmlns:a16="http://schemas.microsoft.com/office/drawing/2014/main" xmlns="" id="{9D642AE2-C2B1-4BD1-B977-D4516781B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prstClr val="black"/>
                <a:srgbClr val="F79646">
                  <a:tint val="45000"/>
                  <a:satMod val="400000"/>
                </a:srgbClr>
              </a:duotone>
            </a:blip>
            <a:srcRect t="778" b="30416"/>
            <a:stretch/>
          </p:blipFill>
          <p:spPr>
            <a:xfrm>
              <a:off x="7179939" y="5456492"/>
              <a:ext cx="642942" cy="180975"/>
            </a:xfrm>
            <a:prstGeom prst="rect">
              <a:avLst/>
            </a:prstGeom>
            <a:noFill/>
          </p:spPr>
        </p:pic>
      </p:grpSp>
      <p:sp>
        <p:nvSpPr>
          <p:cNvPr id="63" name="TextBox 70">
            <a:extLst>
              <a:ext uri="{FF2B5EF4-FFF2-40B4-BE49-F238E27FC236}">
                <a16:creationId xmlns:a16="http://schemas.microsoft.com/office/drawing/2014/main" xmlns="" id="{71D43C85-A241-4E9F-ACFA-D3DEF0081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4" y="5903702"/>
            <a:ext cx="295521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Cell</a:t>
            </a:r>
            <a:endParaRPr lang="ko-KR" altLang="en-US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TextBox 91">
            <a:extLst>
              <a:ext uri="{FF2B5EF4-FFF2-40B4-BE49-F238E27FC236}">
                <a16:creationId xmlns:a16="http://schemas.microsoft.com/office/drawing/2014/main" xmlns="" id="{2C942E0E-4716-40FE-9BE7-359350AC8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065" y="6161066"/>
            <a:ext cx="58245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단</a:t>
            </a: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, 2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단</a:t>
            </a: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xmlns="" id="{70033BD2-DA3D-4B1B-BA71-A152F53344AF}"/>
              </a:ext>
            </a:extLst>
          </p:cNvPr>
          <p:cNvGrpSpPr/>
          <p:nvPr/>
        </p:nvGrpSpPr>
        <p:grpSpPr>
          <a:xfrm>
            <a:off x="1803697" y="4334034"/>
            <a:ext cx="626598" cy="338400"/>
            <a:chOff x="4813424" y="4124027"/>
            <a:chExt cx="626598" cy="338400"/>
          </a:xfrm>
        </p:grpSpPr>
        <p:pic>
          <p:nvPicPr>
            <p:cNvPr id="66" name="Picture 4">
              <a:extLst>
                <a:ext uri="{FF2B5EF4-FFF2-40B4-BE49-F238E27FC236}">
                  <a16:creationId xmlns:a16="http://schemas.microsoft.com/office/drawing/2014/main" xmlns="" id="{90BD6A0A-82A4-431E-9AE3-FB5972FCB0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/>
            <a:srcRect l="29560" t="25227" r="12876" b="37599"/>
            <a:stretch/>
          </p:blipFill>
          <p:spPr bwMode="auto">
            <a:xfrm>
              <a:off x="4813424" y="4124027"/>
              <a:ext cx="626598" cy="33813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xmlns="" id="{0AB94365-32D3-41FA-ADEB-C1D587BAFB8D}"/>
                </a:ext>
              </a:extLst>
            </p:cNvPr>
            <p:cNvSpPr/>
            <p:nvPr/>
          </p:nvSpPr>
          <p:spPr>
            <a:xfrm>
              <a:off x="4854791" y="4124027"/>
              <a:ext cx="314233" cy="3384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xmlns="" id="{FDC2A39A-7361-40C0-BAE7-55AF54CEAF14}"/>
              </a:ext>
            </a:extLst>
          </p:cNvPr>
          <p:cNvGrpSpPr/>
          <p:nvPr/>
        </p:nvGrpSpPr>
        <p:grpSpPr>
          <a:xfrm>
            <a:off x="2592302" y="4309306"/>
            <a:ext cx="626598" cy="338400"/>
            <a:chOff x="4813424" y="4124027"/>
            <a:chExt cx="626598" cy="338400"/>
          </a:xfrm>
        </p:grpSpPr>
        <p:pic>
          <p:nvPicPr>
            <p:cNvPr id="69" name="Picture 4">
              <a:extLst>
                <a:ext uri="{FF2B5EF4-FFF2-40B4-BE49-F238E27FC236}">
                  <a16:creationId xmlns:a16="http://schemas.microsoft.com/office/drawing/2014/main" xmlns="" id="{C11F6BF5-0EAD-4684-A282-D99536D5AE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/>
            <a:srcRect l="29560" t="25227" r="12876" b="37599"/>
            <a:stretch/>
          </p:blipFill>
          <p:spPr bwMode="auto">
            <a:xfrm>
              <a:off x="4813424" y="4124027"/>
              <a:ext cx="626598" cy="33813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xmlns="" id="{1DF98A40-4043-4907-ACDF-4B230C53C9A8}"/>
                </a:ext>
              </a:extLst>
            </p:cNvPr>
            <p:cNvSpPr/>
            <p:nvPr/>
          </p:nvSpPr>
          <p:spPr>
            <a:xfrm>
              <a:off x="5179447" y="4124027"/>
              <a:ext cx="252000" cy="33840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endParaRPr>
            </a:p>
          </p:txBody>
        </p:sp>
      </p:grpSp>
      <p:cxnSp>
        <p:nvCxnSpPr>
          <p:cNvPr id="71" name="직선 화살표 연결선 127">
            <a:extLst>
              <a:ext uri="{FF2B5EF4-FFF2-40B4-BE49-F238E27FC236}">
                <a16:creationId xmlns:a16="http://schemas.microsoft.com/office/drawing/2014/main" xmlns="" id="{5A3A8227-1B8D-4A98-9FD4-D18C864BF1CE}"/>
              </a:ext>
            </a:extLst>
          </p:cNvPr>
          <p:cNvCxnSpPr>
            <a:cxnSpLocks noChangeShapeType="1"/>
            <a:stCxn id="83" idx="2"/>
            <a:endCxn id="61" idx="0"/>
          </p:cNvCxnSpPr>
          <p:nvPr/>
        </p:nvCxnSpPr>
        <p:spPr bwMode="auto">
          <a:xfrm flipH="1">
            <a:off x="2116996" y="5482901"/>
            <a:ext cx="1" cy="408096"/>
          </a:xfrm>
          <a:prstGeom prst="straightConnector1">
            <a:avLst/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xmlns="" id="{FA8B4E7F-F04D-4823-897C-587A3F72F694}"/>
              </a:ext>
            </a:extLst>
          </p:cNvPr>
          <p:cNvGrpSpPr>
            <a:grpSpLocks noChangeAspect="1"/>
          </p:cNvGrpSpPr>
          <p:nvPr/>
        </p:nvGrpSpPr>
        <p:grpSpPr>
          <a:xfrm>
            <a:off x="3353391" y="5991994"/>
            <a:ext cx="268875" cy="50007"/>
            <a:chOff x="-170920" y="2143116"/>
            <a:chExt cx="384110" cy="71438"/>
          </a:xfrm>
          <a:solidFill>
            <a:sysClr val="windowText" lastClr="000000">
              <a:lumMod val="50000"/>
              <a:lumOff val="50000"/>
            </a:sysClr>
          </a:solidFill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xmlns="" id="{F5BE2942-FCC0-44A9-B547-23754B0D5590}"/>
                </a:ext>
              </a:extLst>
            </p:cNvPr>
            <p:cNvSpPr/>
            <p:nvPr/>
          </p:nvSpPr>
          <p:spPr>
            <a:xfrm>
              <a:off x="-170920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xmlns="" id="{C5CBE08A-5912-4933-92B0-4F0252EF1060}"/>
                </a:ext>
              </a:extLst>
            </p:cNvPr>
            <p:cNvSpPr/>
            <p:nvPr/>
          </p:nvSpPr>
          <p:spPr>
            <a:xfrm>
              <a:off x="-14584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xmlns="" id="{EA223DEA-58E2-403B-9B9B-1ED06C5E2F4B}"/>
                </a:ext>
              </a:extLst>
            </p:cNvPr>
            <p:cNvSpPr/>
            <p:nvPr/>
          </p:nvSpPr>
          <p:spPr>
            <a:xfrm>
              <a:off x="141751" y="2143116"/>
              <a:ext cx="71439" cy="71438"/>
            </a:xfrm>
            <a:prstGeom prst="ellipse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76" name="직선 화살표 연결선 126">
            <a:extLst>
              <a:ext uri="{FF2B5EF4-FFF2-40B4-BE49-F238E27FC236}">
                <a16:creationId xmlns:a16="http://schemas.microsoft.com/office/drawing/2014/main" xmlns="" id="{D029EF02-9B06-4411-95AD-8D7FAC3E775E}"/>
              </a:ext>
            </a:extLst>
          </p:cNvPr>
          <p:cNvCxnSpPr>
            <a:cxnSpLocks noChangeShapeType="1"/>
            <a:stCxn id="66" idx="2"/>
            <a:endCxn id="84" idx="0"/>
          </p:cNvCxnSpPr>
          <p:nvPr/>
        </p:nvCxnSpPr>
        <p:spPr bwMode="auto">
          <a:xfrm rot="16200000" flipH="1">
            <a:off x="2307120" y="4482047"/>
            <a:ext cx="408359" cy="788606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cxnSp>
        <p:nvCxnSpPr>
          <p:cNvPr id="77" name="직선 화살표 연결선 126">
            <a:extLst>
              <a:ext uri="{FF2B5EF4-FFF2-40B4-BE49-F238E27FC236}">
                <a16:creationId xmlns:a16="http://schemas.microsoft.com/office/drawing/2014/main" xmlns="" id="{F4B60A32-DDFD-4886-B66E-7F33D96B4687}"/>
              </a:ext>
            </a:extLst>
          </p:cNvPr>
          <p:cNvCxnSpPr>
            <a:cxnSpLocks noChangeShapeType="1"/>
            <a:stCxn id="83" idx="2"/>
            <a:endCxn id="79" idx="0"/>
          </p:cNvCxnSpPr>
          <p:nvPr/>
        </p:nvCxnSpPr>
        <p:spPr bwMode="auto">
          <a:xfrm rot="16200000" flipH="1">
            <a:off x="2307251" y="5292647"/>
            <a:ext cx="408096" cy="788604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4F6228"/>
            </a:solidFill>
            <a:prstDash val="sysDot"/>
            <a:round/>
            <a:headEnd type="oval" w="sm" len="sm"/>
            <a:tailEnd type="triangle" w="sm" len="sm"/>
          </a:ln>
        </p:spPr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xmlns="" id="{1E5BEBC3-F965-4A0B-8ACC-00A0673FC302}"/>
              </a:ext>
            </a:extLst>
          </p:cNvPr>
          <p:cNvGrpSpPr/>
          <p:nvPr/>
        </p:nvGrpSpPr>
        <p:grpSpPr>
          <a:xfrm>
            <a:off x="2671601" y="5890997"/>
            <a:ext cx="468000" cy="252000"/>
            <a:chOff x="7179939" y="5283993"/>
            <a:chExt cx="642942" cy="353474"/>
          </a:xfrm>
        </p:grpSpPr>
        <p:pic>
          <p:nvPicPr>
            <p:cNvPr id="79" name="그림 78" descr="그림7.png">
              <a:extLst>
                <a:ext uri="{FF2B5EF4-FFF2-40B4-BE49-F238E27FC236}">
                  <a16:creationId xmlns:a16="http://schemas.microsoft.com/office/drawing/2014/main" xmlns="" id="{31A30805-5890-4132-9A63-C87203E828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778" b="30416"/>
            <a:stretch/>
          </p:blipFill>
          <p:spPr>
            <a:xfrm>
              <a:off x="7179939" y="5283993"/>
              <a:ext cx="642942" cy="180975"/>
            </a:xfrm>
            <a:prstGeom prst="rect">
              <a:avLst/>
            </a:prstGeom>
            <a:noFill/>
          </p:spPr>
        </p:pic>
        <p:pic>
          <p:nvPicPr>
            <p:cNvPr id="80" name="그림 79" descr="그림7.png">
              <a:extLst>
                <a:ext uri="{FF2B5EF4-FFF2-40B4-BE49-F238E27FC236}">
                  <a16:creationId xmlns:a16="http://schemas.microsoft.com/office/drawing/2014/main" xmlns="" id="{63D8F370-6663-4547-98F0-D2A77CB9B5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778" b="30416"/>
            <a:stretch/>
          </p:blipFill>
          <p:spPr>
            <a:xfrm>
              <a:off x="7179939" y="5456492"/>
              <a:ext cx="642942" cy="180975"/>
            </a:xfrm>
            <a:prstGeom prst="rect">
              <a:avLst/>
            </a:prstGeom>
            <a:noFill/>
          </p:spPr>
        </p:pic>
      </p:grpSp>
      <p:sp>
        <p:nvSpPr>
          <p:cNvPr id="81" name="TextBox 91">
            <a:extLst>
              <a:ext uri="{FF2B5EF4-FFF2-40B4-BE49-F238E27FC236}">
                <a16:creationId xmlns:a16="http://schemas.microsoft.com/office/drawing/2014/main" xmlns="" id="{D345CDCC-C6BB-4184-87E0-3F6B1B9F1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670" y="6161066"/>
            <a:ext cx="58245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단</a:t>
            </a: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, 2</a:t>
            </a:r>
            <a:r>
              <a:rPr lang="ko-KR" altLang="en-US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단</a:t>
            </a: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TextBox 91">
            <a:extLst>
              <a:ext uri="{FF2B5EF4-FFF2-40B4-BE49-F238E27FC236}">
                <a16:creationId xmlns:a16="http://schemas.microsoft.com/office/drawing/2014/main" xmlns="" id="{12339A72-0A88-4296-BD3A-0BCC1B6C8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7861" y="5408991"/>
            <a:ext cx="27307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US" altLang="ko-KR" sz="900" dirty="0">
                <a:solidFill>
                  <a:srgbClr val="948A54"/>
                </a:solidFill>
                <a:latin typeface="맑은 고딕" pitchFamily="50" charset="-127"/>
                <a:ea typeface="맑은 고딕" pitchFamily="50" charset="-127"/>
              </a:rPr>
              <a:t>X, Y</a:t>
            </a:r>
            <a:endParaRPr lang="ko-KR" altLang="en-US" sz="900" dirty="0">
              <a:solidFill>
                <a:srgbClr val="948A54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xmlns="" id="{3EDE064E-AB42-4C41-A0A5-20AC51067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556" y="5080530"/>
            <a:ext cx="560881" cy="402371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xmlns="" id="{0B5058AF-E6CC-4218-B34B-89F24EC7E9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5161" y="5080530"/>
            <a:ext cx="560881" cy="402371"/>
          </a:xfrm>
          <a:prstGeom prst="rect">
            <a:avLst/>
          </a:prstGeom>
        </p:spPr>
      </p:pic>
      <p:sp>
        <p:nvSpPr>
          <p:cNvPr id="86" name="직사각형 85"/>
          <p:cNvSpPr/>
          <p:nvPr/>
        </p:nvSpPr>
        <p:spPr>
          <a:xfrm>
            <a:off x="531862" y="4190056"/>
            <a:ext cx="3156780" cy="6429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641" y="3704394"/>
            <a:ext cx="5632644" cy="2547136"/>
          </a:xfrm>
          <a:prstGeom prst="rect">
            <a:avLst/>
          </a:prstGeom>
        </p:spPr>
      </p:pic>
      <p:sp>
        <p:nvSpPr>
          <p:cNvPr id="88" name="Text Box 12"/>
          <p:cNvSpPr txBox="1">
            <a:spLocks noChangeArrowheads="1"/>
          </p:cNvSpPr>
          <p:nvPr/>
        </p:nvSpPr>
        <p:spPr bwMode="auto">
          <a:xfrm>
            <a:off x="3904641" y="2172823"/>
            <a:ext cx="5692439" cy="1465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의 존은 </a:t>
            </a:r>
            <a:r>
              <a:rPr lang="en-US" altLang="ko-KR" sz="1100" b="0" dirty="0" smtClean="0">
                <a:latin typeface="+mn-ea"/>
                <a:ea typeface="+mn-ea"/>
              </a:rPr>
              <a:t>ERP</a:t>
            </a:r>
            <a:r>
              <a:rPr lang="ko-KR" altLang="en-US" sz="1100" b="0" dirty="0" smtClean="0">
                <a:latin typeface="+mn-ea"/>
                <a:ea typeface="+mn-ea"/>
              </a:rPr>
              <a:t>의 창고와 </a:t>
            </a:r>
            <a:r>
              <a:rPr lang="en-US" altLang="ko-KR" sz="1100" b="0" dirty="0" smtClean="0">
                <a:latin typeface="+mn-ea"/>
                <a:ea typeface="+mn-ea"/>
              </a:rPr>
              <a:t>1:1</a:t>
            </a:r>
            <a:r>
              <a:rPr lang="ko-KR" altLang="en-US" sz="1100" b="0" dirty="0" smtClean="0">
                <a:latin typeface="+mn-ea"/>
                <a:ea typeface="+mn-ea"/>
              </a:rPr>
              <a:t>로</a:t>
            </a:r>
            <a:r>
              <a:rPr lang="en-US" altLang="ko-KR" sz="1100" b="0" dirty="0" smtClean="0">
                <a:latin typeface="+mn-ea"/>
                <a:ea typeface="+mn-ea"/>
              </a:rPr>
              <a:t> </a:t>
            </a:r>
            <a:r>
              <a:rPr lang="ko-KR" altLang="en-US" sz="1100" b="0" dirty="0" smtClean="0">
                <a:latin typeface="+mn-ea"/>
                <a:ea typeface="+mn-ea"/>
              </a:rPr>
              <a:t>연결되어 있음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자가소모출고 시 출고할 수 있는 재고는 </a:t>
            </a:r>
            <a:r>
              <a:rPr lang="en-US" altLang="ko-KR" sz="1100" b="0" dirty="0" smtClean="0">
                <a:latin typeface="+mn-ea"/>
                <a:ea typeface="+mn-ea"/>
              </a:rPr>
              <a:t>ERP </a:t>
            </a:r>
            <a:r>
              <a:rPr lang="ko-KR" altLang="en-US" sz="1100" b="0" dirty="0" smtClean="0">
                <a:latin typeface="+mn-ea"/>
                <a:ea typeface="+mn-ea"/>
              </a:rPr>
              <a:t>재고창고 기준 </a:t>
            </a:r>
            <a:r>
              <a:rPr lang="en-US" altLang="ko-KR" sz="1100" b="0" dirty="0" smtClean="0">
                <a:latin typeface="+mn-ea"/>
                <a:ea typeface="+mn-ea"/>
              </a:rPr>
              <a:t>YA, YC, GC </a:t>
            </a:r>
            <a:r>
              <a:rPr lang="ko-KR" altLang="en-US" sz="1100" b="0" dirty="0" smtClean="0">
                <a:latin typeface="+mn-ea"/>
                <a:ea typeface="+mn-ea"/>
              </a:rPr>
              <a:t>창고의 재고이고 </a:t>
            </a:r>
            <a:r>
              <a:rPr lang="en-US" altLang="ko-KR" sz="1100" b="0" dirty="0" smtClean="0">
                <a:latin typeface="+mn-ea"/>
                <a:ea typeface="+mn-ea"/>
              </a:rPr>
              <a:t>YA</a:t>
            </a:r>
            <a:r>
              <a:rPr lang="ko-KR" altLang="en-US" sz="1100" b="0" dirty="0" smtClean="0">
                <a:latin typeface="+mn-ea"/>
                <a:ea typeface="+mn-ea"/>
              </a:rPr>
              <a:t>창고는 </a:t>
            </a: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의 </a:t>
            </a:r>
            <a:r>
              <a:rPr lang="ko-KR" altLang="en-US" sz="1100" b="0" dirty="0" err="1" smtClean="0">
                <a:latin typeface="+mn-ea"/>
                <a:ea typeface="+mn-ea"/>
              </a:rPr>
              <a:t>자가소모존</a:t>
            </a:r>
            <a:r>
              <a:rPr lang="en-US" altLang="ko-KR" sz="1100" b="0" dirty="0" smtClean="0">
                <a:latin typeface="+mn-ea"/>
                <a:ea typeface="+mn-ea"/>
              </a:rPr>
              <a:t>(ex.1G07, 1G08-&gt;</a:t>
            </a:r>
            <a:r>
              <a:rPr lang="ko-KR" altLang="en-US" sz="1100" b="0" dirty="0" err="1" smtClean="0">
                <a:latin typeface="+mn-ea"/>
                <a:ea typeface="+mn-ea"/>
              </a:rPr>
              <a:t>센터별</a:t>
            </a:r>
            <a:r>
              <a:rPr lang="ko-KR" altLang="en-US" sz="1100" b="0" dirty="0" smtClean="0">
                <a:latin typeface="+mn-ea"/>
                <a:ea typeface="+mn-ea"/>
              </a:rPr>
              <a:t> 상이</a:t>
            </a:r>
            <a:r>
              <a:rPr lang="en-US" altLang="ko-KR" sz="1100" b="0" dirty="0" smtClean="0">
                <a:latin typeface="+mn-ea"/>
                <a:ea typeface="+mn-ea"/>
              </a:rPr>
              <a:t>)</a:t>
            </a:r>
            <a:r>
              <a:rPr lang="ko-KR" altLang="en-US" sz="1100" b="0" dirty="0" smtClean="0">
                <a:latin typeface="+mn-ea"/>
                <a:ea typeface="+mn-ea"/>
              </a:rPr>
              <a:t>의 재고만 가능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존의 </a:t>
            </a:r>
            <a:r>
              <a:rPr lang="en-US" altLang="ko-KR" sz="1100" b="0" dirty="0" smtClean="0">
                <a:latin typeface="+mn-ea"/>
                <a:ea typeface="+mn-ea"/>
              </a:rPr>
              <a:t>‘</a:t>
            </a:r>
            <a:r>
              <a:rPr lang="ko-KR" altLang="en-US" sz="1100" b="0" dirty="0" smtClean="0">
                <a:latin typeface="+mn-ea"/>
                <a:ea typeface="+mn-ea"/>
              </a:rPr>
              <a:t>판매가능재고여부</a:t>
            </a:r>
            <a:r>
              <a:rPr lang="en-US" altLang="ko-KR" sz="1100" b="0" dirty="0" smtClean="0">
                <a:latin typeface="+mn-ea"/>
                <a:ea typeface="+mn-ea"/>
              </a:rPr>
              <a:t>’</a:t>
            </a:r>
            <a:r>
              <a:rPr lang="ko-KR" altLang="en-US" sz="1100" b="0" dirty="0" smtClean="0">
                <a:latin typeface="+mn-ea"/>
                <a:ea typeface="+mn-ea"/>
              </a:rPr>
              <a:t>는 판매출고의 출고지시에 재고를 할당 할 수 있는 존을 의미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ko-KR" sz="1100" b="0" dirty="0" smtClean="0">
                <a:latin typeface="+mn-ea"/>
                <a:ea typeface="+mn-ea"/>
              </a:rPr>
              <a:t>Ex. </a:t>
            </a:r>
            <a:r>
              <a:rPr lang="ko-KR" altLang="en-US" sz="1100" b="0" dirty="0" err="1" smtClean="0">
                <a:latin typeface="+mn-ea"/>
                <a:ea typeface="+mn-ea"/>
              </a:rPr>
              <a:t>초도출고</a:t>
            </a:r>
            <a:r>
              <a:rPr lang="ko-KR" altLang="en-US" sz="1100" b="0" dirty="0">
                <a:latin typeface="+mn-ea"/>
                <a:ea typeface="+mn-ea"/>
              </a:rPr>
              <a:t> </a:t>
            </a:r>
            <a:r>
              <a:rPr lang="ko-KR" altLang="en-US" sz="1100" b="0" dirty="0" smtClean="0">
                <a:latin typeface="+mn-ea"/>
                <a:ea typeface="+mn-ea"/>
              </a:rPr>
              <a:t>시 </a:t>
            </a:r>
            <a:r>
              <a:rPr lang="en-US" altLang="ko-KR" sz="1100" b="0" dirty="0" smtClean="0">
                <a:latin typeface="+mn-ea"/>
                <a:ea typeface="+mn-ea"/>
              </a:rPr>
              <a:t>1D06 </a:t>
            </a:r>
            <a:r>
              <a:rPr lang="ko-KR" altLang="en-US" sz="1100" b="0" dirty="0" smtClean="0">
                <a:latin typeface="+mn-ea"/>
                <a:ea typeface="+mn-ea"/>
              </a:rPr>
              <a:t>존의 재고는 출고하지 못함</a:t>
            </a:r>
            <a:r>
              <a:rPr lang="en-US" altLang="ko-KR" sz="1100" b="0" dirty="0" smtClean="0">
                <a:latin typeface="+mn-ea"/>
                <a:ea typeface="+mn-ea"/>
              </a:rPr>
              <a:t>, 1D03</a:t>
            </a:r>
            <a:r>
              <a:rPr lang="ko-KR" altLang="en-US" sz="1100" b="0" dirty="0">
                <a:latin typeface="+mn-ea"/>
                <a:ea typeface="+mn-ea"/>
              </a:rPr>
              <a:t> </a:t>
            </a:r>
            <a:r>
              <a:rPr lang="ko-KR" altLang="en-US" sz="1100" b="0" dirty="0" smtClean="0">
                <a:latin typeface="+mn-ea"/>
                <a:ea typeface="+mn-ea"/>
              </a:rPr>
              <a:t>존의 재고는 가능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8872673" y="4334034"/>
            <a:ext cx="650268" cy="19174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/>
          <p:cNvSpPr/>
          <p:nvPr/>
        </p:nvSpPr>
        <p:spPr>
          <a:xfrm>
            <a:off x="4341341" y="5151944"/>
            <a:ext cx="3641124" cy="243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33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용어 및 개념정리</a:t>
            </a:r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</a:t>
            </a:r>
            <a:r>
              <a:rPr lang="en-US" altLang="ko-KR" sz="13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재고 조회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478996" y="1190309"/>
            <a:ext cx="9043945" cy="91566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686278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err="1" smtClean="0">
                <a:latin typeface="+mn-ea"/>
                <a:ea typeface="+mn-ea"/>
              </a:rPr>
              <a:t>실가용</a:t>
            </a:r>
            <a:r>
              <a:rPr lang="ko-KR" altLang="en-US" sz="1100" b="0" dirty="0" smtClean="0">
                <a:latin typeface="+mn-ea"/>
                <a:ea typeface="+mn-ea"/>
              </a:rPr>
              <a:t> 수량 </a:t>
            </a:r>
            <a:r>
              <a:rPr lang="en-US" altLang="ko-KR" sz="1100" b="0" dirty="0" smtClean="0">
                <a:latin typeface="+mn-ea"/>
                <a:ea typeface="+mn-ea"/>
              </a:rPr>
              <a:t>: </a:t>
            </a:r>
            <a:r>
              <a:rPr lang="ko-KR" altLang="en-US" sz="1100" b="0" dirty="0" smtClean="0">
                <a:latin typeface="+mn-ea"/>
                <a:ea typeface="+mn-ea"/>
              </a:rPr>
              <a:t>가용 수량 </a:t>
            </a:r>
            <a:r>
              <a:rPr lang="en-US" altLang="ko-KR" sz="1100" b="0" dirty="0" smtClean="0">
                <a:latin typeface="+mn-ea"/>
                <a:ea typeface="+mn-ea"/>
              </a:rPr>
              <a:t>– </a:t>
            </a:r>
            <a:r>
              <a:rPr lang="ko-KR" altLang="en-US" sz="1100" b="0" dirty="0" smtClean="0">
                <a:latin typeface="+mn-ea"/>
                <a:ea typeface="+mn-ea"/>
              </a:rPr>
              <a:t>출고대기 수량 </a:t>
            </a:r>
            <a:r>
              <a:rPr lang="en-US" altLang="ko-KR" sz="1100" b="0" dirty="0" smtClean="0">
                <a:latin typeface="+mn-ea"/>
                <a:ea typeface="+mn-ea"/>
              </a:rPr>
              <a:t>– </a:t>
            </a:r>
            <a:r>
              <a:rPr lang="ko-KR" altLang="en-US" sz="1100" b="0" dirty="0" smtClean="0">
                <a:latin typeface="+mn-ea"/>
                <a:ea typeface="+mn-ea"/>
              </a:rPr>
              <a:t>주문대기 수량으로 실제 창고에 신규 출고지시를 생성하여 출고할 수 있는 재고 수량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현업에서 출고예정정보 생성 시 </a:t>
            </a:r>
            <a:r>
              <a:rPr lang="en-US" altLang="ko-KR" sz="1100" b="0" dirty="0" smtClean="0">
                <a:latin typeface="+mn-ea"/>
                <a:ea typeface="+mn-ea"/>
              </a:rPr>
              <a:t>‘</a:t>
            </a:r>
            <a:r>
              <a:rPr lang="ko-KR" altLang="en-US" sz="1100" b="0" dirty="0" err="1" smtClean="0">
                <a:latin typeface="+mn-ea"/>
                <a:ea typeface="+mn-ea"/>
              </a:rPr>
              <a:t>실가용</a:t>
            </a:r>
            <a:r>
              <a:rPr lang="ko-KR" altLang="en-US" sz="1100" b="0" dirty="0" smtClean="0">
                <a:latin typeface="+mn-ea"/>
                <a:ea typeface="+mn-ea"/>
              </a:rPr>
              <a:t> 수량</a:t>
            </a:r>
            <a:r>
              <a:rPr lang="en-US" altLang="ko-KR" sz="1100" b="0" dirty="0" smtClean="0">
                <a:latin typeface="+mn-ea"/>
                <a:ea typeface="+mn-ea"/>
              </a:rPr>
              <a:t>’</a:t>
            </a:r>
            <a:r>
              <a:rPr lang="ko-KR" altLang="en-US" sz="1100" b="0" dirty="0" smtClean="0">
                <a:latin typeface="+mn-ea"/>
                <a:ea typeface="+mn-ea"/>
              </a:rPr>
              <a:t>을 확인하여 출고 진행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err="1" smtClean="0">
                <a:latin typeface="+mn-ea"/>
                <a:ea typeface="+mn-ea"/>
              </a:rPr>
              <a:t>실가용</a:t>
            </a:r>
            <a:r>
              <a:rPr lang="ko-KR" altLang="en-US" sz="1100" b="0" dirty="0" smtClean="0">
                <a:latin typeface="+mn-ea"/>
                <a:ea typeface="+mn-ea"/>
              </a:rPr>
              <a:t> 수량이 없어도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출고 오더 생성은 가능하나 </a:t>
            </a:r>
            <a:r>
              <a:rPr lang="en-US" altLang="ko-KR" sz="1100" b="0" dirty="0" smtClean="0">
                <a:latin typeface="+mn-ea"/>
                <a:ea typeface="+mn-ea"/>
              </a:rPr>
              <a:t>OMS &gt; WMS</a:t>
            </a:r>
            <a:r>
              <a:rPr lang="ko-KR" altLang="en-US" sz="1100" b="0" dirty="0" smtClean="0">
                <a:latin typeface="+mn-ea"/>
                <a:ea typeface="+mn-ea"/>
              </a:rPr>
              <a:t>로 출고지시가 되지 않음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6" y="2218047"/>
            <a:ext cx="9003805" cy="217272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6" y="4464910"/>
            <a:ext cx="5890710" cy="2031682"/>
          </a:xfrm>
          <a:prstGeom prst="rect">
            <a:avLst/>
          </a:prstGeom>
        </p:spPr>
      </p:pic>
      <p:sp>
        <p:nvSpPr>
          <p:cNvPr id="85" name="직사각형 84"/>
          <p:cNvSpPr/>
          <p:nvPr/>
        </p:nvSpPr>
        <p:spPr>
          <a:xfrm>
            <a:off x="5202716" y="3319850"/>
            <a:ext cx="1166990" cy="10709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/>
          <p:cNvSpPr/>
          <p:nvPr/>
        </p:nvSpPr>
        <p:spPr>
          <a:xfrm>
            <a:off x="3641646" y="5392722"/>
            <a:ext cx="1622332" cy="11038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81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2.</a:t>
            </a:r>
            <a:r>
              <a:rPr lang="ko-KR" altLang="en-US" sz="1400" b="1"/>
              <a:t> 마스터 정보 </a:t>
            </a:r>
            <a:r>
              <a:rPr lang="en-US" altLang="ko-KR" sz="1400" b="1" dirty="0"/>
              <a:t>I/F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1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제품마스터 </a:t>
            </a:r>
            <a:r>
              <a:rPr lang="en-US" altLang="ko-KR" sz="1400" b="1" dirty="0" smtClean="0"/>
              <a:t>I/F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마스터 정보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9008" y="2176959"/>
          <a:ext cx="8974603" cy="4311910"/>
        </p:xfrm>
        <a:graphic>
          <a:graphicData uri="http://schemas.openxmlformats.org/drawingml/2006/table">
            <a:tbl>
              <a:tblPr/>
              <a:tblGrid>
                <a:gridCol w="89746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64409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4750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1094146" y="2808235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2"/>
            <a:endCxn id="159" idx="0"/>
          </p:cNvCxnSpPr>
          <p:nvPr/>
        </p:nvCxnSpPr>
        <p:spPr>
          <a:xfrm>
            <a:off x="1548088" y="3073448"/>
            <a:ext cx="130" cy="17387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16" y="2157106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>
            <a:stCxn id="15" idx="0"/>
            <a:endCxn id="15" idx="2"/>
          </p:cNvCxnSpPr>
          <p:nvPr/>
        </p:nvCxnSpPr>
        <p:spPr>
          <a:xfrm>
            <a:off x="5036309" y="2176959"/>
            <a:ext cx="0" cy="431191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2038" y="2157106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7956292" y="5124797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품목</a:t>
              </a:r>
              <a:r>
                <a:rPr lang="en-US" altLang="ko-KR" sz="800" noProof="0" dirty="0" smtClean="0">
                  <a:latin typeface="+mn-ea"/>
                  <a:cs typeface="Arial"/>
                </a:rPr>
                <a:t>/</a:t>
              </a:r>
              <a:r>
                <a:rPr lang="ko-KR" altLang="en-US" sz="800" noProof="0" dirty="0" err="1" smtClean="0">
                  <a:latin typeface="+mn-ea"/>
                  <a:cs typeface="Arial"/>
                </a:rPr>
                <a:t>부품구</a:t>
              </a:r>
              <a:r>
                <a:rPr lang="ko-KR" altLang="en-US" sz="800" dirty="0">
                  <a:latin typeface="+mn-ea"/>
                  <a:cs typeface="Arial"/>
                </a:rPr>
                <a:t>성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물류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>
            <a:off x="6800768" y="2176959"/>
            <a:ext cx="16984" cy="431191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939" y="2206620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58" idx="2"/>
            <a:endCxn id="45" idx="0"/>
          </p:cNvCxnSpPr>
          <p:nvPr/>
        </p:nvCxnSpPr>
        <p:spPr>
          <a:xfrm>
            <a:off x="1548218" y="3680536"/>
            <a:ext cx="0" cy="15284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순서도: 자기 디스크 146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023786" y="4580527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제품마스터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51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47" idx="3"/>
            <a:endCxn id="69" idx="0"/>
          </p:cNvCxnSpPr>
          <p:nvPr/>
        </p:nvCxnSpPr>
        <p:spPr>
          <a:xfrm flipH="1">
            <a:off x="8410103" y="4948369"/>
            <a:ext cx="846" cy="17642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1094407" y="3247320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58" name="TextBox 157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kern="0" dirty="0">
                  <a:latin typeface="+mn-ea"/>
                </a:rPr>
                <a:t>작업지시서등록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77103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23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315576" cy="34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Solid/</a:t>
            </a:r>
            <a:r>
              <a:rPr lang="en-US" altLang="ko-KR" sz="1100" b="0" dirty="0" err="1" smtClean="0">
                <a:latin typeface="+mn-ea"/>
                <a:ea typeface="+mn-ea"/>
              </a:rPr>
              <a:t>AssortPacking</a:t>
            </a:r>
            <a:r>
              <a:rPr lang="en-US" altLang="ko-KR" sz="1100" b="0" dirty="0" smtClean="0">
                <a:latin typeface="+mn-ea"/>
                <a:ea typeface="+mn-ea"/>
              </a:rPr>
              <a:t> </a:t>
            </a:r>
            <a:r>
              <a:rPr lang="ko-KR" altLang="en-US" sz="1100" b="0" dirty="0" smtClean="0">
                <a:latin typeface="+mn-ea"/>
                <a:ea typeface="+mn-ea"/>
              </a:rPr>
              <a:t>등록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공장</a:t>
            </a:r>
            <a:r>
              <a:rPr lang="en-US" altLang="ko-KR" sz="1100" b="0" dirty="0" smtClean="0">
                <a:latin typeface="+mn-ea"/>
                <a:ea typeface="+mn-ea"/>
              </a:rPr>
              <a:t>Packing </a:t>
            </a:r>
            <a:r>
              <a:rPr lang="ko-KR" altLang="en-US" sz="1100" b="0" dirty="0" smtClean="0">
                <a:latin typeface="+mn-ea"/>
                <a:ea typeface="+mn-ea"/>
              </a:rPr>
              <a:t>합의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제품 입고 합의 여부에 따라 전송</a:t>
            </a:r>
            <a:endParaRPr lang="ko-KR" altLang="en-US" sz="1100" b="0" dirty="0">
              <a:latin typeface="+mn-ea"/>
              <a:ea typeface="+mn-ea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1095880" y="4472566"/>
            <a:ext cx="907754" cy="433249"/>
            <a:chOff x="3133535" y="2530726"/>
            <a:chExt cx="884283" cy="49880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5" name="TextBox 114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 smtClean="0">
                  <a:latin typeface="+mn-ea"/>
                  <a:cs typeface="Arial"/>
                </a:rPr>
                <a:t>Solid/Assort</a:t>
              </a:r>
              <a:r>
                <a:rPr lang="ko-KR" altLang="en-US" sz="800" dirty="0">
                  <a:latin typeface="+mn-ea"/>
                  <a:cs typeface="Arial"/>
                </a:rPr>
                <a:t> </a:t>
              </a:r>
              <a:r>
                <a:rPr lang="en-US" altLang="ko-KR" sz="800" dirty="0" smtClean="0">
                  <a:latin typeface="+mn-ea"/>
                  <a:cs typeface="Arial"/>
                </a:rPr>
                <a:t>UOM </a:t>
              </a:r>
              <a:r>
                <a:rPr lang="ko-KR" altLang="en-US" sz="800" dirty="0" smtClean="0">
                  <a:latin typeface="+mn-ea"/>
                  <a:cs typeface="Arial"/>
                </a:rPr>
                <a:t>전송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6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프로시</a:t>
              </a:r>
              <a:r>
                <a:rPr lang="ko-KR" altLang="en-US" sz="800" b="1" dirty="0">
                  <a:latin typeface="+mn-ea"/>
                  <a:cs typeface="Arial"/>
                </a:rPr>
                <a:t>저</a:t>
              </a:r>
              <a:r>
                <a:rPr kumimoji="0" lang="en-US" altLang="ko-KR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17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115" idx="2"/>
            <a:endCxn id="122" idx="1"/>
          </p:cNvCxnSpPr>
          <p:nvPr/>
        </p:nvCxnSpPr>
        <p:spPr>
          <a:xfrm flipH="1">
            <a:off x="1549370" y="4905815"/>
            <a:ext cx="453" cy="298110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5468500" y="4581057"/>
            <a:ext cx="1008767" cy="366782"/>
            <a:chOff x="3871888" y="3336297"/>
            <a:chExt cx="1008767" cy="366782"/>
          </a:xfrm>
        </p:grpSpPr>
        <p:sp>
          <p:nvSpPr>
            <p:cNvPr id="119" name="순서도: 저장 데이터 118">
              <a:extLst>
                <a:ext uri="{FF2B5EF4-FFF2-40B4-BE49-F238E27FC236}">
                  <a16:creationId xmlns:a16="http://schemas.microsoft.com/office/drawing/2014/main" xmlns="" id="{E626E3F6-4683-40ED-1974-2BBF3BF32130}"/>
                </a:ext>
              </a:extLst>
            </p:cNvPr>
            <p:cNvSpPr/>
            <p:nvPr/>
          </p:nvSpPr>
          <p:spPr bwMode="auto">
            <a:xfrm rot="10800000">
              <a:off x="3871888" y="3336297"/>
              <a:ext cx="939600" cy="366782"/>
            </a:xfrm>
            <a:prstGeom prst="flowChartOnlineStorag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wrap="none" lIns="0" tIns="0" rIns="0" bIns="0" rtlCol="0" anchor="ctr">
              <a:scene3d>
                <a:camera prst="orthographicFront">
                  <a:rot lat="0" lon="0" rev="10799999"/>
                </a:camera>
                <a:lightRig rig="threePt" dir="t"/>
              </a:scene3d>
            </a:bodyPr>
            <a:lstStyle/>
            <a:p>
              <a:pPr lvl="0" algn="ctr">
                <a:defRPr/>
              </a:pPr>
              <a:endParaRPr lang="en-US" altLang="ko-KR" sz="800" b="0" dirty="0">
                <a:latin typeface="+mn-ea"/>
                <a:ea typeface="+mn-ea"/>
                <a:cs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954624" y="3408138"/>
              <a:ext cx="9260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제품마스터 </a:t>
              </a:r>
              <a:r>
                <a:rPr lang="en-US" altLang="ko-KR" sz="800" dirty="0" smtClean="0"/>
                <a:t>I/F</a:t>
              </a:r>
              <a:endParaRPr lang="ko-KR" altLang="en-US" sz="800" dirty="0"/>
            </a:p>
          </p:txBody>
        </p:sp>
      </p:grpSp>
      <p:sp>
        <p:nvSpPr>
          <p:cNvPr id="122" name="순서도: 자기 디스크 121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1162207" y="5203925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noProof="0" dirty="0" smtClean="0">
                <a:latin typeface="+mn-ea"/>
                <a:cs typeface="Arial"/>
              </a:rPr>
              <a:t>제품마스터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23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</p:cNvCxnSpPr>
          <p:nvPr/>
        </p:nvCxnSpPr>
        <p:spPr>
          <a:xfrm flipV="1">
            <a:off x="1936532" y="4771686"/>
            <a:ext cx="3693383" cy="62447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120" idx="3"/>
            <a:endCxn id="147" idx="2"/>
          </p:cNvCxnSpPr>
          <p:nvPr/>
        </p:nvCxnSpPr>
        <p:spPr>
          <a:xfrm>
            <a:off x="6477267" y="4760620"/>
            <a:ext cx="1546519" cy="382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1094407" y="3833384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 err="1">
                  <a:latin typeface="+mn-ea"/>
                  <a:cs typeface="Arial"/>
                </a:rPr>
                <a:t>SolidAssort</a:t>
              </a:r>
              <a:r>
                <a:rPr lang="en-US" altLang="ko-KR" sz="800" dirty="0">
                  <a:latin typeface="+mn-ea"/>
                  <a:cs typeface="Arial"/>
                </a:rPr>
                <a:t/>
              </a:r>
              <a:br>
                <a:rPr lang="en-US" altLang="ko-KR" sz="800" dirty="0">
                  <a:latin typeface="+mn-ea"/>
                  <a:cs typeface="Arial"/>
                </a:rPr>
              </a:br>
              <a:r>
                <a:rPr lang="en-US" altLang="ko-KR" sz="800" dirty="0" smtClean="0">
                  <a:latin typeface="+mn-ea"/>
                  <a:cs typeface="Arial"/>
                </a:rPr>
                <a:t>Packing </a:t>
              </a:r>
              <a:r>
                <a:rPr lang="ko-KR" altLang="en-US" sz="800" dirty="0" smtClean="0">
                  <a:latin typeface="+mn-ea"/>
                  <a:cs typeface="Arial"/>
                </a:rPr>
                <a:t>등록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합의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44" idx="2"/>
            <a:endCxn id="116" idx="0"/>
          </p:cNvCxnSpPr>
          <p:nvPr/>
        </p:nvCxnSpPr>
        <p:spPr>
          <a:xfrm>
            <a:off x="1548218" y="4266600"/>
            <a:ext cx="1473" cy="20596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7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2</a:t>
            </a:r>
            <a:r>
              <a:rPr lang="en-US" altLang="ko-KR" sz="1400" b="1" dirty="0" smtClean="0"/>
              <a:t>. </a:t>
            </a:r>
            <a:r>
              <a:rPr lang="ko-KR" altLang="en-US" sz="1400" b="1"/>
              <a:t>마스터 정보 </a:t>
            </a:r>
            <a:r>
              <a:rPr lang="en-US" altLang="ko-KR" sz="1400" b="1" dirty="0"/>
              <a:t>I/F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</a:t>
            </a:r>
            <a:r>
              <a:rPr lang="en-US" altLang="ko-KR" sz="13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매장 마스터 </a:t>
            </a:r>
            <a:r>
              <a:rPr lang="en-US" altLang="ko-KR" sz="1400" b="1" dirty="0" smtClean="0"/>
              <a:t>&amp; </a:t>
            </a:r>
            <a:r>
              <a:rPr lang="ko-KR" altLang="en-US" sz="1400" b="1" dirty="0" err="1" smtClean="0"/>
              <a:t>매장별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브랜드 정보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마스터 정보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0699" y="2104317"/>
          <a:ext cx="9132242" cy="4384552"/>
        </p:xfrm>
        <a:graphic>
          <a:graphicData uri="http://schemas.openxmlformats.org/drawingml/2006/table">
            <a:tbl>
              <a:tblPr/>
              <a:tblGrid>
                <a:gridCol w="91322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3227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5227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687236" y="2561450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2"/>
            <a:endCxn id="159" idx="0"/>
          </p:cNvCxnSpPr>
          <p:nvPr/>
        </p:nvCxnSpPr>
        <p:spPr>
          <a:xfrm>
            <a:off x="1141178" y="2826663"/>
            <a:ext cx="130" cy="12444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16" y="2157106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>
            <a:stCxn id="15" idx="0"/>
            <a:endCxn id="15" idx="2"/>
          </p:cNvCxnSpPr>
          <p:nvPr/>
        </p:nvCxnSpPr>
        <p:spPr>
          <a:xfrm>
            <a:off x="4956820" y="2104317"/>
            <a:ext cx="0" cy="4384552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2038" y="2157106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7829474" y="3531816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품목</a:t>
              </a:r>
              <a:r>
                <a:rPr lang="en-US" altLang="ko-KR" sz="800" noProof="0" dirty="0" smtClean="0">
                  <a:latin typeface="+mn-ea"/>
                  <a:cs typeface="Arial"/>
                </a:rPr>
                <a:t>/</a:t>
              </a:r>
              <a:r>
                <a:rPr lang="ko-KR" altLang="en-US" sz="800" noProof="0" smtClean="0">
                  <a:latin typeface="+mn-ea"/>
                  <a:cs typeface="Arial"/>
                </a:rPr>
                <a:t>부품구성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물류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>
            <a:off x="6813567" y="2104317"/>
            <a:ext cx="4185" cy="4384552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939" y="2206620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58" idx="2"/>
          </p:cNvCxnSpPr>
          <p:nvPr/>
        </p:nvCxnSpPr>
        <p:spPr>
          <a:xfrm>
            <a:off x="1141308" y="3384323"/>
            <a:ext cx="1925" cy="20477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순서도: 자기 디스크 146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7900173" y="2826663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매장마스터</a:t>
            </a:r>
            <a:r>
              <a:rPr lang="en-US" altLang="ko-KR" sz="800" b="0" dirty="0" smtClean="0">
                <a:latin typeface="+mn-ea"/>
                <a:ea typeface="+mn-ea"/>
                <a:cs typeface="Arial"/>
              </a:rPr>
              <a:t/>
            </a:r>
            <a:br>
              <a:rPr lang="en-US" altLang="ko-KR" sz="800" b="0" dirty="0" smtClean="0">
                <a:latin typeface="+mn-ea"/>
                <a:ea typeface="+mn-ea"/>
                <a:cs typeface="Arial"/>
              </a:rPr>
            </a:br>
            <a:r>
              <a:rPr lang="en-US" altLang="ko-KR" sz="800" b="0" dirty="0" smtClean="0">
                <a:latin typeface="+mn-ea"/>
                <a:ea typeface="+mn-ea"/>
                <a:cs typeface="Arial"/>
              </a:rPr>
              <a:t>(WMS)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51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47" idx="3"/>
            <a:endCxn id="69" idx="0"/>
          </p:cNvCxnSpPr>
          <p:nvPr/>
        </p:nvCxnSpPr>
        <p:spPr>
          <a:xfrm flipH="1">
            <a:off x="8283285" y="3194505"/>
            <a:ext cx="4051" cy="337311"/>
          </a:xfrm>
          <a:prstGeom prst="straightConnector1">
            <a:avLst/>
          </a:prstGeom>
          <a:ln w="31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687497" y="2951107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58" name="TextBox 157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매장정보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77103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23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315576" cy="34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j-ea"/>
                <a:ea typeface="+mj-ea"/>
              </a:rPr>
              <a:t>복합 매장에서 반품 입고 시 구분하기가 힘들어 </a:t>
            </a:r>
            <a:r>
              <a:rPr lang="ko-KR" altLang="en-US" sz="1100" b="0" dirty="0" err="1" smtClean="0">
                <a:latin typeface="+mj-ea"/>
                <a:ea typeface="+mj-ea"/>
              </a:rPr>
              <a:t>매장별</a:t>
            </a:r>
            <a:r>
              <a:rPr lang="ko-KR" altLang="en-US" sz="1100" b="0" dirty="0" smtClean="0">
                <a:latin typeface="+mj-ea"/>
                <a:ea typeface="+mj-ea"/>
              </a:rPr>
              <a:t> 반품가능 한 브랜드 정해져 있음 </a:t>
            </a:r>
            <a:r>
              <a:rPr lang="en-US" altLang="ko-KR" sz="1100" b="0" dirty="0" smtClean="0">
                <a:latin typeface="+mj-ea"/>
                <a:ea typeface="+mj-ea"/>
              </a:rPr>
              <a:t>(F/A-ONE C612 </a:t>
            </a:r>
            <a:r>
              <a:rPr lang="ko-KR" altLang="en-US" sz="1100" b="0" dirty="0" smtClean="0">
                <a:latin typeface="+mj-ea"/>
                <a:ea typeface="+mj-ea"/>
              </a:rPr>
              <a:t>공통코드 정보</a:t>
            </a:r>
            <a:r>
              <a:rPr lang="en-US" altLang="ko-KR" sz="1100" b="0" dirty="0" smtClean="0">
                <a:latin typeface="+mj-ea"/>
                <a:ea typeface="+mj-ea"/>
              </a:rPr>
              <a:t>)</a:t>
            </a:r>
            <a:r>
              <a:rPr lang="ko-KR" altLang="en-US" sz="1100" b="0" dirty="0" smtClean="0">
                <a:latin typeface="+mj-ea"/>
                <a:ea typeface="+mj-ea"/>
              </a:rPr>
              <a:t> </a:t>
            </a:r>
            <a:endParaRPr lang="en-US" altLang="ko-KR" sz="1100" b="0" dirty="0" smtClean="0">
              <a:latin typeface="+mj-ea"/>
              <a:ea typeface="+mj-ea"/>
            </a:endParaRPr>
          </a:p>
        </p:txBody>
      </p:sp>
      <p:sp>
        <p:nvSpPr>
          <p:cNvPr id="40" name="순서도: 자기 디스크 39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687236" y="3564504"/>
            <a:ext cx="907883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noProof="0" dirty="0" smtClean="0">
                <a:latin typeface="+mn-ea"/>
                <a:cs typeface="Arial"/>
              </a:rPr>
              <a:t>매장정보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5324737" y="2872569"/>
            <a:ext cx="1001254" cy="410395"/>
            <a:chOff x="3871888" y="3336297"/>
            <a:chExt cx="1034535" cy="410395"/>
          </a:xfrm>
        </p:grpSpPr>
        <p:sp>
          <p:nvSpPr>
            <p:cNvPr id="57" name="순서도: 저장 데이터 56">
              <a:extLst>
                <a:ext uri="{FF2B5EF4-FFF2-40B4-BE49-F238E27FC236}">
                  <a16:creationId xmlns:a16="http://schemas.microsoft.com/office/drawing/2014/main" xmlns="" id="{E626E3F6-4683-40ED-1974-2BBF3BF32130}"/>
                </a:ext>
              </a:extLst>
            </p:cNvPr>
            <p:cNvSpPr/>
            <p:nvPr/>
          </p:nvSpPr>
          <p:spPr bwMode="auto">
            <a:xfrm rot="10800000">
              <a:off x="3871888" y="3336297"/>
              <a:ext cx="939600" cy="366782"/>
            </a:xfrm>
            <a:prstGeom prst="flowChartOnlineStorag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wrap="none" lIns="0" tIns="0" rIns="0" bIns="0" rtlCol="0" anchor="ctr">
              <a:scene3d>
                <a:camera prst="orthographicFront">
                  <a:rot lat="0" lon="0" rev="10799999"/>
                </a:camera>
                <a:lightRig rig="threePt" dir="t"/>
              </a:scene3d>
            </a:bodyPr>
            <a:lstStyle/>
            <a:p>
              <a:pPr lvl="0" algn="ctr">
                <a:defRPr/>
              </a:pPr>
              <a:endParaRPr lang="en-US" altLang="ko-KR" sz="800" b="0" dirty="0">
                <a:latin typeface="+mn-ea"/>
                <a:ea typeface="+mn-ea"/>
                <a:cs typeface="Arial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980392" y="3408138"/>
              <a:ext cx="9260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매장정보전송</a:t>
              </a:r>
              <a:r>
                <a:rPr lang="en-US" altLang="ko-KR" sz="800" dirty="0" smtClean="0"/>
                <a:t/>
              </a:r>
              <a:br>
                <a:rPr lang="en-US" altLang="ko-KR" sz="800" dirty="0" smtClean="0"/>
              </a:br>
              <a:r>
                <a:rPr lang="en-US" altLang="ko-KR" sz="800" dirty="0" smtClean="0"/>
                <a:t>        (OMS)</a:t>
              </a:r>
              <a:endParaRPr lang="ko-KR" altLang="en-US" sz="800" dirty="0"/>
            </a:p>
          </p:txBody>
        </p:sp>
      </p:grpSp>
      <p:cxnSp>
        <p:nvCxnSpPr>
          <p:cNvPr id="59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40" idx="4"/>
            <a:endCxn id="58" idx="1"/>
          </p:cNvCxnSpPr>
          <p:nvPr/>
        </p:nvCxnSpPr>
        <p:spPr>
          <a:xfrm flipV="1">
            <a:off x="1595119" y="3113687"/>
            <a:ext cx="3834631" cy="63473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6325991" y="3045958"/>
            <a:ext cx="1606845" cy="67729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순서도: 수행의 시작/종료 61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736673" y="4681059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7887282" y="5651425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품목</a:t>
              </a:r>
              <a:r>
                <a:rPr lang="en-US" altLang="ko-KR" sz="800" noProof="0" dirty="0" smtClean="0">
                  <a:latin typeface="+mn-ea"/>
                  <a:cs typeface="Arial"/>
                </a:rPr>
                <a:t>/</a:t>
              </a:r>
              <a:r>
                <a:rPr lang="ko-KR" altLang="en-US" sz="800" noProof="0" smtClean="0">
                  <a:latin typeface="+mn-ea"/>
                  <a:cs typeface="Arial"/>
                </a:rPr>
                <a:t>부품구성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물류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72" name="직선 화살표 연결선 71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75" idx="2"/>
          </p:cNvCxnSpPr>
          <p:nvPr/>
        </p:nvCxnSpPr>
        <p:spPr>
          <a:xfrm>
            <a:off x="1190745" y="5503932"/>
            <a:ext cx="1925" cy="20477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순서도: 자기 디스크 72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7949610" y="4946272"/>
            <a:ext cx="816899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매장브랜드마스터</a:t>
            </a:r>
            <a:r>
              <a:rPr lang="en-US" altLang="ko-KR" sz="800" b="0" dirty="0" smtClean="0">
                <a:latin typeface="+mn-ea"/>
                <a:ea typeface="+mn-ea"/>
                <a:cs typeface="Arial"/>
              </a:rPr>
              <a:t/>
            </a:r>
            <a:br>
              <a:rPr lang="en-US" altLang="ko-KR" sz="800" b="0" dirty="0" smtClean="0">
                <a:latin typeface="+mn-ea"/>
                <a:ea typeface="+mn-ea"/>
                <a:cs typeface="Arial"/>
              </a:rPr>
            </a:br>
            <a:r>
              <a:rPr lang="en-US" altLang="ko-KR" sz="800" b="0" dirty="0" smtClean="0">
                <a:latin typeface="+mn-ea"/>
                <a:ea typeface="+mn-ea"/>
                <a:cs typeface="Arial"/>
              </a:rPr>
              <a:t>(WMS)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736934" y="5070716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매장브랜드정보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77" name="순서도: 자기 디스크 76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736673" y="5684113"/>
            <a:ext cx="907883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noProof="0" dirty="0" smtClean="0">
                <a:latin typeface="+mn-ea"/>
                <a:cs typeface="Arial"/>
              </a:rPr>
              <a:t>매장</a:t>
            </a:r>
            <a:r>
              <a:rPr lang="ko-KR" altLang="en-US" sz="800" dirty="0" smtClean="0">
                <a:latin typeface="+mn-ea"/>
                <a:cs typeface="Arial"/>
              </a:rPr>
              <a:t>브랜드</a:t>
            </a:r>
            <a:r>
              <a:rPr lang="ko-KR" altLang="en-US" sz="800" noProof="0" dirty="0" smtClean="0">
                <a:latin typeface="+mn-ea"/>
                <a:cs typeface="Arial"/>
              </a:rPr>
              <a:t>정보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78" name="그룹 77"/>
          <p:cNvGrpSpPr/>
          <p:nvPr/>
        </p:nvGrpSpPr>
        <p:grpSpPr>
          <a:xfrm>
            <a:off x="5374172" y="4992178"/>
            <a:ext cx="927466" cy="391722"/>
            <a:chOff x="3871888" y="3336297"/>
            <a:chExt cx="958295" cy="391722"/>
          </a:xfrm>
        </p:grpSpPr>
        <p:sp>
          <p:nvSpPr>
            <p:cNvPr id="79" name="순서도: 저장 데이터 78">
              <a:extLst>
                <a:ext uri="{FF2B5EF4-FFF2-40B4-BE49-F238E27FC236}">
                  <a16:creationId xmlns:a16="http://schemas.microsoft.com/office/drawing/2014/main" xmlns="" id="{E626E3F6-4683-40ED-1974-2BBF3BF32130}"/>
                </a:ext>
              </a:extLst>
            </p:cNvPr>
            <p:cNvSpPr/>
            <p:nvPr/>
          </p:nvSpPr>
          <p:spPr bwMode="auto">
            <a:xfrm rot="10800000">
              <a:off x="3871888" y="3336297"/>
              <a:ext cx="939600" cy="366782"/>
            </a:xfrm>
            <a:prstGeom prst="flowChartOnlineStorag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wrap="none" lIns="0" tIns="0" rIns="0" bIns="0" rtlCol="0" anchor="ctr">
              <a:scene3d>
                <a:camera prst="orthographicFront">
                  <a:rot lat="0" lon="0" rev="10799999"/>
                </a:camera>
                <a:lightRig rig="threePt" dir="t"/>
              </a:scene3d>
            </a:bodyPr>
            <a:lstStyle/>
            <a:p>
              <a:pPr lvl="0" algn="ctr">
                <a:defRPr/>
              </a:pPr>
              <a:endParaRPr lang="en-US" altLang="ko-KR" sz="800" b="0" dirty="0">
                <a:latin typeface="+mn-ea"/>
                <a:ea typeface="+mn-ea"/>
                <a:cs typeface="Arial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904152" y="3389465"/>
              <a:ext cx="9260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매장브랜드전송</a:t>
              </a:r>
              <a:r>
                <a:rPr lang="en-US" altLang="ko-KR" sz="800" dirty="0" smtClean="0"/>
                <a:t/>
              </a:r>
              <a:br>
                <a:rPr lang="en-US" altLang="ko-KR" sz="800" dirty="0" smtClean="0"/>
              </a:br>
              <a:r>
                <a:rPr lang="en-US" altLang="ko-KR" sz="800" dirty="0" smtClean="0"/>
                <a:t>          (OMS)</a:t>
              </a:r>
              <a:endParaRPr lang="ko-KR" altLang="en-US" sz="800" dirty="0"/>
            </a:p>
          </p:txBody>
        </p:sp>
      </p:grpSp>
      <p:cxnSp>
        <p:nvCxnSpPr>
          <p:cNvPr id="81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77" idx="4"/>
            <a:endCxn id="80" idx="1"/>
          </p:cNvCxnSpPr>
          <p:nvPr/>
        </p:nvCxnSpPr>
        <p:spPr>
          <a:xfrm flipV="1">
            <a:off x="1644556" y="5214623"/>
            <a:ext cx="3760842" cy="65341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80" idx="3"/>
          </p:cNvCxnSpPr>
          <p:nvPr/>
        </p:nvCxnSpPr>
        <p:spPr>
          <a:xfrm flipV="1">
            <a:off x="6301637" y="5146894"/>
            <a:ext cx="1606849" cy="67729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</p:cNvCxnSpPr>
          <p:nvPr/>
        </p:nvCxnSpPr>
        <p:spPr>
          <a:xfrm flipH="1">
            <a:off x="8358059" y="5314114"/>
            <a:ext cx="4051" cy="337311"/>
          </a:xfrm>
          <a:prstGeom prst="straightConnector1">
            <a:avLst/>
          </a:prstGeom>
          <a:ln w="31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90699" y="4396349"/>
            <a:ext cx="9132242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순서도: 수행의 시작/종료 48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736673" y="6213830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sp>
        <p:nvSpPr>
          <p:cNvPr id="52" name="순서도: 수행의 시작/종료 51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687235" y="4089448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77" idx="3"/>
            <a:endCxn id="49" idx="0"/>
          </p:cNvCxnSpPr>
          <p:nvPr/>
        </p:nvCxnSpPr>
        <p:spPr>
          <a:xfrm>
            <a:off x="1190615" y="6051955"/>
            <a:ext cx="0" cy="16187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</p:cNvCxnSpPr>
          <p:nvPr/>
        </p:nvCxnSpPr>
        <p:spPr>
          <a:xfrm>
            <a:off x="1141176" y="3932346"/>
            <a:ext cx="0" cy="16187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0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0699" y="2257155"/>
          <a:ext cx="9132242" cy="4231713"/>
        </p:xfrm>
        <a:graphic>
          <a:graphicData uri="http://schemas.openxmlformats.org/drawingml/2006/table">
            <a:tbl>
              <a:tblPr/>
              <a:tblGrid>
                <a:gridCol w="91322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2069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11019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3. </a:t>
            </a:r>
            <a:r>
              <a:rPr lang="ko-KR" altLang="en-US" sz="1400" b="1" dirty="0" smtClean="0"/>
              <a:t>입고 프로세스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1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입고 프로세스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정상입고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입고</a:t>
            </a:r>
            <a:endParaRPr lang="ko-KR" altLang="en-US" sz="1400" b="1" dirty="0"/>
          </a:p>
        </p:txBody>
      </p: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16" y="2268600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>
            <a:off x="5788843" y="2257155"/>
            <a:ext cx="0" cy="4249376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9955" y="2227112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>
            <a:off x="7615884" y="2257155"/>
            <a:ext cx="33893" cy="4231714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95" y="2242937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953918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10695474-850F-EC09-67CD-F59C79C4CDAB}"/>
              </a:ext>
            </a:extLst>
          </p:cNvPr>
          <p:cNvGrpSpPr/>
          <p:nvPr/>
        </p:nvGrpSpPr>
        <p:grpSpPr>
          <a:xfrm>
            <a:off x="6242655" y="4245033"/>
            <a:ext cx="870502" cy="499171"/>
            <a:chOff x="3043139" y="2542764"/>
            <a:chExt cx="884155" cy="49876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72C3D5AC-AD53-3617-B49F-FF6C316CA5CF}"/>
                </a:ext>
              </a:extLst>
            </p:cNvPr>
            <p:cNvSpPr txBox="1"/>
            <p:nvPr/>
          </p:nvSpPr>
          <p:spPr>
            <a:xfrm>
              <a:off x="3043140" y="2729093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입고예정</a:t>
              </a:r>
              <a:r>
                <a:rPr kumimoji="0" lang="ko-KR" altLang="en-US" sz="800" dirty="0">
                  <a:latin typeface="+mn-ea"/>
                  <a:ea typeface="+mn-ea"/>
                  <a:cs typeface="Arial"/>
                </a:rPr>
                <a:t>정보 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확인</a:t>
              </a: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/>
              </a:r>
              <a:b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</a:b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(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정상입고</a:t>
              </a: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)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88680670-B8DA-785E-A01C-049A6C6AC1CD}"/>
                </a:ext>
              </a:extLst>
            </p:cNvPr>
            <p:cNvSpPr txBox="1"/>
            <p:nvPr/>
          </p:nvSpPr>
          <p:spPr>
            <a:xfrm>
              <a:off x="3043139" y="2542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0" dirty="0">
                  <a:latin typeface="+mn-ea"/>
                  <a:ea typeface="+mn-ea"/>
                  <a:cs typeface="Arial"/>
                </a:rPr>
                <a:t>입고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 담당자</a:t>
              </a:r>
            </a:p>
          </p:txBody>
        </p:sp>
      </p:grpSp>
      <p:cxnSp>
        <p:nvCxnSpPr>
          <p:cNvPr id="42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4784522" y="3854311"/>
            <a:ext cx="1418087" cy="7464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xmlns="" id="{A930F44B-33E1-0ED3-9CE0-6A0B9683A967}"/>
              </a:ext>
            </a:extLst>
          </p:cNvPr>
          <p:cNvCxnSpPr>
            <a:cxnSpLocks/>
            <a:stCxn id="49" idx="3"/>
            <a:endCxn id="109" idx="1"/>
          </p:cNvCxnSpPr>
          <p:nvPr/>
        </p:nvCxnSpPr>
        <p:spPr>
          <a:xfrm>
            <a:off x="1266918" y="3898464"/>
            <a:ext cx="196668" cy="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70" idx="3"/>
            <a:endCxn id="73" idx="0"/>
          </p:cNvCxnSpPr>
          <p:nvPr/>
        </p:nvCxnSpPr>
        <p:spPr>
          <a:xfrm>
            <a:off x="8667046" y="3209088"/>
            <a:ext cx="0" cy="3312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10695474-850F-EC09-67CD-F59C79C4CDAB}"/>
              </a:ext>
            </a:extLst>
          </p:cNvPr>
          <p:cNvGrpSpPr/>
          <p:nvPr/>
        </p:nvGrpSpPr>
        <p:grpSpPr>
          <a:xfrm>
            <a:off x="434894" y="3552322"/>
            <a:ext cx="832024" cy="504000"/>
            <a:chOff x="3133663" y="2530769"/>
            <a:chExt cx="884155" cy="49875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kern="0" dirty="0" smtClean="0">
                  <a:latin typeface="+mn-ea"/>
                </a:rPr>
                <a:t>작업지시서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88680670-B8DA-785E-A01C-049A6C6AC1CD}"/>
                </a:ext>
              </a:extLst>
            </p:cNvPr>
            <p:cNvSpPr txBox="1"/>
            <p:nvPr/>
          </p:nvSpPr>
          <p:spPr>
            <a:xfrm>
              <a:off x="3133663" y="2530769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현업 담당자</a:t>
              </a:r>
              <a:endParaRPr lang="ko-KR" altLang="en-US" sz="800" dirty="0">
                <a:latin typeface="+mn-ea"/>
                <a:cs typeface="Arial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3651833" y="3675756"/>
            <a:ext cx="1160343" cy="410395"/>
            <a:chOff x="3871888" y="3336297"/>
            <a:chExt cx="1008767" cy="410395"/>
          </a:xfrm>
        </p:grpSpPr>
        <p:sp>
          <p:nvSpPr>
            <p:cNvPr id="54" name="순서도: 저장 데이터 53">
              <a:extLst>
                <a:ext uri="{FF2B5EF4-FFF2-40B4-BE49-F238E27FC236}">
                  <a16:creationId xmlns:a16="http://schemas.microsoft.com/office/drawing/2014/main" xmlns="" id="{E626E3F6-4683-40ED-1974-2BBF3BF32130}"/>
                </a:ext>
              </a:extLst>
            </p:cNvPr>
            <p:cNvSpPr/>
            <p:nvPr/>
          </p:nvSpPr>
          <p:spPr bwMode="auto">
            <a:xfrm rot="10800000">
              <a:off x="3871888" y="3336297"/>
              <a:ext cx="939600" cy="366782"/>
            </a:xfrm>
            <a:prstGeom prst="flowChartOnlineStorag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wrap="none" lIns="0" tIns="0" rIns="0" bIns="0" rtlCol="0" anchor="ctr">
              <a:scene3d>
                <a:camera prst="orthographicFront">
                  <a:rot lat="0" lon="0" rev="10799999"/>
                </a:camera>
                <a:lightRig rig="threePt" dir="t"/>
              </a:scene3d>
            </a:bodyPr>
            <a:lstStyle/>
            <a:p>
              <a:pPr lvl="0" algn="ctr">
                <a:defRPr/>
              </a:pPr>
              <a:endParaRPr lang="en-US" altLang="ko-KR" sz="800" b="0" dirty="0">
                <a:latin typeface="+mn-ea"/>
                <a:ea typeface="+mn-ea"/>
                <a:cs typeface="Arial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54624" y="3408138"/>
              <a:ext cx="9260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입고예정정보생성</a:t>
              </a:r>
              <a:endParaRPr lang="ko-KR" altLang="en-US" sz="800" dirty="0"/>
            </a:p>
          </p:txBody>
        </p:sp>
      </p:grpSp>
      <p:sp>
        <p:nvSpPr>
          <p:cNvPr id="56" name="순서도: 수행의 시작/종료 55">
            <a:extLst>
              <a:ext uri="{FF2B5EF4-FFF2-40B4-BE49-F238E27FC236}">
                <a16:creationId xmlns:a16="http://schemas.microsoft.com/office/drawing/2014/main" xmlns="" id="{67F1B38D-F71C-A92C-794F-FCCF0A84708F}"/>
              </a:ext>
            </a:extLst>
          </p:cNvPr>
          <p:cNvSpPr/>
          <p:nvPr/>
        </p:nvSpPr>
        <p:spPr bwMode="auto">
          <a:xfrm>
            <a:off x="391929" y="2856657"/>
            <a:ext cx="939600" cy="279885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7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56" idx="2"/>
            <a:endCxn id="52" idx="0"/>
          </p:cNvCxnSpPr>
          <p:nvPr/>
        </p:nvCxnSpPr>
        <p:spPr>
          <a:xfrm flipH="1">
            <a:off x="850906" y="3136542"/>
            <a:ext cx="10823" cy="415780"/>
          </a:xfrm>
          <a:prstGeom prst="straightConnector1">
            <a:avLst/>
          </a:prstGeom>
          <a:ln w="31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순서도: 자기 디스크 61">
            <a:extLst>
              <a:ext uri="{FF2B5EF4-FFF2-40B4-BE49-F238E27FC236}">
                <a16:creationId xmlns:a16="http://schemas.microsoft.com/office/drawing/2014/main" xmlns="" id="{55E546EA-FB5D-4674-1C6B-FBFBD0936EC2}"/>
              </a:ext>
            </a:extLst>
          </p:cNvPr>
          <p:cNvSpPr/>
          <p:nvPr/>
        </p:nvSpPr>
        <p:spPr bwMode="auto">
          <a:xfrm>
            <a:off x="6202609" y="3642745"/>
            <a:ext cx="909852" cy="423131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입고예정</a:t>
            </a:r>
            <a:r>
              <a:rPr lang="en-US" altLang="ko-KR" sz="800" dirty="0" smtClean="0">
                <a:latin typeface="+mn-ea"/>
                <a:cs typeface="Arial"/>
              </a:rPr>
              <a:t/>
            </a:r>
            <a:br>
              <a:rPr lang="en-US" altLang="ko-KR" sz="800" dirty="0" smtClean="0">
                <a:latin typeface="+mn-ea"/>
                <a:cs typeface="Arial"/>
              </a:rPr>
            </a:br>
            <a:r>
              <a:rPr lang="en-US" altLang="ko-KR" sz="800" dirty="0" smtClean="0">
                <a:latin typeface="+mn-ea"/>
                <a:cs typeface="Arial"/>
              </a:rPr>
              <a:t>(OMS)</a:t>
            </a:r>
            <a:endParaRPr lang="ko-KR" altLang="en-US" sz="800" dirty="0">
              <a:latin typeface="+mn-ea"/>
              <a:cs typeface="Arial"/>
            </a:endParaRPr>
          </a:p>
        </p:txBody>
      </p:sp>
      <p:cxnSp>
        <p:nvCxnSpPr>
          <p:cNvPr id="68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40" idx="2"/>
            <a:endCxn id="70" idx="2"/>
          </p:cNvCxnSpPr>
          <p:nvPr/>
        </p:nvCxnSpPr>
        <p:spPr>
          <a:xfrm rot="5400000" flipH="1" flipV="1">
            <a:off x="6574687" y="3105657"/>
            <a:ext cx="1741767" cy="1535328"/>
          </a:xfrm>
          <a:prstGeom prst="bentConnector4">
            <a:avLst>
              <a:gd name="adj1" fmla="val -13125"/>
              <a:gd name="adj2" fmla="val 44858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자기 디스크 69">
            <a:extLst>
              <a:ext uri="{FF2B5EF4-FFF2-40B4-BE49-F238E27FC236}">
                <a16:creationId xmlns:a16="http://schemas.microsoft.com/office/drawing/2014/main" xmlns="" id="{55E546EA-FB5D-4674-1C6B-FBFBD0936EC2}"/>
              </a:ext>
            </a:extLst>
          </p:cNvPr>
          <p:cNvSpPr/>
          <p:nvPr/>
        </p:nvSpPr>
        <p:spPr bwMode="auto">
          <a:xfrm>
            <a:off x="8213235" y="2795785"/>
            <a:ext cx="907622" cy="413303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입고예정</a:t>
            </a:r>
            <a:r>
              <a:rPr lang="en-US" altLang="ko-KR" sz="800" dirty="0" smtClean="0">
                <a:latin typeface="+mn-ea"/>
                <a:cs typeface="Arial"/>
              </a:rPr>
              <a:t/>
            </a:r>
            <a:br>
              <a:rPr lang="en-US" altLang="ko-KR" sz="800" dirty="0" smtClean="0">
                <a:latin typeface="+mn-ea"/>
                <a:cs typeface="Arial"/>
              </a:rPr>
            </a:br>
            <a:r>
              <a:rPr lang="en-US" altLang="ko-KR" sz="800" dirty="0" smtClean="0">
                <a:latin typeface="+mn-ea"/>
                <a:cs typeface="Arial"/>
              </a:rPr>
              <a:t>(WMS)</a:t>
            </a:r>
            <a:endParaRPr lang="ko-KR" altLang="en-US" sz="800" dirty="0">
              <a:latin typeface="+mn-ea"/>
              <a:cs typeface="Arial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xmlns="" xmlns:lc="http://schemas.openxmlformats.org/drawingml/2006/lockedCanvas" id="{44D60099-09E3-18E2-AA99-0D648000DC51}"/>
              </a:ext>
            </a:extLst>
          </p:cNvPr>
          <p:cNvGrpSpPr/>
          <p:nvPr/>
        </p:nvGrpSpPr>
        <p:grpSpPr>
          <a:xfrm>
            <a:off x="8213235" y="3540386"/>
            <a:ext cx="907622" cy="433216"/>
            <a:chOff x="3133664" y="2530763"/>
            <a:chExt cx="884154" cy="498764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72" name="TextBox 153">
              <a:extLst>
                <a:ext uri="{FF2B5EF4-FFF2-40B4-BE49-F238E27FC236}">
                  <a16:creationId xmlns:a16="http://schemas.microsoft.com/office/drawing/2014/main" xmlns="" xmlns:lc="http://schemas.openxmlformats.org/drawingml/2006/lockedCanvas" id="{EFE81E7A-87AE-C78E-244A-52C7EDE1EDA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입고확정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마감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3" name="TextBox 154">
              <a:extLst>
                <a:ext uri="{FF2B5EF4-FFF2-40B4-BE49-F238E27FC236}">
                  <a16:creationId xmlns:a16="http://schemas.microsoft.com/office/drawing/2014/main" xmlns="" xmlns:lc="http://schemas.openxmlformats.org/drawingml/2006/lockedCanvas" id="{1560D0F6-DA23-60C8-FCBE-F42955E85EC2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입고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76" name="순서도: 자기 디스크 7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7662002" y="4123860"/>
            <a:ext cx="719956" cy="34755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77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72" idx="1"/>
            <a:endCxn id="76" idx="1"/>
          </p:cNvCxnSpPr>
          <p:nvPr/>
        </p:nvCxnSpPr>
        <p:spPr>
          <a:xfrm rot="10800000" flipV="1">
            <a:off x="8021981" y="3837916"/>
            <a:ext cx="191255" cy="285944"/>
          </a:xfrm>
          <a:prstGeom prst="bentConnector2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순서도: 저장 데이터 80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6217883" y="5423360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입고실적</a:t>
            </a:r>
            <a:r>
              <a:rPr lang="en-US" altLang="ko-KR" sz="800" dirty="0">
                <a:latin typeface="+mn-ea"/>
                <a:cs typeface="Arial"/>
              </a:rPr>
              <a:t>I/F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sp>
        <p:nvSpPr>
          <p:cNvPr id="83" name="순서도: 자기 디스크 82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4210899" y="5333984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</a:p>
        </p:txBody>
      </p:sp>
      <p:cxnSp>
        <p:nvCxnSpPr>
          <p:cNvPr id="84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81" idx="1"/>
            <a:endCxn id="83" idx="4"/>
          </p:cNvCxnSpPr>
          <p:nvPr/>
        </p:nvCxnSpPr>
        <p:spPr>
          <a:xfrm rot="10800000">
            <a:off x="4985225" y="5517906"/>
            <a:ext cx="1232659" cy="7923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그룹 84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452532" y="5222544"/>
            <a:ext cx="1424773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6" name="TextBox 85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창고수불</a:t>
              </a:r>
              <a:r>
                <a:rPr lang="en-US" altLang="ko-KR" sz="800" dirty="0" smtClean="0">
                  <a:latin typeface="+mn-ea"/>
                  <a:cs typeface="Arial"/>
                </a:rPr>
                <a:t>(</a:t>
              </a:r>
              <a:r>
                <a:rPr lang="ko-KR" altLang="en-US" sz="800" dirty="0" err="1" smtClean="0">
                  <a:latin typeface="+mn-ea"/>
                  <a:cs typeface="Arial"/>
                </a:rPr>
                <a:t>생산처</a:t>
              </a:r>
              <a:r>
                <a:rPr lang="ko-KR" altLang="en-US" sz="800" dirty="0" smtClean="0">
                  <a:latin typeface="+mn-ea"/>
                  <a:cs typeface="Arial"/>
                </a:rPr>
                <a:t> </a:t>
              </a:r>
              <a:r>
                <a:rPr lang="en-US" altLang="ko-KR" sz="800" dirty="0" smtClean="0">
                  <a:latin typeface="+mn-ea"/>
                  <a:cs typeface="Arial"/>
                </a:rPr>
                <a:t>&gt;B2B)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창고</a:t>
              </a:r>
              <a:r>
                <a:rPr lang="en-US" altLang="ko-KR" sz="800" dirty="0" smtClean="0">
                  <a:latin typeface="+mn-ea"/>
                  <a:cs typeface="Arial"/>
                </a:rPr>
                <a:t>, </a:t>
              </a:r>
              <a:r>
                <a:rPr lang="ko-KR" altLang="en-US" sz="800" dirty="0" smtClean="0">
                  <a:latin typeface="+mn-ea"/>
                  <a:cs typeface="Arial"/>
                </a:rPr>
                <a:t>매장수불</a:t>
              </a:r>
              <a:r>
                <a:rPr lang="en-US" altLang="ko-KR" sz="800" dirty="0" smtClean="0">
                  <a:latin typeface="+mn-ea"/>
                  <a:cs typeface="Arial"/>
                </a:rPr>
                <a:t>(</a:t>
              </a:r>
              <a:r>
                <a:rPr lang="ko-KR" altLang="en-US" sz="800" dirty="0" err="1" smtClean="0">
                  <a:latin typeface="+mn-ea"/>
                  <a:cs typeface="Arial"/>
                </a:rPr>
                <a:t>생산처</a:t>
              </a:r>
              <a:r>
                <a:rPr lang="en-US" altLang="ko-KR" sz="800" dirty="0" smtClean="0">
                  <a:latin typeface="+mn-ea"/>
                  <a:cs typeface="Arial"/>
                </a:rPr>
                <a:t>&gt;B2C)</a:t>
              </a:r>
              <a:r>
                <a:rPr lang="ko-KR" altLang="en-US" sz="800" dirty="0" smtClean="0">
                  <a:latin typeface="+mn-ea"/>
                  <a:cs typeface="Arial"/>
                </a:rPr>
                <a:t> 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89" name="순서도: 수행의 시작/종료 88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710872" y="6064832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sp>
        <p:nvSpPr>
          <p:cNvPr id="90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12" y="5249391"/>
            <a:ext cx="1246863" cy="541426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소비자가</a:t>
            </a:r>
            <a:r>
              <a:rPr lang="en-US" altLang="ko-KR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/</a:t>
            </a:r>
          </a:p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생산공임단가 등록여부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820646" y="5983895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92" name="TextBox 91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소비자가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>
                  <a:latin typeface="+mn-ea"/>
                  <a:cs typeface="Arial"/>
                </a:rPr>
                <a:t> </a:t>
              </a:r>
              <a:r>
                <a:rPr lang="ko-KR" altLang="en-US" sz="800" dirty="0" smtClean="0">
                  <a:latin typeface="+mn-ea"/>
                  <a:cs typeface="Arial"/>
                </a:rPr>
                <a:t>생산 공임단가 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현업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94" name="직선 화살표 연결선 10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92" idx="1"/>
            <a:endCxn id="86" idx="3"/>
          </p:cNvCxnSpPr>
          <p:nvPr/>
        </p:nvCxnSpPr>
        <p:spPr>
          <a:xfrm rot="10800000">
            <a:off x="1877306" y="5520107"/>
            <a:ext cx="943473" cy="76135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72" idx="2"/>
            <a:endCxn id="81" idx="3"/>
          </p:cNvCxnSpPr>
          <p:nvPr/>
        </p:nvCxnSpPr>
        <p:spPr>
          <a:xfrm rot="5400000">
            <a:off x="7046810" y="3976902"/>
            <a:ext cx="1623536" cy="1616937"/>
          </a:xfrm>
          <a:prstGeom prst="bentConnector2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</p:cNvCxnSpPr>
          <p:nvPr/>
        </p:nvCxnSpPr>
        <p:spPr>
          <a:xfrm flipH="1" flipV="1">
            <a:off x="3881512" y="5509961"/>
            <a:ext cx="317220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endCxn id="86" idx="3"/>
          </p:cNvCxnSpPr>
          <p:nvPr/>
        </p:nvCxnSpPr>
        <p:spPr>
          <a:xfrm flipH="1">
            <a:off x="1877305" y="5520105"/>
            <a:ext cx="770808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3271544" y="5790818"/>
            <a:ext cx="2913" cy="19307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1164814" y="5655792"/>
            <a:ext cx="209" cy="409040"/>
          </a:xfrm>
          <a:prstGeom prst="straightConnector1">
            <a:avLst/>
          </a:prstGeom>
          <a:ln w="31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315576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j-ea"/>
                <a:ea typeface="+mj-ea"/>
              </a:rPr>
              <a:t>브랜드 기획</a:t>
            </a:r>
            <a:r>
              <a:rPr lang="en-US" altLang="ko-KR" sz="1100" b="0" dirty="0" smtClean="0">
                <a:latin typeface="+mj-ea"/>
                <a:ea typeface="+mj-ea"/>
              </a:rPr>
              <a:t>/MD &gt; </a:t>
            </a:r>
            <a:r>
              <a:rPr lang="ko-KR" altLang="en-US" sz="1100" b="0" dirty="0" smtClean="0">
                <a:latin typeface="+mj-ea"/>
                <a:ea typeface="+mj-ea"/>
              </a:rPr>
              <a:t>작업지시서등록 분할입고 수량 기반으로 </a:t>
            </a:r>
            <a:r>
              <a:rPr lang="en-US" altLang="ko-KR" sz="1100" b="0" dirty="0" smtClean="0">
                <a:latin typeface="+mj-ea"/>
                <a:ea typeface="+mj-ea"/>
              </a:rPr>
              <a:t>DPL</a:t>
            </a:r>
            <a:r>
              <a:rPr lang="ko-KR" altLang="en-US" sz="1100" b="0" dirty="0" smtClean="0">
                <a:latin typeface="+mj-ea"/>
                <a:ea typeface="+mj-ea"/>
              </a:rPr>
              <a:t>등록 가능</a:t>
            </a:r>
            <a:endParaRPr lang="en-US" altLang="ko-KR" sz="1100" b="0" dirty="0" smtClean="0">
              <a:latin typeface="+mj-ea"/>
              <a:ea typeface="+mj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j-ea"/>
                <a:ea typeface="+mj-ea"/>
              </a:rPr>
              <a:t>사업부 </a:t>
            </a:r>
            <a:r>
              <a:rPr lang="en-US" altLang="ko-KR" sz="1100" b="0" dirty="0" smtClean="0">
                <a:latin typeface="+mj-ea"/>
                <a:ea typeface="+mj-ea"/>
              </a:rPr>
              <a:t>&gt; </a:t>
            </a:r>
            <a:r>
              <a:rPr lang="en-US" altLang="ko-KR" sz="1100" b="0" dirty="0" err="1" smtClean="0">
                <a:latin typeface="+mj-ea"/>
                <a:ea typeface="+mj-ea"/>
              </a:rPr>
              <a:t>SoildAssortPacking</a:t>
            </a:r>
            <a:r>
              <a:rPr lang="ko-KR" altLang="en-US" sz="1100" b="0" dirty="0" smtClean="0">
                <a:latin typeface="+mj-ea"/>
                <a:ea typeface="+mj-ea"/>
              </a:rPr>
              <a:t> 분할입고</a:t>
            </a:r>
            <a:r>
              <a:rPr lang="en-US" altLang="ko-KR" sz="1100" b="0" dirty="0" smtClean="0">
                <a:latin typeface="+mj-ea"/>
                <a:ea typeface="+mj-ea"/>
              </a:rPr>
              <a:t> </a:t>
            </a:r>
            <a:r>
              <a:rPr lang="ko-KR" altLang="en-US" sz="1100" b="0" dirty="0" err="1" smtClean="0">
                <a:latin typeface="+mj-ea"/>
                <a:ea typeface="+mj-ea"/>
              </a:rPr>
              <a:t>차수별</a:t>
            </a:r>
            <a:r>
              <a:rPr lang="ko-KR" altLang="en-US" sz="1100" b="0" dirty="0" smtClean="0">
                <a:latin typeface="+mj-ea"/>
                <a:ea typeface="+mj-ea"/>
              </a:rPr>
              <a:t> 등록</a:t>
            </a:r>
            <a:endParaRPr lang="en-US" altLang="ko-KR" sz="1100" b="0" dirty="0" smtClean="0">
              <a:latin typeface="+mj-ea"/>
              <a:ea typeface="+mj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j-ea"/>
                <a:ea typeface="+mj-ea"/>
              </a:rPr>
              <a:t>브랜드기획</a:t>
            </a:r>
            <a:r>
              <a:rPr lang="en-US" altLang="ko-KR" sz="1100" b="0" dirty="0" smtClean="0">
                <a:latin typeface="+mj-ea"/>
                <a:ea typeface="+mj-ea"/>
              </a:rPr>
              <a:t>/MD &gt; </a:t>
            </a:r>
            <a:r>
              <a:rPr lang="ko-KR" altLang="en-US" sz="1100" b="0" dirty="0" err="1" smtClean="0">
                <a:latin typeface="+mj-ea"/>
                <a:ea typeface="+mj-ea"/>
              </a:rPr>
              <a:t>소싱</a:t>
            </a:r>
            <a:r>
              <a:rPr lang="ko-KR" altLang="en-US" sz="1100" b="0" dirty="0" smtClean="0">
                <a:latin typeface="+mj-ea"/>
                <a:ea typeface="+mj-ea"/>
              </a:rPr>
              <a:t> </a:t>
            </a:r>
            <a:r>
              <a:rPr lang="en-US" altLang="ko-KR" sz="1100" b="0" dirty="0" smtClean="0">
                <a:latin typeface="+mj-ea"/>
                <a:ea typeface="+mj-ea"/>
              </a:rPr>
              <a:t>Packing</a:t>
            </a:r>
            <a:r>
              <a:rPr lang="ko-KR" altLang="en-US" sz="1100" b="0" dirty="0" smtClean="0">
                <a:latin typeface="+mj-ea"/>
                <a:ea typeface="+mj-ea"/>
              </a:rPr>
              <a:t>합의 집행</a:t>
            </a:r>
            <a:endParaRPr lang="en-US" altLang="ko-KR" sz="1100" b="0" dirty="0" smtClean="0">
              <a:latin typeface="+mj-ea"/>
              <a:ea typeface="+mj-ea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xmlns="" id="{10695474-850F-EC09-67CD-F59C79C4CDAB}"/>
              </a:ext>
            </a:extLst>
          </p:cNvPr>
          <p:cNvGrpSpPr/>
          <p:nvPr/>
        </p:nvGrpSpPr>
        <p:grpSpPr>
          <a:xfrm>
            <a:off x="2564582" y="3554891"/>
            <a:ext cx="831600" cy="504000"/>
            <a:chOff x="3133663" y="2530769"/>
            <a:chExt cx="884155" cy="49875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kern="0" dirty="0" smtClean="0">
                  <a:latin typeface="+mn-ea"/>
                </a:rPr>
                <a:t>제품입고</a:t>
              </a:r>
              <a:endParaRPr lang="en-US" altLang="ko-KR" sz="800" kern="0" dirty="0" smtClean="0">
                <a:latin typeface="+mn-ea"/>
              </a:endParaRPr>
            </a:p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kern="0" dirty="0" smtClean="0">
                  <a:latin typeface="+mn-ea"/>
                </a:rPr>
                <a:t>요청</a:t>
              </a:r>
              <a:r>
                <a:rPr lang="en-US" altLang="ko-KR" sz="800" kern="0" dirty="0" smtClean="0">
                  <a:latin typeface="+mn-ea"/>
                </a:rPr>
                <a:t>/</a:t>
              </a:r>
              <a:r>
                <a:rPr lang="ko-KR" altLang="en-US" sz="800" kern="0" dirty="0" smtClean="0">
                  <a:latin typeface="+mn-ea"/>
                </a:rPr>
                <a:t>합의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88680670-B8DA-785E-A01C-049A6C6AC1CD}"/>
                </a:ext>
              </a:extLst>
            </p:cNvPr>
            <p:cNvSpPr txBox="1"/>
            <p:nvPr/>
          </p:nvSpPr>
          <p:spPr>
            <a:xfrm>
              <a:off x="3133663" y="2530769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현업 담당자</a:t>
              </a:r>
              <a:endParaRPr lang="ko-KR" altLang="en-US" sz="800" dirty="0">
                <a:latin typeface="+mn-ea"/>
                <a:cs typeface="Arial"/>
              </a:endParaRPr>
            </a:p>
          </p:txBody>
        </p:sp>
      </p:grp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xmlns="" id="{A930F44B-33E1-0ED3-9CE0-6A0B9683A967}"/>
              </a:ext>
            </a:extLst>
          </p:cNvPr>
          <p:cNvCxnSpPr>
            <a:cxnSpLocks/>
            <a:stCxn id="78" idx="3"/>
          </p:cNvCxnSpPr>
          <p:nvPr/>
        </p:nvCxnSpPr>
        <p:spPr>
          <a:xfrm flipV="1">
            <a:off x="3396182" y="3898464"/>
            <a:ext cx="417937" cy="2569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그룹 102">
            <a:extLst>
              <a:ext uri="{FF2B5EF4-FFF2-40B4-BE49-F238E27FC236}">
                <a16:creationId xmlns:a16="http://schemas.microsoft.com/office/drawing/2014/main" xmlns="" id="{10695474-850F-EC09-67CD-F59C79C4CDAB}"/>
              </a:ext>
            </a:extLst>
          </p:cNvPr>
          <p:cNvGrpSpPr/>
          <p:nvPr/>
        </p:nvGrpSpPr>
        <p:grpSpPr>
          <a:xfrm>
            <a:off x="1463585" y="4214138"/>
            <a:ext cx="827441" cy="427144"/>
            <a:chOff x="3133663" y="2530769"/>
            <a:chExt cx="884155" cy="49875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xmlns="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/>
                <a:t>Detail Packing(DPL</a:t>
              </a:r>
              <a:r>
                <a:rPr lang="en-US" altLang="ko-KR" sz="800" dirty="0" smtClean="0"/>
                <a:t>)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xmlns="" id="{88680670-B8DA-785E-A01C-049A6C6AC1CD}"/>
                </a:ext>
              </a:extLst>
            </p:cNvPr>
            <p:cNvSpPr txBox="1"/>
            <p:nvPr/>
          </p:nvSpPr>
          <p:spPr>
            <a:xfrm>
              <a:off x="3133663" y="2530769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현업 담당자</a:t>
              </a:r>
              <a:endParaRPr lang="ko-KR" altLang="en-US" sz="800" dirty="0">
                <a:latin typeface="+mn-ea"/>
                <a:cs typeface="Arial"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xmlns="" id="{10695474-850F-EC09-67CD-F59C79C4CDAB}"/>
              </a:ext>
            </a:extLst>
          </p:cNvPr>
          <p:cNvGrpSpPr/>
          <p:nvPr/>
        </p:nvGrpSpPr>
        <p:grpSpPr>
          <a:xfrm>
            <a:off x="1463585" y="3554891"/>
            <a:ext cx="831600" cy="504000"/>
            <a:chOff x="3133663" y="2530769"/>
            <a:chExt cx="884155" cy="49875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 err="1" smtClean="0">
                  <a:latin typeface="+mn-ea"/>
                  <a:cs typeface="Arial"/>
                </a:rPr>
                <a:t>SolidAssort</a:t>
              </a:r>
              <a:r>
                <a:rPr lang="en-US" altLang="ko-KR" sz="800" dirty="0">
                  <a:latin typeface="+mn-ea"/>
                  <a:cs typeface="Arial"/>
                </a:rPr>
                <a:t/>
              </a:r>
              <a:br>
                <a:rPr lang="en-US" altLang="ko-KR" sz="800" dirty="0">
                  <a:latin typeface="+mn-ea"/>
                  <a:cs typeface="Arial"/>
                </a:rPr>
              </a:br>
              <a:r>
                <a:rPr lang="en-US" altLang="ko-KR" sz="800" dirty="0" smtClean="0">
                  <a:latin typeface="+mn-ea"/>
                  <a:cs typeface="Arial"/>
                </a:rPr>
                <a:t>Packing</a:t>
              </a:r>
              <a:r>
                <a:rPr lang="ko-KR" altLang="en-US" sz="800" dirty="0" smtClean="0">
                  <a:latin typeface="+mn-ea"/>
                  <a:cs typeface="Arial"/>
                </a:rPr>
                <a:t>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88680670-B8DA-785E-A01C-049A6C6AC1CD}"/>
                </a:ext>
              </a:extLst>
            </p:cNvPr>
            <p:cNvSpPr txBox="1"/>
            <p:nvPr/>
          </p:nvSpPr>
          <p:spPr>
            <a:xfrm>
              <a:off x="3133663" y="2530769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현업 담당자</a:t>
              </a:r>
              <a:endParaRPr lang="ko-KR" altLang="en-US" sz="800" dirty="0">
                <a:latin typeface="+mn-ea"/>
                <a:cs typeface="Arial"/>
              </a:endParaRPr>
            </a:p>
          </p:txBody>
        </p:sp>
      </p:grp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xmlns="" id="{A930F44B-33E1-0ED3-9CE0-6A0B9683A967}"/>
              </a:ext>
            </a:extLst>
          </p:cNvPr>
          <p:cNvCxnSpPr>
            <a:cxnSpLocks/>
            <a:stCxn id="109" idx="3"/>
            <a:endCxn id="78" idx="1"/>
          </p:cNvCxnSpPr>
          <p:nvPr/>
        </p:nvCxnSpPr>
        <p:spPr>
          <a:xfrm>
            <a:off x="2295185" y="3901033"/>
            <a:ext cx="269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/>
          <p:cNvCxnSpPr>
            <a:stCxn id="109" idx="2"/>
            <a:endCxn id="105" idx="0"/>
          </p:cNvCxnSpPr>
          <p:nvPr/>
        </p:nvCxnSpPr>
        <p:spPr>
          <a:xfrm flipH="1">
            <a:off x="1877305" y="4058891"/>
            <a:ext cx="2081" cy="155247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294" y="5327926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12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137" y="5769255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452532" y="4682935"/>
            <a:ext cx="2071630" cy="494053"/>
            <a:chOff x="1575722" y="4562640"/>
            <a:chExt cx="2188738" cy="494053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17" name="TextBox 116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1575722" y="4730494"/>
              <a:ext cx="2188738" cy="326199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latinLnBrk="0">
                <a:spcBef>
                  <a:spcPct val="0"/>
                </a:spcBef>
                <a:defRPr/>
              </a:pPr>
              <a:r>
                <a:rPr lang="en-US" altLang="ko-KR" sz="800" kern="0" dirty="0" smtClean="0">
                  <a:latin typeface="+mn-ea"/>
                </a:rPr>
                <a:t> 1) </a:t>
              </a:r>
              <a:r>
                <a:rPr lang="ko-KR" altLang="en-US" sz="800" kern="0" dirty="0" smtClean="0">
                  <a:latin typeface="+mn-ea"/>
                </a:rPr>
                <a:t>스타일별 최초</a:t>
              </a:r>
              <a:r>
                <a:rPr lang="en-US" altLang="ko-KR" sz="800" kern="0" dirty="0" smtClean="0">
                  <a:latin typeface="+mn-ea"/>
                </a:rPr>
                <a:t>, </a:t>
              </a:r>
              <a:r>
                <a:rPr lang="ko-KR" altLang="en-US" sz="800" kern="0" dirty="0" smtClean="0">
                  <a:latin typeface="+mn-ea"/>
                </a:rPr>
                <a:t>최종 입고일자 </a:t>
              </a:r>
              <a:r>
                <a:rPr lang="en-US" altLang="ko-KR" sz="800" kern="0" dirty="0" smtClean="0">
                  <a:latin typeface="+mn-ea"/>
                </a:rPr>
                <a:t>UPDATE</a:t>
              </a:r>
            </a:p>
            <a:p>
              <a:pPr lvl="0" latinLnBrk="0">
                <a:spcBef>
                  <a:spcPct val="0"/>
                </a:spcBef>
                <a:defRPr/>
              </a:pPr>
              <a:r>
                <a:rPr lang="en-US" altLang="ko-KR" sz="800" kern="0" dirty="0">
                  <a:latin typeface="+mn-ea"/>
                </a:rPr>
                <a:t> </a:t>
              </a:r>
              <a:r>
                <a:rPr lang="en-US" altLang="ko-KR" sz="800" kern="0" dirty="0" smtClean="0">
                  <a:latin typeface="+mn-ea"/>
                </a:rPr>
                <a:t>2) </a:t>
              </a:r>
              <a:r>
                <a:rPr lang="ko-KR" altLang="en-US" sz="800" kern="0" dirty="0" smtClean="0">
                  <a:latin typeface="+mn-ea"/>
                </a:rPr>
                <a:t>스타일 </a:t>
              </a:r>
              <a:r>
                <a:rPr lang="ko-KR" altLang="en-US" sz="800" kern="0" dirty="0" err="1" smtClean="0">
                  <a:latin typeface="+mn-ea"/>
                </a:rPr>
                <a:t>사이즈별</a:t>
              </a:r>
              <a:r>
                <a:rPr lang="ko-KR" altLang="en-US" sz="800" kern="0" dirty="0" smtClean="0">
                  <a:latin typeface="+mn-ea"/>
                </a:rPr>
                <a:t> 입고수량 </a:t>
              </a:r>
              <a:r>
                <a:rPr lang="en-US" altLang="ko-KR" sz="800" kern="0" dirty="0" smtClean="0">
                  <a:latin typeface="+mn-ea"/>
                </a:rPr>
                <a:t>UPDATE</a:t>
              </a:r>
              <a:endParaRPr lang="en-US" altLang="ko-KR" sz="800" kern="0" dirty="0">
                <a:latin typeface="+mn-ea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1576158" y="4562640"/>
              <a:ext cx="2188301" cy="17287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b="1" kern="0" dirty="0" smtClean="0">
                  <a:latin typeface="+mn-ea"/>
                </a:rPr>
                <a:t>수불 외 </a:t>
              </a:r>
              <a:r>
                <a:rPr lang="en-US" altLang="ko-KR" sz="800" b="1" kern="0" dirty="0" smtClean="0">
                  <a:latin typeface="+mn-ea"/>
                </a:rPr>
                <a:t>UPDATE </a:t>
              </a:r>
              <a:r>
                <a:rPr lang="ko-KR" altLang="en-US" sz="800" b="1" kern="0" dirty="0" smtClean="0">
                  <a:latin typeface="+mn-ea"/>
                </a:rPr>
                <a:t>데이터</a:t>
              </a:r>
              <a:endParaRPr lang="en-US" altLang="ko-KR" sz="800" b="1" kern="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530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0699" y="2104317"/>
          <a:ext cx="9132242" cy="4384552"/>
        </p:xfrm>
        <a:graphic>
          <a:graphicData uri="http://schemas.openxmlformats.org/drawingml/2006/table">
            <a:tbl>
              <a:tblPr/>
              <a:tblGrid>
                <a:gridCol w="91322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3227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5227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3. </a:t>
            </a:r>
            <a:r>
              <a:rPr lang="ko-KR" altLang="en-US" sz="1400" b="1" dirty="0" smtClean="0"/>
              <a:t>입고 프로세스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1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입고 프로세스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매장 반품 입고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입고</a:t>
            </a:r>
            <a:endParaRPr lang="ko-KR" altLang="en-US" sz="1400" b="1" dirty="0"/>
          </a:p>
        </p:txBody>
      </p: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16" y="2157106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>
            <a:off x="4956820" y="2104317"/>
            <a:ext cx="0" cy="4402214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2038" y="2157106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>
            <a:off x="6813567" y="2104317"/>
            <a:ext cx="4185" cy="4384552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939" y="2206620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77103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xmlns="" id="{10695474-850F-EC09-67CD-F59C79C4CDAB}"/>
              </a:ext>
            </a:extLst>
          </p:cNvPr>
          <p:cNvGrpSpPr/>
          <p:nvPr/>
        </p:nvGrpSpPr>
        <p:grpSpPr>
          <a:xfrm>
            <a:off x="5437887" y="3644533"/>
            <a:ext cx="870502" cy="499171"/>
            <a:chOff x="3043139" y="2542764"/>
            <a:chExt cx="884155" cy="49876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72C3D5AC-AD53-3617-B49F-FF6C316CA5CF}"/>
                </a:ext>
              </a:extLst>
            </p:cNvPr>
            <p:cNvSpPr txBox="1"/>
            <p:nvPr/>
          </p:nvSpPr>
          <p:spPr>
            <a:xfrm>
              <a:off x="3043140" y="2729093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입고예정</a:t>
              </a:r>
              <a:r>
                <a:rPr kumimoji="0" lang="ko-KR" altLang="en-US" sz="800" dirty="0">
                  <a:latin typeface="+mn-ea"/>
                  <a:ea typeface="+mn-ea"/>
                  <a:cs typeface="Arial"/>
                </a:rPr>
                <a:t>정보 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확인</a:t>
              </a: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/>
              </a:r>
              <a:b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</a:b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(</a:t>
              </a:r>
              <a:r>
                <a:rPr lang="ko-KR" altLang="en-US" sz="800" smtClean="0">
                  <a:latin typeface="+mn-ea"/>
                  <a:cs typeface="Arial"/>
                </a:rPr>
                <a:t>반품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입고</a:t>
              </a: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)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88680670-B8DA-785E-A01C-049A6C6AC1CD}"/>
                </a:ext>
              </a:extLst>
            </p:cNvPr>
            <p:cNvSpPr txBox="1"/>
            <p:nvPr/>
          </p:nvSpPr>
          <p:spPr>
            <a:xfrm>
              <a:off x="3043139" y="2542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0" dirty="0">
                  <a:latin typeface="+mn-ea"/>
                  <a:ea typeface="+mn-ea"/>
                  <a:cs typeface="Arial"/>
                </a:rPr>
                <a:t>입고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 담당자</a:t>
              </a:r>
            </a:p>
          </p:txBody>
        </p:sp>
      </p:grpSp>
      <p:cxnSp>
        <p:nvCxnSpPr>
          <p:cNvPr id="42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54" idx="0"/>
            <a:endCxn id="41" idx="0"/>
          </p:cNvCxnSpPr>
          <p:nvPr/>
        </p:nvCxnSpPr>
        <p:spPr>
          <a:xfrm flipH="1">
            <a:off x="5873138" y="2981334"/>
            <a:ext cx="7463" cy="663199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3859299" y="2854441"/>
            <a:ext cx="1576079" cy="1229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40" idx="2"/>
            <a:endCxn id="62" idx="1"/>
          </p:cNvCxnSpPr>
          <p:nvPr/>
        </p:nvCxnSpPr>
        <p:spPr>
          <a:xfrm>
            <a:off x="5873139" y="4143704"/>
            <a:ext cx="3198" cy="35489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70" idx="3"/>
            <a:endCxn id="73" idx="0"/>
          </p:cNvCxnSpPr>
          <p:nvPr/>
        </p:nvCxnSpPr>
        <p:spPr>
          <a:xfrm>
            <a:off x="8205723" y="3027854"/>
            <a:ext cx="0" cy="3312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xmlns="" id="{10695474-850F-EC09-67CD-F59C79C4CDAB}"/>
              </a:ext>
            </a:extLst>
          </p:cNvPr>
          <p:cNvGrpSpPr/>
          <p:nvPr/>
        </p:nvGrpSpPr>
        <p:grpSpPr>
          <a:xfrm>
            <a:off x="2963414" y="2696912"/>
            <a:ext cx="882182" cy="427144"/>
            <a:chOff x="3133663" y="2530769"/>
            <a:chExt cx="884155" cy="49875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kern="0" noProof="0" dirty="0" smtClean="0">
                  <a:latin typeface="+mn-ea"/>
                </a:rPr>
                <a:t>반품의뢰등록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88680670-B8DA-785E-A01C-049A6C6AC1CD}"/>
                </a:ext>
              </a:extLst>
            </p:cNvPr>
            <p:cNvSpPr txBox="1"/>
            <p:nvPr/>
          </p:nvSpPr>
          <p:spPr>
            <a:xfrm>
              <a:off x="3133663" y="2530769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매장 담당자</a:t>
              </a:r>
              <a:endParaRPr lang="ko-KR" altLang="en-US" sz="800" dirty="0">
                <a:latin typeface="+mn-ea"/>
                <a:cs typeface="Arial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5340210" y="2614552"/>
            <a:ext cx="1160343" cy="410395"/>
            <a:chOff x="3871888" y="3336297"/>
            <a:chExt cx="1008767" cy="410395"/>
          </a:xfrm>
        </p:grpSpPr>
        <p:sp>
          <p:nvSpPr>
            <p:cNvPr id="54" name="순서도: 저장 데이터 53">
              <a:extLst>
                <a:ext uri="{FF2B5EF4-FFF2-40B4-BE49-F238E27FC236}">
                  <a16:creationId xmlns:a16="http://schemas.microsoft.com/office/drawing/2014/main" xmlns="" id="{E626E3F6-4683-40ED-1974-2BBF3BF32130}"/>
                </a:ext>
              </a:extLst>
            </p:cNvPr>
            <p:cNvSpPr/>
            <p:nvPr/>
          </p:nvSpPr>
          <p:spPr bwMode="auto">
            <a:xfrm rot="10800000">
              <a:off x="3871888" y="3336297"/>
              <a:ext cx="939600" cy="366782"/>
            </a:xfrm>
            <a:prstGeom prst="flowChartOnlineStorag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wrap="none" lIns="0" tIns="0" rIns="0" bIns="0" rtlCol="0" anchor="ctr">
              <a:scene3d>
                <a:camera prst="orthographicFront">
                  <a:rot lat="0" lon="0" rev="10799999"/>
                </a:camera>
                <a:lightRig rig="threePt" dir="t"/>
              </a:scene3d>
            </a:bodyPr>
            <a:lstStyle/>
            <a:p>
              <a:pPr lvl="0" algn="ctr">
                <a:defRPr/>
              </a:pPr>
              <a:endParaRPr lang="en-US" altLang="ko-KR" sz="800" b="0" dirty="0">
                <a:latin typeface="+mn-ea"/>
                <a:ea typeface="+mn-ea"/>
                <a:cs typeface="Arial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54624" y="3408138"/>
              <a:ext cx="9260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입고예정정보생성</a:t>
              </a:r>
              <a:endParaRPr lang="ko-KR" altLang="en-US" sz="800" dirty="0"/>
            </a:p>
          </p:txBody>
        </p:sp>
      </p:grpSp>
      <p:sp>
        <p:nvSpPr>
          <p:cNvPr id="56" name="순서도: 수행의 시작/종료 55">
            <a:extLst>
              <a:ext uri="{FF2B5EF4-FFF2-40B4-BE49-F238E27FC236}">
                <a16:creationId xmlns:a16="http://schemas.microsoft.com/office/drawing/2014/main" xmlns="" id="{67F1B38D-F71C-A92C-794F-FCCF0A84708F}"/>
              </a:ext>
            </a:extLst>
          </p:cNvPr>
          <p:cNvSpPr/>
          <p:nvPr/>
        </p:nvSpPr>
        <p:spPr bwMode="auto">
          <a:xfrm>
            <a:off x="745551" y="2745062"/>
            <a:ext cx="939600" cy="279885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7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1685151" y="2880394"/>
            <a:ext cx="1264561" cy="461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순서도: 자기 디스크 61">
            <a:extLst>
              <a:ext uri="{FF2B5EF4-FFF2-40B4-BE49-F238E27FC236}">
                <a16:creationId xmlns:a16="http://schemas.microsoft.com/office/drawing/2014/main" xmlns="" id="{55E546EA-FB5D-4674-1C6B-FBFBD0936EC2}"/>
              </a:ext>
            </a:extLst>
          </p:cNvPr>
          <p:cNvSpPr/>
          <p:nvPr/>
        </p:nvSpPr>
        <p:spPr bwMode="auto">
          <a:xfrm>
            <a:off x="5421411" y="4498602"/>
            <a:ext cx="909852" cy="423131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입고예정</a:t>
            </a:r>
            <a:r>
              <a:rPr lang="en-US" altLang="ko-KR" sz="800" dirty="0" smtClean="0">
                <a:latin typeface="+mn-ea"/>
                <a:cs typeface="Arial"/>
              </a:rPr>
              <a:t/>
            </a:r>
            <a:br>
              <a:rPr lang="en-US" altLang="ko-KR" sz="800" dirty="0" smtClean="0">
                <a:latin typeface="+mn-ea"/>
                <a:cs typeface="Arial"/>
              </a:rPr>
            </a:br>
            <a:r>
              <a:rPr lang="en-US" altLang="ko-KR" sz="800" dirty="0" smtClean="0">
                <a:latin typeface="+mn-ea"/>
                <a:cs typeface="Arial"/>
              </a:rPr>
              <a:t>(OMS)</a:t>
            </a:r>
            <a:endParaRPr lang="ko-KR" altLang="en-US" sz="800" dirty="0">
              <a:latin typeface="+mn-ea"/>
              <a:cs typeface="Arial"/>
            </a:endParaRPr>
          </a:p>
        </p:txBody>
      </p:sp>
      <p:cxnSp>
        <p:nvCxnSpPr>
          <p:cNvPr id="68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62" idx="4"/>
            <a:endCxn id="70" idx="2"/>
          </p:cNvCxnSpPr>
          <p:nvPr/>
        </p:nvCxnSpPr>
        <p:spPr>
          <a:xfrm flipV="1">
            <a:off x="6331263" y="2821203"/>
            <a:ext cx="1420649" cy="1888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자기 디스크 69">
            <a:extLst>
              <a:ext uri="{FF2B5EF4-FFF2-40B4-BE49-F238E27FC236}">
                <a16:creationId xmlns:a16="http://schemas.microsoft.com/office/drawing/2014/main" xmlns="" id="{55E546EA-FB5D-4674-1C6B-FBFBD0936EC2}"/>
              </a:ext>
            </a:extLst>
          </p:cNvPr>
          <p:cNvSpPr/>
          <p:nvPr/>
        </p:nvSpPr>
        <p:spPr bwMode="auto">
          <a:xfrm>
            <a:off x="7751912" y="2614551"/>
            <a:ext cx="907622" cy="413303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입고예정</a:t>
            </a:r>
            <a:r>
              <a:rPr lang="en-US" altLang="ko-KR" sz="800" dirty="0" smtClean="0">
                <a:latin typeface="+mn-ea"/>
                <a:cs typeface="Arial"/>
              </a:rPr>
              <a:t/>
            </a:r>
            <a:br>
              <a:rPr lang="en-US" altLang="ko-KR" sz="800" dirty="0" smtClean="0">
                <a:latin typeface="+mn-ea"/>
                <a:cs typeface="Arial"/>
              </a:rPr>
            </a:br>
            <a:r>
              <a:rPr lang="en-US" altLang="ko-KR" sz="800" dirty="0" smtClean="0">
                <a:latin typeface="+mn-ea"/>
                <a:cs typeface="Arial"/>
              </a:rPr>
              <a:t>(WMS)</a:t>
            </a:r>
            <a:endParaRPr lang="ko-KR" altLang="en-US" sz="800" dirty="0">
              <a:latin typeface="+mn-ea"/>
              <a:cs typeface="Arial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xmlns="" xmlns:lc="http://schemas.openxmlformats.org/drawingml/2006/lockedCanvas" id="{44D60099-09E3-18E2-AA99-0D648000DC51}"/>
              </a:ext>
            </a:extLst>
          </p:cNvPr>
          <p:cNvGrpSpPr/>
          <p:nvPr/>
        </p:nvGrpSpPr>
        <p:grpSpPr>
          <a:xfrm>
            <a:off x="7751912" y="3359152"/>
            <a:ext cx="907622" cy="433216"/>
            <a:chOff x="3133664" y="2530763"/>
            <a:chExt cx="884154" cy="498764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72" name="TextBox 153">
              <a:extLst>
                <a:ext uri="{FF2B5EF4-FFF2-40B4-BE49-F238E27FC236}">
                  <a16:creationId xmlns:a16="http://schemas.microsoft.com/office/drawing/2014/main" xmlns="" xmlns:lc="http://schemas.openxmlformats.org/drawingml/2006/lockedCanvas" id="{EFE81E7A-87AE-C78E-244A-52C7EDE1EDA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입고확정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마감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3" name="TextBox 154">
              <a:extLst>
                <a:ext uri="{FF2B5EF4-FFF2-40B4-BE49-F238E27FC236}">
                  <a16:creationId xmlns:a16="http://schemas.microsoft.com/office/drawing/2014/main" xmlns="" xmlns:lc="http://schemas.openxmlformats.org/drawingml/2006/lockedCanvas" id="{1560D0F6-DA23-60C8-FCBE-F42955E85EC2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입고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76" name="순서도: 자기 디스크 7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8598298" y="4694753"/>
            <a:ext cx="719956" cy="34755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77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72" idx="3"/>
            <a:endCxn id="76" idx="1"/>
          </p:cNvCxnSpPr>
          <p:nvPr/>
        </p:nvCxnSpPr>
        <p:spPr>
          <a:xfrm>
            <a:off x="8659534" y="3656682"/>
            <a:ext cx="298742" cy="1038071"/>
          </a:xfrm>
          <a:prstGeom prst="bentConnector2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순서도: 저장 데이터 80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5385858" y="5423360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입고실적</a:t>
            </a:r>
            <a:r>
              <a:rPr lang="en-US" altLang="ko-KR" sz="800" dirty="0">
                <a:latin typeface="+mn-ea"/>
                <a:cs typeface="Arial"/>
              </a:rPr>
              <a:t>I/F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sp>
        <p:nvSpPr>
          <p:cNvPr id="83" name="순서도: 자기 디스크 82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3944526" y="5419171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4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81" idx="1"/>
            <a:endCxn id="83" idx="4"/>
          </p:cNvCxnSpPr>
          <p:nvPr/>
        </p:nvCxnSpPr>
        <p:spPr>
          <a:xfrm flipH="1">
            <a:off x="4718851" y="5597138"/>
            <a:ext cx="667007" cy="5954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그룹 84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520937" y="5305531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6" name="TextBox 85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매장수불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매장재고 갱신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89" name="순서도: 수행의 시작/종료 88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512471" y="6136532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sp>
        <p:nvSpPr>
          <p:cNvPr id="90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830" y="5332379"/>
            <a:ext cx="1246863" cy="541426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소비자가</a:t>
            </a:r>
            <a:r>
              <a:rPr lang="en-US" altLang="ko-KR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/</a:t>
            </a: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마진</a:t>
            </a:r>
            <a:r>
              <a:rPr lang="en-US" altLang="ko-KR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/</a:t>
            </a:r>
            <a:r>
              <a:rPr lang="ko-KR" altLang="en-US" sz="800" b="0" dirty="0" err="1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실판매가</a:t>
            </a:r>
            <a:endParaRPr lang="en-US" altLang="ko-KR" sz="800" b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등록여부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563157" y="6008539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92" name="TextBox 91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소비자가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>
                  <a:latin typeface="+mn-ea"/>
                  <a:cs typeface="Arial"/>
                </a:rPr>
                <a:t> </a:t>
              </a:r>
              <a:r>
                <a:rPr lang="ko-KR" altLang="en-US" sz="800" dirty="0" smtClean="0">
                  <a:latin typeface="+mn-ea"/>
                  <a:cs typeface="Arial"/>
                </a:rPr>
                <a:t>생산 공임단가 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현업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94" name="직선 화살표 연결선 10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92" idx="1"/>
            <a:endCxn id="86" idx="3"/>
          </p:cNvCxnSpPr>
          <p:nvPr/>
        </p:nvCxnSpPr>
        <p:spPr>
          <a:xfrm rot="10800000">
            <a:off x="1428691" y="5603093"/>
            <a:ext cx="1134598" cy="70300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:a16="http://schemas.microsoft.com/office/drawing/2014/main" xmlns="" id="{E8620FD6-4FE3-EB8E-2B4C-60517A9AC679}"/>
              </a:ext>
            </a:extLst>
          </p:cNvPr>
          <p:cNvCxnSpPr>
            <a:cxnSpLocks/>
            <a:stCxn id="72" idx="2"/>
            <a:endCxn id="81" idx="3"/>
          </p:cNvCxnSpPr>
          <p:nvPr/>
        </p:nvCxnSpPr>
        <p:spPr>
          <a:xfrm rot="5400000">
            <a:off x="6309519" y="3700934"/>
            <a:ext cx="1804770" cy="1987639"/>
          </a:xfrm>
          <a:prstGeom prst="bentConnector2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83" idx="2"/>
            <a:endCxn id="90" idx="3"/>
          </p:cNvCxnSpPr>
          <p:nvPr/>
        </p:nvCxnSpPr>
        <p:spPr>
          <a:xfrm flipH="1">
            <a:off x="3638693" y="5603092"/>
            <a:ext cx="305833" cy="0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90" idx="1"/>
            <a:endCxn id="86" idx="3"/>
          </p:cNvCxnSpPr>
          <p:nvPr/>
        </p:nvCxnSpPr>
        <p:spPr>
          <a:xfrm flipH="1">
            <a:off x="1428691" y="5603092"/>
            <a:ext cx="963139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4746" y="5400727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90" idx="2"/>
            <a:endCxn id="93" idx="0"/>
          </p:cNvCxnSpPr>
          <p:nvPr/>
        </p:nvCxnSpPr>
        <p:spPr>
          <a:xfrm>
            <a:off x="3015262" y="5873805"/>
            <a:ext cx="1706" cy="13473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966413" y="5738779"/>
            <a:ext cx="8467" cy="39775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315576" cy="63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j-ea"/>
                <a:ea typeface="+mj-ea"/>
              </a:rPr>
              <a:t>반품입고 예정정보는 매장에서 매장관리 </a:t>
            </a:r>
            <a:r>
              <a:rPr lang="en-US" altLang="ko-KR" sz="1100" b="0" dirty="0" smtClean="0">
                <a:latin typeface="+mj-ea"/>
                <a:ea typeface="+mj-ea"/>
              </a:rPr>
              <a:t>APP</a:t>
            </a:r>
            <a:r>
              <a:rPr lang="ko-KR" altLang="en-US" sz="1100" b="0" dirty="0" smtClean="0">
                <a:latin typeface="+mj-ea"/>
                <a:ea typeface="+mj-ea"/>
              </a:rPr>
              <a:t>이나 </a:t>
            </a:r>
            <a:r>
              <a:rPr lang="en-US" altLang="ko-KR" sz="1100" b="0" dirty="0" smtClean="0">
                <a:latin typeface="+mj-ea"/>
                <a:ea typeface="+mj-ea"/>
              </a:rPr>
              <a:t>F/A-ONE</a:t>
            </a:r>
            <a:r>
              <a:rPr lang="ko-KR" altLang="en-US" sz="1100" b="0" dirty="0" smtClean="0">
                <a:latin typeface="+mj-ea"/>
                <a:ea typeface="+mj-ea"/>
              </a:rPr>
              <a:t>에서 등록</a:t>
            </a:r>
            <a:r>
              <a:rPr lang="en-US" altLang="ko-KR" sz="1100" b="0" dirty="0" smtClean="0">
                <a:latin typeface="+mj-ea"/>
                <a:ea typeface="+mj-ea"/>
              </a:rPr>
              <a:t>, OMS</a:t>
            </a:r>
            <a:r>
              <a:rPr lang="ko-KR" altLang="en-US" sz="1100" b="0" dirty="0" smtClean="0">
                <a:latin typeface="+mj-ea"/>
                <a:ea typeface="+mj-ea"/>
              </a:rPr>
              <a:t>에서도 물류 담당자가 수기 생성 가능</a:t>
            </a:r>
            <a:endParaRPr lang="en-US" altLang="ko-KR" sz="1100" b="0" dirty="0" smtClean="0">
              <a:latin typeface="+mj-ea"/>
              <a:ea typeface="+mj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j-ea"/>
                <a:ea typeface="+mj-ea"/>
              </a:rPr>
              <a:t>반품 상세 유형 </a:t>
            </a:r>
            <a:r>
              <a:rPr lang="en-US" altLang="ko-KR" sz="1100" b="0" dirty="0" smtClean="0">
                <a:latin typeface="+mj-ea"/>
                <a:ea typeface="+mj-ea"/>
              </a:rPr>
              <a:t>:</a:t>
            </a:r>
            <a:r>
              <a:rPr lang="ko-KR" altLang="en-US" sz="1100" b="0" dirty="0" smtClean="0">
                <a:latin typeface="+mj-ea"/>
                <a:ea typeface="+mj-ea"/>
              </a:rPr>
              <a:t> 시즌반품</a:t>
            </a:r>
            <a:r>
              <a:rPr lang="en-US" altLang="ko-KR" sz="1100" b="0" dirty="0" smtClean="0">
                <a:latin typeface="+mj-ea"/>
                <a:ea typeface="+mj-ea"/>
              </a:rPr>
              <a:t>, </a:t>
            </a:r>
            <a:r>
              <a:rPr lang="ko-KR" altLang="en-US" sz="1100" b="0" dirty="0" smtClean="0">
                <a:latin typeface="+mj-ea"/>
                <a:ea typeface="+mj-ea"/>
              </a:rPr>
              <a:t>자율반품</a:t>
            </a:r>
            <a:r>
              <a:rPr lang="en-US" altLang="ko-KR" sz="1100" b="0" dirty="0" smtClean="0">
                <a:latin typeface="+mj-ea"/>
                <a:ea typeface="+mj-ea"/>
              </a:rPr>
              <a:t>, </a:t>
            </a:r>
            <a:r>
              <a:rPr lang="ko-KR" altLang="en-US" sz="1100" b="0" dirty="0" smtClean="0">
                <a:latin typeface="+mj-ea"/>
                <a:ea typeface="+mj-ea"/>
              </a:rPr>
              <a:t>행사반품</a:t>
            </a:r>
            <a:r>
              <a:rPr lang="en-US" altLang="ko-KR" sz="1100" b="0" dirty="0" smtClean="0">
                <a:latin typeface="+mj-ea"/>
                <a:ea typeface="+mj-ea"/>
              </a:rPr>
              <a:t>, </a:t>
            </a:r>
            <a:r>
              <a:rPr lang="ko-KR" altLang="en-US" sz="1100" b="0" dirty="0" smtClean="0">
                <a:latin typeface="+mj-ea"/>
                <a:ea typeface="+mj-ea"/>
              </a:rPr>
              <a:t>불량반품</a:t>
            </a:r>
            <a:r>
              <a:rPr lang="en-US" altLang="ko-KR" sz="1100" b="0" dirty="0" smtClean="0">
                <a:latin typeface="+mj-ea"/>
                <a:ea typeface="+mj-ea"/>
              </a:rPr>
              <a:t>, </a:t>
            </a:r>
            <a:r>
              <a:rPr lang="ko-KR" altLang="en-US" sz="1100" b="0" dirty="0" smtClean="0">
                <a:latin typeface="+mj-ea"/>
                <a:ea typeface="+mj-ea"/>
              </a:rPr>
              <a:t>긴급수시반품</a:t>
            </a:r>
            <a:r>
              <a:rPr lang="en-US" altLang="ko-KR" sz="1100" b="0" dirty="0" smtClean="0">
                <a:latin typeface="+mj-ea"/>
                <a:ea typeface="+mj-ea"/>
              </a:rPr>
              <a:t>, </a:t>
            </a:r>
            <a:r>
              <a:rPr lang="ko-KR" altLang="en-US" sz="1100" b="0" dirty="0" smtClean="0">
                <a:latin typeface="+mj-ea"/>
                <a:ea typeface="+mj-ea"/>
              </a:rPr>
              <a:t>자동수시반품</a:t>
            </a:r>
            <a:r>
              <a:rPr lang="en-US" altLang="ko-KR" sz="1100" b="0" dirty="0" smtClean="0">
                <a:latin typeface="+mj-ea"/>
                <a:ea typeface="+mj-ea"/>
              </a:rPr>
              <a:t>, </a:t>
            </a:r>
            <a:r>
              <a:rPr lang="ko-KR" altLang="en-US" sz="1100" b="0" dirty="0" err="1" smtClean="0">
                <a:latin typeface="+mj-ea"/>
                <a:ea typeface="+mj-ea"/>
              </a:rPr>
              <a:t>용차반품</a:t>
            </a:r>
            <a:r>
              <a:rPr lang="en-US" altLang="ko-KR" sz="1100" b="0" dirty="0" smtClean="0">
                <a:latin typeface="+mj-ea"/>
                <a:ea typeface="+mj-ea"/>
              </a:rPr>
              <a:t>, </a:t>
            </a:r>
            <a:r>
              <a:rPr lang="ko-KR" altLang="en-US" sz="1100" b="0" dirty="0" smtClean="0">
                <a:latin typeface="+mj-ea"/>
                <a:ea typeface="+mj-ea"/>
              </a:rPr>
              <a:t>과오배송</a:t>
            </a:r>
            <a:endParaRPr lang="en-US" altLang="ko-KR" sz="1100" b="0" dirty="0" smtClean="0">
              <a:latin typeface="+mj-ea"/>
              <a:ea typeface="+mj-ea"/>
            </a:endParaRPr>
          </a:p>
        </p:txBody>
      </p:sp>
      <p:sp>
        <p:nvSpPr>
          <p:cNvPr id="5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031" y="5826295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N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4. </a:t>
            </a:r>
            <a:r>
              <a:rPr lang="ko-KR" altLang="en-US" sz="1400" b="1" dirty="0" smtClean="0"/>
              <a:t>출고 프로세스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1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출고 프로세스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매장 출고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20929"/>
              </p:ext>
            </p:extLst>
          </p:nvPr>
        </p:nvGraphicFramePr>
        <p:xfrm>
          <a:off x="478996" y="2109009"/>
          <a:ext cx="9043945" cy="4379860"/>
        </p:xfrm>
        <a:graphic>
          <a:graphicData uri="http://schemas.openxmlformats.org/drawingml/2006/table">
            <a:tbl>
              <a:tblPr/>
              <a:tblGrid>
                <a:gridCol w="90439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7299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822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5693114" y="4963647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예정</a:t>
              </a:r>
              <a:r>
                <a:rPr kumimoji="0" lang="ko-KR" altLang="en-US" sz="800" dirty="0" smtClean="0">
                  <a:latin typeface="+mn-ea"/>
                  <a:ea typeface="+mn-ea"/>
                  <a:cs typeface="Arial"/>
                </a:rPr>
                <a:t>정보 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확인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20" name="순서도: 자기 디스크 19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5767256" y="3907170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OMS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3" name="직선 화살표 연결선 97">
            <a:extLst>
              <a:ext uri="{FF2B5EF4-FFF2-40B4-BE49-F238E27FC236}">
                <a16:creationId xmlns="" xmlns:a16="http://schemas.microsoft.com/office/drawing/2014/main" id="{DF7FEA19-7BAA-9956-E360-FB8B463B8C85}"/>
              </a:ext>
            </a:extLst>
          </p:cNvPr>
          <p:cNvCxnSpPr>
            <a:cxnSpLocks/>
            <a:stCxn id="80" idx="3"/>
            <a:endCxn id="20" idx="2"/>
          </p:cNvCxnSpPr>
          <p:nvPr/>
        </p:nvCxnSpPr>
        <p:spPr>
          <a:xfrm flipV="1">
            <a:off x="1822754" y="4091091"/>
            <a:ext cx="3944502" cy="4860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20" idx="3"/>
            <a:endCxn id="111" idx="0"/>
          </p:cNvCxnSpPr>
          <p:nvPr/>
        </p:nvCxnSpPr>
        <p:spPr>
          <a:xfrm flipH="1">
            <a:off x="6149955" y="4275012"/>
            <a:ext cx="4464" cy="125877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183" y="2135676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5213020" y="2135303"/>
            <a:ext cx="41189" cy="437986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835" y="2136059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8236951" y="3016495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err="1" smtClean="0">
                  <a:latin typeface="+mn-ea"/>
                  <a:cs typeface="Arial"/>
                </a:rPr>
                <a:t>재고피킹</a:t>
              </a:r>
              <a:r>
                <a:rPr lang="en-US" altLang="ko-KR" sz="800" noProof="0" dirty="0" smtClean="0">
                  <a:latin typeface="+mn-ea"/>
                  <a:cs typeface="Arial"/>
                </a:rPr>
                <a:t>/</a:t>
              </a:r>
              <a:r>
                <a:rPr lang="ko-KR" altLang="en-US" sz="800" noProof="0" dirty="0" smtClean="0">
                  <a:latin typeface="+mn-ea"/>
                  <a:cs typeface="Arial"/>
                </a:rPr>
                <a:t>출고작업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70" name="직선 화살표 연결선 69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67" idx="2"/>
            <a:endCxn id="79" idx="0"/>
          </p:cNvCxnSpPr>
          <p:nvPr/>
        </p:nvCxnSpPr>
        <p:spPr>
          <a:xfrm>
            <a:off x="8690762" y="3449712"/>
            <a:ext cx="0" cy="18000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156">
            <a:extLst>
              <a:ext uri="{FF2B5EF4-FFF2-40B4-BE49-F238E27FC236}">
                <a16:creationId xmlns="" xmlns:a16="http://schemas.microsoft.com/office/drawing/2014/main" id="{CD6CBD41-B09E-C6F7-2290-91E2A1FAF070}"/>
              </a:ext>
            </a:extLst>
          </p:cNvPr>
          <p:cNvCxnSpPr>
            <a:cxnSpLocks/>
            <a:stCxn id="77" idx="2"/>
            <a:endCxn id="75" idx="0"/>
          </p:cNvCxnSpPr>
          <p:nvPr/>
        </p:nvCxnSpPr>
        <p:spPr>
          <a:xfrm>
            <a:off x="8690762" y="4067314"/>
            <a:ext cx="0" cy="18375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="" xmlns:a16="http://schemas.microsoft.com/office/drawing/2014/main" id="{3752D447-6614-0E7A-F417-A595E24C0ACF}"/>
              </a:ext>
            </a:extLst>
          </p:cNvPr>
          <p:cNvGrpSpPr/>
          <p:nvPr/>
        </p:nvGrpSpPr>
        <p:grpSpPr>
          <a:xfrm>
            <a:off x="8236951" y="4251072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9102DD79-1B4F-B1CF-3047-C215195ACBB1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출고확정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마감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81DE216D-F7F5-A7DA-2A18-BB6E5B070CE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="" xmlns:a16="http://schemas.microsoft.com/office/drawing/2014/main" id="{44D60099-09E3-18E2-AA99-0D648000DC51}"/>
              </a:ext>
            </a:extLst>
          </p:cNvPr>
          <p:cNvGrpSpPr/>
          <p:nvPr/>
        </p:nvGrpSpPr>
        <p:grpSpPr>
          <a:xfrm>
            <a:off x="8236951" y="3634097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7" name="TextBox 76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송장발행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1560D0F6-DA23-60C8-FCBE-F42955E85EC2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86" name="순서도: 자기 디스크 8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7350362" y="4372655"/>
            <a:ext cx="719956" cy="347555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8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73" idx="1"/>
            <a:endCxn id="86" idx="4"/>
          </p:cNvCxnSpPr>
          <p:nvPr/>
        </p:nvCxnSpPr>
        <p:spPr>
          <a:xfrm rot="10800000">
            <a:off x="8070319" y="4546433"/>
            <a:ext cx="166633" cy="2170"/>
          </a:xfrm>
          <a:prstGeom prst="bentConnector3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순서도: 저장 데이터 8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5690456" y="5502428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r>
              <a:rPr lang="en-US" altLang="ko-KR" sz="800" dirty="0">
                <a:latin typeface="+mn-ea"/>
                <a:cs typeface="Arial"/>
              </a:rPr>
              <a:t>I/F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cxnSp>
        <p:nvCxnSpPr>
          <p:cNvPr id="91" name="직선 화살표 연결선 97">
            <a:extLst>
              <a:ext uri="{FF2B5EF4-FFF2-40B4-BE49-F238E27FC236}">
                <a16:creationId xmlns="" xmlns:a16="http://schemas.microsoft.com/office/drawing/2014/main" id="{5AF667EB-BB0E-FFF8-B6A6-795181B956C0}"/>
              </a:ext>
            </a:extLst>
          </p:cNvPr>
          <p:cNvCxnSpPr>
            <a:cxnSpLocks/>
            <a:stCxn id="90" idx="1"/>
            <a:endCxn id="175" idx="4"/>
          </p:cNvCxnSpPr>
          <p:nvPr/>
        </p:nvCxnSpPr>
        <p:spPr>
          <a:xfrm flipH="1">
            <a:off x="4757487" y="5676206"/>
            <a:ext cx="932969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54">
            <a:extLst>
              <a:ext uri="{FF2B5EF4-FFF2-40B4-BE49-F238E27FC236}">
                <a16:creationId xmlns="" xmlns:a16="http://schemas.microsoft.com/office/drawing/2014/main" id="{93C79CEF-1514-7E58-0D59-73AB2A0C6F9B}"/>
              </a:ext>
            </a:extLst>
          </p:cNvPr>
          <p:cNvCxnSpPr>
            <a:cxnSpLocks/>
            <a:stCxn id="73" idx="2"/>
            <a:endCxn id="188" idx="1"/>
          </p:cNvCxnSpPr>
          <p:nvPr/>
        </p:nvCxnSpPr>
        <p:spPr>
          <a:xfrm>
            <a:off x="8690762" y="4684289"/>
            <a:ext cx="846" cy="80779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88" idx="2"/>
            <a:endCxn id="90" idx="3"/>
          </p:cNvCxnSpPr>
          <p:nvPr/>
        </p:nvCxnSpPr>
        <p:spPr>
          <a:xfrm flipH="1">
            <a:off x="6522682" y="5676008"/>
            <a:ext cx="1781763" cy="19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7090821" y="2109009"/>
            <a:ext cx="1" cy="437986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4001" y="2135303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47" name="순서도: 자기 디스크 146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2472225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48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" idx="2"/>
            <a:endCxn id="147" idx="2"/>
          </p:cNvCxnSpPr>
          <p:nvPr/>
        </p:nvCxnSpPr>
        <p:spPr>
          <a:xfrm rot="5400000" flipH="1" flipV="1">
            <a:off x="5855326" y="2947745"/>
            <a:ext cx="2740717" cy="2157520"/>
          </a:xfrm>
          <a:prstGeom prst="bentConnector4">
            <a:avLst>
              <a:gd name="adj1" fmla="val -2330"/>
              <a:gd name="adj2" fmla="val 49062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47" idx="3"/>
            <a:endCxn id="69" idx="0"/>
          </p:cNvCxnSpPr>
          <p:nvPr/>
        </p:nvCxnSpPr>
        <p:spPr>
          <a:xfrm flipH="1">
            <a:off x="8690762" y="2840067"/>
            <a:ext cx="846" cy="17642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순서도: 자기 디스크 174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3983162" y="5502428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88" name="순서도: 자기 디스크 187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5492087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latin typeface="+mn-ea"/>
                <a:cs typeface="Arial"/>
              </a:rPr>
              <a:t>출고확정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94" name="그룹 193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986621" y="5390049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95" name="TextBox 194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매장수불생성</a:t>
              </a:r>
              <a:r>
                <a:rPr lang="en-US" altLang="ko-KR" sz="800" dirty="0" smtClean="0">
                  <a:latin typeface="+mn-ea"/>
                  <a:cs typeface="Arial"/>
                </a:rPr>
                <a:t>,</a:t>
              </a:r>
              <a:endParaRPr lang="en-US" altLang="ko-KR" sz="800" dirty="0">
                <a:latin typeface="+mn-ea"/>
                <a:cs typeface="Arial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매장재고 갱신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5" idx="2"/>
            <a:endCxn id="78" idx="3"/>
          </p:cNvCxnSpPr>
          <p:nvPr/>
        </p:nvCxnSpPr>
        <p:spPr>
          <a:xfrm flipH="1">
            <a:off x="3654983" y="5686349"/>
            <a:ext cx="328179" cy="2322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순서도: 수행의 시작/종료 201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86494" y="6116899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95" idx="2"/>
            <a:endCxn id="202" idx="0"/>
          </p:cNvCxnSpPr>
          <p:nvPr/>
        </p:nvCxnSpPr>
        <p:spPr>
          <a:xfrm flipH="1">
            <a:off x="1440436" y="5823297"/>
            <a:ext cx="128" cy="29360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77103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23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315576" cy="63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센터 </a:t>
            </a:r>
            <a:r>
              <a:rPr lang="en-US" altLang="ko-KR" sz="1100" b="0" dirty="0" smtClean="0">
                <a:latin typeface="+mn-ea"/>
                <a:ea typeface="+mn-ea"/>
              </a:rPr>
              <a:t>&gt; </a:t>
            </a:r>
            <a:r>
              <a:rPr lang="ko-KR" altLang="en-US" sz="1100" b="0" dirty="0" smtClean="0">
                <a:latin typeface="+mn-ea"/>
                <a:ea typeface="+mn-ea"/>
              </a:rPr>
              <a:t>매장으로 출고되는 프로세스 </a:t>
            </a:r>
            <a:r>
              <a:rPr lang="en-US" altLang="ko-KR" sz="1100" b="0" dirty="0" smtClean="0">
                <a:latin typeface="+mn-ea"/>
                <a:ea typeface="+mn-ea"/>
              </a:rPr>
              <a:t>(B2B-</a:t>
            </a:r>
            <a:r>
              <a:rPr lang="ko-KR" altLang="en-US" sz="1100" b="0" dirty="0" smtClean="0">
                <a:latin typeface="+mn-ea"/>
                <a:ea typeface="+mn-ea"/>
              </a:rPr>
              <a:t>초도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반응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판매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행사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err="1" smtClean="0">
                <a:latin typeface="+mn-ea"/>
                <a:ea typeface="+mn-ea"/>
              </a:rPr>
              <a:t>선작업</a:t>
            </a:r>
            <a:r>
              <a:rPr lang="en-US" altLang="ko-KR" sz="1100" b="0" dirty="0" smtClean="0">
                <a:latin typeface="+mn-ea"/>
                <a:ea typeface="+mn-ea"/>
              </a:rPr>
              <a:t>, B2C-</a:t>
            </a:r>
            <a:r>
              <a:rPr lang="ko-KR" altLang="en-US" sz="1100" b="0" dirty="0" smtClean="0">
                <a:latin typeface="+mn-ea"/>
                <a:ea typeface="+mn-ea"/>
              </a:rPr>
              <a:t>행사출고의 출고유형으로 매장으로 출고</a:t>
            </a:r>
            <a:r>
              <a:rPr lang="en-US" altLang="ko-KR" sz="1100" b="0" dirty="0" smtClean="0">
                <a:latin typeface="+mn-ea"/>
                <a:ea typeface="+mn-ea"/>
              </a:rPr>
              <a:t>)</a:t>
            </a: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출고 예정과 실적은 </a:t>
            </a:r>
            <a:r>
              <a:rPr lang="en-US" altLang="ko-KR" sz="1100" b="0" dirty="0" smtClean="0">
                <a:latin typeface="+mn-ea"/>
                <a:ea typeface="+mn-ea"/>
              </a:rPr>
              <a:t>Scheduler Job</a:t>
            </a:r>
            <a:r>
              <a:rPr lang="ko-KR" altLang="en-US" sz="1100" b="0" dirty="0" smtClean="0">
                <a:latin typeface="+mn-ea"/>
                <a:ea typeface="+mn-ea"/>
              </a:rPr>
              <a:t>으로 일정시간마다 자동 생성 </a:t>
            </a:r>
            <a:r>
              <a:rPr lang="en-US" altLang="ko-KR" sz="1100" b="0" dirty="0" smtClean="0">
                <a:latin typeface="+mn-ea"/>
                <a:ea typeface="+mn-ea"/>
              </a:rPr>
              <a:t>(F/A-ONE : 10</a:t>
            </a:r>
            <a:r>
              <a:rPr lang="ko-KR" altLang="en-US" sz="1100" b="0" dirty="0" smtClean="0">
                <a:latin typeface="+mn-ea"/>
                <a:ea typeface="+mn-ea"/>
              </a:rPr>
              <a:t>분</a:t>
            </a:r>
            <a:r>
              <a:rPr lang="en-US" altLang="ko-KR" sz="1100" b="0" dirty="0" smtClean="0">
                <a:latin typeface="+mn-ea"/>
                <a:ea typeface="+mn-ea"/>
              </a:rPr>
              <a:t>, WMS : 1</a:t>
            </a:r>
            <a:r>
              <a:rPr lang="ko-KR" altLang="en-US" sz="1100" b="0" dirty="0" smtClean="0">
                <a:latin typeface="+mn-ea"/>
                <a:ea typeface="+mn-ea"/>
              </a:rPr>
              <a:t>분 주기</a:t>
            </a:r>
            <a:r>
              <a:rPr lang="en-US" altLang="ko-KR" sz="1100" b="0" dirty="0">
                <a:latin typeface="+mn-ea"/>
                <a:ea typeface="+mn-ea"/>
              </a:rPr>
              <a:t>)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1036053" y="3117004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63" name="TextBox 162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latinLnBrk="0">
                <a:spcBef>
                  <a:spcPct val="0"/>
                </a:spcBef>
                <a:defRPr/>
              </a:pPr>
              <a:r>
                <a:rPr lang="ko-KR" altLang="en-US" sz="800" kern="0" dirty="0">
                  <a:latin typeface="+mn-ea"/>
                </a:rPr>
                <a:t>출고지시 등록</a:t>
              </a:r>
              <a:endParaRPr lang="en-US" altLang="ko-KR" sz="800" kern="0" dirty="0">
                <a:latin typeface="+mn-ea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grpSp>
        <p:nvGrpSpPr>
          <p:cNvPr id="228" name="그룹 227"/>
          <p:cNvGrpSpPr/>
          <p:nvPr/>
        </p:nvGrpSpPr>
        <p:grpSpPr>
          <a:xfrm>
            <a:off x="2140137" y="3021436"/>
            <a:ext cx="2133299" cy="634980"/>
            <a:chOff x="567460" y="3954756"/>
            <a:chExt cx="1167900" cy="686267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26" name="TextBox 225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567460" y="4136927"/>
              <a:ext cx="1167900" cy="504096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latinLnBrk="0">
                <a:spcBef>
                  <a:spcPct val="0"/>
                </a:spcBef>
                <a:defRPr/>
              </a:pPr>
              <a:r>
                <a:rPr lang="ko-KR" altLang="en-US" sz="800" kern="0" dirty="0" err="1">
                  <a:latin typeface="+mn-ea"/>
                </a:rPr>
                <a:t>제품초도배분등록</a:t>
              </a:r>
              <a:r>
                <a:rPr lang="en-US" altLang="ko-KR" sz="800" kern="0" dirty="0">
                  <a:latin typeface="+mn-ea"/>
                </a:rPr>
                <a:t>(WMS</a:t>
              </a:r>
              <a:r>
                <a:rPr lang="en-US" altLang="ko-KR" sz="800" kern="0" dirty="0" smtClean="0">
                  <a:latin typeface="+mn-ea"/>
                </a:rPr>
                <a:t>) - </a:t>
              </a:r>
              <a:r>
                <a:rPr lang="ko-KR" altLang="en-US" sz="800" kern="0" dirty="0" err="1" smtClean="0">
                  <a:latin typeface="+mn-ea"/>
                </a:rPr>
                <a:t>초도출고</a:t>
              </a:r>
              <a:endParaRPr lang="en-US" altLang="ko-KR" sz="800" kern="0" dirty="0">
                <a:latin typeface="+mn-ea"/>
              </a:endParaRPr>
            </a:p>
            <a:p>
              <a:pPr lvl="0" algn="ctr" latinLnBrk="0">
                <a:spcBef>
                  <a:spcPct val="0"/>
                </a:spcBef>
                <a:defRPr/>
              </a:pPr>
              <a:r>
                <a:rPr lang="ko-KR" altLang="en-US" sz="800" kern="0" dirty="0">
                  <a:latin typeface="+mn-ea"/>
                </a:rPr>
                <a:t>반응출고등록</a:t>
              </a:r>
              <a:r>
                <a:rPr lang="en-US" altLang="ko-KR" sz="800" kern="0" dirty="0">
                  <a:latin typeface="+mn-ea"/>
                </a:rPr>
                <a:t>(WMS</a:t>
              </a:r>
              <a:r>
                <a:rPr lang="en-US" altLang="ko-KR" sz="800" kern="0" dirty="0" smtClean="0">
                  <a:latin typeface="+mn-ea"/>
                </a:rPr>
                <a:t>) – </a:t>
              </a:r>
              <a:r>
                <a:rPr lang="ko-KR" altLang="en-US" sz="800" kern="0" dirty="0" smtClean="0">
                  <a:latin typeface="+mn-ea"/>
                </a:rPr>
                <a:t>반응출고</a:t>
              </a:r>
              <a:endParaRPr lang="en-US" altLang="ko-KR" sz="800" kern="0" dirty="0">
                <a:latin typeface="+mn-ea"/>
              </a:endParaRPr>
            </a:p>
            <a:p>
              <a:pPr lvl="0" algn="ctr" latinLnBrk="0">
                <a:spcBef>
                  <a:spcPct val="0"/>
                </a:spcBef>
                <a:defRPr/>
              </a:pPr>
              <a:r>
                <a:rPr lang="ko-KR" altLang="en-US" sz="800" kern="0" dirty="0">
                  <a:latin typeface="+mn-ea"/>
                </a:rPr>
                <a:t>출고요청서</a:t>
              </a:r>
              <a:r>
                <a:rPr lang="en-US" altLang="ko-KR" sz="800" kern="0" dirty="0">
                  <a:latin typeface="+mn-ea"/>
                </a:rPr>
                <a:t>(WMS</a:t>
              </a:r>
              <a:r>
                <a:rPr lang="en-US" altLang="ko-KR" sz="800" kern="0" dirty="0" smtClean="0">
                  <a:latin typeface="+mn-ea"/>
                </a:rPr>
                <a:t>) – </a:t>
              </a:r>
              <a:r>
                <a:rPr lang="ko-KR" altLang="en-US" sz="800" kern="0" dirty="0" smtClean="0">
                  <a:latin typeface="+mn-ea"/>
                </a:rPr>
                <a:t>행사출고</a:t>
              </a:r>
              <a:r>
                <a:rPr lang="en-US" altLang="ko-KR" sz="800" kern="0" dirty="0" smtClean="0">
                  <a:latin typeface="+mn-ea"/>
                </a:rPr>
                <a:t>, </a:t>
              </a:r>
              <a:r>
                <a:rPr lang="ko-KR" altLang="en-US" sz="800" kern="0" dirty="0" err="1" smtClean="0">
                  <a:latin typeface="+mn-ea"/>
                </a:rPr>
                <a:t>선작업</a:t>
              </a:r>
              <a:endParaRPr lang="en-US" altLang="ko-KR" sz="800" kern="0" dirty="0">
                <a:latin typeface="+mn-ea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567663" y="3954756"/>
              <a:ext cx="1167697" cy="20078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err="1" smtClean="0">
                  <a:latin typeface="+mn-ea"/>
                  <a:cs typeface="Arial"/>
                </a:rPr>
                <a:t>화면명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78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120" y="5417958"/>
            <a:ext cx="1246863" cy="541426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소비자가</a:t>
            </a:r>
            <a:r>
              <a:rPr lang="en-US" altLang="ko-KR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/</a:t>
            </a:r>
          </a:p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할인마진율 등록여부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sp>
        <p:nvSpPr>
          <p:cNvPr id="80" name="순서도: 저장 데이터 7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990528" y="3922173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출고예정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63" idx="2"/>
            <a:endCxn id="80" idx="0"/>
          </p:cNvCxnSpPr>
          <p:nvPr/>
        </p:nvCxnSpPr>
        <p:spPr>
          <a:xfrm>
            <a:off x="1489864" y="3550220"/>
            <a:ext cx="0" cy="37195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78" idx="1"/>
            <a:endCxn id="195" idx="3"/>
          </p:cNvCxnSpPr>
          <p:nvPr/>
        </p:nvCxnSpPr>
        <p:spPr>
          <a:xfrm flipH="1" flipV="1">
            <a:off x="1894375" y="5687611"/>
            <a:ext cx="513745" cy="106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006" y="5492548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78" idx="2"/>
            <a:endCxn id="101" idx="0"/>
          </p:cNvCxnSpPr>
          <p:nvPr/>
        </p:nvCxnSpPr>
        <p:spPr>
          <a:xfrm flipH="1">
            <a:off x="3029545" y="5959384"/>
            <a:ext cx="2007" cy="12007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257040" y="6079460"/>
            <a:ext cx="1545235" cy="372332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0" name="TextBox 99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소비자가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매장 할인 마진율 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현업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02" name="직선 화살표 연결선 10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100" idx="1"/>
            <a:endCxn id="195" idx="3"/>
          </p:cNvCxnSpPr>
          <p:nvPr/>
        </p:nvCxnSpPr>
        <p:spPr>
          <a:xfrm rot="10800000">
            <a:off x="1894375" y="5687612"/>
            <a:ext cx="362890" cy="64757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968" y="5883198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7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09" y="4269233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532" y="5870270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lang="en-US" altLang="ko-KR" sz="700" b="0" dirty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12" y="5829076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28" idx="2"/>
            <a:endCxn id="20" idx="1"/>
          </p:cNvCxnSpPr>
          <p:nvPr/>
        </p:nvCxnSpPr>
        <p:spPr>
          <a:xfrm flipH="1">
            <a:off x="6154419" y="3613842"/>
            <a:ext cx="7704" cy="29332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endCxn id="226" idx="1"/>
          </p:cNvCxnSpPr>
          <p:nvPr/>
        </p:nvCxnSpPr>
        <p:spPr>
          <a:xfrm>
            <a:off x="1943675" y="3422772"/>
            <a:ext cx="196462" cy="433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그룹 102"/>
          <p:cNvGrpSpPr/>
          <p:nvPr/>
        </p:nvGrpSpPr>
        <p:grpSpPr>
          <a:xfrm>
            <a:off x="3935494" y="4444497"/>
            <a:ext cx="1446415" cy="615824"/>
            <a:chOff x="567662" y="3954757"/>
            <a:chExt cx="1167698" cy="526272"/>
          </a:xfrm>
          <a:solidFill>
            <a:schemeClr val="bg1">
              <a:lumMod val="95000"/>
            </a:schemeClr>
          </a:solidFill>
        </p:grpSpPr>
        <p:sp>
          <p:nvSpPr>
            <p:cNvPr id="104" name="TextBox 103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567662" y="4101727"/>
              <a:ext cx="1167698" cy="37930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latinLnBrk="0">
                <a:spcBef>
                  <a:spcPct val="0"/>
                </a:spcBef>
                <a:defRPr/>
              </a:pPr>
              <a:r>
                <a:rPr lang="en-US" altLang="ko-KR" sz="800" kern="0" dirty="0" smtClean="0">
                  <a:latin typeface="+mn-ea"/>
                </a:rPr>
                <a:t>WMS</a:t>
              </a:r>
              <a:r>
                <a:rPr lang="ko-KR" altLang="en-US" sz="800" kern="0" dirty="0" smtClean="0">
                  <a:latin typeface="+mn-ea"/>
                </a:rPr>
                <a:t>의 </a:t>
              </a:r>
              <a:r>
                <a:rPr lang="ko-KR" altLang="en-US" sz="800" kern="0" dirty="0" err="1" smtClean="0">
                  <a:latin typeface="+mn-ea"/>
                </a:rPr>
                <a:t>실가용수량</a:t>
              </a:r>
              <a:r>
                <a:rPr lang="ko-KR" altLang="en-US" sz="800" kern="0" dirty="0" smtClean="0">
                  <a:latin typeface="+mn-ea"/>
                </a:rPr>
                <a:t> 체크하여 수량이 부족할 경우 출고주문 보류처리 </a:t>
              </a:r>
              <a:r>
                <a:rPr lang="en-US" altLang="ko-KR" sz="800" b="1" kern="0" dirty="0" smtClean="0">
                  <a:latin typeface="+mn-ea"/>
                </a:rPr>
                <a:t>&gt;&gt; </a:t>
              </a:r>
              <a:r>
                <a:rPr lang="ko-KR" altLang="en-US" sz="800" b="1" kern="0" dirty="0" smtClean="0">
                  <a:latin typeface="+mn-ea"/>
                </a:rPr>
                <a:t>출고불가</a:t>
              </a:r>
              <a:endParaRPr lang="en-US" altLang="ko-KR" sz="800" b="1" kern="0" dirty="0">
                <a:latin typeface="+mn-ea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567663" y="3954757"/>
              <a:ext cx="1167697" cy="146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dirty="0" smtClean="0">
                  <a:latin typeface="+mn-ea"/>
                  <a:cs typeface="Arial"/>
                </a:rPr>
                <a:t>OMS &gt; WMS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111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5030" y="4400889"/>
            <a:ext cx="909850" cy="459297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err="1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실가용재고</a:t>
            </a: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 체크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cxnSp>
        <p:nvCxnSpPr>
          <p:cNvPr id="113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11" idx="2"/>
            <a:endCxn id="19" idx="0"/>
          </p:cNvCxnSpPr>
          <p:nvPr/>
        </p:nvCxnSpPr>
        <p:spPr>
          <a:xfrm flipH="1">
            <a:off x="6146925" y="4860186"/>
            <a:ext cx="3030" cy="103461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11" idx="1"/>
            <a:endCxn id="20" idx="2"/>
          </p:cNvCxnSpPr>
          <p:nvPr/>
        </p:nvCxnSpPr>
        <p:spPr>
          <a:xfrm rot="10800000" flipH="1">
            <a:off x="5695030" y="4091092"/>
            <a:ext cx="72226" cy="539447"/>
          </a:xfrm>
          <a:prstGeom prst="bentConnector3">
            <a:avLst>
              <a:gd name="adj1" fmla="val -316507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179" y="4790111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16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490" y="4441164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4777446" y="2510836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17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3"/>
            <a:endCxn id="130" idx="0"/>
          </p:cNvCxnSpPr>
          <p:nvPr/>
        </p:nvCxnSpPr>
        <p:spPr>
          <a:xfrm>
            <a:off x="5685329" y="2643443"/>
            <a:ext cx="476794" cy="387010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1"/>
            <a:endCxn id="164" idx="0"/>
          </p:cNvCxnSpPr>
          <p:nvPr/>
        </p:nvCxnSpPr>
        <p:spPr>
          <a:xfrm rot="10800000" flipV="1">
            <a:off x="1489864" y="2643442"/>
            <a:ext cx="3287582" cy="47356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561" y="2479241"/>
            <a:ext cx="459417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CASE 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20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809" y="2474348"/>
            <a:ext cx="459417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CASE 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5708311" y="3030453"/>
            <a:ext cx="907623" cy="583389"/>
            <a:chOff x="1032147" y="2870603"/>
            <a:chExt cx="907623" cy="583389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127" name="그룹 126">
              <a:extLst>
                <a:ext uri="{FF2B5EF4-FFF2-40B4-BE49-F238E27FC236}">
                  <a16:creationId xmlns="" xmlns:a16="http://schemas.microsoft.com/office/drawing/2014/main" id="{10695474-850F-EC09-67CD-F59C79C4CDAB}"/>
                </a:ext>
              </a:extLst>
            </p:cNvPr>
            <p:cNvGrpSpPr/>
            <p:nvPr/>
          </p:nvGrpSpPr>
          <p:grpSpPr>
            <a:xfrm>
              <a:off x="1032148" y="2870603"/>
              <a:ext cx="907622" cy="433216"/>
              <a:chOff x="3133664" y="2530764"/>
              <a:chExt cx="884154" cy="498763"/>
            </a:xfrm>
            <a:grpFill/>
          </p:grpSpPr>
          <p:sp>
            <p:nvSpPr>
              <p:cNvPr id="129" name="TextBox 128">
                <a:extLst>
                  <a:ext uri="{FF2B5EF4-FFF2-40B4-BE49-F238E27FC236}">
                    <a16:creationId xmlns="" xmlns:a16="http://schemas.microsoft.com/office/drawing/2014/main" id="{72C3D5AC-AD53-3617-B49F-FF6C316CA5CF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lvl="0" algn="ctr" latinLnBrk="0">
                  <a:spcBef>
                    <a:spcPct val="0"/>
                  </a:spcBef>
                  <a:defRPr/>
                </a:pPr>
                <a:r>
                  <a:rPr lang="ko-KR" altLang="en-US" sz="800" kern="0" dirty="0">
                    <a:latin typeface="+mn-ea"/>
                  </a:rPr>
                  <a:t>출고지시 등록</a:t>
                </a:r>
                <a:endParaRPr lang="en-US" altLang="ko-KR" sz="800" kern="0" dirty="0">
                  <a:latin typeface="+mn-ea"/>
                </a:endParaRPr>
              </a:p>
              <a:p>
                <a:pPr lvl="0" algn="ctr" latinLnBrk="0">
                  <a:spcBef>
                    <a:spcPct val="0"/>
                  </a:spcBef>
                  <a:defRPr/>
                </a:pPr>
                <a:r>
                  <a:rPr lang="en-US" altLang="ko-KR" sz="800" b="1" kern="0" dirty="0">
                    <a:latin typeface="+mn-ea"/>
                  </a:rPr>
                  <a:t>(</a:t>
                </a:r>
                <a:r>
                  <a:rPr lang="ko-KR" altLang="en-US" sz="800" b="1" kern="0" dirty="0" err="1">
                    <a:latin typeface="+mn-ea"/>
                  </a:rPr>
                  <a:t>선작업출고</a:t>
                </a:r>
                <a:r>
                  <a:rPr lang="ko-KR" altLang="en-US" sz="800" b="1" kern="0" dirty="0">
                    <a:latin typeface="+mn-ea"/>
                  </a:rPr>
                  <a:t> </a:t>
                </a:r>
                <a:r>
                  <a:rPr lang="en-US" altLang="ko-KR" sz="800" b="1" kern="0" dirty="0">
                    <a:latin typeface="+mn-ea"/>
                  </a:rPr>
                  <a:t>ONLY)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="" xmlns:a16="http://schemas.microsoft.com/office/drawing/2014/main" id="{88680670-B8DA-785E-A01C-049A6C6AC1CD}"/>
                  </a:ext>
                </a:extLst>
              </p:cNvPr>
              <p:cNvSpPr txBox="1"/>
              <p:nvPr/>
            </p:nvSpPr>
            <p:spPr>
              <a:xfrm>
                <a:off x="3133664" y="2530764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b="1" dirty="0" smtClean="0">
                    <a:latin typeface="+mn-ea"/>
                    <a:cs typeface="Arial"/>
                  </a:rPr>
                  <a:t>출고</a:t>
                </a: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 담당자</a:t>
                </a:r>
                <a:endPara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endParaRP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1032147" y="3293907"/>
              <a:ext cx="907623" cy="16008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120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선작업주문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355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</a:t>
            </a:r>
            <a:r>
              <a:rPr lang="en-US" altLang="ko-KR" sz="13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출고 프로세스 </a:t>
            </a: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업체출고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78996" y="2109009"/>
          <a:ext cx="9043945" cy="4379860"/>
        </p:xfrm>
        <a:graphic>
          <a:graphicData uri="http://schemas.openxmlformats.org/drawingml/2006/table">
            <a:tbl>
              <a:tblPr/>
              <a:tblGrid>
                <a:gridCol w="90439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7299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822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5453468" y="4610774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예정</a:t>
              </a:r>
              <a:r>
                <a:rPr kumimoji="0" lang="ko-KR" altLang="en-US" sz="800" dirty="0" smtClean="0">
                  <a:latin typeface="+mn-ea"/>
                  <a:ea typeface="+mn-ea"/>
                  <a:cs typeface="Arial"/>
                </a:rPr>
                <a:t>정보 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확인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20" name="순서도: 자기 디스크 19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5520116" y="3445851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OMS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3" name="직선 화살표 연결선 97">
            <a:extLst>
              <a:ext uri="{FF2B5EF4-FFF2-40B4-BE49-F238E27FC236}">
                <a16:creationId xmlns="" xmlns:a16="http://schemas.microsoft.com/office/drawing/2014/main" id="{DF7FEA19-7BAA-9956-E360-FB8B463B8C85}"/>
              </a:ext>
            </a:extLst>
          </p:cNvPr>
          <p:cNvCxnSpPr>
            <a:cxnSpLocks/>
            <a:stCxn id="80" idx="3"/>
            <a:endCxn id="20" idx="2"/>
          </p:cNvCxnSpPr>
          <p:nvPr/>
        </p:nvCxnSpPr>
        <p:spPr>
          <a:xfrm flipV="1">
            <a:off x="1773325" y="3629772"/>
            <a:ext cx="3746791" cy="13097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20" idx="3"/>
            <a:endCxn id="117" idx="0"/>
          </p:cNvCxnSpPr>
          <p:nvPr/>
        </p:nvCxnSpPr>
        <p:spPr>
          <a:xfrm>
            <a:off x="5907279" y="3813693"/>
            <a:ext cx="3969" cy="142170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86494" y="2487304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2"/>
            <a:endCxn id="164" idx="0"/>
          </p:cNvCxnSpPr>
          <p:nvPr/>
        </p:nvCxnSpPr>
        <p:spPr>
          <a:xfrm>
            <a:off x="1440436" y="2752517"/>
            <a:ext cx="130" cy="14243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183" y="2119200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4982955" y="2118670"/>
            <a:ext cx="41189" cy="437986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789" y="2127821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8236951" y="3032971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err="1" smtClean="0">
                  <a:latin typeface="+mn-ea"/>
                  <a:cs typeface="Arial"/>
                </a:rPr>
                <a:t>재고피킹</a:t>
              </a:r>
              <a:r>
                <a:rPr lang="en-US" altLang="ko-KR" sz="800" noProof="0" dirty="0" smtClean="0">
                  <a:latin typeface="+mn-ea"/>
                  <a:cs typeface="Arial"/>
                </a:rPr>
                <a:t>/</a:t>
              </a:r>
              <a:r>
                <a:rPr lang="ko-KR" altLang="en-US" sz="800" noProof="0" dirty="0" smtClean="0">
                  <a:latin typeface="+mn-ea"/>
                  <a:cs typeface="Arial"/>
                </a:rPr>
                <a:t>출고작업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70" name="직선 화살표 연결선 69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67" idx="2"/>
            <a:endCxn id="79" idx="0"/>
          </p:cNvCxnSpPr>
          <p:nvPr/>
        </p:nvCxnSpPr>
        <p:spPr>
          <a:xfrm>
            <a:off x="8690762" y="3466188"/>
            <a:ext cx="0" cy="18000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156">
            <a:extLst>
              <a:ext uri="{FF2B5EF4-FFF2-40B4-BE49-F238E27FC236}">
                <a16:creationId xmlns="" xmlns:a16="http://schemas.microsoft.com/office/drawing/2014/main" id="{CD6CBD41-B09E-C6F7-2290-91E2A1FAF070}"/>
              </a:ext>
            </a:extLst>
          </p:cNvPr>
          <p:cNvCxnSpPr>
            <a:cxnSpLocks/>
            <a:stCxn id="77" idx="2"/>
            <a:endCxn id="75" idx="0"/>
          </p:cNvCxnSpPr>
          <p:nvPr/>
        </p:nvCxnSpPr>
        <p:spPr>
          <a:xfrm>
            <a:off x="8690762" y="4083790"/>
            <a:ext cx="0" cy="18375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="" xmlns:a16="http://schemas.microsoft.com/office/drawing/2014/main" id="{3752D447-6614-0E7A-F417-A595E24C0ACF}"/>
              </a:ext>
            </a:extLst>
          </p:cNvPr>
          <p:cNvGrpSpPr/>
          <p:nvPr/>
        </p:nvGrpSpPr>
        <p:grpSpPr>
          <a:xfrm>
            <a:off x="8236951" y="4267548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9102DD79-1B4F-B1CF-3047-C215195ACBB1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출고확정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마감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81DE216D-F7F5-A7DA-2A18-BB6E5B070CE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="" xmlns:a16="http://schemas.microsoft.com/office/drawing/2014/main" id="{44D60099-09E3-18E2-AA99-0D648000DC51}"/>
              </a:ext>
            </a:extLst>
          </p:cNvPr>
          <p:cNvGrpSpPr/>
          <p:nvPr/>
        </p:nvGrpSpPr>
        <p:grpSpPr>
          <a:xfrm>
            <a:off x="8236951" y="3650573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7" name="TextBox 76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송장발행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1560D0F6-DA23-60C8-FCBE-F42955E85EC2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86" name="순서도: 자기 디스크 8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7093054" y="4177780"/>
            <a:ext cx="719956" cy="347555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8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73" idx="1"/>
            <a:endCxn id="86" idx="4"/>
          </p:cNvCxnSpPr>
          <p:nvPr/>
        </p:nvCxnSpPr>
        <p:spPr>
          <a:xfrm rot="10800000">
            <a:off x="7813011" y="4351559"/>
            <a:ext cx="423941" cy="213521"/>
          </a:xfrm>
          <a:prstGeom prst="bentConnector3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순서도: 저장 데이터 8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5435078" y="5420048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r>
              <a:rPr lang="en-US" altLang="ko-KR" sz="800" dirty="0">
                <a:latin typeface="+mn-ea"/>
                <a:cs typeface="Arial"/>
              </a:rPr>
              <a:t>I/F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cxnSp>
        <p:nvCxnSpPr>
          <p:cNvPr id="91" name="직선 화살표 연결선 97">
            <a:extLst>
              <a:ext uri="{FF2B5EF4-FFF2-40B4-BE49-F238E27FC236}">
                <a16:creationId xmlns="" xmlns:a16="http://schemas.microsoft.com/office/drawing/2014/main" id="{5AF667EB-BB0E-FFF8-B6A6-795181B956C0}"/>
              </a:ext>
            </a:extLst>
          </p:cNvPr>
          <p:cNvCxnSpPr>
            <a:cxnSpLocks/>
            <a:stCxn id="90" idx="1"/>
            <a:endCxn id="175" idx="4"/>
          </p:cNvCxnSpPr>
          <p:nvPr/>
        </p:nvCxnSpPr>
        <p:spPr>
          <a:xfrm flipH="1">
            <a:off x="4757487" y="5593826"/>
            <a:ext cx="677591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54">
            <a:extLst>
              <a:ext uri="{FF2B5EF4-FFF2-40B4-BE49-F238E27FC236}">
                <a16:creationId xmlns="" xmlns:a16="http://schemas.microsoft.com/office/drawing/2014/main" id="{93C79CEF-1514-7E58-0D59-73AB2A0C6F9B}"/>
              </a:ext>
            </a:extLst>
          </p:cNvPr>
          <p:cNvCxnSpPr>
            <a:cxnSpLocks/>
            <a:stCxn id="73" idx="2"/>
            <a:endCxn id="188" idx="1"/>
          </p:cNvCxnSpPr>
          <p:nvPr/>
        </p:nvCxnSpPr>
        <p:spPr>
          <a:xfrm>
            <a:off x="8690762" y="4700765"/>
            <a:ext cx="846" cy="70894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88" idx="2"/>
            <a:endCxn id="90" idx="3"/>
          </p:cNvCxnSpPr>
          <p:nvPr/>
        </p:nvCxnSpPr>
        <p:spPr>
          <a:xfrm flipH="1">
            <a:off x="6267304" y="5593628"/>
            <a:ext cx="2037141" cy="19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6817751" y="2109009"/>
            <a:ext cx="1" cy="437986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621" y="2118827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47" name="순서도: 자기 디스크 146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2488701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48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" idx="2"/>
            <a:endCxn id="147" idx="2"/>
          </p:cNvCxnSpPr>
          <p:nvPr/>
        </p:nvCxnSpPr>
        <p:spPr>
          <a:xfrm rot="5400000" flipH="1" flipV="1">
            <a:off x="5920178" y="2659723"/>
            <a:ext cx="2371368" cy="2397166"/>
          </a:xfrm>
          <a:prstGeom prst="bentConnector4">
            <a:avLst>
              <a:gd name="adj1" fmla="val -9640"/>
              <a:gd name="adj2" fmla="val 45033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47" idx="3"/>
            <a:endCxn id="69" idx="0"/>
          </p:cNvCxnSpPr>
          <p:nvPr/>
        </p:nvCxnSpPr>
        <p:spPr>
          <a:xfrm flipH="1">
            <a:off x="8690762" y="2856543"/>
            <a:ext cx="846" cy="17642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순서도: 자기 디스크 174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3983162" y="5420048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88" name="순서도: 자기 디스크 187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5409707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latin typeface="+mn-ea"/>
                <a:cs typeface="Arial"/>
              </a:rPr>
              <a:t>출고확정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94" name="그룹 193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986621" y="5307669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95" name="TextBox 194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창고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매장수불 생성 </a:t>
              </a:r>
              <a:r>
                <a:rPr lang="en-US" altLang="ko-KR" sz="800" dirty="0">
                  <a:latin typeface="+mn-ea"/>
                  <a:cs typeface="Arial"/>
                </a:rPr>
                <a:t>,</a:t>
              </a:r>
              <a:r>
                <a:rPr lang="ko-KR" altLang="en-US" sz="800" dirty="0" smtClean="0">
                  <a:latin typeface="+mn-ea"/>
                  <a:cs typeface="Arial"/>
                </a:rPr>
                <a:t>매장재고 갱신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5" idx="2"/>
            <a:endCxn id="78" idx="3"/>
          </p:cNvCxnSpPr>
          <p:nvPr/>
        </p:nvCxnSpPr>
        <p:spPr>
          <a:xfrm flipH="1">
            <a:off x="3654983" y="5603969"/>
            <a:ext cx="328179" cy="2322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순서도: 수행의 시작/종료 201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86494" y="6116899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95" idx="2"/>
            <a:endCxn id="202" idx="0"/>
          </p:cNvCxnSpPr>
          <p:nvPr/>
        </p:nvCxnSpPr>
        <p:spPr>
          <a:xfrm flipH="1">
            <a:off x="1440436" y="5740917"/>
            <a:ext cx="128" cy="37598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77103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23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710992" cy="63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센터 </a:t>
            </a:r>
            <a:r>
              <a:rPr lang="en-US" altLang="ko-KR" sz="1100" b="0" dirty="0" smtClean="0">
                <a:latin typeface="+mn-ea"/>
                <a:ea typeface="+mn-ea"/>
              </a:rPr>
              <a:t>&gt; </a:t>
            </a:r>
            <a:r>
              <a:rPr lang="ko-KR" altLang="en-US" sz="1100" b="0" dirty="0" smtClean="0">
                <a:latin typeface="+mn-ea"/>
                <a:ea typeface="+mn-ea"/>
              </a:rPr>
              <a:t>업체</a:t>
            </a:r>
            <a:r>
              <a:rPr lang="en-US" altLang="ko-KR" sz="1100" b="0" dirty="0" smtClean="0">
                <a:latin typeface="+mn-ea"/>
                <a:ea typeface="+mn-ea"/>
              </a:rPr>
              <a:t>(</a:t>
            </a:r>
            <a:r>
              <a:rPr lang="ko-KR" altLang="en-US" sz="1100" b="0" dirty="0" err="1" smtClean="0">
                <a:latin typeface="+mn-ea"/>
                <a:ea typeface="+mn-ea"/>
              </a:rPr>
              <a:t>생산처</a:t>
            </a:r>
            <a:r>
              <a:rPr lang="en-US" altLang="ko-KR" sz="1100" b="0" dirty="0" smtClean="0">
                <a:latin typeface="+mn-ea"/>
                <a:ea typeface="+mn-ea"/>
              </a:rPr>
              <a:t>)</a:t>
            </a:r>
            <a:r>
              <a:rPr lang="ko-KR" altLang="en-US" sz="1100" b="0" dirty="0" smtClean="0">
                <a:latin typeface="+mn-ea"/>
                <a:ea typeface="+mn-ea"/>
              </a:rPr>
              <a:t>로 출고되는 프로세스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출고 예정과 실적은 </a:t>
            </a:r>
            <a:r>
              <a:rPr lang="en-US" altLang="ko-KR" sz="1100" b="0" dirty="0" smtClean="0">
                <a:latin typeface="+mn-ea"/>
                <a:ea typeface="+mn-ea"/>
              </a:rPr>
              <a:t>Scheduler Job</a:t>
            </a:r>
            <a:r>
              <a:rPr lang="ko-KR" altLang="en-US" sz="1100" b="0" dirty="0" smtClean="0">
                <a:latin typeface="+mn-ea"/>
                <a:ea typeface="+mn-ea"/>
              </a:rPr>
              <a:t>으로 일정시간마다 자동 생성 </a:t>
            </a:r>
            <a:r>
              <a:rPr lang="en-US" altLang="ko-KR" sz="1100" b="0" dirty="0" smtClean="0">
                <a:latin typeface="+mn-ea"/>
                <a:ea typeface="+mn-ea"/>
              </a:rPr>
              <a:t>(F/A-ONE : 10</a:t>
            </a:r>
            <a:r>
              <a:rPr lang="ko-KR" altLang="en-US" sz="1100" b="0" dirty="0" smtClean="0">
                <a:latin typeface="+mn-ea"/>
                <a:ea typeface="+mn-ea"/>
              </a:rPr>
              <a:t>분</a:t>
            </a:r>
            <a:r>
              <a:rPr lang="en-US" altLang="ko-KR" sz="1100" b="0" dirty="0" smtClean="0">
                <a:latin typeface="+mn-ea"/>
                <a:ea typeface="+mn-ea"/>
              </a:rPr>
              <a:t>, WMS : 1</a:t>
            </a:r>
            <a:r>
              <a:rPr lang="ko-KR" altLang="en-US" sz="1100" b="0" dirty="0" smtClean="0">
                <a:latin typeface="+mn-ea"/>
                <a:ea typeface="+mn-ea"/>
              </a:rPr>
              <a:t>분 주기</a:t>
            </a:r>
            <a:r>
              <a:rPr lang="en-US" altLang="ko-KR" sz="1100" b="0" dirty="0" smtClean="0">
                <a:latin typeface="+mn-ea"/>
                <a:ea typeface="+mn-ea"/>
              </a:rPr>
              <a:t>)  //B2C/B2B CASE </a:t>
            </a:r>
            <a:r>
              <a:rPr lang="ko-KR" altLang="en-US" sz="1100" b="0" dirty="0" err="1" smtClean="0">
                <a:latin typeface="+mn-ea"/>
                <a:ea typeface="+mn-ea"/>
              </a:rPr>
              <a:t>다른거</a:t>
            </a:r>
            <a:r>
              <a:rPr lang="ko-KR" altLang="en-US" sz="1100" b="0" dirty="0" smtClean="0">
                <a:latin typeface="+mn-ea"/>
                <a:ea typeface="+mn-ea"/>
              </a:rPr>
              <a:t> 설명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986755" y="2894951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63" name="TextBox 162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latinLnBrk="0">
                <a:spcBef>
                  <a:spcPct val="0"/>
                </a:spcBef>
                <a:defRPr/>
              </a:pPr>
              <a:r>
                <a:rPr lang="ko-KR" altLang="en-US" sz="800" kern="0" dirty="0">
                  <a:latin typeface="+mn-ea"/>
                </a:rPr>
                <a:t>출고지시 등록</a:t>
              </a:r>
              <a:endParaRPr lang="en-US" altLang="ko-KR" sz="800" kern="0" dirty="0">
                <a:latin typeface="+mn-ea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78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120" y="5335578"/>
            <a:ext cx="1246863" cy="541426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소비자가</a:t>
            </a:r>
            <a:r>
              <a:rPr lang="en-US" altLang="ko-KR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/</a:t>
            </a:r>
          </a:p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할인마진율 등록여부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sp>
        <p:nvSpPr>
          <p:cNvPr id="80" name="순서도: 저장 데이터 7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941099" y="3469091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출고예정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63" idx="2"/>
            <a:endCxn id="80" idx="0"/>
          </p:cNvCxnSpPr>
          <p:nvPr/>
        </p:nvCxnSpPr>
        <p:spPr>
          <a:xfrm flipH="1">
            <a:off x="1440435" y="3328167"/>
            <a:ext cx="131" cy="14092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78" idx="1"/>
            <a:endCxn id="195" idx="3"/>
          </p:cNvCxnSpPr>
          <p:nvPr/>
        </p:nvCxnSpPr>
        <p:spPr>
          <a:xfrm flipH="1" flipV="1">
            <a:off x="1894377" y="5605233"/>
            <a:ext cx="513743" cy="105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006" y="5393692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78" idx="2"/>
            <a:endCxn id="101" idx="0"/>
          </p:cNvCxnSpPr>
          <p:nvPr/>
        </p:nvCxnSpPr>
        <p:spPr>
          <a:xfrm>
            <a:off x="3031552" y="5877004"/>
            <a:ext cx="582" cy="14154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578323" y="6018544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0" name="TextBox 99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소비자가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매장 할인 마진율 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현업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02" name="직선 화살표 연결선 10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100" idx="1"/>
            <a:endCxn id="195" idx="3"/>
          </p:cNvCxnSpPr>
          <p:nvPr/>
        </p:nvCxnSpPr>
        <p:spPr>
          <a:xfrm rot="10800000">
            <a:off x="1894375" y="5605232"/>
            <a:ext cx="684080" cy="71087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444" y="5850246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7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80" y="3799675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154" y="5787890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lang="en-US" altLang="ko-KR" sz="700" b="0" dirty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12" y="5746696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2090840" y="2867320"/>
            <a:ext cx="1673620" cy="511235"/>
            <a:chOff x="567460" y="3954756"/>
            <a:chExt cx="1167900" cy="686267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1" name="TextBox 110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567460" y="4136927"/>
              <a:ext cx="1167900" cy="504096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latinLnBrk="0">
                <a:spcBef>
                  <a:spcPct val="0"/>
                </a:spcBef>
                <a:defRPr/>
              </a:pPr>
              <a:r>
                <a:rPr lang="ko-KR" altLang="en-US" sz="800" kern="0" dirty="0" smtClean="0">
                  <a:latin typeface="+mn-ea"/>
                </a:rPr>
                <a:t>출고요청서</a:t>
              </a:r>
              <a:r>
                <a:rPr lang="en-US" altLang="ko-KR" sz="800" kern="0" dirty="0">
                  <a:latin typeface="+mn-ea"/>
                </a:rPr>
                <a:t>(WMS</a:t>
              </a:r>
              <a:r>
                <a:rPr lang="en-US" altLang="ko-KR" sz="800" kern="0" dirty="0" smtClean="0">
                  <a:latin typeface="+mn-ea"/>
                </a:rPr>
                <a:t>) –</a:t>
              </a:r>
              <a:r>
                <a:rPr lang="ko-KR" altLang="en-US" sz="800" kern="0" dirty="0" smtClean="0">
                  <a:latin typeface="+mn-ea"/>
                </a:rPr>
                <a:t>업체출고</a:t>
              </a:r>
              <a:endParaRPr lang="en-US" altLang="ko-KR" sz="800" kern="0" dirty="0"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567663" y="3954756"/>
              <a:ext cx="1167697" cy="20078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err="1" smtClean="0">
                  <a:latin typeface="+mn-ea"/>
                  <a:cs typeface="Arial"/>
                </a:rPr>
                <a:t>화면명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14" name="직선 연결선 113"/>
          <p:cNvCxnSpPr>
            <a:stCxn id="163" idx="3"/>
            <a:endCxn id="111" idx="1"/>
          </p:cNvCxnSpPr>
          <p:nvPr/>
        </p:nvCxnSpPr>
        <p:spPr>
          <a:xfrm flipV="1">
            <a:off x="1894377" y="3190792"/>
            <a:ext cx="196463" cy="1689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323" y="3955863"/>
            <a:ext cx="909850" cy="459297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err="1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실가용재고</a:t>
            </a: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 체크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cxnSp>
        <p:nvCxnSpPr>
          <p:cNvPr id="118" name="직선 화살표 연결선 113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17" idx="1"/>
            <a:endCxn id="20" idx="2"/>
          </p:cNvCxnSpPr>
          <p:nvPr/>
        </p:nvCxnSpPr>
        <p:spPr>
          <a:xfrm rot="10800000" flipH="1">
            <a:off x="5456322" y="3629772"/>
            <a:ext cx="63793" cy="555740"/>
          </a:xfrm>
          <a:prstGeom prst="bentConnector3">
            <a:avLst>
              <a:gd name="adj1" fmla="val -358347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078" y="4358772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20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5844" y="3989599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21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17" idx="2"/>
            <a:endCxn id="19" idx="0"/>
          </p:cNvCxnSpPr>
          <p:nvPr/>
        </p:nvCxnSpPr>
        <p:spPr>
          <a:xfrm flipH="1">
            <a:off x="5907279" y="4415160"/>
            <a:ext cx="3969" cy="195614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678956" y="4554586"/>
            <a:ext cx="2188738" cy="624941"/>
            <a:chOff x="1575722" y="4562640"/>
            <a:chExt cx="2188738" cy="624941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23" name="TextBox 122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1575722" y="4730494"/>
              <a:ext cx="2188738" cy="45708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latinLnBrk="0">
                <a:spcBef>
                  <a:spcPct val="0"/>
                </a:spcBef>
                <a:defRPr/>
              </a:pPr>
              <a:r>
                <a:rPr lang="en-US" altLang="ko-KR" sz="800" kern="0" dirty="0" smtClean="0">
                  <a:latin typeface="+mn-ea"/>
                </a:rPr>
                <a:t> 1) B2B &gt; </a:t>
              </a:r>
              <a:r>
                <a:rPr lang="ko-KR" altLang="en-US" sz="800" kern="0" dirty="0" err="1" smtClean="0">
                  <a:latin typeface="+mn-ea"/>
                </a:rPr>
                <a:t>생산처</a:t>
              </a:r>
              <a:r>
                <a:rPr lang="ko-KR" altLang="en-US" sz="800" kern="0" dirty="0" smtClean="0">
                  <a:latin typeface="+mn-ea"/>
                </a:rPr>
                <a:t> </a:t>
              </a:r>
              <a:r>
                <a:rPr lang="en-US" altLang="ko-KR" sz="800" kern="0" dirty="0" smtClean="0">
                  <a:latin typeface="+mn-ea"/>
                </a:rPr>
                <a:t>: YA &gt; </a:t>
              </a:r>
              <a:r>
                <a:rPr lang="ko-KR" altLang="en-US" sz="800" kern="0" dirty="0" err="1" smtClean="0">
                  <a:latin typeface="+mn-ea"/>
                </a:rPr>
                <a:t>생산처</a:t>
              </a:r>
              <a:r>
                <a:rPr lang="ko-KR" altLang="en-US" sz="800" kern="0" dirty="0" smtClean="0">
                  <a:latin typeface="+mn-ea"/>
                </a:rPr>
                <a:t> </a:t>
              </a:r>
              <a:r>
                <a:rPr lang="en-US" altLang="ko-KR" sz="800" kern="0" dirty="0" smtClean="0">
                  <a:latin typeface="+mn-ea"/>
                </a:rPr>
                <a:t>(</a:t>
              </a:r>
              <a:r>
                <a:rPr lang="ko-KR" altLang="en-US" sz="800" kern="0" dirty="0" smtClean="0">
                  <a:latin typeface="+mn-ea"/>
                </a:rPr>
                <a:t>입고반품 실적</a:t>
              </a:r>
              <a:r>
                <a:rPr lang="en-US" altLang="ko-KR" sz="800" kern="0" dirty="0" smtClean="0">
                  <a:latin typeface="+mn-ea"/>
                </a:rPr>
                <a:t>)</a:t>
              </a:r>
            </a:p>
            <a:p>
              <a:pPr lvl="0" latinLnBrk="0">
                <a:spcBef>
                  <a:spcPct val="0"/>
                </a:spcBef>
                <a:defRPr/>
              </a:pPr>
              <a:r>
                <a:rPr lang="en-US" altLang="ko-KR" sz="800" kern="0" dirty="0" smtClean="0">
                  <a:latin typeface="+mn-ea"/>
                </a:rPr>
                <a:t> 2) B2C &gt; </a:t>
              </a:r>
              <a:r>
                <a:rPr lang="ko-KR" altLang="en-US" sz="800" kern="0" dirty="0" err="1" smtClean="0">
                  <a:latin typeface="+mn-ea"/>
                </a:rPr>
                <a:t>생산처</a:t>
              </a:r>
              <a:r>
                <a:rPr lang="ko-KR" altLang="en-US" sz="800" kern="0" dirty="0" smtClean="0">
                  <a:latin typeface="+mn-ea"/>
                </a:rPr>
                <a:t> </a:t>
              </a:r>
              <a:r>
                <a:rPr lang="en-US" altLang="ko-KR" sz="800" kern="0" dirty="0" smtClean="0">
                  <a:latin typeface="+mn-ea"/>
                </a:rPr>
                <a:t>: </a:t>
              </a:r>
              <a:r>
                <a:rPr lang="ko-KR" altLang="en-US" sz="800" kern="0" dirty="0" smtClean="0">
                  <a:latin typeface="+mn-ea"/>
                </a:rPr>
                <a:t>매장 </a:t>
              </a:r>
              <a:r>
                <a:rPr lang="en-US" altLang="ko-KR" sz="800" kern="0" dirty="0" smtClean="0">
                  <a:latin typeface="+mn-ea"/>
                </a:rPr>
                <a:t>&gt; YA &gt; </a:t>
              </a:r>
              <a:r>
                <a:rPr lang="ko-KR" altLang="en-US" sz="800" kern="0" dirty="0" err="1" smtClean="0">
                  <a:latin typeface="+mn-ea"/>
                </a:rPr>
                <a:t>생산처</a:t>
              </a:r>
              <a:r>
                <a:rPr lang="ko-KR" altLang="en-US" sz="800" kern="0" dirty="0">
                  <a:latin typeface="+mn-ea"/>
                </a:rPr>
                <a:t> </a:t>
              </a:r>
              <a:endParaRPr lang="en-US" altLang="ko-KR" sz="800" kern="0" dirty="0" smtClean="0">
                <a:latin typeface="+mn-ea"/>
              </a:endParaRPr>
            </a:p>
            <a:p>
              <a:pPr lvl="0" latinLnBrk="0">
                <a:spcBef>
                  <a:spcPct val="0"/>
                </a:spcBef>
                <a:defRPr/>
              </a:pPr>
              <a:r>
                <a:rPr lang="en-US" altLang="ko-KR" sz="800" kern="0" dirty="0" smtClean="0">
                  <a:latin typeface="+mn-ea"/>
                </a:rPr>
                <a:t>    (</a:t>
              </a:r>
              <a:r>
                <a:rPr lang="ko-KR" altLang="en-US" sz="800" kern="0" dirty="0" smtClean="0">
                  <a:latin typeface="+mn-ea"/>
                </a:rPr>
                <a:t>매장반품</a:t>
              </a:r>
              <a:r>
                <a:rPr lang="en-US" altLang="ko-KR" sz="800" kern="0" dirty="0" smtClean="0">
                  <a:latin typeface="+mn-ea"/>
                </a:rPr>
                <a:t>, </a:t>
              </a:r>
              <a:r>
                <a:rPr lang="ko-KR" altLang="en-US" sz="800" kern="0" dirty="0" smtClean="0">
                  <a:latin typeface="+mn-ea"/>
                </a:rPr>
                <a:t>입고반품 실적</a:t>
              </a:r>
              <a:r>
                <a:rPr lang="en-US" altLang="ko-KR" sz="800" kern="0" dirty="0" smtClean="0">
                  <a:latin typeface="+mn-ea"/>
                </a:rPr>
                <a:t>)</a:t>
              </a:r>
              <a:endParaRPr lang="en-US" altLang="ko-KR" sz="800" kern="0" dirty="0">
                <a:latin typeface="+mn-ea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1576158" y="4562640"/>
              <a:ext cx="2188301" cy="172870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b="1" kern="0" dirty="0">
                  <a:latin typeface="+mn-ea"/>
                </a:rPr>
                <a:t>CASE</a:t>
              </a:r>
              <a:r>
                <a:rPr lang="ko-KR" altLang="en-US" sz="800" b="1" kern="0" dirty="0">
                  <a:latin typeface="+mn-ea"/>
                </a:rPr>
                <a:t>별 </a:t>
              </a:r>
              <a:r>
                <a:rPr lang="en-US" altLang="ko-KR" sz="800" b="1" kern="0" dirty="0">
                  <a:latin typeface="+mn-ea"/>
                </a:rPr>
                <a:t>F/A-ONE </a:t>
              </a:r>
              <a:r>
                <a:rPr lang="ko-KR" altLang="en-US" sz="800" b="1" kern="0" dirty="0">
                  <a:latin typeface="+mn-ea"/>
                </a:rPr>
                <a:t>실적 </a:t>
              </a:r>
              <a:r>
                <a:rPr lang="ko-KR" altLang="en-US" sz="800" b="1" kern="0" dirty="0" smtClean="0">
                  <a:latin typeface="+mn-ea"/>
                </a:rPr>
                <a:t>반영</a:t>
              </a:r>
              <a:endParaRPr lang="en-US" altLang="ko-KR" sz="800" b="1" kern="0" dirty="0">
                <a:latin typeface="+mn-ea"/>
              </a:endParaRPr>
            </a:p>
          </p:txBody>
        </p:sp>
      </p:grpSp>
      <p:sp>
        <p:nvSpPr>
          <p:cNvPr id="128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4. </a:t>
            </a:r>
            <a:r>
              <a:rPr lang="ko-KR" altLang="en-US" sz="1400" b="1" dirty="0" smtClean="0"/>
              <a:t>출고 프로세스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9333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</a:t>
            </a:r>
            <a:r>
              <a:rPr lang="en-US" altLang="ko-KR" sz="13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출고 </a:t>
            </a:r>
            <a:r>
              <a:rPr lang="ko-KR" altLang="en-US" sz="1400" b="1" dirty="0"/>
              <a:t>프로세스 </a:t>
            </a: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이관입출고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프로세스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356993"/>
              </p:ext>
            </p:extLst>
          </p:nvPr>
        </p:nvGraphicFramePr>
        <p:xfrm>
          <a:off x="478996" y="1268627"/>
          <a:ext cx="9043945" cy="5244474"/>
        </p:xfrm>
        <a:graphic>
          <a:graphicData uri="http://schemas.openxmlformats.org/drawingml/2006/table">
            <a:tbl>
              <a:tblPr/>
              <a:tblGrid>
                <a:gridCol w="90439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874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3283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순서도: 자기 디스크 19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5380173" y="2642292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OMS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34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20" idx="3"/>
            <a:endCxn id="118" idx="0"/>
          </p:cNvCxnSpPr>
          <p:nvPr/>
        </p:nvCxnSpPr>
        <p:spPr>
          <a:xfrm flipH="1">
            <a:off x="5763249" y="3010134"/>
            <a:ext cx="4087" cy="11670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3"/>
            <a:endCxn id="114" idx="0"/>
          </p:cNvCxnSpPr>
          <p:nvPr/>
        </p:nvCxnSpPr>
        <p:spPr>
          <a:xfrm>
            <a:off x="5005391" y="1790291"/>
            <a:ext cx="764983" cy="152777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417" y="1295134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4514335" y="1268627"/>
            <a:ext cx="49268" cy="5239054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2124" y="1295134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8236951" y="2217425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재고할당</a:t>
              </a:r>
              <a:r>
                <a:rPr lang="en-US" altLang="ko-KR" sz="800" noProof="0" dirty="0" smtClean="0">
                  <a:latin typeface="+mn-ea"/>
                  <a:cs typeface="Arial"/>
                </a:rPr>
                <a:t>/</a:t>
              </a:r>
              <a:r>
                <a:rPr lang="ko-KR" altLang="en-US" sz="800" noProof="0" dirty="0" smtClean="0">
                  <a:latin typeface="+mn-ea"/>
                  <a:cs typeface="Arial"/>
                </a:rPr>
                <a:t>출고작업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70" name="직선 화살표 연결선 69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67" idx="2"/>
            <a:endCxn id="79" idx="0"/>
          </p:cNvCxnSpPr>
          <p:nvPr/>
        </p:nvCxnSpPr>
        <p:spPr>
          <a:xfrm>
            <a:off x="8690762" y="2650642"/>
            <a:ext cx="0" cy="14319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156">
            <a:extLst>
              <a:ext uri="{FF2B5EF4-FFF2-40B4-BE49-F238E27FC236}">
                <a16:creationId xmlns="" xmlns:a16="http://schemas.microsoft.com/office/drawing/2014/main" id="{CD6CBD41-B09E-C6F7-2290-91E2A1FAF070}"/>
              </a:ext>
            </a:extLst>
          </p:cNvPr>
          <p:cNvCxnSpPr>
            <a:cxnSpLocks/>
            <a:stCxn id="77" idx="2"/>
            <a:endCxn id="75" idx="0"/>
          </p:cNvCxnSpPr>
          <p:nvPr/>
        </p:nvCxnSpPr>
        <p:spPr>
          <a:xfrm>
            <a:off x="8690762" y="3227054"/>
            <a:ext cx="0" cy="13433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="" xmlns:a16="http://schemas.microsoft.com/office/drawing/2014/main" id="{3752D447-6614-0E7A-F417-A595E24C0ACF}"/>
              </a:ext>
            </a:extLst>
          </p:cNvPr>
          <p:cNvGrpSpPr/>
          <p:nvPr/>
        </p:nvGrpSpPr>
        <p:grpSpPr>
          <a:xfrm>
            <a:off x="8236951" y="3361384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9102DD79-1B4F-B1CF-3047-C215195ACBB1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출고확정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81DE216D-F7F5-A7DA-2A18-BB6E5B070CE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="" xmlns:a16="http://schemas.microsoft.com/office/drawing/2014/main" id="{44D60099-09E3-18E2-AA99-0D648000DC51}"/>
              </a:ext>
            </a:extLst>
          </p:cNvPr>
          <p:cNvGrpSpPr/>
          <p:nvPr/>
        </p:nvGrpSpPr>
        <p:grpSpPr>
          <a:xfrm>
            <a:off x="8236951" y="2793837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7" name="TextBox 76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송장발행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1560D0F6-DA23-60C8-FCBE-F42955E85EC2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86" name="순서도: 자기 디스크 8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7114848" y="3087876"/>
            <a:ext cx="719956" cy="347555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8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73" idx="1"/>
            <a:endCxn id="86" idx="4"/>
          </p:cNvCxnSpPr>
          <p:nvPr/>
        </p:nvCxnSpPr>
        <p:spPr>
          <a:xfrm rot="10800000">
            <a:off x="7834805" y="3261655"/>
            <a:ext cx="402147" cy="397261"/>
          </a:xfrm>
          <a:prstGeom prst="bentConnector3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7">
            <a:extLst>
              <a:ext uri="{FF2B5EF4-FFF2-40B4-BE49-F238E27FC236}">
                <a16:creationId xmlns="" xmlns:a16="http://schemas.microsoft.com/office/drawing/2014/main" id="{5AF667EB-BB0E-FFF8-B6A6-795181B956C0}"/>
              </a:ext>
            </a:extLst>
          </p:cNvPr>
          <p:cNvCxnSpPr>
            <a:cxnSpLocks/>
            <a:stCxn id="90" idx="1"/>
            <a:endCxn id="175" idx="4"/>
          </p:cNvCxnSpPr>
          <p:nvPr/>
        </p:nvCxnSpPr>
        <p:spPr>
          <a:xfrm flipH="1">
            <a:off x="4353832" y="4098451"/>
            <a:ext cx="901616" cy="1446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54">
            <a:extLst>
              <a:ext uri="{FF2B5EF4-FFF2-40B4-BE49-F238E27FC236}">
                <a16:creationId xmlns="" xmlns:a16="http://schemas.microsoft.com/office/drawing/2014/main" id="{93C79CEF-1514-7E58-0D59-73AB2A0C6F9B}"/>
              </a:ext>
            </a:extLst>
          </p:cNvPr>
          <p:cNvCxnSpPr>
            <a:cxnSpLocks/>
            <a:stCxn id="73" idx="2"/>
            <a:endCxn id="188" idx="1"/>
          </p:cNvCxnSpPr>
          <p:nvPr/>
        </p:nvCxnSpPr>
        <p:spPr>
          <a:xfrm>
            <a:off x="8690762" y="3794601"/>
            <a:ext cx="846" cy="124044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88" idx="2"/>
            <a:endCxn id="90" idx="3"/>
          </p:cNvCxnSpPr>
          <p:nvPr/>
        </p:nvCxnSpPr>
        <p:spPr>
          <a:xfrm flipH="1" flipV="1">
            <a:off x="6087674" y="4098451"/>
            <a:ext cx="2216771" cy="4115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>
            <a:off x="6817751" y="1268627"/>
            <a:ext cx="1" cy="5220242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862" y="1286140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04" idx="2"/>
            <a:endCxn id="80" idx="0"/>
          </p:cNvCxnSpPr>
          <p:nvPr/>
        </p:nvCxnSpPr>
        <p:spPr>
          <a:xfrm>
            <a:off x="3444218" y="2533142"/>
            <a:ext cx="102" cy="11998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순서도: 자기 디스크 146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1706107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48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18" idx="3"/>
            <a:endCxn id="147" idx="2"/>
          </p:cNvCxnSpPr>
          <p:nvPr/>
        </p:nvCxnSpPr>
        <p:spPr>
          <a:xfrm flipV="1">
            <a:off x="6218174" y="1890028"/>
            <a:ext cx="2086271" cy="1466463"/>
          </a:xfrm>
          <a:prstGeom prst="bentConnector3">
            <a:avLst>
              <a:gd name="adj1" fmla="val 20386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47" idx="3"/>
            <a:endCxn id="69" idx="0"/>
          </p:cNvCxnSpPr>
          <p:nvPr/>
        </p:nvCxnSpPr>
        <p:spPr>
          <a:xfrm flipH="1">
            <a:off x="8690762" y="2073949"/>
            <a:ext cx="846" cy="143476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순서도: 자기 디스크 174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3579507" y="3928993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88" name="순서도: 자기 디스크 187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3918645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latin typeface="+mn-ea"/>
                <a:cs typeface="Arial"/>
              </a:rPr>
              <a:t>출고확정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5" idx="2"/>
            <a:endCxn id="78" idx="3"/>
          </p:cNvCxnSpPr>
          <p:nvPr/>
        </p:nvCxnSpPr>
        <p:spPr>
          <a:xfrm flipH="1">
            <a:off x="3251328" y="4112914"/>
            <a:ext cx="328179" cy="2322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465" y="3844523"/>
            <a:ext cx="1246863" cy="541426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소비자가</a:t>
            </a:r>
            <a:r>
              <a:rPr lang="en-US" altLang="ko-KR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/</a:t>
            </a:r>
          </a:p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할인마진율 등록여부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sp>
        <p:nvSpPr>
          <p:cNvPr id="80" name="순서도: 저장 데이터 7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2944984" y="2653127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출고예정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78" idx="1"/>
            <a:endCxn id="183" idx="0"/>
          </p:cNvCxnSpPr>
          <p:nvPr/>
        </p:nvCxnSpPr>
        <p:spPr>
          <a:xfrm rot="10800000" flipV="1">
            <a:off x="1000577" y="4115236"/>
            <a:ext cx="1003889" cy="1238610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351" y="3902637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78" idx="2"/>
            <a:endCxn id="101" idx="0"/>
          </p:cNvCxnSpPr>
          <p:nvPr/>
        </p:nvCxnSpPr>
        <p:spPr>
          <a:xfrm>
            <a:off x="2627897" y="4385949"/>
            <a:ext cx="582" cy="14977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174668" y="4535727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0" name="TextBox 99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소비자가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매장 할인 마진율 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현업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106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789" y="4383905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7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8789" y="2977588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7652" y="4282175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4097508" y="1657684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5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1"/>
            <a:endCxn id="84" idx="0"/>
          </p:cNvCxnSpPr>
          <p:nvPr/>
        </p:nvCxnSpPr>
        <p:spPr>
          <a:xfrm rot="10800000" flipV="1">
            <a:off x="3446568" y="1790291"/>
            <a:ext cx="650941" cy="157672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531" y="1589552"/>
            <a:ext cx="459417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CASE 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3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779" y="1584659"/>
            <a:ext cx="459417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CASE 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2990407" y="1947963"/>
            <a:ext cx="909971" cy="585179"/>
            <a:chOff x="1029799" y="2870603"/>
            <a:chExt cx="909971" cy="585179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82" name="그룹 81">
              <a:extLst>
                <a:ext uri="{FF2B5EF4-FFF2-40B4-BE49-F238E27FC236}">
                  <a16:creationId xmlns="" xmlns:a16="http://schemas.microsoft.com/office/drawing/2014/main" id="{10695474-850F-EC09-67CD-F59C79C4CDAB}"/>
                </a:ext>
              </a:extLst>
            </p:cNvPr>
            <p:cNvGrpSpPr/>
            <p:nvPr/>
          </p:nvGrpSpPr>
          <p:grpSpPr>
            <a:xfrm>
              <a:off x="1032148" y="2870603"/>
              <a:ext cx="907622" cy="433216"/>
              <a:chOff x="3133664" y="2530764"/>
              <a:chExt cx="884154" cy="498763"/>
            </a:xfrm>
            <a:grpFill/>
          </p:grpSpPr>
          <p:sp>
            <p:nvSpPr>
              <p:cNvPr id="83" name="TextBox 82">
                <a:extLst>
                  <a:ext uri="{FF2B5EF4-FFF2-40B4-BE49-F238E27FC236}">
                    <a16:creationId xmlns="" xmlns:a16="http://schemas.microsoft.com/office/drawing/2014/main" id="{72C3D5AC-AD53-3617-B49F-FF6C316CA5CF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800" kern="0" dirty="0">
                    <a:latin typeface="+mn-ea"/>
                  </a:rPr>
                  <a:t>출고지시 </a:t>
                </a:r>
                <a:r>
                  <a:rPr lang="ko-KR" altLang="en-US" sz="800" kern="0" dirty="0" smtClean="0">
                    <a:latin typeface="+mn-ea"/>
                  </a:rPr>
                  <a:t>등록</a:t>
                </a:r>
                <a:endParaRPr lang="en-US" altLang="ko-KR" sz="800" kern="0" dirty="0">
                  <a:latin typeface="+mn-ea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="" xmlns:a16="http://schemas.microsoft.com/office/drawing/2014/main" id="{88680670-B8DA-785E-A01C-049A6C6AC1CD}"/>
                  </a:ext>
                </a:extLst>
              </p:cNvPr>
              <p:cNvSpPr txBox="1"/>
              <p:nvPr/>
            </p:nvSpPr>
            <p:spPr>
              <a:xfrm>
                <a:off x="3133664" y="2530764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현업 담당자</a:t>
                </a:r>
                <a:endPara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1029799" y="3293907"/>
              <a:ext cx="907622" cy="16187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출고요청서</a:t>
              </a:r>
              <a:r>
                <a:rPr lang="en-US" altLang="ko-KR" sz="800" dirty="0" smtClean="0">
                  <a:latin typeface="+mn-ea"/>
                  <a:cs typeface="Arial"/>
                </a:rPr>
                <a:t>(WMS)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5316562" y="1943068"/>
            <a:ext cx="907623" cy="583389"/>
            <a:chOff x="1032147" y="2870603"/>
            <a:chExt cx="907623" cy="583389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111" name="그룹 110">
              <a:extLst>
                <a:ext uri="{FF2B5EF4-FFF2-40B4-BE49-F238E27FC236}">
                  <a16:creationId xmlns="" xmlns:a16="http://schemas.microsoft.com/office/drawing/2014/main" id="{10695474-850F-EC09-67CD-F59C79C4CDAB}"/>
                </a:ext>
              </a:extLst>
            </p:cNvPr>
            <p:cNvGrpSpPr/>
            <p:nvPr/>
          </p:nvGrpSpPr>
          <p:grpSpPr>
            <a:xfrm>
              <a:off x="1032148" y="2870603"/>
              <a:ext cx="907622" cy="433216"/>
              <a:chOff x="3133664" y="2530764"/>
              <a:chExt cx="884154" cy="498763"/>
            </a:xfrm>
            <a:grpFill/>
          </p:grpSpPr>
          <p:sp>
            <p:nvSpPr>
              <p:cNvPr id="113" name="TextBox 112">
                <a:extLst>
                  <a:ext uri="{FF2B5EF4-FFF2-40B4-BE49-F238E27FC236}">
                    <a16:creationId xmlns="" xmlns:a16="http://schemas.microsoft.com/office/drawing/2014/main" id="{72C3D5AC-AD53-3617-B49F-FF6C316CA5CF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800" kern="0" dirty="0">
                    <a:latin typeface="+mn-ea"/>
                  </a:rPr>
                  <a:t>출고지시 </a:t>
                </a:r>
                <a:r>
                  <a:rPr lang="ko-KR" altLang="en-US" sz="800" kern="0" dirty="0" smtClean="0">
                    <a:latin typeface="+mn-ea"/>
                  </a:rPr>
                  <a:t>등록</a:t>
                </a:r>
                <a:endParaRPr lang="en-US" altLang="ko-KR" sz="800" kern="0" dirty="0">
                  <a:latin typeface="+mn-ea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="" xmlns:a16="http://schemas.microsoft.com/office/drawing/2014/main" id="{88680670-B8DA-785E-A01C-049A6C6AC1CD}"/>
                  </a:ext>
                </a:extLst>
              </p:cNvPr>
              <p:cNvSpPr txBox="1"/>
              <p:nvPr/>
            </p:nvSpPr>
            <p:spPr>
              <a:xfrm>
                <a:off x="3133664" y="2530764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b="1" dirty="0" smtClean="0">
                    <a:latin typeface="+mn-ea"/>
                    <a:cs typeface="Arial"/>
                  </a:rPr>
                  <a:t>출고</a:t>
                </a: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 담당자</a:t>
                </a:r>
                <a:endPara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1032147" y="3293907"/>
              <a:ext cx="907623" cy="16008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센터이관주문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15" name="직선 화살표 연결선 114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12" idx="2"/>
            <a:endCxn id="20" idx="1"/>
          </p:cNvCxnSpPr>
          <p:nvPr/>
        </p:nvCxnSpPr>
        <p:spPr>
          <a:xfrm flipH="1">
            <a:off x="5767336" y="2526457"/>
            <a:ext cx="3038" cy="11583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80" idx="3"/>
            <a:endCxn id="20" idx="2"/>
          </p:cNvCxnSpPr>
          <p:nvPr/>
        </p:nvCxnSpPr>
        <p:spPr>
          <a:xfrm flipV="1">
            <a:off x="3777210" y="2826213"/>
            <a:ext cx="1602963" cy="692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순서도: 자기 디스크 132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4699909" y="4421246"/>
            <a:ext cx="774325" cy="367842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OMS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39" name="순서도: 자기 디스크 138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4412085"/>
            <a:ext cx="774325" cy="367842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90" name="순서도: 저장 데이터 8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5255448" y="3924673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r>
              <a:rPr lang="en-US" altLang="ko-KR" sz="800" dirty="0">
                <a:latin typeface="+mn-ea"/>
                <a:cs typeface="Arial"/>
              </a:rPr>
              <a:t>I/F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cxnSp>
        <p:nvCxnSpPr>
          <p:cNvPr id="146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73" idx="1"/>
            <a:endCxn id="133" idx="1"/>
          </p:cNvCxnSpPr>
          <p:nvPr/>
        </p:nvCxnSpPr>
        <p:spPr>
          <a:xfrm rot="10800000" flipV="1">
            <a:off x="5087073" y="3658914"/>
            <a:ext cx="3149879" cy="762331"/>
          </a:xfrm>
          <a:prstGeom prst="bentConnector2">
            <a:avLst/>
          </a:prstGeom>
          <a:ln w="31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33" idx="4"/>
            <a:endCxn id="139" idx="2"/>
          </p:cNvCxnSpPr>
          <p:nvPr/>
        </p:nvCxnSpPr>
        <p:spPr>
          <a:xfrm flipV="1">
            <a:off x="5474234" y="4596006"/>
            <a:ext cx="2830211" cy="9161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그룹 152">
            <a:extLst>
              <a:ext uri="{FF2B5EF4-FFF2-40B4-BE49-F238E27FC236}">
                <a16:creationId xmlns="" xmlns:a16="http://schemas.microsoft.com/office/drawing/2014/main" id="{44D60099-09E3-18E2-AA99-0D648000DC51}"/>
              </a:ext>
            </a:extLst>
          </p:cNvPr>
          <p:cNvGrpSpPr/>
          <p:nvPr/>
        </p:nvGrpSpPr>
        <p:grpSpPr>
          <a:xfrm>
            <a:off x="8236533" y="4899192"/>
            <a:ext cx="907622" cy="433217"/>
            <a:chOff x="3133664" y="2530763"/>
            <a:chExt cx="884154" cy="498764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54" name="TextBox 153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입고확정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마감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="" xmlns:a16="http://schemas.microsoft.com/office/drawing/2014/main" id="{1560D0F6-DA23-60C8-FCBE-F42955E85EC2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입고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165" name="연결선: 꺾임 54">
            <a:extLst>
              <a:ext uri="{FF2B5EF4-FFF2-40B4-BE49-F238E27FC236}">
                <a16:creationId xmlns="" xmlns:a16="http://schemas.microsoft.com/office/drawing/2014/main" id="{93C79CEF-1514-7E58-0D59-73AB2A0C6F9B}"/>
              </a:ext>
            </a:extLst>
          </p:cNvPr>
          <p:cNvCxnSpPr>
            <a:cxnSpLocks/>
            <a:stCxn id="139" idx="3"/>
            <a:endCxn id="155" idx="0"/>
          </p:cNvCxnSpPr>
          <p:nvPr/>
        </p:nvCxnSpPr>
        <p:spPr>
          <a:xfrm flipH="1">
            <a:off x="8690344" y="4779927"/>
            <a:ext cx="1264" cy="119265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순서도: 자기 디스크 165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6486" y="5460309"/>
            <a:ext cx="774325" cy="367842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입고확정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67" name="순서도: 저장 데이터 166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5254043" y="5470452"/>
            <a:ext cx="998671" cy="347555"/>
          </a:xfrm>
          <a:prstGeom prst="flowChartOnlineStorage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입고실적</a:t>
            </a:r>
            <a:r>
              <a:rPr lang="en-US" altLang="ko-KR" sz="800" dirty="0">
                <a:latin typeface="+mn-ea"/>
                <a:cs typeface="Arial"/>
              </a:rPr>
              <a:t>I/F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cxnSp>
        <p:nvCxnSpPr>
          <p:cNvPr id="169" name="연결선: 꺾임 54">
            <a:extLst>
              <a:ext uri="{FF2B5EF4-FFF2-40B4-BE49-F238E27FC236}">
                <a16:creationId xmlns="" xmlns:a16="http://schemas.microsoft.com/office/drawing/2014/main" id="{93C79CEF-1514-7E58-0D59-73AB2A0C6F9B}"/>
              </a:ext>
            </a:extLst>
          </p:cNvPr>
          <p:cNvCxnSpPr>
            <a:cxnSpLocks/>
            <a:stCxn id="154" idx="2"/>
            <a:endCxn id="166" idx="1"/>
          </p:cNvCxnSpPr>
          <p:nvPr/>
        </p:nvCxnSpPr>
        <p:spPr>
          <a:xfrm>
            <a:off x="8690344" y="5332409"/>
            <a:ext cx="3305" cy="12790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66" idx="2"/>
            <a:endCxn id="167" idx="3"/>
          </p:cNvCxnSpPr>
          <p:nvPr/>
        </p:nvCxnSpPr>
        <p:spPr>
          <a:xfrm flipH="1">
            <a:off x="6086269" y="5644230"/>
            <a:ext cx="2220217" cy="0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4283" y="5826524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76" name="순서도: 자기 디스크 175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3524109" y="5470452"/>
            <a:ext cx="774325" cy="367842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입고실적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77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6" idx="2"/>
            <a:endCxn id="186" idx="3"/>
          </p:cNvCxnSpPr>
          <p:nvPr/>
        </p:nvCxnSpPr>
        <p:spPr>
          <a:xfrm flipH="1" flipV="1">
            <a:off x="3206889" y="5644230"/>
            <a:ext cx="317220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67" idx="1"/>
            <a:endCxn id="176" idx="4"/>
          </p:cNvCxnSpPr>
          <p:nvPr/>
        </p:nvCxnSpPr>
        <p:spPr>
          <a:xfrm flipH="1">
            <a:off x="4298434" y="5644230"/>
            <a:ext cx="955609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그룹 180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546765" y="5353846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82" name="TextBox 181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창고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매장수불 생성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184" name="순서도: 수행의 시작/종료 183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540144" y="6174434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185" name="직선 화살표 연결선 184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82" idx="2"/>
            <a:endCxn id="184" idx="0"/>
          </p:cNvCxnSpPr>
          <p:nvPr/>
        </p:nvCxnSpPr>
        <p:spPr>
          <a:xfrm flipH="1">
            <a:off x="994086" y="5787094"/>
            <a:ext cx="6622" cy="38734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026" y="5373517"/>
            <a:ext cx="1246863" cy="541426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소비자가</a:t>
            </a:r>
            <a:r>
              <a:rPr lang="en-US" altLang="ko-KR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/</a:t>
            </a:r>
          </a:p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생산공임단가 등록여부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cxnSp>
        <p:nvCxnSpPr>
          <p:cNvPr id="187" name="직선 화살표 연결선 186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endCxn id="182" idx="3"/>
          </p:cNvCxnSpPr>
          <p:nvPr/>
        </p:nvCxnSpPr>
        <p:spPr>
          <a:xfrm flipH="1" flipV="1">
            <a:off x="1454521" y="5651410"/>
            <a:ext cx="513743" cy="105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150" y="5439869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90" name="직선 화살표 연결선 189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186" idx="2"/>
            <a:endCxn id="193" idx="0"/>
          </p:cNvCxnSpPr>
          <p:nvPr/>
        </p:nvCxnSpPr>
        <p:spPr>
          <a:xfrm>
            <a:off x="2583458" y="5914943"/>
            <a:ext cx="4064" cy="12398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1" name="그룹 190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133711" y="6038923"/>
            <a:ext cx="907754" cy="433248"/>
            <a:chOff x="3133535" y="2530727"/>
            <a:chExt cx="884283" cy="4988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92" name="TextBox 191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소비자가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>
                  <a:latin typeface="+mn-ea"/>
                  <a:cs typeface="Arial"/>
                </a:rPr>
                <a:t> </a:t>
              </a:r>
              <a:r>
                <a:rPr lang="ko-KR" altLang="en-US" sz="800" dirty="0" smtClean="0">
                  <a:latin typeface="+mn-ea"/>
                  <a:cs typeface="Arial"/>
                </a:rPr>
                <a:t>생산 공임단가 등록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현업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97" name="직선 화살표 연결선 101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192" idx="1"/>
            <a:endCxn id="182" idx="3"/>
          </p:cNvCxnSpPr>
          <p:nvPr/>
        </p:nvCxnSpPr>
        <p:spPr>
          <a:xfrm rot="10800000">
            <a:off x="1454519" y="5651409"/>
            <a:ext cx="679324" cy="685077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362" y="5890889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200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56" y="5792879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79" name="직선 연결선 178"/>
          <p:cNvCxnSpPr>
            <a:endCxn id="100" idx="1"/>
          </p:cNvCxnSpPr>
          <p:nvPr/>
        </p:nvCxnSpPr>
        <p:spPr>
          <a:xfrm rot="16200000" flipH="1">
            <a:off x="1613616" y="4272104"/>
            <a:ext cx="720373" cy="401996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순서도: 자기 디스크 21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7145173" y="5978024"/>
            <a:ext cx="719956" cy="347555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17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166" idx="2"/>
            <a:endCxn id="216" idx="4"/>
          </p:cNvCxnSpPr>
          <p:nvPr/>
        </p:nvCxnSpPr>
        <p:spPr>
          <a:xfrm rot="10800000" flipV="1">
            <a:off x="7865130" y="5644230"/>
            <a:ext cx="441357" cy="507572"/>
          </a:xfrm>
          <a:prstGeom prst="bentConnector3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6171559" y="368150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FF0000"/>
                </a:solidFill>
              </a:rPr>
              <a:t>*. </a:t>
            </a:r>
            <a:r>
              <a:rPr lang="ko-KR" altLang="en-US" sz="900" dirty="0" smtClean="0">
                <a:solidFill>
                  <a:srgbClr val="FF0000"/>
                </a:solidFill>
              </a:rPr>
              <a:t>출고센터에서 이관출고 확정 시 </a:t>
            </a:r>
            <a:endParaRPr lang="en-US" altLang="ko-KR" sz="900" dirty="0" smtClean="0">
              <a:solidFill>
                <a:srgbClr val="FF0000"/>
              </a:solidFill>
            </a:endParaRPr>
          </a:p>
          <a:p>
            <a:r>
              <a:rPr lang="ko-KR" altLang="en-US" sz="900" dirty="0" smtClean="0">
                <a:solidFill>
                  <a:srgbClr val="FF0000"/>
                </a:solidFill>
              </a:rPr>
              <a:t>자동으로 </a:t>
            </a:r>
            <a:r>
              <a:rPr lang="en-US" altLang="ko-KR" sz="900" dirty="0" smtClean="0">
                <a:solidFill>
                  <a:srgbClr val="FF0000"/>
                </a:solidFill>
              </a:rPr>
              <a:t>OMS</a:t>
            </a:r>
            <a:r>
              <a:rPr lang="ko-KR" altLang="en-US" sz="900" dirty="0" smtClean="0">
                <a:solidFill>
                  <a:srgbClr val="FF0000"/>
                </a:solidFill>
              </a:rPr>
              <a:t>에 이관입고예정정보 생성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507789" y="5309974"/>
            <a:ext cx="1001732" cy="5330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324" y="3126842"/>
            <a:ext cx="909850" cy="459297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err="1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실가용재고</a:t>
            </a: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 체크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cxnSp>
        <p:nvCxnSpPr>
          <p:cNvPr id="119" name="직선 화살표 연결선 113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18" idx="1"/>
            <a:endCxn id="20" idx="2"/>
          </p:cNvCxnSpPr>
          <p:nvPr/>
        </p:nvCxnSpPr>
        <p:spPr>
          <a:xfrm rot="10800000" flipH="1">
            <a:off x="5308323" y="2826213"/>
            <a:ext cx="71849" cy="530278"/>
          </a:xfrm>
          <a:prstGeom prst="bentConnector3">
            <a:avLst>
              <a:gd name="adj1" fmla="val -318167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47" y="3176175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Y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21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794" y="3176175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4. </a:t>
            </a:r>
            <a:r>
              <a:rPr lang="ko-KR" altLang="en-US" sz="1400" b="1" dirty="0" smtClean="0"/>
              <a:t>출고 프로세스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5740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3-1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이관입출고</a:t>
            </a:r>
            <a:r>
              <a:rPr lang="en-US" altLang="ko-KR" sz="1400" b="1" dirty="0" smtClean="0"/>
              <a:t> CASE</a:t>
            </a:r>
            <a:r>
              <a:rPr lang="ko-KR" altLang="en-US" sz="1400" b="1" dirty="0" smtClean="0"/>
              <a:t>별 </a:t>
            </a:r>
            <a:r>
              <a:rPr lang="en-US" altLang="ko-KR" sz="1400" b="1" dirty="0" smtClean="0"/>
              <a:t>F/A-ONE </a:t>
            </a:r>
            <a:r>
              <a:rPr lang="ko-KR" altLang="en-US" sz="1400" b="1" dirty="0" smtClean="0"/>
              <a:t>실적 반영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sp>
        <p:nvSpPr>
          <p:cNvPr id="118" name="Text Box 12"/>
          <p:cNvSpPr txBox="1">
            <a:spLocks noChangeArrowheads="1"/>
          </p:cNvSpPr>
          <p:nvPr/>
        </p:nvSpPr>
        <p:spPr bwMode="auto">
          <a:xfrm>
            <a:off x="1173019" y="1474107"/>
            <a:ext cx="2982124" cy="34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latin typeface="+mn-ea"/>
                <a:ea typeface="+mn-ea"/>
              </a:rPr>
              <a:t>CASE 1.</a:t>
            </a:r>
            <a:r>
              <a:rPr lang="en-US" altLang="ko-KR" sz="1100" b="0" dirty="0" smtClean="0">
                <a:latin typeface="+mn-ea"/>
                <a:ea typeface="+mn-ea"/>
              </a:rPr>
              <a:t> B2B</a:t>
            </a:r>
            <a:r>
              <a:rPr lang="ko-KR" altLang="en-US" sz="1100" b="0" dirty="0" smtClean="0">
                <a:latin typeface="+mn-ea"/>
                <a:ea typeface="+mn-ea"/>
              </a:rPr>
              <a:t>센터 </a:t>
            </a:r>
            <a:r>
              <a:rPr lang="en-US" altLang="ko-KR" sz="1100" b="0" dirty="0" smtClean="0">
                <a:latin typeface="+mn-ea"/>
                <a:ea typeface="+mn-ea"/>
              </a:rPr>
              <a:t>&gt; B2B</a:t>
            </a:r>
            <a:r>
              <a:rPr lang="ko-KR" altLang="en-US" sz="1100" b="0" dirty="0" smtClean="0">
                <a:latin typeface="+mn-ea"/>
                <a:ea typeface="+mn-ea"/>
              </a:rPr>
              <a:t>센터 이관입출고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sp>
        <p:nvSpPr>
          <p:cNvPr id="122" name="Text Box 12"/>
          <p:cNvSpPr txBox="1">
            <a:spLocks noChangeArrowheads="1"/>
          </p:cNvSpPr>
          <p:nvPr/>
        </p:nvSpPr>
        <p:spPr bwMode="auto">
          <a:xfrm>
            <a:off x="5356330" y="1474107"/>
            <a:ext cx="2982124" cy="34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  <a:ea typeface="+mn-ea"/>
              </a:rPr>
              <a:t>CASE 2.</a:t>
            </a:r>
            <a:r>
              <a:rPr lang="en-US" altLang="ko-KR" sz="1100" b="0" dirty="0">
                <a:latin typeface="+mn-ea"/>
                <a:ea typeface="+mn-ea"/>
              </a:rPr>
              <a:t> B2B</a:t>
            </a:r>
            <a:r>
              <a:rPr lang="ko-KR" altLang="en-US" sz="1100" b="0" dirty="0">
                <a:latin typeface="+mn-ea"/>
                <a:ea typeface="+mn-ea"/>
              </a:rPr>
              <a:t>센터 </a:t>
            </a:r>
            <a:r>
              <a:rPr lang="en-US" altLang="ko-KR" sz="1100" b="0" dirty="0">
                <a:latin typeface="+mn-ea"/>
                <a:ea typeface="+mn-ea"/>
              </a:rPr>
              <a:t>&gt; B2C</a:t>
            </a:r>
            <a:r>
              <a:rPr lang="ko-KR" altLang="en-US" sz="1100" b="0" dirty="0">
                <a:latin typeface="+mn-ea"/>
                <a:ea typeface="+mn-ea"/>
              </a:rPr>
              <a:t>센터 </a:t>
            </a:r>
            <a:r>
              <a:rPr lang="ko-KR" altLang="en-US" sz="1100" b="0" dirty="0" smtClean="0">
                <a:latin typeface="+mn-ea"/>
                <a:ea typeface="+mn-ea"/>
              </a:rPr>
              <a:t>이관입출고</a:t>
            </a:r>
            <a:endParaRPr lang="ko-KR" altLang="en-US" sz="1100" b="0" dirty="0">
              <a:latin typeface="+mn-ea"/>
              <a:ea typeface="+mn-ea"/>
            </a:endParaRPr>
          </a:p>
        </p:txBody>
      </p:sp>
      <p:sp>
        <p:nvSpPr>
          <p:cNvPr id="123" name="Text Box 12"/>
          <p:cNvSpPr txBox="1">
            <a:spLocks noChangeArrowheads="1"/>
          </p:cNvSpPr>
          <p:nvPr/>
        </p:nvSpPr>
        <p:spPr bwMode="auto">
          <a:xfrm>
            <a:off x="1173019" y="3907129"/>
            <a:ext cx="2982124" cy="34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  <a:ea typeface="+mn-ea"/>
              </a:rPr>
              <a:t>CASE 3.</a:t>
            </a:r>
            <a:r>
              <a:rPr lang="en-US" altLang="ko-KR" sz="1100" b="0" dirty="0">
                <a:latin typeface="+mn-ea"/>
                <a:ea typeface="+mn-ea"/>
              </a:rPr>
              <a:t> B2C</a:t>
            </a:r>
            <a:r>
              <a:rPr lang="ko-KR" altLang="en-US" sz="1100" b="0" dirty="0">
                <a:latin typeface="+mn-ea"/>
                <a:ea typeface="+mn-ea"/>
              </a:rPr>
              <a:t>센터 </a:t>
            </a:r>
            <a:r>
              <a:rPr lang="en-US" altLang="ko-KR" sz="1100" b="0" dirty="0">
                <a:latin typeface="+mn-ea"/>
                <a:ea typeface="+mn-ea"/>
              </a:rPr>
              <a:t>&gt; B2B</a:t>
            </a:r>
            <a:r>
              <a:rPr lang="ko-KR" altLang="en-US" sz="1100" b="0" dirty="0">
                <a:latin typeface="+mn-ea"/>
                <a:ea typeface="+mn-ea"/>
              </a:rPr>
              <a:t>센터 </a:t>
            </a:r>
            <a:r>
              <a:rPr lang="ko-KR" altLang="en-US" sz="1100" b="0" dirty="0" smtClean="0">
                <a:latin typeface="+mn-ea"/>
                <a:ea typeface="+mn-ea"/>
              </a:rPr>
              <a:t>이관입출고</a:t>
            </a:r>
            <a:endParaRPr lang="ko-KR" altLang="en-US" sz="1100" b="0" dirty="0">
              <a:latin typeface="+mn-ea"/>
              <a:ea typeface="+mn-ea"/>
            </a:endParaRPr>
          </a:p>
        </p:txBody>
      </p:sp>
      <p:sp>
        <p:nvSpPr>
          <p:cNvPr id="124" name="Text Box 12"/>
          <p:cNvSpPr txBox="1">
            <a:spLocks noChangeArrowheads="1"/>
          </p:cNvSpPr>
          <p:nvPr/>
        </p:nvSpPr>
        <p:spPr bwMode="auto">
          <a:xfrm>
            <a:off x="5356330" y="3907129"/>
            <a:ext cx="2982124" cy="34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+mn-ea"/>
                <a:ea typeface="+mn-ea"/>
              </a:rPr>
              <a:t>CASE 4.</a:t>
            </a:r>
            <a:r>
              <a:rPr lang="en-US" altLang="ko-KR" sz="1100" b="0" dirty="0">
                <a:latin typeface="+mn-ea"/>
                <a:ea typeface="+mn-ea"/>
              </a:rPr>
              <a:t> B2C</a:t>
            </a:r>
            <a:r>
              <a:rPr lang="ko-KR" altLang="en-US" sz="1100" b="0" dirty="0">
                <a:latin typeface="+mn-ea"/>
                <a:ea typeface="+mn-ea"/>
              </a:rPr>
              <a:t>센터 </a:t>
            </a:r>
            <a:r>
              <a:rPr lang="en-US" altLang="ko-KR" sz="1100" b="0" dirty="0">
                <a:latin typeface="+mn-ea"/>
                <a:ea typeface="+mn-ea"/>
              </a:rPr>
              <a:t>&gt; B2C</a:t>
            </a:r>
            <a:r>
              <a:rPr lang="ko-KR" altLang="en-US" sz="1100" b="0" dirty="0">
                <a:latin typeface="+mn-ea"/>
                <a:ea typeface="+mn-ea"/>
              </a:rPr>
              <a:t>센터 </a:t>
            </a:r>
            <a:r>
              <a:rPr lang="ko-KR" altLang="en-US" sz="1100" b="0" dirty="0" smtClean="0">
                <a:latin typeface="+mn-ea"/>
                <a:ea typeface="+mn-ea"/>
              </a:rPr>
              <a:t>이관입출고</a:t>
            </a:r>
            <a:endParaRPr lang="ko-KR" altLang="en-US" sz="1100" b="0" dirty="0">
              <a:latin typeface="+mn-ea"/>
              <a:ea typeface="+mn-ea"/>
            </a:endParaRPr>
          </a:p>
        </p:txBody>
      </p:sp>
      <p:pic>
        <p:nvPicPr>
          <p:cNvPr id="125" name="Picture 28" descr="ICON_Distributor">
            <a:extLst>
              <a:ext uri="{FF2B5EF4-FFF2-40B4-BE49-F238E27FC236}">
                <a16:creationId xmlns="" xmlns:a16="http://schemas.microsoft.com/office/drawing/2014/main" id="{A232901D-D842-46EC-89E8-23E475FCB55C}"/>
              </a:ext>
            </a:extLst>
          </p:cNvPr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510554" y="2022721"/>
            <a:ext cx="71755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" name="Picture 28" descr="ICON_Distributor">
            <a:extLst>
              <a:ext uri="{FF2B5EF4-FFF2-40B4-BE49-F238E27FC236}">
                <a16:creationId xmlns="" xmlns:a16="http://schemas.microsoft.com/office/drawing/2014/main" id="{A232901D-D842-46EC-89E8-23E475FCB55C}"/>
              </a:ext>
            </a:extLst>
          </p:cNvPr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3055794" y="2022721"/>
            <a:ext cx="71755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7" name="Picture 28" descr="ICON_Distributor">
            <a:extLst>
              <a:ext uri="{FF2B5EF4-FFF2-40B4-BE49-F238E27FC236}">
                <a16:creationId xmlns="" xmlns:a16="http://schemas.microsoft.com/office/drawing/2014/main" id="{A232901D-D842-46EC-89E8-23E475FCB55C}"/>
              </a:ext>
            </a:extLst>
          </p:cNvPr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5704927" y="2022721"/>
            <a:ext cx="71755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9" name="그룹 65">
            <a:extLst>
              <a:ext uri="{FF2B5EF4-FFF2-40B4-BE49-F238E27FC236}">
                <a16:creationId xmlns="" xmlns:a16="http://schemas.microsoft.com/office/drawing/2014/main" id="{89DB20C6-1297-4A0C-810B-C4E107DF74C9}"/>
              </a:ext>
            </a:extLst>
          </p:cNvPr>
          <p:cNvGrpSpPr>
            <a:grpSpLocks/>
          </p:cNvGrpSpPr>
          <p:nvPr/>
        </p:nvGrpSpPr>
        <p:grpSpPr bwMode="auto">
          <a:xfrm>
            <a:off x="7282738" y="1958647"/>
            <a:ext cx="885825" cy="563121"/>
            <a:chOff x="6340475" y="1495758"/>
            <a:chExt cx="885825" cy="563230"/>
          </a:xfrm>
        </p:grpSpPr>
        <p:pic>
          <p:nvPicPr>
            <p:cNvPr id="131" name="Picture 101" descr="WhitePlatform_small">
              <a:extLst>
                <a:ext uri="{FF2B5EF4-FFF2-40B4-BE49-F238E27FC236}">
                  <a16:creationId xmlns="" xmlns:a16="http://schemas.microsoft.com/office/drawing/2014/main" id="{CDBAD230-EB7A-4122-8854-39D5C4703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40475" y="1630363"/>
              <a:ext cx="885825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2" name="Picture 105" descr="ICON_SmallBusiness">
              <a:extLst>
                <a:ext uri="{FF2B5EF4-FFF2-40B4-BE49-F238E27FC236}">
                  <a16:creationId xmlns="" xmlns:a16="http://schemas.microsoft.com/office/drawing/2014/main" id="{AA777362-C642-40A1-A4C9-A402A3BB48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30975" y="1495758"/>
              <a:ext cx="584200" cy="484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34" name="그룹 65">
            <a:extLst>
              <a:ext uri="{FF2B5EF4-FFF2-40B4-BE49-F238E27FC236}">
                <a16:creationId xmlns="" xmlns:a16="http://schemas.microsoft.com/office/drawing/2014/main" id="{89DB20C6-1297-4A0C-810B-C4E107DF74C9}"/>
              </a:ext>
            </a:extLst>
          </p:cNvPr>
          <p:cNvGrpSpPr>
            <a:grpSpLocks/>
          </p:cNvGrpSpPr>
          <p:nvPr/>
        </p:nvGrpSpPr>
        <p:grpSpPr bwMode="auto">
          <a:xfrm>
            <a:off x="1426416" y="4554858"/>
            <a:ext cx="885825" cy="563121"/>
            <a:chOff x="6340475" y="1495758"/>
            <a:chExt cx="885825" cy="563230"/>
          </a:xfrm>
        </p:grpSpPr>
        <p:pic>
          <p:nvPicPr>
            <p:cNvPr id="135" name="Picture 101" descr="WhitePlatform_small">
              <a:extLst>
                <a:ext uri="{FF2B5EF4-FFF2-40B4-BE49-F238E27FC236}">
                  <a16:creationId xmlns="" xmlns:a16="http://schemas.microsoft.com/office/drawing/2014/main" id="{CDBAD230-EB7A-4122-8854-39D5C4703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40475" y="1630363"/>
              <a:ext cx="885825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6" name="Picture 105" descr="ICON_SmallBusiness">
              <a:extLst>
                <a:ext uri="{FF2B5EF4-FFF2-40B4-BE49-F238E27FC236}">
                  <a16:creationId xmlns="" xmlns:a16="http://schemas.microsoft.com/office/drawing/2014/main" id="{AA777362-C642-40A1-A4C9-A402A3BB48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30975" y="1495758"/>
              <a:ext cx="584200" cy="484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37" name="Picture 28" descr="ICON_Distributor">
            <a:extLst>
              <a:ext uri="{FF2B5EF4-FFF2-40B4-BE49-F238E27FC236}">
                <a16:creationId xmlns="" xmlns:a16="http://schemas.microsoft.com/office/drawing/2014/main" id="{A232901D-D842-46EC-89E8-23E475FCB55C}"/>
              </a:ext>
            </a:extLst>
          </p:cNvPr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3055794" y="4579416"/>
            <a:ext cx="71755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8" name="그룹 65">
            <a:extLst>
              <a:ext uri="{FF2B5EF4-FFF2-40B4-BE49-F238E27FC236}">
                <a16:creationId xmlns="" xmlns:a16="http://schemas.microsoft.com/office/drawing/2014/main" id="{89DB20C6-1297-4A0C-810B-C4E107DF74C9}"/>
              </a:ext>
            </a:extLst>
          </p:cNvPr>
          <p:cNvGrpSpPr>
            <a:grpSpLocks/>
          </p:cNvGrpSpPr>
          <p:nvPr/>
        </p:nvGrpSpPr>
        <p:grpSpPr bwMode="auto">
          <a:xfrm>
            <a:off x="7282738" y="4552555"/>
            <a:ext cx="885825" cy="563121"/>
            <a:chOff x="6340475" y="1495758"/>
            <a:chExt cx="885825" cy="563230"/>
          </a:xfrm>
        </p:grpSpPr>
        <p:pic>
          <p:nvPicPr>
            <p:cNvPr id="140" name="Picture 101" descr="WhitePlatform_small">
              <a:extLst>
                <a:ext uri="{FF2B5EF4-FFF2-40B4-BE49-F238E27FC236}">
                  <a16:creationId xmlns="" xmlns:a16="http://schemas.microsoft.com/office/drawing/2014/main" id="{CDBAD230-EB7A-4122-8854-39D5C4703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40475" y="1630363"/>
              <a:ext cx="885825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1" name="Picture 105" descr="ICON_SmallBusiness">
              <a:extLst>
                <a:ext uri="{FF2B5EF4-FFF2-40B4-BE49-F238E27FC236}">
                  <a16:creationId xmlns="" xmlns:a16="http://schemas.microsoft.com/office/drawing/2014/main" id="{AA777362-C642-40A1-A4C9-A402A3BB48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30975" y="1495758"/>
              <a:ext cx="584200" cy="484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2" name="그룹 65">
            <a:extLst>
              <a:ext uri="{FF2B5EF4-FFF2-40B4-BE49-F238E27FC236}">
                <a16:creationId xmlns="" xmlns:a16="http://schemas.microsoft.com/office/drawing/2014/main" id="{89DB20C6-1297-4A0C-810B-C4E107DF74C9}"/>
              </a:ext>
            </a:extLst>
          </p:cNvPr>
          <p:cNvGrpSpPr>
            <a:grpSpLocks/>
          </p:cNvGrpSpPr>
          <p:nvPr/>
        </p:nvGrpSpPr>
        <p:grpSpPr bwMode="auto">
          <a:xfrm>
            <a:off x="5620789" y="4552555"/>
            <a:ext cx="885825" cy="563121"/>
            <a:chOff x="6340475" y="1495758"/>
            <a:chExt cx="885825" cy="563230"/>
          </a:xfrm>
        </p:grpSpPr>
        <p:pic>
          <p:nvPicPr>
            <p:cNvPr id="143" name="Picture 101" descr="WhitePlatform_small">
              <a:extLst>
                <a:ext uri="{FF2B5EF4-FFF2-40B4-BE49-F238E27FC236}">
                  <a16:creationId xmlns="" xmlns:a16="http://schemas.microsoft.com/office/drawing/2014/main" id="{CDBAD230-EB7A-4122-8854-39D5C4703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40475" y="1630363"/>
              <a:ext cx="885825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4" name="Picture 105" descr="ICON_SmallBusiness">
              <a:extLst>
                <a:ext uri="{FF2B5EF4-FFF2-40B4-BE49-F238E27FC236}">
                  <a16:creationId xmlns="" xmlns:a16="http://schemas.microsoft.com/office/drawing/2014/main" id="{AA777362-C642-40A1-A4C9-A402A3BB48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30975" y="1495758"/>
              <a:ext cx="584200" cy="484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45" name="직선 화살표 연결선 96">
            <a:extLst>
              <a:ext uri="{FF2B5EF4-FFF2-40B4-BE49-F238E27FC236}">
                <a16:creationId xmlns="" xmlns:a16="http://schemas.microsoft.com/office/drawing/2014/main" id="{80E3B4B4-E16C-4013-9DE6-C7EF9B9DE89D}"/>
              </a:ext>
            </a:extLst>
          </p:cNvPr>
          <p:cNvCxnSpPr>
            <a:cxnSpLocks noChangeShapeType="1"/>
            <a:stCxn id="125" idx="3"/>
            <a:endCxn id="126" idx="1"/>
          </p:cNvCxnSpPr>
          <p:nvPr/>
        </p:nvCxnSpPr>
        <p:spPr bwMode="auto">
          <a:xfrm>
            <a:off x="2228104" y="2240209"/>
            <a:ext cx="82769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150" name="직선 화살표 연결선 96">
            <a:extLst>
              <a:ext uri="{FF2B5EF4-FFF2-40B4-BE49-F238E27FC236}">
                <a16:creationId xmlns="" xmlns:a16="http://schemas.microsoft.com/office/drawing/2014/main" id="{80E3B4B4-E16C-4013-9DE6-C7EF9B9DE89D}"/>
              </a:ext>
            </a:extLst>
          </p:cNvPr>
          <p:cNvCxnSpPr>
            <a:cxnSpLocks noChangeShapeType="1"/>
            <a:endCxn id="131" idx="1"/>
          </p:cNvCxnSpPr>
          <p:nvPr/>
        </p:nvCxnSpPr>
        <p:spPr bwMode="auto">
          <a:xfrm>
            <a:off x="6506614" y="2307497"/>
            <a:ext cx="77612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152" name="직선 화살표 연결선 96">
            <a:extLst>
              <a:ext uri="{FF2B5EF4-FFF2-40B4-BE49-F238E27FC236}">
                <a16:creationId xmlns="" xmlns:a16="http://schemas.microsoft.com/office/drawing/2014/main" id="{80E3B4B4-E16C-4013-9DE6-C7EF9B9DE89D}"/>
              </a:ext>
            </a:extLst>
          </p:cNvPr>
          <p:cNvCxnSpPr>
            <a:cxnSpLocks noChangeShapeType="1"/>
            <a:stCxn id="143" idx="3"/>
            <a:endCxn id="140" idx="1"/>
          </p:cNvCxnSpPr>
          <p:nvPr/>
        </p:nvCxnSpPr>
        <p:spPr bwMode="auto">
          <a:xfrm>
            <a:off x="6506614" y="4901405"/>
            <a:ext cx="776124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156" name="직선 화살표 연결선 96">
            <a:extLst>
              <a:ext uri="{FF2B5EF4-FFF2-40B4-BE49-F238E27FC236}">
                <a16:creationId xmlns="" xmlns:a16="http://schemas.microsoft.com/office/drawing/2014/main" id="{80E3B4B4-E16C-4013-9DE6-C7EF9B9DE89D}"/>
              </a:ext>
            </a:extLst>
          </p:cNvPr>
          <p:cNvCxnSpPr>
            <a:cxnSpLocks noChangeShapeType="1"/>
            <a:stCxn id="135" idx="3"/>
          </p:cNvCxnSpPr>
          <p:nvPr/>
        </p:nvCxnSpPr>
        <p:spPr bwMode="auto">
          <a:xfrm flipV="1">
            <a:off x="2312241" y="4901405"/>
            <a:ext cx="659113" cy="230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158" name="Text Box 12"/>
          <p:cNvSpPr txBox="1">
            <a:spLocks noChangeArrowheads="1"/>
          </p:cNvSpPr>
          <p:nvPr/>
        </p:nvSpPr>
        <p:spPr bwMode="auto">
          <a:xfrm>
            <a:off x="1173019" y="2582780"/>
            <a:ext cx="2982124" cy="1396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en-US" altLang="ko-KR" sz="900" b="0" dirty="0" smtClean="0">
                <a:latin typeface="+mn-ea"/>
                <a:ea typeface="+mn-ea"/>
              </a:rPr>
              <a:t>WMS </a:t>
            </a:r>
            <a:r>
              <a:rPr lang="ko-KR" altLang="en-US" sz="900" b="0" dirty="0">
                <a:latin typeface="+mn-ea"/>
                <a:ea typeface="+mn-ea"/>
              </a:rPr>
              <a:t>기준 </a:t>
            </a:r>
            <a:r>
              <a:rPr lang="ko-KR" altLang="en-US" sz="900" b="0" dirty="0" err="1" smtClean="0">
                <a:latin typeface="+mn-ea"/>
                <a:ea typeface="+mn-ea"/>
              </a:rPr>
              <a:t>정상존</a:t>
            </a:r>
            <a:r>
              <a:rPr lang="ko-KR" altLang="en-US" sz="900" b="0" dirty="0" smtClean="0">
                <a:latin typeface="+mn-ea"/>
                <a:ea typeface="+mn-ea"/>
              </a:rPr>
              <a:t> </a:t>
            </a:r>
            <a:r>
              <a:rPr lang="en-US" altLang="ko-KR" sz="900" b="0" dirty="0" smtClean="0">
                <a:latin typeface="+mn-ea"/>
                <a:ea typeface="+mn-ea"/>
              </a:rPr>
              <a:t>&gt; </a:t>
            </a:r>
            <a:r>
              <a:rPr lang="ko-KR" altLang="en-US" sz="900" b="0" dirty="0" err="1" smtClean="0">
                <a:latin typeface="+mn-ea"/>
                <a:ea typeface="+mn-ea"/>
              </a:rPr>
              <a:t>정상존으로</a:t>
            </a:r>
            <a:r>
              <a:rPr lang="ko-KR" altLang="en-US" sz="900" b="0" dirty="0" smtClean="0">
                <a:latin typeface="+mn-ea"/>
                <a:ea typeface="+mn-ea"/>
              </a:rPr>
              <a:t> 출고</a:t>
            </a:r>
            <a:r>
              <a:rPr lang="en-US" altLang="ko-KR" sz="900" b="0" dirty="0" smtClean="0">
                <a:latin typeface="+mn-ea"/>
                <a:ea typeface="+mn-ea"/>
              </a:rPr>
              <a:t>/</a:t>
            </a:r>
            <a:r>
              <a:rPr lang="ko-KR" altLang="en-US" sz="900" b="0" dirty="0" smtClean="0">
                <a:latin typeface="+mn-ea"/>
                <a:ea typeface="+mn-ea"/>
              </a:rPr>
              <a:t>입고 </a:t>
            </a:r>
            <a:r>
              <a:rPr lang="ko-KR" altLang="en-US" sz="900" b="0" dirty="0">
                <a:latin typeface="+mn-ea"/>
                <a:ea typeface="+mn-ea"/>
              </a:rPr>
              <a:t>진행되었을 때 </a:t>
            </a:r>
            <a:r>
              <a:rPr lang="en-US" altLang="ko-KR" sz="900" b="0" dirty="0">
                <a:latin typeface="+mn-ea"/>
                <a:ea typeface="+mn-ea"/>
              </a:rPr>
              <a:t>YA &gt; YA </a:t>
            </a:r>
            <a:r>
              <a:rPr lang="ko-KR" altLang="en-US" sz="900" b="0" dirty="0">
                <a:latin typeface="+mn-ea"/>
                <a:ea typeface="+mn-ea"/>
              </a:rPr>
              <a:t>창고로 재고이동 실적은 반영하지 </a:t>
            </a:r>
            <a:r>
              <a:rPr lang="ko-KR" altLang="en-US" sz="900" b="0" dirty="0" smtClean="0">
                <a:latin typeface="+mn-ea"/>
                <a:ea typeface="+mn-ea"/>
              </a:rPr>
              <a:t>않음</a:t>
            </a:r>
            <a:endParaRPr lang="en-US" altLang="ko-KR" sz="9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err="1" smtClean="0">
                <a:latin typeface="+mn-ea"/>
                <a:ea typeface="+mn-ea"/>
              </a:rPr>
              <a:t>정상존</a:t>
            </a:r>
            <a:r>
              <a:rPr lang="ko-KR" altLang="en-US" sz="900" b="0" dirty="0" smtClean="0">
                <a:latin typeface="+mn-ea"/>
                <a:ea typeface="+mn-ea"/>
              </a:rPr>
              <a:t> </a:t>
            </a:r>
            <a:r>
              <a:rPr lang="en-US" altLang="ko-KR" sz="900" b="0" dirty="0" smtClean="0">
                <a:latin typeface="+mn-ea"/>
                <a:ea typeface="+mn-ea"/>
              </a:rPr>
              <a:t>&gt; </a:t>
            </a:r>
            <a:r>
              <a:rPr lang="ko-KR" altLang="en-US" sz="900" b="0" dirty="0" err="1" smtClean="0">
                <a:latin typeface="+mn-ea"/>
                <a:ea typeface="+mn-ea"/>
              </a:rPr>
              <a:t>불량존으로</a:t>
            </a:r>
            <a:r>
              <a:rPr lang="ko-KR" altLang="en-US" sz="900" b="0" dirty="0" smtClean="0">
                <a:latin typeface="+mn-ea"/>
                <a:ea typeface="+mn-ea"/>
              </a:rPr>
              <a:t> 재고 이동 시 </a:t>
            </a:r>
            <a:r>
              <a:rPr lang="en-US" altLang="ko-KR" sz="900" b="0" dirty="0" smtClean="0">
                <a:latin typeface="+mn-ea"/>
                <a:ea typeface="+mn-ea"/>
              </a:rPr>
              <a:t>YA &gt; YC </a:t>
            </a:r>
            <a:r>
              <a:rPr lang="ko-KR" altLang="en-US" sz="900" b="0" dirty="0" smtClean="0">
                <a:latin typeface="+mn-ea"/>
                <a:ea typeface="+mn-ea"/>
              </a:rPr>
              <a:t>창고로 </a:t>
            </a:r>
            <a:r>
              <a:rPr lang="ko-KR" altLang="en-US" sz="900" b="0" dirty="0" err="1" smtClean="0">
                <a:latin typeface="+mn-ea"/>
                <a:ea typeface="+mn-ea"/>
              </a:rPr>
              <a:t>재고이동되어</a:t>
            </a:r>
            <a:r>
              <a:rPr lang="ko-KR" altLang="en-US" sz="900" b="0" dirty="0" smtClean="0">
                <a:latin typeface="+mn-ea"/>
                <a:ea typeface="+mn-ea"/>
              </a:rPr>
              <a:t> 실적 반영</a:t>
            </a:r>
            <a:endParaRPr lang="en-US" altLang="ko-KR" sz="9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조회 화면 </a:t>
            </a:r>
            <a:r>
              <a:rPr lang="en-US" altLang="ko-KR" sz="900" b="0" dirty="0" smtClean="0">
                <a:latin typeface="+mn-ea"/>
                <a:ea typeface="+mn-ea"/>
              </a:rPr>
              <a:t>: </a:t>
            </a:r>
            <a:r>
              <a:rPr lang="ko-KR" altLang="en-US" sz="900" b="0" dirty="0" err="1" smtClean="0">
                <a:latin typeface="+mn-ea"/>
                <a:ea typeface="+mn-ea"/>
              </a:rPr>
              <a:t>창고간제품이동</a:t>
            </a:r>
            <a:endParaRPr lang="en-US" altLang="ko-KR" sz="900" b="0" dirty="0" smtClean="0">
              <a:latin typeface="+mn-ea"/>
              <a:ea typeface="+mn-ea"/>
            </a:endParaRPr>
          </a:p>
        </p:txBody>
      </p:sp>
      <p:sp>
        <p:nvSpPr>
          <p:cNvPr id="160" name="Text Box 12"/>
          <p:cNvSpPr txBox="1">
            <a:spLocks noChangeArrowheads="1"/>
          </p:cNvSpPr>
          <p:nvPr/>
        </p:nvSpPr>
        <p:spPr bwMode="auto">
          <a:xfrm>
            <a:off x="5356330" y="2582780"/>
            <a:ext cx="2982124" cy="98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en-US" altLang="ko-KR" sz="900" b="0" dirty="0" smtClean="0">
                <a:latin typeface="+mn-ea"/>
                <a:ea typeface="+mn-ea"/>
              </a:rPr>
              <a:t>B2C</a:t>
            </a:r>
            <a:r>
              <a:rPr lang="ko-KR" altLang="en-US" sz="900" b="0" dirty="0" smtClean="0">
                <a:latin typeface="+mn-ea"/>
                <a:ea typeface="+mn-ea"/>
              </a:rPr>
              <a:t>센터는 매장으로 인식되어 매장출고와 동일하게 실적 반영</a:t>
            </a:r>
            <a:endParaRPr lang="en-US" altLang="ko-KR" sz="9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매장수불 생성 </a:t>
            </a:r>
            <a:r>
              <a:rPr lang="en-US" altLang="ko-KR" sz="900" b="0" dirty="0" smtClean="0">
                <a:latin typeface="+mn-ea"/>
                <a:ea typeface="+mn-ea"/>
              </a:rPr>
              <a:t>(</a:t>
            </a:r>
            <a:r>
              <a:rPr lang="ko-KR" altLang="en-US" sz="900" b="0" dirty="0" smtClean="0">
                <a:latin typeface="+mn-ea"/>
                <a:ea typeface="+mn-ea"/>
              </a:rPr>
              <a:t>센터 </a:t>
            </a:r>
            <a:r>
              <a:rPr lang="en-US" altLang="ko-KR" sz="900" b="0" dirty="0" smtClean="0">
                <a:latin typeface="+mn-ea"/>
                <a:ea typeface="+mn-ea"/>
              </a:rPr>
              <a:t>&gt; </a:t>
            </a:r>
            <a:r>
              <a:rPr lang="ko-KR" altLang="en-US" sz="900" b="0" dirty="0" smtClean="0">
                <a:latin typeface="+mn-ea"/>
                <a:ea typeface="+mn-ea"/>
              </a:rPr>
              <a:t>매장</a:t>
            </a:r>
            <a:r>
              <a:rPr lang="en-US" altLang="ko-KR" sz="900" b="0" dirty="0" smtClean="0">
                <a:latin typeface="+mn-ea"/>
                <a:ea typeface="+mn-ea"/>
              </a:rPr>
              <a:t>)</a:t>
            </a:r>
            <a:endParaRPr lang="en-US" altLang="ko-KR" sz="900" b="0" dirty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조회 화면 </a:t>
            </a:r>
            <a:r>
              <a:rPr lang="en-US" altLang="ko-KR" sz="900" b="0" dirty="0" smtClean="0">
                <a:latin typeface="+mn-ea"/>
                <a:ea typeface="+mn-ea"/>
              </a:rPr>
              <a:t>: </a:t>
            </a:r>
            <a:r>
              <a:rPr lang="ko-KR" altLang="en-US" sz="900" b="0" dirty="0" smtClean="0">
                <a:latin typeface="+mn-ea"/>
                <a:ea typeface="+mn-ea"/>
              </a:rPr>
              <a:t>거래명세서현황</a:t>
            </a:r>
            <a:r>
              <a:rPr lang="en-US" altLang="ko-KR" sz="900" b="0" dirty="0" smtClean="0">
                <a:latin typeface="+mn-ea"/>
                <a:ea typeface="+mn-ea"/>
              </a:rPr>
              <a:t>, </a:t>
            </a:r>
            <a:r>
              <a:rPr lang="ko-KR" altLang="en-US" sz="900" b="0" dirty="0" smtClean="0">
                <a:latin typeface="+mn-ea"/>
                <a:ea typeface="+mn-ea"/>
              </a:rPr>
              <a:t>매장재고현황</a:t>
            </a:r>
            <a:endParaRPr lang="en-US" altLang="ko-KR" sz="900" b="0" dirty="0" smtClean="0">
              <a:latin typeface="+mn-ea"/>
              <a:ea typeface="+mn-ea"/>
            </a:endParaRPr>
          </a:p>
        </p:txBody>
      </p:sp>
      <p:sp>
        <p:nvSpPr>
          <p:cNvPr id="161" name="Text Box 12"/>
          <p:cNvSpPr txBox="1">
            <a:spLocks noChangeArrowheads="1"/>
          </p:cNvSpPr>
          <p:nvPr/>
        </p:nvSpPr>
        <p:spPr bwMode="auto">
          <a:xfrm>
            <a:off x="1173019" y="5226359"/>
            <a:ext cx="2982124" cy="98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en-US" altLang="ko-KR" sz="900" b="0" dirty="0" smtClean="0">
                <a:latin typeface="+mn-ea"/>
                <a:ea typeface="+mn-ea"/>
              </a:rPr>
              <a:t>B2C</a:t>
            </a:r>
            <a:r>
              <a:rPr lang="ko-KR" altLang="en-US" sz="900" b="0" dirty="0">
                <a:latin typeface="+mn-ea"/>
                <a:ea typeface="+mn-ea"/>
              </a:rPr>
              <a:t>센터는 매장으로 인식되어 </a:t>
            </a:r>
            <a:r>
              <a:rPr lang="ko-KR" altLang="en-US" sz="900" b="0" dirty="0" smtClean="0">
                <a:latin typeface="+mn-ea"/>
                <a:ea typeface="+mn-ea"/>
              </a:rPr>
              <a:t>매장반품 입고와 </a:t>
            </a:r>
            <a:r>
              <a:rPr lang="ko-KR" altLang="en-US" sz="900" b="0" dirty="0">
                <a:latin typeface="+mn-ea"/>
                <a:ea typeface="+mn-ea"/>
              </a:rPr>
              <a:t>동일하게 실적 </a:t>
            </a:r>
            <a:r>
              <a:rPr lang="ko-KR" altLang="en-US" sz="900" b="0" dirty="0" smtClean="0">
                <a:latin typeface="+mn-ea"/>
                <a:ea typeface="+mn-ea"/>
              </a:rPr>
              <a:t>반영</a:t>
            </a:r>
            <a:endParaRPr lang="en-US" altLang="ko-KR" sz="9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매장수불 생성 </a:t>
            </a:r>
            <a:r>
              <a:rPr lang="en-US" altLang="ko-KR" sz="900" b="0" dirty="0" smtClean="0">
                <a:latin typeface="+mn-ea"/>
                <a:ea typeface="+mn-ea"/>
              </a:rPr>
              <a:t>(</a:t>
            </a:r>
            <a:r>
              <a:rPr lang="ko-KR" altLang="en-US" sz="900" b="0" dirty="0" smtClean="0">
                <a:latin typeface="+mn-ea"/>
                <a:ea typeface="+mn-ea"/>
              </a:rPr>
              <a:t>매장 </a:t>
            </a:r>
            <a:r>
              <a:rPr lang="en-US" altLang="ko-KR" sz="900" b="0" dirty="0" smtClean="0">
                <a:latin typeface="+mn-ea"/>
                <a:ea typeface="+mn-ea"/>
              </a:rPr>
              <a:t>&gt; </a:t>
            </a:r>
            <a:r>
              <a:rPr lang="ko-KR" altLang="en-US" sz="900" b="0" dirty="0" smtClean="0">
                <a:latin typeface="+mn-ea"/>
                <a:ea typeface="+mn-ea"/>
              </a:rPr>
              <a:t>센터</a:t>
            </a:r>
            <a:r>
              <a:rPr lang="en-US" altLang="ko-KR" sz="900" b="0" dirty="0" smtClean="0">
                <a:latin typeface="+mn-ea"/>
                <a:ea typeface="+mn-ea"/>
              </a:rPr>
              <a:t>)</a:t>
            </a:r>
            <a:endParaRPr lang="en-US" altLang="ko-KR" sz="900" b="0" dirty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조회 화면 </a:t>
            </a:r>
            <a:r>
              <a:rPr lang="en-US" altLang="ko-KR" sz="900" b="0" dirty="0" smtClean="0">
                <a:latin typeface="+mn-ea"/>
                <a:ea typeface="+mn-ea"/>
              </a:rPr>
              <a:t>: </a:t>
            </a:r>
            <a:r>
              <a:rPr lang="ko-KR" altLang="en-US" sz="900" b="0" dirty="0" smtClean="0">
                <a:latin typeface="+mn-ea"/>
                <a:ea typeface="+mn-ea"/>
              </a:rPr>
              <a:t>거래명세서현황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smtClean="0">
                <a:latin typeface="+mn-ea"/>
                <a:ea typeface="+mn-ea"/>
              </a:rPr>
              <a:t>매장재고현황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162" name="Text Box 12"/>
          <p:cNvSpPr txBox="1">
            <a:spLocks noChangeArrowheads="1"/>
          </p:cNvSpPr>
          <p:nvPr/>
        </p:nvSpPr>
        <p:spPr bwMode="auto">
          <a:xfrm>
            <a:off x="5356330" y="5226359"/>
            <a:ext cx="2982124" cy="98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en-US" altLang="ko-KR" sz="900" b="0" dirty="0" smtClean="0">
                <a:latin typeface="+mn-ea"/>
                <a:ea typeface="+mn-ea"/>
              </a:rPr>
              <a:t>B2C</a:t>
            </a:r>
            <a:r>
              <a:rPr lang="ko-KR" altLang="en-US" sz="900" b="0" dirty="0">
                <a:latin typeface="+mn-ea"/>
                <a:ea typeface="+mn-ea"/>
              </a:rPr>
              <a:t>센터는 매장으로 인식되어 </a:t>
            </a:r>
            <a:r>
              <a:rPr lang="ko-KR" altLang="en-US" sz="900" b="0" dirty="0" err="1" smtClean="0">
                <a:latin typeface="+mn-ea"/>
                <a:ea typeface="+mn-ea"/>
              </a:rPr>
              <a:t>매장점간이동과</a:t>
            </a:r>
            <a:r>
              <a:rPr lang="ko-KR" altLang="en-US" sz="900" b="0" dirty="0" smtClean="0">
                <a:latin typeface="+mn-ea"/>
                <a:ea typeface="+mn-ea"/>
              </a:rPr>
              <a:t> 동일하게 </a:t>
            </a:r>
            <a:r>
              <a:rPr lang="ko-KR" altLang="en-US" sz="900" b="0" dirty="0">
                <a:latin typeface="+mn-ea"/>
                <a:ea typeface="+mn-ea"/>
              </a:rPr>
              <a:t>실적 </a:t>
            </a:r>
            <a:r>
              <a:rPr lang="ko-KR" altLang="en-US" sz="900" b="0" dirty="0" smtClean="0">
                <a:latin typeface="+mn-ea"/>
                <a:ea typeface="+mn-ea"/>
              </a:rPr>
              <a:t>반영</a:t>
            </a:r>
            <a:endParaRPr lang="en-US" altLang="ko-KR" sz="9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매장 수불 생성 </a:t>
            </a:r>
            <a:r>
              <a:rPr lang="en-US" altLang="ko-KR" sz="900" b="0" dirty="0" smtClean="0">
                <a:latin typeface="+mn-ea"/>
                <a:ea typeface="+mn-ea"/>
              </a:rPr>
              <a:t>(</a:t>
            </a:r>
            <a:r>
              <a:rPr lang="ko-KR" altLang="en-US" sz="900" b="0" dirty="0" smtClean="0">
                <a:latin typeface="+mn-ea"/>
                <a:ea typeface="+mn-ea"/>
              </a:rPr>
              <a:t>매장 </a:t>
            </a:r>
            <a:r>
              <a:rPr lang="en-US" altLang="ko-KR" sz="900" b="0" dirty="0" smtClean="0">
                <a:latin typeface="+mn-ea"/>
                <a:ea typeface="+mn-ea"/>
              </a:rPr>
              <a:t>&gt; </a:t>
            </a:r>
            <a:r>
              <a:rPr lang="ko-KR" altLang="en-US" sz="900" b="0" dirty="0" smtClean="0">
                <a:latin typeface="+mn-ea"/>
                <a:ea typeface="+mn-ea"/>
              </a:rPr>
              <a:t>매장</a:t>
            </a:r>
            <a:r>
              <a:rPr lang="en-US" altLang="ko-KR" sz="900" b="0" dirty="0" smtClean="0">
                <a:latin typeface="+mn-ea"/>
                <a:ea typeface="+mn-ea"/>
              </a:rPr>
              <a:t>)</a:t>
            </a:r>
            <a:endParaRPr lang="en-US" altLang="ko-KR" sz="900" b="0" dirty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조회 화면 </a:t>
            </a:r>
            <a:r>
              <a:rPr lang="en-US" altLang="ko-KR" sz="900" b="0" dirty="0" smtClean="0">
                <a:latin typeface="+mn-ea"/>
                <a:ea typeface="+mn-ea"/>
              </a:rPr>
              <a:t>: </a:t>
            </a:r>
            <a:r>
              <a:rPr lang="ko-KR" altLang="en-US" sz="900" b="0" dirty="0" smtClean="0">
                <a:latin typeface="+mn-ea"/>
                <a:ea typeface="+mn-ea"/>
              </a:rPr>
              <a:t>거래명세서현황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smtClean="0">
                <a:latin typeface="+mn-ea"/>
                <a:ea typeface="+mn-ea"/>
              </a:rPr>
              <a:t>매장재고현황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35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 smtClean="0"/>
              <a:t>4. </a:t>
            </a:r>
            <a:r>
              <a:rPr lang="ko-KR" altLang="en-US" sz="1400" b="1" dirty="0" smtClean="0"/>
              <a:t>출고 프로세스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0623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4</a:t>
            </a:r>
            <a:r>
              <a:rPr lang="en-US" altLang="ko-KR" sz="1400" b="1" dirty="0" smtClean="0"/>
              <a:t>. </a:t>
            </a:r>
            <a:r>
              <a:rPr lang="ko-KR" altLang="en-US" sz="1400" b="1" dirty="0"/>
              <a:t>출고 프로세스</a:t>
            </a:r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4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출고 </a:t>
            </a:r>
            <a:r>
              <a:rPr lang="ko-KR" altLang="en-US" sz="1400" b="1" dirty="0"/>
              <a:t>프로세스 </a:t>
            </a: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자가소모출고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06070"/>
              </p:ext>
            </p:extLst>
          </p:nvPr>
        </p:nvGraphicFramePr>
        <p:xfrm>
          <a:off x="478996" y="2109009"/>
          <a:ext cx="9043945" cy="4379860"/>
        </p:xfrm>
        <a:graphic>
          <a:graphicData uri="http://schemas.openxmlformats.org/drawingml/2006/table">
            <a:tbl>
              <a:tblPr/>
              <a:tblGrid>
                <a:gridCol w="90439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7299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822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5435078" y="4040797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예정주문</a:t>
              </a:r>
              <a:r>
                <a:rPr kumimoji="0" lang="ko-KR" altLang="en-US" sz="800" dirty="0" smtClean="0">
                  <a:latin typeface="+mn-ea"/>
                  <a:ea typeface="+mn-ea"/>
                  <a:cs typeface="Arial"/>
                </a:rPr>
                <a:t>정보 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확인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20" name="순서도: 자기 디스크 19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5501726" y="3493718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OMS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3" name="직선 화살표 연결선 97">
            <a:extLst>
              <a:ext uri="{FF2B5EF4-FFF2-40B4-BE49-F238E27FC236}">
                <a16:creationId xmlns="" xmlns:a16="http://schemas.microsoft.com/office/drawing/2014/main" id="{DF7FEA19-7BAA-9956-E360-FB8B463B8C85}"/>
              </a:ext>
            </a:extLst>
          </p:cNvPr>
          <p:cNvCxnSpPr>
            <a:cxnSpLocks/>
            <a:stCxn id="80" idx="3"/>
            <a:endCxn id="20" idx="2"/>
          </p:cNvCxnSpPr>
          <p:nvPr/>
        </p:nvCxnSpPr>
        <p:spPr>
          <a:xfrm flipV="1">
            <a:off x="3157280" y="3677639"/>
            <a:ext cx="2344446" cy="1085878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20" idx="3"/>
            <a:endCxn id="19" idx="0"/>
          </p:cNvCxnSpPr>
          <p:nvPr/>
        </p:nvCxnSpPr>
        <p:spPr>
          <a:xfrm>
            <a:off x="5888889" y="3861560"/>
            <a:ext cx="0" cy="179237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86494" y="2487304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2"/>
            <a:endCxn id="159" idx="0"/>
          </p:cNvCxnSpPr>
          <p:nvPr/>
        </p:nvCxnSpPr>
        <p:spPr>
          <a:xfrm>
            <a:off x="1440436" y="2752517"/>
            <a:ext cx="130" cy="11621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126" y="2127821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4982955" y="2118670"/>
            <a:ext cx="41189" cy="437986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265" y="2127821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8236951" y="4161561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noProof="0" dirty="0" smtClean="0">
                  <a:latin typeface="+mn-ea"/>
                  <a:cs typeface="Arial"/>
                </a:rPr>
                <a:t>재고할당</a:t>
              </a:r>
              <a:r>
                <a:rPr lang="en-US" altLang="ko-KR" sz="800" noProof="0" dirty="0" smtClean="0">
                  <a:latin typeface="+mn-ea"/>
                  <a:cs typeface="Arial"/>
                </a:rPr>
                <a:t>/</a:t>
              </a:r>
              <a:r>
                <a:rPr lang="ko-KR" altLang="en-US" sz="800" noProof="0" dirty="0" smtClean="0">
                  <a:latin typeface="+mn-ea"/>
                  <a:cs typeface="Arial"/>
                </a:rPr>
                <a:t>출고작업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70" name="직선 화살표 연결선 69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67" idx="2"/>
            <a:endCxn id="79" idx="0"/>
          </p:cNvCxnSpPr>
          <p:nvPr/>
        </p:nvCxnSpPr>
        <p:spPr>
          <a:xfrm>
            <a:off x="8690762" y="4594778"/>
            <a:ext cx="0" cy="12671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156">
            <a:extLst>
              <a:ext uri="{FF2B5EF4-FFF2-40B4-BE49-F238E27FC236}">
                <a16:creationId xmlns="" xmlns:a16="http://schemas.microsoft.com/office/drawing/2014/main" id="{CD6CBD41-B09E-C6F7-2290-91E2A1FAF070}"/>
              </a:ext>
            </a:extLst>
          </p:cNvPr>
          <p:cNvCxnSpPr>
            <a:cxnSpLocks/>
            <a:stCxn id="77" idx="2"/>
            <a:endCxn id="75" idx="0"/>
          </p:cNvCxnSpPr>
          <p:nvPr/>
        </p:nvCxnSpPr>
        <p:spPr>
          <a:xfrm>
            <a:off x="8690762" y="5154714"/>
            <a:ext cx="0" cy="13433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="" xmlns:a16="http://schemas.microsoft.com/office/drawing/2014/main" id="{3752D447-6614-0E7A-F417-A595E24C0ACF}"/>
              </a:ext>
            </a:extLst>
          </p:cNvPr>
          <p:cNvGrpSpPr/>
          <p:nvPr/>
        </p:nvGrpSpPr>
        <p:grpSpPr>
          <a:xfrm>
            <a:off x="8236951" y="5289044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9102DD79-1B4F-B1CF-3047-C215195ACBB1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출고확정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81DE216D-F7F5-A7DA-2A18-BB6E5B070CE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="" xmlns:a16="http://schemas.microsoft.com/office/drawing/2014/main" id="{44D60099-09E3-18E2-AA99-0D648000DC51}"/>
              </a:ext>
            </a:extLst>
          </p:cNvPr>
          <p:cNvGrpSpPr/>
          <p:nvPr/>
        </p:nvGrpSpPr>
        <p:grpSpPr>
          <a:xfrm>
            <a:off x="8236951" y="4721497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7" name="TextBox 76">
              <a:extLst>
                <a:ext uri="{FF2B5EF4-FFF2-40B4-BE49-F238E27FC236}">
                  <a16:creationId xmlns="" xmlns:a16="http://schemas.microsoft.com/office/drawing/2014/main" id="{EFE81E7A-87AE-C78E-244A-52C7EDE1EDA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송장발행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1560D0F6-DA23-60C8-FCBE-F42955E85EC2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86" name="순서도: 자기 디스크 8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7221819" y="5411877"/>
            <a:ext cx="719956" cy="347555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8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73" idx="1"/>
            <a:endCxn id="86" idx="4"/>
          </p:cNvCxnSpPr>
          <p:nvPr/>
        </p:nvCxnSpPr>
        <p:spPr>
          <a:xfrm flipH="1" flipV="1">
            <a:off x="7941775" y="5585655"/>
            <a:ext cx="295176" cy="92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순서도: 저장 데이터 8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5435078" y="5345905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r>
              <a:rPr lang="en-US" altLang="ko-KR" sz="800" dirty="0">
                <a:latin typeface="+mn-ea"/>
                <a:cs typeface="Arial"/>
              </a:rPr>
              <a:t>I/F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cxnSp>
        <p:nvCxnSpPr>
          <p:cNvPr id="91" name="직선 화살표 연결선 97">
            <a:extLst>
              <a:ext uri="{FF2B5EF4-FFF2-40B4-BE49-F238E27FC236}">
                <a16:creationId xmlns="" xmlns:a16="http://schemas.microsoft.com/office/drawing/2014/main" id="{5AF667EB-BB0E-FFF8-B6A6-795181B956C0}"/>
              </a:ext>
            </a:extLst>
          </p:cNvPr>
          <p:cNvCxnSpPr>
            <a:cxnSpLocks/>
            <a:stCxn id="90" idx="1"/>
            <a:endCxn id="175" idx="4"/>
          </p:cNvCxnSpPr>
          <p:nvPr/>
        </p:nvCxnSpPr>
        <p:spPr>
          <a:xfrm flipH="1">
            <a:off x="4757487" y="5519683"/>
            <a:ext cx="677591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54">
            <a:extLst>
              <a:ext uri="{FF2B5EF4-FFF2-40B4-BE49-F238E27FC236}">
                <a16:creationId xmlns="" xmlns:a16="http://schemas.microsoft.com/office/drawing/2014/main" id="{93C79CEF-1514-7E58-0D59-73AB2A0C6F9B}"/>
              </a:ext>
            </a:extLst>
          </p:cNvPr>
          <p:cNvCxnSpPr>
            <a:cxnSpLocks/>
            <a:stCxn id="73" idx="2"/>
            <a:endCxn id="188" idx="1"/>
          </p:cNvCxnSpPr>
          <p:nvPr/>
        </p:nvCxnSpPr>
        <p:spPr>
          <a:xfrm>
            <a:off x="8690762" y="5722261"/>
            <a:ext cx="846" cy="12405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88" idx="2"/>
            <a:endCxn id="90" idx="3"/>
          </p:cNvCxnSpPr>
          <p:nvPr/>
        </p:nvCxnSpPr>
        <p:spPr>
          <a:xfrm rot="10800000">
            <a:off x="6267305" y="5519684"/>
            <a:ext cx="2037141" cy="510549"/>
          </a:xfrm>
          <a:prstGeom prst="bentConnector3">
            <a:avLst>
              <a:gd name="adj1" fmla="val 64962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6817751" y="2109009"/>
            <a:ext cx="1" cy="437986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621" y="2118827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58" idx="2"/>
            <a:endCxn id="164" idx="0"/>
          </p:cNvCxnSpPr>
          <p:nvPr/>
        </p:nvCxnSpPr>
        <p:spPr>
          <a:xfrm>
            <a:off x="1440566" y="3301943"/>
            <a:ext cx="0" cy="16966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순서도: 자기 디스크 146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3617291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48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" idx="2"/>
            <a:endCxn id="147" idx="2"/>
          </p:cNvCxnSpPr>
          <p:nvPr/>
        </p:nvCxnSpPr>
        <p:spPr>
          <a:xfrm rot="5400000" flipH="1" flipV="1">
            <a:off x="6760266" y="2929835"/>
            <a:ext cx="672801" cy="2415556"/>
          </a:xfrm>
          <a:prstGeom prst="bentConnector4">
            <a:avLst>
              <a:gd name="adj1" fmla="val -21733"/>
              <a:gd name="adj2" fmla="val 59393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47" idx="3"/>
            <a:endCxn id="69" idx="0"/>
          </p:cNvCxnSpPr>
          <p:nvPr/>
        </p:nvCxnSpPr>
        <p:spPr>
          <a:xfrm flipH="1">
            <a:off x="8690762" y="3985133"/>
            <a:ext cx="846" cy="17642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986755" y="2868727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58" name="TextBox 157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>
                  <a:latin typeface="+mn-ea"/>
                  <a:cs typeface="Arial"/>
                </a:rPr>
                <a:t>WMS</a:t>
              </a:r>
              <a:r>
                <a:rPr lang="ko-KR" altLang="en-US" sz="800" dirty="0">
                  <a:latin typeface="+mn-ea"/>
                  <a:cs typeface="Arial"/>
                </a:rPr>
                <a:t>창고 재고 조회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175" name="순서도: 자기 디스크 174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3983162" y="5345905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88" name="순서도: 자기 디스크 187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304445" y="5846311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latin typeface="+mn-ea"/>
                <a:cs typeface="Arial"/>
              </a:rPr>
              <a:t>출고확정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94" name="그룹 193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754960" y="5231378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95" name="TextBox 194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출고실적 반영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5" idx="2"/>
            <a:endCxn id="195" idx="3"/>
          </p:cNvCxnSpPr>
          <p:nvPr/>
        </p:nvCxnSpPr>
        <p:spPr>
          <a:xfrm flipH="1" flipV="1">
            <a:off x="3662714" y="5528940"/>
            <a:ext cx="320448" cy="886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순서도: 수행의 시작/종료 201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550481" y="5994781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18" idx="1"/>
            <a:endCxn id="124" idx="3"/>
          </p:cNvCxnSpPr>
          <p:nvPr/>
        </p:nvCxnSpPr>
        <p:spPr>
          <a:xfrm flipH="1">
            <a:off x="1464326" y="5527288"/>
            <a:ext cx="156107" cy="165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771036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23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067117" cy="63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자가소모출고 유형은</a:t>
            </a:r>
            <a:r>
              <a:rPr lang="en-US" altLang="ko-KR" sz="1100" b="0" dirty="0">
                <a:latin typeface="+mn-ea"/>
                <a:ea typeface="+mn-ea"/>
              </a:rPr>
              <a:t> </a:t>
            </a:r>
            <a:r>
              <a:rPr lang="ko-KR" altLang="en-US" sz="1100" b="0" dirty="0" smtClean="0">
                <a:latin typeface="+mn-ea"/>
                <a:ea typeface="+mn-ea"/>
              </a:rPr>
              <a:t>증정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기부금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재고실사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기타 유형으로 처리되는 출고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센터에서 재고를 출고유형으로 소모처리 후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확정처리하며 자가소모등록 데이터 생성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sp>
        <p:nvSpPr>
          <p:cNvPr id="80" name="순서도: 저장 데이터 7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2325054" y="4589739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출고예정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</a:p>
        </p:txBody>
      </p:sp>
      <p:sp>
        <p:nvSpPr>
          <p:cNvPr id="107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238" y="4911785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4154" y="5713747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689" y="5665513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986755" y="3471604"/>
            <a:ext cx="907622" cy="689601"/>
            <a:chOff x="986755" y="3603412"/>
            <a:chExt cx="907622" cy="689601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162" name="그룹 161">
              <a:extLst>
                <a:ext uri="{FF2B5EF4-FFF2-40B4-BE49-F238E27FC236}">
                  <a16:creationId xmlns="" xmlns:a16="http://schemas.microsoft.com/office/drawing/2014/main" id="{10695474-850F-EC09-67CD-F59C79C4CDAB}"/>
                </a:ext>
              </a:extLst>
            </p:cNvPr>
            <p:cNvGrpSpPr/>
            <p:nvPr/>
          </p:nvGrpSpPr>
          <p:grpSpPr>
            <a:xfrm>
              <a:off x="986755" y="3603412"/>
              <a:ext cx="907622" cy="433216"/>
              <a:chOff x="3133664" y="2530764"/>
              <a:chExt cx="884154" cy="498763"/>
            </a:xfrm>
            <a:grpFill/>
          </p:grpSpPr>
          <p:sp>
            <p:nvSpPr>
              <p:cNvPr id="163" name="TextBox 162">
                <a:extLst>
                  <a:ext uri="{FF2B5EF4-FFF2-40B4-BE49-F238E27FC236}">
                    <a16:creationId xmlns="" xmlns:a16="http://schemas.microsoft.com/office/drawing/2014/main" id="{72C3D5AC-AD53-3617-B49F-FF6C316CA5CF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lvl="0" algn="ctr" latinLnBrk="0">
                  <a:spcBef>
                    <a:spcPct val="0"/>
                  </a:spcBef>
                  <a:defRPr/>
                </a:pPr>
                <a:r>
                  <a:rPr lang="ko-KR" altLang="en-US" sz="800" kern="0" dirty="0">
                    <a:latin typeface="+mn-ea"/>
                  </a:rPr>
                  <a:t>출고지시 등록</a:t>
                </a:r>
                <a:endParaRPr lang="en-US" altLang="ko-KR" sz="800" kern="0" dirty="0">
                  <a:latin typeface="+mn-ea"/>
                </a:endParaRP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="" xmlns:a16="http://schemas.microsoft.com/office/drawing/2014/main" id="{88680670-B8DA-785E-A01C-049A6C6AC1CD}"/>
                  </a:ext>
                </a:extLst>
              </p:cNvPr>
              <p:cNvSpPr txBox="1"/>
              <p:nvPr/>
            </p:nvSpPr>
            <p:spPr>
              <a:xfrm>
                <a:off x="3133664" y="2530764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b="1" dirty="0" smtClean="0">
                    <a:latin typeface="+mn-ea"/>
                    <a:cs typeface="Arial"/>
                  </a:rPr>
                  <a:t>현업</a:t>
                </a: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 </a:t>
                </a: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담당자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991620" y="4025697"/>
              <a:ext cx="902623" cy="267316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자가소모출고등록</a:t>
              </a:r>
              <a:r>
                <a:rPr kumimoji="0" lang="en-US" altLang="ko-KR" sz="80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(WMS)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83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378" y="2970144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03" name="직선 화살표 연결선 88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85" idx="2"/>
            <a:endCxn id="164" idx="0"/>
          </p:cNvCxnSpPr>
          <p:nvPr/>
        </p:nvCxnSpPr>
        <p:spPr>
          <a:xfrm rot="5400000">
            <a:off x="4816106" y="-398218"/>
            <a:ext cx="494283" cy="7245361"/>
          </a:xfrm>
          <a:prstGeom prst="bentConnector3">
            <a:avLst>
              <a:gd name="adj1" fmla="val 74999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015" y="3308280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Y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8232116" y="2544104"/>
            <a:ext cx="907622" cy="595076"/>
            <a:chOff x="8232116" y="2544104"/>
            <a:chExt cx="907622" cy="595076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84" name="그룹 83">
              <a:extLst>
                <a:ext uri="{FF2B5EF4-FFF2-40B4-BE49-F238E27FC236}">
                  <a16:creationId xmlns="" xmlns:a16="http://schemas.microsoft.com/office/drawing/2014/main" id="{191C3F1D-1854-B794-1228-31D2497BCD23}"/>
                </a:ext>
              </a:extLst>
            </p:cNvPr>
            <p:cNvGrpSpPr/>
            <p:nvPr/>
          </p:nvGrpSpPr>
          <p:grpSpPr>
            <a:xfrm>
              <a:off x="8232116" y="2544104"/>
              <a:ext cx="907622" cy="433217"/>
              <a:chOff x="3133664" y="2530763"/>
              <a:chExt cx="884154" cy="498764"/>
            </a:xfrm>
            <a:grpFill/>
          </p:grpSpPr>
          <p:sp>
            <p:nvSpPr>
              <p:cNvPr id="85" name="TextBox 84">
                <a:extLst>
                  <a:ext uri="{FF2B5EF4-FFF2-40B4-BE49-F238E27FC236}">
                    <a16:creationId xmlns="" xmlns:a16="http://schemas.microsoft.com/office/drawing/2014/main" id="{2B3DA6C5-ED78-6528-FB80-433092E614CC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noProof="0" dirty="0" smtClean="0">
                    <a:latin typeface="+mn-ea"/>
                    <a:cs typeface="Arial"/>
                  </a:rPr>
                  <a:t>자가소모처리 건 재고이동</a:t>
                </a:r>
                <a:endPara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="" xmlns:a16="http://schemas.microsoft.com/office/drawing/2014/main" id="{9D0ABFDF-8776-E5F7-F13A-1C142853F396}"/>
                  </a:ext>
                </a:extLst>
              </p:cNvPr>
              <p:cNvSpPr txBox="1"/>
              <p:nvPr/>
            </p:nvSpPr>
            <p:spPr>
              <a:xfrm>
                <a:off x="3133664" y="2530763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b="1" noProof="0" dirty="0" smtClean="0">
                    <a:latin typeface="+mn-ea"/>
                    <a:cs typeface="Arial"/>
                  </a:rPr>
                  <a:t>출고</a:t>
                </a: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 </a:t>
                </a: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담당자</a:t>
                </a: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8232116" y="2977305"/>
              <a:ext cx="907622" cy="16187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120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로트별재고이동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11" name="직선 화살표 연결선 88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58" idx="3"/>
            <a:endCxn id="85" idx="1"/>
          </p:cNvCxnSpPr>
          <p:nvPr/>
        </p:nvCxnSpPr>
        <p:spPr>
          <a:xfrm flipV="1">
            <a:off x="1894377" y="2841635"/>
            <a:ext cx="6337739" cy="324622"/>
          </a:xfrm>
          <a:prstGeom prst="bentConnector3">
            <a:avLst>
              <a:gd name="adj1" fmla="val 94713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/>
          <p:cNvGrpSpPr/>
          <p:nvPr/>
        </p:nvGrpSpPr>
        <p:grpSpPr>
          <a:xfrm>
            <a:off x="1620433" y="5229757"/>
            <a:ext cx="907622" cy="708596"/>
            <a:chOff x="8232116" y="2544104"/>
            <a:chExt cx="907622" cy="708596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116" name="그룹 115">
              <a:extLst>
                <a:ext uri="{FF2B5EF4-FFF2-40B4-BE49-F238E27FC236}">
                  <a16:creationId xmlns="" xmlns:a16="http://schemas.microsoft.com/office/drawing/2014/main" id="{191C3F1D-1854-B794-1228-31D2497BCD23}"/>
                </a:ext>
              </a:extLst>
            </p:cNvPr>
            <p:cNvGrpSpPr/>
            <p:nvPr/>
          </p:nvGrpSpPr>
          <p:grpSpPr>
            <a:xfrm>
              <a:off x="8232116" y="2544104"/>
              <a:ext cx="907622" cy="433217"/>
              <a:chOff x="3133664" y="2530763"/>
              <a:chExt cx="884154" cy="498764"/>
            </a:xfrm>
            <a:grpFill/>
          </p:grpSpPr>
          <p:sp>
            <p:nvSpPr>
              <p:cNvPr id="118" name="TextBox 117">
                <a:extLst>
                  <a:ext uri="{FF2B5EF4-FFF2-40B4-BE49-F238E27FC236}">
                    <a16:creationId xmlns="" xmlns:a16="http://schemas.microsoft.com/office/drawing/2014/main" id="{2B3DA6C5-ED78-6528-FB80-433092E614CC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Arial"/>
                  </a:rPr>
                  <a:t>자가소모출고 확정</a:t>
                </a:r>
                <a:endPara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="" xmlns:a16="http://schemas.microsoft.com/office/drawing/2014/main" id="{9D0ABFDF-8776-E5F7-F13A-1C142853F396}"/>
                  </a:ext>
                </a:extLst>
              </p:cNvPr>
              <p:cNvSpPr txBox="1"/>
              <p:nvPr/>
            </p:nvSpPr>
            <p:spPr>
              <a:xfrm>
                <a:off x="3133664" y="2530763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b="1" dirty="0" smtClean="0">
                    <a:latin typeface="+mn-ea"/>
                    <a:cs typeface="Arial"/>
                  </a:rPr>
                  <a:t>현업</a:t>
                </a: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 </a:t>
                </a: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담당자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8232116" y="2977305"/>
              <a:ext cx="907622" cy="27539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>
                  <a:latin typeface="+mn-ea"/>
                  <a:cs typeface="Arial"/>
                </a:rPr>
                <a:t>자가소모출고등록</a:t>
              </a:r>
              <a:r>
                <a:rPr lang="en-US" altLang="ko-KR" sz="800" dirty="0">
                  <a:latin typeface="+mn-ea"/>
                  <a:cs typeface="Arial"/>
                </a:rPr>
                <a:t>(WMS)</a:t>
              </a:r>
              <a:endParaRPr lang="ko-KR" altLang="en-US" sz="800" dirty="0">
                <a:latin typeface="+mn-ea"/>
                <a:cs typeface="Arial"/>
              </a:endParaRPr>
            </a:p>
          </p:txBody>
        </p:sp>
      </p:grpSp>
      <p:cxnSp>
        <p:nvCxnSpPr>
          <p:cNvPr id="120" name="직선 화살표 연결선 156">
            <a:extLst>
              <a:ext uri="{FF2B5EF4-FFF2-40B4-BE49-F238E27FC236}">
                <a16:creationId xmlns="" xmlns:a16="http://schemas.microsoft.com/office/drawing/2014/main" id="{CD6CBD41-B09E-C6F7-2290-91E2A1FAF070}"/>
              </a:ext>
            </a:extLst>
          </p:cNvPr>
          <p:cNvCxnSpPr>
            <a:cxnSpLocks/>
            <a:stCxn id="195" idx="1"/>
            <a:endCxn id="118" idx="3"/>
          </p:cNvCxnSpPr>
          <p:nvPr/>
        </p:nvCxnSpPr>
        <p:spPr>
          <a:xfrm flipH="1" flipV="1">
            <a:off x="2528055" y="5527288"/>
            <a:ext cx="227037" cy="165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그룹 122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556572" y="5231378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24" name="TextBox 123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자가소모등록 데이터 생성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28" name="직선 화살표 연결선 127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24" idx="2"/>
            <a:endCxn id="202" idx="0"/>
          </p:cNvCxnSpPr>
          <p:nvPr/>
        </p:nvCxnSpPr>
        <p:spPr>
          <a:xfrm flipH="1">
            <a:off x="1004423" y="5664626"/>
            <a:ext cx="6092" cy="33015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341" y="5661525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63164" y="451913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①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504664" y="513487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②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90555" y="501902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③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93" name="그룹 92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2369050" y="3468640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96" name="TextBox 95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자가소모출고 전자결재 상신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그룹웨어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02" name="직선 화살표 연결선 101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63" idx="3"/>
            <a:endCxn id="96" idx="1"/>
          </p:cNvCxnSpPr>
          <p:nvPr/>
        </p:nvCxnSpPr>
        <p:spPr>
          <a:xfrm flipV="1">
            <a:off x="1894377" y="3766202"/>
            <a:ext cx="474805" cy="293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순서도: 판단 2">
            <a:extLst>
              <a:ext uri="{FF2B5EF4-FFF2-40B4-BE49-F238E27FC236}">
                <a16:creationId xmlns="" xmlns:a16="http://schemas.microsoft.com/office/drawing/2014/main" id="{9182DD1E-0E90-998E-8F80-F9709F4B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661" y="4050666"/>
            <a:ext cx="1246863" cy="423347"/>
          </a:xfrm>
          <a:prstGeom prst="flowChartDecision">
            <a:avLst/>
          </a:prstGeom>
          <a:solidFill>
            <a:schemeClr val="accent3">
              <a:lumMod val="40000"/>
              <a:lumOff val="60000"/>
            </a:schemeClr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ts val="12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noProof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결재문서 </a:t>
            </a:r>
            <a:r>
              <a:rPr lang="ko-KR" altLang="en-US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결재 완료</a:t>
            </a:r>
            <a:endParaRPr lang="en-US" altLang="ko-KR" sz="800" b="0" noProof="0" dirty="0" smtClean="0">
              <a:solidFill>
                <a:schemeClr val="tx1"/>
              </a:solidFill>
              <a:latin typeface="+mn-ea"/>
              <a:ea typeface="+mn-ea"/>
              <a:cs typeface="Arial"/>
            </a:endParaRPr>
          </a:p>
        </p:txBody>
      </p:sp>
      <p:cxnSp>
        <p:nvCxnSpPr>
          <p:cNvPr id="113" name="직선 화살표 연결선 10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96" idx="2"/>
            <a:endCxn id="112" idx="0"/>
          </p:cNvCxnSpPr>
          <p:nvPr/>
        </p:nvCxnSpPr>
        <p:spPr>
          <a:xfrm rot="5400000">
            <a:off x="2747154" y="3974827"/>
            <a:ext cx="148778" cy="2900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0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12" idx="2"/>
            <a:endCxn id="80" idx="0"/>
          </p:cNvCxnSpPr>
          <p:nvPr/>
        </p:nvCxnSpPr>
        <p:spPr>
          <a:xfrm rot="16200000" flipH="1">
            <a:off x="2764378" y="4529727"/>
            <a:ext cx="115726" cy="4297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0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12" idx="1"/>
            <a:endCxn id="126" idx="3"/>
          </p:cNvCxnSpPr>
          <p:nvPr/>
        </p:nvCxnSpPr>
        <p:spPr>
          <a:xfrm rot="10800000" flipV="1">
            <a:off x="1895301" y="4262339"/>
            <a:ext cx="301361" cy="28953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그룹 121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987546" y="4254311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26" name="TextBox 125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수기 확정처리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담당자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12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148" y="4425536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Y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30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177" y="4067974"/>
            <a:ext cx="18000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N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32" name="직선 화살표 연결선 10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26" idx="2"/>
            <a:endCxn id="80" idx="1"/>
          </p:cNvCxnSpPr>
          <p:nvPr/>
        </p:nvCxnSpPr>
        <p:spPr>
          <a:xfrm rot="16200000" flipH="1">
            <a:off x="1845292" y="4283755"/>
            <a:ext cx="75958" cy="883565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08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4</a:t>
            </a:r>
            <a:r>
              <a:rPr lang="en-US" altLang="ko-KR" sz="1400" b="1" dirty="0" smtClean="0"/>
              <a:t>. </a:t>
            </a:r>
            <a:r>
              <a:rPr lang="ko-KR" altLang="en-US" sz="1400" b="1" dirty="0"/>
              <a:t>출고 프로세스</a:t>
            </a:r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4-1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 smtClean="0"/>
              <a:t>자가소모출고</a:t>
            </a:r>
            <a:r>
              <a:rPr lang="en-US" altLang="ko-KR" sz="1400" b="1" dirty="0" smtClean="0"/>
              <a:t>(WMS) </a:t>
            </a:r>
            <a:r>
              <a:rPr lang="ko-KR" altLang="en-US" sz="1400" b="1" dirty="0" smtClean="0"/>
              <a:t>화면 설명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0" y="1409048"/>
            <a:ext cx="9176951" cy="4833451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323030" y="2196500"/>
            <a:ext cx="6901554" cy="14775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1807343" y="1942558"/>
            <a:ext cx="1675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① 에서 전송하는 정보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23030" y="3928017"/>
            <a:ext cx="8310224" cy="14924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4825008" y="3928016"/>
            <a:ext cx="521349" cy="149247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408967" y="2196501"/>
            <a:ext cx="331011" cy="147757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6586" y="5420495"/>
            <a:ext cx="4538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확정 처리 후 ③ 에서 자가소모등록 데이터 생성 시 사용하는 정보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4" name="직선 화살표 연결선 3"/>
          <p:cNvCxnSpPr>
            <a:endCxn id="38" idx="0"/>
          </p:cNvCxnSpPr>
          <p:nvPr/>
        </p:nvCxnSpPr>
        <p:spPr>
          <a:xfrm>
            <a:off x="5006238" y="3792551"/>
            <a:ext cx="79445" cy="135465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94670" y="3696889"/>
            <a:ext cx="22910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0070C0"/>
                </a:solidFill>
              </a:rPr>
              <a:t>②에서 반영하는 출고실적 정보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 flipH="1" flipV="1">
            <a:off x="3773807" y="3597458"/>
            <a:ext cx="205185" cy="12249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6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5</a:t>
            </a:r>
            <a:r>
              <a:rPr lang="en-US" altLang="ko-KR" sz="1400" b="1" dirty="0" smtClean="0"/>
              <a:t>. </a:t>
            </a:r>
            <a:r>
              <a:rPr lang="ko-KR" altLang="en-US" sz="1400" b="1" dirty="0">
                <a:latin typeface="+mn-ea"/>
              </a:rPr>
              <a:t>기타 실적 </a:t>
            </a:r>
            <a:r>
              <a:rPr lang="en-US" altLang="ko-KR" sz="1400" b="1" dirty="0">
                <a:latin typeface="+mn-ea"/>
              </a:rPr>
              <a:t>I/F 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</a:t>
            </a:r>
            <a:r>
              <a:rPr lang="en-US" altLang="ko-KR" sz="13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/>
              <a:t>기타 실적 </a:t>
            </a:r>
            <a:r>
              <a:rPr lang="en-US" altLang="ko-KR" sz="1400" b="1" dirty="0"/>
              <a:t>I/F </a:t>
            </a: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스타일재고조정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466366"/>
              </p:ext>
            </p:extLst>
          </p:nvPr>
        </p:nvGraphicFramePr>
        <p:xfrm>
          <a:off x="478996" y="3061506"/>
          <a:ext cx="9043945" cy="3427363"/>
        </p:xfrm>
        <a:graphic>
          <a:graphicData uri="http://schemas.openxmlformats.org/drawingml/2006/table">
            <a:tbl>
              <a:tblPr/>
              <a:tblGrid>
                <a:gridCol w="90439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867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1572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7782879" y="3624543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2"/>
            <a:endCxn id="69" idx="0"/>
          </p:cNvCxnSpPr>
          <p:nvPr/>
        </p:nvCxnSpPr>
        <p:spPr>
          <a:xfrm>
            <a:off x="8236821" y="3889756"/>
            <a:ext cx="130" cy="31305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143" y="3091649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4018097" y="3061506"/>
            <a:ext cx="9159" cy="3427363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315" y="3091649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67" idx="2"/>
            <a:endCxn id="188" idx="1"/>
          </p:cNvCxnSpPr>
          <p:nvPr/>
        </p:nvCxnSpPr>
        <p:spPr>
          <a:xfrm flipH="1">
            <a:off x="8235560" y="4636027"/>
            <a:ext cx="1391" cy="47502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순서도: 자기 디스크 8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6768488" y="4325023"/>
            <a:ext cx="719956" cy="347555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8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67" idx="1"/>
            <a:endCxn id="86" idx="4"/>
          </p:cNvCxnSpPr>
          <p:nvPr/>
        </p:nvCxnSpPr>
        <p:spPr>
          <a:xfrm flipH="1" flipV="1">
            <a:off x="7488444" y="4498801"/>
            <a:ext cx="294696" cy="154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순서도: 저장 데이터 8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4618257" y="5131716"/>
            <a:ext cx="1205892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수량조정실적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  <a:endParaRPr lang="en-US" altLang="ko-KR" sz="800" b="0" dirty="0" smtClean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 smtClean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cxnSp>
        <p:nvCxnSpPr>
          <p:cNvPr id="91" name="직선 화살표 연결선 97">
            <a:extLst>
              <a:ext uri="{FF2B5EF4-FFF2-40B4-BE49-F238E27FC236}">
                <a16:creationId xmlns="" xmlns:a16="http://schemas.microsoft.com/office/drawing/2014/main" id="{5AF667EB-BB0E-FFF8-B6A6-795181B956C0}"/>
              </a:ext>
            </a:extLst>
          </p:cNvPr>
          <p:cNvCxnSpPr>
            <a:cxnSpLocks/>
            <a:stCxn id="90" idx="1"/>
            <a:endCxn id="175" idx="4"/>
          </p:cNvCxnSpPr>
          <p:nvPr/>
        </p:nvCxnSpPr>
        <p:spPr>
          <a:xfrm flipH="1">
            <a:off x="3506438" y="5305494"/>
            <a:ext cx="1111819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88" idx="2"/>
            <a:endCxn id="90" idx="3"/>
          </p:cNvCxnSpPr>
          <p:nvPr/>
        </p:nvCxnSpPr>
        <p:spPr>
          <a:xfrm flipH="1">
            <a:off x="5623167" y="5294972"/>
            <a:ext cx="2225230" cy="10522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6443400" y="3061506"/>
            <a:ext cx="1978" cy="3443012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1354" y="3082655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75" name="순서도: 자기 디스크 174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2732113" y="5131716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>
                <a:latin typeface="+mn-ea"/>
                <a:cs typeface="Arial"/>
              </a:rPr>
              <a:t>수량조정실적</a:t>
            </a:r>
            <a:endParaRPr lang="en-US" altLang="ko-KR" sz="800" dirty="0">
              <a:latin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88" name="순서도: 자기 디스크 187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7848397" y="5111051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수량조정실적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94" name="그룹 193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986621" y="4953434"/>
            <a:ext cx="907754" cy="565916"/>
            <a:chOff x="3133535" y="2530727"/>
            <a:chExt cx="884283" cy="65154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95" name="TextBox 194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465174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자가소모등록 데이터 생성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5" idx="2"/>
            <a:endCxn id="195" idx="3"/>
          </p:cNvCxnSpPr>
          <p:nvPr/>
        </p:nvCxnSpPr>
        <p:spPr>
          <a:xfrm flipH="1">
            <a:off x="1894375" y="5315637"/>
            <a:ext cx="837738" cy="169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순서도: 수행의 시작/종료 201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86494" y="6001564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95" idx="2"/>
            <a:endCxn id="202" idx="0"/>
          </p:cNvCxnSpPr>
          <p:nvPr/>
        </p:nvCxnSpPr>
        <p:spPr>
          <a:xfrm flipH="1">
            <a:off x="1440436" y="5519350"/>
            <a:ext cx="128" cy="48221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1688250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23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974603" cy="16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스타일별 컬러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사이즈 수량조정 시 </a:t>
            </a: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에서 조정처리 후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실적을 </a:t>
            </a:r>
            <a:r>
              <a:rPr lang="en-US" altLang="ko-KR" sz="1100" b="0" dirty="0" smtClean="0">
                <a:latin typeface="+mn-ea"/>
                <a:ea typeface="+mn-ea"/>
              </a:rPr>
              <a:t>I/F </a:t>
            </a:r>
            <a:r>
              <a:rPr lang="ko-KR" altLang="en-US" sz="1100" b="0" dirty="0" smtClean="0">
                <a:latin typeface="+mn-ea"/>
                <a:ea typeface="+mn-ea"/>
              </a:rPr>
              <a:t>받아 반영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현재 </a:t>
            </a: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에서 스타일재고조정 데이터만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 반영</a:t>
            </a:r>
            <a:r>
              <a:rPr lang="en-US" altLang="ko-KR" sz="1100" b="0" dirty="0" smtClean="0">
                <a:latin typeface="+mn-ea"/>
                <a:ea typeface="+mn-ea"/>
              </a:rPr>
              <a:t>(</a:t>
            </a:r>
            <a:r>
              <a:rPr lang="ko-KR" altLang="en-US" sz="1100" b="0" dirty="0" smtClean="0">
                <a:latin typeface="+mn-ea"/>
                <a:ea typeface="+mn-ea"/>
              </a:rPr>
              <a:t>추후 누락재고</a:t>
            </a:r>
            <a:r>
              <a:rPr lang="en-US" altLang="ko-KR" sz="1100" b="0" dirty="0" smtClean="0">
                <a:latin typeface="+mn-ea"/>
                <a:ea typeface="+mn-ea"/>
              </a:rPr>
              <a:t>, </a:t>
            </a:r>
            <a:r>
              <a:rPr lang="ko-KR" altLang="en-US" sz="1100" b="0" dirty="0" smtClean="0">
                <a:latin typeface="+mn-ea"/>
                <a:ea typeface="+mn-ea"/>
              </a:rPr>
              <a:t>재고조정 </a:t>
            </a:r>
            <a:r>
              <a:rPr lang="en-US" altLang="ko-KR" sz="1100" b="0" dirty="0" smtClean="0">
                <a:latin typeface="+mn-ea"/>
                <a:ea typeface="+mn-ea"/>
              </a:rPr>
              <a:t>I/F </a:t>
            </a:r>
            <a:r>
              <a:rPr lang="ko-KR" altLang="en-US" sz="1100" b="0" dirty="0" smtClean="0">
                <a:latin typeface="+mn-ea"/>
                <a:ea typeface="+mn-ea"/>
              </a:rPr>
              <a:t>연동 예정</a:t>
            </a:r>
            <a:r>
              <a:rPr lang="en-US" altLang="ko-KR" sz="1100" b="0" dirty="0" smtClean="0">
                <a:latin typeface="+mn-ea"/>
                <a:ea typeface="+mn-ea"/>
              </a:rPr>
              <a:t>)</a:t>
            </a: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실적 처리 후 </a:t>
            </a:r>
            <a:r>
              <a:rPr lang="en-US" altLang="ko-KR" sz="1100" b="0" dirty="0" smtClean="0">
                <a:latin typeface="+mn-ea"/>
                <a:ea typeface="+mn-ea"/>
              </a:rPr>
              <a:t>‘</a:t>
            </a:r>
            <a:r>
              <a:rPr lang="ko-KR" altLang="en-US" sz="1100" b="0" dirty="0" smtClean="0">
                <a:latin typeface="+mn-ea"/>
                <a:ea typeface="+mn-ea"/>
              </a:rPr>
              <a:t>자가소모등록</a:t>
            </a:r>
            <a:r>
              <a:rPr lang="en-US" altLang="ko-KR" sz="1100" b="0" dirty="0" smtClean="0">
                <a:latin typeface="+mn-ea"/>
                <a:ea typeface="+mn-ea"/>
              </a:rPr>
              <a:t>’ </a:t>
            </a:r>
            <a:r>
              <a:rPr lang="ko-KR" altLang="en-US" sz="1100" b="0" dirty="0" smtClean="0">
                <a:latin typeface="+mn-ea"/>
                <a:ea typeface="+mn-ea"/>
              </a:rPr>
              <a:t>화면에서 반영된 데이터 확인 가능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WMS ZONE</a:t>
            </a:r>
            <a:r>
              <a:rPr lang="ko-KR" altLang="en-US" sz="1100" b="0" dirty="0" smtClean="0">
                <a:latin typeface="+mn-ea"/>
                <a:ea typeface="+mn-ea"/>
              </a:rPr>
              <a:t>별로 조정된 수량을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에서는 </a:t>
            </a:r>
            <a:r>
              <a:rPr lang="ko-KR" altLang="en-US" sz="1100" b="0" dirty="0" err="1" smtClean="0">
                <a:latin typeface="+mn-ea"/>
                <a:ea typeface="+mn-ea"/>
              </a:rPr>
              <a:t>창고별</a:t>
            </a:r>
            <a:r>
              <a:rPr lang="en-US" altLang="ko-KR" sz="1100" b="0" dirty="0" smtClean="0">
                <a:latin typeface="+mn-ea"/>
                <a:ea typeface="+mn-ea"/>
              </a:rPr>
              <a:t>(YA, YC, GC </a:t>
            </a:r>
            <a:r>
              <a:rPr lang="ko-KR" altLang="en-US" sz="1100" b="0" dirty="0" smtClean="0">
                <a:latin typeface="+mn-ea"/>
                <a:ea typeface="+mn-ea"/>
              </a:rPr>
              <a:t>등</a:t>
            </a:r>
            <a:r>
              <a:rPr lang="en-US" altLang="ko-KR" sz="1100" b="0" dirty="0" smtClean="0">
                <a:latin typeface="+mn-ea"/>
                <a:ea typeface="+mn-ea"/>
              </a:rPr>
              <a:t>)</a:t>
            </a:r>
            <a:r>
              <a:rPr lang="ko-KR" altLang="en-US" sz="1100" b="0" dirty="0" smtClean="0">
                <a:latin typeface="+mn-ea"/>
                <a:ea typeface="+mn-ea"/>
              </a:rPr>
              <a:t>로 반영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0" indent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ko-KR" sz="1100" b="0" dirty="0" smtClean="0">
                <a:latin typeface="+mn-ea"/>
                <a:ea typeface="+mn-ea"/>
              </a:rPr>
              <a:t>  ex. WMS </a:t>
            </a:r>
            <a:r>
              <a:rPr lang="en-US" altLang="ko-KR" sz="1100" b="0" dirty="0">
                <a:latin typeface="+mn-ea"/>
                <a:ea typeface="+mn-ea"/>
              </a:rPr>
              <a:t>1A01(</a:t>
            </a:r>
            <a:r>
              <a:rPr lang="en-US" altLang="ko-KR" sz="1100" dirty="0">
                <a:latin typeface="+mn-ea"/>
                <a:ea typeface="+mn-ea"/>
              </a:rPr>
              <a:t>YA</a:t>
            </a:r>
            <a:r>
              <a:rPr lang="en-US" altLang="ko-KR" sz="1100" b="0" dirty="0">
                <a:latin typeface="+mn-ea"/>
                <a:ea typeface="+mn-ea"/>
              </a:rPr>
              <a:t>) </a:t>
            </a:r>
            <a:r>
              <a:rPr lang="en-US" altLang="ko-KR" sz="1100" b="0" dirty="0" smtClean="0">
                <a:latin typeface="+mn-ea"/>
                <a:ea typeface="+mn-ea"/>
              </a:rPr>
              <a:t>MSW4PP1903 CGR 76 (</a:t>
            </a:r>
            <a:r>
              <a:rPr lang="en-US" altLang="ko-KR" sz="1100" dirty="0" smtClean="0">
                <a:latin typeface="+mn-ea"/>
                <a:ea typeface="+mn-ea"/>
              </a:rPr>
              <a:t>+2pcs</a:t>
            </a:r>
            <a:r>
              <a:rPr lang="en-US" altLang="ko-KR" sz="1100" b="0" dirty="0" smtClean="0">
                <a:latin typeface="+mn-ea"/>
                <a:ea typeface="+mn-ea"/>
              </a:rPr>
              <a:t>) &gt; FONE </a:t>
            </a:r>
            <a:r>
              <a:rPr lang="en-US" altLang="ko-KR" sz="1100" dirty="0" smtClean="0">
                <a:latin typeface="+mn-ea"/>
                <a:ea typeface="+mn-ea"/>
              </a:rPr>
              <a:t>YA</a:t>
            </a:r>
            <a:r>
              <a:rPr lang="en-US" altLang="ko-KR" sz="1100" b="0" dirty="0" smtClean="0">
                <a:latin typeface="+mn-ea"/>
                <a:ea typeface="+mn-ea"/>
              </a:rPr>
              <a:t> : </a:t>
            </a:r>
            <a:r>
              <a:rPr lang="en-US" altLang="ko-KR" sz="1100" b="0" dirty="0">
                <a:latin typeface="+mn-ea"/>
              </a:rPr>
              <a:t>MSW4PP1903 CGR 76 </a:t>
            </a:r>
            <a:r>
              <a:rPr lang="en-US" altLang="ko-KR" sz="1100" b="0" dirty="0" smtClean="0">
                <a:latin typeface="+mn-ea"/>
              </a:rPr>
              <a:t>(</a:t>
            </a:r>
            <a:r>
              <a:rPr lang="en-US" altLang="ko-KR" sz="1100" dirty="0">
                <a:latin typeface="+mn-ea"/>
              </a:rPr>
              <a:t>-</a:t>
            </a:r>
            <a:r>
              <a:rPr lang="en-US" altLang="ko-KR" sz="1100" dirty="0" smtClean="0">
                <a:latin typeface="+mn-ea"/>
              </a:rPr>
              <a:t>2pcs</a:t>
            </a:r>
            <a:r>
              <a:rPr lang="en-US" altLang="ko-KR" sz="1100" b="0" dirty="0" smtClean="0">
                <a:latin typeface="+mn-ea"/>
              </a:rPr>
              <a:t>) &gt;</a:t>
            </a:r>
            <a:r>
              <a:rPr lang="en-US" altLang="ko-KR" sz="1100" dirty="0" smtClean="0">
                <a:latin typeface="+mn-ea"/>
                <a:ea typeface="+mn-ea"/>
              </a:rPr>
              <a:t>F/A-ONE YA </a:t>
            </a:r>
            <a:r>
              <a:rPr lang="ko-KR" altLang="en-US" sz="1100" dirty="0" smtClean="0">
                <a:latin typeface="+mn-ea"/>
                <a:ea typeface="+mn-ea"/>
              </a:rPr>
              <a:t>창고재고 총 수량은 변동 </a:t>
            </a:r>
            <a:r>
              <a:rPr lang="en-US" altLang="ko-KR" sz="1100" dirty="0" smtClean="0">
                <a:latin typeface="+mn-ea"/>
                <a:ea typeface="+mn-ea"/>
              </a:rPr>
              <a:t>X</a:t>
            </a:r>
          </a:p>
          <a:p>
            <a:pPr marL="0" indent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ko-KR" sz="1100" b="0" dirty="0" smtClean="0">
                <a:latin typeface="+mn-ea"/>
                <a:ea typeface="+mn-ea"/>
              </a:rPr>
              <a:t>                     </a:t>
            </a:r>
            <a:r>
              <a:rPr lang="en-US" altLang="ko-KR" sz="1100" b="0" dirty="0" smtClean="0">
                <a:latin typeface="+mn-ea"/>
              </a:rPr>
              <a:t>MSW4PP1903 MGR 76 (</a:t>
            </a:r>
            <a:r>
              <a:rPr lang="en-US" altLang="ko-KR" sz="1100" dirty="0" smtClean="0">
                <a:latin typeface="+mn-ea"/>
              </a:rPr>
              <a:t>-2pcs</a:t>
            </a:r>
            <a:r>
              <a:rPr lang="en-US" altLang="ko-KR" sz="1100" b="0" dirty="0" smtClean="0">
                <a:latin typeface="+mn-ea"/>
              </a:rPr>
              <a:t>)                   MSW4PP1903 </a:t>
            </a:r>
            <a:r>
              <a:rPr lang="en-US" altLang="ko-KR" sz="1100" b="0" dirty="0">
                <a:latin typeface="+mn-ea"/>
              </a:rPr>
              <a:t>MGR 76 </a:t>
            </a:r>
            <a:r>
              <a:rPr lang="en-US" altLang="ko-KR" sz="1100" b="0" dirty="0" smtClean="0">
                <a:latin typeface="+mn-ea"/>
              </a:rPr>
              <a:t>(+</a:t>
            </a:r>
            <a:r>
              <a:rPr lang="en-US" altLang="ko-KR" sz="1100" dirty="0" smtClean="0">
                <a:latin typeface="+mn-ea"/>
              </a:rPr>
              <a:t>2pcs</a:t>
            </a:r>
            <a:r>
              <a:rPr lang="en-US" altLang="ko-KR" sz="1100" b="0" dirty="0">
                <a:latin typeface="+mn-ea"/>
              </a:rPr>
              <a:t>)</a:t>
            </a:r>
            <a:r>
              <a:rPr lang="en-US" altLang="ko-KR" sz="1100" b="0" dirty="0" smtClean="0">
                <a:latin typeface="+mn-ea"/>
              </a:rPr>
              <a:t>     &gt; </a:t>
            </a:r>
            <a:r>
              <a:rPr lang="en-US" altLang="ko-KR" sz="1100" dirty="0" smtClean="0">
                <a:latin typeface="+mn-ea"/>
                <a:ea typeface="+mn-ea"/>
              </a:rPr>
              <a:t>F/A-ONE </a:t>
            </a:r>
            <a:r>
              <a:rPr lang="ko-KR" altLang="en-US" sz="1100" dirty="0" smtClean="0">
                <a:latin typeface="+mn-ea"/>
                <a:ea typeface="+mn-ea"/>
              </a:rPr>
              <a:t>자가소모 수량은 부호 반대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sp>
        <p:nvSpPr>
          <p:cNvPr id="10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346" y="5490346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12" y="5491322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7780903" y="4202810"/>
            <a:ext cx="909859" cy="594342"/>
            <a:chOff x="7780903" y="2975369"/>
            <a:chExt cx="909859" cy="594342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66" name="그룹 65">
              <a:extLst>
                <a:ext uri="{FF2B5EF4-FFF2-40B4-BE49-F238E27FC236}">
                  <a16:creationId xmlns="" xmlns:a16="http://schemas.microsoft.com/office/drawing/2014/main" id="{191C3F1D-1854-B794-1228-31D2497BCD23}"/>
                </a:ext>
              </a:extLst>
            </p:cNvPr>
            <p:cNvGrpSpPr/>
            <p:nvPr/>
          </p:nvGrpSpPr>
          <p:grpSpPr>
            <a:xfrm>
              <a:off x="7783140" y="2975369"/>
              <a:ext cx="907622" cy="433217"/>
              <a:chOff x="3133664" y="2530763"/>
              <a:chExt cx="884154" cy="498764"/>
            </a:xfrm>
            <a:grpFill/>
          </p:grpSpPr>
          <p:sp>
            <p:nvSpPr>
              <p:cNvPr id="67" name="TextBox 66">
                <a:extLst>
                  <a:ext uri="{FF2B5EF4-FFF2-40B4-BE49-F238E27FC236}">
                    <a16:creationId xmlns="" xmlns:a16="http://schemas.microsoft.com/office/drawing/2014/main" id="{2B3DA6C5-ED78-6528-FB80-433092E614CC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dirty="0" smtClean="0">
                    <a:latin typeface="+mn-ea"/>
                    <a:cs typeface="Arial"/>
                  </a:rPr>
                  <a:t>동일 </a:t>
                </a:r>
                <a:r>
                  <a:rPr kumimoji="0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Arial"/>
                  </a:rPr>
                  <a:t>스타일 재고조정</a:t>
                </a:r>
                <a:endPara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="" xmlns:a16="http://schemas.microsoft.com/office/drawing/2014/main" id="{9D0ABFDF-8776-E5F7-F13A-1C142853F396}"/>
                  </a:ext>
                </a:extLst>
              </p:cNvPr>
              <p:cNvSpPr txBox="1"/>
              <p:nvPr/>
            </p:nvSpPr>
            <p:spPr>
              <a:xfrm>
                <a:off x="3133664" y="2530763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b="1" dirty="0" smtClean="0">
                    <a:latin typeface="+mn-ea"/>
                    <a:cs typeface="Arial"/>
                  </a:rPr>
                  <a:t>센터</a:t>
                </a: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 </a:t>
                </a: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담당자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7780903" y="3407836"/>
              <a:ext cx="907622" cy="16187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스타일수량조정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202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5</a:t>
            </a:r>
            <a:r>
              <a:rPr lang="en-US" altLang="ko-KR" sz="1400" b="1" dirty="0" smtClean="0"/>
              <a:t>. </a:t>
            </a:r>
            <a:r>
              <a:rPr lang="ko-KR" altLang="en-US" sz="1400" b="1" dirty="0">
                <a:latin typeface="+mn-ea"/>
              </a:rPr>
              <a:t>기타 실적 </a:t>
            </a:r>
            <a:r>
              <a:rPr lang="en-US" altLang="ko-KR" sz="1400" b="1" dirty="0">
                <a:latin typeface="+mn-ea"/>
              </a:rPr>
              <a:t>I/F 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2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>
                <a:latin typeface="+mn-ea"/>
              </a:rPr>
              <a:t>기타 실적 </a:t>
            </a:r>
            <a:r>
              <a:rPr lang="en-US" altLang="ko-KR" sz="1400" b="1" dirty="0">
                <a:latin typeface="+mn-ea"/>
              </a:rPr>
              <a:t>I/F </a:t>
            </a:r>
            <a:r>
              <a:rPr lang="en-US" altLang="ko-KR" sz="1400" b="1" dirty="0" smtClean="0"/>
              <a:t>- </a:t>
            </a:r>
            <a:r>
              <a:rPr lang="ko-KR" altLang="en-US" sz="1400" b="1" dirty="0" smtClean="0"/>
              <a:t>재고 </a:t>
            </a:r>
            <a:r>
              <a:rPr lang="ko-KR" altLang="en-US" sz="1400" b="1" dirty="0" err="1" smtClean="0"/>
              <a:t>존이동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674118"/>
              </p:ext>
            </p:extLst>
          </p:nvPr>
        </p:nvGraphicFramePr>
        <p:xfrm>
          <a:off x="478996" y="3061506"/>
          <a:ext cx="9043945" cy="3427363"/>
        </p:xfrm>
        <a:graphic>
          <a:graphicData uri="http://schemas.openxmlformats.org/drawingml/2006/table">
            <a:tbl>
              <a:tblPr/>
              <a:tblGrid>
                <a:gridCol w="90439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867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1572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" name="순서도: 수행의 시작/종료 49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7782879" y="3624543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50" idx="2"/>
            <a:endCxn id="69" idx="0"/>
          </p:cNvCxnSpPr>
          <p:nvPr/>
        </p:nvCxnSpPr>
        <p:spPr>
          <a:xfrm>
            <a:off x="8236821" y="3889756"/>
            <a:ext cx="130" cy="30481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143" y="3091649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4018097" y="3061506"/>
            <a:ext cx="9159" cy="3427363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315" y="3091649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="" xmlns:a16="http://schemas.microsoft.com/office/drawing/2014/main" id="{FFCA5F0A-DF93-F402-5239-674294F6A900}"/>
              </a:ext>
            </a:extLst>
          </p:cNvPr>
          <p:cNvCxnSpPr>
            <a:cxnSpLocks/>
            <a:stCxn id="67" idx="2"/>
            <a:endCxn id="188" idx="1"/>
          </p:cNvCxnSpPr>
          <p:nvPr/>
        </p:nvCxnSpPr>
        <p:spPr>
          <a:xfrm flipH="1">
            <a:off x="8235560" y="4627789"/>
            <a:ext cx="1391" cy="46678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순서도: 자기 디스크 85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6768488" y="4316785"/>
            <a:ext cx="719956" cy="347555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latin typeface="+mn-ea"/>
                <a:ea typeface="+mn-ea"/>
                <a:cs typeface="Arial"/>
              </a:rPr>
              <a:t>재고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88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67" idx="1"/>
            <a:endCxn id="86" idx="4"/>
          </p:cNvCxnSpPr>
          <p:nvPr/>
        </p:nvCxnSpPr>
        <p:spPr>
          <a:xfrm flipH="1" flipV="1">
            <a:off x="7488444" y="4490563"/>
            <a:ext cx="294696" cy="154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순서도: 저장 데이터 8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4618257" y="5115240"/>
            <a:ext cx="1205892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재고이동실적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  <a:endParaRPr lang="en-US" altLang="ko-KR" sz="800" b="0" dirty="0" smtClean="0">
              <a:latin typeface="+mn-ea"/>
              <a:ea typeface="+mn-ea"/>
              <a:cs typeface="Arial"/>
            </a:endParaRPr>
          </a:p>
          <a:p>
            <a:pPr lvl="0" algn="ctr">
              <a:defRPr/>
            </a:pPr>
            <a:r>
              <a:rPr lang="en-US" altLang="ko-KR" sz="800" dirty="0" smtClean="0">
                <a:latin typeface="+mn-ea"/>
                <a:ea typeface="+mn-ea"/>
                <a:cs typeface="Arial"/>
              </a:rPr>
              <a:t>OMS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</p:txBody>
      </p:sp>
      <p:cxnSp>
        <p:nvCxnSpPr>
          <p:cNvPr id="91" name="직선 화살표 연결선 97">
            <a:extLst>
              <a:ext uri="{FF2B5EF4-FFF2-40B4-BE49-F238E27FC236}">
                <a16:creationId xmlns="" xmlns:a16="http://schemas.microsoft.com/office/drawing/2014/main" id="{5AF667EB-BB0E-FFF8-B6A6-795181B956C0}"/>
              </a:ext>
            </a:extLst>
          </p:cNvPr>
          <p:cNvCxnSpPr>
            <a:cxnSpLocks/>
            <a:stCxn id="90" idx="1"/>
            <a:endCxn id="175" idx="4"/>
          </p:cNvCxnSpPr>
          <p:nvPr/>
        </p:nvCxnSpPr>
        <p:spPr>
          <a:xfrm flipH="1">
            <a:off x="3506438" y="5289018"/>
            <a:ext cx="1111819" cy="10143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7">
            <a:extLst>
              <a:ext uri="{FF2B5EF4-FFF2-40B4-BE49-F238E27FC236}">
                <a16:creationId xmlns="" xmlns:a16="http://schemas.microsoft.com/office/drawing/2014/main" id="{45A796D9-6D66-1988-069F-79852E85D557}"/>
              </a:ext>
            </a:extLst>
          </p:cNvPr>
          <p:cNvCxnSpPr>
            <a:cxnSpLocks/>
            <a:stCxn id="188" idx="2"/>
            <a:endCxn id="90" idx="3"/>
          </p:cNvCxnSpPr>
          <p:nvPr/>
        </p:nvCxnSpPr>
        <p:spPr>
          <a:xfrm flipH="1">
            <a:off x="5623167" y="5278496"/>
            <a:ext cx="2225230" cy="10522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6443400" y="3061506"/>
            <a:ext cx="1978" cy="3443012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878" y="3082655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75" name="순서도: 자기 디스크 174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2732113" y="5115240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재고이동실적</a:t>
            </a:r>
            <a:endParaRPr lang="en-US" altLang="ko-KR" sz="800" dirty="0">
              <a:latin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latin typeface="+mn-ea"/>
                <a:cs typeface="Arial"/>
              </a:rPr>
              <a:t>ERP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88" name="순서도: 자기 디스크 187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7848397" y="5094575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재고이동실적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194" name="그룹 193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986621" y="4862814"/>
            <a:ext cx="907754" cy="705963"/>
            <a:chOff x="3133535" y="2530727"/>
            <a:chExt cx="884283" cy="81277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95" name="TextBox 194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626411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err="1" smtClean="0">
                  <a:latin typeface="+mn-ea"/>
                  <a:cs typeface="Arial"/>
                </a:rPr>
                <a:t>창고간제품이동</a:t>
              </a:r>
              <a:r>
                <a:rPr lang="en-US" altLang="ko-KR" sz="800" dirty="0" smtClean="0">
                  <a:latin typeface="+mn-ea"/>
                  <a:cs typeface="Arial"/>
                </a:rPr>
                <a:t>, 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+mn-ea"/>
                  <a:cs typeface="Arial"/>
                </a:rPr>
                <a:t>입고부족분</a:t>
              </a:r>
              <a:r>
                <a:rPr lang="en-US" altLang="ko-KR" sz="800" dirty="0" smtClean="0">
                  <a:solidFill>
                    <a:srgbClr val="FF0000"/>
                  </a:solidFill>
                  <a:latin typeface="+mn-ea"/>
                  <a:cs typeface="Arial"/>
                </a:rPr>
                <a:t>, 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+mn-ea"/>
                  <a:cs typeface="Arial"/>
                </a:rPr>
                <a:t>입고부족정산 </a:t>
              </a:r>
              <a:r>
                <a:rPr lang="ko-KR" altLang="en-US" sz="800" dirty="0" smtClean="0">
                  <a:latin typeface="+mn-ea"/>
                  <a:cs typeface="Arial"/>
                </a:rPr>
                <a:t>데이터 생성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cxnSp>
        <p:nvCxnSpPr>
          <p:cNvPr id="19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75" idx="2"/>
            <a:endCxn id="195" idx="3"/>
          </p:cNvCxnSpPr>
          <p:nvPr/>
        </p:nvCxnSpPr>
        <p:spPr>
          <a:xfrm flipH="1" flipV="1">
            <a:off x="1894375" y="5296733"/>
            <a:ext cx="837738" cy="242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순서도: 수행의 시작/종료 201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86494" y="6034516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95" idx="2"/>
            <a:endCxn id="202" idx="0"/>
          </p:cNvCxnSpPr>
          <p:nvPr/>
        </p:nvCxnSpPr>
        <p:spPr>
          <a:xfrm flipH="1">
            <a:off x="1440436" y="5568777"/>
            <a:ext cx="128" cy="46573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1688250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108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346" y="5473870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0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812" y="5557226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7780903" y="4194572"/>
            <a:ext cx="909859" cy="594342"/>
            <a:chOff x="7780903" y="2975369"/>
            <a:chExt cx="909859" cy="594342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66" name="그룹 65">
              <a:extLst>
                <a:ext uri="{FF2B5EF4-FFF2-40B4-BE49-F238E27FC236}">
                  <a16:creationId xmlns="" xmlns:a16="http://schemas.microsoft.com/office/drawing/2014/main" id="{191C3F1D-1854-B794-1228-31D2497BCD23}"/>
                </a:ext>
              </a:extLst>
            </p:cNvPr>
            <p:cNvGrpSpPr/>
            <p:nvPr/>
          </p:nvGrpSpPr>
          <p:grpSpPr>
            <a:xfrm>
              <a:off x="7783140" y="2975369"/>
              <a:ext cx="907622" cy="433217"/>
              <a:chOff x="3133664" y="2530763"/>
              <a:chExt cx="884154" cy="498764"/>
            </a:xfrm>
            <a:grpFill/>
          </p:grpSpPr>
          <p:sp>
            <p:nvSpPr>
              <p:cNvPr id="67" name="TextBox 66">
                <a:extLst>
                  <a:ext uri="{FF2B5EF4-FFF2-40B4-BE49-F238E27FC236}">
                    <a16:creationId xmlns="" xmlns:a16="http://schemas.microsoft.com/office/drawing/2014/main" id="{2B3DA6C5-ED78-6528-FB80-433092E614CC}"/>
                  </a:ext>
                </a:extLst>
              </p:cNvPr>
              <p:cNvSpPr txBox="1"/>
              <p:nvPr/>
            </p:nvSpPr>
            <p:spPr>
              <a:xfrm>
                <a:off x="3133664" y="2717094"/>
                <a:ext cx="884154" cy="312433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ea typeface="+mn-ea"/>
                    <a:cs typeface="Arial"/>
                  </a:rPr>
                  <a:t>센터 재고 이동</a:t>
                </a:r>
                <a:endPara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="" xmlns:a16="http://schemas.microsoft.com/office/drawing/2014/main" id="{9D0ABFDF-8776-E5F7-F13A-1C142853F396}"/>
                  </a:ext>
                </a:extLst>
              </p:cNvPr>
              <p:cNvSpPr txBox="1"/>
              <p:nvPr/>
            </p:nvSpPr>
            <p:spPr>
              <a:xfrm>
                <a:off x="3133664" y="2530763"/>
                <a:ext cx="884154" cy="186367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txBody>
              <a:bodyPr wrap="square" lIns="36000" tIns="72000" rIns="36000" bIns="72000" rtlCol="0" anchor="ctr" anchorCtr="0">
                <a:no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b="1" dirty="0" smtClean="0">
                    <a:latin typeface="+mn-ea"/>
                    <a:cs typeface="Arial"/>
                  </a:rPr>
                  <a:t>센터</a:t>
                </a:r>
                <a:r>
                  <a:rPr kumimoji="0" lang="ko-KR" altLang="en-US" sz="800" b="1" i="0" u="none" strike="noStrike" kern="1200" cap="none" spc="0" normalizeH="0" baseline="0" noProof="0" dirty="0" smtClean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 </a:t>
                </a: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Arial"/>
                  </a:rPr>
                  <a:t>담당자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7780903" y="3407836"/>
              <a:ext cx="907622" cy="161875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120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로트별재고이동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067117" cy="1499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에서 </a:t>
            </a:r>
            <a:r>
              <a:rPr lang="ko-KR" altLang="en-US" sz="1100" b="0" dirty="0" err="1" smtClean="0">
                <a:latin typeface="+mn-ea"/>
                <a:ea typeface="+mn-ea"/>
              </a:rPr>
              <a:t>존별</a:t>
            </a:r>
            <a:r>
              <a:rPr lang="ko-KR" altLang="en-US" sz="1100" b="0" dirty="0" smtClean="0">
                <a:latin typeface="+mn-ea"/>
                <a:ea typeface="+mn-ea"/>
              </a:rPr>
              <a:t> 재고이동처리 후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재고이동실적을 </a:t>
            </a:r>
            <a:r>
              <a:rPr lang="en-US" altLang="ko-KR" sz="1100" b="0" dirty="0" smtClean="0">
                <a:latin typeface="+mn-ea"/>
                <a:ea typeface="+mn-ea"/>
              </a:rPr>
              <a:t>I/F</a:t>
            </a:r>
            <a:r>
              <a:rPr lang="ko-KR" altLang="en-US" sz="1100" b="0" dirty="0" smtClean="0">
                <a:latin typeface="+mn-ea"/>
                <a:ea typeface="+mn-ea"/>
              </a:rPr>
              <a:t> 받아 반영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실적 처리 시 </a:t>
            </a:r>
            <a:r>
              <a:rPr lang="en-US" altLang="ko-KR" sz="1100" b="0" dirty="0" smtClean="0">
                <a:latin typeface="+mn-ea"/>
                <a:ea typeface="+mn-ea"/>
              </a:rPr>
              <a:t>‘</a:t>
            </a:r>
            <a:r>
              <a:rPr lang="ko-KR" altLang="en-US" sz="1100" b="0" dirty="0" err="1" smtClean="0">
                <a:latin typeface="+mn-ea"/>
                <a:ea typeface="+mn-ea"/>
              </a:rPr>
              <a:t>창고간제품이동</a:t>
            </a:r>
            <a:r>
              <a:rPr lang="en-US" altLang="ko-KR" sz="1100" b="0" dirty="0" smtClean="0">
                <a:latin typeface="+mn-ea"/>
                <a:ea typeface="+mn-ea"/>
              </a:rPr>
              <a:t>’ </a:t>
            </a:r>
            <a:r>
              <a:rPr lang="ko-KR" altLang="en-US" sz="1100" b="0" dirty="0">
                <a:latin typeface="+mn-ea"/>
                <a:ea typeface="+mn-ea"/>
              </a:rPr>
              <a:t>화면에서 반영된 데이터 확인 </a:t>
            </a:r>
            <a:r>
              <a:rPr lang="ko-KR" altLang="en-US" sz="1100" b="0" dirty="0" smtClean="0">
                <a:latin typeface="+mn-ea"/>
                <a:ea typeface="+mn-ea"/>
              </a:rPr>
              <a:t>가능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WMS ZONE</a:t>
            </a:r>
            <a:r>
              <a:rPr lang="ko-KR" altLang="en-US" sz="1100" b="0" dirty="0" smtClean="0">
                <a:latin typeface="+mn-ea"/>
                <a:ea typeface="+mn-ea"/>
              </a:rPr>
              <a:t>별로 이동된 수량을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에서는 </a:t>
            </a:r>
            <a:r>
              <a:rPr lang="ko-KR" altLang="en-US" sz="1100" b="0" dirty="0" err="1" smtClean="0">
                <a:latin typeface="+mn-ea"/>
                <a:ea typeface="+mn-ea"/>
              </a:rPr>
              <a:t>창고별</a:t>
            </a:r>
            <a:r>
              <a:rPr lang="en-US" altLang="ko-KR" sz="1100" b="0" dirty="0" smtClean="0">
                <a:latin typeface="+mn-ea"/>
                <a:ea typeface="+mn-ea"/>
              </a:rPr>
              <a:t>(YA, YC, GC </a:t>
            </a:r>
            <a:r>
              <a:rPr lang="ko-KR" altLang="en-US" sz="1100" b="0" dirty="0" smtClean="0">
                <a:latin typeface="+mn-ea"/>
                <a:ea typeface="+mn-ea"/>
              </a:rPr>
              <a:t>등</a:t>
            </a:r>
            <a:r>
              <a:rPr lang="en-US" altLang="ko-KR" sz="1100" b="0" dirty="0" smtClean="0">
                <a:latin typeface="+mn-ea"/>
                <a:ea typeface="+mn-ea"/>
              </a:rPr>
              <a:t>)</a:t>
            </a:r>
            <a:r>
              <a:rPr lang="ko-KR" altLang="en-US" sz="1100" b="0" dirty="0" smtClean="0">
                <a:latin typeface="+mn-ea"/>
                <a:ea typeface="+mn-ea"/>
              </a:rPr>
              <a:t>로 반영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ko-KR" sz="1100" b="0" dirty="0" smtClean="0">
                <a:latin typeface="+mn-ea"/>
                <a:ea typeface="+mn-ea"/>
              </a:rPr>
              <a:t>   </a:t>
            </a:r>
            <a:r>
              <a:rPr lang="ko-KR" altLang="en-US" sz="1100" b="0" dirty="0" smtClean="0">
                <a:latin typeface="+mn-ea"/>
                <a:ea typeface="+mn-ea"/>
              </a:rPr>
              <a:t>단</a:t>
            </a:r>
            <a:r>
              <a:rPr lang="en-US" altLang="ko-KR" sz="1100" b="0" dirty="0" smtClean="0">
                <a:latin typeface="+mn-ea"/>
                <a:ea typeface="+mn-ea"/>
              </a:rPr>
              <a:t>, WMS ZONE</a:t>
            </a:r>
            <a:r>
              <a:rPr lang="ko-KR" altLang="en-US" sz="1100" b="0" dirty="0" smtClean="0">
                <a:latin typeface="+mn-ea"/>
                <a:ea typeface="+mn-ea"/>
              </a:rPr>
              <a:t>정보에 </a:t>
            </a:r>
            <a:r>
              <a:rPr lang="ko-KR" altLang="en-US" sz="1100" b="0" dirty="0" err="1" smtClean="0">
                <a:latin typeface="+mn-ea"/>
                <a:ea typeface="+mn-ea"/>
              </a:rPr>
              <a:t>맵핑되어있는</a:t>
            </a:r>
            <a:r>
              <a:rPr lang="ko-KR" altLang="en-US" sz="1100" b="0" dirty="0" smtClean="0">
                <a:latin typeface="+mn-ea"/>
                <a:ea typeface="+mn-ea"/>
              </a:rPr>
              <a:t> </a:t>
            </a:r>
            <a:r>
              <a:rPr lang="en-US" altLang="ko-KR" sz="1100" b="0" dirty="0" smtClean="0">
                <a:latin typeface="+mn-ea"/>
                <a:ea typeface="+mn-ea"/>
              </a:rPr>
              <a:t>F/A-ONE </a:t>
            </a:r>
            <a:r>
              <a:rPr lang="ko-KR" altLang="en-US" sz="1100" b="0" dirty="0" smtClean="0">
                <a:latin typeface="+mn-ea"/>
                <a:ea typeface="+mn-ea"/>
              </a:rPr>
              <a:t>창고가 동일한 </a:t>
            </a:r>
            <a:r>
              <a:rPr lang="en-US" altLang="ko-KR" sz="1100" b="0" dirty="0" smtClean="0">
                <a:latin typeface="+mn-ea"/>
                <a:ea typeface="+mn-ea"/>
              </a:rPr>
              <a:t>ZONE</a:t>
            </a:r>
            <a:r>
              <a:rPr lang="ko-KR" altLang="en-US" sz="1100" b="0" dirty="0" smtClean="0">
                <a:latin typeface="+mn-ea"/>
                <a:ea typeface="+mn-ea"/>
              </a:rPr>
              <a:t>의 이동실적은 반영되지 않음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ko-KR" sz="1100" b="0" dirty="0">
                <a:latin typeface="+mn-ea"/>
                <a:ea typeface="+mn-ea"/>
              </a:rPr>
              <a:t> </a:t>
            </a:r>
            <a:r>
              <a:rPr lang="en-US" altLang="ko-KR" sz="1100" b="0" dirty="0" smtClean="0">
                <a:latin typeface="+mn-ea"/>
                <a:ea typeface="+mn-ea"/>
              </a:rPr>
              <a:t>  ex) 1A01(</a:t>
            </a:r>
            <a:r>
              <a:rPr lang="en-US" altLang="ko-KR" sz="1100" dirty="0" smtClean="0">
                <a:latin typeface="+mn-ea"/>
                <a:ea typeface="+mn-ea"/>
              </a:rPr>
              <a:t>YA</a:t>
            </a:r>
            <a:r>
              <a:rPr lang="en-US" altLang="ko-KR" sz="1100" b="0" dirty="0" smtClean="0">
                <a:latin typeface="+mn-ea"/>
                <a:ea typeface="+mn-ea"/>
              </a:rPr>
              <a:t>) &gt; 2A01(</a:t>
            </a:r>
            <a:r>
              <a:rPr lang="en-US" altLang="ko-KR" sz="1100" dirty="0" smtClean="0">
                <a:latin typeface="+mn-ea"/>
                <a:ea typeface="+mn-ea"/>
              </a:rPr>
              <a:t>YA</a:t>
            </a:r>
            <a:r>
              <a:rPr lang="en-US" altLang="ko-KR" sz="1100" b="0" dirty="0" smtClean="0">
                <a:latin typeface="+mn-ea"/>
                <a:ea typeface="+mn-ea"/>
              </a:rPr>
              <a:t>) : </a:t>
            </a:r>
            <a:r>
              <a:rPr lang="ko-KR" altLang="en-US" sz="1100" dirty="0" smtClean="0">
                <a:latin typeface="+mn-ea"/>
                <a:ea typeface="+mn-ea"/>
              </a:rPr>
              <a:t>실적반영 </a:t>
            </a:r>
            <a:r>
              <a:rPr lang="en-US" altLang="ko-KR" sz="1100" dirty="0" smtClean="0">
                <a:latin typeface="+mn-ea"/>
                <a:ea typeface="+mn-ea"/>
              </a:rPr>
              <a:t>X</a:t>
            </a:r>
            <a:r>
              <a:rPr lang="en-US" altLang="ko-KR" sz="1100" b="0" dirty="0" smtClean="0">
                <a:latin typeface="+mn-ea"/>
                <a:ea typeface="+mn-ea"/>
              </a:rPr>
              <a:t>    /     1A01(</a:t>
            </a:r>
            <a:r>
              <a:rPr lang="en-US" altLang="ko-KR" sz="1100" dirty="0" smtClean="0">
                <a:latin typeface="+mn-ea"/>
                <a:ea typeface="+mn-ea"/>
              </a:rPr>
              <a:t>YA</a:t>
            </a:r>
            <a:r>
              <a:rPr lang="en-US" altLang="ko-KR" sz="1100" b="0" dirty="0" smtClean="0">
                <a:latin typeface="+mn-ea"/>
                <a:ea typeface="+mn-ea"/>
              </a:rPr>
              <a:t>) &gt; 1Z02(</a:t>
            </a:r>
            <a:r>
              <a:rPr lang="en-US" altLang="ko-KR" sz="1100" dirty="0" smtClean="0">
                <a:latin typeface="+mn-ea"/>
                <a:ea typeface="+mn-ea"/>
              </a:rPr>
              <a:t>YC</a:t>
            </a:r>
            <a:r>
              <a:rPr lang="en-US" altLang="ko-KR" sz="1100" b="0" dirty="0" smtClean="0">
                <a:latin typeface="+mn-ea"/>
                <a:ea typeface="+mn-ea"/>
              </a:rPr>
              <a:t>) : </a:t>
            </a:r>
            <a:r>
              <a:rPr lang="ko-KR" altLang="en-US" sz="1100" dirty="0" smtClean="0">
                <a:latin typeface="+mn-ea"/>
                <a:ea typeface="+mn-ea"/>
              </a:rPr>
              <a:t>실적반영 </a:t>
            </a:r>
            <a:r>
              <a:rPr lang="en-US" altLang="ko-KR" sz="1100" dirty="0" smtClean="0">
                <a:latin typeface="+mn-ea"/>
                <a:ea typeface="+mn-ea"/>
              </a:rPr>
              <a:t>O </a:t>
            </a:r>
          </a:p>
        </p:txBody>
      </p:sp>
    </p:spTree>
    <p:extLst>
      <p:ext uri="{BB962C8B-B14F-4D97-AF65-F5344CB8AC3E}">
        <p14:creationId xmlns:p14="http://schemas.microsoft.com/office/powerpoint/2010/main" val="61401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1"/>
          <p:cNvSpPr>
            <a:spLocks noGrp="1"/>
          </p:cNvSpPr>
          <p:nvPr>
            <p:ph type="title"/>
          </p:nvPr>
        </p:nvSpPr>
        <p:spPr>
          <a:xfrm>
            <a:off x="221854" y="278652"/>
            <a:ext cx="5499000" cy="334313"/>
          </a:xfrm>
        </p:spPr>
        <p:txBody>
          <a:bodyPr/>
          <a:lstStyle/>
          <a:p>
            <a:r>
              <a:rPr lang="en-US" altLang="ko-KR" sz="1400" b="1" dirty="0"/>
              <a:t>5</a:t>
            </a:r>
            <a:r>
              <a:rPr lang="en-US" altLang="ko-KR" sz="1400" b="1" dirty="0" smtClean="0"/>
              <a:t>. </a:t>
            </a:r>
            <a:r>
              <a:rPr lang="ko-KR" altLang="en-US" sz="1400" b="1" dirty="0">
                <a:latin typeface="+mn-ea"/>
              </a:rPr>
              <a:t>기타 실적 </a:t>
            </a:r>
            <a:r>
              <a:rPr lang="en-US" altLang="ko-KR" sz="1400" b="1" dirty="0">
                <a:latin typeface="+mn-ea"/>
              </a:rPr>
              <a:t>I/F </a:t>
            </a:r>
            <a:endParaRPr lang="ko-KR" altLang="en-US" sz="1400" b="1" dirty="0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gray">
          <a:xfrm>
            <a:off x="323030" y="788115"/>
            <a:ext cx="1484313" cy="33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lnSpc>
                <a:spcPct val="106000"/>
              </a:lnSpc>
              <a:defRPr/>
            </a:pPr>
            <a:r>
              <a:rPr lang="en-US" altLang="ko-KR" sz="13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Step. </a:t>
            </a:r>
            <a:r>
              <a:rPr lang="en-US" altLang="ko-KR" sz="13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endParaRPr lang="en-US" altLang="ko-KR" sz="1300" dirty="0" smtClean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982716" y="843850"/>
            <a:ext cx="5499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r>
              <a:rPr lang="ko-KR" altLang="en-US" sz="1400" b="1" dirty="0">
                <a:latin typeface="+mn-ea"/>
              </a:rPr>
              <a:t>기타 실적 </a:t>
            </a:r>
            <a:r>
              <a:rPr lang="en-US" altLang="ko-KR" sz="1400" b="1" dirty="0">
                <a:latin typeface="+mn-ea"/>
              </a:rPr>
              <a:t>I/F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출고작업 진행 상태</a:t>
            </a:r>
            <a:endParaRPr lang="ko-KR" altLang="en-US" sz="1400" b="1" dirty="0"/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7784758" y="227909"/>
            <a:ext cx="1933744" cy="254230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350" kern="1200" baseline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defRPr>
            </a:lvl1pPr>
          </a:lstStyle>
          <a:p>
            <a:pPr algn="r"/>
            <a:r>
              <a:rPr lang="ko-KR" altLang="en-US" sz="1400" b="1" dirty="0" smtClean="0"/>
              <a:t>출고</a:t>
            </a:r>
            <a:endParaRPr lang="ko-KR" altLang="en-US" sz="1400" b="1" dirty="0"/>
          </a:p>
        </p:txBody>
      </p:sp>
      <p:graphicFrame>
        <p:nvGraphicFramePr>
          <p:cNvPr id="15" name="Group 224">
            <a:extLst>
              <a:ext uri="{FF2B5EF4-FFF2-40B4-BE49-F238E27FC236}">
                <a16:creationId xmlns="" xmlns:a16="http://schemas.microsoft.com/office/drawing/2014/main" id="{235F2DDF-5A04-10EA-0E01-5A7DC4342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30032"/>
              </p:ext>
            </p:extLst>
          </p:nvPr>
        </p:nvGraphicFramePr>
        <p:xfrm>
          <a:off x="478996" y="2669059"/>
          <a:ext cx="9043945" cy="3819811"/>
        </p:xfrm>
        <a:graphic>
          <a:graphicData uri="http://schemas.openxmlformats.org/drawingml/2006/table">
            <a:tbl>
              <a:tblPr/>
              <a:tblGrid>
                <a:gridCol w="90439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4732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108000" marR="108000" marT="72000" marB="72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7248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가는각진제목체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" name="TextBox 6">
            <a:extLst>
              <a:ext uri="{FF2B5EF4-FFF2-40B4-BE49-F238E27FC236}">
                <a16:creationId xmlns="" xmlns:a16="http://schemas.microsoft.com/office/drawing/2014/main" id="{FD27CEBB-D618-791A-B2AF-968E4D1F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143" y="2712707"/>
            <a:ext cx="128913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ERP(F/A-ONE)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4018100" y="2669059"/>
            <a:ext cx="1144" cy="381981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315" y="2712707"/>
            <a:ext cx="561372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WMS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="" xmlns:a16="http://schemas.microsoft.com/office/drawing/2014/main" id="{605580B7-A3DE-59FE-0559-0CCF5A45EFFE}"/>
              </a:ext>
            </a:extLst>
          </p:cNvPr>
          <p:cNvCxnSpPr/>
          <p:nvPr/>
        </p:nvCxnSpPr>
        <p:spPr>
          <a:xfrm flipH="1">
            <a:off x="6443401" y="2669059"/>
            <a:ext cx="247" cy="3835459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6">
            <a:extLst>
              <a:ext uri="{FF2B5EF4-FFF2-40B4-BE49-F238E27FC236}">
                <a16:creationId xmlns="" xmlns:a16="http://schemas.microsoft.com/office/drawing/2014/main" id="{2E87E099-6355-BF8D-58BC-419DE337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878" y="2703713"/>
            <a:ext cx="54053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100" b="1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OM</a:t>
            </a:r>
            <a:r>
              <a:rPr lang="en-US" altLang="ko-KR" sz="1100" b="1" dirty="0" smtClean="0">
                <a:solidFill>
                  <a:schemeClr val="tx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S</a:t>
            </a:r>
            <a:endParaRPr lang="ko-KR" altLang="en-US" sz="1100" b="1" dirty="0">
              <a:solidFill>
                <a:schemeClr val="tx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22" name="AutoShape 10"/>
          <p:cNvSpPr>
            <a:spLocks noChangeArrowheads="1"/>
          </p:cNvSpPr>
          <p:nvPr/>
        </p:nvSpPr>
        <p:spPr bwMode="auto">
          <a:xfrm>
            <a:off x="478996" y="1198547"/>
            <a:ext cx="9043945" cy="1318637"/>
          </a:xfrm>
          <a:prstGeom prst="roundRect">
            <a:avLst>
              <a:gd name="adj" fmla="val 4657"/>
            </a:avLst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latinLnBrk="0">
              <a:lnSpc>
                <a:spcPct val="150000"/>
              </a:lnSpc>
              <a:defRPr/>
            </a:pPr>
            <a:endParaRPr lang="ko-KR" altLang="en-US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548338" y="1198450"/>
            <a:ext cx="8067117" cy="121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80975" indent="-180975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나눔고딕 ExtraBold" charset="-127"/>
                <a:ea typeface="나눔고딕 ExtraBold" charset="-127"/>
              </a:defRPr>
            </a:lvl9pPr>
          </a:lstStyle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출고지시 생성 후 </a:t>
            </a: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에서 출고작업 진행 상태를 </a:t>
            </a:r>
            <a:r>
              <a:rPr lang="en-US" altLang="ko-KR" sz="1100" b="0" dirty="0" smtClean="0">
                <a:latin typeface="+mn-ea"/>
                <a:ea typeface="+mn-ea"/>
              </a:rPr>
              <a:t>I/F</a:t>
            </a:r>
            <a:r>
              <a:rPr lang="ko-KR" altLang="en-US" sz="1100" b="0" dirty="0" smtClean="0">
                <a:latin typeface="+mn-ea"/>
                <a:ea typeface="+mn-ea"/>
              </a:rPr>
              <a:t>하는 작업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출고작업 진행상태에 따라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출고지시 수정가능</a:t>
            </a:r>
            <a:r>
              <a:rPr lang="en-US" altLang="ko-KR" sz="1100" b="0" dirty="0" smtClean="0">
                <a:latin typeface="+mn-ea"/>
                <a:ea typeface="+mn-ea"/>
              </a:rPr>
              <a:t>/</a:t>
            </a:r>
            <a:r>
              <a:rPr lang="ko-KR" altLang="en-US" sz="1100" b="0" dirty="0" smtClean="0">
                <a:latin typeface="+mn-ea"/>
                <a:ea typeface="+mn-ea"/>
              </a:rPr>
              <a:t>불가 통제</a:t>
            </a:r>
            <a:endParaRPr lang="en-US" altLang="ko-KR" sz="1100" b="0" dirty="0" smtClean="0">
              <a:latin typeface="+mn-ea"/>
              <a:ea typeface="+mn-ea"/>
            </a:endParaRP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진행상태 </a:t>
            </a:r>
            <a:r>
              <a:rPr lang="en-US" altLang="ko-KR" sz="1100" b="0" dirty="0" smtClean="0">
                <a:latin typeface="+mn-ea"/>
                <a:ea typeface="+mn-ea"/>
              </a:rPr>
              <a:t>10-</a:t>
            </a:r>
            <a:r>
              <a:rPr lang="ko-KR" altLang="en-US" sz="1100" b="0" dirty="0">
                <a:latin typeface="+mn-ea"/>
                <a:ea typeface="+mn-ea"/>
              </a:rPr>
              <a:t>작업지시</a:t>
            </a:r>
            <a:r>
              <a:rPr lang="en-US" altLang="ko-KR" sz="1100" b="0" dirty="0">
                <a:latin typeface="+mn-ea"/>
                <a:ea typeface="+mn-ea"/>
              </a:rPr>
              <a:t>, 20-</a:t>
            </a:r>
            <a:r>
              <a:rPr lang="ko-KR" altLang="en-US" sz="1100" b="0" dirty="0">
                <a:latin typeface="+mn-ea"/>
                <a:ea typeface="+mn-ea"/>
              </a:rPr>
              <a:t>작업시작</a:t>
            </a:r>
            <a:r>
              <a:rPr lang="en-US" altLang="ko-KR" sz="1100" b="0" dirty="0">
                <a:latin typeface="+mn-ea"/>
                <a:ea typeface="+mn-ea"/>
              </a:rPr>
              <a:t>, 30-</a:t>
            </a:r>
            <a:r>
              <a:rPr lang="ko-KR" altLang="en-US" sz="1100" b="0" dirty="0">
                <a:latin typeface="+mn-ea"/>
                <a:ea typeface="+mn-ea"/>
              </a:rPr>
              <a:t>패킹완료</a:t>
            </a:r>
            <a:r>
              <a:rPr lang="en-US" altLang="ko-KR" sz="1100" b="0" dirty="0" smtClean="0">
                <a:latin typeface="+mn-ea"/>
                <a:ea typeface="+mn-ea"/>
              </a:rPr>
              <a:t>, 40-</a:t>
            </a:r>
            <a:r>
              <a:rPr lang="ko-KR" altLang="en-US" sz="1100" b="0" dirty="0" smtClean="0">
                <a:latin typeface="+mn-ea"/>
                <a:ea typeface="+mn-ea"/>
              </a:rPr>
              <a:t>출고완료</a:t>
            </a:r>
            <a:r>
              <a:rPr lang="en-US" altLang="ko-KR" sz="1100" b="0" dirty="0" smtClean="0">
                <a:latin typeface="+mn-ea"/>
                <a:ea typeface="+mn-ea"/>
              </a:rPr>
              <a:t> (</a:t>
            </a:r>
            <a:r>
              <a:rPr lang="ko-KR" altLang="en-US" sz="1100" b="0" dirty="0" smtClean="0">
                <a:latin typeface="+mn-ea"/>
                <a:ea typeface="+mn-ea"/>
              </a:rPr>
              <a:t>상태 값 </a:t>
            </a:r>
            <a:r>
              <a:rPr lang="en-US" altLang="ko-KR" sz="1100" b="0" dirty="0" smtClean="0">
                <a:latin typeface="+mn-ea"/>
                <a:ea typeface="+mn-ea"/>
              </a:rPr>
              <a:t>20</a:t>
            </a:r>
            <a:r>
              <a:rPr lang="ko-KR" altLang="en-US" sz="1100" b="0" dirty="0" smtClean="0">
                <a:latin typeface="+mn-ea"/>
                <a:ea typeface="+mn-ea"/>
              </a:rPr>
              <a:t>부터 </a:t>
            </a:r>
            <a:r>
              <a:rPr lang="en-US" altLang="ko-KR" sz="1100" b="0" dirty="0" smtClean="0">
                <a:latin typeface="+mn-ea"/>
                <a:ea typeface="+mn-ea"/>
              </a:rPr>
              <a:t>F/A-ONE</a:t>
            </a:r>
            <a:r>
              <a:rPr lang="ko-KR" altLang="en-US" sz="1100" b="0" dirty="0" smtClean="0">
                <a:latin typeface="+mn-ea"/>
                <a:ea typeface="+mn-ea"/>
              </a:rPr>
              <a:t>에서 수정 불가</a:t>
            </a:r>
            <a:r>
              <a:rPr lang="en-US" altLang="ko-KR" sz="1100" b="0" dirty="0" smtClean="0">
                <a:latin typeface="+mn-ea"/>
                <a:ea typeface="+mn-ea"/>
              </a:rPr>
              <a:t>) </a:t>
            </a:r>
          </a:p>
          <a:p>
            <a:pPr marL="171450" indent="-171450" eaLnBrk="1" latinLnBrk="0" hangingPunct="1">
              <a:lnSpc>
                <a:spcPct val="15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100" b="0" dirty="0" smtClean="0">
                <a:latin typeface="+mn-ea"/>
                <a:ea typeface="+mn-ea"/>
              </a:rPr>
              <a:t>출고작업 진행상태는 </a:t>
            </a:r>
            <a:r>
              <a:rPr lang="en-US" altLang="ko-KR" sz="1100" b="0" dirty="0" smtClean="0">
                <a:latin typeface="+mn-ea"/>
                <a:ea typeface="+mn-ea"/>
              </a:rPr>
              <a:t>WMS</a:t>
            </a:r>
            <a:r>
              <a:rPr lang="ko-KR" altLang="en-US" sz="1100" b="0" dirty="0" smtClean="0">
                <a:latin typeface="+mn-ea"/>
                <a:ea typeface="+mn-ea"/>
              </a:rPr>
              <a:t>에서 </a:t>
            </a:r>
            <a:r>
              <a:rPr lang="en-US" altLang="ko-KR" sz="1100" b="0" dirty="0" smtClean="0">
                <a:latin typeface="+mn-ea"/>
                <a:ea typeface="+mn-ea"/>
              </a:rPr>
              <a:t>1</a:t>
            </a:r>
            <a:r>
              <a:rPr lang="ko-KR" altLang="en-US" sz="1100" b="0" dirty="0" smtClean="0">
                <a:latin typeface="+mn-ea"/>
                <a:ea typeface="+mn-ea"/>
              </a:rPr>
              <a:t>분 간격으로 전송</a:t>
            </a:r>
            <a:r>
              <a:rPr lang="en-US" altLang="ko-KR" sz="1100" b="0" dirty="0" smtClean="0">
                <a:latin typeface="+mn-ea"/>
                <a:ea typeface="+mn-ea"/>
              </a:rPr>
              <a:t>, F/A-ONE</a:t>
            </a:r>
            <a:r>
              <a:rPr lang="ko-KR" altLang="en-US" sz="1100" b="0" dirty="0" smtClean="0">
                <a:latin typeface="+mn-ea"/>
                <a:ea typeface="+mn-ea"/>
              </a:rPr>
              <a:t>에서 </a:t>
            </a:r>
            <a:r>
              <a:rPr lang="en-US" altLang="ko-KR" sz="1100" b="0" dirty="0" smtClean="0">
                <a:latin typeface="+mn-ea"/>
                <a:ea typeface="+mn-ea"/>
              </a:rPr>
              <a:t>1</a:t>
            </a:r>
            <a:r>
              <a:rPr lang="ko-KR" altLang="en-US" sz="1100" b="0" dirty="0" smtClean="0">
                <a:latin typeface="+mn-ea"/>
                <a:ea typeface="+mn-ea"/>
              </a:rPr>
              <a:t>분 간격으로 </a:t>
            </a:r>
            <a:r>
              <a:rPr lang="en-US" altLang="ko-KR" sz="1100" b="0" dirty="0" smtClean="0">
                <a:latin typeface="+mn-ea"/>
                <a:ea typeface="+mn-ea"/>
              </a:rPr>
              <a:t>Scheduler Job</a:t>
            </a:r>
            <a:r>
              <a:rPr lang="ko-KR" altLang="en-US" sz="1100" b="0" dirty="0" smtClean="0">
                <a:latin typeface="+mn-ea"/>
                <a:ea typeface="+mn-ea"/>
              </a:rPr>
              <a:t>으로 자동 반영</a:t>
            </a:r>
            <a:endParaRPr lang="en-US" altLang="ko-KR" sz="1100" b="0" dirty="0">
              <a:latin typeface="+mn-ea"/>
              <a:ea typeface="+mn-ea"/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4730557" y="3826335"/>
            <a:ext cx="907622" cy="433216"/>
            <a:chOff x="3133664" y="2530764"/>
            <a:chExt cx="884154" cy="49876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33" name="TextBox 132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예정</a:t>
              </a:r>
              <a:r>
                <a:rPr kumimoji="0" lang="ko-KR" altLang="en-US" sz="800" dirty="0" smtClean="0">
                  <a:latin typeface="+mn-ea"/>
                  <a:ea typeface="+mn-ea"/>
                  <a:cs typeface="Arial"/>
                </a:rPr>
                <a:t>정보 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확인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30764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135" name="순서도: 자기 디스크 134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4804699" y="3247652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OMS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36" name="직선 화살표 연결선 97">
            <a:extLst>
              <a:ext uri="{FF2B5EF4-FFF2-40B4-BE49-F238E27FC236}">
                <a16:creationId xmlns="" xmlns:a16="http://schemas.microsoft.com/office/drawing/2014/main" id="{DF7FEA19-7BAA-9956-E360-FB8B463B8C85}"/>
              </a:ext>
            </a:extLst>
          </p:cNvPr>
          <p:cNvCxnSpPr>
            <a:cxnSpLocks/>
            <a:stCxn id="180" idx="3"/>
            <a:endCxn id="135" idx="2"/>
          </p:cNvCxnSpPr>
          <p:nvPr/>
        </p:nvCxnSpPr>
        <p:spPr>
          <a:xfrm flipV="1">
            <a:off x="1773325" y="3431573"/>
            <a:ext cx="3031374" cy="101036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순서도: 수행의 시작/종료 137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86494" y="3252490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Start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38" idx="2"/>
            <a:endCxn id="174" idx="0"/>
          </p:cNvCxnSpPr>
          <p:nvPr/>
        </p:nvCxnSpPr>
        <p:spPr>
          <a:xfrm>
            <a:off x="1440436" y="3517703"/>
            <a:ext cx="130" cy="15984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그룹 139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7973338" y="4771169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41" name="TextBox 140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WAVE 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생성 및 출고작업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144" name="직선 화살표 연결선 156">
            <a:extLst>
              <a:ext uri="{FF2B5EF4-FFF2-40B4-BE49-F238E27FC236}">
                <a16:creationId xmlns="" xmlns:a16="http://schemas.microsoft.com/office/drawing/2014/main" id="{CD6CBD41-B09E-C6F7-2290-91E2A1FAF070}"/>
              </a:ext>
            </a:extLst>
          </p:cNvPr>
          <p:cNvCxnSpPr>
            <a:cxnSpLocks/>
            <a:stCxn id="141" idx="2"/>
            <a:endCxn id="223" idx="0"/>
          </p:cNvCxnSpPr>
          <p:nvPr/>
        </p:nvCxnSpPr>
        <p:spPr>
          <a:xfrm>
            <a:off x="8427149" y="5204386"/>
            <a:ext cx="1688" cy="13880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그룹 144">
            <a:extLst>
              <a:ext uri="{FF2B5EF4-FFF2-40B4-BE49-F238E27FC236}">
                <a16:creationId xmlns="" xmlns:a16="http://schemas.microsoft.com/office/drawing/2014/main" id="{3752D447-6614-0E7A-F417-A595E24C0ACF}"/>
              </a:ext>
            </a:extLst>
          </p:cNvPr>
          <p:cNvGrpSpPr/>
          <p:nvPr/>
        </p:nvGrpSpPr>
        <p:grpSpPr>
          <a:xfrm>
            <a:off x="7973338" y="5898650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46" name="TextBox 145">
              <a:extLst>
                <a:ext uri="{FF2B5EF4-FFF2-40B4-BE49-F238E27FC236}">
                  <a16:creationId xmlns="" xmlns:a16="http://schemas.microsoft.com/office/drawing/2014/main" id="{9102DD79-1B4F-B1CF-3047-C215195ACBB1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출고확정</a:t>
              </a:r>
              <a:r>
                <a:rPr lang="en-US" altLang="ko-KR" sz="800" dirty="0" smtClean="0">
                  <a:latin typeface="+mn-ea"/>
                  <a:cs typeface="Arial"/>
                </a:rPr>
                <a:t>/</a:t>
              </a:r>
              <a:r>
                <a:rPr lang="ko-KR" altLang="en-US" sz="800" dirty="0" smtClean="0">
                  <a:latin typeface="+mn-ea"/>
                  <a:cs typeface="Arial"/>
                </a:rPr>
                <a:t>마감</a:t>
              </a:r>
              <a:endParaRPr lang="en-US" altLang="ko-KR" sz="800" dirty="0">
                <a:latin typeface="+mn-ea"/>
                <a:cs typeface="Arial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="" xmlns:a16="http://schemas.microsoft.com/office/drawing/2014/main" id="{81DE216D-F7F5-A7DA-2A18-BB6E5B070CE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152" name="연결선: 꺾임 121">
            <a:extLst>
              <a:ext uri="{FF2B5EF4-FFF2-40B4-BE49-F238E27FC236}">
                <a16:creationId xmlns="" xmlns:a16="http://schemas.microsoft.com/office/drawing/2014/main" id="{468D0E9D-1E98-4038-C33E-B8E8C7691110}"/>
              </a:ext>
            </a:extLst>
          </p:cNvPr>
          <p:cNvCxnSpPr>
            <a:cxnSpLocks/>
            <a:stCxn id="146" idx="1"/>
            <a:endCxn id="66" idx="3"/>
          </p:cNvCxnSpPr>
          <p:nvPr/>
        </p:nvCxnSpPr>
        <p:spPr>
          <a:xfrm rot="10800000">
            <a:off x="5516432" y="5641693"/>
            <a:ext cx="2456906" cy="5544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순서도: 자기 디스크 157">
            <a:extLst>
              <a:ext uri="{FF2B5EF4-FFF2-40B4-BE49-F238E27FC236}">
                <a16:creationId xmlns="" xmlns:a16="http://schemas.microsoft.com/office/drawing/2014/main" id="{F0416BA6-961B-33D5-1BC7-453AAABC6DF2}"/>
              </a:ext>
            </a:extLst>
          </p:cNvPr>
          <p:cNvSpPr/>
          <p:nvPr/>
        </p:nvSpPr>
        <p:spPr bwMode="auto">
          <a:xfrm>
            <a:off x="8039986" y="3245659"/>
            <a:ext cx="774325" cy="367842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</a:t>
            </a:r>
            <a:r>
              <a:rPr lang="ko-KR" altLang="en-US" sz="800" b="0" dirty="0" smtClean="0">
                <a:latin typeface="+mn-ea"/>
                <a:ea typeface="+mn-ea"/>
                <a:cs typeface="Arial"/>
              </a:rPr>
              <a:t>예정</a:t>
            </a:r>
            <a:endParaRPr lang="en-US" altLang="ko-KR" sz="800" b="0" dirty="0"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rPr>
              <a:t>WMS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59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33" idx="3"/>
            <a:endCxn id="158" idx="2"/>
          </p:cNvCxnSpPr>
          <p:nvPr/>
        </p:nvCxnSpPr>
        <p:spPr>
          <a:xfrm flipV="1">
            <a:off x="5638179" y="3429580"/>
            <a:ext cx="2401807" cy="69428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58" idx="3"/>
            <a:endCxn id="142" idx="0"/>
          </p:cNvCxnSpPr>
          <p:nvPr/>
        </p:nvCxnSpPr>
        <p:spPr>
          <a:xfrm>
            <a:off x="8427149" y="3613501"/>
            <a:ext cx="0" cy="1157668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그룹 171">
            <a:extLst>
              <a:ext uri="{FF2B5EF4-FFF2-40B4-BE49-F238E27FC236}">
                <a16:creationId xmlns="" xmlns:a16="http://schemas.microsoft.com/office/drawing/2014/main" id="{10695474-850F-EC09-67CD-F59C79C4CDAB}"/>
              </a:ext>
            </a:extLst>
          </p:cNvPr>
          <p:cNvGrpSpPr/>
          <p:nvPr/>
        </p:nvGrpSpPr>
        <p:grpSpPr>
          <a:xfrm>
            <a:off x="986755" y="3677544"/>
            <a:ext cx="907622" cy="424978"/>
            <a:chOff x="3133664" y="2540248"/>
            <a:chExt cx="884154" cy="489279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73" name="TextBox 172">
              <a:extLst>
                <a:ext uri="{FF2B5EF4-FFF2-40B4-BE49-F238E27FC236}">
                  <a16:creationId xmlns="" xmlns:a16="http://schemas.microsoft.com/office/drawing/2014/main" id="{72C3D5AC-AD53-3617-B49F-FF6C316CA5C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ctr" latinLnBrk="0">
                <a:spcBef>
                  <a:spcPct val="0"/>
                </a:spcBef>
                <a:defRPr/>
              </a:pPr>
              <a:r>
                <a:rPr lang="ko-KR" altLang="en-US" sz="800" kern="0" dirty="0">
                  <a:latin typeface="+mn-ea"/>
                </a:rPr>
                <a:t>출고지시 등록</a:t>
              </a:r>
              <a:endParaRPr lang="en-US" altLang="ko-KR" sz="800" kern="0" dirty="0">
                <a:latin typeface="+mn-ea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="" xmlns:a16="http://schemas.microsoft.com/office/drawing/2014/main" id="{88680670-B8DA-785E-A01C-049A6C6AC1CD}"/>
                </a:ext>
              </a:extLst>
            </p:cNvPr>
            <p:cNvSpPr txBox="1"/>
            <p:nvPr/>
          </p:nvSpPr>
          <p:spPr>
            <a:xfrm>
              <a:off x="3133664" y="2540248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현업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sp>
        <p:nvSpPr>
          <p:cNvPr id="180" name="순서도: 저장 데이터 179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941099" y="4268158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출고예정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173" idx="2"/>
            <a:endCxn id="180" idx="0"/>
          </p:cNvCxnSpPr>
          <p:nvPr/>
        </p:nvCxnSpPr>
        <p:spPr>
          <a:xfrm flipH="1">
            <a:off x="1440435" y="4102524"/>
            <a:ext cx="131" cy="16563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80" y="4615218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10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35" idx="3"/>
            <a:endCxn id="134" idx="0"/>
          </p:cNvCxnSpPr>
          <p:nvPr/>
        </p:nvCxnSpPr>
        <p:spPr>
          <a:xfrm flipH="1">
            <a:off x="5184368" y="3615494"/>
            <a:ext cx="7494" cy="210841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순서도: 자기 디스크 214">
            <a:extLst>
              <a:ext uri="{FF2B5EF4-FFF2-40B4-BE49-F238E27FC236}">
                <a16:creationId xmlns="" xmlns:a16="http://schemas.microsoft.com/office/drawing/2014/main" id="{55E546EA-FB5D-4674-1C6B-FBFBD0936EC2}"/>
              </a:ext>
            </a:extLst>
          </p:cNvPr>
          <p:cNvSpPr/>
          <p:nvPr/>
        </p:nvSpPr>
        <p:spPr bwMode="auto">
          <a:xfrm>
            <a:off x="2398261" y="5464771"/>
            <a:ext cx="719956" cy="347555"/>
          </a:xfrm>
          <a:prstGeom prst="flowChartMagneticDisk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출고진행 상태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16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33" idx="2"/>
            <a:endCxn id="66" idx="0"/>
          </p:cNvCxnSpPr>
          <p:nvPr/>
        </p:nvCxnSpPr>
        <p:spPr>
          <a:xfrm flipH="1">
            <a:off x="5183542" y="4259551"/>
            <a:ext cx="826" cy="1208364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26" y="4827458"/>
            <a:ext cx="1251596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진행상태 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10 </a:t>
            </a: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전송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18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141" idx="1"/>
            <a:endCxn id="66" idx="3"/>
          </p:cNvCxnSpPr>
          <p:nvPr/>
        </p:nvCxnSpPr>
        <p:spPr>
          <a:xfrm rot="10800000" flipV="1">
            <a:off x="5516432" y="5068699"/>
            <a:ext cx="2456906" cy="57299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671" y="4861372"/>
            <a:ext cx="1251596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진행상태 </a:t>
            </a:r>
            <a:r>
              <a:rPr lang="en-US" altLang="ko-KR" sz="700" b="0" dirty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2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0 </a:t>
            </a: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전송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220" name="그룹 219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7975026" y="5343192"/>
            <a:ext cx="907622" cy="433217"/>
            <a:chOff x="3133664" y="2530763"/>
            <a:chExt cx="884154" cy="498764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21" name="TextBox 220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송장발행</a:t>
              </a:r>
              <a:r>
                <a:rPr kumimoji="0" lang="en-US" altLang="ko-KR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/</a:t>
              </a:r>
              <a:r>
                <a:rPr kumimoji="0" lang="ko-KR" altLang="en-US" sz="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  <a:cs typeface="Arial"/>
                </a:rPr>
                <a:t>패킹작업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noProof="0" dirty="0" smtClean="0">
                  <a:latin typeface="+mn-ea"/>
                  <a:cs typeface="Arial"/>
                </a:rPr>
                <a:t>출고</a:t>
              </a:r>
              <a:r>
                <a:rPr kumimoji="0" lang="ko-KR" altLang="en-US" sz="800" b="1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Arial"/>
                </a:rPr>
                <a:t>담당자</a:t>
              </a:r>
            </a:p>
          </p:txBody>
        </p:sp>
      </p:grpSp>
      <p:cxnSp>
        <p:nvCxnSpPr>
          <p:cNvPr id="224" name="직선 화살표 연결선 156">
            <a:extLst>
              <a:ext uri="{FF2B5EF4-FFF2-40B4-BE49-F238E27FC236}">
                <a16:creationId xmlns="" xmlns:a16="http://schemas.microsoft.com/office/drawing/2014/main" id="{CD6CBD41-B09E-C6F7-2290-91E2A1FAF070}"/>
              </a:ext>
            </a:extLst>
          </p:cNvPr>
          <p:cNvCxnSpPr>
            <a:cxnSpLocks/>
            <a:stCxn id="221" idx="2"/>
            <a:endCxn id="147" idx="0"/>
          </p:cNvCxnSpPr>
          <p:nvPr/>
        </p:nvCxnSpPr>
        <p:spPr>
          <a:xfrm flipH="1">
            <a:off x="8427149" y="5776409"/>
            <a:ext cx="1688" cy="12224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221" idx="1"/>
            <a:endCxn id="66" idx="3"/>
          </p:cNvCxnSpPr>
          <p:nvPr/>
        </p:nvCxnSpPr>
        <p:spPr>
          <a:xfrm rot="10800000" flipV="1">
            <a:off x="5516432" y="5640723"/>
            <a:ext cx="2458594" cy="970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671" y="5458124"/>
            <a:ext cx="1251596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진행상태 </a:t>
            </a:r>
            <a:r>
              <a:rPr lang="en-US" altLang="ko-KR" sz="700" b="0" noProof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3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0 </a:t>
            </a: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전송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227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671" y="6007747"/>
            <a:ext cx="1251596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진행상태 </a:t>
            </a:r>
            <a:r>
              <a:rPr lang="en-US" altLang="ko-KR" sz="700" b="0" dirty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4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0 </a:t>
            </a:r>
            <a:r>
              <a:rPr kumimoji="1" lang="ko-KR" alt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전송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66" name="순서도: 저장 데이터 65">
            <a:extLst>
              <a:ext uri="{FF2B5EF4-FFF2-40B4-BE49-F238E27FC236}">
                <a16:creationId xmlns="" xmlns:a16="http://schemas.microsoft.com/office/drawing/2014/main" id="{2B20777A-F182-92D5-038B-5343B04C62D1}"/>
              </a:ext>
            </a:extLst>
          </p:cNvPr>
          <p:cNvSpPr/>
          <p:nvPr/>
        </p:nvSpPr>
        <p:spPr bwMode="auto">
          <a:xfrm>
            <a:off x="4684206" y="5467915"/>
            <a:ext cx="998671" cy="347555"/>
          </a:xfrm>
          <a:prstGeom prst="flowChartOnlineStorage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smtClean="0">
                <a:latin typeface="+mn-ea"/>
                <a:cs typeface="Arial"/>
              </a:rPr>
              <a:t>출고예정</a:t>
            </a:r>
            <a:r>
              <a:rPr lang="en-US" altLang="ko-KR" sz="800" dirty="0" smtClean="0">
                <a:latin typeface="+mn-ea"/>
                <a:cs typeface="Arial"/>
              </a:rPr>
              <a:t>I/F</a:t>
            </a:r>
          </a:p>
        </p:txBody>
      </p:sp>
      <p:sp>
        <p:nvSpPr>
          <p:cNvPr id="67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673" y="5814975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73" name="직선 화살표 연결선 97">
            <a:extLst>
              <a:ext uri="{FF2B5EF4-FFF2-40B4-BE49-F238E27FC236}">
                <a16:creationId xmlns="" xmlns:a16="http://schemas.microsoft.com/office/drawing/2014/main" id="{E8620FD6-4FE3-EB8E-2B4C-60517A9AC679}"/>
              </a:ext>
            </a:extLst>
          </p:cNvPr>
          <p:cNvCxnSpPr>
            <a:cxnSpLocks/>
            <a:stCxn id="66" idx="1"/>
            <a:endCxn id="215" idx="4"/>
          </p:cNvCxnSpPr>
          <p:nvPr/>
        </p:nvCxnSpPr>
        <p:spPr>
          <a:xfrm flipH="1" flipV="1">
            <a:off x="3118217" y="5638549"/>
            <a:ext cx="1565989" cy="3144"/>
          </a:xfrm>
          <a:prstGeom prst="straightConnector1">
            <a:avLst/>
          </a:prstGeom>
          <a:ln w="31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>
            <a:extLst>
              <a:ext uri="{FF2B5EF4-FFF2-40B4-BE49-F238E27FC236}">
                <a16:creationId xmlns="" xmlns:a16="http://schemas.microsoft.com/office/drawing/2014/main" id="{191C3F1D-1854-B794-1228-31D2497BCD23}"/>
              </a:ext>
            </a:extLst>
          </p:cNvPr>
          <p:cNvGrpSpPr/>
          <p:nvPr/>
        </p:nvGrpSpPr>
        <p:grpSpPr>
          <a:xfrm>
            <a:off x="950674" y="5339466"/>
            <a:ext cx="907754" cy="433248"/>
            <a:chOff x="3133535" y="2530727"/>
            <a:chExt cx="884283" cy="4988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2B3DA6C5-ED78-6528-FB80-433092E614CC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dirty="0" smtClean="0">
                  <a:latin typeface="+mn-ea"/>
                  <a:cs typeface="Arial"/>
                </a:rPr>
                <a:t>출고진행 상태 반영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9D0ABFDF-8776-E5F7-F13A-1C142853F396}"/>
                </a:ext>
              </a:extLst>
            </p:cNvPr>
            <p:cNvSpPr txBox="1"/>
            <p:nvPr/>
          </p:nvSpPr>
          <p:spPr>
            <a:xfrm>
              <a:off x="3133535" y="2530727"/>
              <a:ext cx="884154" cy="186367"/>
            </a:xfrm>
            <a:prstGeom prst="rect">
              <a:avLst/>
            </a:prstGeom>
            <a:grpFill/>
            <a:ln w="3175">
              <a:solidFill>
                <a:schemeClr val="tx1"/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dirty="0" smtClean="0">
                  <a:latin typeface="+mn-ea"/>
                  <a:cs typeface="Arial"/>
                </a:rPr>
                <a:t>프로시저</a:t>
              </a:r>
              <a:r>
                <a:rPr lang="en-US" altLang="ko-KR" sz="800" b="1" dirty="0" smtClean="0">
                  <a:latin typeface="+mn-ea"/>
                  <a:cs typeface="Arial"/>
                </a:rPr>
                <a:t>(SP)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Arial"/>
              </a:endParaRPr>
            </a:p>
          </p:txBody>
        </p:sp>
      </p:grpSp>
      <p:sp>
        <p:nvSpPr>
          <p:cNvPr id="81" name="순서도: 수행의 시작/종료 80">
            <a:extLst>
              <a:ext uri="{FF2B5EF4-FFF2-40B4-BE49-F238E27FC236}">
                <a16:creationId xmlns="" xmlns:a16="http://schemas.microsoft.com/office/drawing/2014/main" id="{67F1B38D-F71C-A92C-794F-FCCF0A84708F}"/>
              </a:ext>
            </a:extLst>
          </p:cNvPr>
          <p:cNvSpPr/>
          <p:nvPr/>
        </p:nvSpPr>
        <p:spPr bwMode="auto">
          <a:xfrm>
            <a:off x="950674" y="5981709"/>
            <a:ext cx="907883" cy="265213"/>
          </a:xfrm>
          <a:prstGeom prst="flowChartTerminator">
            <a:avLst/>
          </a:prstGeom>
          <a:solidFill>
            <a:schemeClr val="accent3">
              <a:lumMod val="40000"/>
              <a:lumOff val="6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latin typeface="+mn-ea"/>
                <a:cs typeface="Arial"/>
              </a:rPr>
              <a:t>End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Arial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flipH="1">
            <a:off x="1404616" y="5772714"/>
            <a:ext cx="1" cy="20899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="" xmlns:a16="http://schemas.microsoft.com/office/drawing/2014/main" id="{A930F44B-33E1-0ED3-9CE0-6A0B9683A967}"/>
              </a:ext>
            </a:extLst>
          </p:cNvPr>
          <p:cNvCxnSpPr>
            <a:cxnSpLocks/>
            <a:stCxn id="215" idx="2"/>
            <a:endCxn id="79" idx="3"/>
          </p:cNvCxnSpPr>
          <p:nvPr/>
        </p:nvCxnSpPr>
        <p:spPr>
          <a:xfrm flipH="1" flipV="1">
            <a:off x="1858428" y="5637028"/>
            <a:ext cx="539833" cy="152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14">
            <a:extLst>
              <a:ext uri="{FF2B5EF4-FFF2-40B4-BE49-F238E27FC236}">
                <a16:creationId xmlns="" xmlns:a16="http://schemas.microsoft.com/office/drawing/2014/main" id="{7DC47E22-89DF-488E-1CB2-237564C9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18" y="5755083"/>
            <a:ext cx="1251596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rgbClr val="B60638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 algn="ctr" eaLnBrk="0" latinLnBrk="0" hangingPunct="0">
              <a:defRPr/>
            </a:pPr>
            <a:r>
              <a:rPr lang="en-US" altLang="ko-KR" sz="800" b="0" dirty="0" smtClean="0">
                <a:solidFill>
                  <a:schemeClr val="tx1"/>
                </a:solidFill>
                <a:latin typeface="+mn-ea"/>
                <a:ea typeface="+mn-ea"/>
                <a:cs typeface="Arial"/>
              </a:rPr>
              <a:t>Scheduler Job </a:t>
            </a:r>
            <a:r>
              <a:rPr lang="en-US" altLang="ko-KR" sz="700" b="0" dirty="0" smtClean="0">
                <a:solidFill>
                  <a:srgbClr val="FF0000"/>
                </a:solidFill>
                <a:latin typeface="+mn-ea"/>
                <a:ea typeface="+mn-ea"/>
                <a:cs typeface="Arial"/>
              </a:rPr>
              <a:t>(</a:t>
            </a:r>
            <a:r>
              <a:rPr kumimoji="1" lang="en-US" altLang="ko-KR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1</a:t>
            </a:r>
            <a:r>
              <a:rPr kumimoji="1" lang="en-US" altLang="ko-KR" sz="7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 min)</a:t>
            </a:r>
            <a:endParaRPr kumimoji="1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280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2489581" y="2721250"/>
            <a:ext cx="5115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b="1" dirty="0" smtClean="0">
                <a:latin typeface="+mj-ea"/>
                <a:ea typeface="+mj-ea"/>
              </a:rPr>
              <a:t>WMS </a:t>
            </a:r>
            <a:r>
              <a:rPr lang="ko-KR" altLang="en-US" sz="3600" b="1" smtClean="0">
                <a:latin typeface="+mj-ea"/>
                <a:ea typeface="+mj-ea"/>
              </a:rPr>
              <a:t>입</a:t>
            </a:r>
            <a:r>
              <a:rPr lang="en-US" altLang="ko-KR" sz="3600" b="1" dirty="0" smtClean="0">
                <a:latin typeface="+mj-ea"/>
                <a:ea typeface="+mj-ea"/>
              </a:rPr>
              <a:t>/</a:t>
            </a:r>
            <a:r>
              <a:rPr lang="ko-KR" altLang="en-US" sz="3600" b="1">
                <a:latin typeface="+mj-ea"/>
                <a:ea typeface="+mj-ea"/>
              </a:rPr>
              <a:t>출</a:t>
            </a:r>
            <a:r>
              <a:rPr lang="ko-KR" altLang="en-US" sz="3600" b="1" smtClean="0">
                <a:latin typeface="+mj-ea"/>
                <a:ea typeface="+mj-ea"/>
              </a:rPr>
              <a:t>고 프로세스</a:t>
            </a:r>
            <a:endParaRPr lang="en-US" altLang="ko-KR" sz="3600" b="1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0865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60">
            <a:extLst>
              <a:ext uri="{FF2B5EF4-FFF2-40B4-BE49-F238E27FC236}">
                <a16:creationId xmlns:a16="http://schemas.microsoft.com/office/drawing/2014/main" xmlns="" id="{E350063F-D598-4493-AA44-97FAB84013E9}"/>
              </a:ext>
            </a:extLst>
          </p:cNvPr>
          <p:cNvSpPr txBox="1">
            <a:spLocks/>
          </p:cNvSpPr>
          <p:nvPr/>
        </p:nvSpPr>
        <p:spPr bwMode="auto">
          <a:xfrm>
            <a:off x="6907316" y="210875"/>
            <a:ext cx="2798212" cy="3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b="1" u="none" dirty="0">
                <a:solidFill>
                  <a:srgbClr val="000000"/>
                </a:solidFill>
              </a:rPr>
              <a:t>Ⅱ. Mega Process</a:t>
            </a:r>
            <a:endParaRPr lang="ko-KR" altLang="en-US" sz="1400" b="1" u="none" dirty="0">
              <a:solidFill>
                <a:srgbClr val="000000"/>
              </a:solidFill>
            </a:endParaRPr>
          </a:p>
        </p:txBody>
      </p:sp>
      <p:sp>
        <p:nvSpPr>
          <p:cNvPr id="116" name="Rectangle 1584">
            <a:extLst>
              <a:ext uri="{FF2B5EF4-FFF2-40B4-BE49-F238E27FC236}">
                <a16:creationId xmlns:a16="http://schemas.microsoft.com/office/drawing/2014/main" xmlns="" id="{F6CFE27C-8F44-42B8-8BB9-58F10649F46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9181" y="268133"/>
            <a:ext cx="94297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0" lang="en-US" altLang="ko-KR" sz="2000" kern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Mega Process (1/9) – </a:t>
            </a:r>
            <a:r>
              <a:rPr kumimoji="0" lang="ko-KR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마스터</a:t>
            </a:r>
            <a:endParaRPr kumimoji="0" lang="ko-KR" altLang="en-US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xmlns="" id="{6659F212-8B77-488F-A4F1-FBF23FD07D1C}"/>
              </a:ext>
            </a:extLst>
          </p:cNvPr>
          <p:cNvGrpSpPr/>
          <p:nvPr/>
        </p:nvGrpSpPr>
        <p:grpSpPr>
          <a:xfrm>
            <a:off x="6540599" y="761896"/>
            <a:ext cx="3114000" cy="5792137"/>
            <a:chOff x="251399" y="761896"/>
            <a:chExt cx="3132000" cy="5792137"/>
          </a:xfrm>
        </p:grpSpPr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xmlns="" id="{837052B0-ECD0-478F-ABC3-702A6A2FD463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229" name="Rectangle 22">
              <a:extLst>
                <a:ext uri="{FF2B5EF4-FFF2-40B4-BE49-F238E27FC236}">
                  <a16:creationId xmlns:a16="http://schemas.microsoft.com/office/drawing/2014/main" xmlns="" id="{2072DB5A-1DC7-4656-9062-71B7E3C34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WMS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xmlns="" id="{905E344E-260D-4CAB-A7E4-5F5FFA89B079}"/>
              </a:ext>
            </a:extLst>
          </p:cNvPr>
          <p:cNvGrpSpPr/>
          <p:nvPr/>
        </p:nvGrpSpPr>
        <p:grpSpPr>
          <a:xfrm>
            <a:off x="251399" y="761896"/>
            <a:ext cx="3114000" cy="4215601"/>
            <a:chOff x="251399" y="761896"/>
            <a:chExt cx="3132000" cy="4215601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xmlns="" id="{70BFF1C1-D250-4F17-AC7D-4CE6ED75A882}"/>
                </a:ext>
              </a:extLst>
            </p:cNvPr>
            <p:cNvSpPr/>
            <p:nvPr/>
          </p:nvSpPr>
          <p:spPr>
            <a:xfrm>
              <a:off x="251399" y="761897"/>
              <a:ext cx="3132000" cy="4215600"/>
            </a:xfrm>
            <a:prstGeom prst="rect">
              <a:avLst/>
            </a:prstGeom>
            <a:pattFill prst="ltUpDiag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232" name="Rectangle 22">
              <a:extLst>
                <a:ext uri="{FF2B5EF4-FFF2-40B4-BE49-F238E27FC236}">
                  <a16:creationId xmlns:a16="http://schemas.microsoft.com/office/drawing/2014/main" xmlns="" id="{EA2C9CB2-CF03-48A1-9882-AA5EEBB7A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ERP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233" name="그룹 232">
            <a:extLst>
              <a:ext uri="{FF2B5EF4-FFF2-40B4-BE49-F238E27FC236}">
                <a16:creationId xmlns:a16="http://schemas.microsoft.com/office/drawing/2014/main" xmlns="" id="{690FE300-ECE6-47DB-AD05-7B35CD91094A}"/>
              </a:ext>
            </a:extLst>
          </p:cNvPr>
          <p:cNvGrpSpPr/>
          <p:nvPr/>
        </p:nvGrpSpPr>
        <p:grpSpPr>
          <a:xfrm>
            <a:off x="3395999" y="761896"/>
            <a:ext cx="3114000" cy="5792137"/>
            <a:chOff x="251399" y="761896"/>
            <a:chExt cx="3132000" cy="5792137"/>
          </a:xfrm>
        </p:grpSpPr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xmlns="" id="{AD9D60DB-1A4A-49C1-9335-0E06A05B8AC8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235" name="Rectangle 22">
              <a:extLst>
                <a:ext uri="{FF2B5EF4-FFF2-40B4-BE49-F238E27FC236}">
                  <a16:creationId xmlns:a16="http://schemas.microsoft.com/office/drawing/2014/main" xmlns="" id="{5D928457-46B5-49A9-8195-503007147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236" name="Rectangle 33">
            <a:extLst>
              <a:ext uri="{FF2B5EF4-FFF2-40B4-BE49-F238E27FC236}">
                <a16:creationId xmlns:a16="http://schemas.microsoft.com/office/drawing/2014/main" xmlns="" id="{2B4DE2AD-A7D7-490F-BFCF-5AC4DCCD8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23279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마스터정보 생성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237" name="Rectangle 33">
            <a:extLst>
              <a:ext uri="{FF2B5EF4-FFF2-40B4-BE49-F238E27FC236}">
                <a16:creationId xmlns:a16="http://schemas.microsoft.com/office/drawing/2014/main" xmlns="" id="{1C6DB680-59D4-4C70-BF67-EE9EE6D7D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마스터정보 전송</a:t>
            </a:r>
          </a:p>
        </p:txBody>
      </p:sp>
      <p:sp>
        <p:nvSpPr>
          <p:cNvPr id="238" name="Rectangle 33">
            <a:extLst>
              <a:ext uri="{FF2B5EF4-FFF2-40B4-BE49-F238E27FC236}">
                <a16:creationId xmlns:a16="http://schemas.microsoft.com/office/drawing/2014/main" xmlns="" id="{AD179C0E-C786-4949-895C-0B2A170BE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마스터정보 수신</a:t>
            </a:r>
          </a:p>
        </p:txBody>
      </p:sp>
      <p:sp>
        <p:nvSpPr>
          <p:cNvPr id="239" name="Rectangle 33">
            <a:extLst>
              <a:ext uri="{FF2B5EF4-FFF2-40B4-BE49-F238E27FC236}">
                <a16:creationId xmlns:a16="http://schemas.microsoft.com/office/drawing/2014/main" xmlns="" id="{925A0452-5925-4B72-9C3C-2C28CD6CF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2312904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마스터정보 반영</a:t>
            </a: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xmlns="" id="{8E8DC57F-53BF-4959-AE9C-EA96C9F68D8C}"/>
              </a:ext>
            </a:extLst>
          </p:cNvPr>
          <p:cNvCxnSpPr>
            <a:cxnSpLocks/>
            <a:stCxn id="238" idx="1"/>
            <a:endCxn id="237" idx="3"/>
          </p:cNvCxnSpPr>
          <p:nvPr/>
        </p:nvCxnSpPr>
        <p:spPr bwMode="auto">
          <a:xfrm flipH="1">
            <a:off x="24203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xmlns="" id="{D3D67575-6DB9-411F-A51A-8CC25B03D9E6}"/>
              </a:ext>
            </a:extLst>
          </p:cNvPr>
          <p:cNvCxnSpPr>
            <a:cxnSpLocks/>
            <a:stCxn id="237" idx="0"/>
            <a:endCxn id="236" idx="2"/>
          </p:cNvCxnSpPr>
          <p:nvPr/>
        </p:nvCxnSpPr>
        <p:spPr bwMode="auto">
          <a:xfrm flipV="1">
            <a:off x="1808399" y="155679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xmlns="" id="{23552C3C-2F07-4D08-B0DE-2FDD4A1A6987}"/>
              </a:ext>
            </a:extLst>
          </p:cNvPr>
          <p:cNvCxnSpPr>
            <a:cxnSpLocks/>
            <a:stCxn id="239" idx="0"/>
            <a:endCxn id="238" idx="2"/>
          </p:cNvCxnSpPr>
          <p:nvPr/>
        </p:nvCxnSpPr>
        <p:spPr bwMode="auto">
          <a:xfrm flipV="1">
            <a:off x="4952999" y="209684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43" name="TextBox 73">
            <a:extLst>
              <a:ext uri="{FF2B5EF4-FFF2-40B4-BE49-F238E27FC236}">
                <a16:creationId xmlns:a16="http://schemas.microsoft.com/office/drawing/2014/main" xmlns="" id="{9B0F6C72-332E-421D-817A-6155A878A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399" y="2107917"/>
            <a:ext cx="943454" cy="1149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마스터 유형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공급사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거래처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상품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상품그룹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상품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UOM</a:t>
            </a: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아소트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BOM</a:t>
            </a:r>
          </a:p>
        </p:txBody>
      </p:sp>
      <p:sp>
        <p:nvSpPr>
          <p:cNvPr id="244" name="TextBox 73">
            <a:extLst>
              <a:ext uri="{FF2B5EF4-FFF2-40B4-BE49-F238E27FC236}">
                <a16:creationId xmlns:a16="http://schemas.microsoft.com/office/drawing/2014/main" xmlns="" id="{FDEAEECB-07F8-4CB3-AC62-F10AE0ECD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567" y="3424304"/>
            <a:ext cx="798864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defPPr>
              <a:defRPr lang="ko-KR"/>
            </a:defPPr>
            <a:lvl1pPr marL="88900" indent="-88900" eaLnBrk="1" hangingPunct="1">
              <a:buFont typeface="Arial" panose="020B0604020202020204" pitchFamily="34" charset="0"/>
              <a:buChar char="•"/>
              <a:defRPr sz="10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ko-KR" altLang="en-US" dirty="0"/>
              <a:t>신규 </a:t>
            </a:r>
            <a:r>
              <a:rPr lang="en-US" altLang="ko-KR" dirty="0"/>
              <a:t>: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ko-KR" altLang="en-US" dirty="0"/>
              <a:t>기존 </a:t>
            </a:r>
            <a:r>
              <a:rPr lang="en-US" altLang="ko-KR" dirty="0"/>
              <a:t>: </a:t>
            </a:r>
            <a:r>
              <a:rPr lang="ko-KR" altLang="en-US" dirty="0"/>
              <a:t>변경</a:t>
            </a:r>
            <a:endParaRPr lang="en-US" altLang="ko-KR" dirty="0"/>
          </a:p>
        </p:txBody>
      </p:sp>
      <p:sp>
        <p:nvSpPr>
          <p:cNvPr id="245" name="AutoShape 80">
            <a:extLst>
              <a:ext uri="{FF2B5EF4-FFF2-40B4-BE49-F238E27FC236}">
                <a16:creationId xmlns:a16="http://schemas.microsoft.com/office/drawing/2014/main" xmlns="" id="{D556CF83-38B0-45C5-BDAA-B4DA2DA23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999" y="3753068"/>
            <a:ext cx="720000" cy="360000"/>
          </a:xfrm>
          <a:prstGeom prst="flowChartMagneticDisk">
            <a:avLst/>
          </a:prstGeom>
          <a:solidFill>
            <a:srgbClr val="B3EDFF"/>
          </a:solidFill>
          <a:ln w="9525" algn="ctr">
            <a:solidFill>
              <a:srgbClr val="007FA8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마스터정보</a:t>
            </a:r>
            <a:endParaRPr kumimoji="0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" name="AutoShape 80">
            <a:extLst>
              <a:ext uri="{FF2B5EF4-FFF2-40B4-BE49-F238E27FC236}">
                <a16:creationId xmlns:a16="http://schemas.microsoft.com/office/drawing/2014/main" xmlns="" id="{36E3CD46-ACF1-440B-AD47-9DAEFAAB2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599" y="3753068"/>
            <a:ext cx="720000" cy="360000"/>
          </a:xfrm>
          <a:prstGeom prst="flowChartMagneticDisk">
            <a:avLst/>
          </a:prstGeom>
          <a:solidFill>
            <a:srgbClr val="B3EDFF"/>
          </a:solidFill>
          <a:ln w="9525" algn="ctr">
            <a:solidFill>
              <a:srgbClr val="007FA8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마스터정보</a:t>
            </a:r>
            <a:endParaRPr kumimoji="0" lang="en-US" altLang="ko-KR" sz="90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xmlns="" id="{6540DDD3-559D-4DDD-87D3-9647ABE37225}"/>
              </a:ext>
            </a:extLst>
          </p:cNvPr>
          <p:cNvCxnSpPr>
            <a:cxnSpLocks/>
            <a:stCxn id="245" idx="1"/>
            <a:endCxn id="239" idx="2"/>
          </p:cNvCxnSpPr>
          <p:nvPr/>
        </p:nvCxnSpPr>
        <p:spPr bwMode="auto">
          <a:xfrm flipV="1">
            <a:off x="4952999" y="2636904"/>
            <a:ext cx="0" cy="1116164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xmlns="" id="{2CB4F4B0-963F-490C-987B-1A44E2A5A114}"/>
              </a:ext>
            </a:extLst>
          </p:cNvPr>
          <p:cNvCxnSpPr>
            <a:cxnSpLocks/>
            <a:stCxn id="246" idx="2"/>
            <a:endCxn id="245" idx="4"/>
          </p:cNvCxnSpPr>
          <p:nvPr/>
        </p:nvCxnSpPr>
        <p:spPr bwMode="auto">
          <a:xfrm flipH="1">
            <a:off x="5312999" y="3933068"/>
            <a:ext cx="2424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grpSp>
        <p:nvGrpSpPr>
          <p:cNvPr id="251" name="그룹 250">
            <a:extLst>
              <a:ext uri="{FF2B5EF4-FFF2-40B4-BE49-F238E27FC236}">
                <a16:creationId xmlns:a16="http://schemas.microsoft.com/office/drawing/2014/main" xmlns="" id="{64C69E2F-498D-47E4-AF24-472AAAB9203F}"/>
              </a:ext>
            </a:extLst>
          </p:cNvPr>
          <p:cNvGrpSpPr/>
          <p:nvPr/>
        </p:nvGrpSpPr>
        <p:grpSpPr>
          <a:xfrm>
            <a:off x="251399" y="5012331"/>
            <a:ext cx="3114000" cy="1541702"/>
            <a:chOff x="251399" y="2820194"/>
            <a:chExt cx="3132000" cy="1541702"/>
          </a:xfrm>
        </p:grpSpPr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xmlns="" id="{04498430-47F1-494B-A180-DE97C2D7D288}"/>
                </a:ext>
              </a:extLst>
            </p:cNvPr>
            <p:cNvSpPr/>
            <p:nvPr/>
          </p:nvSpPr>
          <p:spPr>
            <a:xfrm>
              <a:off x="251399" y="2820194"/>
              <a:ext cx="3132000" cy="1541702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bg2">
                  <a:lumMod val="5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253" name="Rectangle 22">
              <a:extLst>
                <a:ext uri="{FF2B5EF4-FFF2-40B4-BE49-F238E27FC236}">
                  <a16:creationId xmlns:a16="http://schemas.microsoft.com/office/drawing/2014/main" xmlns="" id="{FEE9F89F-A302-40B3-80BA-CD35BB317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4023759"/>
              <a:ext cx="3132000" cy="33813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6350">
              <a:solidFill>
                <a:schemeClr val="bg2">
                  <a:lumMod val="50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OTMS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254" name="Rectangle 33">
            <a:extLst>
              <a:ext uri="{FF2B5EF4-FFF2-40B4-BE49-F238E27FC236}">
                <a16:creationId xmlns:a16="http://schemas.microsoft.com/office/drawing/2014/main" xmlns="" id="{0EF216C0-2AC1-4492-9E13-89D6F2154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522923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strike="sngStrike" kern="0" dirty="0">
                <a:solidFill>
                  <a:srgbClr val="FF0000"/>
                </a:solidFill>
                <a:latin typeface="맑은 고딕"/>
                <a:ea typeface="맑은 고딕"/>
              </a:rPr>
              <a:t>마스터정보 생성</a:t>
            </a:r>
            <a:r>
              <a:rPr lang="en-US" altLang="ko-KR" sz="1000" b="1" strike="sngStrike" kern="0" dirty="0">
                <a:solidFill>
                  <a:srgbClr val="FF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b="1" strike="sngStrike" kern="0" dirty="0">
                <a:solidFill>
                  <a:srgbClr val="FF0000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255" name="Rectangle 33">
            <a:extLst>
              <a:ext uri="{FF2B5EF4-FFF2-40B4-BE49-F238E27FC236}">
                <a16:creationId xmlns:a16="http://schemas.microsoft.com/office/drawing/2014/main" xmlns="" id="{029DA5B8-8379-44BE-B8D4-755A2E82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5769296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strike="sngStrike" kern="0" dirty="0">
                <a:solidFill>
                  <a:srgbClr val="FF0000"/>
                </a:solidFill>
                <a:latin typeface="맑은 고딕"/>
                <a:ea typeface="맑은 고딕"/>
              </a:rPr>
              <a:t>마스터정보 전송</a:t>
            </a:r>
          </a:p>
        </p:txBody>
      </p:sp>
      <p:sp>
        <p:nvSpPr>
          <p:cNvPr id="256" name="Rectangle 33">
            <a:extLst>
              <a:ext uri="{FF2B5EF4-FFF2-40B4-BE49-F238E27FC236}">
                <a16:creationId xmlns:a16="http://schemas.microsoft.com/office/drawing/2014/main" xmlns="" id="{0E5C4DCB-54CF-4D9B-8330-2C19ED0B7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5769296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strike="sngStrike" kern="0" dirty="0">
                <a:solidFill>
                  <a:srgbClr val="FF0000"/>
                </a:solidFill>
                <a:latin typeface="맑은 고딕"/>
                <a:ea typeface="맑은 고딕"/>
              </a:rPr>
              <a:t>마스터정보 수신</a:t>
            </a:r>
          </a:p>
        </p:txBody>
      </p:sp>
      <p:sp>
        <p:nvSpPr>
          <p:cNvPr id="257" name="Rectangle 33">
            <a:extLst>
              <a:ext uri="{FF2B5EF4-FFF2-40B4-BE49-F238E27FC236}">
                <a16:creationId xmlns:a16="http://schemas.microsoft.com/office/drawing/2014/main" xmlns="" id="{A7982506-C208-4B30-9673-243228F64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522923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strike="sngStrike" kern="0" dirty="0">
                <a:solidFill>
                  <a:srgbClr val="FF0000"/>
                </a:solidFill>
                <a:latin typeface="맑은 고딕"/>
                <a:ea typeface="맑은 고딕"/>
              </a:rPr>
              <a:t>마스터정보 반영</a:t>
            </a:r>
            <a:endParaRPr lang="en-US" altLang="ko-KR" sz="1000" b="1" strike="sngStrike" kern="0" dirty="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xmlns="" id="{F0B91B0B-4FEB-45D7-883B-4ACB55319C6F}"/>
              </a:ext>
            </a:extLst>
          </p:cNvPr>
          <p:cNvCxnSpPr>
            <a:cxnSpLocks/>
            <a:stCxn id="257" idx="2"/>
            <a:endCxn id="256" idx="0"/>
          </p:cNvCxnSpPr>
          <p:nvPr/>
        </p:nvCxnSpPr>
        <p:spPr bwMode="auto">
          <a:xfrm>
            <a:off x="4952999" y="5553232"/>
            <a:ext cx="0" cy="216064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59" name="직선 연결선 258">
            <a:extLst>
              <a:ext uri="{FF2B5EF4-FFF2-40B4-BE49-F238E27FC236}">
                <a16:creationId xmlns:a16="http://schemas.microsoft.com/office/drawing/2014/main" xmlns="" id="{F4AE77E0-FA5D-491D-BE5B-CE46A64E5D60}"/>
              </a:ext>
            </a:extLst>
          </p:cNvPr>
          <p:cNvCxnSpPr>
            <a:cxnSpLocks/>
            <a:stCxn id="256" idx="1"/>
            <a:endCxn id="255" idx="3"/>
          </p:cNvCxnSpPr>
          <p:nvPr/>
        </p:nvCxnSpPr>
        <p:spPr bwMode="auto">
          <a:xfrm flipH="1">
            <a:off x="2420399" y="5931296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xmlns="" id="{7BB7B78F-CEC5-44AE-938A-E932C55DA6EA}"/>
              </a:ext>
            </a:extLst>
          </p:cNvPr>
          <p:cNvCxnSpPr>
            <a:cxnSpLocks/>
            <a:stCxn id="255" idx="0"/>
            <a:endCxn id="254" idx="2"/>
          </p:cNvCxnSpPr>
          <p:nvPr/>
        </p:nvCxnSpPr>
        <p:spPr bwMode="auto">
          <a:xfrm flipV="1">
            <a:off x="1808399" y="5553232"/>
            <a:ext cx="0" cy="216064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xmlns="" id="{FBCBB4A6-5F4E-48FA-86F5-EE999760FC82}"/>
              </a:ext>
            </a:extLst>
          </p:cNvPr>
          <p:cNvCxnSpPr>
            <a:cxnSpLocks/>
            <a:stCxn id="245" idx="3"/>
            <a:endCxn id="257" idx="0"/>
          </p:cNvCxnSpPr>
          <p:nvPr/>
        </p:nvCxnSpPr>
        <p:spPr bwMode="auto">
          <a:xfrm>
            <a:off x="4952999" y="4113068"/>
            <a:ext cx="0" cy="1116164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63" name="TextBox 73">
            <a:extLst>
              <a:ext uri="{FF2B5EF4-FFF2-40B4-BE49-F238E27FC236}">
                <a16:creationId xmlns:a16="http://schemas.microsoft.com/office/drawing/2014/main" xmlns="" id="{A72C0AF1-8DF5-4B06-A68C-DF96BC146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58" y="5550816"/>
            <a:ext cx="904341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strike="sngStrike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마스터 유형</a:t>
            </a:r>
            <a:endParaRPr lang="en-US" altLang="ko-KR" sz="1000" b="1" strike="sngStrike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strike="sngStrike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이벤트</a:t>
            </a:r>
            <a:endParaRPr lang="en-US" altLang="ko-KR" sz="1000" b="1" strike="sngStrike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xmlns="" id="{92B4DB9F-5EBA-4834-B8AD-F5DD24B5EF8B}"/>
              </a:ext>
            </a:extLst>
          </p:cNvPr>
          <p:cNvSpPr/>
          <p:nvPr/>
        </p:nvSpPr>
        <p:spPr>
          <a:xfrm>
            <a:off x="3269179" y="5738980"/>
            <a:ext cx="241019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2899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60">
            <a:extLst>
              <a:ext uri="{FF2B5EF4-FFF2-40B4-BE49-F238E27FC236}">
                <a16:creationId xmlns:a16="http://schemas.microsoft.com/office/drawing/2014/main" xmlns="" id="{E350063F-D598-4493-AA44-97FAB84013E9}"/>
              </a:ext>
            </a:extLst>
          </p:cNvPr>
          <p:cNvSpPr txBox="1">
            <a:spLocks/>
          </p:cNvSpPr>
          <p:nvPr/>
        </p:nvSpPr>
        <p:spPr bwMode="auto">
          <a:xfrm>
            <a:off x="6907316" y="210875"/>
            <a:ext cx="2798212" cy="3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b="1" u="none" dirty="0">
                <a:solidFill>
                  <a:srgbClr val="000000"/>
                </a:solidFill>
              </a:rPr>
              <a:t>Ⅱ. Mega Process</a:t>
            </a:r>
            <a:endParaRPr lang="ko-KR" altLang="en-US" sz="1400" b="1" u="none" dirty="0">
              <a:solidFill>
                <a:srgbClr val="000000"/>
              </a:solidFill>
            </a:endParaRPr>
          </a:p>
        </p:txBody>
      </p:sp>
      <p:sp>
        <p:nvSpPr>
          <p:cNvPr id="116" name="Rectangle 1584">
            <a:extLst>
              <a:ext uri="{FF2B5EF4-FFF2-40B4-BE49-F238E27FC236}">
                <a16:creationId xmlns:a16="http://schemas.microsoft.com/office/drawing/2014/main" xmlns="" id="{F6CFE27C-8F44-42B8-8BB9-58F10649F46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9181" y="268133"/>
            <a:ext cx="94297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0" lang="en-US" altLang="ko-KR" sz="2000" kern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Mega Process (2/9) – </a:t>
            </a:r>
            <a:r>
              <a:rPr kumimoji="0" lang="ko-KR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입고</a:t>
            </a:r>
            <a:endParaRPr kumimoji="0" lang="ko-KR" altLang="en-US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88250200-1025-4FD0-9290-972A5F8A13E0}"/>
              </a:ext>
            </a:extLst>
          </p:cNvPr>
          <p:cNvGrpSpPr/>
          <p:nvPr/>
        </p:nvGrpSpPr>
        <p:grpSpPr>
          <a:xfrm>
            <a:off x="6540599" y="761896"/>
            <a:ext cx="3114000" cy="5792137"/>
            <a:chOff x="251399" y="761896"/>
            <a:chExt cx="3132000" cy="5792137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xmlns="" id="{A25858F3-3E65-4406-8EB4-C82E16207EFF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43" name="Rectangle 22">
              <a:extLst>
                <a:ext uri="{FF2B5EF4-FFF2-40B4-BE49-F238E27FC236}">
                  <a16:creationId xmlns:a16="http://schemas.microsoft.com/office/drawing/2014/main" xmlns="" id="{48747296-E330-4D5A-AFB6-74FD8637A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WMS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xmlns="" id="{5119C976-1DD2-45DB-AB07-2D54438C35E9}"/>
              </a:ext>
            </a:extLst>
          </p:cNvPr>
          <p:cNvGrpSpPr/>
          <p:nvPr/>
        </p:nvGrpSpPr>
        <p:grpSpPr>
          <a:xfrm>
            <a:off x="251399" y="761896"/>
            <a:ext cx="3114000" cy="5792137"/>
            <a:chOff x="251399" y="761896"/>
            <a:chExt cx="3132000" cy="5792137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xmlns="" id="{DE9AA8B2-76AA-4214-8DA1-8CEDF57838F1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46" name="Rectangle 22">
              <a:extLst>
                <a:ext uri="{FF2B5EF4-FFF2-40B4-BE49-F238E27FC236}">
                  <a16:creationId xmlns:a16="http://schemas.microsoft.com/office/drawing/2014/main" xmlns="" id="{681284D1-043C-4702-8643-894F686CA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ERP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xmlns="" id="{5E268439-E0E4-47F0-90E8-B8EF2041E2A6}"/>
              </a:ext>
            </a:extLst>
          </p:cNvPr>
          <p:cNvGrpSpPr/>
          <p:nvPr/>
        </p:nvGrpSpPr>
        <p:grpSpPr>
          <a:xfrm>
            <a:off x="3395999" y="761896"/>
            <a:ext cx="3114000" cy="5792137"/>
            <a:chOff x="251399" y="761896"/>
            <a:chExt cx="3132000" cy="5792137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xmlns="" id="{90CE279C-3FD9-49E9-8532-FE8C63A52019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49" name="Rectangle 22">
              <a:extLst>
                <a:ext uri="{FF2B5EF4-FFF2-40B4-BE49-F238E27FC236}">
                  <a16:creationId xmlns:a16="http://schemas.microsoft.com/office/drawing/2014/main" xmlns="" id="{342698E6-1B6F-4F74-A1B7-BC42E431F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50" name="Rectangle 33">
            <a:extLst>
              <a:ext uri="{FF2B5EF4-FFF2-40B4-BE49-F238E27FC236}">
                <a16:creationId xmlns:a16="http://schemas.microsoft.com/office/drawing/2014/main" xmlns="" id="{50F714EF-7C97-4AC7-9643-B99CA4BF7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23279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입고예정 생성</a:t>
            </a:r>
          </a:p>
        </p:txBody>
      </p:sp>
      <p:sp>
        <p:nvSpPr>
          <p:cNvPr id="51" name="Rectangle 33">
            <a:extLst>
              <a:ext uri="{FF2B5EF4-FFF2-40B4-BE49-F238E27FC236}">
                <a16:creationId xmlns:a16="http://schemas.microsoft.com/office/drawing/2014/main" xmlns="" id="{4931B075-3FCD-4614-B7A6-AD1E742EE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입고예정 송신</a:t>
            </a:r>
          </a:p>
        </p:txBody>
      </p:sp>
      <p:sp>
        <p:nvSpPr>
          <p:cNvPr id="52" name="Rectangle 33">
            <a:extLst>
              <a:ext uri="{FF2B5EF4-FFF2-40B4-BE49-F238E27FC236}">
                <a16:creationId xmlns:a16="http://schemas.microsoft.com/office/drawing/2014/main" xmlns="" id="{F9793566-D5F5-496F-AB0F-18C78B357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입고예정 수신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xmlns="" id="{3777E01C-63D6-4E29-8C36-34C8C9AC459F}"/>
              </a:ext>
            </a:extLst>
          </p:cNvPr>
          <p:cNvCxnSpPr>
            <a:cxnSpLocks/>
            <a:stCxn id="52" idx="1"/>
            <a:endCxn id="51" idx="3"/>
          </p:cNvCxnSpPr>
          <p:nvPr/>
        </p:nvCxnSpPr>
        <p:spPr bwMode="auto">
          <a:xfrm flipH="1">
            <a:off x="24203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xmlns="" id="{D4B1CFFE-8612-48BA-8637-97F63E47883B}"/>
              </a:ext>
            </a:extLst>
          </p:cNvPr>
          <p:cNvCxnSpPr>
            <a:cxnSpLocks/>
            <a:stCxn id="51" idx="0"/>
            <a:endCxn id="50" idx="2"/>
          </p:cNvCxnSpPr>
          <p:nvPr/>
        </p:nvCxnSpPr>
        <p:spPr bwMode="auto">
          <a:xfrm flipV="1">
            <a:off x="1808399" y="155679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55" name="Rectangle 33">
            <a:extLst>
              <a:ext uri="{FF2B5EF4-FFF2-40B4-BE49-F238E27FC236}">
                <a16:creationId xmlns:a16="http://schemas.microsoft.com/office/drawing/2014/main" xmlns="" id="{DECC447B-6A78-4706-8134-5E789AB68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입고예정 수신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xmlns="" id="{6963FFB7-81EC-45AA-8855-6BE13ED6242A}"/>
              </a:ext>
            </a:extLst>
          </p:cNvPr>
          <p:cNvCxnSpPr>
            <a:cxnSpLocks/>
            <a:stCxn id="55" idx="1"/>
            <a:endCxn id="52" idx="3"/>
          </p:cNvCxnSpPr>
          <p:nvPr/>
        </p:nvCxnSpPr>
        <p:spPr bwMode="auto">
          <a:xfrm flipH="1">
            <a:off x="55649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57" name="Rectangle 33">
            <a:extLst>
              <a:ext uri="{FF2B5EF4-FFF2-40B4-BE49-F238E27FC236}">
                <a16:creationId xmlns:a16="http://schemas.microsoft.com/office/drawing/2014/main" xmlns="" id="{D8927ECA-5991-4735-BCA1-D4D495BE6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입고확정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적치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xmlns="" id="{C0CA4E47-71B0-4608-851F-30FB3D3FA445}"/>
              </a:ext>
            </a:extLst>
          </p:cNvPr>
          <p:cNvCxnSpPr>
            <a:cxnSpLocks/>
            <a:stCxn id="57" idx="0"/>
            <a:endCxn id="55" idx="2"/>
          </p:cNvCxnSpPr>
          <p:nvPr/>
        </p:nvCxnSpPr>
        <p:spPr bwMode="auto">
          <a:xfrm flipV="1">
            <a:off x="8097599" y="2096848"/>
            <a:ext cx="0" cy="756112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59" name="Rectangle 33">
            <a:extLst>
              <a:ext uri="{FF2B5EF4-FFF2-40B4-BE49-F238E27FC236}">
                <a16:creationId xmlns:a16="http://schemas.microsoft.com/office/drawing/2014/main" xmlns="" id="{D942D982-86E9-4367-8994-0F1E03A5F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입고실적 송신</a:t>
            </a:r>
          </a:p>
        </p:txBody>
      </p:sp>
      <p:sp>
        <p:nvSpPr>
          <p:cNvPr id="60" name="Rectangle 33">
            <a:extLst>
              <a:ext uri="{FF2B5EF4-FFF2-40B4-BE49-F238E27FC236}">
                <a16:creationId xmlns:a16="http://schemas.microsoft.com/office/drawing/2014/main" xmlns="" id="{E88E3B0E-D93A-4FA2-9B80-174C3133B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입고실적 송신</a:t>
            </a:r>
          </a:p>
        </p:txBody>
      </p:sp>
      <p:sp>
        <p:nvSpPr>
          <p:cNvPr id="61" name="Rectangle 33">
            <a:extLst>
              <a:ext uri="{FF2B5EF4-FFF2-40B4-BE49-F238E27FC236}">
                <a16:creationId xmlns:a16="http://schemas.microsoft.com/office/drawing/2014/main" xmlns="" id="{DCE9ED5A-ADC0-4F18-BE2F-C0436119D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입고실적 수신</a:t>
            </a:r>
          </a:p>
        </p:txBody>
      </p:sp>
      <p:sp>
        <p:nvSpPr>
          <p:cNvPr id="62" name="TextBox 73">
            <a:extLst>
              <a:ext uri="{FF2B5EF4-FFF2-40B4-BE49-F238E27FC236}">
                <a16:creationId xmlns:a16="http://schemas.microsoft.com/office/drawing/2014/main" xmlns="" id="{2F4387BE-F6DE-41C8-B14C-A0CB46864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399" y="2110124"/>
            <a:ext cx="1116579" cy="1149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입고유형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정상입고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이관입고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보충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반품입고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매장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대체입고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샘플입고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관리입고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xmlns="" id="{16CFE815-0AFF-4C82-8113-13399BCC784E}"/>
              </a:ext>
            </a:extLst>
          </p:cNvPr>
          <p:cNvCxnSpPr>
            <a:cxnSpLocks/>
            <a:stCxn id="60" idx="3"/>
            <a:endCxn id="59" idx="1"/>
          </p:cNvCxnSpPr>
          <p:nvPr/>
        </p:nvCxnSpPr>
        <p:spPr bwMode="auto">
          <a:xfrm>
            <a:off x="5564999" y="4095072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xmlns="" id="{D476CF13-67BF-463B-8D9D-5DAEE7700EE3}"/>
              </a:ext>
            </a:extLst>
          </p:cNvPr>
          <p:cNvCxnSpPr>
            <a:cxnSpLocks/>
            <a:stCxn id="59" idx="0"/>
            <a:endCxn id="57" idx="2"/>
          </p:cNvCxnSpPr>
          <p:nvPr/>
        </p:nvCxnSpPr>
        <p:spPr bwMode="auto">
          <a:xfrm flipV="1">
            <a:off x="8097599" y="3176960"/>
            <a:ext cx="0" cy="756112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xmlns="" id="{03F0111C-5587-4B19-8DCF-C36CE1CC23D3}"/>
              </a:ext>
            </a:extLst>
          </p:cNvPr>
          <p:cNvCxnSpPr>
            <a:cxnSpLocks/>
            <a:stCxn id="61" idx="3"/>
            <a:endCxn id="60" idx="1"/>
          </p:cNvCxnSpPr>
          <p:nvPr/>
        </p:nvCxnSpPr>
        <p:spPr bwMode="auto">
          <a:xfrm>
            <a:off x="2420399" y="4095072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3295904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60">
            <a:extLst>
              <a:ext uri="{FF2B5EF4-FFF2-40B4-BE49-F238E27FC236}">
                <a16:creationId xmlns:a16="http://schemas.microsoft.com/office/drawing/2014/main" xmlns="" id="{E350063F-D598-4493-AA44-97FAB84013E9}"/>
              </a:ext>
            </a:extLst>
          </p:cNvPr>
          <p:cNvSpPr txBox="1">
            <a:spLocks/>
          </p:cNvSpPr>
          <p:nvPr/>
        </p:nvSpPr>
        <p:spPr bwMode="auto">
          <a:xfrm>
            <a:off x="6907316" y="210875"/>
            <a:ext cx="2798212" cy="3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b="1" u="none" dirty="0">
                <a:solidFill>
                  <a:srgbClr val="000000"/>
                </a:solidFill>
              </a:rPr>
              <a:t>Ⅱ. Mega Process</a:t>
            </a:r>
            <a:endParaRPr lang="ko-KR" altLang="en-US" sz="1400" b="1" u="none" dirty="0">
              <a:solidFill>
                <a:srgbClr val="000000"/>
              </a:solidFill>
            </a:endParaRPr>
          </a:p>
        </p:txBody>
      </p:sp>
      <p:sp>
        <p:nvSpPr>
          <p:cNvPr id="116" name="Rectangle 1584">
            <a:extLst>
              <a:ext uri="{FF2B5EF4-FFF2-40B4-BE49-F238E27FC236}">
                <a16:creationId xmlns:a16="http://schemas.microsoft.com/office/drawing/2014/main" xmlns="" id="{F6CFE27C-8F44-42B8-8BB9-58F10649F46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9181" y="268133"/>
            <a:ext cx="94297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0" lang="en-US" altLang="ko-KR" sz="2000" kern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Mega Process (3/9) – </a:t>
            </a:r>
            <a:r>
              <a:rPr kumimoji="0" lang="ko-KR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반품입고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(B2C)</a:t>
            </a:r>
            <a:endParaRPr kumimoji="0" lang="ko-KR" altLang="en-US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0E61513C-B5D1-47DF-8457-70454239A2D8}"/>
              </a:ext>
            </a:extLst>
          </p:cNvPr>
          <p:cNvGrpSpPr/>
          <p:nvPr/>
        </p:nvGrpSpPr>
        <p:grpSpPr>
          <a:xfrm>
            <a:off x="251399" y="5569527"/>
            <a:ext cx="3114000" cy="984506"/>
            <a:chOff x="251399" y="3377390"/>
            <a:chExt cx="3132000" cy="98450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B9AF92E0-50A7-4423-AD68-B0DCE5417EA5}"/>
                </a:ext>
              </a:extLst>
            </p:cNvPr>
            <p:cNvSpPr/>
            <p:nvPr/>
          </p:nvSpPr>
          <p:spPr>
            <a:xfrm>
              <a:off x="251399" y="3377390"/>
              <a:ext cx="3132000" cy="984506"/>
            </a:xfrm>
            <a:prstGeom prst="rect">
              <a:avLst/>
            </a:prstGeom>
            <a:pattFill prst="ltUpDiag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xmlns="" id="{8A77764F-C404-48B1-96C2-9AA198464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4023759"/>
              <a:ext cx="3132000" cy="33813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ERP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845CABE9-AFBA-4881-AED4-7745F3E0E8D8}"/>
              </a:ext>
            </a:extLst>
          </p:cNvPr>
          <p:cNvGrpSpPr/>
          <p:nvPr/>
        </p:nvGrpSpPr>
        <p:grpSpPr>
          <a:xfrm>
            <a:off x="251399" y="761896"/>
            <a:ext cx="3114000" cy="4774380"/>
            <a:chOff x="251399" y="761896"/>
            <a:chExt cx="3132000" cy="421523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A91C9B92-4628-43F0-9F07-DBEDDD294A1A}"/>
                </a:ext>
              </a:extLst>
            </p:cNvPr>
            <p:cNvSpPr/>
            <p:nvPr/>
          </p:nvSpPr>
          <p:spPr>
            <a:xfrm>
              <a:off x="251399" y="761896"/>
              <a:ext cx="3132000" cy="4215232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bg2">
                  <a:lumMod val="5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xmlns="" id="{949C253A-CAA3-4ACB-9EFD-D7819E34E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6350">
              <a:solidFill>
                <a:schemeClr val="bg2">
                  <a:lumMod val="50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OTMS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A54FF27-48F1-44A4-A6C7-4653F2A988C9}"/>
              </a:ext>
            </a:extLst>
          </p:cNvPr>
          <p:cNvGrpSpPr/>
          <p:nvPr/>
        </p:nvGrpSpPr>
        <p:grpSpPr>
          <a:xfrm>
            <a:off x="6540599" y="761896"/>
            <a:ext cx="3114000" cy="5792137"/>
            <a:chOff x="251399" y="761896"/>
            <a:chExt cx="3132000" cy="579213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xmlns="" id="{DB3CC2CC-614A-4F8C-8600-014955A07839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xmlns="" id="{6F36A8EB-BC06-4181-9F45-48FE0D4A1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WMS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583B2BA3-DFA8-4145-A60D-5364B984F1A9}"/>
              </a:ext>
            </a:extLst>
          </p:cNvPr>
          <p:cNvGrpSpPr/>
          <p:nvPr/>
        </p:nvGrpSpPr>
        <p:grpSpPr>
          <a:xfrm>
            <a:off x="3395999" y="761896"/>
            <a:ext cx="3114000" cy="5792137"/>
            <a:chOff x="251399" y="761896"/>
            <a:chExt cx="3132000" cy="579213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xmlns="" id="{3EFC67EC-3014-44CB-8E0F-79680CDD27E2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xmlns="" id="{03F7E337-BC4B-4D40-8DCB-6913E3B8A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16" name="Rectangle 33">
            <a:extLst>
              <a:ext uri="{FF2B5EF4-FFF2-40B4-BE49-F238E27FC236}">
                <a16:creationId xmlns:a16="http://schemas.microsoft.com/office/drawing/2014/main" xmlns="" id="{A11201EC-D668-4796-9D70-07DDFFFB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23279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반입고예정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 생성</a:t>
            </a:r>
          </a:p>
        </p:txBody>
      </p:sp>
      <p:sp>
        <p:nvSpPr>
          <p:cNvPr id="17" name="Rectangle 33">
            <a:extLst>
              <a:ext uri="{FF2B5EF4-FFF2-40B4-BE49-F238E27FC236}">
                <a16:creationId xmlns:a16="http://schemas.microsoft.com/office/drawing/2014/main" xmlns="" id="{65E461E3-AE93-4CBF-BB70-69ECB3106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반품입고예정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sp>
        <p:nvSpPr>
          <p:cNvPr id="18" name="Rectangle 33">
            <a:extLst>
              <a:ext uri="{FF2B5EF4-FFF2-40B4-BE49-F238E27FC236}">
                <a16:creationId xmlns:a16="http://schemas.microsoft.com/office/drawing/2014/main" xmlns="" id="{3B9D625C-4A63-4CF4-9EDE-111AD120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반품입고예정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xmlns="" id="{6EBB3470-601F-4232-90B5-EEC1869898FB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 bwMode="auto">
          <a:xfrm flipH="1">
            <a:off x="24203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024C952C-11D7-43E9-AD3B-972F564F24A4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 bwMode="auto">
          <a:xfrm flipV="1">
            <a:off x="1808399" y="155679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1" name="Rectangle 33">
            <a:extLst>
              <a:ext uri="{FF2B5EF4-FFF2-40B4-BE49-F238E27FC236}">
                <a16:creationId xmlns:a16="http://schemas.microsoft.com/office/drawing/2014/main" xmlns="" id="{603C7DCA-A702-4F0E-88DC-DB86934F5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반품입고예정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xmlns="" id="{E770AE7A-7E92-4BE0-9CE7-031F28CBD45B}"/>
              </a:ext>
            </a:extLst>
          </p:cNvPr>
          <p:cNvCxnSpPr>
            <a:cxnSpLocks/>
            <a:stCxn id="21" idx="1"/>
            <a:endCxn id="18" idx="3"/>
          </p:cNvCxnSpPr>
          <p:nvPr/>
        </p:nvCxnSpPr>
        <p:spPr bwMode="auto">
          <a:xfrm flipH="1">
            <a:off x="55649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3" name="Rectangle 33">
            <a:extLst>
              <a:ext uri="{FF2B5EF4-FFF2-40B4-BE49-F238E27FC236}">
                <a16:creationId xmlns:a16="http://schemas.microsoft.com/office/drawing/2014/main" xmlns="" id="{606D4EBA-E366-43A9-AF2F-F862BB9A4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339301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반품 </a:t>
            </a: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가확정</a:t>
            </a:r>
            <a:endParaRPr lang="ko-KR" altLang="en-US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xmlns="" id="{C7324F91-3216-4FE8-9188-17F6E78FE273}"/>
              </a:ext>
            </a:extLst>
          </p:cNvPr>
          <p:cNvCxnSpPr>
            <a:cxnSpLocks/>
            <a:stCxn id="37" idx="0"/>
            <a:endCxn id="100" idx="2"/>
          </p:cNvCxnSpPr>
          <p:nvPr/>
        </p:nvCxnSpPr>
        <p:spPr bwMode="auto">
          <a:xfrm flipV="1">
            <a:off x="8097599" y="2636904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5" name="Rectangle 33">
            <a:extLst>
              <a:ext uri="{FF2B5EF4-FFF2-40B4-BE49-F238E27FC236}">
                <a16:creationId xmlns:a16="http://schemas.microsoft.com/office/drawing/2014/main" xmlns="" id="{5927F45A-466B-4E8E-9882-AFCB18D95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반품가입고 송신</a:t>
            </a:r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xmlns="" id="{F6B5C790-5ECC-4F8D-9EA8-0B365B7B3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반품가입고 송신</a:t>
            </a:r>
          </a:p>
        </p:txBody>
      </p:sp>
      <p:sp>
        <p:nvSpPr>
          <p:cNvPr id="27" name="Rectangle 33">
            <a:extLst>
              <a:ext uri="{FF2B5EF4-FFF2-40B4-BE49-F238E27FC236}">
                <a16:creationId xmlns:a16="http://schemas.microsoft.com/office/drawing/2014/main" xmlns="" id="{DA10ACA7-F02C-45D3-9AB7-6270A0F03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551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반품가입고 수신</a:t>
            </a:r>
          </a:p>
        </p:txBody>
      </p:sp>
      <p:sp>
        <p:nvSpPr>
          <p:cNvPr id="28" name="TextBox 73">
            <a:extLst>
              <a:ext uri="{FF2B5EF4-FFF2-40B4-BE49-F238E27FC236}">
                <a16:creationId xmlns:a16="http://schemas.microsoft.com/office/drawing/2014/main" xmlns="" id="{ECCD603A-49CF-49FB-BBFE-4D9566DCF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929644"/>
            <a:ext cx="1023604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입고유형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고객반품입고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7AABFA19-1EE9-4CCB-8349-0580D4EF8B4F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 bwMode="auto">
          <a:xfrm>
            <a:off x="5564999" y="4095072"/>
            <a:ext cx="11644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0" name="직선 연결선 68">
            <a:extLst>
              <a:ext uri="{FF2B5EF4-FFF2-40B4-BE49-F238E27FC236}">
                <a16:creationId xmlns:a16="http://schemas.microsoft.com/office/drawing/2014/main" xmlns="" id="{94B1EAE4-882A-401E-9222-DE95B7452F72}"/>
              </a:ext>
            </a:extLst>
          </p:cNvPr>
          <p:cNvCxnSpPr>
            <a:cxnSpLocks/>
            <a:stCxn id="25" idx="0"/>
            <a:endCxn id="38" idx="2"/>
          </p:cNvCxnSpPr>
          <p:nvPr/>
        </p:nvCxnSpPr>
        <p:spPr bwMode="auto">
          <a:xfrm flipV="1">
            <a:off x="7341447" y="3717016"/>
            <a:ext cx="0" cy="216056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5D3747B0-7D20-40D3-940C-2BB61EE27547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 bwMode="auto">
          <a:xfrm>
            <a:off x="3176551" y="4095072"/>
            <a:ext cx="11644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0E6C6166-0192-4D3A-829B-32431D28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5769296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반품실적 수신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xmlns="" id="{4D2D7422-5CFE-4E19-8513-8DEF9D2B83D9}"/>
              </a:ext>
            </a:extLst>
          </p:cNvPr>
          <p:cNvCxnSpPr>
            <a:cxnSpLocks/>
            <a:stCxn id="36" idx="0"/>
            <a:endCxn id="27" idx="1"/>
          </p:cNvCxnSpPr>
          <p:nvPr/>
        </p:nvCxnSpPr>
        <p:spPr bwMode="auto">
          <a:xfrm rot="5400000" flipH="1" flipV="1">
            <a:off x="1313371" y="3833948"/>
            <a:ext cx="378056" cy="900304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6" name="Rectangle 33">
            <a:extLst>
              <a:ext uri="{FF2B5EF4-FFF2-40B4-BE49-F238E27FC236}">
                <a16:creationId xmlns:a16="http://schemas.microsoft.com/office/drawing/2014/main" xmlns="" id="{F544ACE0-A139-4C04-B6E2-3C7FCB673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47" y="4473128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반품확정</a:t>
            </a:r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xmlns="" id="{32441F7F-3EF9-4508-AAD4-960EEE7AB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2852960"/>
            <a:ext cx="1224000" cy="324000"/>
          </a:xfrm>
          <a:prstGeom prst="diamond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예정정보 有</a:t>
            </a:r>
          </a:p>
        </p:txBody>
      </p:sp>
      <p:sp>
        <p:nvSpPr>
          <p:cNvPr id="38" name="Rectangle 33">
            <a:extLst>
              <a:ext uri="{FF2B5EF4-FFF2-40B4-BE49-F238E27FC236}">
                <a16:creationId xmlns:a16="http://schemas.microsoft.com/office/drawing/2014/main" xmlns="" id="{B952E687-24F6-41F9-9A3D-8D322CC4C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339301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반품 </a:t>
            </a: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가입고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 등록</a:t>
            </a:r>
          </a:p>
        </p:txBody>
      </p:sp>
      <p:cxnSp>
        <p:nvCxnSpPr>
          <p:cNvPr id="39" name="직선 연결선 78">
            <a:extLst>
              <a:ext uri="{FF2B5EF4-FFF2-40B4-BE49-F238E27FC236}">
                <a16:creationId xmlns:a16="http://schemas.microsoft.com/office/drawing/2014/main" xmlns="" id="{87D517F9-C338-45A4-895E-37D1617263AA}"/>
              </a:ext>
            </a:extLst>
          </p:cNvPr>
          <p:cNvCxnSpPr>
            <a:cxnSpLocks/>
            <a:stCxn id="38" idx="0"/>
            <a:endCxn id="37" idx="1"/>
          </p:cNvCxnSpPr>
          <p:nvPr/>
        </p:nvCxnSpPr>
        <p:spPr bwMode="auto">
          <a:xfrm rot="5400000" flipH="1" flipV="1">
            <a:off x="7224495" y="3131912"/>
            <a:ext cx="378056" cy="14415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40" name="직선 연결선 78">
            <a:extLst>
              <a:ext uri="{FF2B5EF4-FFF2-40B4-BE49-F238E27FC236}">
                <a16:creationId xmlns:a16="http://schemas.microsoft.com/office/drawing/2014/main" xmlns="" id="{C999E98F-8397-4455-8088-7F522B4CB74E}"/>
              </a:ext>
            </a:extLst>
          </p:cNvPr>
          <p:cNvCxnSpPr>
            <a:cxnSpLocks/>
            <a:stCxn id="23" idx="0"/>
            <a:endCxn id="37" idx="3"/>
          </p:cNvCxnSpPr>
          <p:nvPr/>
        </p:nvCxnSpPr>
        <p:spPr bwMode="auto">
          <a:xfrm rot="16200000" flipV="1">
            <a:off x="8592647" y="3131912"/>
            <a:ext cx="378056" cy="14415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41" name="Rectangle 33">
            <a:extLst>
              <a:ext uri="{FF2B5EF4-FFF2-40B4-BE49-F238E27FC236}">
                <a16:creationId xmlns:a16="http://schemas.microsoft.com/office/drawing/2014/main" xmlns="" id="{A1713309-2DB8-4626-AC6F-9E4E40CC4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447312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반품가확정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sp>
        <p:nvSpPr>
          <p:cNvPr id="42" name="Rectangle 33">
            <a:extLst>
              <a:ext uri="{FF2B5EF4-FFF2-40B4-BE49-F238E27FC236}">
                <a16:creationId xmlns:a16="http://schemas.microsoft.com/office/drawing/2014/main" xmlns="" id="{D3527EBC-02A5-4844-9DAD-E0D7AB3D1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447312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반품가확정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xmlns="" id="{281FDA87-7775-4F01-8D73-C5C7C251B2C5}"/>
              </a:ext>
            </a:extLst>
          </p:cNvPr>
          <p:cNvCxnSpPr>
            <a:cxnSpLocks/>
            <a:stCxn id="42" idx="3"/>
            <a:endCxn id="41" idx="1"/>
          </p:cNvCxnSpPr>
          <p:nvPr/>
        </p:nvCxnSpPr>
        <p:spPr bwMode="auto">
          <a:xfrm>
            <a:off x="5564999" y="4635128"/>
            <a:ext cx="2676752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44" name="TextBox 73">
            <a:extLst>
              <a:ext uri="{FF2B5EF4-FFF2-40B4-BE49-F238E27FC236}">
                <a16:creationId xmlns:a16="http://schemas.microsoft.com/office/drawing/2014/main" xmlns="" id="{F26EB4A2-390B-43E3-B925-067811E3C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6045" y="2800804"/>
            <a:ext cx="170487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ts val="200"/>
              </a:spcBef>
              <a:spcAft>
                <a:spcPts val="2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</a:t>
            </a:r>
          </a:p>
        </p:txBody>
      </p:sp>
      <p:sp>
        <p:nvSpPr>
          <p:cNvPr id="45" name="TextBox 73">
            <a:extLst>
              <a:ext uri="{FF2B5EF4-FFF2-40B4-BE49-F238E27FC236}">
                <a16:creationId xmlns:a16="http://schemas.microsoft.com/office/drawing/2014/main" xmlns="" id="{D7AC813F-9D9F-4EAD-AFDC-6B1BA481C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39" y="2800804"/>
            <a:ext cx="144839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ts val="200"/>
              </a:spcBef>
              <a:spcAft>
                <a:spcPts val="2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</a:t>
            </a:r>
          </a:p>
        </p:txBody>
      </p:sp>
      <p:sp>
        <p:nvSpPr>
          <p:cNvPr id="46" name="Rectangle 33">
            <a:extLst>
              <a:ext uri="{FF2B5EF4-FFF2-40B4-BE49-F238E27FC236}">
                <a16:creationId xmlns:a16="http://schemas.microsoft.com/office/drawing/2014/main" xmlns="" id="{40D8706F-507B-401D-A006-F90FFEB2A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551" y="447312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반품가확정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xmlns="" id="{A20D3F60-6381-47F4-B9EC-ED162180D7BE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 bwMode="auto">
          <a:xfrm>
            <a:off x="3176551" y="4635128"/>
            <a:ext cx="11644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48" name="Rectangle 33">
            <a:extLst>
              <a:ext uri="{FF2B5EF4-FFF2-40B4-BE49-F238E27FC236}">
                <a16:creationId xmlns:a16="http://schemas.microsoft.com/office/drawing/2014/main" xmlns="" id="{29D68D00-14BB-49DE-8A3D-1E560A53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501318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반품확정 송신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xmlns="" id="{7344ED1F-B7FA-41F4-A63D-67AA86AA7A2D}"/>
              </a:ext>
            </a:extLst>
          </p:cNvPr>
          <p:cNvCxnSpPr>
            <a:cxnSpLocks/>
            <a:stCxn id="36" idx="3"/>
            <a:endCxn id="46" idx="1"/>
          </p:cNvCxnSpPr>
          <p:nvPr/>
        </p:nvCxnSpPr>
        <p:spPr bwMode="auto">
          <a:xfrm>
            <a:off x="1664247" y="4635128"/>
            <a:ext cx="288304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xmlns="" id="{273CE400-7E96-466F-A940-FF6503998C1C}"/>
              </a:ext>
            </a:extLst>
          </p:cNvPr>
          <p:cNvCxnSpPr>
            <a:cxnSpLocks/>
            <a:stCxn id="34" idx="0"/>
            <a:endCxn id="48" idx="2"/>
          </p:cNvCxnSpPr>
          <p:nvPr/>
        </p:nvCxnSpPr>
        <p:spPr bwMode="auto">
          <a:xfrm flipV="1">
            <a:off x="1808399" y="5337184"/>
            <a:ext cx="0" cy="432112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1" name="직선 연결선 95">
            <a:extLst>
              <a:ext uri="{FF2B5EF4-FFF2-40B4-BE49-F238E27FC236}">
                <a16:creationId xmlns:a16="http://schemas.microsoft.com/office/drawing/2014/main" xmlns="" id="{F698162E-E0B1-464A-A5B6-77BD29E8202E}"/>
              </a:ext>
            </a:extLst>
          </p:cNvPr>
          <p:cNvCxnSpPr>
            <a:cxnSpLocks/>
            <a:stCxn id="48" idx="1"/>
            <a:endCxn id="36" idx="2"/>
          </p:cNvCxnSpPr>
          <p:nvPr/>
        </p:nvCxnSpPr>
        <p:spPr bwMode="auto">
          <a:xfrm rot="10800000">
            <a:off x="1052247" y="4797128"/>
            <a:ext cx="144152" cy="378056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2" name="직선 연결선 68">
            <a:extLst>
              <a:ext uri="{FF2B5EF4-FFF2-40B4-BE49-F238E27FC236}">
                <a16:creationId xmlns:a16="http://schemas.microsoft.com/office/drawing/2014/main" xmlns="" id="{396824E5-1A66-4B26-8C71-50EA4C05578A}"/>
              </a:ext>
            </a:extLst>
          </p:cNvPr>
          <p:cNvCxnSpPr>
            <a:cxnSpLocks/>
            <a:stCxn id="41" idx="0"/>
            <a:endCxn id="23" idx="2"/>
          </p:cNvCxnSpPr>
          <p:nvPr/>
        </p:nvCxnSpPr>
        <p:spPr bwMode="auto">
          <a:xfrm flipV="1">
            <a:off x="8853751" y="3717016"/>
            <a:ext cx="0" cy="756112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53" name="Rectangle 33">
            <a:extLst>
              <a:ext uri="{FF2B5EF4-FFF2-40B4-BE49-F238E27FC236}">
                <a16:creationId xmlns:a16="http://schemas.microsoft.com/office/drawing/2014/main" xmlns="" id="{D71FB333-C601-4BA2-865A-6CD92E241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501318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반품확정 수신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xmlns="" id="{8C034ABC-FFFE-4DB2-B51D-4D7F9C5EBD08}"/>
              </a:ext>
            </a:extLst>
          </p:cNvPr>
          <p:cNvCxnSpPr>
            <a:cxnSpLocks/>
            <a:stCxn id="53" idx="1"/>
            <a:endCxn id="48" idx="3"/>
          </p:cNvCxnSpPr>
          <p:nvPr/>
        </p:nvCxnSpPr>
        <p:spPr bwMode="auto">
          <a:xfrm flipH="1">
            <a:off x="2420399" y="517518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55" name="Rectangle 33">
            <a:extLst>
              <a:ext uri="{FF2B5EF4-FFF2-40B4-BE49-F238E27FC236}">
                <a16:creationId xmlns:a16="http://schemas.microsoft.com/office/drawing/2014/main" xmlns="" id="{76CC50C2-22BD-4D4D-A2CE-B83B76573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555324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반품확정</a:t>
            </a:r>
          </a:p>
        </p:txBody>
      </p:sp>
      <p:sp>
        <p:nvSpPr>
          <p:cNvPr id="56" name="Rectangle 33">
            <a:extLst>
              <a:ext uri="{FF2B5EF4-FFF2-40B4-BE49-F238E27FC236}">
                <a16:creationId xmlns:a16="http://schemas.microsoft.com/office/drawing/2014/main" xmlns="" id="{06873A93-FF4C-4BD2-911C-151720A06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501318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반품확정 수신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xmlns="" id="{29B66899-3A73-492A-AACB-4CA266521CAD}"/>
              </a:ext>
            </a:extLst>
          </p:cNvPr>
          <p:cNvCxnSpPr>
            <a:cxnSpLocks/>
            <a:stCxn id="56" idx="1"/>
            <a:endCxn id="53" idx="3"/>
          </p:cNvCxnSpPr>
          <p:nvPr/>
        </p:nvCxnSpPr>
        <p:spPr bwMode="auto">
          <a:xfrm flipH="1">
            <a:off x="5564999" y="517518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xmlns="" id="{4784A222-C0A1-4426-8C7B-2EE0C1FF28DD}"/>
              </a:ext>
            </a:extLst>
          </p:cNvPr>
          <p:cNvCxnSpPr>
            <a:cxnSpLocks/>
            <a:stCxn id="55" idx="0"/>
            <a:endCxn id="56" idx="2"/>
          </p:cNvCxnSpPr>
          <p:nvPr/>
        </p:nvCxnSpPr>
        <p:spPr bwMode="auto">
          <a:xfrm flipV="1">
            <a:off x="8097599" y="5337184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100" name="Rectangle 33">
            <a:extLst>
              <a:ext uri="{FF2B5EF4-FFF2-40B4-BE49-F238E27FC236}">
                <a16:creationId xmlns:a16="http://schemas.microsoft.com/office/drawing/2014/main" xmlns="" id="{2428E162-4EE6-439F-998C-E35BFFA7E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231290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 운송장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스캔</a:t>
            </a: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송신</a:t>
            </a:r>
          </a:p>
        </p:txBody>
      </p:sp>
      <p:sp>
        <p:nvSpPr>
          <p:cNvPr id="101" name="Rectangle 33">
            <a:extLst>
              <a:ext uri="{FF2B5EF4-FFF2-40B4-BE49-F238E27FC236}">
                <a16:creationId xmlns:a16="http://schemas.microsoft.com/office/drawing/2014/main" xmlns="" id="{095AB1BB-3D58-4A67-9F53-04DD5F79A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231290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 운송장 송신</a:t>
            </a:r>
          </a:p>
        </p:txBody>
      </p:sp>
      <p:sp>
        <p:nvSpPr>
          <p:cNvPr id="102" name="Rectangle 33">
            <a:extLst>
              <a:ext uri="{FF2B5EF4-FFF2-40B4-BE49-F238E27FC236}">
                <a16:creationId xmlns:a16="http://schemas.microsoft.com/office/drawing/2014/main" xmlns="" id="{058187CE-C0D7-451D-A111-41D27E64A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231290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반품 운송장 수신</a:t>
            </a: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xmlns="" id="{084CA646-467E-4837-AEE6-3FC1498B020B}"/>
              </a:ext>
            </a:extLst>
          </p:cNvPr>
          <p:cNvCxnSpPr>
            <a:cxnSpLocks/>
            <a:stCxn id="101" idx="3"/>
            <a:endCxn id="100" idx="1"/>
          </p:cNvCxnSpPr>
          <p:nvPr/>
        </p:nvCxnSpPr>
        <p:spPr bwMode="auto">
          <a:xfrm>
            <a:off x="5564999" y="247490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xmlns="" id="{B9B6FB5F-77FE-4EED-B587-A8963290EAF2}"/>
              </a:ext>
            </a:extLst>
          </p:cNvPr>
          <p:cNvCxnSpPr>
            <a:cxnSpLocks/>
            <a:stCxn id="102" idx="3"/>
            <a:endCxn id="101" idx="1"/>
          </p:cNvCxnSpPr>
          <p:nvPr/>
        </p:nvCxnSpPr>
        <p:spPr bwMode="auto">
          <a:xfrm>
            <a:off x="2420399" y="247490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xmlns="" id="{57F0A555-0873-4BE6-A20D-6BED1B3BBA84}"/>
              </a:ext>
            </a:extLst>
          </p:cNvPr>
          <p:cNvCxnSpPr>
            <a:cxnSpLocks/>
            <a:stCxn id="100" idx="0"/>
            <a:endCxn id="21" idx="2"/>
          </p:cNvCxnSpPr>
          <p:nvPr/>
        </p:nvCxnSpPr>
        <p:spPr bwMode="auto">
          <a:xfrm flipV="1">
            <a:off x="8097599" y="209684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1990361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60">
            <a:extLst>
              <a:ext uri="{FF2B5EF4-FFF2-40B4-BE49-F238E27FC236}">
                <a16:creationId xmlns:a16="http://schemas.microsoft.com/office/drawing/2014/main" xmlns="" id="{E350063F-D598-4493-AA44-97FAB84013E9}"/>
              </a:ext>
            </a:extLst>
          </p:cNvPr>
          <p:cNvSpPr txBox="1">
            <a:spLocks/>
          </p:cNvSpPr>
          <p:nvPr/>
        </p:nvSpPr>
        <p:spPr bwMode="auto">
          <a:xfrm>
            <a:off x="6907316" y="210875"/>
            <a:ext cx="2798212" cy="3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b="1" u="none" dirty="0">
                <a:solidFill>
                  <a:srgbClr val="000000"/>
                </a:solidFill>
              </a:rPr>
              <a:t>Ⅱ. Mega Process</a:t>
            </a:r>
            <a:endParaRPr lang="ko-KR" altLang="en-US" sz="1400" b="1" u="none" dirty="0">
              <a:solidFill>
                <a:srgbClr val="000000"/>
              </a:solidFill>
            </a:endParaRPr>
          </a:p>
        </p:txBody>
      </p:sp>
      <p:sp>
        <p:nvSpPr>
          <p:cNvPr id="116" name="Rectangle 1584">
            <a:extLst>
              <a:ext uri="{FF2B5EF4-FFF2-40B4-BE49-F238E27FC236}">
                <a16:creationId xmlns:a16="http://schemas.microsoft.com/office/drawing/2014/main" xmlns="" id="{F6CFE27C-8F44-42B8-8BB9-58F10649F46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9181" y="268133"/>
            <a:ext cx="94297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0" lang="en-US" altLang="ko-KR" sz="2000" kern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Mega Process (4/9) – </a:t>
            </a:r>
            <a:r>
              <a:rPr kumimoji="0" lang="ko-KR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출고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(B2B)</a:t>
            </a:r>
            <a:endParaRPr kumimoji="0" lang="ko-KR" altLang="en-US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B6188269-9458-4271-9B47-2827D3154D8F}"/>
              </a:ext>
            </a:extLst>
          </p:cNvPr>
          <p:cNvGrpSpPr/>
          <p:nvPr/>
        </p:nvGrpSpPr>
        <p:grpSpPr>
          <a:xfrm>
            <a:off x="3395999" y="5013183"/>
            <a:ext cx="3114000" cy="1540850"/>
            <a:chOff x="251399" y="2821046"/>
            <a:chExt cx="3132000" cy="154085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6C71C45C-547B-4ED1-B784-86AB57420B9A}"/>
                </a:ext>
              </a:extLst>
            </p:cNvPr>
            <p:cNvSpPr/>
            <p:nvPr/>
          </p:nvSpPr>
          <p:spPr>
            <a:xfrm>
              <a:off x="251399" y="2821046"/>
              <a:ext cx="3132000" cy="1540850"/>
            </a:xfrm>
            <a:prstGeom prst="rect">
              <a:avLst/>
            </a:prstGeom>
            <a:pattFill prst="ltUpDiag">
              <a:fgClr>
                <a:schemeClr val="accent4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4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xmlns="" id="{B77663D0-98A4-49B0-98C5-E51C372E1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4023759"/>
              <a:ext cx="3132000" cy="33813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6350">
              <a:solidFill>
                <a:schemeClr val="accent4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ko-KR" altLang="en-US" sz="1400" b="1" dirty="0" err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배송사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82D00B61-ECE5-4EAD-B50B-ECFB2D0739DF}"/>
              </a:ext>
            </a:extLst>
          </p:cNvPr>
          <p:cNvGrpSpPr/>
          <p:nvPr/>
        </p:nvGrpSpPr>
        <p:grpSpPr>
          <a:xfrm>
            <a:off x="6540599" y="5013183"/>
            <a:ext cx="3114000" cy="1540850"/>
            <a:chOff x="251399" y="2821046"/>
            <a:chExt cx="3132000" cy="154085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65A31D2C-A1CF-4311-96EF-E5B99451F6FA}"/>
                </a:ext>
              </a:extLst>
            </p:cNvPr>
            <p:cNvSpPr/>
            <p:nvPr/>
          </p:nvSpPr>
          <p:spPr>
            <a:xfrm>
              <a:off x="251399" y="2821046"/>
              <a:ext cx="3132000" cy="1540849"/>
            </a:xfrm>
            <a:prstGeom prst="rect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xmlns="" id="{CAE4E2E1-4C0D-41D2-B497-A9ED972B2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4023759"/>
              <a:ext cx="3132000" cy="33813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DAS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8BB08E30-09EE-4380-9E84-2281272837C0}"/>
              </a:ext>
            </a:extLst>
          </p:cNvPr>
          <p:cNvGrpSpPr/>
          <p:nvPr/>
        </p:nvGrpSpPr>
        <p:grpSpPr>
          <a:xfrm>
            <a:off x="6540599" y="761896"/>
            <a:ext cx="3114000" cy="4215233"/>
            <a:chOff x="251399" y="761896"/>
            <a:chExt cx="3132000" cy="421523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xmlns="" id="{F4DF31A3-FCFA-46AF-8241-06074AB95527}"/>
                </a:ext>
              </a:extLst>
            </p:cNvPr>
            <p:cNvSpPr/>
            <p:nvPr/>
          </p:nvSpPr>
          <p:spPr>
            <a:xfrm>
              <a:off x="251399" y="761897"/>
              <a:ext cx="3132000" cy="4215232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xmlns="" id="{58A9C88E-FE70-4CEC-9891-1F2FC8F09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WMS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5C0E0194-87BA-4994-B47E-D477D9C16F5F}"/>
              </a:ext>
            </a:extLst>
          </p:cNvPr>
          <p:cNvGrpSpPr/>
          <p:nvPr/>
        </p:nvGrpSpPr>
        <p:grpSpPr>
          <a:xfrm>
            <a:off x="251399" y="761896"/>
            <a:ext cx="3114000" cy="5792137"/>
            <a:chOff x="251399" y="761896"/>
            <a:chExt cx="3132000" cy="579213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xmlns="" id="{E4FD5505-E40A-4FB9-B678-DD0EC1EF1470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xmlns="" id="{42C781E9-4BBA-4CF2-B516-4757313C0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ERP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071D2529-B501-40FD-A17A-EBA764B92808}"/>
              </a:ext>
            </a:extLst>
          </p:cNvPr>
          <p:cNvGrpSpPr/>
          <p:nvPr/>
        </p:nvGrpSpPr>
        <p:grpSpPr>
          <a:xfrm>
            <a:off x="3395999" y="761895"/>
            <a:ext cx="3114000" cy="4215233"/>
            <a:chOff x="251399" y="761895"/>
            <a:chExt cx="3132000" cy="3600001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xmlns="" id="{0CD24B8E-474A-422B-BF94-E275B9958252}"/>
                </a:ext>
              </a:extLst>
            </p:cNvPr>
            <p:cNvSpPr/>
            <p:nvPr/>
          </p:nvSpPr>
          <p:spPr>
            <a:xfrm>
              <a:off x="251399" y="761896"/>
              <a:ext cx="3132000" cy="3600000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8" name="Rectangle 22">
              <a:extLst>
                <a:ext uri="{FF2B5EF4-FFF2-40B4-BE49-F238E27FC236}">
                  <a16:creationId xmlns:a16="http://schemas.microsoft.com/office/drawing/2014/main" xmlns="" id="{AA71B0D8-253B-4864-B2C1-1FECAE19D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5"/>
              <a:ext cx="3132000" cy="289009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19" name="Rectangle 33">
            <a:extLst>
              <a:ext uri="{FF2B5EF4-FFF2-40B4-BE49-F238E27FC236}">
                <a16:creationId xmlns:a16="http://schemas.microsoft.com/office/drawing/2014/main" xmlns="" id="{8C1EF9DC-C1BC-456F-AF8C-24B0AEE70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출고지시 수신</a:t>
            </a:r>
          </a:p>
        </p:txBody>
      </p:sp>
      <p:sp>
        <p:nvSpPr>
          <p:cNvPr id="20" name="Rectangle 33">
            <a:extLst>
              <a:ext uri="{FF2B5EF4-FFF2-40B4-BE49-F238E27FC236}">
                <a16:creationId xmlns:a16="http://schemas.microsoft.com/office/drawing/2014/main" xmlns="" id="{5C34C8B7-70E1-45F1-A871-40D2F5B46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출고지시 수신</a:t>
            </a:r>
          </a:p>
        </p:txBody>
      </p:sp>
      <p:sp>
        <p:nvSpPr>
          <p:cNvPr id="21" name="Rectangle 33">
            <a:extLst>
              <a:ext uri="{FF2B5EF4-FFF2-40B4-BE49-F238E27FC236}">
                <a16:creationId xmlns:a16="http://schemas.microsoft.com/office/drawing/2014/main" xmlns="" id="{A64179C8-CD37-470E-B8D2-018B50897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송신</a:t>
            </a:r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xmlns="" id="{F4D7D27C-95E9-420D-98DF-579C03B4A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151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송신</a:t>
            </a:r>
          </a:p>
        </p:txBody>
      </p:sp>
      <p:sp>
        <p:nvSpPr>
          <p:cNvPr id="23" name="Rectangle 33">
            <a:extLst>
              <a:ext uri="{FF2B5EF4-FFF2-40B4-BE49-F238E27FC236}">
                <a16:creationId xmlns:a16="http://schemas.microsoft.com/office/drawing/2014/main" xmlns="" id="{B170AE36-FD4D-4786-9E59-98ABFB87A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수신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xmlns="" id="{0B20E8ED-817C-4B22-8BC9-F9CFF3FF8FA4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 bwMode="auto">
          <a:xfrm flipH="1">
            <a:off x="55649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xmlns="" id="{78A8A12A-3AD8-496D-BE7F-317DF6D97843}"/>
              </a:ext>
            </a:extLst>
          </p:cNvPr>
          <p:cNvCxnSpPr>
            <a:cxnSpLocks/>
            <a:stCxn id="33" idx="0"/>
            <a:endCxn id="20" idx="2"/>
          </p:cNvCxnSpPr>
          <p:nvPr/>
        </p:nvCxnSpPr>
        <p:spPr bwMode="auto">
          <a:xfrm flipV="1">
            <a:off x="8097599" y="209684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9C22C0EC-5A3C-4524-8E41-7B45266C2E54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 bwMode="auto">
          <a:xfrm>
            <a:off x="6321151" y="4095072"/>
            <a:ext cx="408296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7" name="직선 연결선 86">
            <a:extLst>
              <a:ext uri="{FF2B5EF4-FFF2-40B4-BE49-F238E27FC236}">
                <a16:creationId xmlns:a16="http://schemas.microsoft.com/office/drawing/2014/main" xmlns="" id="{209C233C-D7DF-4349-B2D2-FF6FD0B04AD7}"/>
              </a:ext>
            </a:extLst>
          </p:cNvPr>
          <p:cNvCxnSpPr>
            <a:cxnSpLocks/>
            <a:stCxn id="34" idx="0"/>
            <a:endCxn id="33" idx="2"/>
          </p:cNvCxnSpPr>
          <p:nvPr/>
        </p:nvCxnSpPr>
        <p:spPr bwMode="auto">
          <a:xfrm rot="5400000" flipH="1" flipV="1">
            <a:off x="7611495" y="2366856"/>
            <a:ext cx="216056" cy="75615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xmlns="" id="{34E040BD-3A6B-405B-9142-D59DBF6C0F97}"/>
              </a:ext>
            </a:extLst>
          </p:cNvPr>
          <p:cNvCxnSpPr>
            <a:cxnSpLocks/>
            <a:stCxn id="23" idx="3"/>
            <a:endCxn id="22" idx="1"/>
          </p:cNvCxnSpPr>
          <p:nvPr/>
        </p:nvCxnSpPr>
        <p:spPr bwMode="auto">
          <a:xfrm>
            <a:off x="2420399" y="4095072"/>
            <a:ext cx="2676752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9" name="Rectangle 33">
            <a:extLst>
              <a:ext uri="{FF2B5EF4-FFF2-40B4-BE49-F238E27FC236}">
                <a16:creationId xmlns:a16="http://schemas.microsoft.com/office/drawing/2014/main" xmlns="" id="{695A6E7B-DF25-4045-8B9D-D611042CF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출고지시 송신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xmlns="" id="{E171EE22-457E-4902-8789-EF212625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23279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출고지시 생성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2AE9F97C-5F44-44F3-BA75-607391EECAA0}"/>
              </a:ext>
            </a:extLst>
          </p:cNvPr>
          <p:cNvCxnSpPr>
            <a:cxnSpLocks/>
            <a:stCxn id="29" idx="0"/>
            <a:endCxn id="30" idx="2"/>
          </p:cNvCxnSpPr>
          <p:nvPr/>
        </p:nvCxnSpPr>
        <p:spPr bwMode="auto">
          <a:xfrm flipV="1">
            <a:off x="1808399" y="155679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xmlns="" id="{B7C19C2B-C9C2-4268-9D27-6C91506706C5}"/>
              </a:ext>
            </a:extLst>
          </p:cNvPr>
          <p:cNvCxnSpPr>
            <a:cxnSpLocks/>
            <a:stCxn id="19" idx="1"/>
            <a:endCxn id="29" idx="3"/>
          </p:cNvCxnSpPr>
          <p:nvPr/>
        </p:nvCxnSpPr>
        <p:spPr bwMode="auto">
          <a:xfrm flipH="1">
            <a:off x="24203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3" name="Rectangle 33">
            <a:extLst>
              <a:ext uri="{FF2B5EF4-FFF2-40B4-BE49-F238E27FC236}">
                <a16:creationId xmlns:a16="http://schemas.microsoft.com/office/drawing/2014/main" xmlns="" id="{E0D80485-9E6C-4F0E-9033-69BBA87E5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2312904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피킹지시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할당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)</a:t>
            </a:r>
            <a:endParaRPr lang="ko-KR" altLang="en-US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2C7D4F8D-9B59-4B20-9A75-2E5786804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피킹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패킹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xmlns="" id="{B03F6162-3110-4246-AB73-2207873D8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576929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분류작업</a:t>
            </a:r>
          </a:p>
        </p:txBody>
      </p:sp>
      <p:cxnSp>
        <p:nvCxnSpPr>
          <p:cNvPr id="36" name="직선 연결선 94">
            <a:extLst>
              <a:ext uri="{FF2B5EF4-FFF2-40B4-BE49-F238E27FC236}">
                <a16:creationId xmlns:a16="http://schemas.microsoft.com/office/drawing/2014/main" xmlns="" id="{AE483DFC-1012-4D18-9F8D-39FF1C10AA3C}"/>
              </a:ext>
            </a:extLst>
          </p:cNvPr>
          <p:cNvCxnSpPr>
            <a:cxnSpLocks/>
            <a:stCxn id="43" idx="0"/>
            <a:endCxn id="33" idx="2"/>
          </p:cNvCxnSpPr>
          <p:nvPr/>
        </p:nvCxnSpPr>
        <p:spPr bwMode="auto">
          <a:xfrm rot="16200000" flipV="1">
            <a:off x="8367647" y="2366856"/>
            <a:ext cx="216056" cy="75615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7" name="Rectangle 33">
            <a:extLst>
              <a:ext uri="{FF2B5EF4-FFF2-40B4-BE49-F238E27FC236}">
                <a16:creationId xmlns:a16="http://schemas.microsoft.com/office/drawing/2014/main" xmlns="" id="{12A87CDA-87C0-4F04-B244-00FA3CC8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noFill/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cxnSp>
        <p:nvCxnSpPr>
          <p:cNvPr id="38" name="직선 연결선 94">
            <a:extLst>
              <a:ext uri="{FF2B5EF4-FFF2-40B4-BE49-F238E27FC236}">
                <a16:creationId xmlns:a16="http://schemas.microsoft.com/office/drawing/2014/main" xmlns="" id="{95296518-1CF5-4CE5-85CC-9298F2C63843}"/>
              </a:ext>
            </a:extLst>
          </p:cNvPr>
          <p:cNvCxnSpPr>
            <a:cxnSpLocks/>
            <a:stCxn id="35" idx="3"/>
            <a:endCxn id="48" idx="2"/>
          </p:cNvCxnSpPr>
          <p:nvPr/>
        </p:nvCxnSpPr>
        <p:spPr bwMode="auto">
          <a:xfrm flipV="1">
            <a:off x="8709599" y="5553232"/>
            <a:ext cx="144152" cy="378064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9" name="직선 연결선 86">
            <a:extLst>
              <a:ext uri="{FF2B5EF4-FFF2-40B4-BE49-F238E27FC236}">
                <a16:creationId xmlns:a16="http://schemas.microsoft.com/office/drawing/2014/main" xmlns="" id="{29AF7449-3AC2-42E0-9DEE-F90FD85A316B}"/>
              </a:ext>
            </a:extLst>
          </p:cNvPr>
          <p:cNvCxnSpPr>
            <a:cxnSpLocks/>
            <a:stCxn id="49" idx="2"/>
            <a:endCxn id="35" idx="1"/>
          </p:cNvCxnSpPr>
          <p:nvPr/>
        </p:nvCxnSpPr>
        <p:spPr bwMode="auto">
          <a:xfrm rot="16200000" flipH="1">
            <a:off x="7224491" y="5670188"/>
            <a:ext cx="378064" cy="14415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xmlns="" id="{E392729D-0881-418A-AA1F-CE6DAB577DA8}"/>
              </a:ext>
            </a:extLst>
          </p:cNvPr>
          <p:cNvCxnSpPr>
            <a:cxnSpLocks/>
            <a:stCxn id="41" idx="0"/>
            <a:endCxn id="34" idx="2"/>
          </p:cNvCxnSpPr>
          <p:nvPr/>
        </p:nvCxnSpPr>
        <p:spPr bwMode="auto">
          <a:xfrm flipV="1">
            <a:off x="7341447" y="3176960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41" name="Rectangle 33">
            <a:extLst>
              <a:ext uri="{FF2B5EF4-FFF2-40B4-BE49-F238E27FC236}">
                <a16:creationId xmlns:a16="http://schemas.microsoft.com/office/drawing/2014/main" xmlns="" id="{1549915A-ED9E-40D7-82ED-3BC2389B8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339301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출고확정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xmlns="" id="{59EE5DE7-3690-4FB6-9ACF-5353855394FD}"/>
              </a:ext>
            </a:extLst>
          </p:cNvPr>
          <p:cNvCxnSpPr>
            <a:cxnSpLocks/>
            <a:stCxn id="21" idx="0"/>
            <a:endCxn id="41" idx="2"/>
          </p:cNvCxnSpPr>
          <p:nvPr/>
        </p:nvCxnSpPr>
        <p:spPr bwMode="auto">
          <a:xfrm flipV="1">
            <a:off x="7341447" y="3717016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43" name="Rectangle 33">
            <a:extLst>
              <a:ext uri="{FF2B5EF4-FFF2-40B4-BE49-F238E27FC236}">
                <a16:creationId xmlns:a16="http://schemas.microsoft.com/office/drawing/2014/main" xmlns="" id="{D0034BC5-54FE-4A38-A17A-FA82F4970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총량피킹</a:t>
            </a:r>
            <a:endParaRPr lang="ko-KR" altLang="en-US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44" name="Rectangle 33">
            <a:extLst>
              <a:ext uri="{FF2B5EF4-FFF2-40B4-BE49-F238E27FC236}">
                <a16:creationId xmlns:a16="http://schemas.microsoft.com/office/drawing/2014/main" xmlns="" id="{612CDA17-902C-4C04-95EE-FC338B7C0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576929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배송실적 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한진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)</a:t>
            </a:r>
            <a:endParaRPr lang="ko-KR" altLang="en-US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cxnSp>
        <p:nvCxnSpPr>
          <p:cNvPr id="45" name="직선 연결선 122">
            <a:extLst>
              <a:ext uri="{FF2B5EF4-FFF2-40B4-BE49-F238E27FC236}">
                <a16:creationId xmlns:a16="http://schemas.microsoft.com/office/drawing/2014/main" xmlns="" id="{496BB5EF-33E1-4BE4-B516-1C139CE18664}"/>
              </a:ext>
            </a:extLst>
          </p:cNvPr>
          <p:cNvCxnSpPr>
            <a:cxnSpLocks/>
            <a:stCxn id="44" idx="3"/>
            <a:endCxn id="52" idx="2"/>
          </p:cNvCxnSpPr>
          <p:nvPr/>
        </p:nvCxnSpPr>
        <p:spPr bwMode="auto">
          <a:xfrm flipV="1">
            <a:off x="5564999" y="5553232"/>
            <a:ext cx="144152" cy="378064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46" name="직선 연결선 124">
            <a:extLst>
              <a:ext uri="{FF2B5EF4-FFF2-40B4-BE49-F238E27FC236}">
                <a16:creationId xmlns:a16="http://schemas.microsoft.com/office/drawing/2014/main" xmlns="" id="{10331E51-80DC-497C-8BD4-A2F9436F9FDB}"/>
              </a:ext>
            </a:extLst>
          </p:cNvPr>
          <p:cNvCxnSpPr>
            <a:cxnSpLocks/>
            <a:stCxn id="53" idx="2"/>
            <a:endCxn id="44" idx="1"/>
          </p:cNvCxnSpPr>
          <p:nvPr/>
        </p:nvCxnSpPr>
        <p:spPr bwMode="auto">
          <a:xfrm rot="16200000" flipH="1">
            <a:off x="4079891" y="5670188"/>
            <a:ext cx="378064" cy="14415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47" name="TextBox 73">
            <a:extLst>
              <a:ext uri="{FF2B5EF4-FFF2-40B4-BE49-F238E27FC236}">
                <a16:creationId xmlns:a16="http://schemas.microsoft.com/office/drawing/2014/main" xmlns="" id="{A924AC24-B545-4C08-A012-B52E225BC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399" y="2109092"/>
            <a:ext cx="1116579" cy="996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출고유형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매장출고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이관출고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보충</a:t>
            </a: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대체출고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샘플출고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관리출고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Rectangle 33">
            <a:extLst>
              <a:ext uri="{FF2B5EF4-FFF2-40B4-BE49-F238E27FC236}">
                <a16:creationId xmlns:a16="http://schemas.microsoft.com/office/drawing/2014/main" xmlns="" id="{BE702369-9D49-4439-86FF-F563F58C0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분류지시 수신</a:t>
            </a:r>
          </a:p>
        </p:txBody>
      </p:sp>
      <p:sp>
        <p:nvSpPr>
          <p:cNvPr id="49" name="Rectangle 33">
            <a:extLst>
              <a:ext uri="{FF2B5EF4-FFF2-40B4-BE49-F238E27FC236}">
                <a16:creationId xmlns:a16="http://schemas.microsoft.com/office/drawing/2014/main" xmlns="" id="{698A8B1D-3CE2-442E-8C81-39B0D59F4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분류실적 송신</a:t>
            </a:r>
          </a:p>
        </p:txBody>
      </p:sp>
      <p:sp>
        <p:nvSpPr>
          <p:cNvPr id="50" name="Rectangle 33">
            <a:extLst>
              <a:ext uri="{FF2B5EF4-FFF2-40B4-BE49-F238E27FC236}">
                <a16:creationId xmlns:a16="http://schemas.microsoft.com/office/drawing/2014/main" xmlns="" id="{29A49A29-1960-4576-A35F-C8638FBCB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분류지시 송신</a:t>
            </a:r>
          </a:p>
        </p:txBody>
      </p:sp>
      <p:sp>
        <p:nvSpPr>
          <p:cNvPr id="51" name="Rectangle 33">
            <a:extLst>
              <a:ext uri="{FF2B5EF4-FFF2-40B4-BE49-F238E27FC236}">
                <a16:creationId xmlns:a16="http://schemas.microsoft.com/office/drawing/2014/main" xmlns="" id="{76332829-8873-4F1D-AE7E-AEA664C5D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447312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분류실적 수신</a:t>
            </a:r>
          </a:p>
        </p:txBody>
      </p:sp>
      <p:sp>
        <p:nvSpPr>
          <p:cNvPr id="52" name="Rectangle 33">
            <a:extLst>
              <a:ext uri="{FF2B5EF4-FFF2-40B4-BE49-F238E27FC236}">
                <a16:creationId xmlns:a16="http://schemas.microsoft.com/office/drawing/2014/main" xmlns="" id="{9049C423-338B-431F-9561-DBB4E70CB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151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수신</a:t>
            </a:r>
          </a:p>
        </p:txBody>
      </p:sp>
      <p:sp>
        <p:nvSpPr>
          <p:cNvPr id="53" name="Rectangle 33">
            <a:extLst>
              <a:ext uri="{FF2B5EF4-FFF2-40B4-BE49-F238E27FC236}">
                <a16:creationId xmlns:a16="http://schemas.microsoft.com/office/drawing/2014/main" xmlns="" id="{2A5DA41C-2884-450B-ADDD-5BB67D683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47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배송실적 송신</a:t>
            </a:r>
          </a:p>
        </p:txBody>
      </p:sp>
      <p:sp>
        <p:nvSpPr>
          <p:cNvPr id="54" name="Rectangle 33">
            <a:extLst>
              <a:ext uri="{FF2B5EF4-FFF2-40B4-BE49-F238E27FC236}">
                <a16:creationId xmlns:a16="http://schemas.microsoft.com/office/drawing/2014/main" xmlns="" id="{7CBA402F-A31A-4948-8C46-10F0A4498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47" y="447312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배송실적 수신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xmlns="" id="{6CBD3F61-C19D-4C3C-B9A6-B5AC150B2AE7}"/>
              </a:ext>
            </a:extLst>
          </p:cNvPr>
          <p:cNvCxnSpPr>
            <a:cxnSpLocks/>
            <a:stCxn id="41" idx="3"/>
            <a:endCxn id="51" idx="0"/>
          </p:cNvCxnSpPr>
          <p:nvPr/>
        </p:nvCxnSpPr>
        <p:spPr bwMode="auto">
          <a:xfrm>
            <a:off x="7953447" y="3555016"/>
            <a:ext cx="144152" cy="91811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xmlns="" id="{1FD2B9B8-17D4-4304-A917-C790E0364ACB}"/>
              </a:ext>
            </a:extLst>
          </p:cNvPr>
          <p:cNvCxnSpPr>
            <a:cxnSpLocks/>
            <a:stCxn id="51" idx="1"/>
            <a:endCxn id="49" idx="0"/>
          </p:cNvCxnSpPr>
          <p:nvPr/>
        </p:nvCxnSpPr>
        <p:spPr bwMode="auto">
          <a:xfrm rot="10800000" flipV="1">
            <a:off x="7341447" y="4635128"/>
            <a:ext cx="144152" cy="594104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xmlns="" id="{F4437590-D66D-4BC6-B308-507C86DCAC64}"/>
              </a:ext>
            </a:extLst>
          </p:cNvPr>
          <p:cNvCxnSpPr>
            <a:cxnSpLocks/>
            <a:stCxn id="48" idx="0"/>
            <a:endCxn id="50" idx="2"/>
          </p:cNvCxnSpPr>
          <p:nvPr/>
        </p:nvCxnSpPr>
        <p:spPr bwMode="auto">
          <a:xfrm flipV="1">
            <a:off x="8853751" y="4257072"/>
            <a:ext cx="0" cy="97216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xmlns="" id="{3D455118-3498-4948-B1E0-4B8905F5AABA}"/>
              </a:ext>
            </a:extLst>
          </p:cNvPr>
          <p:cNvCxnSpPr>
            <a:cxnSpLocks/>
            <a:stCxn id="50" idx="0"/>
            <a:endCxn id="43" idx="2"/>
          </p:cNvCxnSpPr>
          <p:nvPr/>
        </p:nvCxnSpPr>
        <p:spPr bwMode="auto">
          <a:xfrm flipV="1">
            <a:off x="8853751" y="3176960"/>
            <a:ext cx="0" cy="756112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xmlns="" id="{68A36D6C-5B56-4332-9E86-6F13EBEF7C55}"/>
              </a:ext>
            </a:extLst>
          </p:cNvPr>
          <p:cNvCxnSpPr>
            <a:cxnSpLocks/>
            <a:stCxn id="52" idx="0"/>
            <a:endCxn id="22" idx="2"/>
          </p:cNvCxnSpPr>
          <p:nvPr/>
        </p:nvCxnSpPr>
        <p:spPr bwMode="auto">
          <a:xfrm flipV="1">
            <a:off x="5709151" y="4257072"/>
            <a:ext cx="0" cy="97216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xmlns="" id="{94F3206B-D8DC-4524-AAA9-5D26B7E9F9A6}"/>
              </a:ext>
            </a:extLst>
          </p:cNvPr>
          <p:cNvCxnSpPr>
            <a:cxnSpLocks/>
            <a:stCxn id="54" idx="2"/>
            <a:endCxn id="53" idx="0"/>
          </p:cNvCxnSpPr>
          <p:nvPr/>
        </p:nvCxnSpPr>
        <p:spPr bwMode="auto">
          <a:xfrm>
            <a:off x="4196847" y="4797128"/>
            <a:ext cx="0" cy="432104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2252491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60">
            <a:extLst>
              <a:ext uri="{FF2B5EF4-FFF2-40B4-BE49-F238E27FC236}">
                <a16:creationId xmlns:a16="http://schemas.microsoft.com/office/drawing/2014/main" xmlns="" id="{E350063F-D598-4493-AA44-97FAB84013E9}"/>
              </a:ext>
            </a:extLst>
          </p:cNvPr>
          <p:cNvSpPr txBox="1">
            <a:spLocks/>
          </p:cNvSpPr>
          <p:nvPr/>
        </p:nvSpPr>
        <p:spPr bwMode="auto">
          <a:xfrm>
            <a:off x="6907316" y="210875"/>
            <a:ext cx="2798212" cy="3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b="1" u="none" dirty="0">
                <a:solidFill>
                  <a:srgbClr val="000000"/>
                </a:solidFill>
              </a:rPr>
              <a:t>Ⅱ. Mega Process</a:t>
            </a:r>
            <a:endParaRPr lang="ko-KR" altLang="en-US" sz="1400" b="1" u="none" dirty="0">
              <a:solidFill>
                <a:srgbClr val="000000"/>
              </a:solidFill>
            </a:endParaRPr>
          </a:p>
        </p:txBody>
      </p:sp>
      <p:sp>
        <p:nvSpPr>
          <p:cNvPr id="116" name="Rectangle 1584">
            <a:extLst>
              <a:ext uri="{FF2B5EF4-FFF2-40B4-BE49-F238E27FC236}">
                <a16:creationId xmlns:a16="http://schemas.microsoft.com/office/drawing/2014/main" xmlns="" id="{F6CFE27C-8F44-42B8-8BB9-58F10649F46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9181" y="268133"/>
            <a:ext cx="94297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0" lang="en-US" altLang="ko-KR" sz="2000" kern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Mega Process (5/9) – </a:t>
            </a:r>
            <a:r>
              <a:rPr kumimoji="0" lang="ko-KR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출고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(B2C)</a:t>
            </a:r>
            <a:endParaRPr kumimoji="0" lang="ko-KR" altLang="en-US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951BC710-6E01-43D5-BA53-62E7EC3A2462}"/>
              </a:ext>
            </a:extLst>
          </p:cNvPr>
          <p:cNvGrpSpPr/>
          <p:nvPr/>
        </p:nvGrpSpPr>
        <p:grpSpPr>
          <a:xfrm>
            <a:off x="6540599" y="761896"/>
            <a:ext cx="3114000" cy="4215233"/>
            <a:chOff x="251399" y="761896"/>
            <a:chExt cx="3132000" cy="421523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3E09FD7D-4346-47F0-A01D-89E7BDE97CBD}"/>
                </a:ext>
              </a:extLst>
            </p:cNvPr>
            <p:cNvSpPr/>
            <p:nvPr/>
          </p:nvSpPr>
          <p:spPr>
            <a:xfrm>
              <a:off x="251399" y="761897"/>
              <a:ext cx="3132000" cy="4215232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xmlns="" id="{A832E390-DB31-41F3-8376-56D2B66FE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WMS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88252DF0-1185-42E5-BBE9-B61D41EFCE7F}"/>
              </a:ext>
            </a:extLst>
          </p:cNvPr>
          <p:cNvGrpSpPr/>
          <p:nvPr/>
        </p:nvGrpSpPr>
        <p:grpSpPr>
          <a:xfrm>
            <a:off x="3395999" y="761895"/>
            <a:ext cx="3114000" cy="4215233"/>
            <a:chOff x="251399" y="761895"/>
            <a:chExt cx="3132000" cy="360000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1FD921BC-8365-401C-B68E-17FFC5DE6F42}"/>
                </a:ext>
              </a:extLst>
            </p:cNvPr>
            <p:cNvSpPr/>
            <p:nvPr/>
          </p:nvSpPr>
          <p:spPr>
            <a:xfrm>
              <a:off x="251399" y="761896"/>
              <a:ext cx="3132000" cy="3600000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xmlns="" id="{7D7EBE21-776B-46B0-809A-7EEADC361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5"/>
              <a:ext cx="3132000" cy="289009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B1FF075F-B600-4438-8538-E95B36B5B0AA}"/>
              </a:ext>
            </a:extLst>
          </p:cNvPr>
          <p:cNvGrpSpPr/>
          <p:nvPr/>
        </p:nvGrpSpPr>
        <p:grpSpPr>
          <a:xfrm>
            <a:off x="251399" y="5012331"/>
            <a:ext cx="3114000" cy="1541702"/>
            <a:chOff x="251399" y="2820194"/>
            <a:chExt cx="3132000" cy="154170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xmlns="" id="{2A96577B-5C3B-4809-A4F1-BCD9E55F9BD8}"/>
                </a:ext>
              </a:extLst>
            </p:cNvPr>
            <p:cNvSpPr/>
            <p:nvPr/>
          </p:nvSpPr>
          <p:spPr>
            <a:xfrm>
              <a:off x="251399" y="2820194"/>
              <a:ext cx="3132000" cy="1541702"/>
            </a:xfrm>
            <a:prstGeom prst="rect">
              <a:avLst/>
            </a:prstGeom>
            <a:pattFill prst="ltUpDiag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xmlns="" id="{871E7A0B-73D9-493E-BA07-B319A2F84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4023759"/>
              <a:ext cx="3132000" cy="33813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ERP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870140FB-F881-4635-BC63-359A852FE1B8}"/>
              </a:ext>
            </a:extLst>
          </p:cNvPr>
          <p:cNvGrpSpPr/>
          <p:nvPr/>
        </p:nvGrpSpPr>
        <p:grpSpPr>
          <a:xfrm>
            <a:off x="251399" y="761896"/>
            <a:ext cx="3114000" cy="4215232"/>
            <a:chOff x="251399" y="761896"/>
            <a:chExt cx="3132000" cy="421523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xmlns="" id="{CBD503A3-7B62-40F2-BB94-191A4A9EA878}"/>
                </a:ext>
              </a:extLst>
            </p:cNvPr>
            <p:cNvSpPr/>
            <p:nvPr/>
          </p:nvSpPr>
          <p:spPr>
            <a:xfrm>
              <a:off x="251399" y="761896"/>
              <a:ext cx="3132000" cy="4215232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bg2">
                  <a:lumMod val="5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5" name="Rectangle 22">
              <a:extLst>
                <a:ext uri="{FF2B5EF4-FFF2-40B4-BE49-F238E27FC236}">
                  <a16:creationId xmlns:a16="http://schemas.microsoft.com/office/drawing/2014/main" xmlns="" id="{57807D28-F12B-484C-846A-CD0DEA1D8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6350">
              <a:solidFill>
                <a:schemeClr val="bg2">
                  <a:lumMod val="50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OTMS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16" name="Rectangle 33">
            <a:extLst>
              <a:ext uri="{FF2B5EF4-FFF2-40B4-BE49-F238E27FC236}">
                <a16:creationId xmlns:a16="http://schemas.microsoft.com/office/drawing/2014/main" xmlns="" id="{4A552F7D-3611-4702-9051-A627338B9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출고지시 수신</a:t>
            </a:r>
          </a:p>
        </p:txBody>
      </p:sp>
      <p:sp>
        <p:nvSpPr>
          <p:cNvPr id="17" name="TextBox 73">
            <a:extLst>
              <a:ext uri="{FF2B5EF4-FFF2-40B4-BE49-F238E27FC236}">
                <a16:creationId xmlns:a16="http://schemas.microsoft.com/office/drawing/2014/main" xmlns="" id="{48EFA5D7-1D25-444F-99AD-35CE03C70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399" y="2109092"/>
            <a:ext cx="767124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출고유형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고객출고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Rectangle 33">
            <a:extLst>
              <a:ext uri="{FF2B5EF4-FFF2-40B4-BE49-F238E27FC236}">
                <a16:creationId xmlns:a16="http://schemas.microsoft.com/office/drawing/2014/main" xmlns="" id="{CAD383B8-5EA2-40F2-9063-48D47EF9A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출고지시 수신</a:t>
            </a:r>
          </a:p>
        </p:txBody>
      </p:sp>
      <p:sp>
        <p:nvSpPr>
          <p:cNvPr id="19" name="Rectangle 33">
            <a:extLst>
              <a:ext uri="{FF2B5EF4-FFF2-40B4-BE49-F238E27FC236}">
                <a16:creationId xmlns:a16="http://schemas.microsoft.com/office/drawing/2014/main" xmlns="" id="{DA7A8F72-C1CE-4DE8-AEB8-D3C3DF8AC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송신</a:t>
            </a:r>
          </a:p>
        </p:txBody>
      </p:sp>
      <p:sp>
        <p:nvSpPr>
          <p:cNvPr id="20" name="Rectangle 33">
            <a:extLst>
              <a:ext uri="{FF2B5EF4-FFF2-40B4-BE49-F238E27FC236}">
                <a16:creationId xmlns:a16="http://schemas.microsoft.com/office/drawing/2014/main" xmlns="" id="{1400B339-3563-4614-9B83-E44D05C96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151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송신</a:t>
            </a:r>
          </a:p>
        </p:txBody>
      </p:sp>
      <p:sp>
        <p:nvSpPr>
          <p:cNvPr id="21" name="Rectangle 33">
            <a:extLst>
              <a:ext uri="{FF2B5EF4-FFF2-40B4-BE49-F238E27FC236}">
                <a16:creationId xmlns:a16="http://schemas.microsoft.com/office/drawing/2014/main" xmlns="" id="{C3ABB67A-665B-4705-B2CE-1150BEC7A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수신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xmlns="" id="{829A66B4-E776-4B55-A8FC-2A491E8EB2EF}"/>
              </a:ext>
            </a:extLst>
          </p:cNvPr>
          <p:cNvCxnSpPr>
            <a:cxnSpLocks/>
            <a:stCxn id="42" idx="0"/>
            <a:endCxn id="16" idx="2"/>
          </p:cNvCxnSpPr>
          <p:nvPr/>
        </p:nvCxnSpPr>
        <p:spPr bwMode="auto">
          <a:xfrm flipV="1">
            <a:off x="4952999" y="209684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07E02517-22D7-486F-8ADC-1C4EAD585DB9}"/>
              </a:ext>
            </a:extLst>
          </p:cNvPr>
          <p:cNvCxnSpPr>
            <a:cxnSpLocks/>
            <a:stCxn id="31" idx="0"/>
            <a:endCxn id="18" idx="2"/>
          </p:cNvCxnSpPr>
          <p:nvPr/>
        </p:nvCxnSpPr>
        <p:spPr bwMode="auto">
          <a:xfrm flipV="1">
            <a:off x="8097599" y="209684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xmlns="" id="{1AA3FB92-E339-4230-89CF-ABC077A5A236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 bwMode="auto">
          <a:xfrm>
            <a:off x="6321151" y="4095072"/>
            <a:ext cx="408296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5" name="직선 연결선 86">
            <a:extLst>
              <a:ext uri="{FF2B5EF4-FFF2-40B4-BE49-F238E27FC236}">
                <a16:creationId xmlns:a16="http://schemas.microsoft.com/office/drawing/2014/main" xmlns="" id="{2BE0A1C9-AD6C-4B5B-BE14-9B6B21163864}"/>
              </a:ext>
            </a:extLst>
          </p:cNvPr>
          <p:cNvCxnSpPr>
            <a:cxnSpLocks/>
            <a:stCxn id="32" idx="0"/>
            <a:endCxn id="31" idx="2"/>
          </p:cNvCxnSpPr>
          <p:nvPr/>
        </p:nvCxnSpPr>
        <p:spPr bwMode="auto">
          <a:xfrm rot="5400000" flipH="1" flipV="1">
            <a:off x="7611495" y="2366856"/>
            <a:ext cx="216056" cy="75615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EA27384E-A15C-4A99-B626-4C2688395A1B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 bwMode="auto">
          <a:xfrm>
            <a:off x="2420399" y="4095072"/>
            <a:ext cx="2676752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7" name="Rectangle 33">
            <a:extLst>
              <a:ext uri="{FF2B5EF4-FFF2-40B4-BE49-F238E27FC236}">
                <a16:creationId xmlns:a16="http://schemas.microsoft.com/office/drawing/2014/main" xmlns="" id="{73328D17-6775-43B4-855A-F314D5F4F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출고지시 송신</a:t>
            </a:r>
          </a:p>
        </p:txBody>
      </p:sp>
      <p:sp>
        <p:nvSpPr>
          <p:cNvPr id="28" name="Rectangle 33">
            <a:extLst>
              <a:ext uri="{FF2B5EF4-FFF2-40B4-BE49-F238E27FC236}">
                <a16:creationId xmlns:a16="http://schemas.microsoft.com/office/drawing/2014/main" xmlns="" id="{748CBACE-AFEE-466D-9C47-BE190843F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123279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출고지시 생성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9772C3F9-1C74-46B6-AE70-ABFBFAD238C2}"/>
              </a:ext>
            </a:extLst>
          </p:cNvPr>
          <p:cNvCxnSpPr>
            <a:cxnSpLocks/>
            <a:stCxn id="27" idx="0"/>
            <a:endCxn id="28" idx="2"/>
          </p:cNvCxnSpPr>
          <p:nvPr/>
        </p:nvCxnSpPr>
        <p:spPr bwMode="auto">
          <a:xfrm flipV="1">
            <a:off x="1808399" y="155679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1D8C48D3-BD2C-4E70-B16C-1D72D943FDC6}"/>
              </a:ext>
            </a:extLst>
          </p:cNvPr>
          <p:cNvCxnSpPr>
            <a:cxnSpLocks/>
            <a:stCxn id="16" idx="1"/>
            <a:endCxn id="27" idx="3"/>
          </p:cNvCxnSpPr>
          <p:nvPr/>
        </p:nvCxnSpPr>
        <p:spPr bwMode="auto">
          <a:xfrm flipH="1">
            <a:off x="24203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1" name="Rectangle 33">
            <a:extLst>
              <a:ext uri="{FF2B5EF4-FFF2-40B4-BE49-F238E27FC236}">
                <a16:creationId xmlns:a16="http://schemas.microsoft.com/office/drawing/2014/main" xmlns="" id="{B64D505D-59F9-46AA-8846-6DC7D885F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2312904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피킹지시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할당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)</a:t>
            </a:r>
            <a:endParaRPr lang="ko-KR" altLang="en-US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xmlns="" id="{07EEC6B7-4CFC-4D9F-AD88-2F1CFA8EE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피킹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패킹</a:t>
            </a:r>
          </a:p>
        </p:txBody>
      </p:sp>
      <p:cxnSp>
        <p:nvCxnSpPr>
          <p:cNvPr id="33" name="직선 연결선 94">
            <a:extLst>
              <a:ext uri="{FF2B5EF4-FFF2-40B4-BE49-F238E27FC236}">
                <a16:creationId xmlns:a16="http://schemas.microsoft.com/office/drawing/2014/main" xmlns="" id="{2DCB3A6A-63B4-487E-A94F-2B781E43E805}"/>
              </a:ext>
            </a:extLst>
          </p:cNvPr>
          <p:cNvCxnSpPr>
            <a:cxnSpLocks/>
            <a:stCxn id="38" idx="0"/>
            <a:endCxn id="31" idx="2"/>
          </p:cNvCxnSpPr>
          <p:nvPr/>
        </p:nvCxnSpPr>
        <p:spPr bwMode="auto">
          <a:xfrm rot="16200000" flipV="1">
            <a:off x="8367647" y="2366856"/>
            <a:ext cx="216056" cy="75615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D3E3D833-3FF8-46BB-BF55-F0E795799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noFill/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xmlns="" id="{3671CEB8-D8DF-4D4E-8496-5988D320173A}"/>
              </a:ext>
            </a:extLst>
          </p:cNvPr>
          <p:cNvCxnSpPr>
            <a:cxnSpLocks/>
            <a:stCxn id="36" idx="0"/>
            <a:endCxn id="32" idx="2"/>
          </p:cNvCxnSpPr>
          <p:nvPr/>
        </p:nvCxnSpPr>
        <p:spPr bwMode="auto">
          <a:xfrm flipV="1">
            <a:off x="7341447" y="3176960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6" name="Rectangle 33">
            <a:extLst>
              <a:ext uri="{FF2B5EF4-FFF2-40B4-BE49-F238E27FC236}">
                <a16:creationId xmlns:a16="http://schemas.microsoft.com/office/drawing/2014/main" xmlns="" id="{2EFE58F4-C9CA-431D-BDAE-DED0086CC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339301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출고확정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xmlns="" id="{6392B8E2-CE06-4268-A84C-A5351BDD32D4}"/>
              </a:ext>
            </a:extLst>
          </p:cNvPr>
          <p:cNvCxnSpPr>
            <a:cxnSpLocks/>
            <a:stCxn id="19" idx="0"/>
            <a:endCxn id="36" idx="2"/>
          </p:cNvCxnSpPr>
          <p:nvPr/>
        </p:nvCxnSpPr>
        <p:spPr bwMode="auto">
          <a:xfrm flipV="1">
            <a:off x="7341447" y="3717016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8" name="Rectangle 33">
            <a:extLst>
              <a:ext uri="{FF2B5EF4-FFF2-40B4-BE49-F238E27FC236}">
                <a16:creationId xmlns:a16="http://schemas.microsoft.com/office/drawing/2014/main" xmlns="" id="{F768B52C-29E9-4E92-AA69-CD839B81F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총량피킹</a:t>
            </a:r>
            <a:endParaRPr lang="ko-KR" altLang="en-US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9" name="Rectangle 33">
            <a:extLst>
              <a:ext uri="{FF2B5EF4-FFF2-40B4-BE49-F238E27FC236}">
                <a16:creationId xmlns:a16="http://schemas.microsoft.com/office/drawing/2014/main" xmlns="" id="{1D54B487-E80B-4DFB-9126-D357A6A96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5769296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수신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xmlns="" id="{EEBFB7A4-AFD8-4D0E-80A7-B9997003403F}"/>
              </a:ext>
            </a:extLst>
          </p:cNvPr>
          <p:cNvCxnSpPr>
            <a:cxnSpLocks/>
            <a:stCxn id="39" idx="0"/>
            <a:endCxn id="21" idx="2"/>
          </p:cNvCxnSpPr>
          <p:nvPr/>
        </p:nvCxnSpPr>
        <p:spPr bwMode="auto">
          <a:xfrm flipV="1">
            <a:off x="1808399" y="4257072"/>
            <a:ext cx="0" cy="1512224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41" name="Rectangle 33">
            <a:extLst>
              <a:ext uri="{FF2B5EF4-FFF2-40B4-BE49-F238E27FC236}">
                <a16:creationId xmlns:a16="http://schemas.microsoft.com/office/drawing/2014/main" xmlns="" id="{E0127E87-6A40-484C-8887-2BC5DC35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2852960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주문배분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확정</a:t>
            </a:r>
          </a:p>
        </p:txBody>
      </p:sp>
      <p:sp>
        <p:nvSpPr>
          <p:cNvPr id="42" name="Rectangle 33">
            <a:extLst>
              <a:ext uri="{FF2B5EF4-FFF2-40B4-BE49-F238E27FC236}">
                <a16:creationId xmlns:a16="http://schemas.microsoft.com/office/drawing/2014/main" xmlns="" id="{2266B8B1-E8D6-4FC5-BB09-A03CA84E3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2312904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prstDash val="dash"/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이벤트주문 생성</a:t>
            </a:r>
          </a:p>
        </p:txBody>
      </p:sp>
      <p:sp>
        <p:nvSpPr>
          <p:cNvPr id="43" name="Rectangle 33">
            <a:extLst>
              <a:ext uri="{FF2B5EF4-FFF2-40B4-BE49-F238E27FC236}">
                <a16:creationId xmlns:a16="http://schemas.microsoft.com/office/drawing/2014/main" xmlns="" id="{DD6C5627-9C2A-4346-BBF8-495D0ADE5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3393016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출고지시 송신</a:t>
            </a:r>
          </a:p>
        </p:txBody>
      </p:sp>
      <p:cxnSp>
        <p:nvCxnSpPr>
          <p:cNvPr id="44" name="직선 연결선 101">
            <a:extLst>
              <a:ext uri="{FF2B5EF4-FFF2-40B4-BE49-F238E27FC236}">
                <a16:creationId xmlns:a16="http://schemas.microsoft.com/office/drawing/2014/main" xmlns="" id="{253B9421-4492-481E-9FEE-EB352C8FD8E0}"/>
              </a:ext>
            </a:extLst>
          </p:cNvPr>
          <p:cNvCxnSpPr>
            <a:cxnSpLocks/>
            <a:stCxn id="18" idx="1"/>
            <a:endCxn id="43" idx="3"/>
          </p:cNvCxnSpPr>
          <p:nvPr/>
        </p:nvCxnSpPr>
        <p:spPr bwMode="auto">
          <a:xfrm rot="10800000" flipV="1">
            <a:off x="5564999" y="1934848"/>
            <a:ext cx="1920600" cy="1620168"/>
          </a:xfrm>
          <a:prstGeom prst="bentConnector3">
            <a:avLst>
              <a:gd name="adj1" fmla="val 75104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xmlns="" id="{F8ACD42D-70E5-49A9-9270-5FEDA0CA377D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 bwMode="auto">
          <a:xfrm flipV="1">
            <a:off x="4952999" y="2636904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xmlns="" id="{D6D5155D-66E3-40E5-A00A-B6004B589E07}"/>
              </a:ext>
            </a:extLst>
          </p:cNvPr>
          <p:cNvCxnSpPr>
            <a:cxnSpLocks/>
            <a:stCxn id="43" idx="0"/>
            <a:endCxn id="41" idx="2"/>
          </p:cNvCxnSpPr>
          <p:nvPr/>
        </p:nvCxnSpPr>
        <p:spPr bwMode="auto">
          <a:xfrm flipV="1">
            <a:off x="4952999" y="3176960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xmlns="" id="{8A78E5C0-32E0-4034-AB52-20492C2220A5}"/>
              </a:ext>
            </a:extLst>
          </p:cNvPr>
          <p:cNvGrpSpPr/>
          <p:nvPr/>
        </p:nvGrpSpPr>
        <p:grpSpPr>
          <a:xfrm>
            <a:off x="3395999" y="5013183"/>
            <a:ext cx="3114000" cy="1540850"/>
            <a:chOff x="251399" y="2821046"/>
            <a:chExt cx="3132000" cy="1540850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xmlns="" id="{7F7623BB-AF8B-40BC-8AF0-32096845F2E9}"/>
                </a:ext>
              </a:extLst>
            </p:cNvPr>
            <p:cNvSpPr/>
            <p:nvPr/>
          </p:nvSpPr>
          <p:spPr>
            <a:xfrm>
              <a:off x="251399" y="2821046"/>
              <a:ext cx="3132000" cy="1540850"/>
            </a:xfrm>
            <a:prstGeom prst="rect">
              <a:avLst/>
            </a:prstGeom>
            <a:pattFill prst="ltUpDiag">
              <a:fgClr>
                <a:schemeClr val="accent4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4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49" name="Rectangle 22">
              <a:extLst>
                <a:ext uri="{FF2B5EF4-FFF2-40B4-BE49-F238E27FC236}">
                  <a16:creationId xmlns:a16="http://schemas.microsoft.com/office/drawing/2014/main" xmlns="" id="{3CF58EAB-5F70-4F8B-8441-F1DB35AF5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4023759"/>
              <a:ext cx="3132000" cy="33813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6350">
              <a:solidFill>
                <a:schemeClr val="accent4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ko-KR" altLang="en-US" sz="1400" b="1" dirty="0" err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배송사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xmlns="" id="{0739FBBB-8EEE-4D3C-9A45-F57A240DE1D4}"/>
              </a:ext>
            </a:extLst>
          </p:cNvPr>
          <p:cNvGrpSpPr/>
          <p:nvPr/>
        </p:nvGrpSpPr>
        <p:grpSpPr>
          <a:xfrm>
            <a:off x="6540599" y="5013183"/>
            <a:ext cx="3114000" cy="1540850"/>
            <a:chOff x="251399" y="2821046"/>
            <a:chExt cx="3132000" cy="1540850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xmlns="" id="{0BFE8C79-0A6C-4467-A319-365318D2E40C}"/>
                </a:ext>
              </a:extLst>
            </p:cNvPr>
            <p:cNvSpPr/>
            <p:nvPr/>
          </p:nvSpPr>
          <p:spPr>
            <a:xfrm>
              <a:off x="251399" y="2821046"/>
              <a:ext cx="3132000" cy="1540849"/>
            </a:xfrm>
            <a:prstGeom prst="rect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xmlns="" id="{10A2A5FC-780E-4838-A663-5BA93882D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4023759"/>
              <a:ext cx="3132000" cy="33813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DAS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53" name="Rectangle 33">
            <a:extLst>
              <a:ext uri="{FF2B5EF4-FFF2-40B4-BE49-F238E27FC236}">
                <a16:creationId xmlns:a16="http://schemas.microsoft.com/office/drawing/2014/main" xmlns="" id="{9F289099-17FE-41E1-B412-7C7D6128C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576929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분류작업</a:t>
            </a:r>
          </a:p>
        </p:txBody>
      </p:sp>
      <p:cxnSp>
        <p:nvCxnSpPr>
          <p:cNvPr id="54" name="직선 연결선 94">
            <a:extLst>
              <a:ext uri="{FF2B5EF4-FFF2-40B4-BE49-F238E27FC236}">
                <a16:creationId xmlns:a16="http://schemas.microsoft.com/office/drawing/2014/main" xmlns="" id="{4C88B146-9E22-451B-86E2-8E88264D161F}"/>
              </a:ext>
            </a:extLst>
          </p:cNvPr>
          <p:cNvCxnSpPr>
            <a:cxnSpLocks/>
            <a:stCxn id="53" idx="3"/>
            <a:endCxn id="57" idx="2"/>
          </p:cNvCxnSpPr>
          <p:nvPr/>
        </p:nvCxnSpPr>
        <p:spPr bwMode="auto">
          <a:xfrm flipV="1">
            <a:off x="8709599" y="5553232"/>
            <a:ext cx="144152" cy="378064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55" name="직선 연결선 86">
            <a:extLst>
              <a:ext uri="{FF2B5EF4-FFF2-40B4-BE49-F238E27FC236}">
                <a16:creationId xmlns:a16="http://schemas.microsoft.com/office/drawing/2014/main" xmlns="" id="{2EA929EB-119E-4E12-9410-8F6E1AFF1DD5}"/>
              </a:ext>
            </a:extLst>
          </p:cNvPr>
          <p:cNvCxnSpPr>
            <a:cxnSpLocks/>
            <a:stCxn id="58" idx="2"/>
            <a:endCxn id="53" idx="1"/>
          </p:cNvCxnSpPr>
          <p:nvPr/>
        </p:nvCxnSpPr>
        <p:spPr bwMode="auto">
          <a:xfrm rot="16200000" flipH="1">
            <a:off x="7224491" y="5670188"/>
            <a:ext cx="378064" cy="14415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56" name="Rectangle 33">
            <a:extLst>
              <a:ext uri="{FF2B5EF4-FFF2-40B4-BE49-F238E27FC236}">
                <a16:creationId xmlns:a16="http://schemas.microsoft.com/office/drawing/2014/main" xmlns="" id="{5DB46659-D7B4-4600-B558-0C1A618F4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576929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배송실적 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(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한진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)</a:t>
            </a:r>
            <a:endParaRPr lang="ko-KR" altLang="en-US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57" name="Rectangle 33">
            <a:extLst>
              <a:ext uri="{FF2B5EF4-FFF2-40B4-BE49-F238E27FC236}">
                <a16:creationId xmlns:a16="http://schemas.microsoft.com/office/drawing/2014/main" xmlns="" id="{8BCA4886-07C7-45A0-825E-F335F7D57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분류지시 수신</a:t>
            </a:r>
          </a:p>
        </p:txBody>
      </p:sp>
      <p:sp>
        <p:nvSpPr>
          <p:cNvPr id="58" name="Rectangle 33">
            <a:extLst>
              <a:ext uri="{FF2B5EF4-FFF2-40B4-BE49-F238E27FC236}">
                <a16:creationId xmlns:a16="http://schemas.microsoft.com/office/drawing/2014/main" xmlns="" id="{82A868E5-4D5B-4DD1-AF75-CEECEE26D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447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분류실적 송신</a:t>
            </a:r>
          </a:p>
        </p:txBody>
      </p:sp>
      <p:sp>
        <p:nvSpPr>
          <p:cNvPr id="59" name="Rectangle 33">
            <a:extLst>
              <a:ext uri="{FF2B5EF4-FFF2-40B4-BE49-F238E27FC236}">
                <a16:creationId xmlns:a16="http://schemas.microsoft.com/office/drawing/2014/main" xmlns="" id="{6778EBEC-0C14-4D8C-A675-5EC9DC90F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151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출고실적 수신</a:t>
            </a:r>
          </a:p>
        </p:txBody>
      </p:sp>
      <p:sp>
        <p:nvSpPr>
          <p:cNvPr id="60" name="Rectangle 33">
            <a:extLst>
              <a:ext uri="{FF2B5EF4-FFF2-40B4-BE49-F238E27FC236}">
                <a16:creationId xmlns:a16="http://schemas.microsoft.com/office/drawing/2014/main" xmlns="" id="{32A3FB67-DB4E-43CD-9DB1-9552B6175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47" y="522923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배송실적 송신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xmlns="" id="{D26B65EB-8337-47D9-B616-18ACB892FA34}"/>
              </a:ext>
            </a:extLst>
          </p:cNvPr>
          <p:cNvCxnSpPr>
            <a:cxnSpLocks/>
            <a:stCxn id="63" idx="1"/>
            <a:endCxn id="58" idx="0"/>
          </p:cNvCxnSpPr>
          <p:nvPr/>
        </p:nvCxnSpPr>
        <p:spPr bwMode="auto">
          <a:xfrm rot="10800000" flipV="1">
            <a:off x="7341447" y="4635128"/>
            <a:ext cx="144152" cy="594104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62" name="Rectangle 33">
            <a:extLst>
              <a:ext uri="{FF2B5EF4-FFF2-40B4-BE49-F238E27FC236}">
                <a16:creationId xmlns:a16="http://schemas.microsoft.com/office/drawing/2014/main" xmlns="" id="{82EBC807-D325-481A-8C34-45DD3CBF7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51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분류지시 송신</a:t>
            </a:r>
          </a:p>
        </p:txBody>
      </p:sp>
      <p:sp>
        <p:nvSpPr>
          <p:cNvPr id="63" name="Rectangle 33">
            <a:extLst>
              <a:ext uri="{FF2B5EF4-FFF2-40B4-BE49-F238E27FC236}">
                <a16:creationId xmlns:a16="http://schemas.microsoft.com/office/drawing/2014/main" xmlns="" id="{581FB9BE-9779-4764-A01B-C005EB8C0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447312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분류실적 수신</a:t>
            </a:r>
          </a:p>
        </p:txBody>
      </p:sp>
      <p:sp>
        <p:nvSpPr>
          <p:cNvPr id="64" name="Rectangle 33">
            <a:extLst>
              <a:ext uri="{FF2B5EF4-FFF2-40B4-BE49-F238E27FC236}">
                <a16:creationId xmlns:a16="http://schemas.microsoft.com/office/drawing/2014/main" xmlns="" id="{3BA392A3-9AC0-432D-A3C8-FF4D3FED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847" y="447312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배송실적 수신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xmlns="" id="{B1405CA9-4F3F-40EE-828D-889B5CFE8CE7}"/>
              </a:ext>
            </a:extLst>
          </p:cNvPr>
          <p:cNvCxnSpPr>
            <a:cxnSpLocks/>
            <a:stCxn id="36" idx="3"/>
            <a:endCxn id="63" idx="0"/>
          </p:cNvCxnSpPr>
          <p:nvPr/>
        </p:nvCxnSpPr>
        <p:spPr bwMode="auto">
          <a:xfrm>
            <a:off x="7953447" y="3555016"/>
            <a:ext cx="144152" cy="91811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xmlns="" id="{AACEAD37-BA01-48AB-997E-9CD4A18215C9}"/>
              </a:ext>
            </a:extLst>
          </p:cNvPr>
          <p:cNvCxnSpPr>
            <a:cxnSpLocks/>
            <a:stCxn id="62" idx="0"/>
            <a:endCxn id="38" idx="2"/>
          </p:cNvCxnSpPr>
          <p:nvPr/>
        </p:nvCxnSpPr>
        <p:spPr bwMode="auto">
          <a:xfrm flipV="1">
            <a:off x="8853751" y="3176960"/>
            <a:ext cx="0" cy="756112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xmlns="" id="{D26B276C-81F4-45CA-B90A-5EE4CD6C24C8}"/>
              </a:ext>
            </a:extLst>
          </p:cNvPr>
          <p:cNvCxnSpPr>
            <a:cxnSpLocks/>
            <a:stCxn id="57" idx="0"/>
            <a:endCxn id="62" idx="2"/>
          </p:cNvCxnSpPr>
          <p:nvPr/>
        </p:nvCxnSpPr>
        <p:spPr bwMode="auto">
          <a:xfrm flipV="1">
            <a:off x="8853751" y="4257072"/>
            <a:ext cx="0" cy="97216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xmlns="" id="{3D64E12E-99D7-4511-8470-C0EDFA8BB9BA}"/>
              </a:ext>
            </a:extLst>
          </p:cNvPr>
          <p:cNvCxnSpPr>
            <a:cxnSpLocks/>
            <a:stCxn id="59" idx="0"/>
            <a:endCxn id="20" idx="2"/>
          </p:cNvCxnSpPr>
          <p:nvPr/>
        </p:nvCxnSpPr>
        <p:spPr bwMode="auto">
          <a:xfrm flipV="1">
            <a:off x="5709151" y="4257072"/>
            <a:ext cx="0" cy="97216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xmlns="" id="{F189BAE3-2F9B-4D81-8E93-F50764C8A978}"/>
              </a:ext>
            </a:extLst>
          </p:cNvPr>
          <p:cNvCxnSpPr>
            <a:cxnSpLocks/>
            <a:stCxn id="64" idx="2"/>
            <a:endCxn id="60" idx="0"/>
          </p:cNvCxnSpPr>
          <p:nvPr/>
        </p:nvCxnSpPr>
        <p:spPr bwMode="auto">
          <a:xfrm>
            <a:off x="4196847" y="4797128"/>
            <a:ext cx="0" cy="432104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72" name="직선 연결선 122">
            <a:extLst>
              <a:ext uri="{FF2B5EF4-FFF2-40B4-BE49-F238E27FC236}">
                <a16:creationId xmlns:a16="http://schemas.microsoft.com/office/drawing/2014/main" xmlns="" id="{0D1C3DE3-C6D6-490D-A15B-255BB5F96826}"/>
              </a:ext>
            </a:extLst>
          </p:cNvPr>
          <p:cNvCxnSpPr>
            <a:cxnSpLocks/>
            <a:stCxn id="56" idx="3"/>
            <a:endCxn id="59" idx="2"/>
          </p:cNvCxnSpPr>
          <p:nvPr/>
        </p:nvCxnSpPr>
        <p:spPr bwMode="auto">
          <a:xfrm flipV="1">
            <a:off x="5564999" y="5553232"/>
            <a:ext cx="144152" cy="378064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73" name="직선 연결선 124">
            <a:extLst>
              <a:ext uri="{FF2B5EF4-FFF2-40B4-BE49-F238E27FC236}">
                <a16:creationId xmlns:a16="http://schemas.microsoft.com/office/drawing/2014/main" xmlns="" id="{474C2049-4A7B-450A-85C3-92FE32BCB9C3}"/>
              </a:ext>
            </a:extLst>
          </p:cNvPr>
          <p:cNvCxnSpPr>
            <a:cxnSpLocks/>
            <a:stCxn id="60" idx="2"/>
            <a:endCxn id="56" idx="1"/>
          </p:cNvCxnSpPr>
          <p:nvPr/>
        </p:nvCxnSpPr>
        <p:spPr bwMode="auto">
          <a:xfrm rot="16200000" flipH="1">
            <a:off x="4079891" y="5670188"/>
            <a:ext cx="378064" cy="144152"/>
          </a:xfrm>
          <a:prstGeom prst="bentConnector2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74" name="Rectangle 33">
            <a:extLst>
              <a:ext uri="{FF2B5EF4-FFF2-40B4-BE49-F238E27FC236}">
                <a16:creationId xmlns:a16="http://schemas.microsoft.com/office/drawing/2014/main" xmlns="" id="{10C8A71C-F431-4681-BCCE-344C5D18C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3393016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주문상태</a:t>
            </a: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송장정보 수신</a:t>
            </a:r>
          </a:p>
        </p:txBody>
      </p:sp>
      <p:cxnSp>
        <p:nvCxnSpPr>
          <p:cNvPr id="75" name="직선 연결선 101">
            <a:extLst>
              <a:ext uri="{FF2B5EF4-FFF2-40B4-BE49-F238E27FC236}">
                <a16:creationId xmlns:a16="http://schemas.microsoft.com/office/drawing/2014/main" xmlns="" id="{E82527D5-9215-439D-91A2-A3C577EBAF80}"/>
              </a:ext>
            </a:extLst>
          </p:cNvPr>
          <p:cNvCxnSpPr>
            <a:cxnSpLocks/>
            <a:stCxn id="74" idx="3"/>
            <a:endCxn id="43" idx="1"/>
          </p:cNvCxnSpPr>
          <p:nvPr/>
        </p:nvCxnSpPr>
        <p:spPr bwMode="auto">
          <a:xfrm>
            <a:off x="2420399" y="3555016"/>
            <a:ext cx="1920600" cy="0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88" name="직선 연결선 101">
            <a:extLst>
              <a:ext uri="{FF2B5EF4-FFF2-40B4-BE49-F238E27FC236}">
                <a16:creationId xmlns:a16="http://schemas.microsoft.com/office/drawing/2014/main" xmlns="" id="{081230AF-75C2-43DF-AA05-6A5F34143612}"/>
              </a:ext>
            </a:extLst>
          </p:cNvPr>
          <p:cNvCxnSpPr>
            <a:cxnSpLocks/>
            <a:stCxn id="41" idx="1"/>
            <a:endCxn id="18" idx="0"/>
          </p:cNvCxnSpPr>
          <p:nvPr/>
        </p:nvCxnSpPr>
        <p:spPr bwMode="auto">
          <a:xfrm rot="10800000" flipH="1">
            <a:off x="4340999" y="1772848"/>
            <a:ext cx="3756600" cy="1242112"/>
          </a:xfrm>
          <a:prstGeom prst="bentConnector4">
            <a:avLst>
              <a:gd name="adj1" fmla="val -12945"/>
              <a:gd name="adj2" fmla="val 118404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92" name="TextBox 73">
            <a:extLst>
              <a:ext uri="{FF2B5EF4-FFF2-40B4-BE49-F238E27FC236}">
                <a16:creationId xmlns:a16="http://schemas.microsoft.com/office/drawing/2014/main" xmlns="" id="{830CF155-BB94-4CEA-B455-D49245582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8517" y="1330201"/>
            <a:ext cx="675432" cy="226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defPPr>
              <a:defRPr lang="ko-KR"/>
            </a:defPPr>
            <a:lvl1pPr marL="88900" indent="-88900" eaLnBrk="1" hangingPunct="1">
              <a:buFont typeface="Arial" panose="020B0604020202020204" pitchFamily="34" charset="0"/>
              <a:buChar char="•"/>
              <a:defRPr sz="10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ko-KR" altLang="en-US" dirty="0"/>
              <a:t>접수취소</a:t>
            </a:r>
            <a:endParaRPr lang="en-US" altLang="ko-KR" dirty="0"/>
          </a:p>
        </p:txBody>
      </p:sp>
      <p:sp>
        <p:nvSpPr>
          <p:cNvPr id="97" name="원호 96">
            <a:extLst>
              <a:ext uri="{FF2B5EF4-FFF2-40B4-BE49-F238E27FC236}">
                <a16:creationId xmlns:a16="http://schemas.microsoft.com/office/drawing/2014/main" xmlns="" id="{CDE8F16E-079D-41CD-812D-A33C45C6E927}"/>
              </a:ext>
            </a:extLst>
          </p:cNvPr>
          <p:cNvSpPr/>
          <p:nvPr/>
        </p:nvSpPr>
        <p:spPr>
          <a:xfrm flipH="1">
            <a:off x="3773201" y="1844824"/>
            <a:ext cx="180000" cy="180000"/>
          </a:xfrm>
          <a:prstGeom prst="arc">
            <a:avLst>
              <a:gd name="adj1" fmla="val 16200000"/>
              <a:gd name="adj2" fmla="val 5313610"/>
            </a:avLst>
          </a:prstGeom>
          <a:pattFill prst="lt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800" kern="0">
              <a:solidFill>
                <a:srgbClr val="FFFFFF"/>
              </a:solidFill>
              <a:latin typeface="Arial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48978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3082" y="545526"/>
            <a:ext cx="3995350" cy="402291"/>
          </a:xfrm>
        </p:spPr>
        <p:txBody>
          <a:bodyPr/>
          <a:lstStyle/>
          <a:p>
            <a:r>
              <a:rPr lang="en-US" altLang="ko-KR" sz="2800" b="1" dirty="0"/>
              <a:t>WM </a:t>
            </a:r>
            <a:r>
              <a:rPr lang="ko-KR" altLang="en-US" sz="2800" b="1" dirty="0"/>
              <a:t>출고 프로세스</a:t>
            </a:r>
          </a:p>
        </p:txBody>
      </p:sp>
      <p:sp>
        <p:nvSpPr>
          <p:cNvPr id="49" name="모서리가 둥근 직사각형 105">
            <a:extLst>
              <a:ext uri="{FF2B5EF4-FFF2-40B4-BE49-F238E27FC236}">
                <a16:creationId xmlns:a16="http://schemas.microsoft.com/office/drawing/2014/main" xmlns="" id="{4675470A-F672-4A1D-A4C6-464BF761A08C}"/>
              </a:ext>
            </a:extLst>
          </p:cNvPr>
          <p:cNvSpPr/>
          <p:nvPr/>
        </p:nvSpPr>
        <p:spPr bwMode="auto">
          <a:xfrm>
            <a:off x="970564" y="2191205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WAVE </a:t>
            </a: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생성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A9D730D-8223-4E49-AF21-13CAE05936B5}"/>
              </a:ext>
            </a:extLst>
          </p:cNvPr>
          <p:cNvSpPr txBox="1"/>
          <p:nvPr/>
        </p:nvSpPr>
        <p:spPr>
          <a:xfrm>
            <a:off x="2445065" y="2140258"/>
            <a:ext cx="124264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INSERT</a:t>
            </a:r>
          </a:p>
          <a:p>
            <a:r>
              <a:rPr lang="en-US" altLang="ko-KR" sz="900" dirty="0"/>
              <a:t>WMT_COB_WAVE_HR</a:t>
            </a:r>
          </a:p>
          <a:p>
            <a:r>
              <a:rPr lang="en-US" altLang="ko-KR" sz="900" dirty="0"/>
              <a:t>WMT_COB_WAVE_DR</a:t>
            </a:r>
            <a:endParaRPr lang="ko-KR" altLang="en-US" sz="900" dirty="0"/>
          </a:p>
        </p:txBody>
      </p:sp>
      <p:sp>
        <p:nvSpPr>
          <p:cNvPr id="51" name="모서리가 둥근 직사각형 108">
            <a:extLst>
              <a:ext uri="{FF2B5EF4-FFF2-40B4-BE49-F238E27FC236}">
                <a16:creationId xmlns:a16="http://schemas.microsoft.com/office/drawing/2014/main" xmlns="" id="{F80F9ABA-85A9-470B-978F-D82C25B8DD4C}"/>
              </a:ext>
            </a:extLst>
          </p:cNvPr>
          <p:cNvSpPr/>
          <p:nvPr/>
        </p:nvSpPr>
        <p:spPr bwMode="auto">
          <a:xfrm>
            <a:off x="970564" y="1491495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할당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/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보충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/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작업</a:t>
            </a:r>
            <a:endParaRPr lang="en-US" altLang="ko-KR" sz="900" b="1" dirty="0"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전략 </a:t>
            </a: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수립</a:t>
            </a:r>
          </a:p>
        </p:txBody>
      </p:sp>
      <p:sp>
        <p:nvSpPr>
          <p:cNvPr id="52" name="모서리가 둥근 직사각형 109">
            <a:extLst>
              <a:ext uri="{FF2B5EF4-FFF2-40B4-BE49-F238E27FC236}">
                <a16:creationId xmlns:a16="http://schemas.microsoft.com/office/drawing/2014/main" xmlns="" id="{05B0EB76-E5CE-43BE-B458-4A0BF2E5FD5B}"/>
              </a:ext>
            </a:extLst>
          </p:cNvPr>
          <p:cNvSpPr/>
          <p:nvPr/>
        </p:nvSpPr>
        <p:spPr bwMode="auto">
          <a:xfrm>
            <a:off x="3908884" y="1484784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할당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/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보충 전략 조건 </a:t>
            </a:r>
            <a:endParaRPr lang="en-US" altLang="ko-KR" sz="900" b="1" dirty="0"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설정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xmlns="" id="{5675A91E-9488-43CD-8552-1BAD6B2CFD85}"/>
              </a:ext>
            </a:extLst>
          </p:cNvPr>
          <p:cNvCxnSpPr>
            <a:stCxn id="51" idx="3"/>
            <a:endCxn id="52" idx="1"/>
          </p:cNvCxnSpPr>
          <p:nvPr/>
        </p:nvCxnSpPr>
        <p:spPr bwMode="auto">
          <a:xfrm flipV="1">
            <a:off x="2296031" y="1660612"/>
            <a:ext cx="1612853" cy="671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xmlns="" id="{566867C9-F390-4413-BCA5-42355DB494EB}"/>
              </a:ext>
            </a:extLst>
          </p:cNvPr>
          <p:cNvCxnSpPr>
            <a:stCxn id="51" idx="2"/>
            <a:endCxn id="49" idx="0"/>
          </p:cNvCxnSpPr>
          <p:nvPr/>
        </p:nvCxnSpPr>
        <p:spPr bwMode="auto">
          <a:xfrm>
            <a:off x="1633298" y="1843150"/>
            <a:ext cx="0" cy="34805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" name="모서리가 둥근 직사각형 115">
            <a:extLst>
              <a:ext uri="{FF2B5EF4-FFF2-40B4-BE49-F238E27FC236}">
                <a16:creationId xmlns:a16="http://schemas.microsoft.com/office/drawing/2014/main" xmlns="" id="{33867F68-6611-47B8-A4D1-3FA7BB9F8405}"/>
              </a:ext>
            </a:extLst>
          </p:cNvPr>
          <p:cNvSpPr/>
          <p:nvPr/>
        </p:nvSpPr>
        <p:spPr bwMode="auto">
          <a:xfrm>
            <a:off x="970564" y="2927741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주문</a:t>
            </a:r>
            <a:endParaRPr lang="en-US" altLang="ko-KR" sz="900" b="1" dirty="0"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latin typeface="Arial" charset="0"/>
                <a:ea typeface="돋움" pitchFamily="50" charset="-127"/>
              </a:rPr>
              <a:t>Consolidation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xmlns="" id="{DEFDE28D-452E-4822-B9F6-17F1D07D4627}"/>
              </a:ext>
            </a:extLst>
          </p:cNvPr>
          <p:cNvCxnSpPr>
            <a:stCxn id="49" idx="2"/>
            <a:endCxn id="55" idx="0"/>
          </p:cNvCxnSpPr>
          <p:nvPr/>
        </p:nvCxnSpPr>
        <p:spPr bwMode="auto">
          <a:xfrm>
            <a:off x="1633298" y="2542860"/>
            <a:ext cx="0" cy="38488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id="{3574C531-03A5-4418-82DD-E320B5360464}"/>
              </a:ext>
            </a:extLst>
          </p:cNvPr>
          <p:cNvSpPr/>
          <p:nvPr/>
        </p:nvSpPr>
        <p:spPr>
          <a:xfrm>
            <a:off x="920602" y="2576086"/>
            <a:ext cx="142539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WMP_COB_WAVE_ALLOC</a:t>
            </a:r>
            <a:endParaRPr lang="ko-KR" altLang="en-US" sz="9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xmlns="" id="{F0DF6F55-9764-4A27-93AC-929DAB6C4629}"/>
              </a:ext>
            </a:extLst>
          </p:cNvPr>
          <p:cNvSpPr/>
          <p:nvPr/>
        </p:nvSpPr>
        <p:spPr>
          <a:xfrm>
            <a:off x="720696" y="3292084"/>
            <a:ext cx="190789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WMP_COB_CONSOLIDATION_FNF</a:t>
            </a:r>
            <a:endParaRPr lang="ko-KR" altLang="en-US" sz="900" dirty="0"/>
          </a:p>
        </p:txBody>
      </p:sp>
      <p:sp>
        <p:nvSpPr>
          <p:cNvPr id="60" name="모서리가 둥근 직사각형 125">
            <a:extLst>
              <a:ext uri="{FF2B5EF4-FFF2-40B4-BE49-F238E27FC236}">
                <a16:creationId xmlns:a16="http://schemas.microsoft.com/office/drawing/2014/main" xmlns="" id="{97EB93DF-A339-4DED-AC0A-47F3C3C4CB24}"/>
              </a:ext>
            </a:extLst>
          </p:cNvPr>
          <p:cNvSpPr/>
          <p:nvPr/>
        </p:nvSpPr>
        <p:spPr bwMode="auto">
          <a:xfrm>
            <a:off x="970564" y="3753495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주문별</a:t>
            </a: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재고할당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xmlns="" id="{1D0AA918-CE0A-464C-9B54-B875D96FD557}"/>
              </a:ext>
            </a:extLst>
          </p:cNvPr>
          <p:cNvCxnSpPr>
            <a:stCxn id="55" idx="2"/>
            <a:endCxn id="60" idx="0"/>
          </p:cNvCxnSpPr>
          <p:nvPr/>
        </p:nvCxnSpPr>
        <p:spPr bwMode="auto">
          <a:xfrm>
            <a:off x="1633298" y="3279396"/>
            <a:ext cx="0" cy="47409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3" name="모서리가 둥근 직사각형 130">
            <a:extLst>
              <a:ext uri="{FF2B5EF4-FFF2-40B4-BE49-F238E27FC236}">
                <a16:creationId xmlns:a16="http://schemas.microsoft.com/office/drawing/2014/main" xmlns="" id="{0E739024-5066-4398-9254-450B3FF7472F}"/>
              </a:ext>
            </a:extLst>
          </p:cNvPr>
          <p:cNvSpPr/>
          <p:nvPr/>
        </p:nvSpPr>
        <p:spPr bwMode="auto">
          <a:xfrm>
            <a:off x="970564" y="4576194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보충작업생성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xmlns="" id="{48A7C98C-0424-42E6-81EE-C09AC215C54B}"/>
              </a:ext>
            </a:extLst>
          </p:cNvPr>
          <p:cNvSpPr/>
          <p:nvPr/>
        </p:nvSpPr>
        <p:spPr>
          <a:xfrm>
            <a:off x="824089" y="4134963"/>
            <a:ext cx="17011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WMP_COB_ALLOC_BY_ORDER</a:t>
            </a:r>
            <a:endParaRPr lang="ko-KR" altLang="en-US" sz="900" dirty="0">
              <a:solidFill>
                <a:srgbClr val="808000"/>
              </a:solidFill>
              <a:highlight>
                <a:srgbClr val="FFFFFF"/>
              </a:highlight>
              <a:latin typeface="Courier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6B7AE6F8-F021-4FAC-A3D3-5744372B679F}"/>
              </a:ext>
            </a:extLst>
          </p:cNvPr>
          <p:cNvSpPr txBox="1"/>
          <p:nvPr/>
        </p:nvSpPr>
        <p:spPr>
          <a:xfrm>
            <a:off x="2445065" y="2780402"/>
            <a:ext cx="1515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UPDATE </a:t>
            </a:r>
          </a:p>
          <a:p>
            <a:r>
              <a:rPr lang="en-US" altLang="ko-KR" sz="900" dirty="0"/>
              <a:t>WMT_COB_OUTBOUND_DR</a:t>
            </a:r>
          </a:p>
          <a:p>
            <a:r>
              <a:rPr lang="en-US" altLang="ko-KR" sz="900" dirty="0"/>
              <a:t>DELETE </a:t>
            </a:r>
          </a:p>
          <a:p>
            <a:r>
              <a:rPr lang="en-US" altLang="ko-KR" sz="900" dirty="0"/>
              <a:t>WMT_COB_OUTBOUND_HR</a:t>
            </a:r>
            <a:endParaRPr lang="ko-KR" altLang="en-US" sz="9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599B51CF-4273-443F-ABB9-0BD287A17F74}"/>
              </a:ext>
            </a:extLst>
          </p:cNvPr>
          <p:cNvSpPr txBox="1"/>
          <p:nvPr/>
        </p:nvSpPr>
        <p:spPr>
          <a:xfrm>
            <a:off x="2460996" y="455851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/>
              <a:t>INSERT</a:t>
            </a:r>
          </a:p>
          <a:p>
            <a:r>
              <a:rPr lang="en-US" altLang="ko-KR" sz="900" dirty="0"/>
              <a:t>WMT_CTA_JOB</a:t>
            </a:r>
            <a:endParaRPr lang="ko-KR" altLang="en-US" sz="900" dirty="0"/>
          </a:p>
        </p:txBody>
      </p:sp>
      <p:sp>
        <p:nvSpPr>
          <p:cNvPr id="67" name="모서리가 둥근 직사각형 143">
            <a:extLst>
              <a:ext uri="{FF2B5EF4-FFF2-40B4-BE49-F238E27FC236}">
                <a16:creationId xmlns:a16="http://schemas.microsoft.com/office/drawing/2014/main" xmlns="" id="{0E3DA98F-5A30-45F3-B625-8E54B3776EE0}"/>
              </a:ext>
            </a:extLst>
          </p:cNvPr>
          <p:cNvSpPr/>
          <p:nvPr/>
        </p:nvSpPr>
        <p:spPr bwMode="auto">
          <a:xfrm>
            <a:off x="5450375" y="1484784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프로세스 정책 수립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xmlns="" id="{6EFF24F0-CFEF-4337-AB01-FA523586D505}"/>
              </a:ext>
            </a:extLst>
          </p:cNvPr>
          <p:cNvSpPr/>
          <p:nvPr/>
        </p:nvSpPr>
        <p:spPr>
          <a:xfrm>
            <a:off x="4037595" y="4097138"/>
            <a:ext cx="108074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WMP_CSR_AL_OL</a:t>
            </a:r>
            <a:endParaRPr lang="ko-KR" altLang="en-US" sz="900" dirty="0"/>
          </a:p>
        </p:txBody>
      </p:sp>
      <p:sp>
        <p:nvSpPr>
          <p:cNvPr id="69" name="모서리가 둥근 직사각형 147">
            <a:extLst>
              <a:ext uri="{FF2B5EF4-FFF2-40B4-BE49-F238E27FC236}">
                <a16:creationId xmlns:a16="http://schemas.microsoft.com/office/drawing/2014/main" xmlns="" id="{8B7FA065-5F06-4E02-AD59-13C1E529E528}"/>
              </a:ext>
            </a:extLst>
          </p:cNvPr>
          <p:cNvSpPr/>
          <p:nvPr/>
        </p:nvSpPr>
        <p:spPr bwMode="auto">
          <a:xfrm>
            <a:off x="3908884" y="3753495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할당</a:t>
            </a:r>
            <a:r>
              <a:rPr kumimoji="1" lang="en-US" altLang="ko-K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/</a:t>
            </a: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보충 </a:t>
            </a:r>
            <a:endParaRPr kumimoji="1" lang="en-US" altLang="ko-K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전략 적용</a:t>
            </a:r>
          </a:p>
        </p:txBody>
      </p:sp>
      <p:cxnSp>
        <p:nvCxnSpPr>
          <p:cNvPr id="70" name="꺾인 연결선 149">
            <a:extLst>
              <a:ext uri="{FF2B5EF4-FFF2-40B4-BE49-F238E27FC236}">
                <a16:creationId xmlns:a16="http://schemas.microsoft.com/office/drawing/2014/main" xmlns="" id="{D4768E96-E9E2-4344-BEC4-3A190A75BE6B}"/>
              </a:ext>
            </a:extLst>
          </p:cNvPr>
          <p:cNvCxnSpPr>
            <a:stCxn id="69" idx="1"/>
            <a:endCxn id="60" idx="3"/>
          </p:cNvCxnSpPr>
          <p:nvPr/>
        </p:nvCxnSpPr>
        <p:spPr bwMode="auto">
          <a:xfrm rot="10800000">
            <a:off x="2296032" y="3929323"/>
            <a:ext cx="1612853" cy="1270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71" name="꺾인 연결선 152">
            <a:extLst>
              <a:ext uri="{FF2B5EF4-FFF2-40B4-BE49-F238E27FC236}">
                <a16:creationId xmlns:a16="http://schemas.microsoft.com/office/drawing/2014/main" xmlns="" id="{A72CA7B8-4F2A-4461-A257-9C1FC0D7AC4F}"/>
              </a:ext>
            </a:extLst>
          </p:cNvPr>
          <p:cNvCxnSpPr>
            <a:stCxn id="67" idx="2"/>
            <a:endCxn id="69" idx="3"/>
          </p:cNvCxnSpPr>
          <p:nvPr/>
        </p:nvCxnSpPr>
        <p:spPr bwMode="auto">
          <a:xfrm rot="5400000">
            <a:off x="4627288" y="2443502"/>
            <a:ext cx="2092884" cy="87875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xmlns="" id="{AA465E17-5D2E-4734-8397-9A374BB10ABF}"/>
              </a:ext>
            </a:extLst>
          </p:cNvPr>
          <p:cNvSpPr/>
          <p:nvPr/>
        </p:nvSpPr>
        <p:spPr>
          <a:xfrm>
            <a:off x="5305045" y="3981722"/>
            <a:ext cx="17011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WMF_CMD_POLICY_ROUTING</a:t>
            </a:r>
            <a:endParaRPr lang="ko-KR" altLang="en-US" sz="900" dirty="0">
              <a:solidFill>
                <a:srgbClr val="808000"/>
              </a:solidFill>
              <a:highlight>
                <a:srgbClr val="FFFFFF"/>
              </a:highlight>
              <a:latin typeface="Courier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xmlns="" id="{C60EFB1B-FE90-4246-AEA4-E47F73EEDDC5}"/>
              </a:ext>
            </a:extLst>
          </p:cNvPr>
          <p:cNvCxnSpPr>
            <a:stCxn id="60" idx="2"/>
            <a:endCxn id="63" idx="0"/>
          </p:cNvCxnSpPr>
          <p:nvPr/>
        </p:nvCxnSpPr>
        <p:spPr bwMode="auto">
          <a:xfrm>
            <a:off x="1633298" y="4105150"/>
            <a:ext cx="0" cy="47104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5EBA6C70-350F-4877-B9DA-CB15DABEE165}"/>
              </a:ext>
            </a:extLst>
          </p:cNvPr>
          <p:cNvSpPr txBox="1"/>
          <p:nvPr/>
        </p:nvSpPr>
        <p:spPr>
          <a:xfrm>
            <a:off x="1049595" y="3644288"/>
            <a:ext cx="445956" cy="2308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LOOP</a:t>
            </a:r>
            <a:endParaRPr lang="ko-KR" altLang="en-US" sz="9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0AC67AB6-3304-4A12-AFA9-F94E9C084C71}"/>
              </a:ext>
            </a:extLst>
          </p:cNvPr>
          <p:cNvSpPr/>
          <p:nvPr/>
        </p:nvSpPr>
        <p:spPr>
          <a:xfrm>
            <a:off x="749763" y="4936078"/>
            <a:ext cx="21146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WMP_CTA_JOB_CRE_MVRP_DYNAMIC</a:t>
            </a:r>
            <a:endParaRPr lang="ko-KR" altLang="en-US" sz="900" dirty="0">
              <a:solidFill>
                <a:srgbClr val="808000"/>
              </a:solidFill>
              <a:highlight>
                <a:srgbClr val="FFFFFF"/>
              </a:highlight>
              <a:latin typeface="Courier"/>
            </a:endParaRPr>
          </a:p>
        </p:txBody>
      </p:sp>
      <p:cxnSp>
        <p:nvCxnSpPr>
          <p:cNvPr id="76" name="꺾인 연결선 163">
            <a:extLst>
              <a:ext uri="{FF2B5EF4-FFF2-40B4-BE49-F238E27FC236}">
                <a16:creationId xmlns:a16="http://schemas.microsoft.com/office/drawing/2014/main" xmlns="" id="{5330AFA4-E302-436D-A02A-C69424542185}"/>
              </a:ext>
            </a:extLst>
          </p:cNvPr>
          <p:cNvCxnSpPr>
            <a:stCxn id="63" idx="1"/>
            <a:endCxn id="60" idx="1"/>
          </p:cNvCxnSpPr>
          <p:nvPr/>
        </p:nvCxnSpPr>
        <p:spPr bwMode="auto">
          <a:xfrm rot="10800000">
            <a:off x="970564" y="3929324"/>
            <a:ext cx="12700" cy="822699"/>
          </a:xfrm>
          <a:prstGeom prst="bentConnector3">
            <a:avLst>
              <a:gd name="adj1" fmla="val 180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7" name="모서리가 둥근 직사각형 166">
            <a:extLst>
              <a:ext uri="{FF2B5EF4-FFF2-40B4-BE49-F238E27FC236}">
                <a16:creationId xmlns:a16="http://schemas.microsoft.com/office/drawing/2014/main" xmlns="" id="{5B342A51-27B4-45F8-8007-7BA859BD65E7}"/>
              </a:ext>
            </a:extLst>
          </p:cNvPr>
          <p:cNvSpPr/>
          <p:nvPr/>
        </p:nvSpPr>
        <p:spPr bwMode="auto">
          <a:xfrm>
            <a:off x="970564" y="5397504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작업지시 생성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78" name="모서리가 둥근 직사각형 170">
            <a:extLst>
              <a:ext uri="{FF2B5EF4-FFF2-40B4-BE49-F238E27FC236}">
                <a16:creationId xmlns:a16="http://schemas.microsoft.com/office/drawing/2014/main" xmlns="" id="{DDAC2748-6F12-449F-AAE5-30BDF1F32E71}"/>
              </a:ext>
            </a:extLst>
          </p:cNvPr>
          <p:cNvSpPr/>
          <p:nvPr/>
        </p:nvSpPr>
        <p:spPr bwMode="auto">
          <a:xfrm>
            <a:off x="3915234" y="5397504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작업단위분할</a:t>
            </a:r>
            <a:endParaRPr kumimoji="1" lang="en-US" altLang="ko-K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latin typeface="Arial" charset="0"/>
                <a:ea typeface="돋움" pitchFamily="50" charset="-127"/>
              </a:rPr>
              <a:t>WORK UNIT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분할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xmlns="" id="{AF7FD9B5-83B8-4423-A69E-F0AAB95AB2F7}"/>
              </a:ext>
            </a:extLst>
          </p:cNvPr>
          <p:cNvCxnSpPr>
            <a:stCxn id="52" idx="2"/>
            <a:endCxn id="69" idx="0"/>
          </p:cNvCxnSpPr>
          <p:nvPr/>
        </p:nvCxnSpPr>
        <p:spPr bwMode="auto">
          <a:xfrm>
            <a:off x="4571618" y="1836439"/>
            <a:ext cx="0" cy="191705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81" name="꺾인 연결선 177">
            <a:extLst>
              <a:ext uri="{FF2B5EF4-FFF2-40B4-BE49-F238E27FC236}">
                <a16:creationId xmlns:a16="http://schemas.microsoft.com/office/drawing/2014/main" xmlns="" id="{185BC151-0A30-44ED-B2D9-0163006A467C}"/>
              </a:ext>
            </a:extLst>
          </p:cNvPr>
          <p:cNvCxnSpPr>
            <a:stCxn id="69" idx="2"/>
            <a:endCxn id="63" idx="3"/>
          </p:cNvCxnSpPr>
          <p:nvPr/>
        </p:nvCxnSpPr>
        <p:spPr bwMode="auto">
          <a:xfrm rot="5400000">
            <a:off x="3110389" y="3290793"/>
            <a:ext cx="646872" cy="227558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42B05AB5-5A64-40D7-9E30-4AD24E53997A}"/>
              </a:ext>
            </a:extLst>
          </p:cNvPr>
          <p:cNvSpPr txBox="1"/>
          <p:nvPr/>
        </p:nvSpPr>
        <p:spPr>
          <a:xfrm>
            <a:off x="1049595" y="4445870"/>
            <a:ext cx="445956" cy="2308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LOOP</a:t>
            </a:r>
            <a:endParaRPr lang="ko-KR" altLang="en-US" sz="9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xmlns="" id="{FA636A31-630A-4DB9-9958-E64A6E7C5893}"/>
              </a:ext>
            </a:extLst>
          </p:cNvPr>
          <p:cNvSpPr/>
          <p:nvPr/>
        </p:nvSpPr>
        <p:spPr>
          <a:xfrm>
            <a:off x="3859958" y="5754452"/>
            <a:ext cx="17011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WMP_COB_WK_SPLIT_CHUTE</a:t>
            </a:r>
            <a:endParaRPr lang="ko-KR" altLang="en-US" sz="900" dirty="0"/>
          </a:p>
        </p:txBody>
      </p:sp>
      <p:sp>
        <p:nvSpPr>
          <p:cNvPr id="84" name="모서리가 둥근 직사각형 188">
            <a:extLst>
              <a:ext uri="{FF2B5EF4-FFF2-40B4-BE49-F238E27FC236}">
                <a16:creationId xmlns:a16="http://schemas.microsoft.com/office/drawing/2014/main" xmlns="" id="{3BAF7FB2-76F8-4B63-AD08-57542C3AC5E8}"/>
              </a:ext>
            </a:extLst>
          </p:cNvPr>
          <p:cNvSpPr/>
          <p:nvPr/>
        </p:nvSpPr>
        <p:spPr bwMode="auto">
          <a:xfrm>
            <a:off x="7451856" y="3753495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작업 전략 적용</a:t>
            </a:r>
          </a:p>
        </p:txBody>
      </p:sp>
      <p:sp>
        <p:nvSpPr>
          <p:cNvPr id="86" name="모서리가 둥근 직사각형 189">
            <a:extLst>
              <a:ext uri="{FF2B5EF4-FFF2-40B4-BE49-F238E27FC236}">
                <a16:creationId xmlns:a16="http://schemas.microsoft.com/office/drawing/2014/main" xmlns="" id="{6B01AADB-7FC5-41B6-8DF8-EE69CDE3AD69}"/>
              </a:ext>
            </a:extLst>
          </p:cNvPr>
          <p:cNvSpPr/>
          <p:nvPr/>
        </p:nvSpPr>
        <p:spPr bwMode="auto">
          <a:xfrm>
            <a:off x="7451856" y="1491495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작업 전략 </a:t>
            </a:r>
            <a:endParaRPr kumimoji="1" lang="en-US" altLang="ko-K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조건 설정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xmlns="" id="{4A322AD9-1DA0-4444-8B18-3C1FA29DB4F5}"/>
              </a:ext>
            </a:extLst>
          </p:cNvPr>
          <p:cNvSpPr/>
          <p:nvPr/>
        </p:nvSpPr>
        <p:spPr>
          <a:xfrm>
            <a:off x="7377530" y="4112121"/>
            <a:ext cx="17011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WMP_COB_WK_CREATE_WORK</a:t>
            </a:r>
            <a:endParaRPr lang="ko-KR" altLang="en-US" sz="900" dirty="0">
              <a:solidFill>
                <a:srgbClr val="808000"/>
              </a:solidFill>
              <a:highlight>
                <a:srgbClr val="FFFFFF"/>
              </a:highlight>
              <a:latin typeface="Courier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xmlns="" id="{6827A093-A8BB-45A5-8A4A-411019E3271D}"/>
              </a:ext>
            </a:extLst>
          </p:cNvPr>
          <p:cNvCxnSpPr>
            <a:stCxn id="86" idx="2"/>
            <a:endCxn id="84" idx="0"/>
          </p:cNvCxnSpPr>
          <p:nvPr/>
        </p:nvCxnSpPr>
        <p:spPr bwMode="auto">
          <a:xfrm>
            <a:off x="8114590" y="1843150"/>
            <a:ext cx="0" cy="191034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89" name="꺾인 연결선 194">
            <a:extLst>
              <a:ext uri="{FF2B5EF4-FFF2-40B4-BE49-F238E27FC236}">
                <a16:creationId xmlns:a16="http://schemas.microsoft.com/office/drawing/2014/main" xmlns="" id="{9548DB32-3100-4382-8014-44C11B3399AA}"/>
              </a:ext>
            </a:extLst>
          </p:cNvPr>
          <p:cNvCxnSpPr>
            <a:stCxn id="84" idx="2"/>
            <a:endCxn id="77" idx="0"/>
          </p:cNvCxnSpPr>
          <p:nvPr/>
        </p:nvCxnSpPr>
        <p:spPr bwMode="auto">
          <a:xfrm rot="5400000">
            <a:off x="4227767" y="1510681"/>
            <a:ext cx="1292354" cy="6481292"/>
          </a:xfrm>
          <a:prstGeom prst="bentConnector3">
            <a:avLst>
              <a:gd name="adj1" fmla="val 77516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8240799B-0485-4218-9457-BD186DE986C0}"/>
              </a:ext>
            </a:extLst>
          </p:cNvPr>
          <p:cNvSpPr txBox="1"/>
          <p:nvPr/>
        </p:nvSpPr>
        <p:spPr>
          <a:xfrm>
            <a:off x="5234351" y="512118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/>
              <a:t>INSERT</a:t>
            </a:r>
          </a:p>
          <a:p>
            <a:r>
              <a:rPr lang="en-US" altLang="ko-KR" sz="900" dirty="0"/>
              <a:t>WMT_COB_WK_INST</a:t>
            </a:r>
          </a:p>
          <a:p>
            <a:r>
              <a:rPr lang="en-US" altLang="ko-KR" sz="900" dirty="0"/>
              <a:t>INSERT </a:t>
            </a:r>
          </a:p>
          <a:p>
            <a:r>
              <a:rPr lang="en-US" altLang="ko-KR" sz="900" dirty="0"/>
              <a:t>WMT_COB_WK_WORK_UNIT</a:t>
            </a:r>
            <a:endParaRPr lang="ko-KR" altLang="en-US" sz="900" dirty="0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xmlns="" id="{9B38DB4C-B13F-4B0C-928A-BF4F83A0ECD3}"/>
              </a:ext>
            </a:extLst>
          </p:cNvPr>
          <p:cNvCxnSpPr>
            <a:stCxn id="63" idx="2"/>
            <a:endCxn id="77" idx="0"/>
          </p:cNvCxnSpPr>
          <p:nvPr/>
        </p:nvCxnSpPr>
        <p:spPr bwMode="auto">
          <a:xfrm>
            <a:off x="1633298" y="4927849"/>
            <a:ext cx="0" cy="46965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xmlns="" id="{9897A390-C902-4C9A-A5F6-C706C78E200E}"/>
              </a:ext>
            </a:extLst>
          </p:cNvPr>
          <p:cNvCxnSpPr>
            <a:stCxn id="77" idx="3"/>
            <a:endCxn id="78" idx="1"/>
          </p:cNvCxnSpPr>
          <p:nvPr/>
        </p:nvCxnSpPr>
        <p:spPr bwMode="auto">
          <a:xfrm>
            <a:off x="2296031" y="5573332"/>
            <a:ext cx="1619203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D16B6671-F88C-494C-B03E-84B3FDB9C122}"/>
              </a:ext>
            </a:extLst>
          </p:cNvPr>
          <p:cNvSpPr txBox="1"/>
          <p:nvPr/>
        </p:nvSpPr>
        <p:spPr>
          <a:xfrm>
            <a:off x="2460996" y="3758943"/>
            <a:ext cx="96693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/>
              <a:t>INSERT</a:t>
            </a:r>
          </a:p>
          <a:p>
            <a:r>
              <a:rPr lang="en-US" altLang="ko-KR" sz="900" dirty="0"/>
              <a:t>WMT_COB_PICK</a:t>
            </a:r>
          </a:p>
          <a:p>
            <a:r>
              <a:rPr lang="en-US" altLang="ko-KR" sz="900" dirty="0"/>
              <a:t>WMT_CTA_JOB</a:t>
            </a:r>
            <a:endParaRPr lang="ko-KR" altLang="en-US" sz="900" dirty="0"/>
          </a:p>
        </p:txBody>
      </p:sp>
      <p:sp>
        <p:nvSpPr>
          <p:cNvPr id="94" name="모서리가 둥근 직사각형 211">
            <a:extLst>
              <a:ext uri="{FF2B5EF4-FFF2-40B4-BE49-F238E27FC236}">
                <a16:creationId xmlns:a16="http://schemas.microsoft.com/office/drawing/2014/main" xmlns="" id="{6A72B64B-5E6C-45B7-9155-DF44CDC5F308}"/>
              </a:ext>
            </a:extLst>
          </p:cNvPr>
          <p:cNvSpPr/>
          <p:nvPr/>
        </p:nvSpPr>
        <p:spPr bwMode="auto">
          <a:xfrm>
            <a:off x="7451856" y="5397504"/>
            <a:ext cx="1325467" cy="3516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작업지시완료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xmlns="" id="{CC0304AF-4793-48B2-A34B-12327708D345}"/>
              </a:ext>
            </a:extLst>
          </p:cNvPr>
          <p:cNvCxnSpPr>
            <a:stCxn id="78" idx="3"/>
            <a:endCxn id="94" idx="1"/>
          </p:cNvCxnSpPr>
          <p:nvPr/>
        </p:nvCxnSpPr>
        <p:spPr bwMode="auto">
          <a:xfrm>
            <a:off x="5240701" y="5573332"/>
            <a:ext cx="2211155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33768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3081" y="545526"/>
            <a:ext cx="3475943" cy="402291"/>
          </a:xfrm>
        </p:spPr>
        <p:txBody>
          <a:bodyPr/>
          <a:lstStyle/>
          <a:p>
            <a:r>
              <a:rPr lang="ko-KR" altLang="en-US" sz="2800" b="1" dirty="0"/>
              <a:t>웨이브 프로세스</a:t>
            </a:r>
          </a:p>
        </p:txBody>
      </p:sp>
      <p:sp>
        <p:nvSpPr>
          <p:cNvPr id="4" name="모서리가 둥근 직사각형 105">
            <a:extLst>
              <a:ext uri="{FF2B5EF4-FFF2-40B4-BE49-F238E27FC236}">
                <a16:creationId xmlns:a16="http://schemas.microsoft.com/office/drawing/2014/main" xmlns="" id="{805DA57B-03D5-44EE-8DF8-3BD124E037B2}"/>
              </a:ext>
            </a:extLst>
          </p:cNvPr>
          <p:cNvSpPr/>
          <p:nvPr/>
        </p:nvSpPr>
        <p:spPr bwMode="auto">
          <a:xfrm>
            <a:off x="3654428" y="1729907"/>
            <a:ext cx="1682471" cy="28483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WMP_COB_WAVE_CRE_HR</a:t>
            </a:r>
            <a:endParaRPr kumimoji="1" lang="en-US" altLang="ko-K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1" name="모서리가 둥근 직사각형 143">
            <a:extLst>
              <a:ext uri="{FF2B5EF4-FFF2-40B4-BE49-F238E27FC236}">
                <a16:creationId xmlns:a16="http://schemas.microsoft.com/office/drawing/2014/main" xmlns="" id="{038F9302-17E0-4B97-A983-6BEC8040CE91}"/>
              </a:ext>
            </a:extLst>
          </p:cNvPr>
          <p:cNvSpPr/>
          <p:nvPr/>
        </p:nvSpPr>
        <p:spPr bwMode="auto">
          <a:xfrm>
            <a:off x="1820652" y="1223272"/>
            <a:ext cx="2675013" cy="380829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b="1" dirty="0">
                <a:latin typeface="Arial" charset="0"/>
                <a:ea typeface="돋움" pitchFamily="50" charset="-127"/>
              </a:rPr>
              <a:t>작업기준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(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웨이브 프로세스 유형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) – WAVE_TCD</a:t>
            </a:r>
          </a:p>
          <a:p>
            <a:pPr algn="ctr" eaLnBrk="1" latinLnBrk="1" hangingPunct="1"/>
            <a:r>
              <a:rPr lang="ko-KR" altLang="en-US" sz="900" b="1" dirty="0">
                <a:latin typeface="Arial" charset="0"/>
                <a:ea typeface="돋움" pitchFamily="50" charset="-127"/>
              </a:rPr>
              <a:t>웨이브 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 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기준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(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조건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)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00" name="모서리가 둥근 직사각형 125">
            <a:extLst>
              <a:ext uri="{FF2B5EF4-FFF2-40B4-BE49-F238E27FC236}">
                <a16:creationId xmlns:a16="http://schemas.microsoft.com/office/drawing/2014/main" xmlns="" id="{D3E2CF3C-FB24-4049-B36C-66E3A19FD2A7}"/>
              </a:ext>
            </a:extLst>
          </p:cNvPr>
          <p:cNvSpPr/>
          <p:nvPr/>
        </p:nvSpPr>
        <p:spPr bwMode="auto">
          <a:xfrm>
            <a:off x="962038" y="3257785"/>
            <a:ext cx="1266512" cy="2952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  <a:ea typeface="돋움" pitchFamily="50" charset="-127"/>
              </a:rPr>
              <a:t>WMP_CSR_AL_OL</a:t>
            </a:r>
          </a:p>
        </p:txBody>
      </p:sp>
      <p:sp>
        <p:nvSpPr>
          <p:cNvPr id="210" name="모서리가 둥근 직사각형 130">
            <a:extLst>
              <a:ext uri="{FF2B5EF4-FFF2-40B4-BE49-F238E27FC236}">
                <a16:creationId xmlns:a16="http://schemas.microsoft.com/office/drawing/2014/main" xmlns="" id="{9EF40022-667B-425E-B29A-2156DA4CD3B0}"/>
              </a:ext>
            </a:extLst>
          </p:cNvPr>
          <p:cNvSpPr/>
          <p:nvPr/>
        </p:nvSpPr>
        <p:spPr bwMode="auto">
          <a:xfrm>
            <a:off x="5195300" y="4210204"/>
            <a:ext cx="2355873" cy="29323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WMP_CTA_JOB_CRE_MVRP_DYNAMIC</a:t>
            </a:r>
            <a:endParaRPr kumimoji="1" lang="ko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xmlns="" id="{43EE41CB-68E0-4022-8EF0-AEF999C22C96}"/>
              </a:ext>
            </a:extLst>
          </p:cNvPr>
          <p:cNvSpPr txBox="1"/>
          <p:nvPr/>
        </p:nvSpPr>
        <p:spPr>
          <a:xfrm>
            <a:off x="7703724" y="1140888"/>
            <a:ext cx="1653878" cy="5078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900" b="1" dirty="0">
                <a:latin typeface="Arial" charset="0"/>
                <a:ea typeface="돋움" pitchFamily="50" charset="-127"/>
              </a:rPr>
              <a:t>OTP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 </a:t>
            </a:r>
            <a:r>
              <a:rPr lang="en-US" altLang="ko-KR" sz="900" b="1" dirty="0">
                <a:latin typeface="Arial" charset="0"/>
                <a:ea typeface="돋움" pitchFamily="50" charset="-127"/>
              </a:rPr>
              <a:t>WAVE</a:t>
            </a:r>
            <a:r>
              <a:rPr lang="ko-KR" altLang="en-US" sz="900" b="1" dirty="0">
                <a:latin typeface="Arial" charset="0"/>
                <a:ea typeface="돋움" pitchFamily="50" charset="-127"/>
              </a:rPr>
              <a:t> 판별</a:t>
            </a:r>
            <a:endParaRPr lang="en-US" altLang="ko-KR" sz="900" b="1" dirty="0">
              <a:latin typeface="Arial" charset="0"/>
              <a:ea typeface="돋움" pitchFamily="50" charset="-127"/>
            </a:endParaRPr>
          </a:p>
          <a:p>
            <a:pPr algn="ctr" eaLnBrk="1" latinLnBrk="1" hangingPunct="1"/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작업 전략 조건</a:t>
            </a:r>
            <a:r>
              <a:rPr kumimoji="1" lang="en-US" altLang="ko-K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(</a:t>
            </a:r>
            <a:r>
              <a:rPr kumimoji="1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작업분류</a:t>
            </a:r>
            <a:r>
              <a:rPr kumimoji="1" lang="en-US" altLang="ko-K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2:OTP)</a:t>
            </a:r>
            <a:endParaRPr lang="en-US" altLang="ko-KR" sz="900" b="1" dirty="0">
              <a:latin typeface="Arial" charset="0"/>
              <a:ea typeface="돋움" pitchFamily="50" charset="-127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xmlns="" id="{498F39D5-9429-4849-BAA9-05824FF5F55D}"/>
              </a:ext>
            </a:extLst>
          </p:cNvPr>
          <p:cNvSpPr txBox="1"/>
          <p:nvPr/>
        </p:nvSpPr>
        <p:spPr>
          <a:xfrm>
            <a:off x="5601674" y="6014652"/>
            <a:ext cx="16824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/>
              <a:t>WMT_COB_WK_INST</a:t>
            </a:r>
          </a:p>
          <a:p>
            <a:r>
              <a:rPr lang="en-US" altLang="ko-KR" sz="900" dirty="0"/>
              <a:t>WMT_COB_WK_WORK_UNIT</a:t>
            </a:r>
            <a:endParaRPr lang="ko-KR" altLang="en-US" sz="900" dirty="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xmlns="" id="{13D00B49-444F-454A-B84C-A4E3075FFDAA}"/>
              </a:ext>
            </a:extLst>
          </p:cNvPr>
          <p:cNvSpPr txBox="1"/>
          <p:nvPr/>
        </p:nvSpPr>
        <p:spPr>
          <a:xfrm>
            <a:off x="3645330" y="2030302"/>
            <a:ext cx="16824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/>
              <a:t>WMT_COB_WAVE_HR</a:t>
            </a:r>
          </a:p>
          <a:p>
            <a:r>
              <a:rPr lang="en-US" altLang="ko-KR" sz="900" dirty="0"/>
              <a:t>WMT_COB_WAVE_DR</a:t>
            </a:r>
            <a:endParaRPr lang="ko-KR" altLang="en-US" sz="900" dirty="0"/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xmlns="" id="{E574EF0D-775B-4446-A2EF-451EB872B9DE}"/>
              </a:ext>
            </a:extLst>
          </p:cNvPr>
          <p:cNvSpPr/>
          <p:nvPr/>
        </p:nvSpPr>
        <p:spPr bwMode="auto">
          <a:xfrm>
            <a:off x="2626317" y="1733333"/>
            <a:ext cx="1021756" cy="30747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WAVE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생성</a:t>
            </a: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xmlns="" id="{BEB50141-DA7D-4381-958C-DAF1C596391C}"/>
              </a:ext>
            </a:extLst>
          </p:cNvPr>
          <p:cNvSpPr/>
          <p:nvPr/>
        </p:nvSpPr>
        <p:spPr bwMode="auto">
          <a:xfrm>
            <a:off x="2629440" y="2505345"/>
            <a:ext cx="1016269" cy="3074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WAVE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실행</a:t>
            </a:r>
          </a:p>
        </p:txBody>
      </p:sp>
      <p:sp>
        <p:nvSpPr>
          <p:cNvPr id="300" name="모서리가 둥근 직사각형 105">
            <a:extLst>
              <a:ext uri="{FF2B5EF4-FFF2-40B4-BE49-F238E27FC236}">
                <a16:creationId xmlns:a16="http://schemas.microsoft.com/office/drawing/2014/main" xmlns="" id="{6CC1E117-485D-497B-A9CE-8756177B9E2E}"/>
              </a:ext>
            </a:extLst>
          </p:cNvPr>
          <p:cNvSpPr/>
          <p:nvPr/>
        </p:nvSpPr>
        <p:spPr bwMode="auto">
          <a:xfrm>
            <a:off x="3654427" y="2517873"/>
            <a:ext cx="1682471" cy="28483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WMP_COB_WAVE_ALLOC</a:t>
            </a:r>
            <a:endParaRPr kumimoji="1" lang="en-US" altLang="ko-K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16" name="순서도: 저장 데이터 315">
            <a:extLst>
              <a:ext uri="{FF2B5EF4-FFF2-40B4-BE49-F238E27FC236}">
                <a16:creationId xmlns:a16="http://schemas.microsoft.com/office/drawing/2014/main" xmlns="" id="{2855EFFB-E069-4285-B37B-0209525EF88C}"/>
              </a:ext>
            </a:extLst>
          </p:cNvPr>
          <p:cNvSpPr/>
          <p:nvPr/>
        </p:nvSpPr>
        <p:spPr bwMode="auto">
          <a:xfrm>
            <a:off x="2491471" y="4000360"/>
            <a:ext cx="1278294" cy="307471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할당</a:t>
            </a: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작업생성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sp>
        <p:nvSpPr>
          <p:cNvPr id="328" name="순서도: 판단 327">
            <a:extLst>
              <a:ext uri="{FF2B5EF4-FFF2-40B4-BE49-F238E27FC236}">
                <a16:creationId xmlns:a16="http://schemas.microsoft.com/office/drawing/2014/main" xmlns="" id="{FB7ED291-9686-4A3A-B1B6-717FD993E0BA}"/>
              </a:ext>
            </a:extLst>
          </p:cNvPr>
          <p:cNvSpPr/>
          <p:nvPr/>
        </p:nvSpPr>
        <p:spPr bwMode="auto">
          <a:xfrm>
            <a:off x="2237279" y="3157748"/>
            <a:ext cx="1799832" cy="542504"/>
          </a:xfrm>
          <a:prstGeom prst="flowChartDecision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할당전략 조건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할당전락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sp>
        <p:nvSpPr>
          <p:cNvPr id="329" name="모서리가 둥근 직사각형 105">
            <a:extLst>
              <a:ext uri="{FF2B5EF4-FFF2-40B4-BE49-F238E27FC236}">
                <a16:creationId xmlns:a16="http://schemas.microsoft.com/office/drawing/2014/main" xmlns="" id="{2150300F-8039-4E5C-8F10-748FADE4C95B}"/>
              </a:ext>
            </a:extLst>
          </p:cNvPr>
          <p:cNvSpPr/>
          <p:nvPr/>
        </p:nvSpPr>
        <p:spPr bwMode="auto">
          <a:xfrm>
            <a:off x="659562" y="4009626"/>
            <a:ext cx="1838314" cy="2952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WMP_COB_ALLOC_BY_ORDER</a:t>
            </a:r>
          </a:p>
        </p:txBody>
      </p:sp>
      <p:sp>
        <p:nvSpPr>
          <p:cNvPr id="336" name="순서도: 저장 데이터 335">
            <a:extLst>
              <a:ext uri="{FF2B5EF4-FFF2-40B4-BE49-F238E27FC236}">
                <a16:creationId xmlns:a16="http://schemas.microsoft.com/office/drawing/2014/main" xmlns="" id="{E1FC7604-DF0F-4674-8D8D-633F07FA57C9}"/>
              </a:ext>
            </a:extLst>
          </p:cNvPr>
          <p:cNvSpPr/>
          <p:nvPr/>
        </p:nvSpPr>
        <p:spPr bwMode="auto">
          <a:xfrm>
            <a:off x="7920096" y="3830211"/>
            <a:ext cx="1278294" cy="366782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보충작업생성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sp>
        <p:nvSpPr>
          <p:cNvPr id="343" name="순서도: 판단 342">
            <a:extLst>
              <a:ext uri="{FF2B5EF4-FFF2-40B4-BE49-F238E27FC236}">
                <a16:creationId xmlns:a16="http://schemas.microsoft.com/office/drawing/2014/main" xmlns="" id="{98DF53B2-1011-4FC4-88DE-A398FAAB290E}"/>
              </a:ext>
            </a:extLst>
          </p:cNvPr>
          <p:cNvSpPr/>
          <p:nvPr/>
        </p:nvSpPr>
        <p:spPr bwMode="auto">
          <a:xfrm>
            <a:off x="5601674" y="3809048"/>
            <a:ext cx="1585310" cy="401156"/>
          </a:xfrm>
          <a:prstGeom prst="flowChartDecision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보충전략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sp>
        <p:nvSpPr>
          <p:cNvPr id="350" name="모서리가 둥근 직사각형 125">
            <a:extLst>
              <a:ext uri="{FF2B5EF4-FFF2-40B4-BE49-F238E27FC236}">
                <a16:creationId xmlns:a16="http://schemas.microsoft.com/office/drawing/2014/main" xmlns="" id="{0E15BCFD-BD0C-46B6-B344-ECB8E2155A20}"/>
              </a:ext>
            </a:extLst>
          </p:cNvPr>
          <p:cNvSpPr/>
          <p:nvPr/>
        </p:nvSpPr>
        <p:spPr bwMode="auto">
          <a:xfrm>
            <a:off x="7718007" y="3572223"/>
            <a:ext cx="1682471" cy="2450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  <a:ea typeface="돋움" pitchFamily="50" charset="-127"/>
              </a:rPr>
              <a:t>WMP_CTA_JOB_CRE_MVRP</a:t>
            </a:r>
            <a:endParaRPr kumimoji="1" lang="en-US" altLang="ko-K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53" name="순서도: 저장 데이터 352">
            <a:extLst>
              <a:ext uri="{FF2B5EF4-FFF2-40B4-BE49-F238E27FC236}">
                <a16:creationId xmlns:a16="http://schemas.microsoft.com/office/drawing/2014/main" xmlns="" id="{595854C8-27C6-45B6-83A9-17AA5345AC5A}"/>
              </a:ext>
            </a:extLst>
          </p:cNvPr>
          <p:cNvSpPr/>
          <p:nvPr/>
        </p:nvSpPr>
        <p:spPr bwMode="auto">
          <a:xfrm>
            <a:off x="2491470" y="6115714"/>
            <a:ext cx="1278294" cy="366782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작업지시생성</a:t>
            </a:r>
          </a:p>
        </p:txBody>
      </p:sp>
      <p:sp>
        <p:nvSpPr>
          <p:cNvPr id="354" name="순서도: 판단 353">
            <a:extLst>
              <a:ext uri="{FF2B5EF4-FFF2-40B4-BE49-F238E27FC236}">
                <a16:creationId xmlns:a16="http://schemas.microsoft.com/office/drawing/2014/main" xmlns="" id="{16D4D011-B491-476E-A895-DEB347262994}"/>
              </a:ext>
            </a:extLst>
          </p:cNvPr>
          <p:cNvSpPr/>
          <p:nvPr/>
        </p:nvSpPr>
        <p:spPr bwMode="auto">
          <a:xfrm>
            <a:off x="2289382" y="5339621"/>
            <a:ext cx="1682471" cy="515386"/>
          </a:xfrm>
          <a:prstGeom prst="flowChartDecision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작업전략 조건</a:t>
            </a:r>
            <a:endParaRPr kumimoji="0" lang="en-US" altLang="ko-KR" sz="900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작업전략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sp>
        <p:nvSpPr>
          <p:cNvPr id="355" name="모서리가 둥근 직사각형 125">
            <a:extLst>
              <a:ext uri="{FF2B5EF4-FFF2-40B4-BE49-F238E27FC236}">
                <a16:creationId xmlns:a16="http://schemas.microsoft.com/office/drawing/2014/main" xmlns="" id="{BC72AFE3-538B-4ECB-926C-E3BA03BDE7E3}"/>
              </a:ext>
            </a:extLst>
          </p:cNvPr>
          <p:cNvSpPr/>
          <p:nvPr/>
        </p:nvSpPr>
        <p:spPr bwMode="auto">
          <a:xfrm>
            <a:off x="565150" y="5458661"/>
            <a:ext cx="1682471" cy="2952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  <a:ea typeface="돋움" pitchFamily="50" charset="-127"/>
              </a:rPr>
              <a:t>WMP_COB_WK_CREATE_INST</a:t>
            </a:r>
            <a:endParaRPr kumimoji="1" lang="en-US" altLang="ko-KR" sz="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358" name="모서리가 둥근 직사각형 130">
            <a:extLst>
              <a:ext uri="{FF2B5EF4-FFF2-40B4-BE49-F238E27FC236}">
                <a16:creationId xmlns:a16="http://schemas.microsoft.com/office/drawing/2014/main" xmlns="" id="{CDACFC01-B7E9-4642-A228-C02B054AD216}"/>
              </a:ext>
            </a:extLst>
          </p:cNvPr>
          <p:cNvSpPr/>
          <p:nvPr/>
        </p:nvSpPr>
        <p:spPr bwMode="auto">
          <a:xfrm>
            <a:off x="636721" y="6147176"/>
            <a:ext cx="1833824" cy="29323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</a:rPr>
              <a:t>WMP_COB_WK_CREATE_WORK</a:t>
            </a:r>
            <a:endParaRPr kumimoji="1" lang="en-US" altLang="ko-KR" sz="900" b="1" i="0" u="none" strike="noStrike" cap="none" normalizeH="0" baseline="0" dirty="0">
              <a:ln>
                <a:noFill/>
              </a:ln>
              <a:solidFill>
                <a:srgbClr val="808000"/>
              </a:solidFill>
              <a:effectLst/>
              <a:highlight>
                <a:srgbClr val="FFFFFF"/>
              </a:highlight>
              <a:latin typeface="Courier"/>
              <a:ea typeface="돋움" pitchFamily="50" charset="-127"/>
            </a:endParaRPr>
          </a:p>
        </p:txBody>
      </p:sp>
      <p:sp>
        <p:nvSpPr>
          <p:cNvPr id="372" name="순서도: 판단 371">
            <a:extLst>
              <a:ext uri="{FF2B5EF4-FFF2-40B4-BE49-F238E27FC236}">
                <a16:creationId xmlns:a16="http://schemas.microsoft.com/office/drawing/2014/main" xmlns="" id="{763A5119-4E9F-4877-81C8-EE5A6BEEDD11}"/>
              </a:ext>
            </a:extLst>
          </p:cNvPr>
          <p:cNvSpPr/>
          <p:nvPr/>
        </p:nvSpPr>
        <p:spPr bwMode="auto">
          <a:xfrm>
            <a:off x="627062" y="1672670"/>
            <a:ext cx="1455501" cy="429244"/>
          </a:xfrm>
          <a:prstGeom prst="flowChartDecision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웨이브 기준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xmlns="" id="{F3D28606-15C3-4AF6-BAEB-C9A75C4F3099}"/>
              </a:ext>
            </a:extLst>
          </p:cNvPr>
          <p:cNvCxnSpPr>
            <a:cxnSpLocks/>
            <a:stCxn id="372" idx="3"/>
            <a:endCxn id="296" idx="1"/>
          </p:cNvCxnSpPr>
          <p:nvPr/>
        </p:nvCxnSpPr>
        <p:spPr bwMode="auto">
          <a:xfrm flipV="1">
            <a:off x="2082563" y="1887069"/>
            <a:ext cx="543754" cy="223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xmlns="" id="{B85D95CB-07CE-4075-B8D6-8050AD7DBF0D}"/>
              </a:ext>
            </a:extLst>
          </p:cNvPr>
          <p:cNvCxnSpPr>
            <a:cxnSpLocks/>
            <a:stCxn id="296" idx="2"/>
            <a:endCxn id="299" idx="0"/>
          </p:cNvCxnSpPr>
          <p:nvPr/>
        </p:nvCxnSpPr>
        <p:spPr bwMode="auto">
          <a:xfrm>
            <a:off x="3137195" y="2040804"/>
            <a:ext cx="380" cy="46454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E4180E72-8468-42B1-8A42-415FDA4C3018}"/>
              </a:ext>
            </a:extLst>
          </p:cNvPr>
          <p:cNvSpPr txBox="1"/>
          <p:nvPr/>
        </p:nvSpPr>
        <p:spPr>
          <a:xfrm>
            <a:off x="1031995" y="2885451"/>
            <a:ext cx="10309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/>
              <a:t>WMT_CTA_JOB</a:t>
            </a:r>
          </a:p>
          <a:p>
            <a:r>
              <a:rPr lang="en-US" altLang="ko-KR" sz="900" dirty="0">
                <a:solidFill>
                  <a:srgbClr val="000000"/>
                </a:solidFill>
                <a:effectLst/>
                <a:latin typeface="+mn-ea"/>
              </a:rPr>
              <a:t>WMT_COB_PICK</a:t>
            </a:r>
            <a:endParaRPr lang="ko-KR" altLang="en-US" sz="900" dirty="0"/>
          </a:p>
        </p:txBody>
      </p:sp>
      <p:sp>
        <p:nvSpPr>
          <p:cNvPr id="163" name="순서도: 판단 162">
            <a:extLst>
              <a:ext uri="{FF2B5EF4-FFF2-40B4-BE49-F238E27FC236}">
                <a16:creationId xmlns:a16="http://schemas.microsoft.com/office/drawing/2014/main" xmlns="" id="{830F631E-F515-47D9-B928-673ABCD66281}"/>
              </a:ext>
            </a:extLst>
          </p:cNvPr>
          <p:cNvSpPr/>
          <p:nvPr/>
        </p:nvSpPr>
        <p:spPr bwMode="auto">
          <a:xfrm>
            <a:off x="2343715" y="4596893"/>
            <a:ext cx="1585310" cy="543071"/>
          </a:xfrm>
          <a:prstGeom prst="flowChartDecision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웨이브 보충전략 여부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xmlns="" id="{D8981C1B-64F5-444F-8DDE-2420E82DB502}"/>
              </a:ext>
            </a:extLst>
          </p:cNvPr>
          <p:cNvSpPr/>
          <p:nvPr/>
        </p:nvSpPr>
        <p:spPr bwMode="auto">
          <a:xfrm>
            <a:off x="7718006" y="4597219"/>
            <a:ext cx="1682471" cy="4374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보충작업 확정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/>
                <a:cs typeface="Arial"/>
              </a:rPr>
              <a:t>(WEB, PDA)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xmlns="" id="{1CFC2EE7-7096-456C-81A3-1E093E9974D4}"/>
              </a:ext>
            </a:extLst>
          </p:cNvPr>
          <p:cNvCxnSpPr>
            <a:cxnSpLocks/>
            <a:stCxn id="336" idx="2"/>
            <a:endCxn id="180" idx="0"/>
          </p:cNvCxnSpPr>
          <p:nvPr/>
        </p:nvCxnSpPr>
        <p:spPr bwMode="auto">
          <a:xfrm flipH="1">
            <a:off x="8559242" y="4196993"/>
            <a:ext cx="1" cy="40022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xmlns="" id="{C0E9FD3D-9332-484C-80F2-96973467A441}"/>
              </a:ext>
            </a:extLst>
          </p:cNvPr>
          <p:cNvCxnSpPr>
            <a:cxnSpLocks/>
            <a:stCxn id="316" idx="2"/>
            <a:endCxn id="163" idx="0"/>
          </p:cNvCxnSpPr>
          <p:nvPr/>
        </p:nvCxnSpPr>
        <p:spPr bwMode="auto">
          <a:xfrm>
            <a:off x="3130618" y="4307831"/>
            <a:ext cx="5752" cy="28906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xmlns="" id="{007F0BC0-C474-4D2F-ADEE-7CB40033F82D}"/>
              </a:ext>
            </a:extLst>
          </p:cNvPr>
          <p:cNvSpPr txBox="1"/>
          <p:nvPr/>
        </p:nvSpPr>
        <p:spPr>
          <a:xfrm>
            <a:off x="3963216" y="4587182"/>
            <a:ext cx="24927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>
                <a:solidFill>
                  <a:srgbClr val="FF0000"/>
                </a:solidFill>
              </a:rPr>
              <a:t>Y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xmlns="" id="{11AC25E8-2611-4ABA-95BC-6D92B351AE40}"/>
              </a:ext>
            </a:extLst>
          </p:cNvPr>
          <p:cNvSpPr txBox="1"/>
          <p:nvPr/>
        </p:nvSpPr>
        <p:spPr>
          <a:xfrm>
            <a:off x="3302491" y="5093614"/>
            <a:ext cx="24927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>
                <a:solidFill>
                  <a:srgbClr val="FF0000"/>
                </a:solidFill>
              </a:rPr>
              <a:t>N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cxnSp>
        <p:nvCxnSpPr>
          <p:cNvPr id="242" name="직선 화살표 연결선 241">
            <a:extLst>
              <a:ext uri="{FF2B5EF4-FFF2-40B4-BE49-F238E27FC236}">
                <a16:creationId xmlns:a16="http://schemas.microsoft.com/office/drawing/2014/main" xmlns="" id="{D7AC9DF5-99C6-42BB-B57A-746D5D366F28}"/>
              </a:ext>
            </a:extLst>
          </p:cNvPr>
          <p:cNvCxnSpPr>
            <a:cxnSpLocks/>
            <a:stCxn id="163" idx="2"/>
            <a:endCxn id="354" idx="0"/>
          </p:cNvCxnSpPr>
          <p:nvPr/>
        </p:nvCxnSpPr>
        <p:spPr bwMode="auto">
          <a:xfrm flipH="1">
            <a:off x="3130618" y="5139964"/>
            <a:ext cx="5752" cy="19965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xmlns="" id="{ABE121EA-9F7B-45DE-8F24-EACD86830054}"/>
              </a:ext>
            </a:extLst>
          </p:cNvPr>
          <p:cNvCxnSpPr>
            <a:cxnSpLocks/>
            <a:stCxn id="343" idx="3"/>
            <a:endCxn id="336" idx="1"/>
          </p:cNvCxnSpPr>
          <p:nvPr/>
        </p:nvCxnSpPr>
        <p:spPr bwMode="auto">
          <a:xfrm>
            <a:off x="7186984" y="4009626"/>
            <a:ext cx="733112" cy="397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6" name="순서도: 판단 305">
            <a:extLst>
              <a:ext uri="{FF2B5EF4-FFF2-40B4-BE49-F238E27FC236}">
                <a16:creationId xmlns:a16="http://schemas.microsoft.com/office/drawing/2014/main" xmlns="" id="{A7ADACD6-523C-4AA5-A475-3C585BA6ED08}"/>
              </a:ext>
            </a:extLst>
          </p:cNvPr>
          <p:cNvSpPr/>
          <p:nvPr/>
        </p:nvSpPr>
        <p:spPr bwMode="auto">
          <a:xfrm>
            <a:off x="5601674" y="5200968"/>
            <a:ext cx="1682471" cy="515386"/>
          </a:xfrm>
          <a:prstGeom prst="flowChartDecision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작업전략 조건</a:t>
            </a:r>
            <a:endParaRPr kumimoji="0" lang="en-US" altLang="ko-KR" sz="900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작업전략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Arial"/>
            </a:endParaRPr>
          </a:p>
        </p:txBody>
      </p:sp>
      <p:cxnSp>
        <p:nvCxnSpPr>
          <p:cNvPr id="292" name="연결선: 꺾임 291">
            <a:extLst>
              <a:ext uri="{FF2B5EF4-FFF2-40B4-BE49-F238E27FC236}">
                <a16:creationId xmlns:a16="http://schemas.microsoft.com/office/drawing/2014/main" xmlns="" id="{22392639-5315-4426-AF77-65DEF158B3C5}"/>
              </a:ext>
            </a:extLst>
          </p:cNvPr>
          <p:cNvCxnSpPr>
            <a:cxnSpLocks/>
            <a:stCxn id="163" idx="3"/>
            <a:endCxn id="343" idx="1"/>
          </p:cNvCxnSpPr>
          <p:nvPr/>
        </p:nvCxnSpPr>
        <p:spPr bwMode="auto">
          <a:xfrm flipV="1">
            <a:off x="3929025" y="4009626"/>
            <a:ext cx="1672649" cy="858803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3" name="모서리가 둥근 직사각형 125">
            <a:extLst>
              <a:ext uri="{FF2B5EF4-FFF2-40B4-BE49-F238E27FC236}">
                <a16:creationId xmlns:a16="http://schemas.microsoft.com/office/drawing/2014/main" xmlns="" id="{4A512112-4890-4051-879C-9147641A767A}"/>
              </a:ext>
            </a:extLst>
          </p:cNvPr>
          <p:cNvSpPr/>
          <p:nvPr/>
        </p:nvSpPr>
        <p:spPr bwMode="auto">
          <a:xfrm>
            <a:off x="5601674" y="5727160"/>
            <a:ext cx="1682471" cy="2952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900" dirty="0">
                <a:solidFill>
                  <a:srgbClr val="808000"/>
                </a:solidFill>
                <a:highlight>
                  <a:srgbClr val="FFFFFF"/>
                </a:highlight>
                <a:latin typeface="Courier"/>
                <a:ea typeface="돋움" pitchFamily="50" charset="-127"/>
              </a:rPr>
              <a:t>WMP_COB_WK_CREATE_INST</a:t>
            </a:r>
            <a:endParaRPr kumimoji="1" lang="en-US" altLang="ko-KR" sz="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cxnSp>
        <p:nvCxnSpPr>
          <p:cNvPr id="303" name="연결선: 꺾임 302">
            <a:extLst>
              <a:ext uri="{FF2B5EF4-FFF2-40B4-BE49-F238E27FC236}">
                <a16:creationId xmlns:a16="http://schemas.microsoft.com/office/drawing/2014/main" xmlns="" id="{0B16E7CD-82FC-4D38-8790-48821EEC4ADD}"/>
              </a:ext>
            </a:extLst>
          </p:cNvPr>
          <p:cNvCxnSpPr>
            <a:cxnSpLocks/>
            <a:stCxn id="180" idx="2"/>
            <a:endCxn id="306" idx="3"/>
          </p:cNvCxnSpPr>
          <p:nvPr/>
        </p:nvCxnSpPr>
        <p:spPr bwMode="auto">
          <a:xfrm rot="5400000">
            <a:off x="7709675" y="4609093"/>
            <a:ext cx="424039" cy="127509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4" name="직선 화살표 연결선 313">
            <a:extLst>
              <a:ext uri="{FF2B5EF4-FFF2-40B4-BE49-F238E27FC236}">
                <a16:creationId xmlns:a16="http://schemas.microsoft.com/office/drawing/2014/main" xmlns="" id="{059E3556-0986-44F9-A632-75B138158E3B}"/>
              </a:ext>
            </a:extLst>
          </p:cNvPr>
          <p:cNvCxnSpPr>
            <a:stCxn id="299" idx="2"/>
            <a:endCxn id="328" idx="0"/>
          </p:cNvCxnSpPr>
          <p:nvPr/>
        </p:nvCxnSpPr>
        <p:spPr bwMode="auto">
          <a:xfrm flipH="1">
            <a:off x="3137195" y="2812817"/>
            <a:ext cx="380" cy="34493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8" name="직선 화살표 연결선 317">
            <a:extLst>
              <a:ext uri="{FF2B5EF4-FFF2-40B4-BE49-F238E27FC236}">
                <a16:creationId xmlns:a16="http://schemas.microsoft.com/office/drawing/2014/main" xmlns="" id="{E72C6874-278B-4A53-870A-BBDFE865DEC0}"/>
              </a:ext>
            </a:extLst>
          </p:cNvPr>
          <p:cNvCxnSpPr>
            <a:stCxn id="328" idx="2"/>
            <a:endCxn id="316" idx="0"/>
          </p:cNvCxnSpPr>
          <p:nvPr/>
        </p:nvCxnSpPr>
        <p:spPr bwMode="auto">
          <a:xfrm flipH="1">
            <a:off x="3130618" y="3700252"/>
            <a:ext cx="6577" cy="30010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7" name="직선 화살표 연결선 356">
            <a:extLst>
              <a:ext uri="{FF2B5EF4-FFF2-40B4-BE49-F238E27FC236}">
                <a16:creationId xmlns:a16="http://schemas.microsoft.com/office/drawing/2014/main" xmlns="" id="{7778DF4B-AF7C-42C8-9E5B-51ACB4A19E98}"/>
              </a:ext>
            </a:extLst>
          </p:cNvPr>
          <p:cNvCxnSpPr>
            <a:cxnSpLocks/>
            <a:stCxn id="354" idx="2"/>
            <a:endCxn id="353" idx="0"/>
          </p:cNvCxnSpPr>
          <p:nvPr/>
        </p:nvCxnSpPr>
        <p:spPr bwMode="auto">
          <a:xfrm flipH="1">
            <a:off x="3130617" y="5855007"/>
            <a:ext cx="1" cy="26070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5" name="연결선: 꺾임 344">
            <a:extLst>
              <a:ext uri="{FF2B5EF4-FFF2-40B4-BE49-F238E27FC236}">
                <a16:creationId xmlns:a16="http://schemas.microsoft.com/office/drawing/2014/main" xmlns="" id="{468A1C30-03F0-4589-A086-D110EA3EF541}"/>
              </a:ext>
            </a:extLst>
          </p:cNvPr>
          <p:cNvCxnSpPr>
            <a:stCxn id="306" idx="1"/>
            <a:endCxn id="353" idx="3"/>
          </p:cNvCxnSpPr>
          <p:nvPr/>
        </p:nvCxnSpPr>
        <p:spPr bwMode="auto">
          <a:xfrm rot="10800000" flipV="1">
            <a:off x="3556716" y="5458661"/>
            <a:ext cx="2044959" cy="840444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xmlns="" id="{7FCFAC55-3DCD-4458-BC7D-48074D475E94}"/>
              </a:ext>
            </a:extLst>
          </p:cNvPr>
          <p:cNvSpPr txBox="1"/>
          <p:nvPr/>
        </p:nvSpPr>
        <p:spPr>
          <a:xfrm>
            <a:off x="8043753" y="3340235"/>
            <a:ext cx="1030975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</a:lstStyle>
          <a:p>
            <a:r>
              <a:rPr lang="en-US" altLang="ko-KR" sz="900" dirty="0"/>
              <a:t>WMT_CTA_JOB</a:t>
            </a:r>
          </a:p>
        </p:txBody>
      </p:sp>
    </p:spTree>
    <p:extLst>
      <p:ext uri="{BB962C8B-B14F-4D97-AF65-F5344CB8AC3E}">
        <p14:creationId xmlns:p14="http://schemas.microsoft.com/office/powerpoint/2010/main" val="2088446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60">
            <a:extLst>
              <a:ext uri="{FF2B5EF4-FFF2-40B4-BE49-F238E27FC236}">
                <a16:creationId xmlns:a16="http://schemas.microsoft.com/office/drawing/2014/main" xmlns="" id="{E350063F-D598-4493-AA44-97FAB84013E9}"/>
              </a:ext>
            </a:extLst>
          </p:cNvPr>
          <p:cNvSpPr txBox="1">
            <a:spLocks/>
          </p:cNvSpPr>
          <p:nvPr/>
        </p:nvSpPr>
        <p:spPr bwMode="auto">
          <a:xfrm>
            <a:off x="6907316" y="210875"/>
            <a:ext cx="2798212" cy="3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b="1" u="none" dirty="0">
                <a:solidFill>
                  <a:srgbClr val="000000"/>
                </a:solidFill>
              </a:rPr>
              <a:t>Ⅱ. Mega Process</a:t>
            </a:r>
            <a:endParaRPr lang="ko-KR" altLang="en-US" sz="1400" b="1" u="none" dirty="0">
              <a:solidFill>
                <a:srgbClr val="000000"/>
              </a:solidFill>
            </a:endParaRPr>
          </a:p>
        </p:txBody>
      </p:sp>
      <p:sp>
        <p:nvSpPr>
          <p:cNvPr id="116" name="Rectangle 1584">
            <a:extLst>
              <a:ext uri="{FF2B5EF4-FFF2-40B4-BE49-F238E27FC236}">
                <a16:creationId xmlns:a16="http://schemas.microsoft.com/office/drawing/2014/main" xmlns="" id="{F6CFE27C-8F44-42B8-8BB9-58F10649F46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9181" y="268133"/>
            <a:ext cx="94297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2. Mega Process </a:t>
            </a:r>
            <a:r>
              <a:rPr kumimoji="0" lang="en-US" altLang="ko-KR" sz="2000" kern="0" dirty="0" smtClean="0">
                <a:solidFill>
                  <a:schemeClr val="tx1"/>
                </a:solidFill>
                <a:latin typeface="+mn-ea"/>
                <a:ea typeface="+mn-ea"/>
              </a:rPr>
              <a:t>(6/9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) – </a:t>
            </a:r>
            <a:r>
              <a:rPr kumimoji="0" lang="ko-KR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센터이관 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STO</a:t>
            </a:r>
            <a:endParaRPr kumimoji="0" lang="ko-KR" altLang="en-US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EEE8D502-01F7-4DCE-BD3E-80BB02B57701}"/>
              </a:ext>
            </a:extLst>
          </p:cNvPr>
          <p:cNvGrpSpPr/>
          <p:nvPr/>
        </p:nvGrpSpPr>
        <p:grpSpPr>
          <a:xfrm>
            <a:off x="6540599" y="761896"/>
            <a:ext cx="3114000" cy="5792137"/>
            <a:chOff x="251399" y="761896"/>
            <a:chExt cx="3132000" cy="579213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08AADD94-FFAE-471B-8168-8F2386AFE3F5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xmlns="" id="{46E66BD4-D46A-4F72-8281-498B596AB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WMS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791B1E68-8E3E-434E-9841-552EF0C3E687}"/>
              </a:ext>
            </a:extLst>
          </p:cNvPr>
          <p:cNvGrpSpPr/>
          <p:nvPr/>
        </p:nvGrpSpPr>
        <p:grpSpPr>
          <a:xfrm>
            <a:off x="7485599" y="2312904"/>
            <a:ext cx="1224000" cy="324000"/>
            <a:chOff x="7257256" y="1961876"/>
            <a:chExt cx="1224000" cy="324000"/>
          </a:xfrm>
        </p:grpSpPr>
        <p:sp>
          <p:nvSpPr>
            <p:cNvPr id="8" name="Rectangle 33">
              <a:extLst>
                <a:ext uri="{FF2B5EF4-FFF2-40B4-BE49-F238E27FC236}">
                  <a16:creationId xmlns:a16="http://schemas.microsoft.com/office/drawing/2014/main" xmlns="" id="{F4D59E48-A137-4219-B2BA-0C278E163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7256" y="1961876"/>
              <a:ext cx="1224000" cy="324000"/>
            </a:xfrm>
            <a:prstGeom prst="roundRect">
              <a:avLst>
                <a:gd name="adj" fmla="val 11767"/>
              </a:avLst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</p:spPr>
          <p:txBody>
            <a:bodyPr lIns="36000" tIns="36000" rIns="36000" bIns="36000" rtlCol="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latinLnBrk="0" hangingPunct="1">
                <a:buClr>
                  <a:srgbClr val="000000"/>
                </a:buClr>
                <a:buSzPct val="100000"/>
              </a:pPr>
              <a:r>
                <a:rPr lang="en-US" altLang="ko-KR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From </a:t>
              </a:r>
              <a:r>
                <a:rPr lang="ko-KR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센터</a:t>
              </a:r>
              <a:endPara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endParaRPr>
            </a:p>
            <a:p>
              <a:pPr algn="ctr" eaLnBrk="1" latinLnBrk="0" hangingPunct="1">
                <a:buClr>
                  <a:srgbClr val="000000"/>
                </a:buClr>
                <a:buSzPct val="100000"/>
              </a:pPr>
              <a:r>
                <a:rPr lang="ko-KR" altLang="en-US" sz="1000" b="1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이관출고</a:t>
              </a:r>
              <a:r>
                <a:rPr lang="ko-KR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 처리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xmlns="" id="{D3A156E3-CE6B-458F-8DF4-546E9A44C8B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341926" y="1961876"/>
              <a:ext cx="0" cy="324000"/>
            </a:xfrm>
            <a:prstGeom prst="line">
              <a:avLst/>
            </a:prstGeom>
            <a:noFill/>
            <a:ln w="9525" cap="flat" cmpd="sng" algn="ctr">
              <a:solidFill>
                <a:srgbClr val="007FA8"/>
              </a:solidFill>
              <a:prstDash val="solid"/>
              <a:headEnd type="none" w="med" len="med"/>
              <a:tailEnd type="none"/>
            </a:ln>
            <a:effectLst/>
          </p:spPr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xmlns="" id="{66C78F31-DBA8-42DF-ACBB-C327C2E5557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96586" y="1961876"/>
              <a:ext cx="0" cy="324000"/>
            </a:xfrm>
            <a:prstGeom prst="line">
              <a:avLst/>
            </a:prstGeom>
            <a:noFill/>
            <a:ln w="9525" cap="flat" cmpd="sng" algn="ctr">
              <a:solidFill>
                <a:srgbClr val="007FA8"/>
              </a:solidFill>
              <a:prstDash val="solid"/>
              <a:headEnd type="none" w="med" len="med"/>
              <a:tailEnd type="none"/>
            </a:ln>
            <a:effectLst/>
          </p:spPr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91060196-54D5-48E0-A1DF-9243134C99AE}"/>
              </a:ext>
            </a:extLst>
          </p:cNvPr>
          <p:cNvGrpSpPr/>
          <p:nvPr/>
        </p:nvGrpSpPr>
        <p:grpSpPr>
          <a:xfrm>
            <a:off x="251399" y="761896"/>
            <a:ext cx="3114000" cy="5792137"/>
            <a:chOff x="251399" y="761896"/>
            <a:chExt cx="3132000" cy="579213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xmlns="" id="{0F57AC96-B9A0-42E4-9B91-AC1BCB39CF1E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xmlns="" id="{809BDA5E-8DA4-4723-82B6-60D9E2D34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ERP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951F6DAE-E8D7-49E6-9661-06F4530BA2E2}"/>
              </a:ext>
            </a:extLst>
          </p:cNvPr>
          <p:cNvGrpSpPr/>
          <p:nvPr/>
        </p:nvGrpSpPr>
        <p:grpSpPr>
          <a:xfrm>
            <a:off x="3395999" y="761896"/>
            <a:ext cx="3114000" cy="5792137"/>
            <a:chOff x="251399" y="761896"/>
            <a:chExt cx="3132000" cy="579213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xmlns="" id="{3DEECFF1-77A0-4CFA-BB6F-AE84C37D9E30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xmlns="" id="{8BC50A25-D235-4DEF-AC14-4A1B3D849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17" name="Rectangle 33">
            <a:extLst>
              <a:ext uri="{FF2B5EF4-FFF2-40B4-BE49-F238E27FC236}">
                <a16:creationId xmlns:a16="http://schemas.microsoft.com/office/drawing/2014/main" xmlns="" id="{DC17CC08-96DB-4D66-8425-1C0E9BD10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From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이관출고지시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sp>
        <p:nvSpPr>
          <p:cNvPr id="18" name="Rectangle 33">
            <a:extLst>
              <a:ext uri="{FF2B5EF4-FFF2-40B4-BE49-F238E27FC236}">
                <a16:creationId xmlns:a16="http://schemas.microsoft.com/office/drawing/2014/main" xmlns="" id="{037165DF-0B83-4611-85EA-49760DA7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To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이관입고예정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sp>
        <p:nvSpPr>
          <p:cNvPr id="19" name="Rectangle 33">
            <a:extLst>
              <a:ext uri="{FF2B5EF4-FFF2-40B4-BE49-F238E27FC236}">
                <a16:creationId xmlns:a16="http://schemas.microsoft.com/office/drawing/2014/main" xmlns="" id="{E9D950AA-05DA-4298-91B2-D52DCD020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To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이관입고예정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sp>
        <p:nvSpPr>
          <p:cNvPr id="20" name="Rectangle 33">
            <a:extLst>
              <a:ext uri="{FF2B5EF4-FFF2-40B4-BE49-F238E27FC236}">
                <a16:creationId xmlns:a16="http://schemas.microsoft.com/office/drawing/2014/main" xmlns="" id="{F5C3BFCC-47F7-4120-9A5E-BA990B17A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123279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From 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이관출고지시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 생성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xmlns="" id="{D36FB608-56CC-4D8F-AFE4-43C330922712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 bwMode="auto">
          <a:xfrm flipV="1">
            <a:off x="4952999" y="155679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2" name="Rectangle 33">
            <a:extLst>
              <a:ext uri="{FF2B5EF4-FFF2-40B4-BE49-F238E27FC236}">
                <a16:creationId xmlns:a16="http://schemas.microsoft.com/office/drawing/2014/main" xmlns="" id="{BE3B2425-DC12-45BE-B1A1-8CA943A4E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1772848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From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이관출고지시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sp>
        <p:nvSpPr>
          <p:cNvPr id="23" name="Rectangle 33">
            <a:extLst>
              <a:ext uri="{FF2B5EF4-FFF2-40B4-BE49-F238E27FC236}">
                <a16:creationId xmlns:a16="http://schemas.microsoft.com/office/drawing/2014/main" xmlns="" id="{2FB96AA8-C2D8-40D1-B80B-77F1BD25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2852960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From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이관출고실적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sp>
        <p:nvSpPr>
          <p:cNvPr id="24" name="Rectangle 33">
            <a:extLst>
              <a:ext uri="{FF2B5EF4-FFF2-40B4-BE49-F238E27FC236}">
                <a16:creationId xmlns:a16="http://schemas.microsoft.com/office/drawing/2014/main" xmlns="" id="{1F796903-67FA-432E-AD74-DB9B2BDF7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2852960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From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이관출고실적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sp>
        <p:nvSpPr>
          <p:cNvPr id="25" name="Rectangle 33">
            <a:extLst>
              <a:ext uri="{FF2B5EF4-FFF2-40B4-BE49-F238E27FC236}">
                <a16:creationId xmlns:a16="http://schemas.microsoft.com/office/drawing/2014/main" xmlns="" id="{EE775041-C825-4172-A196-090D79757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2852960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From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이관출고실적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xmlns="" id="{198087FF-584F-43B7-9AFC-3AD3466E7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501318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To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이관입고실적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sp>
        <p:nvSpPr>
          <p:cNvPr id="27" name="Rectangle 33">
            <a:extLst>
              <a:ext uri="{FF2B5EF4-FFF2-40B4-BE49-F238E27FC236}">
                <a16:creationId xmlns:a16="http://schemas.microsoft.com/office/drawing/2014/main" xmlns="" id="{FDADA3BE-4EA2-4EA1-A11B-17CAA18B3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501318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To 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이관입고실적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송신</a:t>
            </a:r>
          </a:p>
        </p:txBody>
      </p:sp>
      <p:sp>
        <p:nvSpPr>
          <p:cNvPr id="28" name="Rectangle 33">
            <a:extLst>
              <a:ext uri="{FF2B5EF4-FFF2-40B4-BE49-F238E27FC236}">
                <a16:creationId xmlns:a16="http://schemas.microsoft.com/office/drawing/2014/main" xmlns="" id="{1823A807-60D7-477E-9AEF-317CB4B96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501318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To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센터</a:t>
            </a:r>
            <a:endParaRPr lang="en-US" altLang="ko-KR" sz="1000" b="1" kern="0" dirty="0">
              <a:solidFill>
                <a:srgbClr val="FFFFFF">
                  <a:lumMod val="95000"/>
                </a:srgb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이관입고실적</a:t>
            </a: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 수신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BF5DCF1D-080E-4C23-9257-832828591D7C}"/>
              </a:ext>
            </a:extLst>
          </p:cNvPr>
          <p:cNvCxnSpPr>
            <a:cxnSpLocks/>
            <a:stCxn id="22" idx="1"/>
            <a:endCxn id="17" idx="3"/>
          </p:cNvCxnSpPr>
          <p:nvPr/>
        </p:nvCxnSpPr>
        <p:spPr bwMode="auto">
          <a:xfrm flipH="1">
            <a:off x="5564999" y="1934848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925800DB-283F-4ECB-B8AD-09E732AA1162}"/>
              </a:ext>
            </a:extLst>
          </p:cNvPr>
          <p:cNvCxnSpPr>
            <a:cxnSpLocks/>
            <a:stCxn id="8" idx="0"/>
            <a:endCxn id="22" idx="2"/>
          </p:cNvCxnSpPr>
          <p:nvPr/>
        </p:nvCxnSpPr>
        <p:spPr bwMode="auto">
          <a:xfrm flipV="1">
            <a:off x="8097599" y="209684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AE3B743B-2F0E-4015-B9D0-65E81D7BCC2B}"/>
              </a:ext>
            </a:extLst>
          </p:cNvPr>
          <p:cNvCxnSpPr>
            <a:cxnSpLocks/>
            <a:stCxn id="24" idx="3"/>
            <a:endCxn id="23" idx="1"/>
          </p:cNvCxnSpPr>
          <p:nvPr/>
        </p:nvCxnSpPr>
        <p:spPr bwMode="auto">
          <a:xfrm>
            <a:off x="5564999" y="3014960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xmlns="" id="{47B7D793-E951-49CE-B9FB-09C16703E794}"/>
              </a:ext>
            </a:extLst>
          </p:cNvPr>
          <p:cNvCxnSpPr>
            <a:cxnSpLocks/>
            <a:stCxn id="23" idx="0"/>
            <a:endCxn id="8" idx="2"/>
          </p:cNvCxnSpPr>
          <p:nvPr/>
        </p:nvCxnSpPr>
        <p:spPr bwMode="auto">
          <a:xfrm flipV="1">
            <a:off x="8097599" y="2636904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29DB3F4F-788E-4D80-9F9B-24D8967469BC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 bwMode="auto">
          <a:xfrm>
            <a:off x="2420399" y="3014960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xmlns="" id="{D123D513-60A1-43A6-8C5B-D82509CA381D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 bwMode="auto">
          <a:xfrm flipH="1">
            <a:off x="5564999" y="4095072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xmlns="" id="{0045C94E-5DE9-4AB3-B78D-6F4EEE210829}"/>
              </a:ext>
            </a:extLst>
          </p:cNvPr>
          <p:cNvCxnSpPr>
            <a:cxnSpLocks/>
            <a:stCxn id="44" idx="0"/>
            <a:endCxn id="18" idx="2"/>
          </p:cNvCxnSpPr>
          <p:nvPr/>
        </p:nvCxnSpPr>
        <p:spPr bwMode="auto">
          <a:xfrm flipV="1">
            <a:off x="8097599" y="425707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xmlns="" id="{6944EABC-9DF0-48BD-AA2A-2DE0796BE517}"/>
              </a:ext>
            </a:extLst>
          </p:cNvPr>
          <p:cNvCxnSpPr>
            <a:cxnSpLocks/>
            <a:stCxn id="26" idx="0"/>
            <a:endCxn id="44" idx="2"/>
          </p:cNvCxnSpPr>
          <p:nvPr/>
        </p:nvCxnSpPr>
        <p:spPr bwMode="auto">
          <a:xfrm flipV="1">
            <a:off x="8097599" y="479712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xmlns="" id="{2142969B-5994-4CF1-968A-4A8AD8C20E31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 bwMode="auto">
          <a:xfrm>
            <a:off x="5564999" y="517518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xmlns="" id="{C23FC8CB-AE35-4518-BAB7-BEFCF5A4F069}"/>
              </a:ext>
            </a:extLst>
          </p:cNvPr>
          <p:cNvCxnSpPr>
            <a:cxnSpLocks/>
            <a:stCxn id="28" idx="3"/>
            <a:endCxn id="27" idx="1"/>
          </p:cNvCxnSpPr>
          <p:nvPr/>
        </p:nvCxnSpPr>
        <p:spPr bwMode="auto">
          <a:xfrm>
            <a:off x="2420399" y="517518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9" name="TextBox 73">
            <a:extLst>
              <a:ext uri="{FF2B5EF4-FFF2-40B4-BE49-F238E27FC236}">
                <a16:creationId xmlns:a16="http://schemas.microsoft.com/office/drawing/2014/main" xmlns="" id="{6010CBBF-5FDF-406B-9B37-841D71A39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572" y="1178608"/>
            <a:ext cx="717110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defPPr>
              <a:defRPr lang="ko-KR"/>
            </a:defPPr>
            <a:lvl1pPr marL="88900" indent="-88900" eaLnBrk="1" hangingPunct="1">
              <a:buFont typeface="Arial" panose="020B0604020202020204" pitchFamily="34" charset="0"/>
              <a:buChar char="•"/>
              <a:defRPr sz="10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en-US" altLang="ko-KR" b="0" dirty="0"/>
              <a:t>From</a:t>
            </a:r>
            <a:r>
              <a:rPr lang="ko-KR" altLang="en-US" b="0" dirty="0"/>
              <a:t>센터</a:t>
            </a:r>
            <a:endParaRPr lang="en-US" altLang="ko-KR" b="0" dirty="0"/>
          </a:p>
          <a:p>
            <a:pPr marL="0" indent="0">
              <a:buNone/>
            </a:pPr>
            <a:r>
              <a:rPr lang="en-US" altLang="ko-KR" b="0" dirty="0"/>
              <a:t> </a:t>
            </a:r>
            <a:r>
              <a:rPr lang="ko-KR" altLang="en-US" b="0" dirty="0"/>
              <a:t> 재고현황</a:t>
            </a:r>
            <a:endParaRPr lang="en-US" altLang="ko-KR" b="0" dirty="0"/>
          </a:p>
        </p:txBody>
      </p:sp>
      <p:sp>
        <p:nvSpPr>
          <p:cNvPr id="40" name="Rectangle 33">
            <a:extLst>
              <a:ext uri="{FF2B5EF4-FFF2-40B4-BE49-F238E27FC236}">
                <a16:creationId xmlns:a16="http://schemas.microsoft.com/office/drawing/2014/main" xmlns="" id="{136C2FD8-48A1-4EDB-AF9D-9C8050C7B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339301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To 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센터</a:t>
            </a: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이관입고예정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 생성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xmlns="" id="{B579416A-6B82-4F97-B4D9-C67D623F8408}"/>
              </a:ext>
            </a:extLst>
          </p:cNvPr>
          <p:cNvCxnSpPr>
            <a:cxnSpLocks/>
            <a:stCxn id="40" idx="0"/>
            <a:endCxn id="24" idx="2"/>
          </p:cNvCxnSpPr>
          <p:nvPr/>
        </p:nvCxnSpPr>
        <p:spPr bwMode="auto">
          <a:xfrm flipV="1">
            <a:off x="4952999" y="3176960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xmlns="" id="{27D01A1B-DC13-4E92-AEA9-8C6DB8B0CD95}"/>
              </a:ext>
            </a:extLst>
          </p:cNvPr>
          <p:cNvCxnSpPr>
            <a:cxnSpLocks/>
            <a:stCxn id="19" idx="0"/>
            <a:endCxn id="40" idx="2"/>
          </p:cNvCxnSpPr>
          <p:nvPr/>
        </p:nvCxnSpPr>
        <p:spPr bwMode="auto">
          <a:xfrm flipV="1">
            <a:off x="4952999" y="3717016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xmlns="" id="{96DDA33E-3204-46AC-A127-EC65DBCABB0F}"/>
              </a:ext>
            </a:extLst>
          </p:cNvPr>
          <p:cNvGrpSpPr/>
          <p:nvPr/>
        </p:nvGrpSpPr>
        <p:grpSpPr>
          <a:xfrm>
            <a:off x="7485599" y="4473128"/>
            <a:ext cx="1224000" cy="324000"/>
            <a:chOff x="7257256" y="1961876"/>
            <a:chExt cx="1224000" cy="324000"/>
          </a:xfrm>
        </p:grpSpPr>
        <p:sp>
          <p:nvSpPr>
            <p:cNvPr id="44" name="Rectangle 33">
              <a:extLst>
                <a:ext uri="{FF2B5EF4-FFF2-40B4-BE49-F238E27FC236}">
                  <a16:creationId xmlns:a16="http://schemas.microsoft.com/office/drawing/2014/main" xmlns="" id="{B97A708B-6B3B-473D-BB1A-80B3AF73B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7256" y="1961876"/>
              <a:ext cx="1224000" cy="324000"/>
            </a:xfrm>
            <a:prstGeom prst="roundRect">
              <a:avLst>
                <a:gd name="adj" fmla="val 11767"/>
              </a:avLst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</p:spPr>
          <p:txBody>
            <a:bodyPr lIns="36000" tIns="36000" rIns="36000" bIns="36000" rtlCol="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latinLnBrk="0" hangingPunct="1">
                <a:buClr>
                  <a:srgbClr val="000000"/>
                </a:buClr>
                <a:buSzPct val="100000"/>
              </a:pPr>
              <a:r>
                <a:rPr lang="en-US" altLang="ko-KR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To </a:t>
              </a:r>
              <a:r>
                <a:rPr lang="ko-KR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센터</a:t>
              </a:r>
              <a:endPara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endParaRPr>
            </a:p>
            <a:p>
              <a:pPr algn="ctr" eaLnBrk="1" latinLnBrk="0" hangingPunct="1">
                <a:buClr>
                  <a:srgbClr val="000000"/>
                </a:buClr>
                <a:buSzPct val="100000"/>
              </a:pPr>
              <a:r>
                <a:rPr lang="ko-KR" altLang="en-US" sz="1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/>
                  <a:ea typeface="맑은 고딕"/>
                </a:rPr>
                <a:t>이관입고 처리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xmlns="" id="{20CE5C9A-E4EF-42E6-A010-4205AB60C01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341926" y="1961876"/>
              <a:ext cx="0" cy="324000"/>
            </a:xfrm>
            <a:prstGeom prst="line">
              <a:avLst/>
            </a:prstGeom>
            <a:noFill/>
            <a:ln w="9525" cap="flat" cmpd="sng" algn="ctr">
              <a:solidFill>
                <a:srgbClr val="007FA8"/>
              </a:solidFill>
              <a:prstDash val="solid"/>
              <a:headEnd type="none" w="med" len="med"/>
              <a:tailEnd type="none"/>
            </a:ln>
            <a:effectLst/>
          </p:spPr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xmlns="" id="{5ACA3281-B516-4B6F-86C9-4992D89A4AD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96586" y="1961876"/>
              <a:ext cx="0" cy="324000"/>
            </a:xfrm>
            <a:prstGeom prst="line">
              <a:avLst/>
            </a:prstGeom>
            <a:noFill/>
            <a:ln w="9525" cap="flat" cmpd="sng" algn="ctr">
              <a:solidFill>
                <a:srgbClr val="007FA8"/>
              </a:solidFill>
              <a:prstDash val="solid"/>
              <a:headEnd type="none" w="med" len="med"/>
              <a:tailEnd type="none"/>
            </a:ln>
            <a:effectLst/>
          </p:spPr>
        </p:cxnSp>
      </p:grpSp>
      <p:sp>
        <p:nvSpPr>
          <p:cNvPr id="47" name="TextBox 73">
            <a:extLst>
              <a:ext uri="{FF2B5EF4-FFF2-40B4-BE49-F238E27FC236}">
                <a16:creationId xmlns:a16="http://schemas.microsoft.com/office/drawing/2014/main" xmlns="" id="{2A3CC044-D6E7-463B-AA3D-0259A096C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999" y="2116230"/>
            <a:ext cx="1023604" cy="53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출고유형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이관출고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시즌반품출고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73">
            <a:extLst>
              <a:ext uri="{FF2B5EF4-FFF2-40B4-BE49-F238E27FC236}">
                <a16:creationId xmlns:a16="http://schemas.microsoft.com/office/drawing/2014/main" xmlns="" id="{759BCE69-15E7-4BD1-9A12-F26EEB4FD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999" y="4271905"/>
            <a:ext cx="1023604" cy="53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입고유형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이관입고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000" indent="-88900" algn="l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시즌반품입고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323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60">
            <a:extLst>
              <a:ext uri="{FF2B5EF4-FFF2-40B4-BE49-F238E27FC236}">
                <a16:creationId xmlns:a16="http://schemas.microsoft.com/office/drawing/2014/main" xmlns="" id="{E350063F-D598-4493-AA44-97FAB84013E9}"/>
              </a:ext>
            </a:extLst>
          </p:cNvPr>
          <p:cNvSpPr txBox="1">
            <a:spLocks/>
          </p:cNvSpPr>
          <p:nvPr/>
        </p:nvSpPr>
        <p:spPr bwMode="auto">
          <a:xfrm>
            <a:off x="6907316" y="210875"/>
            <a:ext cx="2798212" cy="3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b="1" u="none" dirty="0">
                <a:solidFill>
                  <a:srgbClr val="000000"/>
                </a:solidFill>
              </a:rPr>
              <a:t>Ⅱ. Mega Process</a:t>
            </a:r>
            <a:endParaRPr lang="ko-KR" altLang="en-US" sz="1400" b="1" u="none" dirty="0">
              <a:solidFill>
                <a:srgbClr val="000000"/>
              </a:solidFill>
            </a:endParaRPr>
          </a:p>
        </p:txBody>
      </p:sp>
      <p:sp>
        <p:nvSpPr>
          <p:cNvPr id="116" name="Rectangle 1584">
            <a:extLst>
              <a:ext uri="{FF2B5EF4-FFF2-40B4-BE49-F238E27FC236}">
                <a16:creationId xmlns:a16="http://schemas.microsoft.com/office/drawing/2014/main" xmlns="" id="{F6CFE27C-8F44-42B8-8BB9-58F10649F46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9181" y="268133"/>
            <a:ext cx="94297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2. Mega Process </a:t>
            </a:r>
            <a:r>
              <a:rPr kumimoji="0" lang="en-US" altLang="ko-KR" sz="2000" kern="0" dirty="0" smtClean="0">
                <a:solidFill>
                  <a:schemeClr val="tx1"/>
                </a:solidFill>
                <a:latin typeface="+mn-ea"/>
                <a:ea typeface="+mn-ea"/>
              </a:rPr>
              <a:t>(7/9</a:t>
            </a:r>
            <a:r>
              <a:rPr kumimoji="0" lang="en-US" altLang="ko-KR" sz="2000" kern="0" dirty="0">
                <a:solidFill>
                  <a:schemeClr val="tx1"/>
                </a:solidFill>
                <a:latin typeface="+mn-ea"/>
                <a:ea typeface="+mn-ea"/>
              </a:rPr>
              <a:t>) – </a:t>
            </a:r>
            <a:r>
              <a:rPr kumimoji="0" lang="ko-KR" altLang="en-US" sz="2000" kern="0" dirty="0">
                <a:solidFill>
                  <a:schemeClr val="tx1"/>
                </a:solidFill>
                <a:latin typeface="+mn-ea"/>
                <a:ea typeface="+mn-ea"/>
              </a:rPr>
              <a:t>재고이동</a:t>
            </a:r>
            <a:endParaRPr kumimoji="0" lang="ko-KR" altLang="en-US" sz="1400" kern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BF9CF7BF-FBAE-4043-8A62-A8A0703D8896}"/>
              </a:ext>
            </a:extLst>
          </p:cNvPr>
          <p:cNvGrpSpPr/>
          <p:nvPr/>
        </p:nvGrpSpPr>
        <p:grpSpPr>
          <a:xfrm>
            <a:off x="6540599" y="761896"/>
            <a:ext cx="3114000" cy="5792137"/>
            <a:chOff x="251399" y="761896"/>
            <a:chExt cx="3132000" cy="579213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1163769C-1D9E-4EB3-936A-7A5D8DD5A500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xmlns="" id="{7C5FAA5F-A878-4CB0-977A-5B56E27C7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WMS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0AF9AB25-73D8-42CE-8F23-708266E384E3}"/>
              </a:ext>
            </a:extLst>
          </p:cNvPr>
          <p:cNvGrpSpPr/>
          <p:nvPr/>
        </p:nvGrpSpPr>
        <p:grpSpPr>
          <a:xfrm>
            <a:off x="251399" y="761896"/>
            <a:ext cx="3114000" cy="5792137"/>
            <a:chOff x="251399" y="761896"/>
            <a:chExt cx="3132000" cy="579213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30D79D07-C7D7-4A54-8A73-FE8FF4BA0B0E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6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chemeClr val="accent6">
                  <a:lumMod val="7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xmlns="" id="{39812EBA-66F9-424B-AA1A-99ACA377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ERP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5D55D0D3-B162-4636-A430-CCBAB8331C21}"/>
              </a:ext>
            </a:extLst>
          </p:cNvPr>
          <p:cNvGrpSpPr/>
          <p:nvPr/>
        </p:nvGrpSpPr>
        <p:grpSpPr>
          <a:xfrm>
            <a:off x="3395999" y="761896"/>
            <a:ext cx="3114000" cy="5792137"/>
            <a:chOff x="251399" y="761896"/>
            <a:chExt cx="3132000" cy="579213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xmlns="" id="{AAA087E7-E0F5-417F-8823-47C4EBF0EBA7}"/>
                </a:ext>
              </a:extLst>
            </p:cNvPr>
            <p:cNvSpPr/>
            <p:nvPr/>
          </p:nvSpPr>
          <p:spPr>
            <a:xfrm>
              <a:off x="251399" y="761896"/>
              <a:ext cx="3132000" cy="5792137"/>
            </a:xfrm>
            <a:prstGeom prst="rect">
              <a:avLst/>
            </a:prstGeom>
            <a:pattFill prst="lt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635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xmlns="" id="{0A2817E7-A28B-48C3-B8A2-D872476E5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399" y="761896"/>
              <a:ext cx="3132000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OMS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EB11D32C-489F-4CE1-B197-9090383C4411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 bwMode="auto">
          <a:xfrm>
            <a:off x="2420399" y="247490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14" name="TextBox 73">
            <a:extLst>
              <a:ext uri="{FF2B5EF4-FFF2-40B4-BE49-F238E27FC236}">
                <a16:creationId xmlns:a16="http://schemas.microsoft.com/office/drawing/2014/main" xmlns="" id="{170AD372-A235-421A-8895-648B75ECC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5599" y="2651967"/>
            <a:ext cx="1006933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ERP </a:t>
            </a: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보관위치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변경건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xmlns="" id="{A9051702-EFB4-4C44-B5B2-A116BFDEA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231290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재고이동실적 수신</a:t>
            </a:r>
          </a:p>
        </p:txBody>
      </p:sp>
      <p:sp>
        <p:nvSpPr>
          <p:cNvPr id="16" name="Rectangle 33">
            <a:extLst>
              <a:ext uri="{FF2B5EF4-FFF2-40B4-BE49-F238E27FC236}">
                <a16:creationId xmlns:a16="http://schemas.microsoft.com/office/drawing/2014/main" xmlns="" id="{8A7EBBD1-4CD3-4ADD-A0D9-D936F53C1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1232792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From 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존</a:t>
            </a: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재고이동지시 생성</a:t>
            </a:r>
          </a:p>
        </p:txBody>
      </p:sp>
      <p:sp>
        <p:nvSpPr>
          <p:cNvPr id="17" name="Rectangle 33">
            <a:extLst>
              <a:ext uri="{FF2B5EF4-FFF2-40B4-BE49-F238E27FC236}">
                <a16:creationId xmlns:a16="http://schemas.microsoft.com/office/drawing/2014/main" xmlns="" id="{B192C8B2-F581-4D05-9FEE-152BF9981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1772848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From 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To 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존</a:t>
            </a: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재고이동 확정</a:t>
            </a:r>
          </a:p>
        </p:txBody>
      </p:sp>
      <p:sp>
        <p:nvSpPr>
          <p:cNvPr id="18" name="Rectangle 33">
            <a:extLst>
              <a:ext uri="{FF2B5EF4-FFF2-40B4-BE49-F238E27FC236}">
                <a16:creationId xmlns:a16="http://schemas.microsoft.com/office/drawing/2014/main" xmlns="" id="{90C68428-4F89-4BA6-9279-7A45002C2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231290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재고이동실적 송신</a:t>
            </a:r>
          </a:p>
        </p:txBody>
      </p:sp>
      <p:sp>
        <p:nvSpPr>
          <p:cNvPr id="19" name="Rectangle 33">
            <a:extLst>
              <a:ext uri="{FF2B5EF4-FFF2-40B4-BE49-F238E27FC236}">
                <a16:creationId xmlns:a16="http://schemas.microsoft.com/office/drawing/2014/main" xmlns="" id="{D8947E67-38D5-4B51-A378-2F1421205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2312904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재고이동실적 송신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xmlns="" id="{C81B3D6D-FEC3-4DEC-8F2F-39D32A7CC828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 bwMode="auto">
          <a:xfrm>
            <a:off x="5564999" y="2474904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xmlns="" id="{E6FF14AE-42BF-4009-BB8D-73CECEC6D3DD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 bwMode="auto">
          <a:xfrm flipV="1">
            <a:off x="8097599" y="1556792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xmlns="" id="{387EF9B6-D427-4A88-BC3D-F689DD9A0218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 bwMode="auto">
          <a:xfrm flipV="1">
            <a:off x="8097599" y="2096848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28B51FDE-36E3-4054-AD7D-0E53A8DEE567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 bwMode="auto">
          <a:xfrm>
            <a:off x="2420399" y="4095072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24" name="Rectangle 33">
            <a:extLst>
              <a:ext uri="{FF2B5EF4-FFF2-40B4-BE49-F238E27FC236}">
                <a16:creationId xmlns:a16="http://schemas.microsoft.com/office/drawing/2014/main" xmlns="" id="{745EC5CC-4923-4AAF-BE94-81CB8A574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3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재고이동실적 수신</a:t>
            </a:r>
          </a:p>
        </p:txBody>
      </p:sp>
      <p:sp>
        <p:nvSpPr>
          <p:cNvPr id="25" name="Rectangle 33">
            <a:extLst>
              <a:ext uri="{FF2B5EF4-FFF2-40B4-BE49-F238E27FC236}">
                <a16:creationId xmlns:a16="http://schemas.microsoft.com/office/drawing/2014/main" xmlns="" id="{18330C98-51ED-4AA6-8F39-742F738A9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3393016"/>
            <a:ext cx="1224000" cy="324000"/>
          </a:xfrm>
          <a:prstGeom prst="roundRect">
            <a:avLst>
              <a:gd name="adj" fmla="val 11767"/>
            </a:avLst>
          </a:prstGeom>
          <a:noFill/>
          <a:ln w="9525">
            <a:solidFill>
              <a:srgbClr val="0070C0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From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 </a:t>
            </a:r>
            <a:r>
              <a:rPr lang="en-US" altLang="ko-KR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To </a:t>
            </a: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존</a:t>
            </a:r>
            <a:endParaRPr lang="en-US" altLang="ko-KR" sz="1000" b="1" kern="0" dirty="0"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</a:endParaRPr>
          </a:p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재고이동 확정</a:t>
            </a:r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xmlns="" id="{57FD558D-1787-4ECA-A5EE-B8DC0E29C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5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재고이동실적 송신</a:t>
            </a:r>
          </a:p>
        </p:txBody>
      </p:sp>
      <p:sp>
        <p:nvSpPr>
          <p:cNvPr id="27" name="Rectangle 33">
            <a:extLst>
              <a:ext uri="{FF2B5EF4-FFF2-40B4-BE49-F238E27FC236}">
                <a16:creationId xmlns:a16="http://schemas.microsoft.com/office/drawing/2014/main" xmlns="" id="{2A98D540-0948-4C2C-B49B-3BC7D5E47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999" y="3933072"/>
            <a:ext cx="1224000" cy="324000"/>
          </a:xfrm>
          <a:prstGeom prst="roundRect">
            <a:avLst>
              <a:gd name="adj" fmla="val 11767"/>
            </a:avLst>
          </a:prstGeom>
          <a:solidFill>
            <a:srgbClr val="007FA8"/>
          </a:solidFill>
          <a:ln w="9525">
            <a:solidFill>
              <a:srgbClr val="007FA8"/>
            </a:solidFill>
            <a:round/>
            <a:headEnd/>
            <a:tailEnd/>
          </a:ln>
        </p:spPr>
        <p:txBody>
          <a:bodyPr lIns="36000" tIns="36000" rIns="36000" bIns="36000" rtlCol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  <a:buSzPct val="100000"/>
            </a:pPr>
            <a:r>
              <a:rPr lang="ko-KR" altLang="en-US" sz="1000" b="1" kern="0" dirty="0">
                <a:solidFill>
                  <a:srgbClr val="FFFFFF">
                    <a:lumMod val="95000"/>
                  </a:srgbClr>
                </a:solidFill>
                <a:latin typeface="맑은 고딕"/>
                <a:ea typeface="맑은 고딕"/>
              </a:rPr>
              <a:t>재고이동실적 송신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xmlns="" id="{8F7B6780-518B-48C8-A210-B0C5331C12B5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 bwMode="auto">
          <a:xfrm>
            <a:off x="5564999" y="4095072"/>
            <a:ext cx="1920600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06D65923-DF3D-4B12-9316-27796BFB6A68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 bwMode="auto">
          <a:xfrm flipV="1">
            <a:off x="8097599" y="3717016"/>
            <a:ext cx="0" cy="21605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headEnd type="triangle" w="med" len="med"/>
            <a:tailEnd type="none"/>
          </a:ln>
          <a:effectLst/>
        </p:spPr>
      </p:cxnSp>
      <p:sp>
        <p:nvSpPr>
          <p:cNvPr id="30" name="TextBox 73">
            <a:extLst>
              <a:ext uri="{FF2B5EF4-FFF2-40B4-BE49-F238E27FC236}">
                <a16:creationId xmlns:a16="http://schemas.microsoft.com/office/drawing/2014/main" xmlns="" id="{3276B7BB-F019-4657-BD2E-4AAF7E06A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5599" y="4276470"/>
            <a:ext cx="1006933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144000" indent="-144000" algn="l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ERP </a:t>
            </a: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보관위치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변경건</a:t>
            </a:r>
            <a:endParaRPr lang="en-US" altLang="ko-KR" sz="10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73">
            <a:extLst>
              <a:ext uri="{FF2B5EF4-FFF2-40B4-BE49-F238E27FC236}">
                <a16:creationId xmlns:a16="http://schemas.microsoft.com/office/drawing/2014/main" xmlns="" id="{BFE8889B-58F1-470B-B398-BD0C31704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199" y="1474580"/>
            <a:ext cx="418952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defPPr>
              <a:defRPr lang="ko-KR"/>
            </a:defPPr>
            <a:lvl1pPr marL="88900" indent="-88900" eaLnBrk="1" hangingPunct="1">
              <a:buFont typeface="Arial" panose="020B0604020202020204" pitchFamily="34" charset="0"/>
              <a:buChar char="•"/>
              <a:defRPr sz="10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ko-KR" altLang="en-US" b="0" dirty="0"/>
              <a:t>지시</a:t>
            </a:r>
            <a:endParaRPr lang="en-US" altLang="ko-KR" b="0" dirty="0"/>
          </a:p>
          <a:p>
            <a:pPr marL="0" indent="0">
              <a:buNone/>
            </a:pPr>
            <a:r>
              <a:rPr lang="ko-KR" altLang="en-US" b="0" dirty="0"/>
              <a:t>  처리</a:t>
            </a:r>
            <a:endParaRPr lang="en-US" altLang="ko-KR" b="0" dirty="0"/>
          </a:p>
        </p:txBody>
      </p:sp>
      <p:sp>
        <p:nvSpPr>
          <p:cNvPr id="34" name="TextBox 73">
            <a:extLst>
              <a:ext uri="{FF2B5EF4-FFF2-40B4-BE49-F238E27FC236}">
                <a16:creationId xmlns:a16="http://schemas.microsoft.com/office/drawing/2014/main" xmlns="" id="{1A164676-DE62-4E7A-9A90-A6ED39C3B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199" y="3634804"/>
            <a:ext cx="675432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defPPr>
              <a:defRPr lang="ko-KR"/>
            </a:defPPr>
            <a:lvl1pPr marL="88900" indent="-88900" eaLnBrk="1" hangingPunct="1">
              <a:buFont typeface="Arial" panose="020B0604020202020204" pitchFamily="34" charset="0"/>
              <a:buChar char="•"/>
              <a:defRPr sz="10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ko-KR" altLang="en-US" b="0" dirty="0"/>
              <a:t>지시없이</a:t>
            </a:r>
            <a:endParaRPr lang="en-US" altLang="ko-KR" b="0" dirty="0"/>
          </a:p>
          <a:p>
            <a:pPr marL="0" indent="0">
              <a:buNone/>
            </a:pPr>
            <a:r>
              <a:rPr lang="ko-KR" altLang="en-US" b="0" dirty="0"/>
              <a:t>  처리</a:t>
            </a: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4291625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584"/>
          <p:cNvSpPr txBox="1">
            <a:spLocks noChangeArrowheads="1"/>
          </p:cNvSpPr>
          <p:nvPr/>
        </p:nvSpPr>
        <p:spPr bwMode="gray">
          <a:xfrm>
            <a:off x="261473" y="241327"/>
            <a:ext cx="22474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en-US" altLang="ko-KR" sz="2200" kern="0" dirty="0">
                <a:solidFill>
                  <a:schemeClr val="tx1"/>
                </a:solidFill>
              </a:rPr>
              <a:t>Integration Point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xmlns="" id="{3885CF77-42F6-E710-7146-1EA1394AA701}"/>
              </a:ext>
            </a:extLst>
          </p:cNvPr>
          <p:cNvSpPr txBox="1"/>
          <p:nvPr/>
        </p:nvSpPr>
        <p:spPr>
          <a:xfrm>
            <a:off x="4988028" y="4519316"/>
            <a:ext cx="1093569" cy="769441"/>
          </a:xfrm>
          <a:prstGeom prst="rect">
            <a:avLst/>
          </a:prstGeom>
          <a:ln>
            <a:noFill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ko-KR" altLang="en-US" sz="11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입고완료</a:t>
            </a:r>
            <a:endParaRPr kumimoji="0" lang="en-US" altLang="ko-KR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sz="11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출고완료</a:t>
            </a:r>
            <a:endParaRPr kumimoji="0" lang="en-US" altLang="ko-KR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sz="11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작업완료</a:t>
            </a:r>
            <a:endParaRPr kumimoji="0" lang="en-US" altLang="ko-KR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sz="11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재고정보</a:t>
            </a:r>
          </a:p>
        </p:txBody>
      </p:sp>
      <p:grpSp>
        <p:nvGrpSpPr>
          <p:cNvPr id="289" name="그룹 288">
            <a:extLst>
              <a:ext uri="{FF2B5EF4-FFF2-40B4-BE49-F238E27FC236}">
                <a16:creationId xmlns:a16="http://schemas.microsoft.com/office/drawing/2014/main" xmlns="" id="{F1003913-9ADB-51C5-DA49-CCD6D92D3E58}"/>
              </a:ext>
            </a:extLst>
          </p:cNvPr>
          <p:cNvGrpSpPr/>
          <p:nvPr/>
        </p:nvGrpSpPr>
        <p:grpSpPr>
          <a:xfrm>
            <a:off x="251400" y="1221691"/>
            <a:ext cx="9403200" cy="5333950"/>
            <a:chOff x="251400" y="1221691"/>
            <a:chExt cx="9403200" cy="5333950"/>
          </a:xfrm>
        </p:grpSpPr>
        <p:sp>
          <p:nvSpPr>
            <p:cNvPr id="290" name="Rectangle 22">
              <a:extLst>
                <a:ext uri="{FF2B5EF4-FFF2-40B4-BE49-F238E27FC236}">
                  <a16:creationId xmlns:a16="http://schemas.microsoft.com/office/drawing/2014/main" xmlns="" id="{A52839E4-FC12-11EA-24F5-FA6AA2E5A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53" y="1221691"/>
              <a:ext cx="9401694" cy="3381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  <a:effectLst/>
          </p:spPr>
          <p:txBody>
            <a:bodyPr wrap="none" anchor="ctr"/>
            <a:lstStyle/>
            <a:p>
              <a:pPr algn="ctr" latinLnBrk="0">
                <a:buFont typeface="Arial" pitchFamily="34" charset="0"/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Integration Point</a:t>
              </a:r>
              <a:endParaRPr lang="ko-KR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xmlns="" id="{B720A6E9-BFBF-BE56-E1CE-8F3F352AA325}"/>
                </a:ext>
              </a:extLst>
            </p:cNvPr>
            <p:cNvSpPr/>
            <p:nvPr/>
          </p:nvSpPr>
          <p:spPr>
            <a:xfrm>
              <a:off x="251400" y="1559828"/>
              <a:ext cx="9403200" cy="4995813"/>
            </a:xfrm>
            <a:prstGeom prst="rect">
              <a:avLst/>
            </a:prstGeom>
            <a:noFill/>
            <a:ln w="6350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</p:grpSp>
      <p:grpSp>
        <p:nvGrpSpPr>
          <p:cNvPr id="292" name="Group 24">
            <a:extLst>
              <a:ext uri="{FF2B5EF4-FFF2-40B4-BE49-F238E27FC236}">
                <a16:creationId xmlns:a16="http://schemas.microsoft.com/office/drawing/2014/main" xmlns="" id="{B3BE19AE-450E-A7F8-9B83-EB92E47019B3}"/>
              </a:ext>
            </a:extLst>
          </p:cNvPr>
          <p:cNvGrpSpPr>
            <a:grpSpLocks/>
          </p:cNvGrpSpPr>
          <p:nvPr/>
        </p:nvGrpSpPr>
        <p:grpSpPr bwMode="auto">
          <a:xfrm>
            <a:off x="541462" y="2226160"/>
            <a:ext cx="1314450" cy="660400"/>
            <a:chOff x="2499" y="1890"/>
            <a:chExt cx="828" cy="416"/>
          </a:xfrm>
        </p:grpSpPr>
        <p:pic>
          <p:nvPicPr>
            <p:cNvPr id="293" name="Picture 25" descr="Sample-Platforms_grey1">
              <a:extLst>
                <a:ext uri="{FF2B5EF4-FFF2-40B4-BE49-F238E27FC236}">
                  <a16:creationId xmlns:a16="http://schemas.microsoft.com/office/drawing/2014/main" xmlns="" id="{9A4F6F10-5F95-DBEB-29A7-30A21092D6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2499" y="1932"/>
              <a:ext cx="828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94" name="Group 26">
              <a:extLst>
                <a:ext uri="{FF2B5EF4-FFF2-40B4-BE49-F238E27FC236}">
                  <a16:creationId xmlns:a16="http://schemas.microsoft.com/office/drawing/2014/main" xmlns="" id="{EFA0A421-5277-9B9D-6386-576A06322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8" y="1890"/>
              <a:ext cx="687" cy="361"/>
              <a:chOff x="2568" y="1890"/>
              <a:chExt cx="687" cy="361"/>
            </a:xfrm>
          </p:grpSpPr>
          <p:pic>
            <p:nvPicPr>
              <p:cNvPr id="295" name="Picture 27" descr="ICON_BusProcess">
                <a:extLst>
                  <a:ext uri="{FF2B5EF4-FFF2-40B4-BE49-F238E27FC236}">
                    <a16:creationId xmlns:a16="http://schemas.microsoft.com/office/drawing/2014/main" xmlns="" id="{908997BC-DF1D-F328-E8F3-92829EF4AD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2568" y="1925"/>
                <a:ext cx="687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96" name="Picture 28" descr="ICON_Distributor">
                <a:extLst>
                  <a:ext uri="{FF2B5EF4-FFF2-40B4-BE49-F238E27FC236}">
                    <a16:creationId xmlns:a16="http://schemas.microsoft.com/office/drawing/2014/main" xmlns="" id="{8F4376DB-AFCF-215A-D2E0-D7A4B1241067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gray">
              <a:xfrm>
                <a:off x="2665" y="1890"/>
                <a:ext cx="452" cy="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297" name="Text Box 104">
            <a:extLst>
              <a:ext uri="{FF2B5EF4-FFF2-40B4-BE49-F238E27FC236}">
                <a16:creationId xmlns:a16="http://schemas.microsoft.com/office/drawing/2014/main" xmlns="" id="{A8A26D0B-73CC-3624-07C9-F5A090175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687" y="2837347"/>
            <a:ext cx="1092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공급사</a:t>
            </a:r>
            <a:r>
              <a:rPr kumimoji="0" lang="en-US" altLang="ko-KR" sz="1100" b="1" dirty="0">
                <a:solidFill>
                  <a:srgbClr val="336699"/>
                </a:solidFill>
                <a:latin typeface="+mn-ea"/>
                <a:ea typeface="+mn-ea"/>
              </a:rPr>
              <a:t>/</a:t>
            </a: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제조사</a:t>
            </a:r>
            <a:endParaRPr kumimoji="0" lang="en-US" altLang="ko-KR" sz="1100" b="1" dirty="0">
              <a:solidFill>
                <a:srgbClr val="336699"/>
              </a:solidFill>
              <a:latin typeface="+mn-ea"/>
              <a:ea typeface="+mn-ea"/>
            </a:endParaRPr>
          </a:p>
        </p:txBody>
      </p:sp>
      <p:sp>
        <p:nvSpPr>
          <p:cNvPr id="298" name="TextBox 108">
            <a:extLst>
              <a:ext uri="{FF2B5EF4-FFF2-40B4-BE49-F238E27FC236}">
                <a16:creationId xmlns:a16="http://schemas.microsoft.com/office/drawing/2014/main" xmlns="" id="{EFDF1B6E-35F7-1C19-B9A9-DAFE2B6B8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181" y="2924944"/>
            <a:ext cx="2270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99" name="Text Box 612">
            <a:extLst>
              <a:ext uri="{FF2B5EF4-FFF2-40B4-BE49-F238E27FC236}">
                <a16:creationId xmlns:a16="http://schemas.microsoft.com/office/drawing/2014/main" xmlns="" id="{76F105EE-DF06-FBCE-5A92-B74E7811B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385" y="2092613"/>
            <a:ext cx="994948" cy="20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folHlink"/>
              </a:buClr>
              <a:buSzTx/>
              <a:buFont typeface="Times New Roman" panose="02020603050405020304" pitchFamily="18" charset="0"/>
              <a:buNone/>
              <a:defRPr/>
            </a:pPr>
            <a:r>
              <a:rPr lang="ko-KR" altLang="en-US" sz="1100" b="1" dirty="0">
                <a:solidFill>
                  <a:srgbClr val="336699"/>
                </a:solidFill>
                <a:latin typeface="+mn-ea"/>
                <a:ea typeface="+mn-ea"/>
                <a:cs typeface="Tahoma" panose="020B0604030504040204" pitchFamily="34" charset="0"/>
              </a:rPr>
              <a:t>발주</a:t>
            </a:r>
            <a:r>
              <a:rPr lang="en-US" altLang="ko-KR" sz="1100" b="1" dirty="0">
                <a:solidFill>
                  <a:srgbClr val="336699"/>
                </a:solidFill>
                <a:latin typeface="+mn-ea"/>
                <a:ea typeface="+mn-ea"/>
                <a:cs typeface="Tahoma" panose="020B0604030504040204" pitchFamily="34" charset="0"/>
              </a:rPr>
              <a:t>/</a:t>
            </a:r>
            <a:r>
              <a:rPr lang="ko-KR" altLang="en-US" sz="1100" b="1" dirty="0">
                <a:solidFill>
                  <a:srgbClr val="336699"/>
                </a:solidFill>
                <a:latin typeface="+mn-ea"/>
                <a:ea typeface="+mn-ea"/>
                <a:cs typeface="Tahoma" panose="020B0604030504040204" pitchFamily="34" charset="0"/>
              </a:rPr>
              <a:t>작지 등록</a:t>
            </a:r>
            <a:endParaRPr lang="en-US" altLang="ko-KR" sz="1100" b="1" dirty="0">
              <a:solidFill>
                <a:srgbClr val="336699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cxnSp>
        <p:nvCxnSpPr>
          <p:cNvPr id="300" name="직선 화살표 연결선 91">
            <a:extLst>
              <a:ext uri="{FF2B5EF4-FFF2-40B4-BE49-F238E27FC236}">
                <a16:creationId xmlns:a16="http://schemas.microsoft.com/office/drawing/2014/main" xmlns="" id="{302EE4FD-2391-A7AE-83FE-BFEDB4282AA6}"/>
              </a:ext>
            </a:extLst>
          </p:cNvPr>
          <p:cNvCxnSpPr>
            <a:cxnSpLocks noChangeShapeType="1"/>
            <a:stCxn id="299" idx="1"/>
            <a:endCxn id="293" idx="3"/>
          </p:cNvCxnSpPr>
          <p:nvPr/>
        </p:nvCxnSpPr>
        <p:spPr bwMode="auto">
          <a:xfrm flipH="1">
            <a:off x="1855912" y="2195428"/>
            <a:ext cx="1703473" cy="39427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301" name="Text Box 104">
            <a:extLst>
              <a:ext uri="{FF2B5EF4-FFF2-40B4-BE49-F238E27FC236}">
                <a16:creationId xmlns:a16="http://schemas.microsoft.com/office/drawing/2014/main" xmlns="" id="{BAC3EA02-B57E-31F0-9F18-76BC75D126DC}"/>
              </a:ext>
            </a:extLst>
          </p:cNvPr>
          <p:cNvSpPr txBox="1">
            <a:spLocks noChangeArrowheads="1"/>
          </p:cNvSpPr>
          <p:nvPr/>
        </p:nvSpPr>
        <p:spPr bwMode="auto">
          <a:xfrm rot="20848386">
            <a:off x="2537205" y="2139970"/>
            <a:ext cx="34607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en-US" altLang="ko-KR" sz="900" b="1" dirty="0">
                <a:solidFill>
                  <a:srgbClr val="000000"/>
                </a:solidFill>
                <a:latin typeface="+mn-ea"/>
                <a:ea typeface="+mn-ea"/>
              </a:rPr>
              <a:t>PO</a:t>
            </a:r>
          </a:p>
        </p:txBody>
      </p:sp>
      <p:grpSp>
        <p:nvGrpSpPr>
          <p:cNvPr id="302" name="그룹 301">
            <a:extLst>
              <a:ext uri="{FF2B5EF4-FFF2-40B4-BE49-F238E27FC236}">
                <a16:creationId xmlns:a16="http://schemas.microsoft.com/office/drawing/2014/main" xmlns="" id="{CCD33CBC-5A8A-8783-4519-B1D696FC4133}"/>
              </a:ext>
            </a:extLst>
          </p:cNvPr>
          <p:cNvGrpSpPr/>
          <p:nvPr/>
        </p:nvGrpSpPr>
        <p:grpSpPr>
          <a:xfrm>
            <a:off x="2845718" y="2725433"/>
            <a:ext cx="1941512" cy="781257"/>
            <a:chOff x="2864768" y="2526108"/>
            <a:chExt cx="1941512" cy="781257"/>
          </a:xfrm>
        </p:grpSpPr>
        <p:sp>
          <p:nvSpPr>
            <p:cNvPr id="303" name="모서리가 둥근 직사각형 115">
              <a:extLst>
                <a:ext uri="{FF2B5EF4-FFF2-40B4-BE49-F238E27FC236}">
                  <a16:creationId xmlns:a16="http://schemas.microsoft.com/office/drawing/2014/main" xmlns="" id="{E24842D1-0CD3-1DF4-7425-B9B2BFCFA177}"/>
                </a:ext>
              </a:extLst>
            </p:cNvPr>
            <p:cNvSpPr/>
            <p:nvPr/>
          </p:nvSpPr>
          <p:spPr>
            <a:xfrm>
              <a:off x="2864768" y="2735658"/>
              <a:ext cx="1941512" cy="563563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304" name="그룹 10">
              <a:extLst>
                <a:ext uri="{FF2B5EF4-FFF2-40B4-BE49-F238E27FC236}">
                  <a16:creationId xmlns:a16="http://schemas.microsoft.com/office/drawing/2014/main" xmlns="" id="{4FB818CA-E03F-0D67-3755-6FEA0A464B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4915" y="2526108"/>
              <a:ext cx="948911" cy="781257"/>
              <a:chOff x="7214567" y="395068"/>
              <a:chExt cx="946592" cy="780687"/>
            </a:xfrm>
          </p:grpSpPr>
          <p:grpSp>
            <p:nvGrpSpPr>
              <p:cNvPr id="305" name="그룹 68">
                <a:extLst>
                  <a:ext uri="{FF2B5EF4-FFF2-40B4-BE49-F238E27FC236}">
                    <a16:creationId xmlns:a16="http://schemas.microsoft.com/office/drawing/2014/main" xmlns="" id="{3BC69085-7EB9-BE99-8098-8397877940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14567" y="395068"/>
                <a:ext cx="885825" cy="561975"/>
                <a:chOff x="572443" y="1908811"/>
                <a:chExt cx="885825" cy="562549"/>
              </a:xfrm>
            </p:grpSpPr>
            <p:pic>
              <p:nvPicPr>
                <p:cNvPr id="307" name="Picture 101" descr="WhitePlatform_small">
                  <a:extLst>
                    <a:ext uri="{FF2B5EF4-FFF2-40B4-BE49-F238E27FC236}">
                      <a16:creationId xmlns:a16="http://schemas.microsoft.com/office/drawing/2014/main" xmlns="" id="{5943E81A-B131-B83E-1722-98DB8E676F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72443" y="2042735"/>
                  <a:ext cx="885825" cy="4286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08" name="Picture 111" descr="Icon_WebsiteApplication">
                  <a:extLst>
                    <a:ext uri="{FF2B5EF4-FFF2-40B4-BE49-F238E27FC236}">
                      <a16:creationId xmlns:a16="http://schemas.microsoft.com/office/drawing/2014/main" xmlns="" id="{287B4A1C-E0FF-187C-C209-93EBBBCBF80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853307" y="1908811"/>
                  <a:ext cx="561975" cy="431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306" name="Text Box 104">
                <a:extLst>
                  <a:ext uri="{FF2B5EF4-FFF2-40B4-BE49-F238E27FC236}">
                    <a16:creationId xmlns:a16="http://schemas.microsoft.com/office/drawing/2014/main" xmlns="" id="{6BCA9767-50B3-3C8B-A16E-37BD25A4B6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9742" y="931252"/>
                <a:ext cx="881417" cy="244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SzPct val="75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SzPct val="75000"/>
                  <a:buFont typeface="Wingdings" panose="05000000000000000000" pitchFamily="2" charset="2"/>
                  <a:buChar char="ü"/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kumimoji="1" sz="1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latinLnBrk="0" hangingPunct="1">
                  <a:lnSpc>
                    <a:spcPct val="90000"/>
                  </a:lnSpc>
                  <a:spcBef>
                    <a:spcPct val="0"/>
                  </a:spcBef>
                  <a:buSzTx/>
                  <a:buFontTx/>
                  <a:buNone/>
                  <a:defRPr/>
                </a:pPr>
                <a:r>
                  <a:rPr kumimoji="0" lang="ko-KR" altLang="en-US" sz="11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화주</a:t>
                </a:r>
                <a:r>
                  <a:rPr kumimoji="0" lang="ko-KR" altLang="en-US" sz="1100" b="1" dirty="0">
                    <a:solidFill>
                      <a:srgbClr val="336699"/>
                    </a:solidFill>
                    <a:latin typeface="+mn-ea"/>
                    <a:ea typeface="+mn-ea"/>
                  </a:rPr>
                  <a:t> </a:t>
                </a:r>
                <a:r>
                  <a:rPr kumimoji="0" lang="en-US" altLang="ko-KR" sz="11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/ ERP</a:t>
                </a:r>
                <a:endParaRPr kumimoji="0" lang="ko-KR" altLang="en-US" sz="12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p:grpSp>
      </p:grpSp>
      <p:cxnSp>
        <p:nvCxnSpPr>
          <p:cNvPr id="309" name="직선 화살표 연결선 236">
            <a:extLst>
              <a:ext uri="{FF2B5EF4-FFF2-40B4-BE49-F238E27FC236}">
                <a16:creationId xmlns:a16="http://schemas.microsoft.com/office/drawing/2014/main" xmlns="" id="{F2E14534-E7A8-9248-8469-E4634B726BAA}"/>
              </a:ext>
            </a:extLst>
          </p:cNvPr>
          <p:cNvCxnSpPr>
            <a:cxnSpLocks noChangeShapeType="1"/>
            <a:stCxn id="293" idx="3"/>
            <a:endCxn id="303" idx="1"/>
          </p:cNvCxnSpPr>
          <p:nvPr/>
        </p:nvCxnSpPr>
        <p:spPr bwMode="auto">
          <a:xfrm>
            <a:off x="1855912" y="2589698"/>
            <a:ext cx="989806" cy="62706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310" name="Text Box 104">
            <a:extLst>
              <a:ext uri="{FF2B5EF4-FFF2-40B4-BE49-F238E27FC236}">
                <a16:creationId xmlns:a16="http://schemas.microsoft.com/office/drawing/2014/main" xmlns="" id="{7BBD54DE-EA9D-0800-0570-10092F04122B}"/>
              </a:ext>
            </a:extLst>
          </p:cNvPr>
          <p:cNvSpPr txBox="1">
            <a:spLocks noChangeArrowheads="1"/>
          </p:cNvSpPr>
          <p:nvPr/>
        </p:nvSpPr>
        <p:spPr bwMode="auto">
          <a:xfrm rot="1940435">
            <a:off x="1868114" y="2684266"/>
            <a:ext cx="1164101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en-US" altLang="ko-KR" sz="900" b="1" dirty="0">
                <a:solidFill>
                  <a:srgbClr val="000000"/>
                </a:solidFill>
                <a:latin typeface="+mn-ea"/>
                <a:ea typeface="+mn-ea"/>
              </a:rPr>
              <a:t>Packing List(ASN)</a:t>
            </a:r>
          </a:p>
        </p:txBody>
      </p:sp>
      <p:grpSp>
        <p:nvGrpSpPr>
          <p:cNvPr id="311" name="그룹 6">
            <a:extLst>
              <a:ext uri="{FF2B5EF4-FFF2-40B4-BE49-F238E27FC236}">
                <a16:creationId xmlns:a16="http://schemas.microsoft.com/office/drawing/2014/main" xmlns="" id="{98C9A8DE-B60B-493F-F211-4510B47D7800}"/>
              </a:ext>
            </a:extLst>
          </p:cNvPr>
          <p:cNvGrpSpPr>
            <a:grpSpLocks/>
          </p:cNvGrpSpPr>
          <p:nvPr/>
        </p:nvGrpSpPr>
        <p:grpSpPr bwMode="auto">
          <a:xfrm>
            <a:off x="8620581" y="1866194"/>
            <a:ext cx="982663" cy="792163"/>
            <a:chOff x="2531267" y="476583"/>
            <a:chExt cx="982663" cy="792317"/>
          </a:xfrm>
        </p:grpSpPr>
        <p:grpSp>
          <p:nvGrpSpPr>
            <p:cNvPr id="312" name="그룹 65">
              <a:extLst>
                <a:ext uri="{FF2B5EF4-FFF2-40B4-BE49-F238E27FC236}">
                  <a16:creationId xmlns:a16="http://schemas.microsoft.com/office/drawing/2014/main" xmlns="" id="{FFBC7602-E10F-55E7-88B2-AA0B61D2E0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0000" y="476583"/>
              <a:ext cx="885825" cy="563230"/>
              <a:chOff x="6340475" y="1495758"/>
              <a:chExt cx="885825" cy="563230"/>
            </a:xfrm>
          </p:grpSpPr>
          <p:pic>
            <p:nvPicPr>
              <p:cNvPr id="314" name="Picture 101" descr="WhitePlatform_small">
                <a:extLst>
                  <a:ext uri="{FF2B5EF4-FFF2-40B4-BE49-F238E27FC236}">
                    <a16:creationId xmlns:a16="http://schemas.microsoft.com/office/drawing/2014/main" xmlns="" id="{E43C6034-3F0A-CB8E-DE3A-FA61AC0DFD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340475" y="1630363"/>
                <a:ext cx="885825" cy="428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15" name="Picture 105" descr="ICON_SmallBusiness">
                <a:extLst>
                  <a:ext uri="{FF2B5EF4-FFF2-40B4-BE49-F238E27FC236}">
                    <a16:creationId xmlns:a16="http://schemas.microsoft.com/office/drawing/2014/main" xmlns="" id="{08B7D891-09AC-5DEE-5BC3-E6373B4045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530975" y="1495758"/>
                <a:ext cx="584200" cy="484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313" name="Text Box 104">
              <a:extLst>
                <a:ext uri="{FF2B5EF4-FFF2-40B4-BE49-F238E27FC236}">
                  <a16:creationId xmlns:a16="http://schemas.microsoft.com/office/drawing/2014/main" xmlns="" id="{89D062A0-9063-786D-98CA-136D73505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1267" y="1024377"/>
              <a:ext cx="982663" cy="244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ko-KR" altLang="en-US" sz="1100" b="1" dirty="0">
                  <a:solidFill>
                    <a:srgbClr val="336699"/>
                  </a:solidFill>
                  <a:latin typeface="+mn-ea"/>
                  <a:ea typeface="+mn-ea"/>
                </a:rPr>
                <a:t>매장</a:t>
              </a:r>
            </a:p>
          </p:txBody>
        </p:sp>
      </p:grpSp>
      <p:grpSp>
        <p:nvGrpSpPr>
          <p:cNvPr id="316" name="그룹 10">
            <a:extLst>
              <a:ext uri="{FF2B5EF4-FFF2-40B4-BE49-F238E27FC236}">
                <a16:creationId xmlns:a16="http://schemas.microsoft.com/office/drawing/2014/main" xmlns="" id="{6050CF36-FD30-9037-80BA-45AD642D39A2}"/>
              </a:ext>
            </a:extLst>
          </p:cNvPr>
          <p:cNvGrpSpPr>
            <a:grpSpLocks/>
          </p:cNvGrpSpPr>
          <p:nvPr/>
        </p:nvGrpSpPr>
        <p:grpSpPr bwMode="auto">
          <a:xfrm>
            <a:off x="8667915" y="2853879"/>
            <a:ext cx="887995" cy="781257"/>
            <a:chOff x="7214567" y="395068"/>
            <a:chExt cx="885825" cy="780687"/>
          </a:xfrm>
        </p:grpSpPr>
        <p:grpSp>
          <p:nvGrpSpPr>
            <p:cNvPr id="317" name="그룹 68">
              <a:extLst>
                <a:ext uri="{FF2B5EF4-FFF2-40B4-BE49-F238E27FC236}">
                  <a16:creationId xmlns:a16="http://schemas.microsoft.com/office/drawing/2014/main" xmlns="" id="{E7E45F25-10AC-3FE2-232D-BDF254F77C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4567" y="395068"/>
              <a:ext cx="885825" cy="561975"/>
              <a:chOff x="572443" y="1908811"/>
              <a:chExt cx="885825" cy="562549"/>
            </a:xfrm>
          </p:grpSpPr>
          <p:pic>
            <p:nvPicPr>
              <p:cNvPr id="319" name="Picture 101" descr="WhitePlatform_small">
                <a:extLst>
                  <a:ext uri="{FF2B5EF4-FFF2-40B4-BE49-F238E27FC236}">
                    <a16:creationId xmlns:a16="http://schemas.microsoft.com/office/drawing/2014/main" xmlns="" id="{17727DE7-6B59-E29D-FA1E-8F9D32F344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72443" y="2042735"/>
                <a:ext cx="885825" cy="428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20" name="Picture 111" descr="Icon_WebsiteApplication">
                <a:extLst>
                  <a:ext uri="{FF2B5EF4-FFF2-40B4-BE49-F238E27FC236}">
                    <a16:creationId xmlns:a16="http://schemas.microsoft.com/office/drawing/2014/main" xmlns="" id="{7A6CCA94-FA16-C3CB-B014-873CC8BD92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853307" y="1908811"/>
                <a:ext cx="561975" cy="431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318" name="Text Box 104">
              <a:extLst>
                <a:ext uri="{FF2B5EF4-FFF2-40B4-BE49-F238E27FC236}">
                  <a16:creationId xmlns:a16="http://schemas.microsoft.com/office/drawing/2014/main" xmlns="" id="{3D6EB2EE-F61F-0398-5C6C-644A5B56A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2873" y="931252"/>
              <a:ext cx="635157" cy="244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altLang="ko-KR" sz="1100" b="1" dirty="0">
                  <a:solidFill>
                    <a:srgbClr val="336699"/>
                  </a:solidFill>
                  <a:latin typeface="+mn-ea"/>
                  <a:ea typeface="+mn-ea"/>
                </a:rPr>
                <a:t>B2C </a:t>
              </a:r>
              <a:r>
                <a:rPr kumimoji="0" lang="ko-KR" altLang="en-US" sz="1100" b="1" dirty="0">
                  <a:solidFill>
                    <a:srgbClr val="336699"/>
                  </a:solidFill>
                  <a:latin typeface="+mn-ea"/>
                  <a:ea typeface="+mn-ea"/>
                </a:rPr>
                <a:t>몰</a:t>
              </a:r>
              <a:endPara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21" name="그룹 103">
            <a:extLst>
              <a:ext uri="{FF2B5EF4-FFF2-40B4-BE49-F238E27FC236}">
                <a16:creationId xmlns:a16="http://schemas.microsoft.com/office/drawing/2014/main" xmlns="" id="{CB8D3CC3-6425-9F05-8E59-FEC32C4380FB}"/>
              </a:ext>
            </a:extLst>
          </p:cNvPr>
          <p:cNvGrpSpPr>
            <a:grpSpLocks/>
          </p:cNvGrpSpPr>
          <p:nvPr/>
        </p:nvGrpSpPr>
        <p:grpSpPr bwMode="auto">
          <a:xfrm>
            <a:off x="344488" y="1590044"/>
            <a:ext cx="8999537" cy="276225"/>
            <a:chOff x="405289" y="1354777"/>
            <a:chExt cx="8801659" cy="567793"/>
          </a:xfrm>
        </p:grpSpPr>
        <p:sp>
          <p:nvSpPr>
            <p:cNvPr id="322" name="AutoShape 13">
              <a:extLst>
                <a:ext uri="{FF2B5EF4-FFF2-40B4-BE49-F238E27FC236}">
                  <a16:creationId xmlns:a16="http://schemas.microsoft.com/office/drawing/2014/main" xmlns="" id="{9DF45E6D-9A3D-C32F-7B71-31BD4FC11E7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641329" y="-2691998"/>
              <a:ext cx="329580" cy="8801659"/>
            </a:xfrm>
            <a:prstGeom prst="rightBracket">
              <a:avLst>
                <a:gd name="adj" fmla="val 0"/>
              </a:avLst>
            </a:prstGeom>
            <a:noFill/>
            <a:ln w="9525">
              <a:solidFill>
                <a:srgbClr val="5F5F5F"/>
              </a:solidFill>
              <a:round/>
              <a:headEnd/>
              <a:tailEnd/>
            </a:ln>
          </p:spPr>
          <p:txBody>
            <a:bodyPr anchor="b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323" name="Text Box 14">
              <a:extLst>
                <a:ext uri="{FF2B5EF4-FFF2-40B4-BE49-F238E27FC236}">
                  <a16:creationId xmlns:a16="http://schemas.microsoft.com/office/drawing/2014/main" xmlns="" id="{AA67DC55-9A1D-9F06-D18A-0BE42982D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289" y="1354777"/>
              <a:ext cx="1490491" cy="5677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36000" anchor="ctr">
              <a:spAutoFit/>
            </a:bodyPr>
            <a:lstStyle/>
            <a:p>
              <a:pPr eaLnBrk="1" fontAlgn="ctr" hangingPunct="1">
                <a:spcAft>
                  <a:spcPts val="0"/>
                </a:spcAft>
                <a:defRPr/>
              </a:pPr>
              <a:r>
                <a:rPr kumimoji="0" lang="ko-KR" altLang="en-US" sz="12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실행 오더 전체 흐름</a:t>
              </a:r>
              <a:endParaRPr kumimoji="0" lang="en-US" altLang="ko-KR" sz="12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324" name="직선 화살표 연결선 96">
            <a:extLst>
              <a:ext uri="{FF2B5EF4-FFF2-40B4-BE49-F238E27FC236}">
                <a16:creationId xmlns:a16="http://schemas.microsoft.com/office/drawing/2014/main" xmlns="" id="{08054D77-F1F6-4C76-0711-4B6B776B07F0}"/>
              </a:ext>
            </a:extLst>
          </p:cNvPr>
          <p:cNvCxnSpPr>
            <a:cxnSpLocks noChangeShapeType="1"/>
            <a:stCxn id="325" idx="1"/>
            <a:endCxn id="308" idx="3"/>
          </p:cNvCxnSpPr>
          <p:nvPr/>
        </p:nvCxnSpPr>
        <p:spPr bwMode="auto">
          <a:xfrm flipH="1">
            <a:off x="4140769" y="2195849"/>
            <a:ext cx="2305349" cy="74542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325" name="Text Box 612">
            <a:extLst>
              <a:ext uri="{FF2B5EF4-FFF2-40B4-BE49-F238E27FC236}">
                <a16:creationId xmlns:a16="http://schemas.microsoft.com/office/drawing/2014/main" xmlns="" id="{F7D7362C-8574-C327-E301-64D580E7B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118" y="2093455"/>
            <a:ext cx="839788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folHlink"/>
              </a:buClr>
              <a:buSzTx/>
              <a:buFont typeface="Times New Roman" panose="02020603050405020304" pitchFamily="18" charset="0"/>
              <a:buNone/>
              <a:defRPr/>
            </a:pPr>
            <a:r>
              <a:rPr lang="ko-KR" altLang="en-US" sz="1100" b="1" dirty="0">
                <a:solidFill>
                  <a:srgbClr val="336699"/>
                </a:solidFill>
                <a:latin typeface="+mn-ea"/>
                <a:ea typeface="+mn-ea"/>
                <a:cs typeface="Tahoma" panose="020B0604030504040204" pitchFamily="34" charset="0"/>
              </a:rPr>
              <a:t>영업담당자</a:t>
            </a:r>
            <a:endParaRPr lang="en-US" altLang="ko-KR" sz="1100" b="1" dirty="0">
              <a:solidFill>
                <a:srgbClr val="336699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cxnSp>
        <p:nvCxnSpPr>
          <p:cNvPr id="326" name="직선 화살표 연결선 91">
            <a:extLst>
              <a:ext uri="{FF2B5EF4-FFF2-40B4-BE49-F238E27FC236}">
                <a16:creationId xmlns:a16="http://schemas.microsoft.com/office/drawing/2014/main" xmlns="" id="{EA6C994A-06B5-252D-F2AF-153B3D9701F7}"/>
              </a:ext>
            </a:extLst>
          </p:cNvPr>
          <p:cNvCxnSpPr>
            <a:cxnSpLocks noChangeShapeType="1"/>
            <a:stCxn id="314" idx="1"/>
            <a:endCxn id="325" idx="3"/>
          </p:cNvCxnSpPr>
          <p:nvPr/>
        </p:nvCxnSpPr>
        <p:spPr bwMode="auto">
          <a:xfrm flipH="1" flipV="1">
            <a:off x="7285906" y="2195849"/>
            <a:ext cx="1343408" cy="1919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327" name="Text Box 104">
            <a:extLst>
              <a:ext uri="{FF2B5EF4-FFF2-40B4-BE49-F238E27FC236}">
                <a16:creationId xmlns:a16="http://schemas.microsoft.com/office/drawing/2014/main" xmlns="" id="{59D0D38F-3C51-46C1-1E2A-CBBD7C678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240" y="4259972"/>
            <a:ext cx="1416050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회수요청</a:t>
            </a:r>
            <a:r>
              <a:rPr kumimoji="0" lang="en-US" altLang="ko-KR" sz="900" b="1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출고실적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328" name="직선 화살표 연결선 91">
            <a:extLst>
              <a:ext uri="{FF2B5EF4-FFF2-40B4-BE49-F238E27FC236}">
                <a16:creationId xmlns:a16="http://schemas.microsoft.com/office/drawing/2014/main" xmlns="" id="{F84AE3B2-3F12-249C-87BB-DB579D9E37C2}"/>
              </a:ext>
            </a:extLst>
          </p:cNvPr>
          <p:cNvCxnSpPr>
            <a:cxnSpLocks noChangeShapeType="1"/>
            <a:stCxn id="319" idx="1"/>
            <a:endCxn id="330" idx="3"/>
          </p:cNvCxnSpPr>
          <p:nvPr/>
        </p:nvCxnSpPr>
        <p:spPr bwMode="auto">
          <a:xfrm flipH="1">
            <a:off x="7088517" y="3202014"/>
            <a:ext cx="1579398" cy="9604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grpSp>
        <p:nvGrpSpPr>
          <p:cNvPr id="329" name="그룹 328">
            <a:extLst>
              <a:ext uri="{FF2B5EF4-FFF2-40B4-BE49-F238E27FC236}">
                <a16:creationId xmlns:a16="http://schemas.microsoft.com/office/drawing/2014/main" xmlns="" id="{10C3D29A-0099-6277-959D-F95472434699}"/>
              </a:ext>
            </a:extLst>
          </p:cNvPr>
          <p:cNvGrpSpPr/>
          <p:nvPr/>
        </p:nvGrpSpPr>
        <p:grpSpPr>
          <a:xfrm>
            <a:off x="5147005" y="2720286"/>
            <a:ext cx="1941512" cy="781257"/>
            <a:chOff x="5166055" y="2494066"/>
            <a:chExt cx="1941512" cy="781257"/>
          </a:xfrm>
        </p:grpSpPr>
        <p:sp>
          <p:nvSpPr>
            <p:cNvPr id="330" name="모서리가 둥근 직사각형 115">
              <a:extLst>
                <a:ext uri="{FF2B5EF4-FFF2-40B4-BE49-F238E27FC236}">
                  <a16:creationId xmlns:a16="http://schemas.microsoft.com/office/drawing/2014/main" xmlns="" id="{381A1C14-220B-7E9B-910C-CAF083052BE0}"/>
                </a:ext>
              </a:extLst>
            </p:cNvPr>
            <p:cNvSpPr/>
            <p:nvPr/>
          </p:nvSpPr>
          <p:spPr>
            <a:xfrm>
              <a:off x="5166055" y="2703616"/>
              <a:ext cx="1941512" cy="563563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331" name="그룹 10">
              <a:extLst>
                <a:ext uri="{FF2B5EF4-FFF2-40B4-BE49-F238E27FC236}">
                  <a16:creationId xmlns:a16="http://schemas.microsoft.com/office/drawing/2014/main" xmlns="" id="{D14019A0-8ED3-97EB-ABCE-1CE2AE570B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6201" y="2494066"/>
              <a:ext cx="887995" cy="781257"/>
              <a:chOff x="7214567" y="395068"/>
              <a:chExt cx="885825" cy="780687"/>
            </a:xfrm>
          </p:grpSpPr>
          <p:grpSp>
            <p:nvGrpSpPr>
              <p:cNvPr id="332" name="그룹 68">
                <a:extLst>
                  <a:ext uri="{FF2B5EF4-FFF2-40B4-BE49-F238E27FC236}">
                    <a16:creationId xmlns:a16="http://schemas.microsoft.com/office/drawing/2014/main" xmlns="" id="{FD30257F-3191-D1B3-1DFD-BA2714CD0F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14567" y="395068"/>
                <a:ext cx="885825" cy="561975"/>
                <a:chOff x="572443" y="1908811"/>
                <a:chExt cx="885825" cy="562549"/>
              </a:xfrm>
            </p:grpSpPr>
            <p:pic>
              <p:nvPicPr>
                <p:cNvPr id="334" name="Picture 101" descr="WhitePlatform_small">
                  <a:extLst>
                    <a:ext uri="{FF2B5EF4-FFF2-40B4-BE49-F238E27FC236}">
                      <a16:creationId xmlns:a16="http://schemas.microsoft.com/office/drawing/2014/main" xmlns="" id="{241D7A0F-D110-97F3-8381-B2BA425D607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72443" y="2042735"/>
                  <a:ext cx="885825" cy="4286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335" name="Picture 111" descr="Icon_WebsiteApplication">
                  <a:extLst>
                    <a:ext uri="{FF2B5EF4-FFF2-40B4-BE49-F238E27FC236}">
                      <a16:creationId xmlns:a16="http://schemas.microsoft.com/office/drawing/2014/main" xmlns="" id="{0205295C-5557-EFCF-98FF-F6253D2622D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853307" y="1908811"/>
                  <a:ext cx="561975" cy="431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333" name="Text Box 104">
                <a:extLst>
                  <a:ext uri="{FF2B5EF4-FFF2-40B4-BE49-F238E27FC236}">
                    <a16:creationId xmlns:a16="http://schemas.microsoft.com/office/drawing/2014/main" xmlns="" id="{541B3E05-7D47-77AD-7EC4-613560ECEA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5259" y="931252"/>
                <a:ext cx="590384" cy="244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SzPct val="75000"/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SzPct val="75000"/>
                  <a:buFont typeface="Wingdings" panose="05000000000000000000" pitchFamily="2" charset="2"/>
                  <a:buChar char="ü"/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kumimoji="1" sz="1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1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latinLnBrk="0" hangingPunct="1">
                  <a:lnSpc>
                    <a:spcPct val="90000"/>
                  </a:lnSpc>
                  <a:spcBef>
                    <a:spcPct val="0"/>
                  </a:spcBef>
                  <a:buSzTx/>
                  <a:buFontTx/>
                  <a:buNone/>
                  <a:defRPr/>
                </a:pPr>
                <a:r>
                  <a:rPr kumimoji="0" lang="en-US" altLang="ko-KR" sz="11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OTMS</a:t>
                </a:r>
                <a:endParaRPr kumimoji="0" lang="ko-KR" altLang="en-US" sz="12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36" name="Text Box 104">
            <a:extLst>
              <a:ext uri="{FF2B5EF4-FFF2-40B4-BE49-F238E27FC236}">
                <a16:creationId xmlns:a16="http://schemas.microsoft.com/office/drawing/2014/main" xmlns="" id="{A99AD983-76F6-DE36-FB5C-786A4BE19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2276" y="2250175"/>
            <a:ext cx="1416050" cy="84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판매출고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초도출고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반응주문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 err="1">
                <a:solidFill>
                  <a:srgbClr val="000000"/>
                </a:solidFill>
                <a:latin typeface="+mn-ea"/>
                <a:ea typeface="+mn-ea"/>
              </a:rPr>
              <a:t>행사출고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시즌반품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기타반품</a:t>
            </a:r>
            <a:endParaRPr kumimoji="0" lang="ko-KR" altLang="en-US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37" name="모서리가 둥근 직사각형 115">
            <a:extLst>
              <a:ext uri="{FF2B5EF4-FFF2-40B4-BE49-F238E27FC236}">
                <a16:creationId xmlns:a16="http://schemas.microsoft.com/office/drawing/2014/main" xmlns="" id="{17F107F9-0357-C530-67B3-0DDA32539E1D}"/>
              </a:ext>
            </a:extLst>
          </p:cNvPr>
          <p:cNvSpPr/>
          <p:nvPr/>
        </p:nvSpPr>
        <p:spPr>
          <a:xfrm>
            <a:off x="3130797" y="3863288"/>
            <a:ext cx="3744913" cy="692150"/>
          </a:xfrm>
          <a:prstGeom prst="roundRect">
            <a:avLst>
              <a:gd name="adj" fmla="val 7059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8" name="Rectangle 613">
            <a:extLst>
              <a:ext uri="{FF2B5EF4-FFF2-40B4-BE49-F238E27FC236}">
                <a16:creationId xmlns:a16="http://schemas.microsoft.com/office/drawing/2014/main" xmlns="" id="{A551FAE3-0B75-41E2-81E5-45E1B088A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490" y="4033998"/>
            <a:ext cx="811112" cy="4222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ts val="100"/>
              </a:spcBef>
              <a:buClr>
                <a:schemeClr val="folHlink"/>
              </a:buClr>
              <a:buSzTx/>
              <a:buFontTx/>
              <a:buNone/>
              <a:defRPr/>
            </a:pPr>
            <a:r>
              <a:rPr lang="ko-KR" altLang="en-US" sz="1200" dirty="0">
                <a:latin typeface="+mn-ea"/>
                <a:ea typeface="+mn-ea"/>
                <a:cs typeface="Tahoma" panose="020B0604030504040204" pitchFamily="34" charset="0"/>
              </a:rPr>
              <a:t>주문접수</a:t>
            </a:r>
          </a:p>
        </p:txBody>
      </p:sp>
      <p:sp>
        <p:nvSpPr>
          <p:cNvPr id="339" name="Text Box 612">
            <a:extLst>
              <a:ext uri="{FF2B5EF4-FFF2-40B4-BE49-F238E27FC236}">
                <a16:creationId xmlns:a16="http://schemas.microsoft.com/office/drawing/2014/main" xmlns="" id="{F15DD1B2-1FB6-362C-BC50-E27E7EDAD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680" y="3853026"/>
            <a:ext cx="3619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folHlink"/>
              </a:buClr>
              <a:buSzTx/>
              <a:buFont typeface="Times New Roman" panose="02020603050405020304" pitchFamily="18" charset="0"/>
              <a:buNone/>
              <a:defRPr/>
            </a:pPr>
            <a:r>
              <a:rPr lang="en-US" altLang="ko-KR" sz="1100" b="1" dirty="0">
                <a:solidFill>
                  <a:srgbClr val="FF0000"/>
                </a:solidFill>
                <a:latin typeface="+mn-ea"/>
                <a:ea typeface="+mn-ea"/>
                <a:cs typeface="Tahoma" panose="020B0604030504040204" pitchFamily="34" charset="0"/>
              </a:rPr>
              <a:t>OMS</a:t>
            </a:r>
          </a:p>
        </p:txBody>
      </p:sp>
      <p:cxnSp>
        <p:nvCxnSpPr>
          <p:cNvPr id="340" name="직선 화살표 연결선 118">
            <a:extLst>
              <a:ext uri="{FF2B5EF4-FFF2-40B4-BE49-F238E27FC236}">
                <a16:creationId xmlns:a16="http://schemas.microsoft.com/office/drawing/2014/main" xmlns="" id="{5430ED49-8A4E-8CD7-3A76-C8D01202B7F1}"/>
              </a:ext>
            </a:extLst>
          </p:cNvPr>
          <p:cNvCxnSpPr>
            <a:cxnSpLocks noChangeShapeType="1"/>
            <a:stCxn id="338" idx="3"/>
            <a:endCxn id="343" idx="1"/>
          </p:cNvCxnSpPr>
          <p:nvPr/>
        </p:nvCxnSpPr>
        <p:spPr bwMode="auto">
          <a:xfrm flipV="1">
            <a:off x="4060602" y="3979244"/>
            <a:ext cx="544234" cy="265892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41" name="Rectangle 613">
            <a:extLst>
              <a:ext uri="{FF2B5EF4-FFF2-40B4-BE49-F238E27FC236}">
                <a16:creationId xmlns:a16="http://schemas.microsoft.com/office/drawing/2014/main" xmlns="" id="{319BB9F4-F288-A45A-BD54-55D46722B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070" y="4033998"/>
            <a:ext cx="811112" cy="4222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ts val="100"/>
              </a:spcBef>
              <a:buClr>
                <a:schemeClr val="folHlink"/>
              </a:buClr>
              <a:buSzTx/>
              <a:buFontTx/>
              <a:buNone/>
              <a:defRPr/>
            </a:pPr>
            <a:r>
              <a:rPr lang="ko-KR" altLang="en-US" sz="1200" dirty="0">
                <a:latin typeface="+mn-ea"/>
                <a:ea typeface="+mn-ea"/>
                <a:cs typeface="Tahoma" panose="020B0604030504040204" pitchFamily="34" charset="0"/>
              </a:rPr>
              <a:t>실행지시</a:t>
            </a:r>
          </a:p>
        </p:txBody>
      </p:sp>
      <p:grpSp>
        <p:nvGrpSpPr>
          <p:cNvPr id="342" name="그룹 341">
            <a:extLst>
              <a:ext uri="{FF2B5EF4-FFF2-40B4-BE49-F238E27FC236}">
                <a16:creationId xmlns:a16="http://schemas.microsoft.com/office/drawing/2014/main" xmlns="" id="{C44D64B0-AAAB-9F05-12F0-89F17B51B4FC}"/>
              </a:ext>
            </a:extLst>
          </p:cNvPr>
          <p:cNvGrpSpPr/>
          <p:nvPr/>
        </p:nvGrpSpPr>
        <p:grpSpPr>
          <a:xfrm>
            <a:off x="4604836" y="3871244"/>
            <a:ext cx="756000" cy="666347"/>
            <a:chOff x="4557040" y="3653989"/>
            <a:chExt cx="756000" cy="666347"/>
          </a:xfrm>
        </p:grpSpPr>
        <p:sp>
          <p:nvSpPr>
            <p:cNvPr id="343" name="Rectangle 615">
              <a:extLst>
                <a:ext uri="{FF2B5EF4-FFF2-40B4-BE49-F238E27FC236}">
                  <a16:creationId xmlns:a16="http://schemas.microsoft.com/office/drawing/2014/main" xmlns="" id="{881443FA-0D16-F19A-5270-67BCE0D6A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040" y="3653989"/>
              <a:ext cx="756000" cy="216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36000" tIns="36000" rIns="36000" bIns="0" anchor="ctr"/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배분전략</a:t>
              </a:r>
              <a:endParaRPr lang="en-US" altLang="ko-KR" sz="1100" dirty="0"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344" name="Rectangle 615">
              <a:extLst>
                <a:ext uri="{FF2B5EF4-FFF2-40B4-BE49-F238E27FC236}">
                  <a16:creationId xmlns:a16="http://schemas.microsoft.com/office/drawing/2014/main" xmlns="" id="{5C14DC6D-361B-CC98-333E-0E866578D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040" y="4104336"/>
              <a:ext cx="756000" cy="216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36000" tIns="36000" rIns="36000" bIns="0" anchor="ctr"/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en-US" altLang="ko-KR" sz="1100" dirty="0">
                  <a:latin typeface="+mn-ea"/>
                  <a:ea typeface="+mn-ea"/>
                  <a:cs typeface="Tahoma" panose="020B0604030504040204" pitchFamily="34" charset="0"/>
                </a:rPr>
                <a:t>STO</a:t>
              </a: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관리</a:t>
              </a:r>
              <a:endParaRPr lang="en-US" altLang="ko-KR" sz="1100" dirty="0"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</p:grpSp>
      <p:cxnSp>
        <p:nvCxnSpPr>
          <p:cNvPr id="345" name="직선 화살표 연결선 118">
            <a:extLst>
              <a:ext uri="{FF2B5EF4-FFF2-40B4-BE49-F238E27FC236}">
                <a16:creationId xmlns:a16="http://schemas.microsoft.com/office/drawing/2014/main" xmlns="" id="{77265E03-28AB-E15B-2274-F90B042A53AB}"/>
              </a:ext>
            </a:extLst>
          </p:cNvPr>
          <p:cNvCxnSpPr>
            <a:cxnSpLocks noChangeShapeType="1"/>
            <a:stCxn id="338" idx="3"/>
            <a:endCxn id="344" idx="1"/>
          </p:cNvCxnSpPr>
          <p:nvPr/>
        </p:nvCxnSpPr>
        <p:spPr bwMode="auto">
          <a:xfrm>
            <a:off x="4060602" y="4245136"/>
            <a:ext cx="544234" cy="184455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46" name="직선 화살표 연결선 118">
            <a:extLst>
              <a:ext uri="{FF2B5EF4-FFF2-40B4-BE49-F238E27FC236}">
                <a16:creationId xmlns:a16="http://schemas.microsoft.com/office/drawing/2014/main" xmlns="" id="{4FE855FA-BF96-9F41-057D-151D20E0E2E9}"/>
              </a:ext>
            </a:extLst>
          </p:cNvPr>
          <p:cNvCxnSpPr>
            <a:cxnSpLocks noChangeShapeType="1"/>
            <a:stCxn id="343" idx="3"/>
            <a:endCxn id="341" idx="1"/>
          </p:cNvCxnSpPr>
          <p:nvPr/>
        </p:nvCxnSpPr>
        <p:spPr bwMode="auto">
          <a:xfrm>
            <a:off x="5360836" y="3979244"/>
            <a:ext cx="544234" cy="265892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47" name="직선 화살표 연결선 118">
            <a:extLst>
              <a:ext uri="{FF2B5EF4-FFF2-40B4-BE49-F238E27FC236}">
                <a16:creationId xmlns:a16="http://schemas.microsoft.com/office/drawing/2014/main" xmlns="" id="{44AF6DA1-F5F2-8654-FE1D-C79A3864A8E0}"/>
              </a:ext>
            </a:extLst>
          </p:cNvPr>
          <p:cNvCxnSpPr>
            <a:cxnSpLocks noChangeShapeType="1"/>
            <a:stCxn id="344" idx="3"/>
            <a:endCxn id="341" idx="1"/>
          </p:cNvCxnSpPr>
          <p:nvPr/>
        </p:nvCxnSpPr>
        <p:spPr bwMode="auto">
          <a:xfrm flipV="1">
            <a:off x="5360836" y="4245136"/>
            <a:ext cx="544234" cy="184455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48" name="직선 화살표 연결선 347">
            <a:extLst>
              <a:ext uri="{FF2B5EF4-FFF2-40B4-BE49-F238E27FC236}">
                <a16:creationId xmlns:a16="http://schemas.microsoft.com/office/drawing/2014/main" xmlns="" id="{AE45F9FF-D9CD-0AFF-0E32-DFC3765106FC}"/>
              </a:ext>
            </a:extLst>
          </p:cNvPr>
          <p:cNvCxnSpPr>
            <a:cxnSpLocks/>
            <a:stCxn id="306" idx="2"/>
          </p:cNvCxnSpPr>
          <p:nvPr/>
        </p:nvCxnSpPr>
        <p:spPr>
          <a:xfrm>
            <a:off x="3802988" y="3506690"/>
            <a:ext cx="0" cy="35278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TextBox 73">
            <a:extLst>
              <a:ext uri="{FF2B5EF4-FFF2-40B4-BE49-F238E27FC236}">
                <a16:creationId xmlns:a16="http://schemas.microsoft.com/office/drawing/2014/main" xmlns="" id="{7A53481A-A1CD-C8FD-A497-1BC6128AE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754" y="3537914"/>
            <a:ext cx="100219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latinLnBrk="0"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입</a:t>
            </a:r>
            <a:r>
              <a:rPr kumimoji="0" lang="en-US" altLang="ko-KR" sz="1100" b="1" dirty="0">
                <a:solidFill>
                  <a:srgbClr val="336699"/>
                </a:solidFill>
                <a:latin typeface="+mn-ea"/>
                <a:ea typeface="+mn-ea"/>
              </a:rPr>
              <a:t>/</a:t>
            </a: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출고 요청</a:t>
            </a:r>
          </a:p>
        </p:txBody>
      </p:sp>
      <p:cxnSp>
        <p:nvCxnSpPr>
          <p:cNvPr id="350" name="직선 화살표 연결선 63">
            <a:extLst>
              <a:ext uri="{FF2B5EF4-FFF2-40B4-BE49-F238E27FC236}">
                <a16:creationId xmlns:a16="http://schemas.microsoft.com/office/drawing/2014/main" xmlns="" id="{51866F64-EB70-FEFB-969F-3E657EBADA37}"/>
              </a:ext>
            </a:extLst>
          </p:cNvPr>
          <p:cNvCxnSpPr>
            <a:cxnSpLocks/>
          </p:cNvCxnSpPr>
          <p:nvPr/>
        </p:nvCxnSpPr>
        <p:spPr>
          <a:xfrm>
            <a:off x="3990575" y="3474648"/>
            <a:ext cx="0" cy="39678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xmlns="" id="{39C2229D-375F-CCF3-7ECC-0D7A2BCD2D7F}"/>
              </a:ext>
            </a:extLst>
          </p:cNvPr>
          <p:cNvSpPr txBox="1"/>
          <p:nvPr/>
        </p:nvSpPr>
        <p:spPr bwMode="auto">
          <a:xfrm>
            <a:off x="3967241" y="3547188"/>
            <a:ext cx="798513" cy="261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ko-KR" altLang="en-US" sz="1100" b="1" dirty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rPr>
              <a:t>실행 결과</a:t>
            </a:r>
            <a:endParaRPr kumimoji="0" lang="en-US" altLang="ko-KR" sz="1100" b="1" dirty="0">
              <a:solidFill>
                <a:schemeClr val="accent6">
                  <a:lumMod val="7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352" name="직선 화살표 연결선 351">
            <a:extLst>
              <a:ext uri="{FF2B5EF4-FFF2-40B4-BE49-F238E27FC236}">
                <a16:creationId xmlns:a16="http://schemas.microsoft.com/office/drawing/2014/main" xmlns="" id="{1FBFAA12-D6F1-98F7-CFB4-52635320F244}"/>
              </a:ext>
            </a:extLst>
          </p:cNvPr>
          <p:cNvCxnSpPr>
            <a:cxnSpLocks/>
          </p:cNvCxnSpPr>
          <p:nvPr/>
        </p:nvCxnSpPr>
        <p:spPr>
          <a:xfrm>
            <a:off x="6014303" y="3493274"/>
            <a:ext cx="0" cy="38482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73">
            <a:extLst>
              <a:ext uri="{FF2B5EF4-FFF2-40B4-BE49-F238E27FC236}">
                <a16:creationId xmlns:a16="http://schemas.microsoft.com/office/drawing/2014/main" xmlns="" id="{18FEE82A-C81E-6A61-9229-04FC0BAC1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846" y="3529645"/>
            <a:ext cx="72808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latinLnBrk="0">
              <a:spcBef>
                <a:spcPct val="0"/>
              </a:spcBef>
              <a:buSzTx/>
              <a:buFontTx/>
              <a:buNone/>
              <a:defRPr/>
            </a:pPr>
            <a:r>
              <a:rPr kumimoji="0" lang="en-US" altLang="ko-KR" sz="1100" b="1" dirty="0">
                <a:solidFill>
                  <a:srgbClr val="336699"/>
                </a:solidFill>
                <a:latin typeface="+mn-ea"/>
                <a:ea typeface="+mn-ea"/>
              </a:rPr>
              <a:t>B2C</a:t>
            </a: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주문</a:t>
            </a:r>
          </a:p>
        </p:txBody>
      </p:sp>
      <p:cxnSp>
        <p:nvCxnSpPr>
          <p:cNvPr id="354" name="직선 화살표 연결선 63">
            <a:extLst>
              <a:ext uri="{FF2B5EF4-FFF2-40B4-BE49-F238E27FC236}">
                <a16:creationId xmlns:a16="http://schemas.microsoft.com/office/drawing/2014/main" xmlns="" id="{21DCB641-9871-B4E6-5D37-7AB046AF077D}"/>
              </a:ext>
            </a:extLst>
          </p:cNvPr>
          <p:cNvCxnSpPr>
            <a:cxnSpLocks/>
          </p:cNvCxnSpPr>
          <p:nvPr/>
        </p:nvCxnSpPr>
        <p:spPr>
          <a:xfrm>
            <a:off x="6201890" y="3466379"/>
            <a:ext cx="0" cy="39678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xmlns="" id="{B2D6F5BE-C2F7-3AD9-E0E5-71068F1CDE6A}"/>
              </a:ext>
            </a:extLst>
          </p:cNvPr>
          <p:cNvSpPr txBox="1"/>
          <p:nvPr/>
        </p:nvSpPr>
        <p:spPr bwMode="auto">
          <a:xfrm>
            <a:off x="6203353" y="3448449"/>
            <a:ext cx="7489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ko-KR" altLang="en-US" sz="1100" b="1" dirty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rPr>
              <a:t>송장번호</a:t>
            </a:r>
            <a:endParaRPr kumimoji="0" lang="en-US" altLang="ko-KR" sz="1100" b="1" dirty="0">
              <a:solidFill>
                <a:schemeClr val="accent6">
                  <a:lumMod val="75000"/>
                </a:schemeClr>
              </a:solidFill>
              <a:latin typeface="+mn-ea"/>
              <a:ea typeface="+mn-ea"/>
            </a:endParaRPr>
          </a:p>
          <a:p>
            <a:pPr algn="ctr">
              <a:defRPr/>
            </a:pPr>
            <a:r>
              <a:rPr kumimoji="0" lang="ko-KR" altLang="en-US" sz="1100" b="1" dirty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rPr>
              <a:t>실행결과</a:t>
            </a:r>
            <a:endParaRPr kumimoji="0" lang="en-US" altLang="ko-KR" sz="1100" b="1" dirty="0">
              <a:solidFill>
                <a:schemeClr val="accent6">
                  <a:lumMod val="7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57" name="Picture 101" descr="WhitePlatform_small">
            <a:extLst>
              <a:ext uri="{FF2B5EF4-FFF2-40B4-BE49-F238E27FC236}">
                <a16:creationId xmlns:a16="http://schemas.microsoft.com/office/drawing/2014/main" xmlns="" id="{4D2EB87C-0A79-01D8-8D29-1F55E0A26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82997" y="4282434"/>
            <a:ext cx="887995" cy="42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9" name="모서리가 둥근 직사각형 131">
            <a:extLst>
              <a:ext uri="{FF2B5EF4-FFF2-40B4-BE49-F238E27FC236}">
                <a16:creationId xmlns:a16="http://schemas.microsoft.com/office/drawing/2014/main" xmlns="" id="{F8903C04-56CD-6C5C-85B0-2B9DD37FE04A}"/>
              </a:ext>
            </a:extLst>
          </p:cNvPr>
          <p:cNvSpPr/>
          <p:nvPr/>
        </p:nvSpPr>
        <p:spPr>
          <a:xfrm>
            <a:off x="4207762" y="5211889"/>
            <a:ext cx="1644650" cy="1296000"/>
          </a:xfrm>
          <a:prstGeom prst="roundRect">
            <a:avLst>
              <a:gd name="adj" fmla="val 470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0" name="Text Box 612">
            <a:extLst>
              <a:ext uri="{FF2B5EF4-FFF2-40B4-BE49-F238E27FC236}">
                <a16:creationId xmlns:a16="http://schemas.microsoft.com/office/drawing/2014/main" xmlns="" id="{DB89CF07-D61C-25EA-084A-F6969ED1E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932" y="5211889"/>
            <a:ext cx="39528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folHlink"/>
              </a:buClr>
              <a:buSzTx/>
              <a:buFont typeface="Times New Roman" panose="02020603050405020304" pitchFamily="18" charset="0"/>
              <a:buNone/>
              <a:defRPr/>
            </a:pPr>
            <a:r>
              <a:rPr lang="en-US" altLang="ko-KR" sz="1100" b="1" dirty="0">
                <a:solidFill>
                  <a:srgbClr val="FF0000"/>
                </a:solidFill>
                <a:latin typeface="+mn-ea"/>
                <a:ea typeface="+mn-ea"/>
                <a:cs typeface="Tahoma" panose="020B0604030504040204" pitchFamily="34" charset="0"/>
              </a:rPr>
              <a:t>WMS</a:t>
            </a:r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xmlns="" id="{C942AE32-CB94-4A04-E622-8F8186586DED}"/>
              </a:ext>
            </a:extLst>
          </p:cNvPr>
          <p:cNvGrpSpPr/>
          <p:nvPr/>
        </p:nvGrpSpPr>
        <p:grpSpPr>
          <a:xfrm>
            <a:off x="4287931" y="5402974"/>
            <a:ext cx="1484312" cy="1022350"/>
            <a:chOff x="4291900" y="5362208"/>
            <a:chExt cx="1484312" cy="1022350"/>
          </a:xfrm>
        </p:grpSpPr>
        <p:sp>
          <p:nvSpPr>
            <p:cNvPr id="362" name="Rectangle 634">
              <a:extLst>
                <a:ext uri="{FF2B5EF4-FFF2-40B4-BE49-F238E27FC236}">
                  <a16:creationId xmlns:a16="http://schemas.microsoft.com/office/drawing/2014/main" xmlns="" id="{35215CD4-C8DD-E51B-2912-0E31C8E06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900" y="5362208"/>
              <a:ext cx="1006475" cy="2143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입고관리</a:t>
              </a:r>
            </a:p>
          </p:txBody>
        </p:sp>
        <p:sp>
          <p:nvSpPr>
            <p:cNvPr id="363" name="Rectangle 635">
              <a:extLst>
                <a:ext uri="{FF2B5EF4-FFF2-40B4-BE49-F238E27FC236}">
                  <a16:creationId xmlns:a16="http://schemas.microsoft.com/office/drawing/2014/main" xmlns="" id="{EB2A2D21-DD47-17E0-D076-D5F4E51D6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900" y="5631553"/>
              <a:ext cx="1006475" cy="2143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재고관리</a:t>
              </a:r>
              <a:endParaRPr lang="en-US" altLang="ko-KR" sz="1100" dirty="0"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364" name="Rectangle 636">
              <a:extLst>
                <a:ext uri="{FF2B5EF4-FFF2-40B4-BE49-F238E27FC236}">
                  <a16:creationId xmlns:a16="http://schemas.microsoft.com/office/drawing/2014/main" xmlns="" id="{B27A6F54-3473-EF83-CA5C-E244B4BEB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900" y="5900898"/>
              <a:ext cx="1006475" cy="214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en-US" altLang="ko-KR" sz="1100" dirty="0">
                  <a:latin typeface="+mn-ea"/>
                  <a:ea typeface="+mn-ea"/>
                  <a:cs typeface="Tahoma" panose="020B0604030504040204" pitchFamily="34" charset="0"/>
                </a:rPr>
                <a:t>WCS</a:t>
              </a: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관리</a:t>
              </a:r>
            </a:p>
          </p:txBody>
        </p:sp>
        <p:sp>
          <p:nvSpPr>
            <p:cNvPr id="365" name="Rectangle 637">
              <a:extLst>
                <a:ext uri="{FF2B5EF4-FFF2-40B4-BE49-F238E27FC236}">
                  <a16:creationId xmlns:a16="http://schemas.microsoft.com/office/drawing/2014/main" xmlns="" id="{2B907FD3-CEF9-F861-C690-D910177D1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6475" y="5362208"/>
              <a:ext cx="439737" cy="10223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출하</a:t>
              </a:r>
              <a:endParaRPr lang="en-US" altLang="ko-KR" sz="1100" dirty="0">
                <a:latin typeface="+mn-ea"/>
                <a:ea typeface="+mn-ea"/>
                <a:cs typeface="Tahoma" panose="020B0604030504040204" pitchFamily="34" charset="0"/>
              </a:endParaRPr>
            </a:p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준비</a:t>
              </a:r>
              <a:endParaRPr lang="en-US" altLang="ko-KR" sz="1100" dirty="0">
                <a:latin typeface="+mn-ea"/>
                <a:ea typeface="+mn-ea"/>
                <a:cs typeface="Tahoma" panose="020B0604030504040204" pitchFamily="34" charset="0"/>
              </a:endParaRPr>
            </a:p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입하</a:t>
              </a:r>
              <a:endParaRPr lang="en-US" altLang="ko-KR" sz="1100" dirty="0">
                <a:latin typeface="+mn-ea"/>
                <a:ea typeface="+mn-ea"/>
                <a:cs typeface="Tahoma" panose="020B0604030504040204" pitchFamily="34" charset="0"/>
              </a:endParaRPr>
            </a:p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준비</a:t>
              </a:r>
            </a:p>
          </p:txBody>
        </p:sp>
        <p:sp>
          <p:nvSpPr>
            <p:cNvPr id="366" name="Rectangle 635">
              <a:extLst>
                <a:ext uri="{FF2B5EF4-FFF2-40B4-BE49-F238E27FC236}">
                  <a16:creationId xmlns:a16="http://schemas.microsoft.com/office/drawing/2014/main" xmlns="" id="{608B96D0-901D-3153-307D-D8CED7B1D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900" y="6170245"/>
              <a:ext cx="1006475" cy="214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lang="ko-KR" altLang="en-US" sz="1100" dirty="0">
                  <a:latin typeface="+mn-ea"/>
                  <a:ea typeface="+mn-ea"/>
                  <a:cs typeface="Tahoma" panose="020B0604030504040204" pitchFamily="34" charset="0"/>
                </a:rPr>
                <a:t>출고관리</a:t>
              </a:r>
              <a:endParaRPr lang="en-US" altLang="ko-KR" sz="1100" dirty="0"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</p:grpSp>
      <p:sp>
        <p:nvSpPr>
          <p:cNvPr id="367" name="Rectangle 615">
            <a:extLst>
              <a:ext uri="{FF2B5EF4-FFF2-40B4-BE49-F238E27FC236}">
                <a16:creationId xmlns:a16="http://schemas.microsoft.com/office/drawing/2014/main" xmlns="" id="{7E2B6567-7CB9-01EF-9F96-242D32B19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4836" y="4096795"/>
            <a:ext cx="756000" cy="2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lIns="36000" tIns="36000" rIns="36000" bIns="0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lnSpc>
                <a:spcPts val="900"/>
              </a:lnSpc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주문배분</a:t>
            </a:r>
            <a:endParaRPr lang="en-US" altLang="ko-KR" sz="1100" dirty="0"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xmlns="" id="{91702E3C-1922-DED5-587A-B8910B4B192B}"/>
              </a:ext>
            </a:extLst>
          </p:cNvPr>
          <p:cNvSpPr txBox="1"/>
          <p:nvPr/>
        </p:nvSpPr>
        <p:spPr>
          <a:xfrm>
            <a:off x="3750554" y="4557028"/>
            <a:ext cx="11304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생산</a:t>
            </a:r>
            <a:r>
              <a:rPr kumimoji="0" lang="en-US" altLang="ko-KR" sz="1100" b="1" dirty="0">
                <a:solidFill>
                  <a:srgbClr val="336699"/>
                </a:solidFill>
                <a:latin typeface="+mn-ea"/>
                <a:ea typeface="+mn-ea"/>
              </a:rPr>
              <a:t>(</a:t>
            </a: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구매</a:t>
            </a:r>
            <a:r>
              <a:rPr kumimoji="0" lang="en-US" altLang="ko-KR" sz="1100" b="1" dirty="0">
                <a:solidFill>
                  <a:srgbClr val="336699"/>
                </a:solidFill>
                <a:latin typeface="+mn-ea"/>
                <a:ea typeface="+mn-ea"/>
              </a:rPr>
              <a:t>)</a:t>
            </a: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입고</a:t>
            </a:r>
            <a:endParaRPr kumimoji="0" lang="en-US" altLang="ko-KR" sz="1100" b="1" dirty="0">
              <a:solidFill>
                <a:srgbClr val="336699"/>
              </a:solidFill>
              <a:latin typeface="+mn-ea"/>
              <a:ea typeface="+mn-ea"/>
            </a:endParaRPr>
          </a:p>
          <a:p>
            <a:pPr algn="ctr">
              <a:defRPr/>
            </a:pPr>
            <a:r>
              <a:rPr kumimoji="0" lang="en-US" altLang="ko-KR" sz="1100" b="1" dirty="0">
                <a:solidFill>
                  <a:srgbClr val="336699"/>
                </a:solidFill>
                <a:latin typeface="+mn-ea"/>
                <a:ea typeface="+mn-ea"/>
              </a:rPr>
              <a:t>B2C </a:t>
            </a: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출고</a:t>
            </a:r>
            <a:endParaRPr kumimoji="0" lang="en-US" altLang="ko-KR" sz="1100" b="1" dirty="0">
              <a:solidFill>
                <a:srgbClr val="336699"/>
              </a:solidFill>
              <a:latin typeface="+mn-ea"/>
              <a:ea typeface="+mn-ea"/>
            </a:endParaRPr>
          </a:p>
          <a:p>
            <a:pPr algn="ctr">
              <a:defRPr/>
            </a:pPr>
            <a:r>
              <a:rPr kumimoji="0" lang="en-US" altLang="ko-KR" sz="1100" b="1" dirty="0">
                <a:solidFill>
                  <a:srgbClr val="336699"/>
                </a:solidFill>
                <a:latin typeface="+mn-ea"/>
                <a:ea typeface="+mn-ea"/>
              </a:rPr>
              <a:t>B2B </a:t>
            </a:r>
            <a:r>
              <a:rPr kumimoji="0" lang="ko-KR" altLang="en-US" sz="1100" b="1" dirty="0">
                <a:solidFill>
                  <a:srgbClr val="336699"/>
                </a:solidFill>
                <a:latin typeface="+mn-ea"/>
                <a:ea typeface="+mn-ea"/>
              </a:rPr>
              <a:t>반품입고</a:t>
            </a:r>
          </a:p>
        </p:txBody>
      </p:sp>
      <p:cxnSp>
        <p:nvCxnSpPr>
          <p:cNvPr id="369" name="직선 화살표 연결선 96">
            <a:extLst>
              <a:ext uri="{FF2B5EF4-FFF2-40B4-BE49-F238E27FC236}">
                <a16:creationId xmlns:a16="http://schemas.microsoft.com/office/drawing/2014/main" xmlns="" id="{01732B7A-7AD5-3CE1-D3D4-9CF1097C9E3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76087" y="4555438"/>
            <a:ext cx="6351" cy="6480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화살표 연결선 96">
            <a:extLst>
              <a:ext uri="{FF2B5EF4-FFF2-40B4-BE49-F238E27FC236}">
                <a16:creationId xmlns:a16="http://schemas.microsoft.com/office/drawing/2014/main" xmlns="" id="{1183A647-19DB-1E99-5CDF-BDF8CA6CFDC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3878" y="4555438"/>
            <a:ext cx="0" cy="64800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TextBox 108">
            <a:extLst>
              <a:ext uri="{FF2B5EF4-FFF2-40B4-BE49-F238E27FC236}">
                <a16:creationId xmlns:a16="http://schemas.microsoft.com/office/drawing/2014/main" xmlns="" id="{D784451F-80A7-1985-9539-C9E25F54F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6467" y="3442817"/>
            <a:ext cx="22701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77" name="그림 376">
            <a:extLst>
              <a:ext uri="{FF2B5EF4-FFF2-40B4-BE49-F238E27FC236}">
                <a16:creationId xmlns:a16="http://schemas.microsoft.com/office/drawing/2014/main" xmlns="" id="{49DF5EBA-07CF-477A-B36A-7C9570FAF7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211" y="4077072"/>
            <a:ext cx="625323" cy="436525"/>
          </a:xfrm>
          <a:prstGeom prst="rect">
            <a:avLst/>
          </a:prstGeom>
        </p:spPr>
      </p:pic>
      <p:cxnSp>
        <p:nvCxnSpPr>
          <p:cNvPr id="378" name="직선 화살표 연결선 96">
            <a:extLst>
              <a:ext uri="{FF2B5EF4-FFF2-40B4-BE49-F238E27FC236}">
                <a16:creationId xmlns:a16="http://schemas.microsoft.com/office/drawing/2014/main" xmlns="" id="{242041B1-19C1-1B4C-BAF7-5CA0110CBB6A}"/>
              </a:ext>
            </a:extLst>
          </p:cNvPr>
          <p:cNvCxnSpPr>
            <a:cxnSpLocks noChangeShapeType="1"/>
            <a:stCxn id="330" idx="1"/>
            <a:endCxn id="303" idx="3"/>
          </p:cNvCxnSpPr>
          <p:nvPr/>
        </p:nvCxnSpPr>
        <p:spPr bwMode="auto">
          <a:xfrm flipH="1">
            <a:off x="4787230" y="3211618"/>
            <a:ext cx="359775" cy="514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triangle" w="med" len="med"/>
          </a:ln>
        </p:spPr>
      </p:cxnSp>
      <p:sp>
        <p:nvSpPr>
          <p:cNvPr id="380" name="모서리가 둥근 직사각형 131">
            <a:extLst>
              <a:ext uri="{FF2B5EF4-FFF2-40B4-BE49-F238E27FC236}">
                <a16:creationId xmlns:a16="http://schemas.microsoft.com/office/drawing/2014/main" xmlns="" id="{C4E2E550-345C-181E-1D32-F56C9E0167B9}"/>
              </a:ext>
            </a:extLst>
          </p:cNvPr>
          <p:cNvSpPr/>
          <p:nvPr/>
        </p:nvSpPr>
        <p:spPr>
          <a:xfrm>
            <a:off x="6495056" y="5249098"/>
            <a:ext cx="1644650" cy="1296000"/>
          </a:xfrm>
          <a:prstGeom prst="roundRect">
            <a:avLst>
              <a:gd name="adj" fmla="val 470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1" name="모서리가 둥근 직사각형 131">
            <a:extLst>
              <a:ext uri="{FF2B5EF4-FFF2-40B4-BE49-F238E27FC236}">
                <a16:creationId xmlns:a16="http://schemas.microsoft.com/office/drawing/2014/main" xmlns="" id="{E564CDD4-9731-2DD3-F1A9-9BAA1F6B2155}"/>
              </a:ext>
            </a:extLst>
          </p:cNvPr>
          <p:cNvSpPr/>
          <p:nvPr/>
        </p:nvSpPr>
        <p:spPr>
          <a:xfrm>
            <a:off x="1868190" y="5229344"/>
            <a:ext cx="1644650" cy="1296000"/>
          </a:xfrm>
          <a:prstGeom prst="roundRect">
            <a:avLst>
              <a:gd name="adj" fmla="val 470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4" name="Rectangle 637">
            <a:extLst>
              <a:ext uri="{FF2B5EF4-FFF2-40B4-BE49-F238E27FC236}">
                <a16:creationId xmlns:a16="http://schemas.microsoft.com/office/drawing/2014/main" xmlns="" id="{5811D3EE-B0B0-D31C-7A0F-C091FCEB6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040" y="5399343"/>
            <a:ext cx="461033" cy="107527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ko-KR" sz="1100" dirty="0">
                <a:latin typeface="+mn-ea"/>
                <a:ea typeface="+mn-ea"/>
                <a:cs typeface="Tahoma" panose="020B0604030504040204" pitchFamily="34" charset="0"/>
              </a:rPr>
              <a:t>EX-PAS</a:t>
            </a:r>
          </a:p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설비</a:t>
            </a:r>
            <a:endParaRPr lang="en-US" altLang="ko-KR" sz="1100" dirty="0">
              <a:latin typeface="+mn-ea"/>
              <a:ea typeface="+mn-ea"/>
              <a:cs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관리</a:t>
            </a:r>
          </a:p>
        </p:txBody>
      </p:sp>
      <p:sp>
        <p:nvSpPr>
          <p:cNvPr id="385" name="Rectangle 637">
            <a:extLst>
              <a:ext uri="{FF2B5EF4-FFF2-40B4-BE49-F238E27FC236}">
                <a16:creationId xmlns:a16="http://schemas.microsoft.com/office/drawing/2014/main" xmlns="" id="{66636283-4E55-A3E1-5206-0B61E2FA8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3561" y="5433322"/>
            <a:ext cx="439737" cy="10223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ko-KR" sz="1100" dirty="0">
                <a:latin typeface="+mn-ea"/>
                <a:ea typeface="+mn-ea"/>
                <a:cs typeface="Tahoma" panose="020B0604030504040204" pitchFamily="34" charset="0"/>
              </a:rPr>
              <a:t>OPT</a:t>
            </a:r>
          </a:p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설비</a:t>
            </a:r>
            <a:endParaRPr lang="en-US" altLang="ko-KR" sz="1100" dirty="0">
              <a:latin typeface="+mn-ea"/>
              <a:ea typeface="+mn-ea"/>
              <a:cs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관리</a:t>
            </a:r>
            <a:endParaRPr lang="en-US" altLang="ko-KR" sz="1100" dirty="0"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387" name="Rectangle 634">
            <a:extLst>
              <a:ext uri="{FF2B5EF4-FFF2-40B4-BE49-F238E27FC236}">
                <a16:creationId xmlns:a16="http://schemas.microsoft.com/office/drawing/2014/main" xmlns="" id="{98FEA081-153D-0CB2-0C75-E138E411D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176" y="5455645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ko-KR" sz="1100" dirty="0">
                <a:latin typeface="+mn-ea"/>
                <a:ea typeface="+mn-ea"/>
                <a:cs typeface="Tahoma" panose="020B0604030504040204" pitchFamily="34" charset="0"/>
              </a:rPr>
              <a:t>OTP/DAS </a:t>
            </a: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관리</a:t>
            </a:r>
          </a:p>
        </p:txBody>
      </p:sp>
      <p:sp>
        <p:nvSpPr>
          <p:cNvPr id="388" name="Rectangle 634">
            <a:extLst>
              <a:ext uri="{FF2B5EF4-FFF2-40B4-BE49-F238E27FC236}">
                <a16:creationId xmlns:a16="http://schemas.microsoft.com/office/drawing/2014/main" xmlns="" id="{2636671E-87DE-C5DA-1FCC-66EFBCB22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176" y="5737015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작업차수관리</a:t>
            </a:r>
          </a:p>
        </p:txBody>
      </p:sp>
      <p:sp>
        <p:nvSpPr>
          <p:cNvPr id="389" name="Rectangle 634">
            <a:extLst>
              <a:ext uri="{FF2B5EF4-FFF2-40B4-BE49-F238E27FC236}">
                <a16:creationId xmlns:a16="http://schemas.microsoft.com/office/drawing/2014/main" xmlns="" id="{9DF30117-05F6-FA20-A826-0534058D4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176" y="5996255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작업운영관리</a:t>
            </a:r>
          </a:p>
        </p:txBody>
      </p:sp>
      <p:sp>
        <p:nvSpPr>
          <p:cNvPr id="390" name="Rectangle 634">
            <a:extLst>
              <a:ext uri="{FF2B5EF4-FFF2-40B4-BE49-F238E27FC236}">
                <a16:creationId xmlns:a16="http://schemas.microsoft.com/office/drawing/2014/main" xmlns="" id="{59BBC878-118C-E566-EE05-D05A6906A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176" y="6265602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택배운송장 관리</a:t>
            </a:r>
          </a:p>
        </p:txBody>
      </p:sp>
      <p:grpSp>
        <p:nvGrpSpPr>
          <p:cNvPr id="392" name="그룹 10">
            <a:extLst>
              <a:ext uri="{FF2B5EF4-FFF2-40B4-BE49-F238E27FC236}">
                <a16:creationId xmlns:a16="http://schemas.microsoft.com/office/drawing/2014/main" xmlns="" id="{473479CE-8884-9C24-7555-1D0D09DB1926}"/>
              </a:ext>
            </a:extLst>
          </p:cNvPr>
          <p:cNvGrpSpPr>
            <a:grpSpLocks/>
          </p:cNvGrpSpPr>
          <p:nvPr/>
        </p:nvGrpSpPr>
        <p:grpSpPr bwMode="auto">
          <a:xfrm>
            <a:off x="8682993" y="5783780"/>
            <a:ext cx="954525" cy="813572"/>
            <a:chOff x="7214567" y="528855"/>
            <a:chExt cx="952193" cy="812979"/>
          </a:xfrm>
        </p:grpSpPr>
        <p:pic>
          <p:nvPicPr>
            <p:cNvPr id="393" name="Picture 101" descr="WhitePlatform_small">
              <a:extLst>
                <a:ext uri="{FF2B5EF4-FFF2-40B4-BE49-F238E27FC236}">
                  <a16:creationId xmlns:a16="http://schemas.microsoft.com/office/drawing/2014/main" xmlns="" id="{FFD11809-B993-FF52-212D-8AAEAC79E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214567" y="528855"/>
              <a:ext cx="885825" cy="428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4" name="Text Box 104">
              <a:extLst>
                <a:ext uri="{FF2B5EF4-FFF2-40B4-BE49-F238E27FC236}">
                  <a16:creationId xmlns:a16="http://schemas.microsoft.com/office/drawing/2014/main" xmlns="" id="{505E6DE9-B7CF-36C1-720D-C15EA9AB1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4149" y="931252"/>
              <a:ext cx="892611" cy="410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altLang="ko-KR" sz="1100" b="1" dirty="0">
                  <a:solidFill>
                    <a:srgbClr val="336699"/>
                  </a:solidFill>
                  <a:latin typeface="+mn-ea"/>
                  <a:ea typeface="+mn-ea"/>
                </a:rPr>
                <a:t>HOKUSHO</a:t>
              </a:r>
            </a:p>
            <a:p>
              <a:pPr algn="ctr" eaLnBrk="1" latinLnBrk="0" hangingPunct="1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ko-KR" altLang="en-US" sz="1100" b="1" dirty="0" err="1">
                  <a:solidFill>
                    <a:srgbClr val="336699"/>
                  </a:solidFill>
                  <a:latin typeface="+mn-ea"/>
                  <a:ea typeface="+mn-ea"/>
                </a:rPr>
                <a:t>남안성센터</a:t>
              </a:r>
              <a:endPara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395" name="Picture 3" descr="distribution center 3">
            <a:extLst>
              <a:ext uri="{FF2B5EF4-FFF2-40B4-BE49-F238E27FC236}">
                <a16:creationId xmlns:a16="http://schemas.microsoft.com/office/drawing/2014/main" xmlns="" id="{BDC49D34-9EDD-8109-7252-203A6286C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793168" y="5774080"/>
            <a:ext cx="347662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6" name="Picture 61" descr="Untitled-1">
            <a:extLst>
              <a:ext uri="{FF2B5EF4-FFF2-40B4-BE49-F238E27FC236}">
                <a16:creationId xmlns:a16="http://schemas.microsoft.com/office/drawing/2014/main" xmlns="" id="{D29D9E8A-4684-B609-A6A3-ACCF853D8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rgbClr val="9BBB59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9085328" y="5730639"/>
            <a:ext cx="406238" cy="37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1" name="그림 400">
            <a:extLst>
              <a:ext uri="{FF2B5EF4-FFF2-40B4-BE49-F238E27FC236}">
                <a16:creationId xmlns:a16="http://schemas.microsoft.com/office/drawing/2014/main" xmlns="" id="{1CCD99D5-E272-5A6C-7A56-D33BC548C8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5660" y="5527642"/>
            <a:ext cx="704948" cy="457264"/>
          </a:xfrm>
          <a:prstGeom prst="rect">
            <a:avLst/>
          </a:prstGeom>
        </p:spPr>
      </p:pic>
      <p:grpSp>
        <p:nvGrpSpPr>
          <p:cNvPr id="402" name="그룹 10">
            <a:extLst>
              <a:ext uri="{FF2B5EF4-FFF2-40B4-BE49-F238E27FC236}">
                <a16:creationId xmlns:a16="http://schemas.microsoft.com/office/drawing/2014/main" xmlns="" id="{B265AD89-D021-3AFC-2447-F5F284BA84EE}"/>
              </a:ext>
            </a:extLst>
          </p:cNvPr>
          <p:cNvGrpSpPr>
            <a:grpSpLocks/>
          </p:cNvGrpSpPr>
          <p:nvPr/>
        </p:nvGrpSpPr>
        <p:grpSpPr bwMode="auto">
          <a:xfrm>
            <a:off x="387978" y="5783780"/>
            <a:ext cx="954525" cy="813572"/>
            <a:chOff x="7214567" y="528855"/>
            <a:chExt cx="952193" cy="812979"/>
          </a:xfrm>
        </p:grpSpPr>
        <p:pic>
          <p:nvPicPr>
            <p:cNvPr id="403" name="Picture 101" descr="WhitePlatform_small">
              <a:extLst>
                <a:ext uri="{FF2B5EF4-FFF2-40B4-BE49-F238E27FC236}">
                  <a16:creationId xmlns:a16="http://schemas.microsoft.com/office/drawing/2014/main" xmlns="" id="{D728BD51-63C4-212F-C555-5B5A81EC36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214567" y="528855"/>
              <a:ext cx="885825" cy="428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4" name="Text Box 104">
              <a:extLst>
                <a:ext uri="{FF2B5EF4-FFF2-40B4-BE49-F238E27FC236}">
                  <a16:creationId xmlns:a16="http://schemas.microsoft.com/office/drawing/2014/main" xmlns="" id="{207F2718-29A0-1C1F-CB06-1B83B388A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4149" y="931252"/>
              <a:ext cx="892611" cy="410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altLang="ko-KR" sz="1100" b="1" dirty="0">
                  <a:solidFill>
                    <a:srgbClr val="336699"/>
                  </a:solidFill>
                  <a:latin typeface="+mn-ea"/>
                  <a:ea typeface="+mn-ea"/>
                </a:rPr>
                <a:t>HOKUSHO</a:t>
              </a:r>
            </a:p>
            <a:p>
              <a:pPr algn="ctr" eaLnBrk="1" latinLnBrk="0" hangingPunct="1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ko-KR" altLang="en-US" sz="1100" b="1" dirty="0">
                  <a:solidFill>
                    <a:srgbClr val="336699"/>
                  </a:solidFill>
                  <a:latin typeface="+mn-ea"/>
                  <a:ea typeface="+mn-ea"/>
                </a:rPr>
                <a:t>천안센터</a:t>
              </a:r>
              <a:endPara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405" name="Picture 3" descr="distribution center 3">
            <a:extLst>
              <a:ext uri="{FF2B5EF4-FFF2-40B4-BE49-F238E27FC236}">
                <a16:creationId xmlns:a16="http://schemas.microsoft.com/office/drawing/2014/main" xmlns="" id="{BF4071BA-15A4-7A27-4999-362ED349D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98153" y="5774080"/>
            <a:ext cx="347662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6" name="Picture 61" descr="Untitled-1">
            <a:extLst>
              <a:ext uri="{FF2B5EF4-FFF2-40B4-BE49-F238E27FC236}">
                <a16:creationId xmlns:a16="http://schemas.microsoft.com/office/drawing/2014/main" xmlns="" id="{F65B70A3-F101-B2B2-AC8A-9F96B977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rgbClr val="9BBB59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790313" y="5730639"/>
            <a:ext cx="406238" cy="37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7" name="그림 406">
            <a:extLst>
              <a:ext uri="{FF2B5EF4-FFF2-40B4-BE49-F238E27FC236}">
                <a16:creationId xmlns:a16="http://schemas.microsoft.com/office/drawing/2014/main" xmlns="" id="{158D99DB-FE70-C30A-DB91-778AA676B1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645" y="5527642"/>
            <a:ext cx="704948" cy="457264"/>
          </a:xfrm>
          <a:prstGeom prst="rect">
            <a:avLst/>
          </a:prstGeom>
        </p:spPr>
      </p:pic>
      <p:sp>
        <p:nvSpPr>
          <p:cNvPr id="411" name="Rectangle 634">
            <a:extLst>
              <a:ext uri="{FF2B5EF4-FFF2-40B4-BE49-F238E27FC236}">
                <a16:creationId xmlns:a16="http://schemas.microsoft.com/office/drawing/2014/main" xmlns="" id="{69A95207-3170-DB7C-9D1B-04E21324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316" y="5726259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작업차수관리</a:t>
            </a:r>
          </a:p>
        </p:txBody>
      </p:sp>
      <p:sp>
        <p:nvSpPr>
          <p:cNvPr id="412" name="Rectangle 634">
            <a:extLst>
              <a:ext uri="{FF2B5EF4-FFF2-40B4-BE49-F238E27FC236}">
                <a16:creationId xmlns:a16="http://schemas.microsoft.com/office/drawing/2014/main" xmlns="" id="{F4CB4080-993C-22DC-B913-A1DBA2930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316" y="5992825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작업운영관리</a:t>
            </a:r>
          </a:p>
        </p:txBody>
      </p:sp>
      <p:pic>
        <p:nvPicPr>
          <p:cNvPr id="414" name="그림 413">
            <a:extLst>
              <a:ext uri="{FF2B5EF4-FFF2-40B4-BE49-F238E27FC236}">
                <a16:creationId xmlns:a16="http://schemas.microsoft.com/office/drawing/2014/main" xmlns="" id="{5CCCAD67-EDD9-F05C-6D25-EE2F5D29D5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9161" y="5034471"/>
            <a:ext cx="628818" cy="184653"/>
          </a:xfrm>
          <a:prstGeom prst="rect">
            <a:avLst/>
          </a:prstGeom>
        </p:spPr>
      </p:pic>
      <p:sp>
        <p:nvSpPr>
          <p:cNvPr id="415" name="Text Box 612">
            <a:extLst>
              <a:ext uri="{FF2B5EF4-FFF2-40B4-BE49-F238E27FC236}">
                <a16:creationId xmlns:a16="http://schemas.microsoft.com/office/drawing/2014/main" xmlns="" id="{FCAE2686-EF75-D076-94C6-18BC4B750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998" y="5245252"/>
            <a:ext cx="579770" cy="20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folHlink"/>
              </a:buClr>
              <a:buSzTx/>
              <a:buFont typeface="Times New Roman" panose="02020603050405020304" pitchFamily="18" charset="0"/>
              <a:buNone/>
              <a:defRPr/>
            </a:pPr>
            <a:r>
              <a:rPr lang="en-US" altLang="ko-KR" sz="1100" b="1" dirty="0">
                <a:solidFill>
                  <a:srgbClr val="FF0000"/>
                </a:solidFill>
                <a:latin typeface="+mn-ea"/>
                <a:ea typeface="+mn-ea"/>
                <a:cs typeface="Tahoma" panose="020B0604030504040204" pitchFamily="34" charset="0"/>
              </a:rPr>
              <a:t>B2B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  <a:ea typeface="+mn-ea"/>
                <a:cs typeface="Tahoma" panose="020B0604030504040204" pitchFamily="34" charset="0"/>
              </a:rPr>
              <a:t>천안</a:t>
            </a:r>
            <a:endParaRPr lang="en-US" altLang="ko-KR" sz="1100" b="1" dirty="0">
              <a:solidFill>
                <a:srgbClr val="FF0000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16" name="Text Box 612">
            <a:extLst>
              <a:ext uri="{FF2B5EF4-FFF2-40B4-BE49-F238E27FC236}">
                <a16:creationId xmlns:a16="http://schemas.microsoft.com/office/drawing/2014/main" xmlns="" id="{5A895E40-70A5-D37F-D6CC-49D592C61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563" y="5245252"/>
            <a:ext cx="770527" cy="20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folHlink"/>
              </a:buClr>
              <a:buSzTx/>
              <a:buFont typeface="Times New Roman" panose="02020603050405020304" pitchFamily="18" charset="0"/>
              <a:buNone/>
              <a:defRPr/>
            </a:pPr>
            <a:r>
              <a:rPr lang="en-US" altLang="ko-KR" sz="1100" b="1" dirty="0">
                <a:solidFill>
                  <a:srgbClr val="FF0000"/>
                </a:solidFill>
                <a:latin typeface="+mn-ea"/>
                <a:ea typeface="+mn-ea"/>
                <a:cs typeface="Tahoma" panose="020B0604030504040204" pitchFamily="34" charset="0"/>
              </a:rPr>
              <a:t>B2C </a:t>
            </a:r>
            <a:r>
              <a:rPr lang="ko-KR" altLang="en-US" sz="1100" b="1" dirty="0" err="1">
                <a:solidFill>
                  <a:srgbClr val="FF0000"/>
                </a:solidFill>
                <a:latin typeface="+mn-ea"/>
                <a:ea typeface="+mn-ea"/>
                <a:cs typeface="Tahoma" panose="020B0604030504040204" pitchFamily="34" charset="0"/>
              </a:rPr>
              <a:t>남안성</a:t>
            </a:r>
            <a:endParaRPr lang="en-US" altLang="ko-KR" sz="1100" b="1" dirty="0">
              <a:solidFill>
                <a:srgbClr val="FF0000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17" name="Rectangle 634">
            <a:extLst>
              <a:ext uri="{FF2B5EF4-FFF2-40B4-BE49-F238E27FC236}">
                <a16:creationId xmlns:a16="http://schemas.microsoft.com/office/drawing/2014/main" xmlns="" id="{6216A2E3-7918-E0BC-E34F-35E8A4D2C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316" y="6258410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ko-KR" sz="1100" dirty="0">
                <a:latin typeface="+mn-ea"/>
                <a:ea typeface="+mn-ea"/>
                <a:cs typeface="Tahoma" panose="020B0604030504040204" pitchFamily="34" charset="0"/>
              </a:rPr>
              <a:t>BOX</a:t>
            </a: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분류관리</a:t>
            </a:r>
          </a:p>
        </p:txBody>
      </p:sp>
      <p:cxnSp>
        <p:nvCxnSpPr>
          <p:cNvPr id="418" name="직선 화살표 연결선 91">
            <a:extLst>
              <a:ext uri="{FF2B5EF4-FFF2-40B4-BE49-F238E27FC236}">
                <a16:creationId xmlns:a16="http://schemas.microsoft.com/office/drawing/2014/main" xmlns="" id="{9109C80C-ECEF-9000-9658-B1AF6981EDD8}"/>
              </a:ext>
            </a:extLst>
          </p:cNvPr>
          <p:cNvCxnSpPr>
            <a:cxnSpLocks noChangeShapeType="1"/>
            <a:stCxn id="337" idx="3"/>
          </p:cNvCxnSpPr>
          <p:nvPr/>
        </p:nvCxnSpPr>
        <p:spPr bwMode="auto">
          <a:xfrm>
            <a:off x="6875710" y="4209363"/>
            <a:ext cx="1761057" cy="1802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421" name="Text Box 104">
            <a:extLst>
              <a:ext uri="{FF2B5EF4-FFF2-40B4-BE49-F238E27FC236}">
                <a16:creationId xmlns:a16="http://schemas.microsoft.com/office/drawing/2014/main" xmlns="" id="{6F76A667-B93D-1271-0A2E-3EACBB87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240" y="4509120"/>
            <a:ext cx="1416050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배송</a:t>
            </a:r>
            <a:r>
              <a:rPr kumimoji="0" lang="en-US" altLang="ko-KR" sz="900" b="1" dirty="0">
                <a:solidFill>
                  <a:srgbClr val="000000"/>
                </a:solidFill>
                <a:latin typeface="+mn-ea"/>
                <a:ea typeface="+mn-ea"/>
              </a:rPr>
              <a:t>Tracking</a:t>
            </a:r>
          </a:p>
        </p:txBody>
      </p:sp>
      <p:cxnSp>
        <p:nvCxnSpPr>
          <p:cNvPr id="422" name="직선 화살표 연결선 91">
            <a:extLst>
              <a:ext uri="{FF2B5EF4-FFF2-40B4-BE49-F238E27FC236}">
                <a16:creationId xmlns:a16="http://schemas.microsoft.com/office/drawing/2014/main" xmlns="" id="{2A8E8ABB-E58B-2AEF-EDDD-9C5145F087A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875710" y="4483242"/>
            <a:ext cx="1744871" cy="1608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427" name="내용 개체 틀 32">
            <a:extLst>
              <a:ext uri="{FF2B5EF4-FFF2-40B4-BE49-F238E27FC236}">
                <a16:creationId xmlns:a16="http://schemas.microsoft.com/office/drawing/2014/main" xmlns="" id="{E6AE0AD0-0E06-BE00-C6E9-B673E483C156}"/>
              </a:ext>
            </a:extLst>
          </p:cNvPr>
          <p:cNvSpPr txBox="1">
            <a:spLocks/>
          </p:cNvSpPr>
          <p:nvPr/>
        </p:nvSpPr>
        <p:spPr>
          <a:xfrm>
            <a:off x="235209" y="764768"/>
            <a:ext cx="9387615" cy="360000"/>
          </a:xfrm>
          <a:prstGeom prst="rect">
            <a:avLst/>
          </a:prstGeom>
        </p:spPr>
        <p:txBody>
          <a:bodyPr lIns="90000">
            <a:noAutofit/>
          </a:bodyPr>
          <a:lstStyle/>
          <a:p>
            <a:pPr lvl="0">
              <a:lnSpc>
                <a:spcPts val="2200"/>
              </a:lnSpc>
              <a:spcBef>
                <a:spcPts val="0"/>
              </a:spcBef>
              <a:defRPr/>
            </a:pPr>
            <a:r>
              <a:rPr kumimoji="0" lang="en-US" altLang="ko-KR" sz="1500" b="1" dirty="0">
                <a:solidFill>
                  <a:schemeClr val="tx1"/>
                </a:solidFill>
                <a:latin typeface="+mn-ea"/>
                <a:ea typeface="+mn-ea"/>
              </a:rPr>
              <a:t>W</a:t>
            </a:r>
            <a:r>
              <a:rPr kumimoji="0" lang="en-US" altLang="ko-KR" sz="1500" b="1" dirty="0">
                <a:latin typeface="+mn-ea"/>
                <a:ea typeface="+mn-ea"/>
              </a:rPr>
              <a:t>CS</a:t>
            </a:r>
            <a:r>
              <a:rPr kumimoji="0" lang="en-US" altLang="ko-KR" sz="15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0" lang="ko-KR" altLang="en-US" sz="1500" b="1" dirty="0">
                <a:solidFill>
                  <a:schemeClr val="tx1"/>
                </a:solidFill>
                <a:latin typeface="+mn-ea"/>
                <a:ea typeface="+mn-ea"/>
              </a:rPr>
              <a:t>작업 오더 관리</a:t>
            </a:r>
            <a:r>
              <a:rPr kumimoji="0" lang="ko-KR" altLang="en-US" sz="1500" b="1" dirty="0">
                <a:latin typeface="+mn-ea"/>
                <a:ea typeface="+mn-ea"/>
              </a:rPr>
              <a:t>를 </a:t>
            </a:r>
            <a:r>
              <a:rPr kumimoji="0" lang="ko-KR" altLang="en-US" sz="1500" b="1" dirty="0">
                <a:solidFill>
                  <a:schemeClr val="tx1"/>
                </a:solidFill>
                <a:latin typeface="+mn-ea"/>
                <a:ea typeface="+mn-ea"/>
              </a:rPr>
              <a:t>위한 모듈 간 연계 포인트 정의</a:t>
            </a:r>
            <a:endParaRPr kumimoji="0" lang="en-US" altLang="ko-KR" sz="15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429" name="직선 화살표 연결선 91">
            <a:extLst>
              <a:ext uri="{FF2B5EF4-FFF2-40B4-BE49-F238E27FC236}">
                <a16:creationId xmlns:a16="http://schemas.microsoft.com/office/drawing/2014/main" xmlns="" id="{93FE85E8-66AF-6089-55FB-007BF364A9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39776" y="5897097"/>
            <a:ext cx="54844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430" name="Text Box 104">
            <a:extLst>
              <a:ext uri="{FF2B5EF4-FFF2-40B4-BE49-F238E27FC236}">
                <a16:creationId xmlns:a16="http://schemas.microsoft.com/office/drawing/2014/main" xmlns="" id="{BA2D043B-E5F5-AD74-F56F-6F622EF8C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381" y="5651477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작업지시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31" name="직선 화살표 연결선 91">
            <a:extLst>
              <a:ext uri="{FF2B5EF4-FFF2-40B4-BE49-F238E27FC236}">
                <a16:creationId xmlns:a16="http://schemas.microsoft.com/office/drawing/2014/main" xmlns="" id="{895FE0F0-9F76-EF5B-3EFB-93921C48DC8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79222" y="5589240"/>
            <a:ext cx="58896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436" name="Text Box 104">
            <a:extLst>
              <a:ext uri="{FF2B5EF4-FFF2-40B4-BE49-F238E27FC236}">
                <a16:creationId xmlns:a16="http://schemas.microsoft.com/office/drawing/2014/main" xmlns="" id="{31D546C5-D8F8-757B-9E71-7802C931D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381" y="5940329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작업실적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37" name="직선 화살표 연결선 91">
            <a:extLst>
              <a:ext uri="{FF2B5EF4-FFF2-40B4-BE49-F238E27FC236}">
                <a16:creationId xmlns:a16="http://schemas.microsoft.com/office/drawing/2014/main" xmlns="" id="{D8573141-943B-ED42-BE86-ECCF9BDDE5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92924" y="5897097"/>
            <a:ext cx="54844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none" w="med" len="med"/>
          </a:ln>
        </p:spPr>
      </p:cxnSp>
      <p:sp>
        <p:nvSpPr>
          <p:cNvPr id="438" name="Text Box 104">
            <a:extLst>
              <a:ext uri="{FF2B5EF4-FFF2-40B4-BE49-F238E27FC236}">
                <a16:creationId xmlns:a16="http://schemas.microsoft.com/office/drawing/2014/main" xmlns="" id="{3216ED3A-F40D-5022-4675-688F4F174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3529" y="5651477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작업지시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39" name="직선 화살표 연결선 91">
            <a:extLst>
              <a:ext uri="{FF2B5EF4-FFF2-40B4-BE49-F238E27FC236}">
                <a16:creationId xmlns:a16="http://schemas.microsoft.com/office/drawing/2014/main" xmlns="" id="{ADF487C5-CDC8-A835-6F1F-F4FC5074E11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32370" y="5589240"/>
            <a:ext cx="58896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none" w="med" len="med"/>
          </a:ln>
        </p:spPr>
      </p:cxnSp>
      <p:sp>
        <p:nvSpPr>
          <p:cNvPr id="440" name="Text Box 104">
            <a:extLst>
              <a:ext uri="{FF2B5EF4-FFF2-40B4-BE49-F238E27FC236}">
                <a16:creationId xmlns:a16="http://schemas.microsoft.com/office/drawing/2014/main" xmlns="" id="{D307E445-92F3-791F-FD65-02A65943A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3529" y="5940329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작업실적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41" name="Rectangle 634">
            <a:extLst>
              <a:ext uri="{FF2B5EF4-FFF2-40B4-BE49-F238E27FC236}">
                <a16:creationId xmlns:a16="http://schemas.microsoft.com/office/drawing/2014/main" xmlns="" id="{EF471BF8-B28A-39AF-3ACD-908205950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316" y="5466789"/>
            <a:ext cx="1006475" cy="2143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ko-KR" sz="1100" dirty="0">
                <a:latin typeface="+mn-ea"/>
                <a:ea typeface="+mn-ea"/>
                <a:cs typeface="Tahoma" panose="020B0604030504040204" pitchFamily="34" charset="0"/>
              </a:rPr>
              <a:t>DAS </a:t>
            </a:r>
            <a:r>
              <a:rPr lang="ko-KR" altLang="en-US" sz="1100" dirty="0">
                <a:latin typeface="+mn-ea"/>
                <a:ea typeface="+mn-ea"/>
                <a:cs typeface="Tahoma" panose="020B0604030504040204" pitchFamily="34" charset="0"/>
              </a:rPr>
              <a:t>관리</a:t>
            </a:r>
          </a:p>
        </p:txBody>
      </p:sp>
      <p:pic>
        <p:nvPicPr>
          <p:cNvPr id="442" name="그림 441">
            <a:extLst>
              <a:ext uri="{FF2B5EF4-FFF2-40B4-BE49-F238E27FC236}">
                <a16:creationId xmlns:a16="http://schemas.microsoft.com/office/drawing/2014/main" xmlns="" id="{F83D6637-FA45-D375-71D6-DAA7F57EC3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8381" y="5060599"/>
            <a:ext cx="628818" cy="184653"/>
          </a:xfrm>
          <a:prstGeom prst="rect">
            <a:avLst/>
          </a:prstGeom>
        </p:spPr>
      </p:pic>
      <p:cxnSp>
        <p:nvCxnSpPr>
          <p:cNvPr id="443" name="직선 화살표 연결선 91">
            <a:extLst>
              <a:ext uri="{FF2B5EF4-FFF2-40B4-BE49-F238E27FC236}">
                <a16:creationId xmlns:a16="http://schemas.microsoft.com/office/drawing/2014/main" xmlns="" id="{E03281C4-F3E6-5B6D-4910-81046FC2D8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86538" y="5897097"/>
            <a:ext cx="54844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444" name="Text Box 104">
            <a:extLst>
              <a:ext uri="{FF2B5EF4-FFF2-40B4-BE49-F238E27FC236}">
                <a16:creationId xmlns:a16="http://schemas.microsoft.com/office/drawing/2014/main" xmlns="" id="{981B2006-FFFF-EBC0-FC9C-699CF185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143" y="5651477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작업지시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45" name="직선 화살표 연결선 91">
            <a:extLst>
              <a:ext uri="{FF2B5EF4-FFF2-40B4-BE49-F238E27FC236}">
                <a16:creationId xmlns:a16="http://schemas.microsoft.com/office/drawing/2014/main" xmlns="" id="{707A2079-93E6-3DC8-BDF0-93BC8E5F97E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25984" y="5589240"/>
            <a:ext cx="58896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446" name="Text Box 104">
            <a:extLst>
              <a:ext uri="{FF2B5EF4-FFF2-40B4-BE49-F238E27FC236}">
                <a16:creationId xmlns:a16="http://schemas.microsoft.com/office/drawing/2014/main" xmlns="" id="{B169A8BA-1440-045B-E85D-846CF33F7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7143" y="5940329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작업실적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47" name="직선 화살표 연결선 91">
            <a:extLst>
              <a:ext uri="{FF2B5EF4-FFF2-40B4-BE49-F238E27FC236}">
                <a16:creationId xmlns:a16="http://schemas.microsoft.com/office/drawing/2014/main" xmlns="" id="{5C4030B6-569F-77D9-A806-79CACB0D8BD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02794" y="5897097"/>
            <a:ext cx="54844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none" w="med" len="med"/>
          </a:ln>
        </p:spPr>
      </p:cxnSp>
      <p:sp>
        <p:nvSpPr>
          <p:cNvPr id="448" name="Text Box 104">
            <a:extLst>
              <a:ext uri="{FF2B5EF4-FFF2-40B4-BE49-F238E27FC236}">
                <a16:creationId xmlns:a16="http://schemas.microsoft.com/office/drawing/2014/main" xmlns="" id="{D2884A22-940E-36F5-BB8B-61842631B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399" y="5651477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작업지시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49" name="직선 화살표 연결선 91">
            <a:extLst>
              <a:ext uri="{FF2B5EF4-FFF2-40B4-BE49-F238E27FC236}">
                <a16:creationId xmlns:a16="http://schemas.microsoft.com/office/drawing/2014/main" xmlns="" id="{3414314D-1F15-1749-9DCD-5B212EE7725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42240" y="5589240"/>
            <a:ext cx="58896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none" w="med" len="med"/>
          </a:ln>
        </p:spPr>
      </p:cxnSp>
      <p:sp>
        <p:nvSpPr>
          <p:cNvPr id="450" name="Text Box 104">
            <a:extLst>
              <a:ext uri="{FF2B5EF4-FFF2-40B4-BE49-F238E27FC236}">
                <a16:creationId xmlns:a16="http://schemas.microsoft.com/office/drawing/2014/main" xmlns="" id="{D0B720FA-BE8A-F6E5-351F-5DC458B0E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399" y="5940329"/>
            <a:ext cx="660597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작업실적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51" name="직선 화살표 연결선 91">
            <a:extLst>
              <a:ext uri="{FF2B5EF4-FFF2-40B4-BE49-F238E27FC236}">
                <a16:creationId xmlns:a16="http://schemas.microsoft.com/office/drawing/2014/main" xmlns="" id="{2FCBE1D7-AE2D-5D0A-461F-1C0704F95B54}"/>
              </a:ext>
            </a:extLst>
          </p:cNvPr>
          <p:cNvCxnSpPr>
            <a:cxnSpLocks noChangeShapeType="1"/>
            <a:endCxn id="442" idx="3"/>
          </p:cNvCxnSpPr>
          <p:nvPr/>
        </p:nvCxnSpPr>
        <p:spPr bwMode="auto">
          <a:xfrm flipH="1">
            <a:off x="8177199" y="4651725"/>
            <a:ext cx="595782" cy="50120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454" name="Text Box 104">
            <a:extLst>
              <a:ext uri="{FF2B5EF4-FFF2-40B4-BE49-F238E27FC236}">
                <a16:creationId xmlns:a16="http://schemas.microsoft.com/office/drawing/2014/main" xmlns="" id="{D2F56A80-D564-9028-FC76-E1AE88BCD9FC}"/>
              </a:ext>
            </a:extLst>
          </p:cNvPr>
          <p:cNvSpPr txBox="1">
            <a:spLocks noChangeArrowheads="1"/>
          </p:cNvSpPr>
          <p:nvPr/>
        </p:nvSpPr>
        <p:spPr bwMode="auto">
          <a:xfrm rot="19068808">
            <a:off x="7869469" y="4926777"/>
            <a:ext cx="1416050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ko-KR" altLang="en-US" sz="900" b="1">
                <a:solidFill>
                  <a:srgbClr val="000000"/>
                </a:solidFill>
                <a:latin typeface="+mn-ea"/>
                <a:ea typeface="+mn-ea"/>
              </a:rPr>
              <a:t>택배운송장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459" name="Picture 101" descr="WhitePlatform_small">
            <a:extLst>
              <a:ext uri="{FF2B5EF4-FFF2-40B4-BE49-F238E27FC236}">
                <a16:creationId xmlns:a16="http://schemas.microsoft.com/office/drawing/2014/main" xmlns="" id="{0ED246B0-68C0-EFFC-FBAC-9D68DE439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8621" y="3850398"/>
            <a:ext cx="887995" cy="42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7" name="그림 456">
            <a:extLst>
              <a:ext uri="{FF2B5EF4-FFF2-40B4-BE49-F238E27FC236}">
                <a16:creationId xmlns:a16="http://schemas.microsoft.com/office/drawing/2014/main" xmlns="" id="{83771B4C-918E-9996-B1B9-C89C154E28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35" y="4288597"/>
            <a:ext cx="840492" cy="217539"/>
          </a:xfrm>
          <a:prstGeom prst="rect">
            <a:avLst/>
          </a:prstGeom>
        </p:spPr>
      </p:pic>
      <p:pic>
        <p:nvPicPr>
          <p:cNvPr id="461" name="Picture 61" descr="Untitled-1">
            <a:extLst>
              <a:ext uri="{FF2B5EF4-FFF2-40B4-BE49-F238E27FC236}">
                <a16:creationId xmlns:a16="http://schemas.microsoft.com/office/drawing/2014/main" xmlns="" id="{D30D5045-8AB8-7112-AE49-727C14B0D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rgbClr val="9BBB59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798580" y="3816555"/>
            <a:ext cx="406238" cy="37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3" name="그림 462">
            <a:extLst>
              <a:ext uri="{FF2B5EF4-FFF2-40B4-BE49-F238E27FC236}">
                <a16:creationId xmlns:a16="http://schemas.microsoft.com/office/drawing/2014/main" xmlns="" id="{3558F17B-72A8-2647-0B2C-5DB7754FD03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621" y="4543270"/>
            <a:ext cx="869440" cy="253882"/>
          </a:xfrm>
          <a:prstGeom prst="rect">
            <a:avLst/>
          </a:prstGeom>
        </p:spPr>
      </p:pic>
      <p:sp>
        <p:nvSpPr>
          <p:cNvPr id="464" name="Text Box 612">
            <a:extLst>
              <a:ext uri="{FF2B5EF4-FFF2-40B4-BE49-F238E27FC236}">
                <a16:creationId xmlns:a16="http://schemas.microsoft.com/office/drawing/2014/main" xmlns="" id="{633F15B7-000E-63AD-E6A9-85EF39CCE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77" y="3956524"/>
            <a:ext cx="321686" cy="20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buClr>
                <a:schemeClr val="folHlink"/>
              </a:buClr>
              <a:buSzTx/>
              <a:buFont typeface="Times New Roman" panose="02020603050405020304" pitchFamily="18" charset="0"/>
              <a:buNone/>
              <a:defRPr/>
            </a:pPr>
            <a:r>
              <a:rPr lang="en-US" altLang="ko-KR" sz="1100" b="1" dirty="0">
                <a:solidFill>
                  <a:srgbClr val="FF0000"/>
                </a:solidFill>
                <a:latin typeface="+mn-ea"/>
                <a:ea typeface="+mn-ea"/>
                <a:cs typeface="Tahoma" panose="020B0604030504040204" pitchFamily="34" charset="0"/>
              </a:rPr>
              <a:t>DAS</a:t>
            </a:r>
          </a:p>
        </p:txBody>
      </p:sp>
      <p:sp>
        <p:nvSpPr>
          <p:cNvPr id="466" name="Text Box 104">
            <a:extLst>
              <a:ext uri="{FF2B5EF4-FFF2-40B4-BE49-F238E27FC236}">
                <a16:creationId xmlns:a16="http://schemas.microsoft.com/office/drawing/2014/main" xmlns="" id="{128600B1-EBBF-C00E-F1F2-4B94A780AD48}"/>
              </a:ext>
            </a:extLst>
          </p:cNvPr>
          <p:cNvSpPr txBox="1">
            <a:spLocks noChangeArrowheads="1"/>
          </p:cNvSpPr>
          <p:nvPr/>
        </p:nvSpPr>
        <p:spPr bwMode="auto">
          <a:xfrm rot="1191169">
            <a:off x="1975024" y="4670628"/>
            <a:ext cx="1824164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SzPct val="75000"/>
              <a:buFont typeface="Wingdings" panose="05000000000000000000" pitchFamily="2" charset="2"/>
              <a:buChar char="ü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kumimoji="1"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en-US" altLang="ko-KR" sz="900" b="1" dirty="0">
                <a:solidFill>
                  <a:srgbClr val="000000"/>
                </a:solidFill>
                <a:latin typeface="+mn-ea"/>
                <a:ea typeface="+mn-ea"/>
              </a:rPr>
              <a:t>DAS </a:t>
            </a:r>
            <a:r>
              <a:rPr kumimoji="0" lang="ko-KR" altLang="en-US" sz="900" b="1" dirty="0">
                <a:solidFill>
                  <a:srgbClr val="000000"/>
                </a:solidFill>
                <a:latin typeface="+mn-ea"/>
                <a:ea typeface="+mn-ea"/>
              </a:rPr>
              <a:t>작업 연동</a:t>
            </a:r>
            <a:endParaRPr kumimoji="0" lang="en-US" altLang="ko-KR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cxnSp>
        <p:nvCxnSpPr>
          <p:cNvPr id="467" name="직선 화살표 연결선 91">
            <a:extLst>
              <a:ext uri="{FF2B5EF4-FFF2-40B4-BE49-F238E27FC236}">
                <a16:creationId xmlns:a16="http://schemas.microsoft.com/office/drawing/2014/main" xmlns="" id="{DADD3B2A-CF23-BF6E-9F53-E1AFC1D9F05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568624" y="4367678"/>
            <a:ext cx="2543448" cy="947399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/>
            <a:tailEnd type="triangle" w="med" len="med"/>
          </a:ln>
        </p:spPr>
      </p:cxnSp>
      <p:pic>
        <p:nvPicPr>
          <p:cNvPr id="482" name="그림 481">
            <a:extLst>
              <a:ext uri="{FF2B5EF4-FFF2-40B4-BE49-F238E27FC236}">
                <a16:creationId xmlns:a16="http://schemas.microsoft.com/office/drawing/2014/main" xmlns="" id="{200CCFD5-147D-CF78-15BA-7504810849F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01408" y="4740316"/>
            <a:ext cx="898474" cy="185600"/>
          </a:xfrm>
          <a:prstGeom prst="rect">
            <a:avLst/>
          </a:prstGeom>
        </p:spPr>
      </p:pic>
      <p:sp>
        <p:nvSpPr>
          <p:cNvPr id="483" name="TextBox 482">
            <a:extLst>
              <a:ext uri="{FF2B5EF4-FFF2-40B4-BE49-F238E27FC236}">
                <a16:creationId xmlns:a16="http://schemas.microsoft.com/office/drawing/2014/main" xmlns="" id="{FB49A529-0335-7F5A-BFB8-72F4CCFBCD3E}"/>
              </a:ext>
            </a:extLst>
          </p:cNvPr>
          <p:cNvSpPr txBox="1"/>
          <p:nvPr/>
        </p:nvSpPr>
        <p:spPr>
          <a:xfrm rot="20685053">
            <a:off x="8434600" y="755239"/>
            <a:ext cx="792088" cy="27699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NEW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713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="" xmlns:a16="http://schemas.microsoft.com/office/drawing/2014/main" id="{E8F712FE-0345-0694-F6BB-306DADAED5C8}"/>
              </a:ext>
            </a:extLst>
          </p:cNvPr>
          <p:cNvGraphicFramePr>
            <a:graphicFrameLocks noGrp="1"/>
          </p:cNvGraphicFramePr>
          <p:nvPr/>
        </p:nvGraphicFramePr>
        <p:xfrm>
          <a:off x="255702" y="764704"/>
          <a:ext cx="9305812" cy="5688632"/>
        </p:xfrm>
        <a:graphic>
          <a:graphicData uri="http://schemas.openxmlformats.org/drawingml/2006/table">
            <a:tbl>
              <a:tblPr firstRow="1" bandRow="1"/>
              <a:tblGrid>
                <a:gridCol w="10968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736306">
                  <a:extLst>
                    <a:ext uri="{9D8B030D-6E8A-4147-A177-3AD203B41FA5}">
                      <a16:colId xmlns="" xmlns:a16="http://schemas.microsoft.com/office/drawing/2014/main" val="2668263832"/>
                    </a:ext>
                  </a:extLst>
                </a:gridCol>
              </a:tblGrid>
              <a:tr h="3303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ERP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OMS/WMS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I/F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WCS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582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latinLnBrk="1"/>
                      <a:endParaRPr lang="ko-KR" altLang="en-US" sz="1700" dirty="0"/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latinLnBrk="1"/>
                      <a:endParaRPr lang="ko-KR" altLang="en-US" sz="1700" dirty="0"/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latinLnBrk="1"/>
                      <a:r>
                        <a:rPr lang="ko-KR" altLang="en-US" sz="1700" dirty="0"/>
                        <a:t> </a:t>
                      </a:r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2" name="직사각형 281">
            <a:extLst>
              <a:ext uri="{FF2B5EF4-FFF2-40B4-BE49-F238E27FC236}">
                <a16:creationId xmlns="" xmlns:a16="http://schemas.microsoft.com/office/drawing/2014/main" id="{9DE59C87-C448-43DF-C9C1-0669F62F90C5}"/>
              </a:ext>
            </a:extLst>
          </p:cNvPr>
          <p:cNvSpPr/>
          <p:nvPr/>
        </p:nvSpPr>
        <p:spPr>
          <a:xfrm>
            <a:off x="2757530" y="2489090"/>
            <a:ext cx="1157876" cy="9392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  <a:cs typeface="Tahoma" pitchFamily="34" charset="0"/>
            </a:endParaRPr>
          </a:p>
        </p:txBody>
      </p:sp>
      <p:sp>
        <p:nvSpPr>
          <p:cNvPr id="50" name="Rectangle 1584"/>
          <p:cNvSpPr txBox="1">
            <a:spLocks noChangeArrowheads="1"/>
          </p:cNvSpPr>
          <p:nvPr/>
        </p:nvSpPr>
        <p:spPr bwMode="gray">
          <a:xfrm>
            <a:off x="261473" y="241327"/>
            <a:ext cx="33855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ko-KR" altLang="en-US" sz="2200" kern="0" dirty="0" err="1">
                <a:solidFill>
                  <a:schemeClr val="tx1"/>
                </a:solidFill>
              </a:rPr>
              <a:t>남안성</a:t>
            </a:r>
            <a:r>
              <a:rPr kumimoji="0" lang="ko-KR" altLang="en-US" sz="2200" kern="0" dirty="0">
                <a:solidFill>
                  <a:schemeClr val="tx1"/>
                </a:solidFill>
              </a:rPr>
              <a:t> 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– GROSS </a:t>
            </a:r>
            <a:r>
              <a:rPr kumimoji="0" lang="ko-KR" altLang="en-US" sz="2200" kern="0" dirty="0">
                <a:solidFill>
                  <a:schemeClr val="tx1"/>
                </a:solidFill>
              </a:rPr>
              <a:t>프로세스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sp>
        <p:nvSpPr>
          <p:cNvPr id="3" name="Rectangle 1584">
            <a:extLst>
              <a:ext uri="{FF2B5EF4-FFF2-40B4-BE49-F238E27FC236}">
                <a16:creationId xmlns="" xmlns:a16="http://schemas.microsoft.com/office/drawing/2014/main" id="{79A2A282-6EFF-5061-1833-CADC1B48D4F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404859" y="284458"/>
            <a:ext cx="12311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r"/>
            <a:r>
              <a:rPr kumimoji="0" lang="ko-KR" altLang="en-US" sz="1800" kern="0" dirty="0" err="1">
                <a:solidFill>
                  <a:schemeClr val="tx1"/>
                </a:solidFill>
              </a:rPr>
              <a:t>남안성</a:t>
            </a:r>
            <a:r>
              <a:rPr kumimoji="0" lang="ko-KR" altLang="en-US" sz="1800" kern="0" dirty="0">
                <a:solidFill>
                  <a:schemeClr val="tx1"/>
                </a:solidFill>
              </a:rPr>
              <a:t> </a:t>
            </a:r>
            <a:r>
              <a:rPr kumimoji="0" lang="en-US" altLang="ko-KR" sz="1800" kern="0" dirty="0">
                <a:solidFill>
                  <a:schemeClr val="tx1"/>
                </a:solidFill>
              </a:rPr>
              <a:t>OTP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sp>
        <p:nvSpPr>
          <p:cNvPr id="46" name="순서도: 저장 데이터 45">
            <a:extLst>
              <a:ext uri="{FF2B5EF4-FFF2-40B4-BE49-F238E27FC236}">
                <a16:creationId xmlns="" xmlns:a16="http://schemas.microsoft.com/office/drawing/2014/main" id="{C60CB2FD-681E-5BBC-7CBD-24266F4252B5}"/>
              </a:ext>
            </a:extLst>
          </p:cNvPr>
          <p:cNvSpPr/>
          <p:nvPr/>
        </p:nvSpPr>
        <p:spPr bwMode="auto">
          <a:xfrm>
            <a:off x="1460625" y="1391048"/>
            <a:ext cx="1188000" cy="366782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en-US" altLang="ko-KR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B2C</a:t>
            </a: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주문수신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</p:txBody>
      </p:sp>
      <p:grpSp>
        <p:nvGrpSpPr>
          <p:cNvPr id="47" name="Group 51">
            <a:extLst>
              <a:ext uri="{FF2B5EF4-FFF2-40B4-BE49-F238E27FC236}">
                <a16:creationId xmlns="" xmlns:a16="http://schemas.microsoft.com/office/drawing/2014/main" id="{AB94C367-0921-05E2-51CA-AEF845E2D600}"/>
              </a:ext>
            </a:extLst>
          </p:cNvPr>
          <p:cNvGrpSpPr>
            <a:grpSpLocks/>
          </p:cNvGrpSpPr>
          <p:nvPr/>
        </p:nvGrpSpPr>
        <p:grpSpPr bwMode="auto">
          <a:xfrm>
            <a:off x="344488" y="2132928"/>
            <a:ext cx="900113" cy="648000"/>
            <a:chOff x="807" y="2936"/>
            <a:chExt cx="537" cy="453"/>
          </a:xfrm>
        </p:grpSpPr>
        <p:sp>
          <p:nvSpPr>
            <p:cNvPr id="48" name="Rectangle 54">
              <a:extLst>
                <a:ext uri="{FF2B5EF4-FFF2-40B4-BE49-F238E27FC236}">
                  <a16:creationId xmlns="" xmlns:a16="http://schemas.microsoft.com/office/drawing/2014/main" id="{5CAFC8ED-AC7E-DDE0-E86D-18509D57B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자동</a:t>
              </a:r>
            </a:p>
          </p:txBody>
        </p:sp>
        <p:sp>
          <p:nvSpPr>
            <p:cNvPr id="49" name="Rectangle 55">
              <a:extLst>
                <a:ext uri="{FF2B5EF4-FFF2-40B4-BE49-F238E27FC236}">
                  <a16:creationId xmlns="" xmlns:a16="http://schemas.microsoft.com/office/drawing/2014/main" id="{C3DA1AF5-6E70-C123-E74F-E16A3013C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B2C </a:t>
              </a: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주문 확정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51" name="Rectangle 54">
              <a:extLst>
                <a:ext uri="{FF2B5EF4-FFF2-40B4-BE49-F238E27FC236}">
                  <a16:creationId xmlns="" xmlns:a16="http://schemas.microsoft.com/office/drawing/2014/main" id="{B94465C9-EE01-E8C9-3206-C9D7DF1BD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OTMS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52" name="직선 화살표 연결선 74">
            <a:extLst>
              <a:ext uri="{FF2B5EF4-FFF2-40B4-BE49-F238E27FC236}">
                <a16:creationId xmlns="" xmlns:a16="http://schemas.microsoft.com/office/drawing/2014/main" id="{38A0AC1E-F6F2-07DA-379D-4B466DC3D793}"/>
              </a:ext>
            </a:extLst>
          </p:cNvPr>
          <p:cNvCxnSpPr>
            <a:cxnSpLocks/>
            <a:stCxn id="48" idx="0"/>
            <a:endCxn id="46" idx="1"/>
          </p:cNvCxnSpPr>
          <p:nvPr/>
        </p:nvCxnSpPr>
        <p:spPr>
          <a:xfrm rot="5400000" flipH="1" flipV="1">
            <a:off x="848341" y="1520644"/>
            <a:ext cx="558489" cy="666080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1">
            <a:extLst>
              <a:ext uri="{FF2B5EF4-FFF2-40B4-BE49-F238E27FC236}">
                <a16:creationId xmlns="" xmlns:a16="http://schemas.microsoft.com/office/drawing/2014/main" id="{60F283D7-F8EC-5FF5-C8B2-4F42EF0AC884}"/>
              </a:ext>
            </a:extLst>
          </p:cNvPr>
          <p:cNvGrpSpPr>
            <a:grpSpLocks/>
          </p:cNvGrpSpPr>
          <p:nvPr/>
        </p:nvGrpSpPr>
        <p:grpSpPr bwMode="auto">
          <a:xfrm>
            <a:off x="2864768" y="1250439"/>
            <a:ext cx="900113" cy="648000"/>
            <a:chOff x="807" y="2936"/>
            <a:chExt cx="537" cy="453"/>
          </a:xfrm>
        </p:grpSpPr>
        <p:sp>
          <p:nvSpPr>
            <p:cNvPr id="58" name="Rectangle 54">
              <a:extLst>
                <a:ext uri="{FF2B5EF4-FFF2-40B4-BE49-F238E27FC236}">
                  <a16:creationId xmlns="" xmlns:a16="http://schemas.microsoft.com/office/drawing/2014/main" id="{E2287CB0-65EF-A8DC-6EB5-00AA45386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59" name="Rectangle 55">
              <a:extLst>
                <a:ext uri="{FF2B5EF4-FFF2-40B4-BE49-F238E27FC236}">
                  <a16:creationId xmlns="" xmlns:a16="http://schemas.microsoft.com/office/drawing/2014/main" id="{DCEEBD63-B30D-9694-475F-3CC446B6B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주문접수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60" name="Rectangle 54">
              <a:extLst>
                <a:ext uri="{FF2B5EF4-FFF2-40B4-BE49-F238E27FC236}">
                  <a16:creationId xmlns="" xmlns:a16="http://schemas.microsoft.com/office/drawing/2014/main" id="{B3E157C8-F2FA-14B7-33E9-2C179070F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61" name="Group 51">
            <a:extLst>
              <a:ext uri="{FF2B5EF4-FFF2-40B4-BE49-F238E27FC236}">
                <a16:creationId xmlns="" xmlns:a16="http://schemas.microsoft.com/office/drawing/2014/main" id="{2E8B6201-69D7-E33F-0067-C1728F4C57A4}"/>
              </a:ext>
            </a:extLst>
          </p:cNvPr>
          <p:cNvGrpSpPr>
            <a:grpSpLocks/>
          </p:cNvGrpSpPr>
          <p:nvPr/>
        </p:nvGrpSpPr>
        <p:grpSpPr bwMode="auto">
          <a:xfrm>
            <a:off x="4088228" y="1241908"/>
            <a:ext cx="900113" cy="648000"/>
            <a:chOff x="807" y="2936"/>
            <a:chExt cx="537" cy="453"/>
          </a:xfrm>
        </p:grpSpPr>
        <p:sp>
          <p:nvSpPr>
            <p:cNvPr id="62" name="Rectangle 54">
              <a:extLst>
                <a:ext uri="{FF2B5EF4-FFF2-40B4-BE49-F238E27FC236}">
                  <a16:creationId xmlns="" xmlns:a16="http://schemas.microsoft.com/office/drawing/2014/main" id="{B61E66B6-208F-572F-05C6-4E2DB1957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63" name="Rectangle 55">
              <a:extLst>
                <a:ext uri="{FF2B5EF4-FFF2-40B4-BE49-F238E27FC236}">
                  <a16:creationId xmlns="" xmlns:a16="http://schemas.microsoft.com/office/drawing/2014/main" id="{D0196736-9860-327D-636F-1600664D5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주문관리</a:t>
              </a:r>
              <a:endParaRPr kumimoji="0" lang="en-US" altLang="ko-KR" sz="800" kern="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(</a:t>
              </a: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주문확정</a:t>
              </a: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)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64" name="Rectangle 54">
              <a:extLst>
                <a:ext uri="{FF2B5EF4-FFF2-40B4-BE49-F238E27FC236}">
                  <a16:creationId xmlns="" xmlns:a16="http://schemas.microsoft.com/office/drawing/2014/main" id="{0604C6C7-C35E-45A4-D99F-59EE5511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="" xmlns:a16="http://schemas.microsoft.com/office/drawing/2014/main" id="{7F92D481-22A5-44DC-6BCE-2CB897A91E86}"/>
              </a:ext>
            </a:extLst>
          </p:cNvPr>
          <p:cNvGrpSpPr/>
          <p:nvPr/>
        </p:nvGrpSpPr>
        <p:grpSpPr>
          <a:xfrm>
            <a:off x="1496616" y="2564904"/>
            <a:ext cx="939331" cy="626246"/>
            <a:chOff x="3133664" y="2530763"/>
            <a:chExt cx="884154" cy="683203"/>
          </a:xfrm>
        </p:grpSpPr>
        <p:sp>
          <p:nvSpPr>
            <p:cNvPr id="68" name="TextBox 67">
              <a:extLst>
                <a:ext uri="{FF2B5EF4-FFF2-40B4-BE49-F238E27FC236}">
                  <a16:creationId xmlns="" xmlns:a16="http://schemas.microsoft.com/office/drawing/2014/main" id="{FA53AC2E-49FD-D063-AF88-772B383E864A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출고 주문 확인</a:t>
              </a:r>
              <a:endPara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1A3D7D2A-69B2-AE20-4D03-873CC2EA7F68}"/>
                </a:ext>
              </a:extLst>
            </p:cNvPr>
            <p:cNvSpPr txBox="1"/>
            <p:nvPr/>
          </p:nvSpPr>
          <p:spPr>
            <a:xfrm>
              <a:off x="3133664" y="3033785"/>
              <a:ext cx="884154" cy="18018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WMS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8750D7B0-EF39-7108-E807-FFE4D8D504AC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출고</a:t>
              </a:r>
              <a:r>
                <a:rPr kumimoji="0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 담당자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="" xmlns:a16="http://schemas.microsoft.com/office/drawing/2014/main" id="{F9E04082-4E75-FE79-2075-E1A1BB0124EF}"/>
              </a:ext>
            </a:extLst>
          </p:cNvPr>
          <p:cNvGrpSpPr/>
          <p:nvPr/>
        </p:nvGrpSpPr>
        <p:grpSpPr>
          <a:xfrm>
            <a:off x="1505752" y="3450826"/>
            <a:ext cx="939331" cy="626246"/>
            <a:chOff x="3133664" y="2530763"/>
            <a:chExt cx="884154" cy="683203"/>
          </a:xfrm>
        </p:grpSpPr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44E75264-0851-F843-4501-BB0DAEA34C1D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OTP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웨이브 실행</a:t>
              </a:r>
              <a:endPara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F758EECE-8FCB-2B98-F7C4-15D70139CF27}"/>
                </a:ext>
              </a:extLst>
            </p:cNvPr>
            <p:cNvSpPr txBox="1"/>
            <p:nvPr/>
          </p:nvSpPr>
          <p:spPr>
            <a:xfrm>
              <a:off x="3133664" y="3033785"/>
              <a:ext cx="884154" cy="18018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WMS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="" xmlns:a16="http://schemas.microsoft.com/office/drawing/2014/main" id="{93FA3C1D-1093-6168-52FA-2B2BC4200C3F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출고</a:t>
              </a:r>
              <a:r>
                <a:rPr kumimoji="0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 담당자</a:t>
              </a:r>
            </a:p>
          </p:txBody>
        </p:sp>
      </p:grpSp>
      <p:sp>
        <p:nvSpPr>
          <p:cNvPr id="76" name="순서도: 자기 디스크 75">
            <a:extLst>
              <a:ext uri="{FF2B5EF4-FFF2-40B4-BE49-F238E27FC236}">
                <a16:creationId xmlns="" xmlns:a16="http://schemas.microsoft.com/office/drawing/2014/main" id="{C8E7E06D-7389-C763-3932-8D02F35DDC2D}"/>
              </a:ext>
            </a:extLst>
          </p:cNvPr>
          <p:cNvSpPr/>
          <p:nvPr/>
        </p:nvSpPr>
        <p:spPr bwMode="auto">
          <a:xfrm>
            <a:off x="5864075" y="1384313"/>
            <a:ext cx="745109" cy="366782"/>
          </a:xfrm>
          <a:prstGeom prst="flowChartMagneticDisk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PAS</a:t>
            </a: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&amp;</a:t>
            </a: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OTP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작업지시</a:t>
            </a:r>
          </a:p>
        </p:txBody>
      </p:sp>
      <p:sp>
        <p:nvSpPr>
          <p:cNvPr id="77" name="순서도: 자기 디스크 76">
            <a:extLst>
              <a:ext uri="{FF2B5EF4-FFF2-40B4-BE49-F238E27FC236}">
                <a16:creationId xmlns="" xmlns:a16="http://schemas.microsoft.com/office/drawing/2014/main" id="{A98C2158-0CB4-6AC0-7A6B-A61DED9C5473}"/>
              </a:ext>
            </a:extLst>
          </p:cNvPr>
          <p:cNvSpPr/>
          <p:nvPr/>
        </p:nvSpPr>
        <p:spPr bwMode="auto">
          <a:xfrm>
            <a:off x="5961112" y="5013176"/>
            <a:ext cx="745109" cy="366782"/>
          </a:xfrm>
          <a:prstGeom prst="flowChartMagneticDisk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PAS</a:t>
            </a: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&amp;</a:t>
            </a: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OTP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작업</a:t>
            </a:r>
            <a:r>
              <a:rPr kumimoji="0"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실적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79" name="Group 51">
            <a:extLst>
              <a:ext uri="{FF2B5EF4-FFF2-40B4-BE49-F238E27FC236}">
                <a16:creationId xmlns="" xmlns:a16="http://schemas.microsoft.com/office/drawing/2014/main" id="{9F82129F-B18C-B70D-7675-CACC4F5E9711}"/>
              </a:ext>
            </a:extLst>
          </p:cNvPr>
          <p:cNvGrpSpPr>
            <a:grpSpLocks/>
          </p:cNvGrpSpPr>
          <p:nvPr/>
        </p:nvGrpSpPr>
        <p:grpSpPr bwMode="auto">
          <a:xfrm>
            <a:off x="7752603" y="1241908"/>
            <a:ext cx="900113" cy="648000"/>
            <a:chOff x="807" y="2936"/>
            <a:chExt cx="537" cy="453"/>
          </a:xfrm>
        </p:grpSpPr>
        <p:sp>
          <p:nvSpPr>
            <p:cNvPr id="80" name="Rectangle 54">
              <a:extLst>
                <a:ext uri="{FF2B5EF4-FFF2-40B4-BE49-F238E27FC236}">
                  <a16:creationId xmlns="" xmlns:a16="http://schemas.microsoft.com/office/drawing/2014/main" id="{EC511C14-D2F1-5C3D-DDAD-0EF595F08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81" name="Rectangle 55">
              <a:extLst>
                <a:ext uri="{FF2B5EF4-FFF2-40B4-BE49-F238E27FC236}">
                  <a16:creationId xmlns="" xmlns:a16="http://schemas.microsoft.com/office/drawing/2014/main" id="{9B2BEBEF-E78F-686F-5BC8-60782ADCF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작업 오더</a:t>
              </a:r>
              <a:endParaRPr kumimoji="0" lang="en-US" altLang="ko-KR" sz="800" kern="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접수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82" name="Rectangle 54">
              <a:extLst>
                <a:ext uri="{FF2B5EF4-FFF2-40B4-BE49-F238E27FC236}">
                  <a16:creationId xmlns="" xmlns:a16="http://schemas.microsoft.com/office/drawing/2014/main" id="{3C7C4ACA-2C4D-2A54-AAD1-A08C89C91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WCS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84" name="AutoShape 107">
            <a:extLst>
              <a:ext uri="{FF2B5EF4-FFF2-40B4-BE49-F238E27FC236}">
                <a16:creationId xmlns="" xmlns:a16="http://schemas.microsoft.com/office/drawing/2014/main" id="{1EFA9458-28C8-AFAC-DE9E-765C49FC6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272" y="2564904"/>
            <a:ext cx="939600" cy="360000"/>
          </a:xfrm>
          <a:prstGeom prst="flowChartPredefinedProcess">
            <a:avLst/>
          </a:prstGeom>
          <a:solidFill>
            <a:schemeClr val="bg1"/>
          </a:soli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dirty="0">
                <a:solidFill>
                  <a:sysClr val="windowText" lastClr="000000"/>
                </a:solidFill>
                <a:latin typeface="+mn-ea"/>
                <a:ea typeface="+mn-ea"/>
              </a:rPr>
              <a:t>OTP</a:t>
            </a:r>
            <a:r>
              <a:rPr kumimoji="0" lang="ko-KR" altLang="en-US" sz="800" kern="0" dirty="0">
                <a:solidFill>
                  <a:sysClr val="windowText" lastClr="000000"/>
                </a:solidFill>
                <a:latin typeface="+mn-ea"/>
                <a:ea typeface="+mn-ea"/>
              </a:rPr>
              <a:t>상품배치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="" xmlns:a16="http://schemas.microsoft.com/office/drawing/2014/main" id="{569B3C98-413D-DEC6-6C8D-23D18449A044}"/>
              </a:ext>
            </a:extLst>
          </p:cNvPr>
          <p:cNvGrpSpPr/>
          <p:nvPr/>
        </p:nvGrpSpPr>
        <p:grpSpPr>
          <a:xfrm>
            <a:off x="2792760" y="4797152"/>
            <a:ext cx="939331" cy="626246"/>
            <a:chOff x="3133664" y="2530763"/>
            <a:chExt cx="884154" cy="683203"/>
          </a:xfrm>
        </p:grpSpPr>
        <p:sp>
          <p:nvSpPr>
            <p:cNvPr id="86" name="TextBox 85">
              <a:extLst>
                <a:ext uri="{FF2B5EF4-FFF2-40B4-BE49-F238E27FC236}">
                  <a16:creationId xmlns="" xmlns:a16="http://schemas.microsoft.com/office/drawing/2014/main" id="{6DF1F860-928C-2567-FD05-49E37503EB9F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피킹확정</a:t>
              </a:r>
              <a:endPara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="" xmlns:a16="http://schemas.microsoft.com/office/drawing/2014/main" id="{28943FAB-0103-5D52-092D-AF09292B0215}"/>
                </a:ext>
              </a:extLst>
            </p:cNvPr>
            <p:cNvSpPr txBox="1"/>
            <p:nvPr/>
          </p:nvSpPr>
          <p:spPr>
            <a:xfrm>
              <a:off x="3133664" y="3033785"/>
              <a:ext cx="884154" cy="18018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WMS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9666117E-A445-7BAE-1010-24C3BCF58001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자동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</p:grpSp>
      <p:sp>
        <p:nvSpPr>
          <p:cNvPr id="89" name="AutoShape 107">
            <a:extLst>
              <a:ext uri="{FF2B5EF4-FFF2-40B4-BE49-F238E27FC236}">
                <a16:creationId xmlns="" xmlns:a16="http://schemas.microsoft.com/office/drawing/2014/main" id="{6B67E5E8-7D89-8B34-E0B7-C4034AE0C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272" y="2996992"/>
            <a:ext cx="939600" cy="360000"/>
          </a:xfrm>
          <a:prstGeom prst="flowChartPredefinedProcess">
            <a:avLst/>
          </a:prstGeom>
          <a:solidFill>
            <a:schemeClr val="bg1"/>
          </a:soli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dirty="0">
                <a:solidFill>
                  <a:sysClr val="windowText" lastClr="000000"/>
                </a:solidFill>
                <a:latin typeface="+mn-ea"/>
                <a:ea typeface="+mn-ea"/>
              </a:rPr>
              <a:t>OTP</a:t>
            </a:r>
            <a:r>
              <a:rPr kumimoji="0" lang="ko-KR" altLang="en-US" sz="800" kern="0" dirty="0">
                <a:solidFill>
                  <a:sysClr val="windowText" lastClr="000000"/>
                </a:solidFill>
                <a:latin typeface="+mn-ea"/>
                <a:ea typeface="+mn-ea"/>
              </a:rPr>
              <a:t>웨이브기준</a:t>
            </a:r>
            <a:endParaRPr kumimoji="0" lang="en-US" altLang="ko-KR" sz="800" kern="0" dirty="0">
              <a:solidFill>
                <a:sysClr val="windowText" lastClr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dirty="0">
                <a:solidFill>
                  <a:sysClr val="windowText" lastClr="000000"/>
                </a:solidFill>
                <a:latin typeface="+mn-ea"/>
                <a:ea typeface="+mn-ea"/>
              </a:rPr>
              <a:t>전략 수립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91" name="Group 51">
            <a:extLst>
              <a:ext uri="{FF2B5EF4-FFF2-40B4-BE49-F238E27FC236}">
                <a16:creationId xmlns="" xmlns:a16="http://schemas.microsoft.com/office/drawing/2014/main" id="{0F365191-1D4D-1BD0-6BE7-7AB285709F85}"/>
              </a:ext>
            </a:extLst>
          </p:cNvPr>
          <p:cNvGrpSpPr>
            <a:grpSpLocks/>
          </p:cNvGrpSpPr>
          <p:nvPr/>
        </p:nvGrpSpPr>
        <p:grpSpPr bwMode="auto">
          <a:xfrm>
            <a:off x="7761312" y="2060920"/>
            <a:ext cx="900113" cy="648000"/>
            <a:chOff x="807" y="2936"/>
            <a:chExt cx="537" cy="453"/>
          </a:xfrm>
        </p:grpSpPr>
        <p:sp>
          <p:nvSpPr>
            <p:cNvPr id="92" name="Rectangle 54">
              <a:extLst>
                <a:ext uri="{FF2B5EF4-FFF2-40B4-BE49-F238E27FC236}">
                  <a16:creationId xmlns="" xmlns:a16="http://schemas.microsoft.com/office/drawing/2014/main" id="{F7C18D9E-B916-B763-E35D-CA27C8A93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93" name="Rectangle 55">
              <a:extLst>
                <a:ext uri="{FF2B5EF4-FFF2-40B4-BE49-F238E27FC236}">
                  <a16:creationId xmlns="" xmlns:a16="http://schemas.microsoft.com/office/drawing/2014/main" id="{700E993D-18E6-2F38-D4E8-0B08359CF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작업 분배</a:t>
              </a:r>
              <a:endParaRPr kumimoji="0" lang="en-US" altLang="ko-KR" sz="800" kern="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(</a:t>
              </a: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차수단위</a:t>
              </a: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94" name="Rectangle 54">
              <a:extLst>
                <a:ext uri="{FF2B5EF4-FFF2-40B4-BE49-F238E27FC236}">
                  <a16:creationId xmlns="" xmlns:a16="http://schemas.microsoft.com/office/drawing/2014/main" id="{90A21057-55C8-4F74-2C4D-028483C7C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WCS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="" xmlns:a16="http://schemas.microsoft.com/office/drawing/2014/main" id="{493E38CF-3CD6-8773-6B9E-44B3EBBB008E}"/>
              </a:ext>
            </a:extLst>
          </p:cNvPr>
          <p:cNvGrpSpPr/>
          <p:nvPr/>
        </p:nvGrpSpPr>
        <p:grpSpPr>
          <a:xfrm>
            <a:off x="4157685" y="3738858"/>
            <a:ext cx="939331" cy="626246"/>
            <a:chOff x="3133664" y="2530763"/>
            <a:chExt cx="884154" cy="683203"/>
          </a:xfrm>
        </p:grpSpPr>
        <p:sp>
          <p:nvSpPr>
            <p:cNvPr id="96" name="TextBox 95">
              <a:extLst>
                <a:ext uri="{FF2B5EF4-FFF2-40B4-BE49-F238E27FC236}">
                  <a16:creationId xmlns="" xmlns:a16="http://schemas.microsoft.com/office/drawing/2014/main" id="{22DCDADC-F69F-FECB-846D-7FF222334832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PAS</a:t>
              </a: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 총량 </a:t>
              </a:r>
              <a:r>
                <a:rPr kumimoji="0" lang="ko-KR" altLang="en-US" sz="800" dirty="0" err="1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피킹</a:t>
              </a:r>
              <a:endPara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="" xmlns:a16="http://schemas.microsoft.com/office/drawing/2014/main" id="{60966857-6DE1-748E-F4D8-16B8B4DF9338}"/>
                </a:ext>
              </a:extLst>
            </p:cNvPr>
            <p:cNvSpPr txBox="1"/>
            <p:nvPr/>
          </p:nvSpPr>
          <p:spPr>
            <a:xfrm>
              <a:off x="3133664" y="3033785"/>
              <a:ext cx="884154" cy="18018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WMS/PDA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="" xmlns:a16="http://schemas.microsoft.com/office/drawing/2014/main" id="{0CDA9072-C99C-3CE1-4B4E-34C2256FEB98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출고</a:t>
              </a:r>
              <a:r>
                <a:rPr kumimoji="0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 담당자</a:t>
              </a:r>
            </a:p>
          </p:txBody>
        </p:sp>
      </p:grpSp>
      <p:sp>
        <p:nvSpPr>
          <p:cNvPr id="99" name="순서도: 저장 데이터 98">
            <a:extLst>
              <a:ext uri="{FF2B5EF4-FFF2-40B4-BE49-F238E27FC236}">
                <a16:creationId xmlns="" xmlns:a16="http://schemas.microsoft.com/office/drawing/2014/main" id="{9A41FB81-8AC0-D1C0-1D78-2467C08247B9}"/>
              </a:ext>
            </a:extLst>
          </p:cNvPr>
          <p:cNvSpPr/>
          <p:nvPr/>
        </p:nvSpPr>
        <p:spPr bwMode="auto">
          <a:xfrm>
            <a:off x="4908608" y="3321024"/>
            <a:ext cx="939600" cy="324000"/>
          </a:xfrm>
          <a:prstGeom prst="flowChartOnlineStorage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WCS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작업지시전송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  <a:cs typeface="Arial"/>
            </a:endParaRPr>
          </a:p>
        </p:txBody>
      </p:sp>
      <p:cxnSp>
        <p:nvCxnSpPr>
          <p:cNvPr id="100" name="직선 화살표 연결선 74">
            <a:extLst>
              <a:ext uri="{FF2B5EF4-FFF2-40B4-BE49-F238E27FC236}">
                <a16:creationId xmlns="" xmlns:a16="http://schemas.microsoft.com/office/drawing/2014/main" id="{924D48A6-FA07-19E9-E389-462C28577379}"/>
              </a:ext>
            </a:extLst>
          </p:cNvPr>
          <p:cNvCxnSpPr>
            <a:cxnSpLocks/>
            <a:stCxn id="46" idx="3"/>
            <a:endCxn id="59" idx="1"/>
          </p:cNvCxnSpPr>
          <p:nvPr/>
        </p:nvCxnSpPr>
        <p:spPr>
          <a:xfrm>
            <a:off x="2450625" y="1574439"/>
            <a:ext cx="414143" cy="1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74">
            <a:extLst>
              <a:ext uri="{FF2B5EF4-FFF2-40B4-BE49-F238E27FC236}">
                <a16:creationId xmlns="" xmlns:a16="http://schemas.microsoft.com/office/drawing/2014/main" id="{F026DABD-217D-9842-00D5-7E1AC1FCBDE8}"/>
              </a:ext>
            </a:extLst>
          </p:cNvPr>
          <p:cNvCxnSpPr>
            <a:cxnSpLocks/>
            <a:stCxn id="59" idx="3"/>
            <a:endCxn id="63" idx="1"/>
          </p:cNvCxnSpPr>
          <p:nvPr/>
        </p:nvCxnSpPr>
        <p:spPr>
          <a:xfrm flipV="1">
            <a:off x="3764881" y="1565909"/>
            <a:ext cx="323347" cy="8531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74">
            <a:extLst>
              <a:ext uri="{FF2B5EF4-FFF2-40B4-BE49-F238E27FC236}">
                <a16:creationId xmlns="" xmlns:a16="http://schemas.microsoft.com/office/drawing/2014/main" id="{55C65B86-6C42-8985-4DD6-9045BB504C8D}"/>
              </a:ext>
            </a:extLst>
          </p:cNvPr>
          <p:cNvCxnSpPr>
            <a:cxnSpLocks/>
            <a:stCxn id="64" idx="2"/>
            <a:endCxn id="70" idx="0"/>
          </p:cNvCxnSpPr>
          <p:nvPr/>
        </p:nvCxnSpPr>
        <p:spPr>
          <a:xfrm rot="5400000">
            <a:off x="2914786" y="941405"/>
            <a:ext cx="674996" cy="2572003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51">
            <a:extLst>
              <a:ext uri="{FF2B5EF4-FFF2-40B4-BE49-F238E27FC236}">
                <a16:creationId xmlns="" xmlns:a16="http://schemas.microsoft.com/office/drawing/2014/main" id="{1C9E921E-BE97-EC25-712F-99725E44849F}"/>
              </a:ext>
            </a:extLst>
          </p:cNvPr>
          <p:cNvGrpSpPr>
            <a:grpSpLocks/>
          </p:cNvGrpSpPr>
          <p:nvPr/>
        </p:nvGrpSpPr>
        <p:grpSpPr bwMode="auto">
          <a:xfrm>
            <a:off x="7194773" y="2924944"/>
            <a:ext cx="900113" cy="648000"/>
            <a:chOff x="807" y="2936"/>
            <a:chExt cx="537" cy="453"/>
          </a:xfrm>
        </p:grpSpPr>
        <p:sp>
          <p:nvSpPr>
            <p:cNvPr id="114" name="Rectangle 54">
              <a:extLst>
                <a:ext uri="{FF2B5EF4-FFF2-40B4-BE49-F238E27FC236}">
                  <a16:creationId xmlns="" xmlns:a16="http://schemas.microsoft.com/office/drawing/2014/main" id="{4D6AA7B0-EF55-7624-88C2-4913E7F39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출고담당자</a:t>
              </a:r>
            </a:p>
          </p:txBody>
        </p:sp>
        <p:sp>
          <p:nvSpPr>
            <p:cNvPr id="115" name="Rectangle 55">
              <a:extLst>
                <a:ext uri="{FF2B5EF4-FFF2-40B4-BE49-F238E27FC236}">
                  <a16:creationId xmlns="" xmlns:a16="http://schemas.microsoft.com/office/drawing/2014/main" id="{FAD6E6BF-38CC-23D9-5AED-959DD5BF5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PAS</a:t>
              </a: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투입 </a:t>
              </a:r>
              <a:endParaRPr kumimoji="0" lang="en-US" altLang="ko-KR" sz="800" kern="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&amp; </a:t>
              </a: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고객별 분배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16" name="Rectangle 54">
              <a:extLst>
                <a:ext uri="{FF2B5EF4-FFF2-40B4-BE49-F238E27FC236}">
                  <a16:creationId xmlns="" xmlns:a16="http://schemas.microsoft.com/office/drawing/2014/main" id="{2B98755C-15B6-574C-D613-94AA8F5A0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PAS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117" name="Group 51">
            <a:extLst>
              <a:ext uri="{FF2B5EF4-FFF2-40B4-BE49-F238E27FC236}">
                <a16:creationId xmlns="" xmlns:a16="http://schemas.microsoft.com/office/drawing/2014/main" id="{80573413-008D-7201-C7B3-9CDB878F68F9}"/>
              </a:ext>
            </a:extLst>
          </p:cNvPr>
          <p:cNvGrpSpPr>
            <a:grpSpLocks/>
          </p:cNvGrpSpPr>
          <p:nvPr/>
        </p:nvGrpSpPr>
        <p:grpSpPr bwMode="auto">
          <a:xfrm>
            <a:off x="8373367" y="2924944"/>
            <a:ext cx="900113" cy="648000"/>
            <a:chOff x="807" y="2936"/>
            <a:chExt cx="537" cy="453"/>
          </a:xfrm>
        </p:grpSpPr>
        <p:sp>
          <p:nvSpPr>
            <p:cNvPr id="118" name="Rectangle 54">
              <a:extLst>
                <a:ext uri="{FF2B5EF4-FFF2-40B4-BE49-F238E27FC236}">
                  <a16:creationId xmlns="" xmlns:a16="http://schemas.microsoft.com/office/drawing/2014/main" id="{EAEF20B8-D342-C434-3C40-ABDD7DA57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출고담당자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19" name="Rectangle 55">
              <a:extLst>
                <a:ext uri="{FF2B5EF4-FFF2-40B4-BE49-F238E27FC236}">
                  <a16:creationId xmlns="" xmlns:a16="http://schemas.microsoft.com/office/drawing/2014/main" id="{36EBF6F9-63A5-4D16-2CCA-ECD94890D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OTP </a:t>
              </a:r>
              <a:r>
                <a:rPr kumimoji="0" lang="ko-KR" altLang="en-US" sz="800" kern="0" dirty="0" err="1">
                  <a:solidFill>
                    <a:srgbClr val="000000"/>
                  </a:solidFill>
                  <a:latin typeface="+mj-ea"/>
                  <a:ea typeface="+mj-ea"/>
                </a:rPr>
                <a:t>피킹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20" name="Rectangle 54">
              <a:extLst>
                <a:ext uri="{FF2B5EF4-FFF2-40B4-BE49-F238E27FC236}">
                  <a16:creationId xmlns="" xmlns:a16="http://schemas.microsoft.com/office/drawing/2014/main" id="{5745AC49-090E-29D7-DE6C-22066948C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OTP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121" name="Group 51">
            <a:extLst>
              <a:ext uri="{FF2B5EF4-FFF2-40B4-BE49-F238E27FC236}">
                <a16:creationId xmlns="" xmlns:a16="http://schemas.microsoft.com/office/drawing/2014/main" id="{E6E48167-39BB-BF01-43C5-11916A2B78CE}"/>
              </a:ext>
            </a:extLst>
          </p:cNvPr>
          <p:cNvGrpSpPr>
            <a:grpSpLocks/>
          </p:cNvGrpSpPr>
          <p:nvPr/>
        </p:nvGrpSpPr>
        <p:grpSpPr bwMode="auto">
          <a:xfrm>
            <a:off x="7725295" y="3740767"/>
            <a:ext cx="900113" cy="648000"/>
            <a:chOff x="807" y="2936"/>
            <a:chExt cx="537" cy="453"/>
          </a:xfrm>
        </p:grpSpPr>
        <p:sp>
          <p:nvSpPr>
            <p:cNvPr id="122" name="Rectangle 54">
              <a:extLst>
                <a:ext uri="{FF2B5EF4-FFF2-40B4-BE49-F238E27FC236}">
                  <a16:creationId xmlns="" xmlns:a16="http://schemas.microsoft.com/office/drawing/2014/main" id="{0D710B43-A9CC-620D-588D-87B4C21B7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출고담당자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23" name="Rectangle 55">
              <a:extLst>
                <a:ext uri="{FF2B5EF4-FFF2-40B4-BE49-F238E27FC236}">
                  <a16:creationId xmlns="" xmlns:a16="http://schemas.microsoft.com/office/drawing/2014/main" id="{B7A24B75-2300-2647-E8FF-623337913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박스 검수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24" name="Rectangle 54">
              <a:extLst>
                <a:ext uri="{FF2B5EF4-FFF2-40B4-BE49-F238E27FC236}">
                  <a16:creationId xmlns="" xmlns:a16="http://schemas.microsoft.com/office/drawing/2014/main" id="{1F3CAAE5-7E95-05A9-5864-5B0E989AD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WCS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126" name="AutoShape 148">
            <a:extLst>
              <a:ext uri="{FF2B5EF4-FFF2-40B4-BE49-F238E27FC236}">
                <a16:creationId xmlns="" xmlns:a16="http://schemas.microsoft.com/office/drawing/2014/main" id="{E6E65E43-2549-5248-3C12-7392861D6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5824" y="4836080"/>
            <a:ext cx="776529" cy="299546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800" kern="0" dirty="0">
                <a:latin typeface="Arial" panose="020B0604020202020204" pitchFamily="34" charset="0"/>
                <a:ea typeface="맑은 고딕" panose="020B0503020000020004" pitchFamily="50" charset="-127"/>
              </a:rPr>
              <a:t>택배운송장 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131" name="Group 51">
            <a:extLst>
              <a:ext uri="{FF2B5EF4-FFF2-40B4-BE49-F238E27FC236}">
                <a16:creationId xmlns="" xmlns:a16="http://schemas.microsoft.com/office/drawing/2014/main" id="{5855DA1F-B01B-8ECC-B872-8EE04F320F37}"/>
              </a:ext>
            </a:extLst>
          </p:cNvPr>
          <p:cNvGrpSpPr>
            <a:grpSpLocks/>
          </p:cNvGrpSpPr>
          <p:nvPr/>
        </p:nvGrpSpPr>
        <p:grpSpPr bwMode="auto">
          <a:xfrm>
            <a:off x="7194773" y="4653136"/>
            <a:ext cx="900113" cy="648000"/>
            <a:chOff x="807" y="2936"/>
            <a:chExt cx="537" cy="453"/>
          </a:xfrm>
        </p:grpSpPr>
        <p:sp>
          <p:nvSpPr>
            <p:cNvPr id="132" name="Rectangle 54">
              <a:extLst>
                <a:ext uri="{FF2B5EF4-FFF2-40B4-BE49-F238E27FC236}">
                  <a16:creationId xmlns="" xmlns:a16="http://schemas.microsoft.com/office/drawing/2014/main" id="{63E3E694-3189-ADBE-915A-DC71CA38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출고담당자</a:t>
              </a:r>
            </a:p>
          </p:txBody>
        </p:sp>
        <p:sp>
          <p:nvSpPr>
            <p:cNvPr id="133" name="Rectangle 55">
              <a:extLst>
                <a:ext uri="{FF2B5EF4-FFF2-40B4-BE49-F238E27FC236}">
                  <a16:creationId xmlns="" xmlns:a16="http://schemas.microsoft.com/office/drawing/2014/main" id="{0FB3CC8F-AA8E-DABA-AD92-E5FE4E35D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운송장출력</a:t>
              </a: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&amp;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박스 패킹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34" name="Rectangle 54">
              <a:extLst>
                <a:ext uri="{FF2B5EF4-FFF2-40B4-BE49-F238E27FC236}">
                  <a16:creationId xmlns="" xmlns:a16="http://schemas.microsoft.com/office/drawing/2014/main" id="{2BB2F81D-724D-1C08-4785-C12098259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WCS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135" name="직선 화살표 연결선 74">
            <a:extLst>
              <a:ext uri="{FF2B5EF4-FFF2-40B4-BE49-F238E27FC236}">
                <a16:creationId xmlns="" xmlns:a16="http://schemas.microsoft.com/office/drawing/2014/main" id="{5DB266DC-25A1-2136-CD15-83AF71A76529}"/>
              </a:ext>
            </a:extLst>
          </p:cNvPr>
          <p:cNvCxnSpPr>
            <a:cxnSpLocks/>
            <a:stCxn id="94" idx="2"/>
            <a:endCxn id="114" idx="0"/>
          </p:cNvCxnSpPr>
          <p:nvPr/>
        </p:nvCxnSpPr>
        <p:spPr>
          <a:xfrm rot="5400000">
            <a:off x="7820088" y="2533663"/>
            <a:ext cx="216024" cy="566539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74">
            <a:extLst>
              <a:ext uri="{FF2B5EF4-FFF2-40B4-BE49-F238E27FC236}">
                <a16:creationId xmlns="" xmlns:a16="http://schemas.microsoft.com/office/drawing/2014/main" id="{025E34B8-481E-2E4A-CC80-8E544249854A}"/>
              </a:ext>
            </a:extLst>
          </p:cNvPr>
          <p:cNvCxnSpPr>
            <a:cxnSpLocks/>
            <a:stCxn id="94" idx="2"/>
            <a:endCxn id="118" idx="0"/>
          </p:cNvCxnSpPr>
          <p:nvPr/>
        </p:nvCxnSpPr>
        <p:spPr>
          <a:xfrm rot="16200000" flipH="1">
            <a:off x="8409384" y="2510904"/>
            <a:ext cx="216024" cy="612055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74">
            <a:extLst>
              <a:ext uri="{FF2B5EF4-FFF2-40B4-BE49-F238E27FC236}">
                <a16:creationId xmlns="" xmlns:a16="http://schemas.microsoft.com/office/drawing/2014/main" id="{D7A54007-2E2F-DF8F-D0CA-4640478C3118}"/>
              </a:ext>
            </a:extLst>
          </p:cNvPr>
          <p:cNvCxnSpPr>
            <a:cxnSpLocks/>
            <a:stCxn id="116" idx="2"/>
            <a:endCxn id="122" idx="0"/>
          </p:cNvCxnSpPr>
          <p:nvPr/>
        </p:nvCxnSpPr>
        <p:spPr>
          <a:xfrm rot="16200000" flipH="1">
            <a:off x="7826180" y="3391594"/>
            <a:ext cx="167823" cy="530522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74">
            <a:extLst>
              <a:ext uri="{FF2B5EF4-FFF2-40B4-BE49-F238E27FC236}">
                <a16:creationId xmlns="" xmlns:a16="http://schemas.microsoft.com/office/drawing/2014/main" id="{9A4F4649-D934-9302-DA2F-758FEBE8A3D6}"/>
              </a:ext>
            </a:extLst>
          </p:cNvPr>
          <p:cNvCxnSpPr>
            <a:cxnSpLocks/>
            <a:stCxn id="120" idx="2"/>
            <a:endCxn id="122" idx="0"/>
          </p:cNvCxnSpPr>
          <p:nvPr/>
        </p:nvCxnSpPr>
        <p:spPr>
          <a:xfrm rot="5400000">
            <a:off x="8415477" y="3332819"/>
            <a:ext cx="167823" cy="648072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74">
            <a:extLst>
              <a:ext uri="{FF2B5EF4-FFF2-40B4-BE49-F238E27FC236}">
                <a16:creationId xmlns="" xmlns:a16="http://schemas.microsoft.com/office/drawing/2014/main" id="{5E0BE8E5-0B30-EF75-EA5E-98259F049DD3}"/>
              </a:ext>
            </a:extLst>
          </p:cNvPr>
          <p:cNvCxnSpPr>
            <a:cxnSpLocks/>
            <a:stCxn id="82" idx="2"/>
            <a:endCxn id="92" idx="0"/>
          </p:cNvCxnSpPr>
          <p:nvPr/>
        </p:nvCxnSpPr>
        <p:spPr>
          <a:xfrm rot="16200000" flipH="1">
            <a:off x="8121508" y="1971059"/>
            <a:ext cx="171012" cy="8709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그룹 10">
            <a:extLst>
              <a:ext uri="{FF2B5EF4-FFF2-40B4-BE49-F238E27FC236}">
                <a16:creationId xmlns="" xmlns:a16="http://schemas.microsoft.com/office/drawing/2014/main" id="{418B8DDC-0BB6-B038-0828-92D77D56ECF2}"/>
              </a:ext>
            </a:extLst>
          </p:cNvPr>
          <p:cNvGrpSpPr>
            <a:grpSpLocks/>
          </p:cNvGrpSpPr>
          <p:nvPr/>
        </p:nvGrpSpPr>
        <p:grpSpPr bwMode="auto">
          <a:xfrm>
            <a:off x="8842943" y="4150612"/>
            <a:ext cx="887995" cy="428499"/>
            <a:chOff x="7214567" y="528855"/>
            <a:chExt cx="885825" cy="428187"/>
          </a:xfrm>
        </p:grpSpPr>
        <p:pic>
          <p:nvPicPr>
            <p:cNvPr id="153" name="Picture 101" descr="WhitePlatform_small">
              <a:extLst>
                <a:ext uri="{FF2B5EF4-FFF2-40B4-BE49-F238E27FC236}">
                  <a16:creationId xmlns="" xmlns:a16="http://schemas.microsoft.com/office/drawing/2014/main" id="{7A29DEFE-23A3-7FBA-4644-20379AA86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14567" y="528855"/>
              <a:ext cx="885825" cy="428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4" name="Text Box 104">
              <a:extLst>
                <a:ext uri="{FF2B5EF4-FFF2-40B4-BE49-F238E27FC236}">
                  <a16:creationId xmlns="" xmlns:a16="http://schemas.microsoft.com/office/drawing/2014/main" id="{4F0361DF-43A2-73AE-137E-67C0DB39E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3932" y="620261"/>
              <a:ext cx="747093" cy="244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SzPct val="75000"/>
                <a:buFont typeface="Wingdings" panose="05000000000000000000" pitchFamily="2" charset="2"/>
                <a:buChar char="ü"/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1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1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9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ko-KR" altLang="en-US" sz="1100" dirty="0">
                  <a:latin typeface="+mn-ea"/>
                  <a:ea typeface="+mn-ea"/>
                </a:rPr>
                <a:t>한진택배</a:t>
              </a:r>
              <a:endParaRPr kumimoji="0" lang="ko-KR" altLang="en-US" sz="1200" dirty="0">
                <a:latin typeface="+mn-ea"/>
                <a:ea typeface="+mn-ea"/>
              </a:endParaRPr>
            </a:p>
          </p:txBody>
        </p:sp>
      </p:grpSp>
      <p:cxnSp>
        <p:nvCxnSpPr>
          <p:cNvPr id="163" name="직선 화살표 연결선 162">
            <a:extLst>
              <a:ext uri="{FF2B5EF4-FFF2-40B4-BE49-F238E27FC236}">
                <a16:creationId xmlns="" xmlns:a16="http://schemas.microsoft.com/office/drawing/2014/main" id="{40CBE098-389B-2885-3773-799C542A9A8E}"/>
              </a:ext>
            </a:extLst>
          </p:cNvPr>
          <p:cNvCxnSpPr>
            <a:cxnSpLocks/>
          </p:cNvCxnSpPr>
          <p:nvPr/>
        </p:nvCxnSpPr>
        <p:spPr>
          <a:xfrm flipV="1">
            <a:off x="8165481" y="4499926"/>
            <a:ext cx="677460" cy="286386"/>
          </a:xfrm>
          <a:prstGeom prst="straightConnector1">
            <a:avLst/>
          </a:prstGeom>
          <a:ln w="3175">
            <a:solidFill>
              <a:schemeClr val="tx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="" xmlns:a16="http://schemas.microsoft.com/office/drawing/2014/main" id="{0C63D13F-18C7-1F87-B711-FD890DA6C998}"/>
              </a:ext>
            </a:extLst>
          </p:cNvPr>
          <p:cNvCxnSpPr>
            <a:cxnSpLocks/>
          </p:cNvCxnSpPr>
          <p:nvPr/>
        </p:nvCxnSpPr>
        <p:spPr>
          <a:xfrm flipH="1">
            <a:off x="8202659" y="4581128"/>
            <a:ext cx="619278" cy="262985"/>
          </a:xfrm>
          <a:prstGeom prst="straightConnector1">
            <a:avLst/>
          </a:prstGeom>
          <a:ln w="3175">
            <a:solidFill>
              <a:schemeClr val="tx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74">
            <a:extLst>
              <a:ext uri="{FF2B5EF4-FFF2-40B4-BE49-F238E27FC236}">
                <a16:creationId xmlns="" xmlns:a16="http://schemas.microsoft.com/office/drawing/2014/main" id="{6FFA7CA7-9221-E781-4D65-97E4044BE0C4}"/>
              </a:ext>
            </a:extLst>
          </p:cNvPr>
          <p:cNvCxnSpPr>
            <a:cxnSpLocks/>
            <a:stCxn id="124" idx="2"/>
            <a:endCxn id="132" idx="0"/>
          </p:cNvCxnSpPr>
          <p:nvPr/>
        </p:nvCxnSpPr>
        <p:spPr>
          <a:xfrm rot="5400000">
            <a:off x="7777907" y="4255690"/>
            <a:ext cx="264369" cy="530522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순서도: 저장 데이터 177">
            <a:extLst>
              <a:ext uri="{FF2B5EF4-FFF2-40B4-BE49-F238E27FC236}">
                <a16:creationId xmlns="" xmlns:a16="http://schemas.microsoft.com/office/drawing/2014/main" id="{C8C9D2A8-A586-B62F-845E-BC527CEE402F}"/>
              </a:ext>
            </a:extLst>
          </p:cNvPr>
          <p:cNvSpPr/>
          <p:nvPr/>
        </p:nvSpPr>
        <p:spPr bwMode="auto">
          <a:xfrm>
            <a:off x="7051241" y="5517232"/>
            <a:ext cx="1188000" cy="366782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박스작업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  <a:p>
            <a:pPr lvl="0" algn="ctr">
              <a:defRPr/>
            </a:pP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실적 전송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</p:txBody>
      </p:sp>
      <p:cxnSp>
        <p:nvCxnSpPr>
          <p:cNvPr id="179" name="직선 화살표 연결선 74">
            <a:extLst>
              <a:ext uri="{FF2B5EF4-FFF2-40B4-BE49-F238E27FC236}">
                <a16:creationId xmlns="" xmlns:a16="http://schemas.microsoft.com/office/drawing/2014/main" id="{63F2CBBF-2A90-7B27-46D4-5B42CDE9F869}"/>
              </a:ext>
            </a:extLst>
          </p:cNvPr>
          <p:cNvCxnSpPr>
            <a:cxnSpLocks/>
            <a:stCxn id="134" idx="2"/>
            <a:endCxn id="178" idx="0"/>
          </p:cNvCxnSpPr>
          <p:nvPr/>
        </p:nvCxnSpPr>
        <p:spPr>
          <a:xfrm rot="16200000" flipH="1">
            <a:off x="7536987" y="5408978"/>
            <a:ext cx="216096" cy="411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74">
            <a:extLst>
              <a:ext uri="{FF2B5EF4-FFF2-40B4-BE49-F238E27FC236}">
                <a16:creationId xmlns="" xmlns:a16="http://schemas.microsoft.com/office/drawing/2014/main" id="{FCBAB7BA-9E66-367A-781C-1F6DF6401C07}"/>
              </a:ext>
            </a:extLst>
          </p:cNvPr>
          <p:cNvCxnSpPr>
            <a:cxnSpLocks/>
            <a:stCxn id="178" idx="1"/>
            <a:endCxn id="77" idx="4"/>
          </p:cNvCxnSpPr>
          <p:nvPr/>
        </p:nvCxnSpPr>
        <p:spPr>
          <a:xfrm rot="10800000">
            <a:off x="6706221" y="5196567"/>
            <a:ext cx="345020" cy="504056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74">
            <a:extLst>
              <a:ext uri="{FF2B5EF4-FFF2-40B4-BE49-F238E27FC236}">
                <a16:creationId xmlns="" xmlns:a16="http://schemas.microsoft.com/office/drawing/2014/main" id="{57D00C96-F48A-ED67-81EE-053DEBA8F4CB}"/>
              </a:ext>
            </a:extLst>
          </p:cNvPr>
          <p:cNvCxnSpPr>
            <a:cxnSpLocks/>
            <a:stCxn id="227" idx="1"/>
            <a:endCxn id="86" idx="3"/>
          </p:cNvCxnSpPr>
          <p:nvPr/>
        </p:nvCxnSpPr>
        <p:spPr>
          <a:xfrm rot="10800000">
            <a:off x="3732092" y="5111142"/>
            <a:ext cx="1176517" cy="552964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="" xmlns:a16="http://schemas.microsoft.com/office/drawing/2014/main" id="{71CD4C29-6B87-04F5-6269-CF8CB48191D5}"/>
              </a:ext>
            </a:extLst>
          </p:cNvPr>
          <p:cNvSpPr txBox="1"/>
          <p:nvPr/>
        </p:nvSpPr>
        <p:spPr>
          <a:xfrm>
            <a:off x="6177136" y="3706376"/>
            <a:ext cx="705733" cy="370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PAS</a:t>
            </a:r>
            <a:r>
              <a:rPr kumimoji="0" lang="ko-KR" altLang="en-US" sz="800" dirty="0" err="1">
                <a:solidFill>
                  <a:srgbClr val="000000"/>
                </a:solidFill>
                <a:latin typeface="+mn-ea"/>
                <a:ea typeface="+mn-ea"/>
                <a:cs typeface="Arial"/>
              </a:rPr>
              <a:t>투입장</a:t>
            </a:r>
            <a:endParaRPr kumimoji="0" lang="en-US" altLang="ko-KR" sz="800" dirty="0">
              <a:solidFill>
                <a:srgbClr val="000000"/>
              </a:solidFill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실물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이동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193" name="직선 화살표 연결선 74">
            <a:extLst>
              <a:ext uri="{FF2B5EF4-FFF2-40B4-BE49-F238E27FC236}">
                <a16:creationId xmlns="" xmlns:a16="http://schemas.microsoft.com/office/drawing/2014/main" id="{5C0396AF-059D-7DB4-941C-416AFD078DA7}"/>
              </a:ext>
            </a:extLst>
          </p:cNvPr>
          <p:cNvCxnSpPr>
            <a:cxnSpLocks/>
            <a:stCxn id="99" idx="0"/>
            <a:endCxn id="76" idx="2"/>
          </p:cNvCxnSpPr>
          <p:nvPr/>
        </p:nvCxnSpPr>
        <p:spPr>
          <a:xfrm rot="5400000" flipH="1" flipV="1">
            <a:off x="4744581" y="2201531"/>
            <a:ext cx="1753320" cy="485667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74">
            <a:extLst>
              <a:ext uri="{FF2B5EF4-FFF2-40B4-BE49-F238E27FC236}">
                <a16:creationId xmlns="" xmlns:a16="http://schemas.microsoft.com/office/drawing/2014/main" id="{5D5EEA25-7B04-02F6-0FE9-BCD61494E18D}"/>
              </a:ext>
            </a:extLst>
          </p:cNvPr>
          <p:cNvCxnSpPr>
            <a:cxnSpLocks/>
            <a:stCxn id="96" idx="3"/>
            <a:endCxn id="192" idx="1"/>
          </p:cNvCxnSpPr>
          <p:nvPr/>
        </p:nvCxnSpPr>
        <p:spPr>
          <a:xfrm flipV="1">
            <a:off x="5097016" y="3891724"/>
            <a:ext cx="1080120" cy="161124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화살표 연결선 74">
            <a:extLst>
              <a:ext uri="{FF2B5EF4-FFF2-40B4-BE49-F238E27FC236}">
                <a16:creationId xmlns="" xmlns:a16="http://schemas.microsoft.com/office/drawing/2014/main" id="{AD33D239-BA17-0BB3-927C-C5433B0891D8}"/>
              </a:ext>
            </a:extLst>
          </p:cNvPr>
          <p:cNvCxnSpPr>
            <a:cxnSpLocks/>
            <a:stCxn id="73" idx="3"/>
            <a:endCxn id="99" idx="1"/>
          </p:cNvCxnSpPr>
          <p:nvPr/>
        </p:nvCxnSpPr>
        <p:spPr>
          <a:xfrm flipV="1">
            <a:off x="2445083" y="3483024"/>
            <a:ext cx="2463525" cy="281792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화살표 연결선 74">
            <a:extLst>
              <a:ext uri="{FF2B5EF4-FFF2-40B4-BE49-F238E27FC236}">
                <a16:creationId xmlns="" xmlns:a16="http://schemas.microsoft.com/office/drawing/2014/main" id="{A03DCBF6-B67A-1E16-B3A0-AD5CD831CBEA}"/>
              </a:ext>
            </a:extLst>
          </p:cNvPr>
          <p:cNvCxnSpPr>
            <a:cxnSpLocks/>
            <a:stCxn id="76" idx="4"/>
            <a:endCxn id="81" idx="1"/>
          </p:cNvCxnSpPr>
          <p:nvPr/>
        </p:nvCxnSpPr>
        <p:spPr>
          <a:xfrm flipV="1">
            <a:off x="6609184" y="1565909"/>
            <a:ext cx="1143419" cy="1795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74">
            <a:extLst>
              <a:ext uri="{FF2B5EF4-FFF2-40B4-BE49-F238E27FC236}">
                <a16:creationId xmlns="" xmlns:a16="http://schemas.microsoft.com/office/drawing/2014/main" id="{5747E0E4-E013-BF72-05A7-3657C49EEEC1}"/>
              </a:ext>
            </a:extLst>
          </p:cNvPr>
          <p:cNvCxnSpPr>
            <a:cxnSpLocks/>
            <a:stCxn id="192" idx="3"/>
            <a:endCxn id="115" idx="1"/>
          </p:cNvCxnSpPr>
          <p:nvPr/>
        </p:nvCxnSpPr>
        <p:spPr>
          <a:xfrm flipV="1">
            <a:off x="6882869" y="3248945"/>
            <a:ext cx="311904" cy="642779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순서도: 자기 디스크 221">
            <a:extLst>
              <a:ext uri="{FF2B5EF4-FFF2-40B4-BE49-F238E27FC236}">
                <a16:creationId xmlns="" xmlns:a16="http://schemas.microsoft.com/office/drawing/2014/main" id="{EBBB11C3-FDB9-0288-6C71-350CF0CF85A5}"/>
              </a:ext>
            </a:extLst>
          </p:cNvPr>
          <p:cNvSpPr/>
          <p:nvPr/>
        </p:nvSpPr>
        <p:spPr bwMode="auto">
          <a:xfrm>
            <a:off x="4423915" y="4832730"/>
            <a:ext cx="745109" cy="36678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운송장 내역</a:t>
            </a:r>
          </a:p>
        </p:txBody>
      </p:sp>
      <p:sp>
        <p:nvSpPr>
          <p:cNvPr id="227" name="순서도: 저장 데이터 226">
            <a:extLst>
              <a:ext uri="{FF2B5EF4-FFF2-40B4-BE49-F238E27FC236}">
                <a16:creationId xmlns="" xmlns:a16="http://schemas.microsoft.com/office/drawing/2014/main" id="{746E3027-5166-78F3-9ED2-C6F9A3474CEE}"/>
              </a:ext>
            </a:extLst>
          </p:cNvPr>
          <p:cNvSpPr/>
          <p:nvPr/>
        </p:nvSpPr>
        <p:spPr bwMode="auto">
          <a:xfrm>
            <a:off x="4908608" y="5502106"/>
            <a:ext cx="939600" cy="324000"/>
          </a:xfrm>
          <a:prstGeom prst="flowChartOnlineStorage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WCS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작업실적수신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  <a:cs typeface="Arial"/>
            </a:endParaRPr>
          </a:p>
        </p:txBody>
      </p:sp>
      <p:cxnSp>
        <p:nvCxnSpPr>
          <p:cNvPr id="230" name="직선 화살표 연결선 74">
            <a:extLst>
              <a:ext uri="{FF2B5EF4-FFF2-40B4-BE49-F238E27FC236}">
                <a16:creationId xmlns="" xmlns:a16="http://schemas.microsoft.com/office/drawing/2014/main" id="{05A44880-110D-7FFF-893A-408D8E29D2FE}"/>
              </a:ext>
            </a:extLst>
          </p:cNvPr>
          <p:cNvCxnSpPr>
            <a:cxnSpLocks/>
            <a:stCxn id="77" idx="3"/>
            <a:endCxn id="227" idx="3"/>
          </p:cNvCxnSpPr>
          <p:nvPr/>
        </p:nvCxnSpPr>
        <p:spPr>
          <a:xfrm rot="5400000">
            <a:off x="5870564" y="5201003"/>
            <a:ext cx="284148" cy="642059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순서도: 저장 데이터 234">
            <a:extLst>
              <a:ext uri="{FF2B5EF4-FFF2-40B4-BE49-F238E27FC236}">
                <a16:creationId xmlns="" xmlns:a16="http://schemas.microsoft.com/office/drawing/2014/main" id="{C8A2E7F0-78C8-7352-D8F3-C883D2575B37}"/>
              </a:ext>
            </a:extLst>
          </p:cNvPr>
          <p:cNvSpPr/>
          <p:nvPr/>
        </p:nvSpPr>
        <p:spPr bwMode="auto">
          <a:xfrm>
            <a:off x="8157488" y="6028078"/>
            <a:ext cx="1188000" cy="366782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작업자 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  <a:p>
            <a:pPr lvl="0" algn="ctr">
              <a:defRPr/>
            </a:pP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내역 취합 및 전송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</p:txBody>
      </p:sp>
      <p:cxnSp>
        <p:nvCxnSpPr>
          <p:cNvPr id="236" name="직선 화살표 연결선 74">
            <a:extLst>
              <a:ext uri="{FF2B5EF4-FFF2-40B4-BE49-F238E27FC236}">
                <a16:creationId xmlns="" xmlns:a16="http://schemas.microsoft.com/office/drawing/2014/main" id="{6A3BA4F6-850E-5578-800F-1F8607816725}"/>
              </a:ext>
            </a:extLst>
          </p:cNvPr>
          <p:cNvCxnSpPr>
            <a:cxnSpLocks/>
            <a:stCxn id="227" idx="0"/>
            <a:endCxn id="222" idx="4"/>
          </p:cNvCxnSpPr>
          <p:nvPr/>
        </p:nvCxnSpPr>
        <p:spPr>
          <a:xfrm rot="16200000" flipV="1">
            <a:off x="5030724" y="5154422"/>
            <a:ext cx="485985" cy="209384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그룹 238">
            <a:extLst>
              <a:ext uri="{FF2B5EF4-FFF2-40B4-BE49-F238E27FC236}">
                <a16:creationId xmlns="" xmlns:a16="http://schemas.microsoft.com/office/drawing/2014/main" id="{E80B172A-B653-EED1-461F-32E731A1428C}"/>
              </a:ext>
            </a:extLst>
          </p:cNvPr>
          <p:cNvGrpSpPr/>
          <p:nvPr/>
        </p:nvGrpSpPr>
        <p:grpSpPr>
          <a:xfrm>
            <a:off x="2792760" y="5683074"/>
            <a:ext cx="939331" cy="626246"/>
            <a:chOff x="3133664" y="2530763"/>
            <a:chExt cx="884154" cy="683203"/>
          </a:xfrm>
        </p:grpSpPr>
        <p:sp>
          <p:nvSpPr>
            <p:cNvPr id="240" name="TextBox 239">
              <a:extLst>
                <a:ext uri="{FF2B5EF4-FFF2-40B4-BE49-F238E27FC236}">
                  <a16:creationId xmlns="" xmlns:a16="http://schemas.microsoft.com/office/drawing/2014/main" id="{E1ED5993-186D-F0DA-B6E5-7D62986CA20D}"/>
                </a:ext>
              </a:extLst>
            </p:cNvPr>
            <p:cNvSpPr txBox="1"/>
            <p:nvPr/>
          </p:nvSpPr>
          <p:spPr>
            <a:xfrm>
              <a:off x="3133664" y="2717094"/>
              <a:ext cx="884154" cy="3124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출고확정</a:t>
              </a:r>
              <a:endPara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D4017F48-94ED-4613-2EA9-1C5B8685C73D}"/>
                </a:ext>
              </a:extLst>
            </p:cNvPr>
            <p:cNvSpPr txBox="1"/>
            <p:nvPr/>
          </p:nvSpPr>
          <p:spPr>
            <a:xfrm>
              <a:off x="3133664" y="3033785"/>
              <a:ext cx="884154" cy="18018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WMS</a:t>
              </a:r>
              <a:endPara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Arial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="" xmlns:a16="http://schemas.microsoft.com/office/drawing/2014/main" id="{D6515543-6991-E079-7CBD-DDEB7793A90A}"/>
                </a:ext>
              </a:extLst>
            </p:cNvPr>
            <p:cNvSpPr txBox="1"/>
            <p:nvPr/>
          </p:nvSpPr>
          <p:spPr>
            <a:xfrm>
              <a:off x="3133664" y="2530763"/>
              <a:ext cx="884154" cy="18636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lIns="36000" tIns="72000" rIns="36000" bIns="72000" rtlCol="0" anchor="ctr" anchorCtr="0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dirty="0">
                  <a:solidFill>
                    <a:srgbClr val="000000"/>
                  </a:solidFill>
                  <a:latin typeface="+mn-ea"/>
                  <a:ea typeface="+mn-ea"/>
                  <a:cs typeface="Arial"/>
                </a:rPr>
                <a:t>출고</a:t>
              </a:r>
              <a:r>
                <a:rPr kumimoji="0" lang="ko-KR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/>
                </a:rPr>
                <a:t> 담당자</a:t>
              </a:r>
            </a:p>
          </p:txBody>
        </p:sp>
      </p:grpSp>
      <p:cxnSp>
        <p:nvCxnSpPr>
          <p:cNvPr id="245" name="직선 화살표 연결선 74">
            <a:extLst>
              <a:ext uri="{FF2B5EF4-FFF2-40B4-BE49-F238E27FC236}">
                <a16:creationId xmlns="" xmlns:a16="http://schemas.microsoft.com/office/drawing/2014/main" id="{22E0B9A0-8B1E-6E87-3857-C5177C03F258}"/>
              </a:ext>
            </a:extLst>
          </p:cNvPr>
          <p:cNvCxnSpPr>
            <a:cxnSpLocks/>
            <a:stCxn id="74" idx="2"/>
            <a:endCxn id="97" idx="2"/>
          </p:cNvCxnSpPr>
          <p:nvPr/>
        </p:nvCxnSpPr>
        <p:spPr>
          <a:xfrm rot="16200000" flipH="1">
            <a:off x="3157368" y="2895121"/>
            <a:ext cx="288032" cy="2651933"/>
          </a:xfrm>
          <a:prstGeom prst="bentConnector3">
            <a:avLst>
              <a:gd name="adj1" fmla="val 179366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74">
            <a:extLst>
              <a:ext uri="{FF2B5EF4-FFF2-40B4-BE49-F238E27FC236}">
                <a16:creationId xmlns="" xmlns:a16="http://schemas.microsoft.com/office/drawing/2014/main" id="{88F7CC50-906F-48EE-1F9F-005BC3353DFF}"/>
              </a:ext>
            </a:extLst>
          </p:cNvPr>
          <p:cNvCxnSpPr>
            <a:cxnSpLocks/>
            <a:stCxn id="69" idx="2"/>
            <a:endCxn id="75" idx="0"/>
          </p:cNvCxnSpPr>
          <p:nvPr/>
        </p:nvCxnSpPr>
        <p:spPr>
          <a:xfrm rot="16200000" flipH="1">
            <a:off x="1841012" y="3316420"/>
            <a:ext cx="259676" cy="9136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화살표 연결선 74">
            <a:extLst>
              <a:ext uri="{FF2B5EF4-FFF2-40B4-BE49-F238E27FC236}">
                <a16:creationId xmlns="" xmlns:a16="http://schemas.microsoft.com/office/drawing/2014/main" id="{6F01EA71-9473-179D-7AE4-B6542318932E}"/>
              </a:ext>
            </a:extLst>
          </p:cNvPr>
          <p:cNvCxnSpPr>
            <a:cxnSpLocks/>
            <a:stCxn id="87" idx="2"/>
            <a:endCxn id="242" idx="0"/>
          </p:cNvCxnSpPr>
          <p:nvPr/>
        </p:nvCxnSpPr>
        <p:spPr>
          <a:xfrm rot="5400000">
            <a:off x="3132588" y="5553236"/>
            <a:ext cx="259676" cy="12700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AutoShape 148">
            <a:extLst>
              <a:ext uri="{FF2B5EF4-FFF2-40B4-BE49-F238E27FC236}">
                <a16:creationId xmlns="" xmlns:a16="http://schemas.microsoft.com/office/drawing/2014/main" id="{925C4F1A-B768-34F4-93CC-1CEE02DCC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426" y="4264194"/>
            <a:ext cx="776529" cy="299546"/>
          </a:xfrm>
          <a:prstGeom prst="flowChartDocument">
            <a:avLst/>
          </a:prstGeom>
          <a:solidFill>
            <a:schemeClr val="bg1"/>
          </a:solidFill>
          <a:ln w="9525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800" kern="0" dirty="0">
                <a:latin typeface="Arial" panose="020B0604020202020204" pitchFamily="34" charset="0"/>
                <a:ea typeface="맑은 고딕" panose="020B0503020000020004" pitchFamily="50" charset="-127"/>
              </a:rPr>
              <a:t>PAS </a:t>
            </a:r>
            <a:r>
              <a:rPr kumimoji="0" lang="ko-KR" altLang="en-US" sz="800" kern="0" dirty="0" err="1">
                <a:latin typeface="Arial" panose="020B0604020202020204" pitchFamily="34" charset="0"/>
                <a:ea typeface="맑은 고딕" panose="020B0503020000020004" pitchFamily="50" charset="-127"/>
              </a:rPr>
              <a:t>피킹리스트</a:t>
            </a:r>
            <a:r>
              <a:rPr kumimoji="0" lang="ko-KR" altLang="en-US" sz="800" kern="0" dirty="0"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endParaRPr kumimoji="0" lang="en-US" altLang="ko-KR" sz="8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62" name="순서도: 자기 디스크 261">
            <a:extLst>
              <a:ext uri="{FF2B5EF4-FFF2-40B4-BE49-F238E27FC236}">
                <a16:creationId xmlns="" xmlns:a16="http://schemas.microsoft.com/office/drawing/2014/main" id="{7F4C414D-117A-2429-4D61-85BAC17EB46B}"/>
              </a:ext>
            </a:extLst>
          </p:cNvPr>
          <p:cNvSpPr/>
          <p:nvPr/>
        </p:nvSpPr>
        <p:spPr bwMode="auto">
          <a:xfrm>
            <a:off x="1496616" y="5438482"/>
            <a:ext cx="745109" cy="36678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출고실적</a:t>
            </a:r>
            <a:endParaRPr kumimoji="0" lang="en-US" altLang="ko-KR" sz="800" dirty="0">
              <a:solidFill>
                <a:srgbClr val="000000"/>
              </a:solidFill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OMS/WMS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63" name="직선 화살표 연결선 74">
            <a:extLst>
              <a:ext uri="{FF2B5EF4-FFF2-40B4-BE49-F238E27FC236}">
                <a16:creationId xmlns="" xmlns:a16="http://schemas.microsoft.com/office/drawing/2014/main" id="{951773B0-DCCF-5035-015E-53FE4FDDCFF0}"/>
              </a:ext>
            </a:extLst>
          </p:cNvPr>
          <p:cNvCxnSpPr>
            <a:cxnSpLocks/>
            <a:stCxn id="240" idx="1"/>
            <a:endCxn id="262" idx="4"/>
          </p:cNvCxnSpPr>
          <p:nvPr/>
        </p:nvCxnSpPr>
        <p:spPr>
          <a:xfrm rot="10800000">
            <a:off x="2241726" y="5621874"/>
            <a:ext cx="551035" cy="375191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7" name="Group 51">
            <a:extLst>
              <a:ext uri="{FF2B5EF4-FFF2-40B4-BE49-F238E27FC236}">
                <a16:creationId xmlns="" xmlns:a16="http://schemas.microsoft.com/office/drawing/2014/main" id="{8832B269-5080-342C-F975-742A2FBF6DB7}"/>
              </a:ext>
            </a:extLst>
          </p:cNvPr>
          <p:cNvGrpSpPr>
            <a:grpSpLocks/>
          </p:cNvGrpSpPr>
          <p:nvPr/>
        </p:nvGrpSpPr>
        <p:grpSpPr bwMode="auto">
          <a:xfrm>
            <a:off x="344488" y="5283561"/>
            <a:ext cx="900113" cy="648000"/>
            <a:chOff x="807" y="2936"/>
            <a:chExt cx="537" cy="453"/>
          </a:xfrm>
        </p:grpSpPr>
        <p:sp>
          <p:nvSpPr>
            <p:cNvPr id="268" name="Rectangle 54">
              <a:extLst>
                <a:ext uri="{FF2B5EF4-FFF2-40B4-BE49-F238E27FC236}">
                  <a16:creationId xmlns="" xmlns:a16="http://schemas.microsoft.com/office/drawing/2014/main" id="{52FEF4FB-D28C-735D-2953-D64DB735D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자동</a:t>
              </a:r>
            </a:p>
          </p:txBody>
        </p:sp>
        <p:sp>
          <p:nvSpPr>
            <p:cNvPr id="269" name="Rectangle 55">
              <a:extLst>
                <a:ext uri="{FF2B5EF4-FFF2-40B4-BE49-F238E27FC236}">
                  <a16:creationId xmlns="" xmlns:a16="http://schemas.microsoft.com/office/drawing/2014/main" id="{082DEA40-EF0D-4C1A-94B9-93ED1A1E9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B2C </a:t>
              </a: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출고 확정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70" name="Rectangle 54">
              <a:extLst>
                <a:ext uri="{FF2B5EF4-FFF2-40B4-BE49-F238E27FC236}">
                  <a16:creationId xmlns="" xmlns:a16="http://schemas.microsoft.com/office/drawing/2014/main" id="{733FF004-8427-44FC-B4A4-AE7F0099C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OTMS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272" name="직선 화살표 연결선 74">
            <a:extLst>
              <a:ext uri="{FF2B5EF4-FFF2-40B4-BE49-F238E27FC236}">
                <a16:creationId xmlns="" xmlns:a16="http://schemas.microsoft.com/office/drawing/2014/main" id="{88C0D39A-D9B6-EC8A-91A1-AB76F6545121}"/>
              </a:ext>
            </a:extLst>
          </p:cNvPr>
          <p:cNvCxnSpPr>
            <a:cxnSpLocks/>
            <a:stCxn id="262" idx="3"/>
            <a:endCxn id="270" idx="2"/>
          </p:cNvCxnSpPr>
          <p:nvPr/>
        </p:nvCxnSpPr>
        <p:spPr>
          <a:xfrm rot="5400000">
            <a:off x="1268710" y="5331099"/>
            <a:ext cx="126297" cy="1074626"/>
          </a:xfrm>
          <a:prstGeom prst="bentConnector3">
            <a:avLst>
              <a:gd name="adj1" fmla="val 281002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순서도: 자기 디스크 277">
            <a:extLst>
              <a:ext uri="{FF2B5EF4-FFF2-40B4-BE49-F238E27FC236}">
                <a16:creationId xmlns="" xmlns:a16="http://schemas.microsoft.com/office/drawing/2014/main" id="{0B38BC00-001B-0674-3E0F-09BF750B6228}"/>
              </a:ext>
            </a:extLst>
          </p:cNvPr>
          <p:cNvSpPr/>
          <p:nvPr/>
        </p:nvSpPr>
        <p:spPr bwMode="auto">
          <a:xfrm>
            <a:off x="5817096" y="6029658"/>
            <a:ext cx="745109" cy="366782"/>
          </a:xfrm>
          <a:prstGeom prst="flowChartMagneticDisk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WCS</a:t>
            </a:r>
            <a:r>
              <a:rPr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작업</a:t>
            </a:r>
            <a:r>
              <a:rPr kumimoji="0"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내역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79" name="직선 화살표 연결선 74">
            <a:extLst>
              <a:ext uri="{FF2B5EF4-FFF2-40B4-BE49-F238E27FC236}">
                <a16:creationId xmlns="" xmlns:a16="http://schemas.microsoft.com/office/drawing/2014/main" id="{76389616-A5A4-9B40-A38A-D941D270D14B}"/>
              </a:ext>
            </a:extLst>
          </p:cNvPr>
          <p:cNvCxnSpPr>
            <a:cxnSpLocks/>
            <a:stCxn id="235" idx="1"/>
            <a:endCxn id="278" idx="4"/>
          </p:cNvCxnSpPr>
          <p:nvPr/>
        </p:nvCxnSpPr>
        <p:spPr>
          <a:xfrm rot="10800000" flipV="1">
            <a:off x="6562206" y="6211469"/>
            <a:ext cx="1595283" cy="1580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="" xmlns:a16="http://schemas.microsoft.com/office/drawing/2014/main" id="{27CDA983-45E7-BD95-EBDC-3BD9743A8658}"/>
              </a:ext>
            </a:extLst>
          </p:cNvPr>
          <p:cNvCxnSpPr>
            <a:cxnSpLocks/>
          </p:cNvCxnSpPr>
          <p:nvPr/>
        </p:nvCxnSpPr>
        <p:spPr>
          <a:xfrm flipV="1">
            <a:off x="2287322" y="3289499"/>
            <a:ext cx="677460" cy="286386"/>
          </a:xfrm>
          <a:prstGeom prst="straightConnector1">
            <a:avLst/>
          </a:prstGeom>
          <a:ln w="3175">
            <a:solidFill>
              <a:schemeClr val="tx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화살표 연결선 283">
            <a:extLst>
              <a:ext uri="{FF2B5EF4-FFF2-40B4-BE49-F238E27FC236}">
                <a16:creationId xmlns="" xmlns:a16="http://schemas.microsoft.com/office/drawing/2014/main" id="{6C7778A4-AF0F-2C4F-E136-D961D1FF3295}"/>
              </a:ext>
            </a:extLst>
          </p:cNvPr>
          <p:cNvCxnSpPr>
            <a:cxnSpLocks/>
          </p:cNvCxnSpPr>
          <p:nvPr/>
        </p:nvCxnSpPr>
        <p:spPr>
          <a:xfrm flipH="1">
            <a:off x="2324500" y="3370701"/>
            <a:ext cx="619278" cy="262985"/>
          </a:xfrm>
          <a:prstGeom prst="straightConnector1">
            <a:avLst/>
          </a:prstGeom>
          <a:ln w="3175">
            <a:solidFill>
              <a:schemeClr val="tx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D78B299-4E66-BB60-00C7-163E683CBB1B}"/>
              </a:ext>
            </a:extLst>
          </p:cNvPr>
          <p:cNvSpPr txBox="1"/>
          <p:nvPr/>
        </p:nvSpPr>
        <p:spPr>
          <a:xfrm rot="20685053">
            <a:off x="7382330" y="345969"/>
            <a:ext cx="792088" cy="27699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NEW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410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3082" y="545526"/>
            <a:ext cx="3797642" cy="402291"/>
          </a:xfrm>
        </p:spPr>
        <p:txBody>
          <a:bodyPr/>
          <a:lstStyle/>
          <a:p>
            <a:r>
              <a:rPr lang="ko-KR" altLang="en-US" sz="2400" b="1" dirty="0"/>
              <a:t> </a:t>
            </a:r>
            <a:r>
              <a:rPr lang="ko-KR" altLang="en-US" sz="2400" b="1" dirty="0" err="1"/>
              <a:t>남안성</a:t>
            </a:r>
            <a:r>
              <a:rPr lang="ko-KR" altLang="en-US" sz="2400" b="1" dirty="0"/>
              <a:t> 출고 상세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xmlns="" id="{54C6C1D8-675A-456C-AE63-4CF327B3D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124745"/>
            <a:ext cx="9123176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0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xmlns="" id="{E8F712FE-0345-0694-F6BB-306DADAED5C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5702" y="764704"/>
          <a:ext cx="9305812" cy="5688632"/>
        </p:xfrm>
        <a:graphic>
          <a:graphicData uri="http://schemas.openxmlformats.org/drawingml/2006/table">
            <a:tbl>
              <a:tblPr firstRow="1" bandRow="1"/>
              <a:tblGrid>
                <a:gridCol w="10968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016226">
                  <a:extLst>
                    <a:ext uri="{9D8B030D-6E8A-4147-A177-3AD203B41FA5}">
                      <a16:colId xmlns:a16="http://schemas.microsoft.com/office/drawing/2014/main" xmlns="" val="2668263832"/>
                    </a:ext>
                  </a:extLst>
                </a:gridCol>
              </a:tblGrid>
              <a:tr h="3303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ERP</a:t>
                      </a:r>
                      <a:endParaRPr kumimoji="0" lang="ko-KR" altLang="en-US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OMS/WMS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I/F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ko-KR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WCS</a:t>
                      </a:r>
                      <a:endParaRPr kumimoji="0" lang="ko-KR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582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latinLnBrk="1"/>
                      <a:endParaRPr lang="ko-KR" altLang="en-US" sz="1700" dirty="0"/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latinLnBrk="1"/>
                      <a:endParaRPr lang="ko-KR" altLang="en-US" sz="1700" dirty="0"/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  <a:cs typeface="Arial"/>
                        </a:defRPr>
                      </a:lvl9pPr>
                    </a:lstStyle>
                    <a:p>
                      <a:pPr latinLnBrk="1"/>
                      <a:r>
                        <a:rPr lang="ko-KR" altLang="en-US" sz="1700" dirty="0"/>
                        <a:t> </a:t>
                      </a:r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84406" marR="84406" marT="42203" marB="42203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0" name="Rectangle 1584"/>
          <p:cNvSpPr txBox="1">
            <a:spLocks noChangeArrowheads="1"/>
          </p:cNvSpPr>
          <p:nvPr/>
        </p:nvSpPr>
        <p:spPr bwMode="gray">
          <a:xfrm>
            <a:off x="261473" y="241327"/>
            <a:ext cx="47320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ko-KR" altLang="en-US" sz="2200" kern="0" dirty="0">
                <a:solidFill>
                  <a:schemeClr val="tx1"/>
                </a:solidFill>
              </a:rPr>
              <a:t>천안 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EX-PAS</a:t>
            </a:r>
            <a:r>
              <a:rPr kumimoji="0" lang="ko-KR" altLang="en-US" sz="2200" kern="0" dirty="0">
                <a:solidFill>
                  <a:schemeClr val="tx1"/>
                </a:solidFill>
              </a:rPr>
              <a:t>설비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 - GROSS </a:t>
            </a:r>
            <a:r>
              <a:rPr kumimoji="0" lang="ko-KR" altLang="en-US" sz="2200" kern="0" dirty="0">
                <a:solidFill>
                  <a:schemeClr val="tx1"/>
                </a:solidFill>
              </a:rPr>
              <a:t>프로세스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sp>
        <p:nvSpPr>
          <p:cNvPr id="3" name="Rectangle 1584">
            <a:extLst>
              <a:ext uri="{FF2B5EF4-FFF2-40B4-BE49-F238E27FC236}">
                <a16:creationId xmlns:a16="http://schemas.microsoft.com/office/drawing/2014/main" xmlns="" id="{79A2A282-6EFF-5061-1833-CADC1B48D4F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404859" y="284458"/>
            <a:ext cx="12311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r"/>
            <a:r>
              <a:rPr kumimoji="0" lang="ko-KR" altLang="en-US" sz="1800" kern="0" dirty="0" err="1">
                <a:solidFill>
                  <a:schemeClr val="tx1"/>
                </a:solidFill>
              </a:rPr>
              <a:t>남안성</a:t>
            </a:r>
            <a:r>
              <a:rPr kumimoji="0" lang="ko-KR" altLang="en-US" sz="1800" kern="0" dirty="0">
                <a:solidFill>
                  <a:schemeClr val="tx1"/>
                </a:solidFill>
              </a:rPr>
              <a:t> </a:t>
            </a:r>
            <a:r>
              <a:rPr kumimoji="0" lang="en-US" altLang="ko-KR" sz="1800" kern="0" dirty="0">
                <a:solidFill>
                  <a:schemeClr val="tx1"/>
                </a:solidFill>
              </a:rPr>
              <a:t>OTP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grpSp>
        <p:nvGrpSpPr>
          <p:cNvPr id="2" name="Group 51">
            <a:extLst>
              <a:ext uri="{FF2B5EF4-FFF2-40B4-BE49-F238E27FC236}">
                <a16:creationId xmlns:a16="http://schemas.microsoft.com/office/drawing/2014/main" xmlns="" id="{FA301791-B190-8CD1-4737-CE0F3656196E}"/>
              </a:ext>
            </a:extLst>
          </p:cNvPr>
          <p:cNvGrpSpPr>
            <a:grpSpLocks/>
          </p:cNvGrpSpPr>
          <p:nvPr/>
        </p:nvGrpSpPr>
        <p:grpSpPr bwMode="auto">
          <a:xfrm>
            <a:off x="344488" y="1700880"/>
            <a:ext cx="900113" cy="648000"/>
            <a:chOff x="807" y="2936"/>
            <a:chExt cx="537" cy="453"/>
          </a:xfrm>
        </p:grpSpPr>
        <p:sp>
          <p:nvSpPr>
            <p:cNvPr id="4" name="Rectangle 54">
              <a:extLst>
                <a:ext uri="{FF2B5EF4-FFF2-40B4-BE49-F238E27FC236}">
                  <a16:creationId xmlns:a16="http://schemas.microsoft.com/office/drawing/2014/main" xmlns="" id="{5138260F-D1C5-69A0-148C-5F8AE4D03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자동</a:t>
              </a:r>
            </a:p>
          </p:txBody>
        </p:sp>
        <p:sp>
          <p:nvSpPr>
            <p:cNvPr id="6" name="Rectangle 55">
              <a:extLst>
                <a:ext uri="{FF2B5EF4-FFF2-40B4-BE49-F238E27FC236}">
                  <a16:creationId xmlns:a16="http://schemas.microsoft.com/office/drawing/2014/main" xmlns="" id="{02772BED-D99B-9F2C-B896-7E168A13A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매장반품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7" name="Rectangle 54">
              <a:extLst>
                <a:ext uri="{FF2B5EF4-FFF2-40B4-BE49-F238E27FC236}">
                  <a16:creationId xmlns:a16="http://schemas.microsoft.com/office/drawing/2014/main" xmlns="" id="{5CE2B8B1-7C1B-B8FA-7275-7B6F2B721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OTMS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9" name="순서도: 저장 데이터 8">
            <a:extLst>
              <a:ext uri="{FF2B5EF4-FFF2-40B4-BE49-F238E27FC236}">
                <a16:creationId xmlns:a16="http://schemas.microsoft.com/office/drawing/2014/main" xmlns="" id="{860B27E7-9E56-372A-F714-38E7448E91EB}"/>
              </a:ext>
            </a:extLst>
          </p:cNvPr>
          <p:cNvSpPr/>
          <p:nvPr/>
        </p:nvSpPr>
        <p:spPr bwMode="auto">
          <a:xfrm>
            <a:off x="920552" y="1232475"/>
            <a:ext cx="1188000" cy="366782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반품예정 수신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</p:txBody>
      </p:sp>
      <p:grpSp>
        <p:nvGrpSpPr>
          <p:cNvPr id="10" name="Group 51">
            <a:extLst>
              <a:ext uri="{FF2B5EF4-FFF2-40B4-BE49-F238E27FC236}">
                <a16:creationId xmlns:a16="http://schemas.microsoft.com/office/drawing/2014/main" xmlns="" id="{280011E5-E3D9-37A8-A8E1-144833770BA7}"/>
              </a:ext>
            </a:extLst>
          </p:cNvPr>
          <p:cNvGrpSpPr>
            <a:grpSpLocks/>
          </p:cNvGrpSpPr>
          <p:nvPr/>
        </p:nvGrpSpPr>
        <p:grpSpPr bwMode="auto">
          <a:xfrm>
            <a:off x="1741603" y="1700880"/>
            <a:ext cx="900113" cy="648000"/>
            <a:chOff x="807" y="2936"/>
            <a:chExt cx="537" cy="453"/>
          </a:xfrm>
        </p:grpSpPr>
        <p:sp>
          <p:nvSpPr>
            <p:cNvPr id="11" name="Rectangle 54">
              <a:extLst>
                <a:ext uri="{FF2B5EF4-FFF2-40B4-BE49-F238E27FC236}">
                  <a16:creationId xmlns:a16="http://schemas.microsoft.com/office/drawing/2014/main" xmlns="" id="{1619F65C-80FD-26E3-AA2B-B2A0DA884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자동</a:t>
              </a:r>
            </a:p>
          </p:txBody>
        </p:sp>
        <p:sp>
          <p:nvSpPr>
            <p:cNvPr id="12" name="Rectangle 55">
              <a:extLst>
                <a:ext uri="{FF2B5EF4-FFF2-40B4-BE49-F238E27FC236}">
                  <a16:creationId xmlns:a16="http://schemas.microsoft.com/office/drawing/2014/main" xmlns="" id="{88FB7A04-E59E-3A9D-83FE-D1BEEF779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주문접수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3" name="Rectangle 54">
              <a:extLst>
                <a:ext uri="{FF2B5EF4-FFF2-40B4-BE49-F238E27FC236}">
                  <a16:creationId xmlns:a16="http://schemas.microsoft.com/office/drawing/2014/main" xmlns="" id="{BD2D3236-967E-A89E-0E15-86FD8A139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14" name="Group 51">
            <a:extLst>
              <a:ext uri="{FF2B5EF4-FFF2-40B4-BE49-F238E27FC236}">
                <a16:creationId xmlns:a16="http://schemas.microsoft.com/office/drawing/2014/main" xmlns="" id="{B9777F70-B6ED-463D-9173-50B1C46FCE49}"/>
              </a:ext>
            </a:extLst>
          </p:cNvPr>
          <p:cNvGrpSpPr>
            <a:grpSpLocks/>
          </p:cNvGrpSpPr>
          <p:nvPr/>
        </p:nvGrpSpPr>
        <p:grpSpPr bwMode="auto">
          <a:xfrm>
            <a:off x="3152801" y="1700880"/>
            <a:ext cx="900113" cy="648000"/>
            <a:chOff x="807" y="2936"/>
            <a:chExt cx="537" cy="453"/>
          </a:xfrm>
        </p:grpSpPr>
        <p:sp>
          <p:nvSpPr>
            <p:cNvPr id="15" name="Rectangle 54">
              <a:extLst>
                <a:ext uri="{FF2B5EF4-FFF2-40B4-BE49-F238E27FC236}">
                  <a16:creationId xmlns:a16="http://schemas.microsoft.com/office/drawing/2014/main" xmlns="" id="{010DB2B9-E1B8-9E25-1841-06A6CDE9A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자동</a:t>
              </a:r>
            </a:p>
          </p:txBody>
        </p:sp>
        <p:sp>
          <p:nvSpPr>
            <p:cNvPr id="16" name="Rectangle 55">
              <a:extLst>
                <a:ext uri="{FF2B5EF4-FFF2-40B4-BE49-F238E27FC236}">
                  <a16:creationId xmlns:a16="http://schemas.microsoft.com/office/drawing/2014/main" xmlns="" id="{4E5D3325-023B-F4FB-794A-E50F3F3E1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주문확정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7" name="Rectangle 54">
              <a:extLst>
                <a:ext uri="{FF2B5EF4-FFF2-40B4-BE49-F238E27FC236}">
                  <a16:creationId xmlns:a16="http://schemas.microsoft.com/office/drawing/2014/main" xmlns="" id="{5850F24D-65FC-0906-A87E-1E1C304BB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26" name="Group 51">
            <a:extLst>
              <a:ext uri="{FF2B5EF4-FFF2-40B4-BE49-F238E27FC236}">
                <a16:creationId xmlns:a16="http://schemas.microsoft.com/office/drawing/2014/main" xmlns="" id="{D254E386-A828-E98C-9B85-22A198549DCC}"/>
              </a:ext>
            </a:extLst>
          </p:cNvPr>
          <p:cNvGrpSpPr>
            <a:grpSpLocks/>
          </p:cNvGrpSpPr>
          <p:nvPr/>
        </p:nvGrpSpPr>
        <p:grpSpPr bwMode="auto">
          <a:xfrm>
            <a:off x="3166007" y="3061074"/>
            <a:ext cx="900113" cy="648000"/>
            <a:chOff x="807" y="2936"/>
            <a:chExt cx="537" cy="453"/>
          </a:xfrm>
        </p:grpSpPr>
        <p:sp>
          <p:nvSpPr>
            <p:cNvPr id="27" name="Rectangle 54">
              <a:extLst>
                <a:ext uri="{FF2B5EF4-FFF2-40B4-BE49-F238E27FC236}">
                  <a16:creationId xmlns:a16="http://schemas.microsoft.com/office/drawing/2014/main" xmlns="" id="{7BC7EDC2-065C-B062-441F-E492E2CA8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입고 담당자</a:t>
              </a:r>
            </a:p>
          </p:txBody>
        </p:sp>
        <p:sp>
          <p:nvSpPr>
            <p:cNvPr id="28" name="Rectangle 55">
              <a:extLst>
                <a:ext uri="{FF2B5EF4-FFF2-40B4-BE49-F238E27FC236}">
                  <a16:creationId xmlns:a16="http://schemas.microsoft.com/office/drawing/2014/main" xmlns="" id="{A9B81339-036F-E710-D39C-B12770AAD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입고검수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9" name="Rectangle 54">
              <a:extLst>
                <a:ext uri="{FF2B5EF4-FFF2-40B4-BE49-F238E27FC236}">
                  <a16:creationId xmlns:a16="http://schemas.microsoft.com/office/drawing/2014/main" xmlns="" id="{43328B35-6F78-7B94-D743-E3740A41C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WMS/PDA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31" name="Group 51">
            <a:extLst>
              <a:ext uri="{FF2B5EF4-FFF2-40B4-BE49-F238E27FC236}">
                <a16:creationId xmlns:a16="http://schemas.microsoft.com/office/drawing/2014/main" xmlns="" id="{9019FC65-F3CF-13E9-4BB6-258BF4E5C4A9}"/>
              </a:ext>
            </a:extLst>
          </p:cNvPr>
          <p:cNvGrpSpPr>
            <a:grpSpLocks/>
          </p:cNvGrpSpPr>
          <p:nvPr/>
        </p:nvGrpSpPr>
        <p:grpSpPr bwMode="auto">
          <a:xfrm>
            <a:off x="344488" y="5589240"/>
            <a:ext cx="900113" cy="648000"/>
            <a:chOff x="807" y="2936"/>
            <a:chExt cx="537" cy="453"/>
          </a:xfrm>
        </p:grpSpPr>
        <p:sp>
          <p:nvSpPr>
            <p:cNvPr id="32" name="Rectangle 54">
              <a:extLst>
                <a:ext uri="{FF2B5EF4-FFF2-40B4-BE49-F238E27FC236}">
                  <a16:creationId xmlns:a16="http://schemas.microsoft.com/office/drawing/2014/main" xmlns="" id="{89ADADC8-84F7-198C-4595-A74CEA9D4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자동</a:t>
              </a:r>
            </a:p>
          </p:txBody>
        </p:sp>
        <p:sp>
          <p:nvSpPr>
            <p:cNvPr id="33" name="Rectangle 55">
              <a:extLst>
                <a:ext uri="{FF2B5EF4-FFF2-40B4-BE49-F238E27FC236}">
                  <a16:creationId xmlns:a16="http://schemas.microsoft.com/office/drawing/2014/main" xmlns="" id="{FF9A1D24-BF9F-A7B3-9BE2-326BDECCC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반품승인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34" name="Rectangle 54">
              <a:extLst>
                <a:ext uri="{FF2B5EF4-FFF2-40B4-BE49-F238E27FC236}">
                  <a16:creationId xmlns:a16="http://schemas.microsoft.com/office/drawing/2014/main" xmlns="" id="{4B6302BE-724D-EF31-A64A-7106E7619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OTMS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35" name="순서도: 저장 데이터 34">
            <a:extLst>
              <a:ext uri="{FF2B5EF4-FFF2-40B4-BE49-F238E27FC236}">
                <a16:creationId xmlns:a16="http://schemas.microsoft.com/office/drawing/2014/main" xmlns="" id="{2AF6A58B-7388-DA4A-E196-0D8A85FB1D64}"/>
              </a:ext>
            </a:extLst>
          </p:cNvPr>
          <p:cNvSpPr/>
          <p:nvPr/>
        </p:nvSpPr>
        <p:spPr bwMode="auto">
          <a:xfrm>
            <a:off x="920552" y="5006434"/>
            <a:ext cx="1188000" cy="366782"/>
          </a:xfrm>
          <a:prstGeom prst="flowChartOnlineStorag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ko-KR" altLang="en-US" sz="800" dirty="0" err="1">
                <a:solidFill>
                  <a:srgbClr val="000000"/>
                </a:solidFill>
                <a:latin typeface="+mj-ea"/>
                <a:ea typeface="+mj-ea"/>
                <a:cs typeface="Arial"/>
              </a:rPr>
              <a:t>반품입고실적</a:t>
            </a: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 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  <a:p>
            <a:pPr lvl="0" algn="ctr">
              <a:defRPr/>
            </a:pP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전송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</p:txBody>
      </p:sp>
      <p:sp>
        <p:nvSpPr>
          <p:cNvPr id="37" name="순서도: 자기 디스크 36">
            <a:extLst>
              <a:ext uri="{FF2B5EF4-FFF2-40B4-BE49-F238E27FC236}">
                <a16:creationId xmlns:a16="http://schemas.microsoft.com/office/drawing/2014/main" xmlns="" id="{4E81F795-5DA4-C84D-681B-59001944F694}"/>
              </a:ext>
            </a:extLst>
          </p:cNvPr>
          <p:cNvSpPr/>
          <p:nvPr/>
        </p:nvSpPr>
        <p:spPr bwMode="auto">
          <a:xfrm>
            <a:off x="3343795" y="3926314"/>
            <a:ext cx="745109" cy="36678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반품입고재고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WMS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grpSp>
        <p:nvGrpSpPr>
          <p:cNvPr id="40" name="Group 51">
            <a:extLst>
              <a:ext uri="{FF2B5EF4-FFF2-40B4-BE49-F238E27FC236}">
                <a16:creationId xmlns:a16="http://schemas.microsoft.com/office/drawing/2014/main" xmlns="" id="{8DF8A7EF-6303-6DC6-807C-EF5710691AEE}"/>
              </a:ext>
            </a:extLst>
          </p:cNvPr>
          <p:cNvGrpSpPr>
            <a:grpSpLocks/>
          </p:cNvGrpSpPr>
          <p:nvPr/>
        </p:nvGrpSpPr>
        <p:grpSpPr bwMode="auto">
          <a:xfrm>
            <a:off x="1741603" y="2636912"/>
            <a:ext cx="900113" cy="648000"/>
            <a:chOff x="807" y="2936"/>
            <a:chExt cx="537" cy="453"/>
          </a:xfrm>
        </p:grpSpPr>
        <p:sp>
          <p:nvSpPr>
            <p:cNvPr id="41" name="Rectangle 54">
              <a:extLst>
                <a:ext uri="{FF2B5EF4-FFF2-40B4-BE49-F238E27FC236}">
                  <a16:creationId xmlns:a16="http://schemas.microsoft.com/office/drawing/2014/main" xmlns="" id="{8B0C5B37-514C-E91A-95CF-8F1A30B11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입고담당자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42" name="Rectangle 55">
              <a:extLst>
                <a:ext uri="{FF2B5EF4-FFF2-40B4-BE49-F238E27FC236}">
                  <a16:creationId xmlns:a16="http://schemas.microsoft.com/office/drawing/2014/main" xmlns="" id="{C43E859E-618B-AC9D-4049-FA854C261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입고예정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확인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43" name="Rectangle 54">
              <a:extLst>
                <a:ext uri="{FF2B5EF4-FFF2-40B4-BE49-F238E27FC236}">
                  <a16:creationId xmlns:a16="http://schemas.microsoft.com/office/drawing/2014/main" xmlns="" id="{EA6B1C05-A4F3-27C2-73EC-472EBB847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WMS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78" name="Group 51">
            <a:extLst>
              <a:ext uri="{FF2B5EF4-FFF2-40B4-BE49-F238E27FC236}">
                <a16:creationId xmlns:a16="http://schemas.microsoft.com/office/drawing/2014/main" xmlns="" id="{63FF703C-9FC7-C568-0366-561594183F50}"/>
              </a:ext>
            </a:extLst>
          </p:cNvPr>
          <p:cNvGrpSpPr>
            <a:grpSpLocks/>
          </p:cNvGrpSpPr>
          <p:nvPr/>
        </p:nvGrpSpPr>
        <p:grpSpPr bwMode="auto">
          <a:xfrm>
            <a:off x="4520952" y="2420888"/>
            <a:ext cx="900113" cy="648000"/>
            <a:chOff x="807" y="2936"/>
            <a:chExt cx="537" cy="453"/>
          </a:xfrm>
        </p:grpSpPr>
        <p:sp>
          <p:nvSpPr>
            <p:cNvPr id="83" name="Rectangle 54">
              <a:extLst>
                <a:ext uri="{FF2B5EF4-FFF2-40B4-BE49-F238E27FC236}">
                  <a16:creationId xmlns:a16="http://schemas.microsoft.com/office/drawing/2014/main" xmlns="" id="{141793F4-2E12-B674-26DA-A3D60A76B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입고담당자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90" name="Rectangle 55">
              <a:extLst>
                <a:ext uri="{FF2B5EF4-FFF2-40B4-BE49-F238E27FC236}">
                  <a16:creationId xmlns:a16="http://schemas.microsoft.com/office/drawing/2014/main" xmlns="" id="{69E5B21B-48BA-E423-E8EA-905823541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동시 검수 대상 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확정</a:t>
              </a: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(</a:t>
              </a: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차수부여</a:t>
              </a: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101" name="Rectangle 54">
              <a:extLst>
                <a:ext uri="{FF2B5EF4-FFF2-40B4-BE49-F238E27FC236}">
                  <a16:creationId xmlns:a16="http://schemas.microsoft.com/office/drawing/2014/main" xmlns="" id="{89233889-A253-2AB4-0C16-D632EB0FB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WMS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102" name="Group 51">
            <a:extLst>
              <a:ext uri="{FF2B5EF4-FFF2-40B4-BE49-F238E27FC236}">
                <a16:creationId xmlns:a16="http://schemas.microsoft.com/office/drawing/2014/main" xmlns="" id="{E00EEBB6-6E36-9E9B-9886-F7C2134B3E48}"/>
              </a:ext>
            </a:extLst>
          </p:cNvPr>
          <p:cNvGrpSpPr>
            <a:grpSpLocks/>
          </p:cNvGrpSpPr>
          <p:nvPr/>
        </p:nvGrpSpPr>
        <p:grpSpPr bwMode="auto">
          <a:xfrm>
            <a:off x="4484935" y="3645024"/>
            <a:ext cx="900113" cy="648000"/>
            <a:chOff x="807" y="2936"/>
            <a:chExt cx="537" cy="453"/>
          </a:xfrm>
        </p:grpSpPr>
        <p:sp>
          <p:nvSpPr>
            <p:cNvPr id="104" name="Rectangle 54">
              <a:extLst>
                <a:ext uri="{FF2B5EF4-FFF2-40B4-BE49-F238E27FC236}">
                  <a16:creationId xmlns:a16="http://schemas.microsoft.com/office/drawing/2014/main" xmlns="" id="{8E5BBB32-3F80-030E-C68F-2A33FF57E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입고담당자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05" name="Rectangle 55">
              <a:extLst>
                <a:ext uri="{FF2B5EF4-FFF2-40B4-BE49-F238E27FC236}">
                  <a16:creationId xmlns:a16="http://schemas.microsoft.com/office/drawing/2014/main" xmlns="" id="{2B9D0C28-99D7-FBB9-A22A-9DEE43960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사전 검수 대상 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확정</a:t>
              </a: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(</a:t>
              </a: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차수 부여</a:t>
              </a: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)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07" name="Rectangle 54">
              <a:extLst>
                <a:ext uri="{FF2B5EF4-FFF2-40B4-BE49-F238E27FC236}">
                  <a16:creationId xmlns:a16="http://schemas.microsoft.com/office/drawing/2014/main" xmlns="" id="{C23F6D5D-1CF6-4FCC-5F4E-1EC2EEF06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WMS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108" name="순서도: 저장 데이터 107">
            <a:extLst>
              <a:ext uri="{FF2B5EF4-FFF2-40B4-BE49-F238E27FC236}">
                <a16:creationId xmlns:a16="http://schemas.microsoft.com/office/drawing/2014/main" xmlns="" id="{C5BFEA16-95E8-88E0-0EB7-BD32D4B7714C}"/>
              </a:ext>
            </a:extLst>
          </p:cNvPr>
          <p:cNvSpPr/>
          <p:nvPr/>
        </p:nvSpPr>
        <p:spPr bwMode="auto">
          <a:xfrm>
            <a:off x="5637208" y="3171248"/>
            <a:ext cx="1188000" cy="366782"/>
          </a:xfrm>
          <a:prstGeom prst="flowChartOnlineStorage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rtlCol="0" anchor="ctr"/>
          <a:lstStyle/>
          <a:p>
            <a:pPr lvl="0" algn="ctr">
              <a:defRPr/>
            </a:pPr>
            <a:r>
              <a:rPr lang="en-US" altLang="ko-KR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EX-PAS </a:t>
            </a: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작업지시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  <a:p>
            <a:pPr lvl="0" algn="ctr">
              <a:defRPr/>
            </a:pPr>
            <a:r>
              <a:rPr lang="ko-KR" altLang="en-US" sz="800" dirty="0">
                <a:solidFill>
                  <a:srgbClr val="000000"/>
                </a:solidFill>
                <a:latin typeface="+mj-ea"/>
                <a:ea typeface="+mj-ea"/>
                <a:cs typeface="Arial"/>
              </a:rPr>
              <a:t>송신</a:t>
            </a:r>
            <a:endParaRPr lang="en-US" altLang="ko-KR" sz="800" dirty="0">
              <a:solidFill>
                <a:srgbClr val="000000"/>
              </a:solidFill>
              <a:latin typeface="+mj-ea"/>
              <a:ea typeface="+mj-ea"/>
              <a:cs typeface="Arial"/>
            </a:endParaRPr>
          </a:p>
        </p:txBody>
      </p:sp>
      <p:sp>
        <p:nvSpPr>
          <p:cNvPr id="109" name="순서도: 자기 디스크 108">
            <a:extLst>
              <a:ext uri="{FF2B5EF4-FFF2-40B4-BE49-F238E27FC236}">
                <a16:creationId xmlns:a16="http://schemas.microsoft.com/office/drawing/2014/main" xmlns="" id="{08B3DEC2-4041-F217-7596-3136A386CD83}"/>
              </a:ext>
            </a:extLst>
          </p:cNvPr>
          <p:cNvSpPr/>
          <p:nvPr/>
        </p:nvSpPr>
        <p:spPr bwMode="auto">
          <a:xfrm>
            <a:off x="6584155" y="1982098"/>
            <a:ext cx="745109" cy="366782"/>
          </a:xfrm>
          <a:prstGeom prst="flowChartMagneticDisk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EX-PAS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작업 지시</a:t>
            </a:r>
          </a:p>
        </p:txBody>
      </p:sp>
      <p:cxnSp>
        <p:nvCxnSpPr>
          <p:cNvPr id="128" name="직선 화살표 연결선 74">
            <a:extLst>
              <a:ext uri="{FF2B5EF4-FFF2-40B4-BE49-F238E27FC236}">
                <a16:creationId xmlns:a16="http://schemas.microsoft.com/office/drawing/2014/main" xmlns="" id="{6ADBD0A7-25D0-0296-862A-B8D35506A125}"/>
              </a:ext>
            </a:extLst>
          </p:cNvPr>
          <p:cNvCxnSpPr>
            <a:cxnSpLocks/>
            <a:stCxn id="108" idx="3"/>
            <a:endCxn id="109" idx="3"/>
          </p:cNvCxnSpPr>
          <p:nvPr/>
        </p:nvCxnSpPr>
        <p:spPr>
          <a:xfrm flipV="1">
            <a:off x="6627208" y="2348880"/>
            <a:ext cx="329502" cy="1005759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순서도: 자기 디스크 136">
            <a:extLst>
              <a:ext uri="{FF2B5EF4-FFF2-40B4-BE49-F238E27FC236}">
                <a16:creationId xmlns:a16="http://schemas.microsoft.com/office/drawing/2014/main" xmlns="" id="{C79ABE9B-92B7-42E9-ED76-2B9B1EFD8BD7}"/>
              </a:ext>
            </a:extLst>
          </p:cNvPr>
          <p:cNvSpPr/>
          <p:nvPr/>
        </p:nvSpPr>
        <p:spPr bwMode="auto">
          <a:xfrm>
            <a:off x="6584155" y="4365104"/>
            <a:ext cx="745109" cy="366782"/>
          </a:xfrm>
          <a:prstGeom prst="flowChartMagneticDisk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EX-PAS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동시검수실적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sp>
        <p:nvSpPr>
          <p:cNvPr id="139" name="순서도: 자기 디스크 138">
            <a:extLst>
              <a:ext uri="{FF2B5EF4-FFF2-40B4-BE49-F238E27FC236}">
                <a16:creationId xmlns:a16="http://schemas.microsoft.com/office/drawing/2014/main" xmlns="" id="{D8F79151-AE43-0214-311C-CDAC15C95BD8}"/>
              </a:ext>
            </a:extLst>
          </p:cNvPr>
          <p:cNvSpPr/>
          <p:nvPr/>
        </p:nvSpPr>
        <p:spPr bwMode="auto">
          <a:xfrm>
            <a:off x="6584155" y="5445224"/>
            <a:ext cx="745109" cy="366782"/>
          </a:xfrm>
          <a:prstGeom prst="flowChartMagneticDisk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EX-PAS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2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차분류실적</a:t>
            </a:r>
          </a:p>
        </p:txBody>
      </p:sp>
      <p:grpSp>
        <p:nvGrpSpPr>
          <p:cNvPr id="142" name="Group 51">
            <a:extLst>
              <a:ext uri="{FF2B5EF4-FFF2-40B4-BE49-F238E27FC236}">
                <a16:creationId xmlns:a16="http://schemas.microsoft.com/office/drawing/2014/main" xmlns="" id="{C2879E2A-B8E1-E3A0-8FB2-3B59319368FB}"/>
              </a:ext>
            </a:extLst>
          </p:cNvPr>
          <p:cNvGrpSpPr>
            <a:grpSpLocks/>
          </p:cNvGrpSpPr>
          <p:nvPr/>
        </p:nvGrpSpPr>
        <p:grpSpPr bwMode="auto">
          <a:xfrm>
            <a:off x="4196903" y="4653136"/>
            <a:ext cx="900113" cy="648000"/>
            <a:chOff x="807" y="2936"/>
            <a:chExt cx="537" cy="453"/>
          </a:xfrm>
        </p:grpSpPr>
        <p:sp>
          <p:nvSpPr>
            <p:cNvPr id="143" name="Rectangle 54">
              <a:extLst>
                <a:ext uri="{FF2B5EF4-FFF2-40B4-BE49-F238E27FC236}">
                  <a16:creationId xmlns:a16="http://schemas.microsoft.com/office/drawing/2014/main" xmlns="" id="{4BD74DE0-38DC-04C1-F334-17704411E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45" name="Rectangle 55">
              <a:extLst>
                <a:ext uri="{FF2B5EF4-FFF2-40B4-BE49-F238E27FC236}">
                  <a16:creationId xmlns:a16="http://schemas.microsoft.com/office/drawing/2014/main" xmlns="" id="{F8DAA58E-E021-0066-83E6-18FFE0A87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동시 검수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입고 확정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46" name="Rectangle 54">
              <a:extLst>
                <a:ext uri="{FF2B5EF4-FFF2-40B4-BE49-F238E27FC236}">
                  <a16:creationId xmlns:a16="http://schemas.microsoft.com/office/drawing/2014/main" xmlns="" id="{F16662D3-4ACF-A813-9572-76FAA5296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WMS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156" name="직선 화살표 연결선 74">
            <a:extLst>
              <a:ext uri="{FF2B5EF4-FFF2-40B4-BE49-F238E27FC236}">
                <a16:creationId xmlns:a16="http://schemas.microsoft.com/office/drawing/2014/main" xmlns="" id="{41F75E7C-198C-1674-ED51-F02DFFA752CC}"/>
              </a:ext>
            </a:extLst>
          </p:cNvPr>
          <p:cNvCxnSpPr>
            <a:cxnSpLocks/>
            <a:stCxn id="42" idx="3"/>
            <a:endCxn id="90" idx="1"/>
          </p:cNvCxnSpPr>
          <p:nvPr/>
        </p:nvCxnSpPr>
        <p:spPr>
          <a:xfrm flipV="1">
            <a:off x="2641716" y="2744889"/>
            <a:ext cx="1879236" cy="216024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74">
            <a:extLst>
              <a:ext uri="{FF2B5EF4-FFF2-40B4-BE49-F238E27FC236}">
                <a16:creationId xmlns:a16="http://schemas.microsoft.com/office/drawing/2014/main" xmlns="" id="{E63EB52E-8D17-ABFC-4D4B-28D45FDC82F0}"/>
              </a:ext>
            </a:extLst>
          </p:cNvPr>
          <p:cNvCxnSpPr>
            <a:cxnSpLocks/>
            <a:stCxn id="9" idx="3"/>
            <a:endCxn id="11" idx="0"/>
          </p:cNvCxnSpPr>
          <p:nvPr/>
        </p:nvCxnSpPr>
        <p:spPr>
          <a:xfrm>
            <a:off x="1910552" y="1415866"/>
            <a:ext cx="281108" cy="285014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74">
            <a:extLst>
              <a:ext uri="{FF2B5EF4-FFF2-40B4-BE49-F238E27FC236}">
                <a16:creationId xmlns:a16="http://schemas.microsoft.com/office/drawing/2014/main" xmlns="" id="{6D36396B-F25E-D746-EA60-E599C6842DE3}"/>
              </a:ext>
            </a:extLst>
          </p:cNvPr>
          <p:cNvCxnSpPr>
            <a:cxnSpLocks/>
            <a:stCxn id="43" idx="2"/>
            <a:endCxn id="28" idx="1"/>
          </p:cNvCxnSpPr>
          <p:nvPr/>
        </p:nvCxnSpPr>
        <p:spPr>
          <a:xfrm rot="16200000" flipH="1">
            <a:off x="2628752" y="2847819"/>
            <a:ext cx="100163" cy="974347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74">
            <a:extLst>
              <a:ext uri="{FF2B5EF4-FFF2-40B4-BE49-F238E27FC236}">
                <a16:creationId xmlns:a16="http://schemas.microsoft.com/office/drawing/2014/main" xmlns="" id="{640064BB-3CDA-245B-4599-59E8F40594B7}"/>
              </a:ext>
            </a:extLst>
          </p:cNvPr>
          <p:cNvCxnSpPr>
            <a:cxnSpLocks/>
            <a:stCxn id="29" idx="2"/>
            <a:endCxn id="37" idx="1"/>
          </p:cNvCxnSpPr>
          <p:nvPr/>
        </p:nvCxnSpPr>
        <p:spPr>
          <a:xfrm rot="16200000" flipH="1">
            <a:off x="3557587" y="3767551"/>
            <a:ext cx="217240" cy="100286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74">
            <a:extLst>
              <a:ext uri="{FF2B5EF4-FFF2-40B4-BE49-F238E27FC236}">
                <a16:creationId xmlns:a16="http://schemas.microsoft.com/office/drawing/2014/main" xmlns="" id="{7CF4E062-90A8-2266-19F6-F24A4C99AADB}"/>
              </a:ext>
            </a:extLst>
          </p:cNvPr>
          <p:cNvCxnSpPr>
            <a:cxnSpLocks/>
            <a:stCxn id="37" idx="4"/>
            <a:endCxn id="105" idx="1"/>
          </p:cNvCxnSpPr>
          <p:nvPr/>
        </p:nvCxnSpPr>
        <p:spPr>
          <a:xfrm flipV="1">
            <a:off x="4088904" y="3969025"/>
            <a:ext cx="396031" cy="140680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74">
            <a:extLst>
              <a:ext uri="{FF2B5EF4-FFF2-40B4-BE49-F238E27FC236}">
                <a16:creationId xmlns:a16="http://schemas.microsoft.com/office/drawing/2014/main" xmlns="" id="{7BF193D9-6E43-D42F-5EA6-A5FDFBD40805}"/>
              </a:ext>
            </a:extLst>
          </p:cNvPr>
          <p:cNvCxnSpPr>
            <a:cxnSpLocks/>
            <a:stCxn id="90" idx="3"/>
            <a:endCxn id="108" idx="0"/>
          </p:cNvCxnSpPr>
          <p:nvPr/>
        </p:nvCxnSpPr>
        <p:spPr>
          <a:xfrm>
            <a:off x="5421065" y="2744889"/>
            <a:ext cx="810143" cy="426359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74">
            <a:extLst>
              <a:ext uri="{FF2B5EF4-FFF2-40B4-BE49-F238E27FC236}">
                <a16:creationId xmlns:a16="http://schemas.microsoft.com/office/drawing/2014/main" xmlns="" id="{034AF0F1-C867-7F4B-7173-7192211A24EE}"/>
              </a:ext>
            </a:extLst>
          </p:cNvPr>
          <p:cNvCxnSpPr>
            <a:cxnSpLocks/>
            <a:stCxn id="105" idx="3"/>
            <a:endCxn id="108" idx="2"/>
          </p:cNvCxnSpPr>
          <p:nvPr/>
        </p:nvCxnSpPr>
        <p:spPr>
          <a:xfrm flipV="1">
            <a:off x="5385048" y="3538030"/>
            <a:ext cx="846160" cy="430995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51">
            <a:extLst>
              <a:ext uri="{FF2B5EF4-FFF2-40B4-BE49-F238E27FC236}">
                <a16:creationId xmlns:a16="http://schemas.microsoft.com/office/drawing/2014/main" xmlns="" id="{99BB897D-4FC1-865B-5032-5ECE4614FFD3}"/>
              </a:ext>
            </a:extLst>
          </p:cNvPr>
          <p:cNvGrpSpPr>
            <a:grpSpLocks/>
          </p:cNvGrpSpPr>
          <p:nvPr/>
        </p:nvGrpSpPr>
        <p:grpSpPr bwMode="auto">
          <a:xfrm>
            <a:off x="8121352" y="1241908"/>
            <a:ext cx="900113" cy="648000"/>
            <a:chOff x="807" y="2936"/>
            <a:chExt cx="537" cy="453"/>
          </a:xfrm>
        </p:grpSpPr>
        <p:sp>
          <p:nvSpPr>
            <p:cNvPr id="184" name="Rectangle 54">
              <a:extLst>
                <a:ext uri="{FF2B5EF4-FFF2-40B4-BE49-F238E27FC236}">
                  <a16:creationId xmlns:a16="http://schemas.microsoft.com/office/drawing/2014/main" xmlns="" id="{402F15A6-AF22-1D0E-89AD-B1C2E6723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86" name="Rectangle 55">
              <a:extLst>
                <a:ext uri="{FF2B5EF4-FFF2-40B4-BE49-F238E27FC236}">
                  <a16:creationId xmlns:a16="http://schemas.microsoft.com/office/drawing/2014/main" xmlns="" id="{1F5AA709-F90C-6C33-BAEA-9336BC775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작업 오더</a:t>
              </a:r>
              <a:endParaRPr kumimoji="0" lang="en-US" altLang="ko-KR" sz="800" kern="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접수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87" name="Rectangle 54">
              <a:extLst>
                <a:ext uri="{FF2B5EF4-FFF2-40B4-BE49-F238E27FC236}">
                  <a16:creationId xmlns:a16="http://schemas.microsoft.com/office/drawing/2014/main" xmlns="" id="{7FD92F6A-0D92-F787-5E9A-BC8B1072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WCS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188" name="Group 51">
            <a:extLst>
              <a:ext uri="{FF2B5EF4-FFF2-40B4-BE49-F238E27FC236}">
                <a16:creationId xmlns:a16="http://schemas.microsoft.com/office/drawing/2014/main" xmlns="" id="{D6953FAB-D27F-931C-3723-450E400CA638}"/>
              </a:ext>
            </a:extLst>
          </p:cNvPr>
          <p:cNvGrpSpPr>
            <a:grpSpLocks/>
          </p:cNvGrpSpPr>
          <p:nvPr/>
        </p:nvGrpSpPr>
        <p:grpSpPr bwMode="auto">
          <a:xfrm>
            <a:off x="8130061" y="2060920"/>
            <a:ext cx="900113" cy="648000"/>
            <a:chOff x="807" y="2936"/>
            <a:chExt cx="537" cy="453"/>
          </a:xfrm>
        </p:grpSpPr>
        <p:sp>
          <p:nvSpPr>
            <p:cNvPr id="189" name="Rectangle 54">
              <a:extLst>
                <a:ext uri="{FF2B5EF4-FFF2-40B4-BE49-F238E27FC236}">
                  <a16:creationId xmlns:a16="http://schemas.microsoft.com/office/drawing/2014/main" xmlns="" id="{04825807-3545-E015-41E2-EE7ED7A9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90" name="Rectangle 55">
              <a:extLst>
                <a:ext uri="{FF2B5EF4-FFF2-40B4-BE49-F238E27FC236}">
                  <a16:creationId xmlns:a16="http://schemas.microsoft.com/office/drawing/2014/main" xmlns="" id="{45282C5D-0F51-ECF0-BEAD-FE4C8EBD1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작업 분배</a:t>
              </a:r>
              <a:endParaRPr kumimoji="0" lang="en-US" altLang="ko-KR" sz="800" kern="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(</a:t>
              </a: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차수단위</a:t>
              </a: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191" name="Rectangle 54">
              <a:extLst>
                <a:ext uri="{FF2B5EF4-FFF2-40B4-BE49-F238E27FC236}">
                  <a16:creationId xmlns:a16="http://schemas.microsoft.com/office/drawing/2014/main" xmlns="" id="{B008452F-4A42-1F36-6229-16786E856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</a:rPr>
                <a:t>WCS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194" name="직선 화살표 연결선 74">
            <a:extLst>
              <a:ext uri="{FF2B5EF4-FFF2-40B4-BE49-F238E27FC236}">
                <a16:creationId xmlns:a16="http://schemas.microsoft.com/office/drawing/2014/main" xmlns="" id="{0019854A-78BF-98C2-AD5F-4E76D04C3B81}"/>
              </a:ext>
            </a:extLst>
          </p:cNvPr>
          <p:cNvCxnSpPr>
            <a:cxnSpLocks/>
            <a:stCxn id="109" idx="4"/>
            <a:endCxn id="186" idx="1"/>
          </p:cNvCxnSpPr>
          <p:nvPr/>
        </p:nvCxnSpPr>
        <p:spPr>
          <a:xfrm flipV="1">
            <a:off x="7329264" y="1565909"/>
            <a:ext cx="792088" cy="599580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74">
            <a:extLst>
              <a:ext uri="{FF2B5EF4-FFF2-40B4-BE49-F238E27FC236}">
                <a16:creationId xmlns:a16="http://schemas.microsoft.com/office/drawing/2014/main" xmlns="" id="{513395C9-BA7C-A511-6AA8-96878A839A3F}"/>
              </a:ext>
            </a:extLst>
          </p:cNvPr>
          <p:cNvCxnSpPr>
            <a:cxnSpLocks/>
            <a:stCxn id="187" idx="2"/>
            <a:endCxn id="189" idx="0"/>
          </p:cNvCxnSpPr>
          <p:nvPr/>
        </p:nvCxnSpPr>
        <p:spPr>
          <a:xfrm rot="16200000" flipH="1">
            <a:off x="8490257" y="1971059"/>
            <a:ext cx="171012" cy="8709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Group 51">
            <a:extLst>
              <a:ext uri="{FF2B5EF4-FFF2-40B4-BE49-F238E27FC236}">
                <a16:creationId xmlns:a16="http://schemas.microsoft.com/office/drawing/2014/main" xmlns="" id="{FB103610-2459-992C-0B6C-8BE42012B347}"/>
              </a:ext>
            </a:extLst>
          </p:cNvPr>
          <p:cNvGrpSpPr>
            <a:grpSpLocks/>
          </p:cNvGrpSpPr>
          <p:nvPr/>
        </p:nvGrpSpPr>
        <p:grpSpPr bwMode="auto">
          <a:xfrm>
            <a:off x="8130061" y="2958068"/>
            <a:ext cx="900113" cy="648000"/>
            <a:chOff x="807" y="2936"/>
            <a:chExt cx="537" cy="453"/>
          </a:xfrm>
        </p:grpSpPr>
        <p:sp>
          <p:nvSpPr>
            <p:cNvPr id="203" name="Rectangle 54">
              <a:extLst>
                <a:ext uri="{FF2B5EF4-FFF2-40B4-BE49-F238E27FC236}">
                  <a16:creationId xmlns:a16="http://schemas.microsoft.com/office/drawing/2014/main" xmlns="" id="{DCFAC265-7EC4-724E-F92C-75A48594B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입고 담당자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04" name="Rectangle 55">
              <a:extLst>
                <a:ext uri="{FF2B5EF4-FFF2-40B4-BE49-F238E27FC236}">
                  <a16:creationId xmlns:a16="http://schemas.microsoft.com/office/drawing/2014/main" xmlns="" id="{C1B7D813-C0F6-117F-317F-9D60F8B51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rgbClr val="000000"/>
                  </a:solidFill>
                  <a:latin typeface="+mj-ea"/>
                  <a:ea typeface="+mj-ea"/>
                </a:rPr>
                <a:t>PAS</a:t>
              </a:r>
              <a:r>
                <a:rPr kumimoji="0" lang="ko-KR" altLang="en-US" sz="800" kern="0" dirty="0">
                  <a:solidFill>
                    <a:srgbClr val="000000"/>
                  </a:solidFill>
                  <a:latin typeface="+mj-ea"/>
                  <a:ea typeface="+mj-ea"/>
                </a:rPr>
                <a:t>투입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05" name="Rectangle 54">
              <a:extLst>
                <a:ext uri="{FF2B5EF4-FFF2-40B4-BE49-F238E27FC236}">
                  <a16:creationId xmlns:a16="http://schemas.microsoft.com/office/drawing/2014/main" xmlns="" id="{990DFB49-FCB9-4B57-C7AE-50DA80639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PAS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206" name="Group 51">
            <a:extLst>
              <a:ext uri="{FF2B5EF4-FFF2-40B4-BE49-F238E27FC236}">
                <a16:creationId xmlns:a16="http://schemas.microsoft.com/office/drawing/2014/main" xmlns="" id="{053277CC-0BB5-9D39-273D-5207B7D2A7F3}"/>
              </a:ext>
            </a:extLst>
          </p:cNvPr>
          <p:cNvGrpSpPr>
            <a:grpSpLocks/>
          </p:cNvGrpSpPr>
          <p:nvPr/>
        </p:nvGrpSpPr>
        <p:grpSpPr bwMode="auto">
          <a:xfrm>
            <a:off x="8130061" y="4036275"/>
            <a:ext cx="900113" cy="648000"/>
            <a:chOff x="807" y="2936"/>
            <a:chExt cx="537" cy="453"/>
          </a:xfrm>
        </p:grpSpPr>
        <p:sp>
          <p:nvSpPr>
            <p:cNvPr id="207" name="Rectangle 54">
              <a:extLst>
                <a:ext uri="{FF2B5EF4-FFF2-40B4-BE49-F238E27FC236}">
                  <a16:creationId xmlns:a16="http://schemas.microsoft.com/office/drawing/2014/main" xmlns="" id="{C0273F08-5D1E-8E91-B8C7-76764C6DF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자동</a:t>
              </a:r>
            </a:p>
          </p:txBody>
        </p:sp>
        <p:sp>
          <p:nvSpPr>
            <p:cNvPr id="208" name="Rectangle 55">
              <a:extLst>
                <a:ext uri="{FF2B5EF4-FFF2-40B4-BE49-F238E27FC236}">
                  <a16:creationId xmlns:a16="http://schemas.microsoft.com/office/drawing/2014/main" xmlns="" id="{9C0A379B-EEB1-BAD8-0F54-289638A9B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상품별 박스 분류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10" name="Rectangle 54">
              <a:extLst>
                <a:ext uri="{FF2B5EF4-FFF2-40B4-BE49-F238E27FC236}">
                  <a16:creationId xmlns:a16="http://schemas.microsoft.com/office/drawing/2014/main" xmlns="" id="{8CEB6B62-D7ED-2543-66FC-056147C23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PAS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211" name="Group 51">
            <a:extLst>
              <a:ext uri="{FF2B5EF4-FFF2-40B4-BE49-F238E27FC236}">
                <a16:creationId xmlns:a16="http://schemas.microsoft.com/office/drawing/2014/main" xmlns="" id="{4908700F-4BD6-F734-2F3A-43E31161F619}"/>
              </a:ext>
            </a:extLst>
          </p:cNvPr>
          <p:cNvGrpSpPr>
            <a:grpSpLocks/>
          </p:cNvGrpSpPr>
          <p:nvPr/>
        </p:nvGrpSpPr>
        <p:grpSpPr bwMode="auto">
          <a:xfrm>
            <a:off x="8130061" y="4865825"/>
            <a:ext cx="900113" cy="648000"/>
            <a:chOff x="807" y="2936"/>
            <a:chExt cx="537" cy="453"/>
          </a:xfrm>
        </p:grpSpPr>
        <p:sp>
          <p:nvSpPr>
            <p:cNvPr id="213" name="Rectangle 54">
              <a:extLst>
                <a:ext uri="{FF2B5EF4-FFF2-40B4-BE49-F238E27FC236}">
                  <a16:creationId xmlns:a16="http://schemas.microsoft.com/office/drawing/2014/main" xmlns="" id="{1E61B6D7-2CCA-1E12-62D3-FE5FF7C44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입고담당자</a:t>
              </a:r>
            </a:p>
          </p:txBody>
        </p:sp>
        <p:sp>
          <p:nvSpPr>
            <p:cNvPr id="214" name="Rectangle 55">
              <a:extLst>
                <a:ext uri="{FF2B5EF4-FFF2-40B4-BE49-F238E27FC236}">
                  <a16:creationId xmlns:a16="http://schemas.microsoft.com/office/drawing/2014/main" xmlns="" id="{91E2E41C-1C1E-7A1D-086C-C373A1647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상품별 박스 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패킹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15" name="Rectangle 54">
              <a:extLst>
                <a:ext uri="{FF2B5EF4-FFF2-40B4-BE49-F238E27FC236}">
                  <a16:creationId xmlns:a16="http://schemas.microsoft.com/office/drawing/2014/main" xmlns="" id="{C1E3F732-FCBB-EEB7-B350-951B20C2F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PAS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220" name="직선 화살표 연결선 74">
            <a:extLst>
              <a:ext uri="{FF2B5EF4-FFF2-40B4-BE49-F238E27FC236}">
                <a16:creationId xmlns:a16="http://schemas.microsoft.com/office/drawing/2014/main" xmlns="" id="{5F97880F-DF36-86E0-4F93-3BA56C23E14F}"/>
              </a:ext>
            </a:extLst>
          </p:cNvPr>
          <p:cNvCxnSpPr>
            <a:cxnSpLocks/>
            <a:stCxn id="208" idx="1"/>
            <a:endCxn id="137" idx="4"/>
          </p:cNvCxnSpPr>
          <p:nvPr/>
        </p:nvCxnSpPr>
        <p:spPr>
          <a:xfrm rot="10800000" flipV="1">
            <a:off x="7329265" y="4360275"/>
            <a:ext cx="800797" cy="188219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74">
            <a:extLst>
              <a:ext uri="{FF2B5EF4-FFF2-40B4-BE49-F238E27FC236}">
                <a16:creationId xmlns:a16="http://schemas.microsoft.com/office/drawing/2014/main" xmlns="" id="{F7828D6C-2691-AD7E-237C-73FBDEA650ED}"/>
              </a:ext>
            </a:extLst>
          </p:cNvPr>
          <p:cNvCxnSpPr>
            <a:cxnSpLocks/>
            <a:stCxn id="208" idx="1"/>
            <a:endCxn id="139" idx="4"/>
          </p:cNvCxnSpPr>
          <p:nvPr/>
        </p:nvCxnSpPr>
        <p:spPr>
          <a:xfrm rot="10800000" flipV="1">
            <a:off x="7329265" y="4360275"/>
            <a:ext cx="800797" cy="1268339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74">
            <a:extLst>
              <a:ext uri="{FF2B5EF4-FFF2-40B4-BE49-F238E27FC236}">
                <a16:creationId xmlns:a16="http://schemas.microsoft.com/office/drawing/2014/main" xmlns="" id="{FF7105FA-A97F-927E-7755-8285C713F059}"/>
              </a:ext>
            </a:extLst>
          </p:cNvPr>
          <p:cNvCxnSpPr>
            <a:cxnSpLocks/>
            <a:stCxn id="137" idx="2"/>
            <a:endCxn id="145" idx="3"/>
          </p:cNvCxnSpPr>
          <p:nvPr/>
        </p:nvCxnSpPr>
        <p:spPr>
          <a:xfrm rot="10800000" flipV="1">
            <a:off x="5097017" y="4548495"/>
            <a:ext cx="1487139" cy="428642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xmlns="" id="{31ECDC56-D46E-6252-7467-D7B6D4116379}"/>
              </a:ext>
            </a:extLst>
          </p:cNvPr>
          <p:cNvSpPr txBox="1"/>
          <p:nvPr/>
        </p:nvSpPr>
        <p:spPr>
          <a:xfrm>
            <a:off x="6047467" y="5928865"/>
            <a:ext cx="705733" cy="370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저장 위치</a:t>
            </a:r>
            <a:endParaRPr kumimoji="0" lang="en-US" altLang="ko-KR" sz="800" dirty="0">
              <a:solidFill>
                <a:srgbClr val="000000"/>
              </a:solidFill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실물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이동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47" name="직선 화살표 연결선 74">
            <a:extLst>
              <a:ext uri="{FF2B5EF4-FFF2-40B4-BE49-F238E27FC236}">
                <a16:creationId xmlns:a16="http://schemas.microsoft.com/office/drawing/2014/main" xmlns="" id="{2C980884-5CE0-F63C-71DC-9915C841EC7A}"/>
              </a:ext>
            </a:extLst>
          </p:cNvPr>
          <p:cNvCxnSpPr>
            <a:cxnSpLocks/>
            <a:stCxn id="215" idx="2"/>
            <a:endCxn id="246" idx="3"/>
          </p:cNvCxnSpPr>
          <p:nvPr/>
        </p:nvCxnSpPr>
        <p:spPr>
          <a:xfrm rot="5400000">
            <a:off x="7366465" y="4900560"/>
            <a:ext cx="600388" cy="1826918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2" name="Group 51">
            <a:extLst>
              <a:ext uri="{FF2B5EF4-FFF2-40B4-BE49-F238E27FC236}">
                <a16:creationId xmlns:a16="http://schemas.microsoft.com/office/drawing/2014/main" xmlns="" id="{683E11DE-D827-D8BE-83F7-08580CBC6FC1}"/>
              </a:ext>
            </a:extLst>
          </p:cNvPr>
          <p:cNvGrpSpPr>
            <a:grpSpLocks/>
          </p:cNvGrpSpPr>
          <p:nvPr/>
        </p:nvGrpSpPr>
        <p:grpSpPr bwMode="auto">
          <a:xfrm>
            <a:off x="4736976" y="5589240"/>
            <a:ext cx="900113" cy="648000"/>
            <a:chOff x="807" y="2936"/>
            <a:chExt cx="537" cy="453"/>
          </a:xfrm>
        </p:grpSpPr>
        <p:sp>
          <p:nvSpPr>
            <p:cNvPr id="253" name="Rectangle 54">
              <a:extLst>
                <a:ext uri="{FF2B5EF4-FFF2-40B4-BE49-F238E27FC236}">
                  <a16:creationId xmlns:a16="http://schemas.microsoft.com/office/drawing/2014/main" xmlns="" id="{1349E281-534D-AE3B-BDCA-7E6B99485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dirty="0">
                  <a:solidFill>
                    <a:sysClr val="windowText" lastClr="000000"/>
                  </a:solidFill>
                  <a:latin typeface="+mj-ea"/>
                  <a:ea typeface="+mj-ea"/>
                </a:rPr>
                <a:t>자동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54" name="Rectangle 55">
              <a:extLst>
                <a:ext uri="{FF2B5EF4-FFF2-40B4-BE49-F238E27FC236}">
                  <a16:creationId xmlns:a16="http://schemas.microsoft.com/office/drawing/2014/main" xmlns="" id="{32179CC9-4808-2118-6DD6-B457F69CD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저장 위치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LOC</a:t>
              </a: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이동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55" name="Rectangle 54">
              <a:extLst>
                <a:ext uri="{FF2B5EF4-FFF2-40B4-BE49-F238E27FC236}">
                  <a16:creationId xmlns:a16="http://schemas.microsoft.com/office/drawing/2014/main" xmlns="" id="{90768F60-3355-6096-1EB1-BB5C562ED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WMS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257" name="직선 화살표 연결선 74">
            <a:extLst>
              <a:ext uri="{FF2B5EF4-FFF2-40B4-BE49-F238E27FC236}">
                <a16:creationId xmlns:a16="http://schemas.microsoft.com/office/drawing/2014/main" xmlns="" id="{043E0D32-CD73-079C-0614-68892E6F902F}"/>
              </a:ext>
            </a:extLst>
          </p:cNvPr>
          <p:cNvCxnSpPr>
            <a:cxnSpLocks/>
            <a:stCxn id="139" idx="2"/>
            <a:endCxn id="254" idx="3"/>
          </p:cNvCxnSpPr>
          <p:nvPr/>
        </p:nvCxnSpPr>
        <p:spPr>
          <a:xfrm rot="10800000" flipV="1">
            <a:off x="5637089" y="5628615"/>
            <a:ext cx="947066" cy="284626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74">
            <a:extLst>
              <a:ext uri="{FF2B5EF4-FFF2-40B4-BE49-F238E27FC236}">
                <a16:creationId xmlns:a16="http://schemas.microsoft.com/office/drawing/2014/main" xmlns="" id="{B3142176-4F59-76F2-DD82-E4C1473BC652}"/>
              </a:ext>
            </a:extLst>
          </p:cNvPr>
          <p:cNvCxnSpPr>
            <a:cxnSpLocks/>
            <a:stCxn id="145" idx="1"/>
            <a:endCxn id="35" idx="3"/>
          </p:cNvCxnSpPr>
          <p:nvPr/>
        </p:nvCxnSpPr>
        <p:spPr>
          <a:xfrm rot="10800000" flipV="1">
            <a:off x="1910553" y="4977137"/>
            <a:ext cx="2286351" cy="212688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Group 51">
            <a:extLst>
              <a:ext uri="{FF2B5EF4-FFF2-40B4-BE49-F238E27FC236}">
                <a16:creationId xmlns:a16="http://schemas.microsoft.com/office/drawing/2014/main" xmlns="" id="{91C227CF-75C0-F03F-9479-87991D6EEB46}"/>
              </a:ext>
            </a:extLst>
          </p:cNvPr>
          <p:cNvGrpSpPr>
            <a:grpSpLocks/>
          </p:cNvGrpSpPr>
          <p:nvPr/>
        </p:nvGrpSpPr>
        <p:grpSpPr bwMode="auto">
          <a:xfrm>
            <a:off x="2853954" y="5430271"/>
            <a:ext cx="900113" cy="648000"/>
            <a:chOff x="807" y="2936"/>
            <a:chExt cx="537" cy="453"/>
          </a:xfrm>
        </p:grpSpPr>
        <p:sp>
          <p:nvSpPr>
            <p:cNvPr id="271" name="Rectangle 54">
              <a:extLst>
                <a:ext uri="{FF2B5EF4-FFF2-40B4-BE49-F238E27FC236}">
                  <a16:creationId xmlns:a16="http://schemas.microsoft.com/office/drawing/2014/main" xmlns="" id="{1E923998-A409-08E8-77BD-52FF1CCAB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2936"/>
              <a:ext cx="537" cy="13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j-ea"/>
                  <a:ea typeface="+mj-ea"/>
                </a:rPr>
                <a:t>입고담당자</a:t>
              </a:r>
            </a:p>
          </p:txBody>
        </p:sp>
        <p:sp>
          <p:nvSpPr>
            <p:cNvPr id="273" name="Rectangle 55">
              <a:extLst>
                <a:ext uri="{FF2B5EF4-FFF2-40B4-BE49-F238E27FC236}">
                  <a16:creationId xmlns:a16="http://schemas.microsoft.com/office/drawing/2014/main" xmlns="" id="{B8064507-A1BB-B8EF-8400-8BA98FEA7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1"/>
              <a:ext cx="537" cy="183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이상건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 확인 </a:t>
              </a:r>
              <a:r>
                <a:rPr kumimoji="0" lang="en-US" altLang="ko-KR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&amp; </a:t>
              </a:r>
              <a:r>
                <a:rPr kumimoji="0" lang="ko-KR" altLang="en-US" sz="8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</a:rPr>
                <a:t>처리</a:t>
              </a:r>
              <a:endParaRPr kumimoji="0" lang="en-US" altLang="ko-KR" sz="8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74" name="Rectangle 54">
              <a:extLst>
                <a:ext uri="{FF2B5EF4-FFF2-40B4-BE49-F238E27FC236}">
                  <a16:creationId xmlns:a16="http://schemas.microsoft.com/office/drawing/2014/main" xmlns="" id="{237C6E09-F1F0-DB50-ED71-0BADDD40A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254"/>
              <a:ext cx="537" cy="1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kern="0" dirty="0">
                  <a:solidFill>
                    <a:schemeClr val="bg1"/>
                  </a:solidFill>
                  <a:latin typeface="+mj-ea"/>
                  <a:ea typeface="+mj-ea"/>
                </a:rPr>
                <a:t>WMS</a:t>
              </a:r>
              <a:endParaRPr kumimoji="0" lang="ko-KR" altLang="en-US" sz="80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cxnSp>
        <p:nvCxnSpPr>
          <p:cNvPr id="275" name="직선 화살표 연결선 74">
            <a:extLst>
              <a:ext uri="{FF2B5EF4-FFF2-40B4-BE49-F238E27FC236}">
                <a16:creationId xmlns:a16="http://schemas.microsoft.com/office/drawing/2014/main" xmlns="" id="{B7E8EE14-BE7F-E142-2159-CE1A328BFA57}"/>
              </a:ext>
            </a:extLst>
          </p:cNvPr>
          <p:cNvCxnSpPr>
            <a:cxnSpLocks/>
            <a:stCxn id="273" idx="1"/>
            <a:endCxn id="35" idx="2"/>
          </p:cNvCxnSpPr>
          <p:nvPr/>
        </p:nvCxnSpPr>
        <p:spPr>
          <a:xfrm rot="10800000">
            <a:off x="1514552" y="5373216"/>
            <a:ext cx="1339402" cy="381056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화살표 연결선 74">
            <a:extLst>
              <a:ext uri="{FF2B5EF4-FFF2-40B4-BE49-F238E27FC236}">
                <a16:creationId xmlns:a16="http://schemas.microsoft.com/office/drawing/2014/main" xmlns="" id="{D7ED17A1-EE38-AA81-4FC8-EEFD225913F6}"/>
              </a:ext>
            </a:extLst>
          </p:cNvPr>
          <p:cNvCxnSpPr>
            <a:cxnSpLocks/>
            <a:stCxn id="35" idx="1"/>
            <a:endCxn id="32" idx="0"/>
          </p:cNvCxnSpPr>
          <p:nvPr/>
        </p:nvCxnSpPr>
        <p:spPr>
          <a:xfrm rot="10800000" flipV="1">
            <a:off x="794546" y="5189824"/>
            <a:ext cx="126007" cy="399415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화살표 연결선 74">
            <a:extLst>
              <a:ext uri="{FF2B5EF4-FFF2-40B4-BE49-F238E27FC236}">
                <a16:creationId xmlns:a16="http://schemas.microsoft.com/office/drawing/2014/main" xmlns="" id="{A93A0270-B474-CA51-D86F-214BC63AB3B5}"/>
              </a:ext>
            </a:extLst>
          </p:cNvPr>
          <p:cNvCxnSpPr>
            <a:cxnSpLocks/>
            <a:stCxn id="146" idx="2"/>
            <a:endCxn id="273" idx="3"/>
          </p:cNvCxnSpPr>
          <p:nvPr/>
        </p:nvCxnSpPr>
        <p:spPr>
          <a:xfrm rot="5400000">
            <a:off x="3973946" y="5081258"/>
            <a:ext cx="453136" cy="892893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xmlns="" id="{143A5D3E-5FCD-6B2F-F34C-1E90C5CCA87F}"/>
              </a:ext>
            </a:extLst>
          </p:cNvPr>
          <p:cNvSpPr txBox="1"/>
          <p:nvPr/>
        </p:nvSpPr>
        <p:spPr>
          <a:xfrm>
            <a:off x="7160671" y="2834299"/>
            <a:ext cx="705733" cy="3706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PAS</a:t>
            </a:r>
            <a:r>
              <a:rPr kumimoji="0" lang="ko-KR" altLang="en-US" sz="800" dirty="0" err="1">
                <a:solidFill>
                  <a:srgbClr val="000000"/>
                </a:solidFill>
                <a:latin typeface="+mn-ea"/>
                <a:ea typeface="+mn-ea"/>
                <a:cs typeface="Arial"/>
              </a:rPr>
              <a:t>투입장</a:t>
            </a:r>
            <a:endParaRPr kumimoji="0" lang="en-US" altLang="ko-KR" sz="800" dirty="0">
              <a:solidFill>
                <a:srgbClr val="000000"/>
              </a:solidFill>
              <a:latin typeface="+mn-ea"/>
              <a:ea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rgbClr val="000000"/>
                </a:solidFill>
                <a:latin typeface="+mn-ea"/>
                <a:ea typeface="+mn-ea"/>
                <a:cs typeface="Arial"/>
              </a:rPr>
              <a:t>실물 </a:t>
            </a:r>
            <a:r>
              <a:rPr kumimoji="0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/>
              </a:rPr>
              <a:t>이동</a:t>
            </a:r>
            <a:endParaRPr kumimoji="0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/>
            </a:endParaRPr>
          </a:p>
        </p:txBody>
      </p:sp>
      <p:cxnSp>
        <p:nvCxnSpPr>
          <p:cNvPr id="298" name="직선 화살표 연결선 74">
            <a:extLst>
              <a:ext uri="{FF2B5EF4-FFF2-40B4-BE49-F238E27FC236}">
                <a16:creationId xmlns:a16="http://schemas.microsoft.com/office/drawing/2014/main" xmlns="" id="{7D4B1C24-E851-BFB6-D2A0-CBECD8A9089F}"/>
              </a:ext>
            </a:extLst>
          </p:cNvPr>
          <p:cNvCxnSpPr>
            <a:cxnSpLocks/>
            <a:stCxn id="108" idx="3"/>
            <a:endCxn id="297" idx="2"/>
          </p:cNvCxnSpPr>
          <p:nvPr/>
        </p:nvCxnSpPr>
        <p:spPr>
          <a:xfrm flipV="1">
            <a:off x="6627208" y="3204995"/>
            <a:ext cx="886330" cy="149644"/>
          </a:xfrm>
          <a:prstGeom prst="bentConnector2">
            <a:avLst/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4">
            <a:extLst>
              <a:ext uri="{FF2B5EF4-FFF2-40B4-BE49-F238E27FC236}">
                <a16:creationId xmlns:a16="http://schemas.microsoft.com/office/drawing/2014/main" xmlns="" id="{09B57C34-0133-A825-D1E9-134ABFB3C149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244601" y="2024881"/>
            <a:ext cx="497002" cy="12700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74">
            <a:extLst>
              <a:ext uri="{FF2B5EF4-FFF2-40B4-BE49-F238E27FC236}">
                <a16:creationId xmlns:a16="http://schemas.microsoft.com/office/drawing/2014/main" xmlns="" id="{4076A721-4B42-0BCD-2751-85350B93EABD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2641716" y="2024881"/>
            <a:ext cx="511085" cy="12700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74">
            <a:extLst>
              <a:ext uri="{FF2B5EF4-FFF2-40B4-BE49-F238E27FC236}">
                <a16:creationId xmlns:a16="http://schemas.microsoft.com/office/drawing/2014/main" xmlns="" id="{96850C4A-7B12-7E77-1C18-896C1B997848}"/>
              </a:ext>
            </a:extLst>
          </p:cNvPr>
          <p:cNvCxnSpPr>
            <a:cxnSpLocks/>
            <a:stCxn id="17" idx="2"/>
            <a:endCxn id="41" idx="0"/>
          </p:cNvCxnSpPr>
          <p:nvPr/>
        </p:nvCxnSpPr>
        <p:spPr>
          <a:xfrm rot="5400000">
            <a:off x="2753243" y="1787297"/>
            <a:ext cx="288032" cy="1411198"/>
          </a:xfrm>
          <a:prstGeom prst="bentConnector3">
            <a:avLst>
              <a:gd name="adj1" fmla="val 50000"/>
            </a:avLst>
          </a:prstGeom>
          <a:ln w="3175">
            <a:solidFill>
              <a:srgbClr val="558ED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172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화살표: 왼쪽 73">
            <a:extLst>
              <a:ext uri="{FF2B5EF4-FFF2-40B4-BE49-F238E27FC236}">
                <a16:creationId xmlns:a16="http://schemas.microsoft.com/office/drawing/2014/main" xmlns="" id="{F266A0E2-670F-22E3-3A74-98CC2C40D75B}"/>
              </a:ext>
            </a:extLst>
          </p:cNvPr>
          <p:cNvSpPr/>
          <p:nvPr/>
        </p:nvSpPr>
        <p:spPr>
          <a:xfrm>
            <a:off x="7905328" y="6110447"/>
            <a:ext cx="1082014" cy="486905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  <a:cs typeface="Tahoma" pitchFamily="34" charset="0"/>
            </a:endParaRPr>
          </a:p>
        </p:txBody>
      </p:sp>
      <p:sp>
        <p:nvSpPr>
          <p:cNvPr id="16" name="Rectangle 1584"/>
          <p:cNvSpPr txBox="1">
            <a:spLocks noChangeArrowheads="1"/>
          </p:cNvSpPr>
          <p:nvPr/>
        </p:nvSpPr>
        <p:spPr bwMode="gray">
          <a:xfrm>
            <a:off x="8315090" y="284458"/>
            <a:ext cx="13208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r"/>
            <a:r>
              <a:rPr kumimoji="0" lang="ko-KR" altLang="en-US" sz="1800" kern="0" dirty="0">
                <a:solidFill>
                  <a:schemeClr val="tx1"/>
                </a:solidFill>
              </a:rPr>
              <a:t>천안</a:t>
            </a:r>
            <a:r>
              <a:rPr kumimoji="0" lang="en-US" altLang="ko-KR" sz="1800" kern="0" dirty="0">
                <a:solidFill>
                  <a:schemeClr val="tx1"/>
                </a:solidFill>
              </a:rPr>
              <a:t>EX-PAS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sp>
        <p:nvSpPr>
          <p:cNvPr id="50" name="Rectangle 1584"/>
          <p:cNvSpPr txBox="1">
            <a:spLocks noChangeArrowheads="1"/>
          </p:cNvSpPr>
          <p:nvPr/>
        </p:nvSpPr>
        <p:spPr bwMode="gray">
          <a:xfrm>
            <a:off x="261473" y="241327"/>
            <a:ext cx="55495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ko-KR" altLang="en-US" sz="2200" kern="0" dirty="0">
                <a:solidFill>
                  <a:schemeClr val="tx1"/>
                </a:solidFill>
              </a:rPr>
              <a:t>천안 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EX-PAS</a:t>
            </a:r>
            <a:r>
              <a:rPr kumimoji="0" lang="ko-KR" altLang="en-US" sz="2200" kern="0" dirty="0">
                <a:solidFill>
                  <a:schemeClr val="tx1"/>
                </a:solidFill>
              </a:rPr>
              <a:t>설비 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-</a:t>
            </a:r>
            <a:r>
              <a:rPr kumimoji="0" lang="ko-KR" altLang="en-US" sz="2200" kern="0" dirty="0">
                <a:solidFill>
                  <a:schemeClr val="tx1"/>
                </a:solidFill>
              </a:rPr>
              <a:t> 동시 검수 데이터 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FLOW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xmlns="" id="{1118B056-F24B-6A0F-6721-A8942037E4B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86904" y="1556792"/>
          <a:ext cx="1645816" cy="2164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691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창고코드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입고번호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164705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입고예정수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7C80"/>
                          </a:highlight>
                        </a:rPr>
                        <a:t>매장박스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highlight>
                            <a:srgbClr val="FF7C80"/>
                          </a:highlight>
                        </a:rPr>
                        <a:t>ID</a:t>
                      </a:r>
                    </a:p>
                    <a:p>
                      <a:pPr algn="l"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입고예정수량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입고수량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입고상태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endParaRPr lang="en-US" altLang="ko-KR" sz="10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xmlns="" id="{82591286-C3CE-E71B-2DCC-6F8142D162B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39432" y="1556792"/>
          <a:ext cx="1645816" cy="792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ko-KR" altLang="en-US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운영모드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xmlns="" id="{8D4B62A0-831A-AE58-A721-EADA24EA753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39432" y="2665803"/>
          <a:ext cx="1645816" cy="1249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지시수량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MAX QTY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xmlns="" id="{A776CCA5-13EC-5B53-C818-4625449F4EB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86904" y="4467448"/>
          <a:ext cx="1645816" cy="1706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문서번호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SEQ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Max QTY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UOM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여부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23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7C80"/>
                          </a:highlight>
                        </a:rPr>
                        <a:t>매장박스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highlight>
                            <a:srgbClr val="FF7C80"/>
                          </a:highlight>
                        </a:rPr>
                        <a:t>ID</a:t>
                      </a:r>
                    </a:p>
                    <a:p>
                      <a:pPr algn="l"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0C1FB571-756D-E165-A071-38DD1788E4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27664" y="1556792"/>
          <a:ext cx="1645816" cy="1249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ko-KR" altLang="en-US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분류작업수량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MAX QTY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xmlns="" id="{2AA62D69-6F28-7A00-EC7A-E89E435A801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36052" y="4643280"/>
          <a:ext cx="1645816" cy="1402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23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반품박스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실적수량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처리여부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6C2CC79-DCCC-02B8-2372-AFE9BB7D7145}"/>
              </a:ext>
            </a:extLst>
          </p:cNvPr>
          <p:cNvSpPr txBox="1"/>
          <p:nvPr/>
        </p:nvSpPr>
        <p:spPr>
          <a:xfrm>
            <a:off x="786904" y="1311877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입고상세 정보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77D7ED8-21B7-7202-ED80-01A103BCB96C}"/>
              </a:ext>
            </a:extLst>
          </p:cNvPr>
          <p:cNvSpPr txBox="1"/>
          <p:nvPr/>
        </p:nvSpPr>
        <p:spPr>
          <a:xfrm>
            <a:off x="786904" y="4219782"/>
            <a:ext cx="1624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 생성</a:t>
            </a:r>
            <a:r>
              <a:rPr lang="en-US" altLang="ko-KR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(</a:t>
            </a:r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업로드</a:t>
            </a:r>
            <a:r>
              <a:rPr lang="en-US" altLang="ko-KR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)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8D3B950-81AC-561E-4A05-B78EB08CEA94}"/>
              </a:ext>
            </a:extLst>
          </p:cNvPr>
          <p:cNvSpPr txBox="1"/>
          <p:nvPr/>
        </p:nvSpPr>
        <p:spPr>
          <a:xfrm>
            <a:off x="5457056" y="126876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분류작업해더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A2C3505-EAD2-B014-7C27-A6A10EDAF820}"/>
              </a:ext>
            </a:extLst>
          </p:cNvPr>
          <p:cNvSpPr txBox="1"/>
          <p:nvPr/>
        </p:nvSpPr>
        <p:spPr>
          <a:xfrm>
            <a:off x="5457056" y="2420888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분류작업디테일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D26D1B-9E2D-5F4B-F46F-1EA52C0FC71F}"/>
              </a:ext>
            </a:extLst>
          </p:cNvPr>
          <p:cNvSpPr txBox="1"/>
          <p:nvPr/>
        </p:nvSpPr>
        <p:spPr>
          <a:xfrm>
            <a:off x="7617296" y="4398365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 실적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030CA16-9D1F-03F7-EF57-ECD67A1D8F42}"/>
              </a:ext>
            </a:extLst>
          </p:cNvPr>
          <p:cNvSpPr txBox="1"/>
          <p:nvPr/>
        </p:nvSpPr>
        <p:spPr>
          <a:xfrm>
            <a:off x="7596467" y="1311877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분류작업지시</a:t>
            </a:r>
            <a:r>
              <a:rPr lang="en-US" altLang="ko-KR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I/F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xmlns="" id="{BADDE426-4CB3-A4D4-CB62-CD93DE4135C6}"/>
              </a:ext>
            </a:extLst>
          </p:cNvPr>
          <p:cNvSpPr/>
          <p:nvPr/>
        </p:nvSpPr>
        <p:spPr>
          <a:xfrm>
            <a:off x="3108155" y="2363974"/>
            <a:ext cx="1916853" cy="149459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u="sng" dirty="0">
                <a:solidFill>
                  <a:schemeClr val="tx1"/>
                </a:solidFill>
                <a:latin typeface="+mn-ea"/>
                <a:cs typeface="Tahoma" pitchFamily="34" charset="0"/>
              </a:rPr>
              <a:t>작업지시</a:t>
            </a:r>
            <a:endParaRPr lang="en-US" altLang="ko-KR" sz="1600" b="1" u="sng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+mn-ea"/>
                <a:cs typeface="Tahoma" pitchFamily="34" charset="0"/>
              </a:rPr>
              <a:t>작업차수</a:t>
            </a:r>
            <a:endParaRPr lang="en-US" altLang="ko-KR" sz="1100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작업일자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차수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 </a:t>
            </a:r>
            <a:endParaRPr lang="en-US" altLang="ko-KR" sz="1100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생성</a:t>
            </a:r>
          </a:p>
        </p:txBody>
      </p:sp>
      <p:cxnSp>
        <p:nvCxnSpPr>
          <p:cNvPr id="33" name="연결선: 꺾임 27">
            <a:extLst>
              <a:ext uri="{FF2B5EF4-FFF2-40B4-BE49-F238E27FC236}">
                <a16:creationId xmlns:a16="http://schemas.microsoft.com/office/drawing/2014/main" xmlns="" id="{EF835392-9C61-DFF2-A914-93BADCB631D5}"/>
              </a:ext>
            </a:extLst>
          </p:cNvPr>
          <p:cNvCxnSpPr>
            <a:cxnSpLocks/>
            <a:stCxn id="32" idx="0"/>
            <a:endCxn id="4" idx="1"/>
          </p:cNvCxnSpPr>
          <p:nvPr/>
        </p:nvCxnSpPr>
        <p:spPr>
          <a:xfrm rot="5400000" flipH="1" flipV="1">
            <a:off x="4597536" y="1422078"/>
            <a:ext cx="410942" cy="1472850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27">
            <a:extLst>
              <a:ext uri="{FF2B5EF4-FFF2-40B4-BE49-F238E27FC236}">
                <a16:creationId xmlns:a16="http://schemas.microsoft.com/office/drawing/2014/main" xmlns="" id="{5AD6DA82-CFD2-0189-B798-8D75F46D2BD8}"/>
              </a:ext>
            </a:extLst>
          </p:cNvPr>
          <p:cNvCxnSpPr>
            <a:cxnSpLocks/>
            <a:stCxn id="32" idx="0"/>
            <a:endCxn id="3" idx="0"/>
          </p:cNvCxnSpPr>
          <p:nvPr/>
        </p:nvCxnSpPr>
        <p:spPr>
          <a:xfrm rot="16200000" flipV="1">
            <a:off x="2434606" y="731998"/>
            <a:ext cx="807182" cy="2456770"/>
          </a:xfrm>
          <a:prstGeom prst="curvedConnector3">
            <a:avLst>
              <a:gd name="adj1" fmla="val 128321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xmlns="" id="{92A39BE0-405E-079A-78A4-F8C734C0B7AE}"/>
              </a:ext>
            </a:extLst>
          </p:cNvPr>
          <p:cNvSpPr/>
          <p:nvPr/>
        </p:nvSpPr>
        <p:spPr>
          <a:xfrm>
            <a:off x="5268395" y="4166653"/>
            <a:ext cx="1916853" cy="149459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u="sng" dirty="0">
                <a:solidFill>
                  <a:schemeClr val="tx1"/>
                </a:solidFill>
                <a:latin typeface="+mn-ea"/>
                <a:cs typeface="Tahoma" pitchFamily="34" charset="0"/>
              </a:rPr>
              <a:t>실적반영</a:t>
            </a:r>
            <a:endParaRPr lang="en-US" altLang="ko-KR" sz="1600" b="1" u="sng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  <a:cs typeface="Tahoma" pitchFamily="34" charset="0"/>
              </a:rPr>
              <a:t>입고확정처리 </a:t>
            </a:r>
            <a:endParaRPr lang="en-US" altLang="ko-KR" sz="1000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  <a:cs typeface="Tahoma" pitchFamily="34" charset="0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Tahoma" pitchFamily="34" charset="0"/>
              </a:rPr>
              <a:t> 자동적치</a:t>
            </a:r>
          </a:p>
        </p:txBody>
      </p:sp>
      <p:cxnSp>
        <p:nvCxnSpPr>
          <p:cNvPr id="44" name="연결선: 꺾임 27">
            <a:extLst>
              <a:ext uri="{FF2B5EF4-FFF2-40B4-BE49-F238E27FC236}">
                <a16:creationId xmlns:a16="http://schemas.microsoft.com/office/drawing/2014/main" xmlns="" id="{25AE62A3-FC7E-A452-A1AC-37366CE0AA95}"/>
              </a:ext>
            </a:extLst>
          </p:cNvPr>
          <p:cNvCxnSpPr>
            <a:cxnSpLocks/>
            <a:stCxn id="8" idx="2"/>
            <a:endCxn id="43" idx="4"/>
          </p:cNvCxnSpPr>
          <p:nvPr/>
        </p:nvCxnSpPr>
        <p:spPr>
          <a:xfrm rot="5400000" flipH="1">
            <a:off x="7150835" y="4737235"/>
            <a:ext cx="384112" cy="2232138"/>
          </a:xfrm>
          <a:prstGeom prst="curvedConnector3">
            <a:avLst>
              <a:gd name="adj1" fmla="val -59514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5186BE24-98F7-010B-F9E4-33E759E27555}"/>
              </a:ext>
            </a:extLst>
          </p:cNvPr>
          <p:cNvSpPr txBox="1"/>
          <p:nvPr/>
        </p:nvSpPr>
        <p:spPr>
          <a:xfrm>
            <a:off x="2667498" y="4009426"/>
            <a:ext cx="1257075" cy="707886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업로드시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매장박스</a:t>
            </a:r>
            <a:r>
              <a:rPr lang="en-US" altLang="ko-KR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ID</a:t>
            </a:r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를 이용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입고정보 추적하여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r>
              <a:rPr lang="ko-KR" altLang="en-US" sz="1000" dirty="0" err="1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작업차수</a:t>
            </a:r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r>
              <a:rPr lang="en-US" altLang="ko-KR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UPDATE</a:t>
            </a:r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F2FCD636-4972-6FA2-4DF1-E2420E2B2877}"/>
              </a:ext>
            </a:extLst>
          </p:cNvPr>
          <p:cNvSpPr txBox="1"/>
          <p:nvPr/>
        </p:nvSpPr>
        <p:spPr>
          <a:xfrm>
            <a:off x="2838024" y="1165683"/>
            <a:ext cx="1202573" cy="400110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작업지시시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r>
              <a:rPr lang="ko-KR" altLang="en-US" sz="1000" dirty="0" err="1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작업차수</a:t>
            </a:r>
            <a:r>
              <a:rPr lang="en-US" altLang="ko-KR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UPDATE</a:t>
            </a:r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61" name="연결선: 꺾임 27">
            <a:extLst>
              <a:ext uri="{FF2B5EF4-FFF2-40B4-BE49-F238E27FC236}">
                <a16:creationId xmlns:a16="http://schemas.microsoft.com/office/drawing/2014/main" xmlns="" id="{FBF6122B-3340-E77E-3014-351522F259EE}"/>
              </a:ext>
            </a:extLst>
          </p:cNvPr>
          <p:cNvCxnSpPr>
            <a:cxnSpLocks/>
            <a:stCxn id="43" idx="4"/>
            <a:endCxn id="3" idx="2"/>
          </p:cNvCxnSpPr>
          <p:nvPr/>
        </p:nvCxnSpPr>
        <p:spPr>
          <a:xfrm rot="5400000" flipH="1">
            <a:off x="2948129" y="2382555"/>
            <a:ext cx="1940376" cy="4617010"/>
          </a:xfrm>
          <a:prstGeom prst="curvedConnector3">
            <a:avLst>
              <a:gd name="adj1" fmla="val -11781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F2A9768C-9D5C-5B16-DBDE-039D7E082318}"/>
              </a:ext>
            </a:extLst>
          </p:cNvPr>
          <p:cNvSpPr txBox="1"/>
          <p:nvPr/>
        </p:nvSpPr>
        <p:spPr>
          <a:xfrm>
            <a:off x="3415265" y="5768361"/>
            <a:ext cx="1250663" cy="553998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작업차수</a:t>
            </a:r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기준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입고정보 추적하여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r>
              <a:rPr lang="ko-KR" altLang="en-US" sz="1000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실적 반영 </a:t>
            </a:r>
            <a:endParaRPr lang="en-US" altLang="ko-KR" sz="1000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70" name="연결선: 꺾임 27">
            <a:extLst>
              <a:ext uri="{FF2B5EF4-FFF2-40B4-BE49-F238E27FC236}">
                <a16:creationId xmlns:a16="http://schemas.microsoft.com/office/drawing/2014/main" xmlns="" id="{65B91F63-86BF-8773-BEAF-651F45777146}"/>
              </a:ext>
            </a:extLst>
          </p:cNvPr>
          <p:cNvCxnSpPr>
            <a:cxnSpLocks/>
            <a:stCxn id="6" idx="0"/>
            <a:endCxn id="32" idx="4"/>
          </p:cNvCxnSpPr>
          <p:nvPr/>
        </p:nvCxnSpPr>
        <p:spPr>
          <a:xfrm rot="5400000" flipH="1" flipV="1">
            <a:off x="2533758" y="2934624"/>
            <a:ext cx="608879" cy="24567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화살표: 왼쪽 74">
            <a:extLst>
              <a:ext uri="{FF2B5EF4-FFF2-40B4-BE49-F238E27FC236}">
                <a16:creationId xmlns:a16="http://schemas.microsoft.com/office/drawing/2014/main" xmlns="" id="{8732128E-DD70-36CE-6B22-587B34FDF1DF}"/>
              </a:ext>
            </a:extLst>
          </p:cNvPr>
          <p:cNvSpPr/>
          <p:nvPr/>
        </p:nvSpPr>
        <p:spPr>
          <a:xfrm rot="10800000">
            <a:off x="7905328" y="2798079"/>
            <a:ext cx="1082014" cy="486905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  <a:cs typeface="Tahoma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ACA66C8-CAEB-4631-1C6E-D1F6216CF8EC}"/>
              </a:ext>
            </a:extLst>
          </p:cNvPr>
          <p:cNvSpPr txBox="1"/>
          <p:nvPr/>
        </p:nvSpPr>
        <p:spPr>
          <a:xfrm>
            <a:off x="326246" y="757445"/>
            <a:ext cx="6615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 b="1" dirty="0">
                <a:latin typeface="+mn-ea"/>
                <a:ea typeface="+mn-ea"/>
              </a:rPr>
              <a:t>ASN</a:t>
            </a:r>
            <a:r>
              <a:rPr lang="ko-KR" altLang="en-US" sz="1400" b="1" dirty="0">
                <a:latin typeface="+mn-ea"/>
                <a:ea typeface="+mn-ea"/>
              </a:rPr>
              <a:t>정보를 이용한 작업지시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작업 차수 부여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r>
              <a:rPr lang="ko-KR" altLang="en-US" sz="1400" b="1" dirty="0">
                <a:latin typeface="+mn-ea"/>
                <a:ea typeface="+mn-ea"/>
              </a:rPr>
              <a:t> 생성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작업 차수를 이용한 실적반영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6926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584"/>
          <p:cNvSpPr txBox="1">
            <a:spLocks noChangeArrowheads="1"/>
          </p:cNvSpPr>
          <p:nvPr/>
        </p:nvSpPr>
        <p:spPr bwMode="gray">
          <a:xfrm>
            <a:off x="261473" y="241327"/>
            <a:ext cx="53764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l"/>
            <a:r>
              <a:rPr kumimoji="0" lang="ko-KR" altLang="en-US" sz="2200" kern="0" dirty="0">
                <a:solidFill>
                  <a:schemeClr val="tx1"/>
                </a:solidFill>
              </a:rPr>
              <a:t>천안 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EX-PAS</a:t>
            </a:r>
            <a:r>
              <a:rPr kumimoji="0" lang="ko-KR" altLang="en-US" sz="2200" kern="0" dirty="0">
                <a:solidFill>
                  <a:schemeClr val="tx1"/>
                </a:solidFill>
              </a:rPr>
              <a:t>설비 사전 검수 데이터 </a:t>
            </a:r>
            <a:r>
              <a:rPr kumimoji="0" lang="en-US" altLang="ko-KR" sz="2200" kern="0" dirty="0">
                <a:solidFill>
                  <a:schemeClr val="tx1"/>
                </a:solidFill>
              </a:rPr>
              <a:t>FLOW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xmlns="" id="{1118B056-F24B-6A0F-6721-A8942037E4B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76536" y="1412776"/>
          <a:ext cx="1656184" cy="15209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2386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창고코드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셀코드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(RTN)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LOT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정보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97227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재고수량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xmlns="" id="{82591286-C3CE-E71B-2DCC-6F8142D162B3}"/>
              </a:ext>
            </a:extLst>
          </p:cNvPr>
          <p:cNvGraphicFramePr>
            <a:graphicFrameLocks noGrp="1"/>
          </p:cNvGraphicFramePr>
          <p:nvPr/>
        </p:nvGraphicFramePr>
        <p:xfrm>
          <a:off x="5539432" y="1412776"/>
          <a:ext cx="1645816" cy="792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ko-KR" altLang="en-US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운영모드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xmlns="" id="{8D4B62A0-831A-AE58-A721-EADA24EA753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39432" y="2521787"/>
          <a:ext cx="1645816" cy="1249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지시수량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MAX QTY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0C1FB571-756D-E165-A071-38DD1788E4F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27664" y="1412776"/>
          <a:ext cx="1645816" cy="1249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ko-KR" altLang="en-US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분류작업수량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MAX QTY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xmlns="" id="{2AA62D69-6F28-7A00-EC7A-E89E435A801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36052" y="4427256"/>
          <a:ext cx="1645816" cy="1402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작업일자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작업차수</a:t>
                      </a:r>
                      <a:endParaRPr lang="en-US" altLang="ko-KR" sz="10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23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반품박스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실적수량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처리여부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6C2CC79-DCCC-02B8-2372-AFE9BB7D7145}"/>
              </a:ext>
            </a:extLst>
          </p:cNvPr>
          <p:cNvSpPr txBox="1"/>
          <p:nvPr/>
        </p:nvSpPr>
        <p:spPr>
          <a:xfrm>
            <a:off x="786904" y="1167861"/>
            <a:ext cx="9733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셀 재고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8D3B950-81AC-561E-4A05-B78EB08CEA94}"/>
              </a:ext>
            </a:extLst>
          </p:cNvPr>
          <p:cNvSpPr txBox="1"/>
          <p:nvPr/>
        </p:nvSpPr>
        <p:spPr>
          <a:xfrm>
            <a:off x="5457056" y="112474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분류작업해더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A2C3505-EAD2-B014-7C27-A6A10EDAF820}"/>
              </a:ext>
            </a:extLst>
          </p:cNvPr>
          <p:cNvSpPr txBox="1"/>
          <p:nvPr/>
        </p:nvSpPr>
        <p:spPr>
          <a:xfrm>
            <a:off x="5457056" y="2276872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분류작업디테일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D26D1B-9E2D-5F4B-F46F-1EA52C0FC71F}"/>
              </a:ext>
            </a:extLst>
          </p:cNvPr>
          <p:cNvSpPr txBox="1"/>
          <p:nvPr/>
        </p:nvSpPr>
        <p:spPr>
          <a:xfrm>
            <a:off x="7617296" y="4182341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 실적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030CA16-9D1F-03F7-EF57-ECD67A1D8F42}"/>
              </a:ext>
            </a:extLst>
          </p:cNvPr>
          <p:cNvSpPr txBox="1"/>
          <p:nvPr/>
        </p:nvSpPr>
        <p:spPr>
          <a:xfrm>
            <a:off x="7596467" y="1167861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분류작업지시</a:t>
            </a:r>
            <a:r>
              <a:rPr lang="en-US" altLang="ko-KR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I/F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xmlns="" id="{BADDE426-4CB3-A4D4-CB62-CD93DE4135C6}"/>
              </a:ext>
            </a:extLst>
          </p:cNvPr>
          <p:cNvSpPr/>
          <p:nvPr/>
        </p:nvSpPr>
        <p:spPr>
          <a:xfrm>
            <a:off x="3108155" y="2219958"/>
            <a:ext cx="1916853" cy="149459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u="sng" dirty="0">
                <a:solidFill>
                  <a:schemeClr val="tx1"/>
                </a:solidFill>
                <a:latin typeface="+mn-ea"/>
                <a:cs typeface="Tahoma" pitchFamily="34" charset="0"/>
              </a:rPr>
              <a:t>작업지시</a:t>
            </a:r>
            <a:endParaRPr lang="en-US" altLang="ko-KR" sz="1600" b="1" u="sng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+mn-ea"/>
                <a:cs typeface="Tahoma" pitchFamily="34" charset="0"/>
              </a:rPr>
              <a:t>작업차수</a:t>
            </a:r>
            <a:endParaRPr lang="en-US" altLang="ko-KR" sz="1100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작업일자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차수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 </a:t>
            </a:r>
            <a:endParaRPr lang="en-US" altLang="ko-KR" sz="1100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  <a:cs typeface="Tahoma" pitchFamily="34" charset="0"/>
              </a:rPr>
              <a:t>생성</a:t>
            </a:r>
          </a:p>
        </p:txBody>
      </p:sp>
      <p:cxnSp>
        <p:nvCxnSpPr>
          <p:cNvPr id="33" name="연결선: 꺾임 27">
            <a:extLst>
              <a:ext uri="{FF2B5EF4-FFF2-40B4-BE49-F238E27FC236}">
                <a16:creationId xmlns:a16="http://schemas.microsoft.com/office/drawing/2014/main" xmlns="" id="{EF835392-9C61-DFF2-A914-93BADCB631D5}"/>
              </a:ext>
            </a:extLst>
          </p:cNvPr>
          <p:cNvCxnSpPr>
            <a:cxnSpLocks/>
            <a:stCxn id="32" idx="0"/>
            <a:endCxn id="4" idx="1"/>
          </p:cNvCxnSpPr>
          <p:nvPr/>
        </p:nvCxnSpPr>
        <p:spPr>
          <a:xfrm rot="5400000" flipH="1" flipV="1">
            <a:off x="4597536" y="1278062"/>
            <a:ext cx="410942" cy="1472850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27">
            <a:extLst>
              <a:ext uri="{FF2B5EF4-FFF2-40B4-BE49-F238E27FC236}">
                <a16:creationId xmlns:a16="http://schemas.microsoft.com/office/drawing/2014/main" xmlns="" id="{65B91F63-86BF-8773-BEAF-651F45777146}"/>
              </a:ext>
            </a:extLst>
          </p:cNvPr>
          <p:cNvCxnSpPr>
            <a:cxnSpLocks/>
            <a:stCxn id="3" idx="3"/>
            <a:endCxn id="32" idx="1"/>
          </p:cNvCxnSpPr>
          <p:nvPr/>
        </p:nvCxnSpPr>
        <p:spPr>
          <a:xfrm>
            <a:off x="2432720" y="2173234"/>
            <a:ext cx="956152" cy="265602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왼쪽 16">
            <a:extLst>
              <a:ext uri="{FF2B5EF4-FFF2-40B4-BE49-F238E27FC236}">
                <a16:creationId xmlns:a16="http://schemas.microsoft.com/office/drawing/2014/main" xmlns="" id="{8101BED9-87DF-3D20-6F8F-254E7D239B8F}"/>
              </a:ext>
            </a:extLst>
          </p:cNvPr>
          <p:cNvSpPr/>
          <p:nvPr/>
        </p:nvSpPr>
        <p:spPr>
          <a:xfrm>
            <a:off x="7905328" y="5822415"/>
            <a:ext cx="1082014" cy="486905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  <a:cs typeface="Tahoma" pitchFamily="34" charset="0"/>
            </a:endParaRPr>
          </a:p>
        </p:txBody>
      </p:sp>
      <p:sp>
        <p:nvSpPr>
          <p:cNvPr id="18" name="화살표: 왼쪽 17">
            <a:extLst>
              <a:ext uri="{FF2B5EF4-FFF2-40B4-BE49-F238E27FC236}">
                <a16:creationId xmlns:a16="http://schemas.microsoft.com/office/drawing/2014/main" xmlns="" id="{2244E402-E83F-784D-ED57-CB50F0A65EA1}"/>
              </a:ext>
            </a:extLst>
          </p:cNvPr>
          <p:cNvSpPr/>
          <p:nvPr/>
        </p:nvSpPr>
        <p:spPr>
          <a:xfrm rot="10800000">
            <a:off x="7905328" y="2708920"/>
            <a:ext cx="1082014" cy="486905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  <a:cs typeface="Tahoma" pitchFamily="34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xmlns="" id="{934D2DF4-667D-6C66-EF68-1A393317A854}"/>
              </a:ext>
            </a:extLst>
          </p:cNvPr>
          <p:cNvSpPr/>
          <p:nvPr/>
        </p:nvSpPr>
        <p:spPr>
          <a:xfrm>
            <a:off x="5268395" y="4022637"/>
            <a:ext cx="1916853" cy="149459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u="sng" dirty="0">
                <a:solidFill>
                  <a:schemeClr val="tx1"/>
                </a:solidFill>
                <a:latin typeface="+mn-ea"/>
                <a:cs typeface="Tahoma" pitchFamily="34" charset="0"/>
              </a:rPr>
              <a:t>실적반영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  <a:cs typeface="Tahoma" pitchFamily="34" charset="0"/>
              </a:rPr>
              <a:t>자동 이동처리</a:t>
            </a:r>
            <a:endParaRPr lang="en-US" altLang="ko-KR" sz="1000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+mn-ea"/>
                <a:cs typeface="Tahoma" pitchFamily="34" charset="0"/>
              </a:rPr>
              <a:t>PAS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Tahoma" pitchFamily="34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Tahoma" pitchFamily="34" charset="0"/>
                <a:sym typeface="Wingdings" panose="05000000000000000000" pitchFamily="2" charset="2"/>
              </a:rPr>
              <a:t>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Tahoma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  <a:cs typeface="Tahoma" pitchFamily="34" charset="0"/>
                <a:sym typeface="Wingdings" panose="05000000000000000000" pitchFamily="2" charset="2"/>
              </a:rPr>
              <a:t>적치셀</a:t>
            </a:r>
            <a:endParaRPr lang="en-US" altLang="ko-KR" sz="1000" b="1" dirty="0">
              <a:solidFill>
                <a:schemeClr val="tx1"/>
              </a:solidFill>
              <a:latin typeface="+mn-ea"/>
              <a:cs typeface="Tahoma" pitchFamily="34" charset="0"/>
            </a:endParaRPr>
          </a:p>
        </p:txBody>
      </p:sp>
      <p:cxnSp>
        <p:nvCxnSpPr>
          <p:cNvPr id="24" name="연결선: 꺾임 27">
            <a:extLst>
              <a:ext uri="{FF2B5EF4-FFF2-40B4-BE49-F238E27FC236}">
                <a16:creationId xmlns:a16="http://schemas.microsoft.com/office/drawing/2014/main" xmlns="" id="{352D58F2-22A9-E2EB-85EE-F055EEFC50F4}"/>
              </a:ext>
            </a:extLst>
          </p:cNvPr>
          <p:cNvCxnSpPr>
            <a:cxnSpLocks/>
            <a:stCxn id="8" idx="2"/>
            <a:endCxn id="23" idx="4"/>
          </p:cNvCxnSpPr>
          <p:nvPr/>
        </p:nvCxnSpPr>
        <p:spPr>
          <a:xfrm rot="5400000" flipH="1">
            <a:off x="7186839" y="4557215"/>
            <a:ext cx="312104" cy="2232138"/>
          </a:xfrm>
          <a:prstGeom prst="curvedConnector3">
            <a:avLst>
              <a:gd name="adj1" fmla="val -73245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65C7887-B401-47D9-70E4-5070146F79AC}"/>
              </a:ext>
            </a:extLst>
          </p:cNvPr>
          <p:cNvSpPr txBox="1"/>
          <p:nvPr/>
        </p:nvSpPr>
        <p:spPr>
          <a:xfrm>
            <a:off x="326246" y="757445"/>
            <a:ext cx="9081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400" b="1" dirty="0">
                <a:latin typeface="+mn-ea"/>
                <a:ea typeface="+mn-ea"/>
              </a:rPr>
              <a:t>RTN</a:t>
            </a:r>
            <a:r>
              <a:rPr lang="ko-KR" altLang="en-US" sz="1400" b="1" dirty="0">
                <a:latin typeface="+mn-ea"/>
                <a:ea typeface="+mn-ea"/>
              </a:rPr>
              <a:t>재고 대상 </a:t>
            </a:r>
            <a:r>
              <a:rPr lang="ko-KR" altLang="en-US" sz="1400" b="1" dirty="0" err="1">
                <a:latin typeface="+mn-ea"/>
                <a:ea typeface="+mn-ea"/>
              </a:rPr>
              <a:t>사전검수</a:t>
            </a:r>
            <a:r>
              <a:rPr lang="ko-KR" altLang="en-US" sz="1400" b="1" dirty="0">
                <a:latin typeface="+mn-ea"/>
                <a:ea typeface="+mn-ea"/>
              </a:rPr>
              <a:t> 작업지시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 err="1">
                <a:latin typeface="+mn-ea"/>
                <a:ea typeface="+mn-ea"/>
              </a:rPr>
              <a:t>작업차수</a:t>
            </a:r>
            <a:r>
              <a:rPr lang="ko-KR" altLang="en-US" sz="1400" b="1" dirty="0">
                <a:latin typeface="+mn-ea"/>
                <a:ea typeface="+mn-ea"/>
              </a:rPr>
              <a:t> 부여</a:t>
            </a:r>
            <a:r>
              <a:rPr lang="en-US" altLang="ko-KR" sz="1400" b="1" dirty="0">
                <a:latin typeface="+mn-ea"/>
                <a:ea typeface="+mn-ea"/>
              </a:rPr>
              <a:t>) </a:t>
            </a:r>
            <a:r>
              <a:rPr lang="ko-KR" altLang="en-US" sz="1400" b="1" dirty="0">
                <a:latin typeface="+mn-ea"/>
                <a:ea typeface="+mn-ea"/>
              </a:rPr>
              <a:t>생성</a:t>
            </a:r>
            <a:r>
              <a:rPr lang="en-US" altLang="ko-KR" sz="1400" b="1" dirty="0">
                <a:latin typeface="+mn-ea"/>
                <a:ea typeface="+mn-ea"/>
              </a:rPr>
              <a:t>,   </a:t>
            </a:r>
            <a:r>
              <a:rPr lang="ko-KR" altLang="en-US" sz="1400" b="1" dirty="0">
                <a:latin typeface="+mn-ea"/>
                <a:ea typeface="+mn-ea"/>
              </a:rPr>
              <a:t>작업 실적을 이용한 자동 이동</a:t>
            </a:r>
            <a:r>
              <a:rPr lang="en-US" altLang="ko-KR" sz="1400" b="1" dirty="0">
                <a:latin typeface="+mn-ea"/>
                <a:ea typeface="+mn-ea"/>
              </a:rPr>
              <a:t>(PAS</a:t>
            </a:r>
            <a:r>
              <a:rPr lang="en-US" altLang="ko-KR" sz="1400" b="1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latin typeface="+mn-ea"/>
                <a:ea typeface="+mn-ea"/>
                <a:sym typeface="Wingdings" panose="05000000000000000000" pitchFamily="2" charset="2"/>
              </a:rPr>
              <a:t>저장위치</a:t>
            </a:r>
            <a:r>
              <a:rPr lang="en-US" altLang="ko-KR" sz="1400" b="1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  <a:r>
              <a:rPr lang="ko-KR" altLang="en-US" sz="1400" b="1" dirty="0">
                <a:latin typeface="+mn-ea"/>
                <a:ea typeface="+mn-ea"/>
              </a:rPr>
              <a:t> 처리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xmlns="" id="{6779E1DC-01C6-9FDF-25B5-04A55D67D6E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86904" y="3388634"/>
          <a:ext cx="1645816" cy="1554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45816">
                  <a:extLst>
                    <a:ext uri="{9D8B030D-6E8A-4147-A177-3AD203B41FA5}">
                      <a16:colId xmlns:a16="http://schemas.microsoft.com/office/drawing/2014/main" xmlns="" val="3128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문서번호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SEQ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9003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화주사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상품코드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저장위치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Max QTY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UOM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여부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27914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5D52BE02-40B2-C270-7DF3-CCEED824E5FE}"/>
              </a:ext>
            </a:extLst>
          </p:cNvPr>
          <p:cNvSpPr txBox="1"/>
          <p:nvPr/>
        </p:nvSpPr>
        <p:spPr>
          <a:xfrm>
            <a:off x="786904" y="3140968"/>
            <a:ext cx="1624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분류작업 생성</a:t>
            </a:r>
            <a:r>
              <a:rPr lang="en-US" altLang="ko-KR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(</a:t>
            </a:r>
            <a:r>
              <a:rPr lang="ko-KR" altLang="en-US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업로드</a:t>
            </a:r>
            <a:r>
              <a:rPr lang="en-US" altLang="ko-KR" sz="11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)</a:t>
            </a:r>
            <a:endParaRPr lang="ko-KR" altLang="en-US" sz="11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cxnSp>
        <p:nvCxnSpPr>
          <p:cNvPr id="30" name="연결선: 꺾임 27">
            <a:extLst>
              <a:ext uri="{FF2B5EF4-FFF2-40B4-BE49-F238E27FC236}">
                <a16:creationId xmlns:a16="http://schemas.microsoft.com/office/drawing/2014/main" xmlns="" id="{2BF2D416-E511-C357-89F7-FB352D43AD48}"/>
              </a:ext>
            </a:extLst>
          </p:cNvPr>
          <p:cNvCxnSpPr>
            <a:cxnSpLocks/>
            <a:stCxn id="28" idx="3"/>
            <a:endCxn id="32" idx="4"/>
          </p:cNvCxnSpPr>
          <p:nvPr/>
        </p:nvCxnSpPr>
        <p:spPr>
          <a:xfrm flipV="1">
            <a:off x="2432720" y="3714553"/>
            <a:ext cx="1633862" cy="451321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584">
            <a:extLst>
              <a:ext uri="{FF2B5EF4-FFF2-40B4-BE49-F238E27FC236}">
                <a16:creationId xmlns:a16="http://schemas.microsoft.com/office/drawing/2014/main" xmlns="" id="{69ED98D6-03A4-D1A8-4C53-EC8F4A7E8C5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15090" y="284458"/>
            <a:ext cx="13208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lvl1pPr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Verdana" pitchFamily="34" charset="0"/>
              </a:defRPr>
            </a:lvl1pPr>
            <a:lvl2pPr marL="742950" indent="-28575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algn="ctr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800">
                <a:solidFill>
                  <a:srgbClr val="808080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r"/>
            <a:r>
              <a:rPr kumimoji="0" lang="ko-KR" altLang="en-US" sz="1800" kern="0" dirty="0">
                <a:solidFill>
                  <a:schemeClr val="tx1"/>
                </a:solidFill>
              </a:rPr>
              <a:t>천안</a:t>
            </a:r>
            <a:r>
              <a:rPr kumimoji="0" lang="en-US" altLang="ko-KR" sz="1800" kern="0" dirty="0">
                <a:solidFill>
                  <a:schemeClr val="tx1"/>
                </a:solidFill>
              </a:rPr>
              <a:t>EX-PAS</a:t>
            </a:r>
            <a:endParaRPr kumimoji="0" lang="ko-KR" altLang="en-US" sz="1800" kern="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30CB918-53BF-77D2-0710-19AFE6BB7DCA}"/>
              </a:ext>
            </a:extLst>
          </p:cNvPr>
          <p:cNvSpPr txBox="1"/>
          <p:nvPr/>
        </p:nvSpPr>
        <p:spPr>
          <a:xfrm>
            <a:off x="3627166" y="335756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RTN</a:t>
            </a:r>
            <a:r>
              <a:rPr lang="en-US" altLang="ko-KR" sz="1200" b="1" dirty="0">
                <a:latin typeface="Tahoma" pitchFamily="34" charset="0"/>
                <a:ea typeface="맑은 고딕" pitchFamily="50" charset="-127"/>
                <a:cs typeface="Tahoma" pitchFamily="34" charset="0"/>
                <a:sym typeface="Wingdings" panose="05000000000000000000" pitchFamily="2" charset="2"/>
              </a:rPr>
              <a:t>PAS</a:t>
            </a:r>
            <a:endParaRPr lang="ko-KR" altLang="en-US" sz="1200" b="1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0188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BodyText"/>
  <p:tag name="DATE" val="2012-05-14 오전 10:15:57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16750</TotalTime>
  <Words>3930</Words>
  <Application>Microsoft Office PowerPoint</Application>
  <PresentationFormat>A4 용지(210x297mm)</PresentationFormat>
  <Paragraphs>1443</Paragraphs>
  <Slides>39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39</vt:i4>
      </vt:variant>
    </vt:vector>
  </HeadingPairs>
  <TitlesOfParts>
    <vt:vector size="58" baseType="lpstr">
      <vt:lpstr>HY헤드라인M</vt:lpstr>
      <vt:lpstr>JBold</vt:lpstr>
      <vt:lpstr>가는각진제목체</vt:lpstr>
      <vt:lpstr>굴림</vt:lpstr>
      <vt:lpstr>나눔고딕 ExtraBold</vt:lpstr>
      <vt:lpstr>돋움</vt:lpstr>
      <vt:lpstr>맑은 고딕</vt:lpstr>
      <vt:lpstr>-윤명조220</vt:lpstr>
      <vt:lpstr>휴먼둥근헤드라인</vt:lpstr>
      <vt:lpstr>Arial</vt:lpstr>
      <vt:lpstr>Calibri</vt:lpstr>
      <vt:lpstr>Calibri Light</vt:lpstr>
      <vt:lpstr>Courier</vt:lpstr>
      <vt:lpstr>Tahoma</vt:lpstr>
      <vt:lpstr>Times New Roman</vt:lpstr>
      <vt:lpstr>Verdana</vt:lpstr>
      <vt:lpstr>Wingdings</vt:lpstr>
      <vt:lpstr>Office 테마</vt:lpstr>
      <vt:lpstr>디자인 사용자 지정</vt:lpstr>
      <vt:lpstr>WMS 사용자 교육</vt:lpstr>
      <vt:lpstr>WMS 교육 순서</vt:lpstr>
      <vt:lpstr>1. 용어 및 개념정리</vt:lpstr>
      <vt:lpstr>1. 용어 및 개념정리</vt:lpstr>
      <vt:lpstr>1. 용어 및 개념정리</vt:lpstr>
      <vt:lpstr>1. 용어 및 개념정리</vt:lpstr>
      <vt:lpstr>1. 용어 및 개념정리</vt:lpstr>
      <vt:lpstr>1. 용어 및 개념정리</vt:lpstr>
      <vt:lpstr>1. 용어 및 개념정리</vt:lpstr>
      <vt:lpstr>1. 용어 및 개념정리</vt:lpstr>
      <vt:lpstr>2. 마스터 정보 I/F</vt:lpstr>
      <vt:lpstr>2. 마스터 정보 I/F</vt:lpstr>
      <vt:lpstr>3. 입고 프로세스</vt:lpstr>
      <vt:lpstr>3. 입고 프로세스</vt:lpstr>
      <vt:lpstr>4. 출고 프로세스</vt:lpstr>
      <vt:lpstr>4. 출고 프로세스</vt:lpstr>
      <vt:lpstr>4. 출고 프로세스</vt:lpstr>
      <vt:lpstr>4. 출고 프로세스</vt:lpstr>
      <vt:lpstr>4. 출고 프로세스</vt:lpstr>
      <vt:lpstr>4. 출고 프로세스</vt:lpstr>
      <vt:lpstr>5. 기타 실적 I/F </vt:lpstr>
      <vt:lpstr>5. 기타 실적 I/F </vt:lpstr>
      <vt:lpstr>5. 기타 실적 I/F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WM 출고 프로세스</vt:lpstr>
      <vt:lpstr>웨이브 프로세스</vt:lpstr>
      <vt:lpstr>PowerPoint 프레젠테이션</vt:lpstr>
      <vt:lpstr>PowerPoint 프레젠테이션</vt:lpstr>
      <vt:lpstr>PowerPoint 프레젠테이션</vt:lpstr>
      <vt:lpstr>PowerPoint 프레젠테이션</vt:lpstr>
      <vt:lpstr> 남안성 출고 상세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해외법인 생산공장 전산소모품 구매의 件 </dc:title>
  <dc:creator>user</dc:creator>
  <cp:lastModifiedBy>Microsoft 계정</cp:lastModifiedBy>
  <cp:revision>496</cp:revision>
  <dcterms:created xsi:type="dcterms:W3CDTF">2021-10-08T06:04:42Z</dcterms:created>
  <dcterms:modified xsi:type="dcterms:W3CDTF">2026-02-26T04:58:15Z</dcterms:modified>
</cp:coreProperties>
</file>