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Poppins SemiBold" panose="020B0604020202020204" charset="0"/>
      <p:regular r:id="rId22"/>
      <p:bold r:id="rId23"/>
      <p:italic r:id="rId24"/>
      <p:boldItalic r:id="rId25"/>
    </p:embeddedFont>
    <p:embeddedFont>
      <p:font typeface="맑은 고딕" panose="020B0503020000020004" pitchFamily="50" charset="-127"/>
      <p:regular r:id="rId26"/>
      <p:bold r:id="rId27"/>
    </p:embeddedFont>
    <p:embeddedFont>
      <p:font typeface="Poppins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20" y="8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21181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4106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006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0676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3124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2684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53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121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4941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576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4978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821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45531" y="2209948"/>
            <a:ext cx="7500937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 smtClean="0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패션관리 시스템</a:t>
            </a:r>
            <a:r>
              <a:rPr lang="en-US" sz="4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  <a:t/>
            </a:r>
            <a:br>
              <a:rPr lang="en-US" sz="4800" b="0" i="0" u="none" strike="noStrike" cap="none" dirty="0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ko-KR" altLang="en-US" sz="4800" b="1" i="0" u="none" strike="noStrike" cap="none" dirty="0" smtClean="0">
                <a:solidFill>
                  <a:srgbClr val="38BDF8"/>
                </a:solidFill>
                <a:latin typeface="+mn-ea"/>
                <a:ea typeface="+mn-ea"/>
                <a:cs typeface="Poppins"/>
                <a:sym typeface="Poppins"/>
              </a:rPr>
              <a:t>주요 이슈 개선안</a:t>
            </a:r>
            <a:endParaRPr sz="4800" dirty="0">
              <a:latin typeface="+mn-ea"/>
              <a:ea typeface="+mn-e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009775" y="4004220"/>
            <a:ext cx="81724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기준정보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표준화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, PLM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연동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 및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물류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/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영업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정산</a:t>
            </a:r>
            <a:r>
              <a:rPr lang="en-US" sz="1600" b="0" i="0" u="none" strike="noStrike" cap="none" dirty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600" b="0" i="0" u="none" strike="noStrike" cap="none" dirty="0" err="1" smtClean="0">
                <a:solidFill>
                  <a:srgbClr val="94A3B8"/>
                </a:solidFill>
                <a:latin typeface="+mn-ea"/>
                <a:ea typeface="+mn-ea"/>
                <a:cs typeface="Urbanist"/>
                <a:sym typeface="Urbanist"/>
              </a:rPr>
              <a:t>자동화</a:t>
            </a:r>
            <a:endParaRPr sz="16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368" y="1648148"/>
            <a:ext cx="3492549" cy="24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6762"/>
            <a:ext cx="3492400" cy="24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650" y="1646584"/>
            <a:ext cx="3492549" cy="24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646584"/>
            <a:ext cx="3492400" cy="24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14707"/>
            <a:ext cx="3492400" cy="24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9650" y="4314707"/>
            <a:ext cx="3492549" cy="244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4314707"/>
            <a:ext cx="3492400" cy="244816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2658848"/>
            <a:ext cx="2846918" cy="26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기준정보</a:t>
            </a:r>
            <a:endParaRPr>
              <a:latin typeface="+mn-ea"/>
              <a:ea typeface="+mn-ea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285454"/>
            <a:ext cx="2711350" cy="610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브랜드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칼라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사이즈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구조의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표준화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및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관리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체계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정립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740175" y="2640965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PLM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연동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740175" y="3231515"/>
            <a:ext cx="27114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Centric PLM 기반의 기획-소싱-물류 데이터 E2E 연결</a:t>
            </a:r>
            <a:endParaRPr>
              <a:latin typeface="+mn-ea"/>
              <a:ea typeface="+mn-ea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18475" y="2640965"/>
            <a:ext cx="28469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매장 정보</a:t>
            </a:r>
            <a:endParaRPr>
              <a:latin typeface="+mn-ea"/>
              <a:ea typeface="+mn-ea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518475" y="3231515"/>
            <a:ext cx="2711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마스터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관리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고도화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및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변경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이력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추적성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강화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5238750"/>
            <a:ext cx="28469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물류</a:t>
            </a:r>
            <a:r>
              <a:rPr lang="en-US" sz="2100" b="1" i="0" u="none" strike="noStrike" cap="none" dirty="0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관리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5829300"/>
            <a:ext cx="2711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창고 기준 통합 및 수불 로직의 근본적 재정의</a:t>
            </a:r>
            <a:endParaRPr>
              <a:latin typeface="+mn-ea"/>
              <a:ea typeface="+mn-ea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740175" y="5238750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영업 기획</a:t>
            </a:r>
            <a:endParaRPr>
              <a:latin typeface="+mn-ea"/>
              <a:ea typeface="+mn-ea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4740175" y="5829300"/>
            <a:ext cx="27114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매출 목표 히스토리 관리 및 승인 프로세스 구축</a:t>
            </a:r>
            <a:endParaRPr>
              <a:latin typeface="+mn-ea"/>
              <a:ea typeface="+mn-ea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518475" y="5238750"/>
            <a:ext cx="28469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영업 관리</a:t>
            </a:r>
            <a:endParaRPr>
              <a:latin typeface="+mn-ea"/>
              <a:ea typeface="+mn-ea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8518475" y="5829300"/>
            <a:ext cx="27113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RPA 기반 EDI 수집 및 정산 업무의 전산화/자동화</a:t>
            </a:r>
            <a:endParaRPr>
              <a:latin typeface="+mn-ea"/>
              <a:ea typeface="+mn-ea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918005"/>
            <a:ext cx="400050" cy="3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188849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188849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" y="44862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40175" y="4486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18475" y="44862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 err="1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주요</a:t>
            </a:r>
            <a:r>
              <a:rPr lang="en-US" sz="3300" b="0" i="0" u="none" strike="noStrike" cap="none" dirty="0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 </a:t>
            </a:r>
            <a:r>
              <a:rPr lang="en-US" sz="3300" b="0" i="0" u="none" strike="noStrike" cap="none" dirty="0" err="1" smtClean="0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개선</a:t>
            </a:r>
            <a:r>
              <a:rPr lang="en-US" sz="3300" b="0" i="0" u="none" strike="noStrike" cap="none" dirty="0" smtClean="0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 </a:t>
            </a:r>
            <a:r>
              <a:rPr lang="en-US" sz="3300" b="0" i="0" u="none" strike="noStrike" cap="none" dirty="0" err="1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과제</a:t>
            </a:r>
            <a:r>
              <a:rPr lang="en-US" sz="3300" b="0" i="0" u="none" strike="noStrike" cap="none" dirty="0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 </a:t>
            </a:r>
            <a:r>
              <a:rPr lang="en-US" sz="3300" b="0" i="0" u="none" strike="noStrike" cap="none" dirty="0" err="1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요약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95512"/>
            <a:ext cx="523875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62025" y="2586037"/>
            <a:ext cx="468058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코드 체계 혁신</a:t>
            </a:r>
            <a:endParaRPr>
              <a:latin typeface="+mn-ea"/>
              <a:ea typeface="+mn-ea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39140" y="3176587"/>
            <a:ext cx="490347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•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브랜드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코드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미래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확장성을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고려한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구조적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변경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추진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39140" y="3671887"/>
            <a:ext cx="490347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•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칼라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코드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중복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미사용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코드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대폭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정리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(1,434개 → 650개)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739140" y="4471987"/>
            <a:ext cx="490347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•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사이즈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체계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기획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실사이즈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이원화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구조의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일원화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검토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기준정보(Master Data) 표준화</a:t>
            </a:r>
            <a:endParaRPr>
              <a:latin typeface="+mn-ea"/>
              <a:ea typeface="+mn-ea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2419350"/>
            <a:ext cx="55006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기획-소싱-물류 통합 관리</a:t>
            </a:r>
            <a:endParaRPr>
              <a:latin typeface="+mn-ea"/>
              <a:ea typeface="+mn-ea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3009900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Centric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PLM을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중심으로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한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데이터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거버넌스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구축으로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정보의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일관성을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확보합니다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000125" y="3810000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작업지시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및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상품정보의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단일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소스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(Single Source)화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1000125" y="4352925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영업관리와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소싱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시스템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간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실시간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정합성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유지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000125" y="4895850"/>
            <a:ext cx="48101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수기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처리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프로세스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최소화로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데이터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무결성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강화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48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91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3395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PLM 중심의 End-to-End 데이터 연결</a:t>
            </a:r>
            <a:endParaRPr>
              <a:latin typeface="+mn-ea"/>
              <a:ea typeface="+mn-ea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2452687" y="2188815"/>
            <a:ext cx="810101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수기 방식에서 전산화 체계로 전환</a:t>
            </a:r>
            <a:endParaRPr>
              <a:latin typeface="+mn-ea"/>
              <a:ea typeface="+mn-ea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452687" y="2806005"/>
            <a:ext cx="7715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현재의 수기 발주 방식으로 인한 휴먼 에러를 제거하고 업무 효율을 극대화합니다.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452687" y="3348930"/>
            <a:ext cx="810101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RFID 연계 자동화 로직 도입</a:t>
            </a:r>
            <a:endParaRPr>
              <a:latin typeface="+mn-ea"/>
              <a:ea typeface="+mn-ea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2452686" y="3966120"/>
            <a:ext cx="80121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생산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시점부터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RFID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정보를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결합하여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입고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물류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매장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판매까지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자동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추적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체계를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구축합니다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2452687" y="4509045"/>
            <a:ext cx="810101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진행 시기 및 범위 최적화</a:t>
            </a:r>
            <a:endParaRPr>
              <a:latin typeface="+mn-ea"/>
              <a:ea typeface="+mn-ea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2452687" y="5126235"/>
            <a:ext cx="7715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단계별 확산을 통해 현장의 혼선을 최소화하고 시스템 조기 안착을 유도합니다.</a:t>
            </a:r>
            <a:endParaRPr>
              <a:latin typeface="+mn-ea"/>
              <a:ea typeface="+mn-ea"/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62" y="22269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24062" y="33870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24062" y="454714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TAG 라벨 발주 프로세스 혁신</a:t>
            </a:r>
            <a:endParaRPr>
              <a:latin typeface="+mn-ea"/>
              <a:ea typeface="+mn-ea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0" y="2352675"/>
            <a:ext cx="6667500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43525" y="4133850"/>
            <a:ext cx="28479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2000" y="4133850"/>
            <a:ext cx="28479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2033587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5343525" y="2743200"/>
            <a:ext cx="618077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정확한 매장 인프라 데이터 구축</a:t>
            </a:r>
            <a:endParaRPr>
              <a:latin typeface="+mn-ea"/>
              <a:ea typeface="+mn-ea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5343525" y="3333750"/>
            <a:ext cx="5886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매장 정보의 수기 입력 리스크를 제거하고, 변경 이력(History) 관리 체계를 강화하여 데이터 기반의 의사결정을 지원합니다.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매장 정보 및 마스터 이력 관리</a:t>
            </a:r>
            <a:endParaRPr>
              <a:latin typeface="+mn-ea"/>
              <a:ea typeface="+mn-ea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741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571625"/>
            <a:ext cx="52387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381500"/>
            <a:ext cx="523875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216693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6800850" y="1962150"/>
            <a:ext cx="465058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시스템 간 데이터 정합성 (FONE vs WMS)</a:t>
            </a:r>
            <a:endParaRPr>
              <a:latin typeface="+mn-ea"/>
              <a:ea typeface="+mn-ea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800850" y="2952750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상이한 창고 기준을 일원화하여 재고 불일치 문제를 근본적으로 해결하고 운영 효율성을 제고합니다.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800850" y="4772025"/>
            <a:ext cx="465058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온라인/오프라인 수불 로직 개선</a:t>
            </a:r>
            <a:endParaRPr>
              <a:latin typeface="+mn-ea"/>
              <a:ea typeface="+mn-ea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800850" y="5362575"/>
            <a:ext cx="44291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물류센터와 매장 간 발생하는 불필요한 수불 과정을 제거하고 직배송 시스템을 강화합니다.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물류 시스템 통합 및 창고 기준 정립</a:t>
            </a:r>
            <a:endParaRPr>
              <a:latin typeface="+mn-ea"/>
              <a:ea typeface="+mn-ea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3492400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95525"/>
            <a:ext cx="349254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95525"/>
            <a:ext cx="349240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962025" y="3476625"/>
            <a:ext cx="28469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반품/불량 프로세스</a:t>
            </a:r>
            <a:endParaRPr>
              <a:latin typeface="+mn-ea"/>
              <a:ea typeface="+mn-ea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962025" y="4067175"/>
            <a:ext cx="2711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매장-창고-온라인 물류로 이어지는 복잡한 단계를 단순화하여 회수 속도 향상</a:t>
            </a:r>
            <a:endParaRPr>
              <a:latin typeface="+mn-ea"/>
              <a:ea typeface="+mn-ea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740175" y="3476625"/>
            <a:ext cx="284707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자가소모 처리 개선</a:t>
            </a:r>
            <a:endParaRPr>
              <a:latin typeface="+mn-ea"/>
              <a:ea typeface="+mn-ea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740175" y="4067175"/>
            <a:ext cx="27114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매장 직접 처리 로직을 반영하여 불필요한 창고 경유 입출고 단계 제거</a:t>
            </a:r>
            <a:endParaRPr>
              <a:latin typeface="+mn-ea"/>
              <a:ea typeface="+mn-ea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8518475" y="3476625"/>
            <a:ext cx="284691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수불 로직 재정의</a:t>
            </a:r>
            <a:endParaRPr>
              <a:latin typeface="+mn-ea"/>
              <a:ea typeface="+mn-ea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518475" y="4067175"/>
            <a:ext cx="27113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실제 물류 흐름과 시스템 데이터의 동기화율 99% 이상 달성 목표</a:t>
            </a:r>
            <a:endParaRPr>
              <a:latin typeface="+mn-ea"/>
              <a:ea typeface="+mn-ea"/>
            </a:endParaRPr>
          </a:p>
        </p:txBody>
      </p:sp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241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7241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7241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반품 및 자가소모 프로세스 고도화</a:t>
            </a:r>
            <a:endParaRPr>
              <a:latin typeface="+mn-ea"/>
              <a:ea typeface="+mn-ea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71500" y="2850802"/>
            <a:ext cx="441960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38BDF8"/>
                </a:solidFill>
                <a:latin typeface="+mn-ea"/>
                <a:ea typeface="+mn-ea"/>
                <a:cs typeface="Urbanist"/>
                <a:sym typeface="Urbanist"/>
              </a:rPr>
              <a:t>100%</a:t>
            </a:r>
            <a:endParaRPr>
              <a:latin typeface="+mn-ea"/>
              <a:ea typeface="+mn-ea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4412902"/>
            <a:ext cx="44196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+mn-ea"/>
                <a:ea typeface="+mn-ea"/>
                <a:cs typeface="Urbanist"/>
                <a:sym typeface="Urbanist"/>
              </a:rPr>
              <a:t>History Visibility</a:t>
            </a:r>
            <a:endParaRPr>
              <a:latin typeface="+mn-ea"/>
              <a:ea typeface="+mn-ea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562600" y="2371725"/>
            <a:ext cx="6629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매출 목표 승인 프로세스 강화</a:t>
            </a:r>
            <a:endParaRPr>
              <a:latin typeface="+mn-ea"/>
              <a:ea typeface="+mn-ea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562600" y="2962275"/>
            <a:ext cx="6629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목표 변경에 대한 히스토리가 부재했던 기존 방식을 탈피하여, 변경 사유와 승인 이력을 체계적으로 관리합니다.</a:t>
            </a:r>
            <a:endParaRPr>
              <a:latin typeface="+mn-ea"/>
              <a:ea typeface="+mn-ea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991225" y="3857625"/>
            <a:ext cx="6200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버전별 매출 목표 아카이빙</a:t>
            </a:r>
            <a:endParaRPr>
              <a:latin typeface="+mn-ea"/>
              <a:ea typeface="+mn-ea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991225" y="4400550"/>
            <a:ext cx="6200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승인권자(Approval) 관리 범위 구체화</a:t>
            </a:r>
            <a:endParaRPr>
              <a:latin typeface="+mn-ea"/>
              <a:ea typeface="+mn-ea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5991225" y="4943475"/>
            <a:ext cx="6200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실적 대비 목표 달성률 분석의 신뢰도 확보</a:t>
            </a:r>
            <a:endParaRPr>
              <a:latin typeface="+mn-ea"/>
              <a:ea typeface="+mn-ea"/>
            </a:endParaRPr>
          </a:p>
        </p:txBody>
      </p:sp>
      <p:pic>
        <p:nvPicPr>
          <p:cNvPr id="225" name="Google Shape;22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2600" y="38957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2600" y="44386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2600" y="49815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영업 기획 및 매출 목표 관리</a:t>
            </a:r>
            <a:endParaRPr>
              <a:latin typeface="+mn-ea"/>
              <a:ea typeface="+mn-ea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0497"/>
            <a:ext cx="5238750" cy="186303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254597"/>
            <a:ext cx="550068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이동 중 재고의 가시성 확보</a:t>
            </a:r>
            <a:endParaRPr>
              <a:latin typeface="+mn-ea"/>
              <a:ea typeface="+mn-ea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845147"/>
            <a:ext cx="5238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인도 매장과 인수 매장 사이에서 모호했던 재고 소유권을 명확히 하기 위해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'가상창고'</a:t>
            </a: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 개념을 도입합니다.</a:t>
            </a:r>
            <a:endParaRPr>
              <a:latin typeface="+mn-ea"/>
              <a:ea typeface="+mn-ea"/>
            </a:endParaRPr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809625" y="4169122"/>
            <a:ext cx="4762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+mn-ea"/>
                <a:ea typeface="+mn-ea"/>
                <a:cs typeface="Urbanist"/>
                <a:sym typeface="Urbanist"/>
              </a:rPr>
              <a:t>개선 로직:</a:t>
            </a:r>
            <a:endParaRPr>
              <a:latin typeface="+mn-ea"/>
              <a:ea typeface="+mn-ea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809625" y="4645372"/>
            <a:ext cx="47625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인도 확정 시 [가상창고] 귀속 → 인수 확정 시 [인수매장] 귀속 방식으로 전환하여 미확정 재고 손실 방지</a:t>
            </a:r>
            <a:endParaRPr>
              <a:latin typeface="+mn-ea"/>
              <a:ea typeface="+mn-ea"/>
            </a:endParaRPr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22627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809625" y="571500"/>
            <a:ext cx="113514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매장 점간 이동 및 재고 귀속 관리</a:t>
            </a:r>
            <a:endParaRPr>
              <a:latin typeface="+mn-ea"/>
              <a:ea typeface="+mn-ea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571500" y="762000"/>
            <a:ext cx="52006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영업 정산 자동화</a:t>
            </a:r>
            <a: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+mn-ea"/>
                <a:ea typeface="+mn-ea"/>
                <a:cs typeface="Calibri"/>
                <a:sym typeface="Calibri"/>
              </a:rPr>
            </a:br>
            <a:r>
              <a:rPr lang="en-US" sz="3300" b="0" i="0" u="none" strike="noStrike" cap="none">
                <a:solidFill>
                  <a:srgbClr val="38BDF8"/>
                </a:solidFill>
                <a:latin typeface="+mn-ea"/>
                <a:ea typeface="+mn-ea"/>
                <a:cs typeface="Poppins SemiBold"/>
                <a:sym typeface="Poppins SemiBold"/>
              </a:rPr>
              <a:t> (RPA 도입)</a:t>
            </a:r>
            <a:endParaRPr>
              <a:latin typeface="+mn-ea"/>
              <a:ea typeface="+mn-ea"/>
            </a:endParaRPr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71500" y="2381250"/>
            <a:ext cx="5200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+mn-ea"/>
                <a:ea typeface="+mn-ea"/>
                <a:cs typeface="Poppins"/>
                <a:sym typeface="Poppins"/>
              </a:rPr>
              <a:t>디지털 워크포스를 통한 업무 혁신</a:t>
            </a:r>
            <a:endParaRPr>
              <a:latin typeface="+mn-ea"/>
              <a:ea typeface="+mn-ea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571500" y="3114675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수기 의존도가 높았던 정산 업무를 RPA(Robotic Process Automation)로 전환하여 EDI 정보 수집 지연을 해소하고 정확도를 높입니다.</a:t>
            </a:r>
            <a:endParaRPr>
              <a:latin typeface="+mn-ea"/>
              <a:ea typeface="+mn-ea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1000125" y="4410075"/>
            <a:ext cx="452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EDI 자동 수집 및 정합성 검증</a:t>
            </a:r>
            <a:endParaRPr>
              <a:latin typeface="+mn-ea"/>
              <a:ea typeface="+mn-ea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000125" y="4953000"/>
            <a:ext cx="452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정산 수기 데이터 전산화 항목 도출</a:t>
            </a:r>
            <a:endParaRPr>
              <a:latin typeface="+mn-ea"/>
              <a:ea typeface="+mn-ea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1000125" y="5495925"/>
            <a:ext cx="4524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+mn-ea"/>
                <a:ea typeface="+mn-ea"/>
                <a:cs typeface="Urbanist"/>
                <a:sym typeface="Urbanist"/>
              </a:rPr>
              <a:t>리드타임 70% 단축 및 무결성 확보</a:t>
            </a:r>
            <a:endParaRPr>
              <a:latin typeface="+mn-ea"/>
              <a:ea typeface="+mn-ea"/>
            </a:endParaRPr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481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91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53402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</Words>
  <Application>Microsoft Office PowerPoint</Application>
  <PresentationFormat>와이드스크린</PresentationFormat>
  <Paragraphs>67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Calibri</vt:lpstr>
      <vt:lpstr>Urbanist</vt:lpstr>
      <vt:lpstr>Poppins SemiBold</vt:lpstr>
      <vt:lpstr>Arial</vt:lpstr>
      <vt:lpstr>맑은 고딕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</cp:revision>
  <dcterms:modified xsi:type="dcterms:W3CDTF">2026-04-13T01:05:50Z</dcterms:modified>
</cp:coreProperties>
</file>