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0" r:id="rId4"/>
  </p:sldMasterIdLst>
  <p:notesMasterIdLst>
    <p:notesMasterId r:id="rId20"/>
  </p:notesMasterIdLst>
  <p:handoutMasterIdLst>
    <p:handoutMasterId r:id="rId21"/>
  </p:handoutMasterIdLst>
  <p:sldIdLst>
    <p:sldId id="1262" r:id="rId5"/>
    <p:sldId id="1456" r:id="rId6"/>
    <p:sldId id="1449" r:id="rId7"/>
    <p:sldId id="1448" r:id="rId8"/>
    <p:sldId id="1455" r:id="rId9"/>
    <p:sldId id="1453" r:id="rId10"/>
    <p:sldId id="1459" r:id="rId11"/>
    <p:sldId id="1462" r:id="rId12"/>
    <p:sldId id="1461" r:id="rId13"/>
    <p:sldId id="1463" r:id="rId14"/>
    <p:sldId id="1464" r:id="rId15"/>
    <p:sldId id="1465" r:id="rId16"/>
    <p:sldId id="1466" r:id="rId17"/>
    <p:sldId id="1468" r:id="rId18"/>
    <p:sldId id="1469" r:id="rId19"/>
  </p:sldIdLst>
  <p:sldSz cx="9906000" cy="6858000" type="A4"/>
  <p:notesSz cx="6807200" cy="9939338"/>
  <p:embeddedFontLst>
    <p:embeddedFont>
      <p:font typeface="Helvetica" panose="020B0604020202020204" pitchFamily="34" charset="0"/>
      <p:regular r:id="rId22"/>
      <p:bold r:id="rId23"/>
      <p:italic r:id="rId24"/>
      <p:boldItalic r:id="rId25"/>
    </p:embeddedFont>
    <p:embeddedFont>
      <p:font typeface="JBold" panose="020B0600000101010101" charset="-127"/>
      <p:regular r:id="rId26"/>
    </p:embeddedFont>
    <p:embeddedFont>
      <p:font typeface="나눔고딕 ExtraBold" panose="020B0600000101010101" charset="-127"/>
      <p:bold r:id="rId27"/>
    </p:embeddedFont>
    <p:embeddedFont>
      <p:font typeface="나눔고딕" panose="020B0600000101010101" charset="-127"/>
      <p:regular r:id="rId28"/>
      <p:bold r:id="rId29"/>
    </p:embeddedFont>
    <p:embeddedFont>
      <p:font typeface="맑은 고딕" panose="020B0503020000020004" pitchFamily="50" charset="-127"/>
      <p:regular r:id="rId30"/>
      <p:bold r:id="rId31"/>
    </p:embeddedFont>
  </p:embeddedFontLst>
  <p:custDataLst>
    <p:tags r:id="rId32"/>
  </p:custDataLst>
  <p:defaultTextStyle>
    <a:defPPr>
      <a:defRPr lang="en-US"/>
    </a:defPPr>
    <a:lvl1pPr algn="l" rtl="0" fontAlgn="base" latinLnBrk="1">
      <a:spcBef>
        <a:spcPct val="0"/>
      </a:spcBef>
      <a:spcAft>
        <a:spcPct val="0"/>
      </a:spcAft>
      <a:defRPr kumimoji="1" kern="1200">
        <a:solidFill>
          <a:schemeClr val="tx1"/>
        </a:solidFill>
        <a:latin typeface="Arial" charset="0"/>
        <a:ea typeface="굴림" pitchFamily="50" charset="-127"/>
        <a:cs typeface="+mn-cs"/>
      </a:defRPr>
    </a:lvl1pPr>
    <a:lvl2pPr marL="455613" indent="1588" algn="l" rtl="0" fontAlgn="base" latinLnBrk="1">
      <a:spcBef>
        <a:spcPct val="0"/>
      </a:spcBef>
      <a:spcAft>
        <a:spcPct val="0"/>
      </a:spcAft>
      <a:defRPr kumimoji="1" kern="1200">
        <a:solidFill>
          <a:schemeClr val="tx1"/>
        </a:solidFill>
        <a:latin typeface="Arial" charset="0"/>
        <a:ea typeface="굴림" pitchFamily="50" charset="-127"/>
        <a:cs typeface="+mn-cs"/>
      </a:defRPr>
    </a:lvl2pPr>
    <a:lvl3pPr marL="912813" indent="1588" algn="l" rtl="0" fontAlgn="base" latinLnBrk="1">
      <a:spcBef>
        <a:spcPct val="0"/>
      </a:spcBef>
      <a:spcAft>
        <a:spcPct val="0"/>
      </a:spcAft>
      <a:defRPr kumimoji="1" kern="1200">
        <a:solidFill>
          <a:schemeClr val="tx1"/>
        </a:solidFill>
        <a:latin typeface="Arial" charset="0"/>
        <a:ea typeface="굴림" pitchFamily="50" charset="-127"/>
        <a:cs typeface="+mn-cs"/>
      </a:defRPr>
    </a:lvl3pPr>
    <a:lvl4pPr marL="1370013" indent="1588" algn="l" rtl="0" fontAlgn="base" latinLnBrk="1">
      <a:spcBef>
        <a:spcPct val="0"/>
      </a:spcBef>
      <a:spcAft>
        <a:spcPct val="0"/>
      </a:spcAft>
      <a:defRPr kumimoji="1" kern="1200">
        <a:solidFill>
          <a:schemeClr val="tx1"/>
        </a:solidFill>
        <a:latin typeface="Arial" charset="0"/>
        <a:ea typeface="굴림" pitchFamily="50" charset="-127"/>
        <a:cs typeface="+mn-cs"/>
      </a:defRPr>
    </a:lvl4pPr>
    <a:lvl5pPr marL="1827213" indent="1588" algn="l" rtl="0" fontAlgn="base" latinLnBrk="1">
      <a:spcBef>
        <a:spcPct val="0"/>
      </a:spcBef>
      <a:spcAft>
        <a:spcPct val="0"/>
      </a:spcAft>
      <a:defRPr kumimoji="1" kern="1200">
        <a:solidFill>
          <a:schemeClr val="tx1"/>
        </a:solidFill>
        <a:latin typeface="Arial" charset="0"/>
        <a:ea typeface="굴림" pitchFamily="50" charset="-127"/>
        <a:cs typeface="+mn-cs"/>
      </a:defRPr>
    </a:lvl5pPr>
    <a:lvl6pPr marL="2286000" algn="l" defTabSz="914400" rtl="0" eaLnBrk="1" latinLnBrk="1" hangingPunct="1">
      <a:defRPr kumimoji="1" kern="1200">
        <a:solidFill>
          <a:schemeClr val="tx1"/>
        </a:solidFill>
        <a:latin typeface="Arial" charset="0"/>
        <a:ea typeface="굴림" pitchFamily="50" charset="-127"/>
        <a:cs typeface="+mn-cs"/>
      </a:defRPr>
    </a:lvl6pPr>
    <a:lvl7pPr marL="2743200" algn="l" defTabSz="914400" rtl="0" eaLnBrk="1" latinLnBrk="1" hangingPunct="1">
      <a:defRPr kumimoji="1" kern="1200">
        <a:solidFill>
          <a:schemeClr val="tx1"/>
        </a:solidFill>
        <a:latin typeface="Arial" charset="0"/>
        <a:ea typeface="굴림" pitchFamily="50" charset="-127"/>
        <a:cs typeface="+mn-cs"/>
      </a:defRPr>
    </a:lvl7pPr>
    <a:lvl8pPr marL="3200400" algn="l" defTabSz="914400" rtl="0" eaLnBrk="1" latinLnBrk="1" hangingPunct="1">
      <a:defRPr kumimoji="1" kern="1200">
        <a:solidFill>
          <a:schemeClr val="tx1"/>
        </a:solidFill>
        <a:latin typeface="Arial" charset="0"/>
        <a:ea typeface="굴림" pitchFamily="50" charset="-127"/>
        <a:cs typeface="+mn-cs"/>
      </a:defRPr>
    </a:lvl8pPr>
    <a:lvl9pPr marL="3657600" algn="l" defTabSz="914400" rtl="0" eaLnBrk="1" latinLnBrk="1" hangingPunct="1">
      <a:defRPr kumimoji="1" kern="1200">
        <a:solidFill>
          <a:schemeClr val="tx1"/>
        </a:solidFill>
        <a:latin typeface="Arial" charset="0"/>
        <a:ea typeface="굴림" pitchFamily="50" charset="-127"/>
        <a:cs typeface="+mn-cs"/>
      </a:defRPr>
    </a:lvl9pPr>
  </p:defaultTextStyle>
  <p:extLst>
    <p:ext uri="{EFAFB233-063F-42B5-8137-9DF3F51BA10A}">
      <p15:sldGuideLst xmlns:p15="http://schemas.microsoft.com/office/powerpoint/2012/main">
        <p15:guide id="1" orient="horz" pos="884" userDrawn="1">
          <p15:clr>
            <a:srgbClr val="A4A3A4"/>
          </p15:clr>
        </p15:guide>
        <p15:guide id="2" orient="horz" pos="4116">
          <p15:clr>
            <a:srgbClr val="A4A3A4"/>
          </p15:clr>
        </p15:guide>
        <p15:guide id="4" pos="143">
          <p15:clr>
            <a:srgbClr val="A4A3A4"/>
          </p15:clr>
        </p15:guide>
        <p15:guide id="5" pos="6097">
          <p15:clr>
            <a:srgbClr val="A4A3A4"/>
          </p15:clr>
        </p15:guide>
        <p15:guide id="6" pos="228">
          <p15:clr>
            <a:srgbClr val="A4A3A4"/>
          </p15:clr>
        </p15:guide>
        <p15:guide id="7" pos="342" userDrawn="1">
          <p15:clr>
            <a:srgbClr val="A4A3A4"/>
          </p15:clr>
        </p15:guide>
      </p15:sldGuideLst>
    </p:ext>
    <p:ext uri="{2D200454-40CA-4A62-9FC3-DE9A4176ACB9}">
      <p15:notesGuideLst xmlns:p15="http://schemas.microsoft.com/office/powerpoint/2012/main">
        <p15:guide id="1" orient="horz" pos="3130">
          <p15:clr>
            <a:srgbClr val="A4A3A4"/>
          </p15:clr>
        </p15:guide>
        <p15:guide id="2" pos="214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54061"/>
    <a:srgbClr val="FFD200"/>
    <a:srgbClr val="333333"/>
    <a:srgbClr val="646464"/>
    <a:srgbClr val="808080"/>
    <a:srgbClr val="FDFF9B"/>
    <a:srgbClr val="FFFF6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8827" autoAdjust="0"/>
  </p:normalViewPr>
  <p:slideViewPr>
    <p:cSldViewPr>
      <p:cViewPr>
        <p:scale>
          <a:sx n="100" d="100"/>
          <a:sy n="100" d="100"/>
        </p:scale>
        <p:origin x="1572" y="342"/>
      </p:cViewPr>
      <p:guideLst>
        <p:guide orient="horz" pos="884"/>
        <p:guide orient="horz" pos="4116"/>
        <p:guide pos="143"/>
        <p:guide pos="6097"/>
        <p:guide pos="228"/>
        <p:guide pos="342"/>
      </p:guideLst>
    </p:cSldViewPr>
  </p:slideViewPr>
  <p:outlineViewPr>
    <p:cViewPr>
      <p:scale>
        <a:sx n="33" d="100"/>
        <a:sy n="33" d="100"/>
      </p:scale>
      <p:origin x="0" y="0"/>
    </p:cViewPr>
  </p:outlineViewPr>
  <p:notesTextViewPr>
    <p:cViewPr>
      <p:scale>
        <a:sx n="200" d="100"/>
        <a:sy n="200" d="100"/>
      </p:scale>
      <p:origin x="0" y="0"/>
    </p:cViewPr>
  </p:notesTextViewPr>
  <p:sorterViewPr>
    <p:cViewPr>
      <p:scale>
        <a:sx n="100" d="100"/>
        <a:sy n="100" d="100"/>
      </p:scale>
      <p:origin x="0" y="0"/>
    </p:cViewPr>
  </p:sorterViewPr>
  <p:notesViewPr>
    <p:cSldViewPr>
      <p:cViewPr varScale="1">
        <p:scale>
          <a:sx n="79" d="100"/>
          <a:sy n="79" d="100"/>
        </p:scale>
        <p:origin x="3102" y="96"/>
      </p:cViewPr>
      <p:guideLst>
        <p:guide orient="horz" pos="3130"/>
        <p:guide pos="2145"/>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handoutMaster" Target="handoutMasters/handoutMaster1.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32"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23828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4"/>
          <p:cNvSpPr>
            <a:spLocks noGrp="1" noRot="1" noChangeAspect="1" noChangeArrowheads="1" noTextEdit="1"/>
          </p:cNvSpPr>
          <p:nvPr>
            <p:ph type="sldImg" idx="2"/>
          </p:nvPr>
        </p:nvSpPr>
        <p:spPr bwMode="auto">
          <a:xfrm>
            <a:off x="711200" y="744538"/>
            <a:ext cx="5386388" cy="37290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681834" y="4720987"/>
            <a:ext cx="5443534" cy="4473099"/>
          </a:xfrm>
          <a:prstGeom prst="rect">
            <a:avLst/>
          </a:prstGeom>
          <a:noFill/>
          <a:ln w="9525">
            <a:noFill/>
            <a:miter lim="800000"/>
            <a:headEnd/>
            <a:tailEnd/>
          </a:ln>
          <a:effectLst/>
        </p:spPr>
        <p:txBody>
          <a:bodyPr vert="horz" wrap="square" lIns="94341" tIns="47170" rIns="94341" bIns="47170" numCol="1" anchor="t" anchorCtr="0" compatLnSpc="1">
            <a:prstTxWarp prst="textNoShape">
              <a:avLst/>
            </a:prstTxWarp>
          </a:bodyPr>
          <a:lstStyle/>
          <a:p>
            <a:pPr lvl="0"/>
            <a:r>
              <a:rPr lang="en-US" altLang="ko-KR" noProof="0" dirty="0" smtClean="0"/>
              <a:t>Click to edit Master text styles</a:t>
            </a:r>
          </a:p>
          <a:p>
            <a:pPr lvl="1"/>
            <a:r>
              <a:rPr lang="en-US" altLang="ko-KR" noProof="0" dirty="0" smtClean="0"/>
              <a:t>Second level</a:t>
            </a:r>
          </a:p>
          <a:p>
            <a:pPr lvl="2"/>
            <a:r>
              <a:rPr lang="en-US" altLang="ko-KR" noProof="0" dirty="0" smtClean="0"/>
              <a:t>Third level</a:t>
            </a:r>
          </a:p>
          <a:p>
            <a:pPr lvl="3"/>
            <a:r>
              <a:rPr lang="en-US" altLang="ko-KR" noProof="0" dirty="0" smtClean="0"/>
              <a:t>Fourth level</a:t>
            </a:r>
          </a:p>
          <a:p>
            <a:pPr lvl="4"/>
            <a:r>
              <a:rPr lang="en-US" altLang="ko-KR" noProof="0" dirty="0" smtClean="0"/>
              <a:t>Fifth level</a:t>
            </a:r>
          </a:p>
        </p:txBody>
      </p:sp>
      <p:sp>
        <p:nvSpPr>
          <p:cNvPr id="2" name="머리글 개체 틀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6038" y="0"/>
            <a:ext cx="2949575" cy="498475"/>
          </a:xfrm>
          <a:prstGeom prst="rect">
            <a:avLst/>
          </a:prstGeom>
        </p:spPr>
        <p:txBody>
          <a:bodyPr vert="horz" lIns="91440" tIns="45720" rIns="91440" bIns="45720" rtlCol="0"/>
          <a:lstStyle>
            <a:lvl1pPr algn="r">
              <a:defRPr sz="1200"/>
            </a:lvl1pPr>
          </a:lstStyle>
          <a:p>
            <a:fld id="{BF0A5DC8-846E-407B-9A02-2F61D56EF1AE}" type="datetimeFigureOut">
              <a:rPr lang="ko-KR" altLang="en-US" smtClean="0"/>
              <a:t>2024-01-15</a:t>
            </a:fld>
            <a:endParaRPr lang="ko-KR" altLang="en-US"/>
          </a:p>
        </p:txBody>
      </p:sp>
      <p:sp>
        <p:nvSpPr>
          <p:cNvPr id="4" name="슬라이드 번호 개체 틀 3"/>
          <p:cNvSpPr>
            <a:spLocks noGrp="1"/>
          </p:cNvSpPr>
          <p:nvPr>
            <p:ph type="sldNum" sz="quarter" idx="5"/>
          </p:nvPr>
        </p:nvSpPr>
        <p:spPr>
          <a:xfrm>
            <a:off x="3856038" y="9440863"/>
            <a:ext cx="2949575" cy="498475"/>
          </a:xfrm>
          <a:prstGeom prst="rect">
            <a:avLst/>
          </a:prstGeom>
        </p:spPr>
        <p:txBody>
          <a:bodyPr vert="horz" lIns="91440" tIns="45720" rIns="91440" bIns="45720" rtlCol="0" anchor="b"/>
          <a:lstStyle>
            <a:lvl1pPr algn="r">
              <a:defRPr sz="1200"/>
            </a:lvl1pPr>
          </a:lstStyle>
          <a:p>
            <a:fld id="{5F0E582A-B70D-4F30-90C6-870CF28E1986}" type="slidenum">
              <a:rPr lang="ko-KR" altLang="en-US" smtClean="0"/>
              <a:t>‹#›</a:t>
            </a:fld>
            <a:endParaRPr lang="ko-KR" altLang="en-US"/>
          </a:p>
        </p:txBody>
      </p:sp>
      <p:sp>
        <p:nvSpPr>
          <p:cNvPr id="5" name="바닥글 개체 틀 4"/>
          <p:cNvSpPr>
            <a:spLocks noGrp="1"/>
          </p:cNvSpPr>
          <p:nvPr>
            <p:ph type="ftr" sz="quarter" idx="4"/>
          </p:nvPr>
        </p:nvSpPr>
        <p:spPr>
          <a:xfrm>
            <a:off x="0" y="9440863"/>
            <a:ext cx="2949575" cy="498475"/>
          </a:xfrm>
          <a:prstGeom prst="rect">
            <a:avLst/>
          </a:prstGeom>
        </p:spPr>
        <p:txBody>
          <a:bodyPr vert="horz" lIns="91440" tIns="45720" rIns="91440" bIns="45720" rtlCol="0" anchor="b"/>
          <a:lstStyle>
            <a:lvl1pPr algn="l">
              <a:defRPr sz="1200"/>
            </a:lvl1pPr>
          </a:lstStyle>
          <a:p>
            <a:endParaRPr lang="ko-KR" altLang="en-US"/>
          </a:p>
        </p:txBody>
      </p:sp>
    </p:spTree>
    <p:extLst>
      <p:ext uri="{BB962C8B-B14F-4D97-AF65-F5344CB8AC3E}">
        <p14:creationId xmlns:p14="http://schemas.microsoft.com/office/powerpoint/2010/main" val="3364724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Clr>
        <a:srgbClr val="FFD200"/>
      </a:buClr>
      <a:buSzPct val="75000"/>
      <a:buFont typeface="Arial" charset="0"/>
      <a:defRPr sz="1200" kern="1200">
        <a:solidFill>
          <a:schemeClr val="tx1"/>
        </a:solidFill>
        <a:latin typeface="Arial" charset="0"/>
        <a:ea typeface="나눔고딕" pitchFamily="50" charset="-127"/>
        <a:cs typeface="+mn-cs"/>
      </a:defRPr>
    </a:lvl1pPr>
    <a:lvl2pPr marL="1588" indent="17780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2pPr>
    <a:lvl3pPr marL="358775" indent="18891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3pPr>
    <a:lvl4pPr marL="722313" indent="17621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4pPr>
    <a:lvl5pPr marL="1079500" indent="174625"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5pPr>
    <a:lvl6pPr marL="2285855" algn="l" defTabSz="914342" rtl="0" eaLnBrk="1" latinLnBrk="1" hangingPunct="1">
      <a:defRPr sz="1200" kern="1200">
        <a:solidFill>
          <a:schemeClr val="tx1"/>
        </a:solidFill>
        <a:latin typeface="+mn-lt"/>
        <a:ea typeface="+mn-ea"/>
        <a:cs typeface="+mn-cs"/>
      </a:defRPr>
    </a:lvl6pPr>
    <a:lvl7pPr marL="2743026" algn="l" defTabSz="914342" rtl="0" eaLnBrk="1" latinLnBrk="1" hangingPunct="1">
      <a:defRPr sz="1200" kern="1200">
        <a:solidFill>
          <a:schemeClr val="tx1"/>
        </a:solidFill>
        <a:latin typeface="+mn-lt"/>
        <a:ea typeface="+mn-ea"/>
        <a:cs typeface="+mn-cs"/>
      </a:defRPr>
    </a:lvl7pPr>
    <a:lvl8pPr marL="3200198" algn="l" defTabSz="914342" rtl="0" eaLnBrk="1" latinLnBrk="1" hangingPunct="1">
      <a:defRPr sz="1200" kern="1200">
        <a:solidFill>
          <a:schemeClr val="tx1"/>
        </a:solidFill>
        <a:latin typeface="+mn-lt"/>
        <a:ea typeface="+mn-ea"/>
        <a:cs typeface="+mn-cs"/>
      </a:defRPr>
    </a:lvl8pPr>
    <a:lvl9pPr marL="3657369" algn="l" defTabSz="914342"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GB" altLang="ko-KR" sz="1000">
                <a:ea typeface="굴림" pitchFamily="50" charset="-127"/>
              </a:rPr>
              <a:t>For information on applying this template onto existing presentations, refer to the notes on slide 2 of this presentation.</a:t>
            </a:r>
          </a:p>
          <a:p>
            <a:pPr eaLnBrk="1" hangingPunct="1">
              <a:lnSpc>
                <a:spcPct val="90000"/>
              </a:lnSpc>
            </a:pPr>
            <a:r>
              <a:rPr lang="en-GB" altLang="ko-KR" sz="1000">
                <a:ea typeface="굴림" pitchFamily="50" charset="-127"/>
              </a:rPr>
              <a:t>The Input area of the Beam can be customized to reflect the content of the</a:t>
            </a:r>
            <a:br>
              <a:rPr lang="en-GB" altLang="ko-KR" sz="1000">
                <a:ea typeface="굴림" pitchFamily="50" charset="-127"/>
              </a:rPr>
            </a:br>
            <a:r>
              <a:rPr lang="en-GB" altLang="ko-KR" sz="1000">
                <a:ea typeface="굴림" pitchFamily="50" charset="-127"/>
              </a:rPr>
              <a:t>presentation. The Input area is an AutoShape with a picture fill. To change this, ensure you have the image you wish to use (ideally a </a:t>
            </a:r>
            <a:r>
              <a:rPr lang="en-GB" altLang="ko-KR" sz="1000" b="1">
                <a:ea typeface="굴림" pitchFamily="50" charset="-127"/>
              </a:rPr>
              <a:t>.jpg</a:t>
            </a:r>
            <a:r>
              <a:rPr lang="en-GB" altLang="ko-KR" sz="1000">
                <a:ea typeface="굴림" pitchFamily="50" charset="-127"/>
              </a:rPr>
              <a:t> or a </a:t>
            </a:r>
            <a:r>
              <a:rPr lang="en-GB" altLang="ko-KR" sz="1000" b="1">
                <a:ea typeface="굴림" pitchFamily="50" charset="-127"/>
              </a:rPr>
              <a:t>.png</a:t>
            </a:r>
            <a:r>
              <a:rPr lang="en-GB" altLang="ko-KR" sz="1000">
                <a:ea typeface="굴림" pitchFamily="50" charset="-127"/>
              </a:rPr>
              <a:t> file) in an accessible folder. The image should have a ratio of 1:1 to ensure it does not appear distorted.</a:t>
            </a:r>
          </a:p>
          <a:p>
            <a:pPr eaLnBrk="1" hangingPunct="1">
              <a:lnSpc>
                <a:spcPct val="90000"/>
              </a:lnSpc>
            </a:pPr>
            <a:r>
              <a:rPr lang="en-GB" altLang="ko-KR" sz="1000">
                <a:ea typeface="굴림" pitchFamily="50" charset="-127"/>
              </a:rPr>
              <a:t>Acceptable images for importing into the Input area of the Beam are the three approved graphics (lines), and black and white photography or illustrations which follow the principles laid out on </a:t>
            </a:r>
            <a:r>
              <a:rPr lang="en-GB" altLang="ko-KR" sz="1000" i="1">
                <a:ea typeface="굴림" pitchFamily="50" charset="-127"/>
              </a:rPr>
              <a:t>The Branding Zone. </a:t>
            </a:r>
            <a:r>
              <a:rPr lang="en-GB" altLang="ko-KR" sz="1000">
                <a:ea typeface="굴림" pitchFamily="50" charset="-127"/>
              </a:rPr>
              <a:t>Color images should never be imported into this area.</a:t>
            </a:r>
          </a:p>
          <a:p>
            <a:pPr eaLnBrk="1" hangingPunct="1">
              <a:lnSpc>
                <a:spcPct val="90000"/>
              </a:lnSpc>
            </a:pPr>
            <a:r>
              <a:rPr lang="en-GB" altLang="ko-KR" sz="1000">
                <a:ea typeface="굴림" pitchFamily="50" charset="-127"/>
              </a:rPr>
              <a:t>To create a thank you slide with a picture in the Input area of the Beam, duplicate this master slide and create a new master slide. If using the graphic on the title slide the same should be used on the thank you slide. If using a picture in the Input area of the Beam in the title slide, the same or different but related picture can be used on the thank you slide. </a:t>
            </a:r>
          </a:p>
          <a:p>
            <a:pPr eaLnBrk="1" hangingPunct="1">
              <a:lnSpc>
                <a:spcPct val="90000"/>
              </a:lnSpc>
            </a:pPr>
            <a:r>
              <a:rPr lang="en-GB" altLang="ko-KR" sz="1000">
                <a:ea typeface="굴림" pitchFamily="50" charset="-127"/>
              </a:rPr>
              <a:t>Customize the Input area of the Beam as described below. </a:t>
            </a:r>
          </a:p>
          <a:p>
            <a:pPr lvl="1" eaLnBrk="1" hangingPunct="1">
              <a:lnSpc>
                <a:spcPct val="90000"/>
              </a:lnSpc>
            </a:pPr>
            <a:r>
              <a:rPr lang="en-GB" altLang="ko-KR" sz="1000">
                <a:ea typeface="굴림" pitchFamily="50" charset="-127"/>
              </a:rPr>
              <a:t>Click on the </a:t>
            </a:r>
            <a:r>
              <a:rPr lang="en-GB" altLang="ko-KR" sz="1000" b="1">
                <a:ea typeface="굴림" pitchFamily="50" charset="-127"/>
              </a:rPr>
              <a:t>View</a:t>
            </a:r>
            <a:r>
              <a:rPr lang="en-GB" altLang="ko-KR" sz="1000">
                <a:ea typeface="굴림" pitchFamily="50" charset="-127"/>
              </a:rPr>
              <a:t> tab from the menu bar and select </a:t>
            </a:r>
            <a:r>
              <a:rPr lang="en-GB" altLang="ko-KR" sz="1000" b="1">
                <a:ea typeface="굴림" pitchFamily="50" charset="-127"/>
              </a:rPr>
              <a:t>Master&gt;Slide Master</a:t>
            </a:r>
          </a:p>
          <a:p>
            <a:pPr lvl="1" eaLnBrk="1" hangingPunct="1">
              <a:lnSpc>
                <a:spcPct val="90000"/>
              </a:lnSpc>
            </a:pPr>
            <a:r>
              <a:rPr lang="en-GB" altLang="ko-KR" sz="1000">
                <a:ea typeface="굴림" pitchFamily="50" charset="-127"/>
              </a:rPr>
              <a:t>Right-click on the Input graphic and select </a:t>
            </a:r>
            <a:r>
              <a:rPr lang="en-GB" altLang="ko-KR" sz="1000" b="1">
                <a:ea typeface="굴림" pitchFamily="50" charset="-127"/>
              </a:rPr>
              <a:t>Format AutoShape</a:t>
            </a:r>
          </a:p>
          <a:p>
            <a:pPr lvl="1" eaLnBrk="1" hangingPunct="1">
              <a:lnSpc>
                <a:spcPct val="90000"/>
              </a:lnSpc>
            </a:pPr>
            <a:r>
              <a:rPr lang="en-GB" altLang="ko-KR" sz="1000">
                <a:ea typeface="굴림" pitchFamily="50" charset="-127"/>
              </a:rPr>
              <a:t>From the </a:t>
            </a:r>
            <a:r>
              <a:rPr lang="en-GB" altLang="ko-KR" sz="1000" b="1">
                <a:ea typeface="굴림" pitchFamily="50" charset="-127"/>
              </a:rPr>
              <a:t>Fill</a:t>
            </a:r>
            <a:r>
              <a:rPr lang="en-GB" altLang="ko-KR" sz="1000">
                <a:ea typeface="굴림" pitchFamily="50" charset="-127"/>
              </a:rPr>
              <a:t> menu, under the </a:t>
            </a:r>
            <a:r>
              <a:rPr lang="en-GB" altLang="ko-KR" sz="1000" b="1">
                <a:ea typeface="굴림" pitchFamily="50" charset="-127"/>
              </a:rPr>
              <a:t>Color and Lines</a:t>
            </a:r>
            <a:r>
              <a:rPr lang="en-GB" altLang="ko-KR" sz="1000">
                <a:ea typeface="굴림" pitchFamily="50" charset="-127"/>
              </a:rPr>
              <a:t> tab, click on the drop-down arrow next to </a:t>
            </a:r>
            <a:r>
              <a:rPr lang="en-GB" altLang="ko-KR" sz="1000" b="1">
                <a:ea typeface="굴림" pitchFamily="50" charset="-127"/>
              </a:rPr>
              <a:t>Color</a:t>
            </a:r>
            <a:r>
              <a:rPr lang="en-GB" altLang="ko-KR" sz="1000">
                <a:ea typeface="굴림" pitchFamily="50" charset="-127"/>
              </a:rPr>
              <a:t> and select the </a:t>
            </a:r>
            <a:r>
              <a:rPr lang="en-GB" altLang="ko-KR" sz="1000" b="1">
                <a:ea typeface="굴림" pitchFamily="50" charset="-127"/>
              </a:rPr>
              <a:t>Fill Effects</a:t>
            </a:r>
            <a:r>
              <a:rPr lang="en-GB" altLang="ko-KR" sz="1000">
                <a:ea typeface="굴림" pitchFamily="50" charset="-127"/>
              </a:rPr>
              <a:t> menu</a:t>
            </a:r>
          </a:p>
          <a:p>
            <a:pPr lvl="1" eaLnBrk="1" hangingPunct="1">
              <a:lnSpc>
                <a:spcPct val="90000"/>
              </a:lnSpc>
            </a:pPr>
            <a:r>
              <a:rPr lang="en-GB" altLang="ko-KR" sz="1000">
                <a:ea typeface="굴림" pitchFamily="50" charset="-127"/>
              </a:rPr>
              <a:t>From the </a:t>
            </a:r>
            <a:r>
              <a:rPr lang="en-GB" altLang="ko-KR" sz="1000" b="1">
                <a:ea typeface="굴림" pitchFamily="50" charset="-127"/>
              </a:rPr>
              <a:t>Picture</a:t>
            </a:r>
            <a:r>
              <a:rPr lang="en-GB" altLang="ko-KR" sz="1000">
                <a:ea typeface="굴림" pitchFamily="50" charset="-127"/>
              </a:rPr>
              <a:t> tab, click on </a:t>
            </a:r>
            <a:r>
              <a:rPr lang="en-GB" altLang="ko-KR" sz="1000" b="1">
                <a:ea typeface="굴림" pitchFamily="50" charset="-127"/>
              </a:rPr>
              <a:t>Select Picture</a:t>
            </a:r>
            <a:r>
              <a:rPr lang="en-GB" altLang="ko-KR" sz="1000">
                <a:ea typeface="굴림" pitchFamily="50" charset="-127"/>
              </a:rPr>
              <a:t>. Navigate to the folder containing the image you wish to insert in the Input area. Highlight the image and tick the </a:t>
            </a:r>
            <a:r>
              <a:rPr lang="en-GB" altLang="ko-KR" sz="1000" b="1">
                <a:ea typeface="굴림" pitchFamily="50" charset="-127"/>
              </a:rPr>
              <a:t>Lock picture aspect ratio</a:t>
            </a:r>
            <a:r>
              <a:rPr lang="en-GB" altLang="ko-KR" sz="1000">
                <a:ea typeface="굴림" pitchFamily="50" charset="-127"/>
              </a:rPr>
              <a:t> box. Click on </a:t>
            </a:r>
            <a:r>
              <a:rPr lang="en-GB" altLang="ko-KR" sz="1000" b="1">
                <a:ea typeface="굴림" pitchFamily="50" charset="-127"/>
              </a:rPr>
              <a:t>OK</a:t>
            </a:r>
            <a:r>
              <a:rPr lang="en-GB" altLang="ko-KR" sz="1000">
                <a:ea typeface="굴림" pitchFamily="50" charset="-127"/>
              </a:rPr>
              <a:t>.</a:t>
            </a:r>
          </a:p>
          <a:p>
            <a:pPr lvl="1" eaLnBrk="1" hangingPunct="1">
              <a:lnSpc>
                <a:spcPct val="90000"/>
              </a:lnSpc>
            </a:pPr>
            <a:r>
              <a:rPr lang="en-GB" altLang="ko-KR" sz="1000">
                <a:ea typeface="굴림" pitchFamily="50" charset="-127"/>
              </a:rPr>
              <a:t>You can now preview the image before continuing. If you are happy with how it looks, click </a:t>
            </a:r>
            <a:r>
              <a:rPr lang="en-GB" altLang="ko-KR" sz="1000" b="1">
                <a:ea typeface="굴림" pitchFamily="50" charset="-127"/>
              </a:rPr>
              <a:t>Ok</a:t>
            </a:r>
            <a:r>
              <a:rPr lang="en-GB" altLang="ko-KR" sz="1000">
                <a:ea typeface="굴림" pitchFamily="50" charset="-127"/>
              </a:rPr>
              <a:t> to continue. Otherwise, repeat the process until you are happy with your selected image</a:t>
            </a:r>
          </a:p>
          <a:p>
            <a:pPr lvl="1" eaLnBrk="1" hangingPunct="1">
              <a:lnSpc>
                <a:spcPct val="90000"/>
              </a:lnSpc>
            </a:pPr>
            <a:r>
              <a:rPr lang="en-GB" altLang="ko-KR" sz="1000">
                <a:ea typeface="굴림" pitchFamily="50" charset="-127"/>
              </a:rPr>
              <a:t>To exit from </a:t>
            </a:r>
            <a:r>
              <a:rPr lang="en-GB" altLang="ko-KR" sz="1000" b="1">
                <a:ea typeface="굴림" pitchFamily="50" charset="-127"/>
              </a:rPr>
              <a:t>Master View</a:t>
            </a:r>
            <a:r>
              <a:rPr lang="en-GB" altLang="ko-KR" sz="1000">
                <a:ea typeface="굴림" pitchFamily="50" charset="-127"/>
              </a:rPr>
              <a:t>, click on </a:t>
            </a:r>
            <a:r>
              <a:rPr lang="en-GB" altLang="ko-KR" sz="1000" b="1">
                <a:ea typeface="굴림" pitchFamily="50" charset="-127"/>
              </a:rPr>
              <a:t>View&gt;Normal</a:t>
            </a:r>
            <a:r>
              <a:rPr lang="en-GB" altLang="ko-KR" sz="1000">
                <a:ea typeface="굴림" pitchFamily="50" charset="-127"/>
              </a:rPr>
              <a:t>. The change you made to the Input graphic should now be visible on the title slide</a:t>
            </a:r>
            <a:endParaRPr lang="en-US" altLang="ko-KR" sz="1000">
              <a:ea typeface="굴림" pitchFamily="50" charset="-127"/>
            </a:endParaRPr>
          </a:p>
        </p:txBody>
      </p:sp>
    </p:spTree>
    <p:extLst>
      <p:ext uri="{BB962C8B-B14F-4D97-AF65-F5344CB8AC3E}">
        <p14:creationId xmlns:p14="http://schemas.microsoft.com/office/powerpoint/2010/main" val="8793667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2" descr="C:\Documents and Settings\김영로\My Documents\가져갈 파일\파워포인트 양식\139\06.jpg"/>
          <p:cNvPicPr>
            <a:picLocks noChangeAspect="1" noChangeArrowheads="1"/>
          </p:cNvPicPr>
          <p:nvPr userDrawn="1"/>
        </p:nvPicPr>
        <p:blipFill>
          <a:blip r:embed="rId2" cstate="print"/>
          <a:srcRect/>
          <a:stretch>
            <a:fillRect/>
          </a:stretch>
        </p:blipFill>
        <p:spPr bwMode="auto">
          <a:xfrm>
            <a:off x="-1" y="2365219"/>
            <a:ext cx="9731017" cy="4501950"/>
          </a:xfrm>
          <a:prstGeom prst="rect">
            <a:avLst/>
          </a:prstGeom>
          <a:noFill/>
        </p:spPr>
      </p:pic>
      <p:sp>
        <p:nvSpPr>
          <p:cNvPr id="6" name="직사각형 5"/>
          <p:cNvSpPr/>
          <p:nvPr userDrawn="1"/>
        </p:nvSpPr>
        <p:spPr>
          <a:xfrm>
            <a:off x="9731017" y="-4788"/>
            <a:ext cx="217538" cy="6865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1" hangingPunct="1"/>
            <a:endParaRPr lang="ko-KR" altLang="en-US" sz="1200" b="1" kern="1200">
              <a:solidFill>
                <a:schemeClr val="lt1"/>
              </a:solidFill>
              <a:latin typeface="Helvetica" pitchFamily="2" charset="0"/>
              <a:ea typeface="+mn-ea"/>
              <a:cs typeface="+mn-cs"/>
            </a:endParaRPr>
          </a:p>
        </p:txBody>
      </p:sp>
      <p:pic>
        <p:nvPicPr>
          <p:cNvPr id="7" name="그림 1" descr="1113396_83515382.jpg"/>
          <p:cNvPicPr>
            <a:picLocks noChangeAspect="1"/>
          </p:cNvPicPr>
          <p:nvPr userDrawn="1"/>
        </p:nvPicPr>
        <p:blipFill>
          <a:blip r:embed="rId3" cstate="print"/>
          <a:srcRect/>
          <a:stretch>
            <a:fillRect/>
          </a:stretch>
        </p:blipFill>
        <p:spPr bwMode="auto">
          <a:xfrm flipH="1">
            <a:off x="0" y="0"/>
            <a:ext cx="4572000" cy="3154363"/>
          </a:xfrm>
          <a:prstGeom prst="rect">
            <a:avLst/>
          </a:prstGeom>
          <a:noFill/>
          <a:ln w="9525">
            <a:noFill/>
            <a:miter lim="800000"/>
            <a:headEnd/>
            <a:tailEnd/>
          </a:ln>
        </p:spPr>
      </p:pic>
      <p:sp>
        <p:nvSpPr>
          <p:cNvPr id="3074" name="Rectangle 2"/>
          <p:cNvSpPr>
            <a:spLocks noGrp="1" noChangeArrowheads="1"/>
          </p:cNvSpPr>
          <p:nvPr>
            <p:ph type="ctrTitle"/>
          </p:nvPr>
        </p:nvSpPr>
        <p:spPr>
          <a:xfrm>
            <a:off x="2091883" y="3427812"/>
            <a:ext cx="5772723" cy="460832"/>
          </a:xfrm>
          <a:prstGeom prst="rect">
            <a:avLst/>
          </a:prstGeom>
        </p:spPr>
        <p:txBody>
          <a:bodyPr wrap="none" lIns="91434" tIns="0" rIns="91434" bIns="45718">
            <a:spAutoFit/>
          </a:bodyPr>
          <a:lstStyle>
            <a:lvl1pPr>
              <a:defRPr sz="3200" baseline="0">
                <a:latin typeface="나눔고딕 ExtraBold" pitchFamily="50" charset="-127"/>
                <a:ea typeface="나눔고딕 ExtraBold" pitchFamily="50" charset="-127"/>
              </a:defRPr>
            </a:lvl1pPr>
          </a:lstStyle>
          <a:p>
            <a:r>
              <a:rPr lang="en-US" altLang="ko-KR" dirty="0" smtClean="0"/>
              <a:t>Click to edit Master title style</a:t>
            </a:r>
            <a:endParaRPr lang="en-US" altLang="ko-KR" dirty="0"/>
          </a:p>
        </p:txBody>
      </p:sp>
      <p:sp>
        <p:nvSpPr>
          <p:cNvPr id="3075" name="Rectangle 3"/>
          <p:cNvSpPr>
            <a:spLocks noGrp="1" noChangeArrowheads="1"/>
          </p:cNvSpPr>
          <p:nvPr>
            <p:ph type="subTitle" idx="1"/>
          </p:nvPr>
        </p:nvSpPr>
        <p:spPr>
          <a:xfrm>
            <a:off x="5738393" y="4437112"/>
            <a:ext cx="3751682" cy="328469"/>
          </a:xfrm>
          <a:prstGeom prst="rect">
            <a:avLst/>
          </a:prstGeom>
        </p:spPr>
        <p:txBody>
          <a:bodyPr>
            <a:spAutoFit/>
          </a:bodyPr>
          <a:lstStyle>
            <a:lvl1pPr marL="0" indent="0" algn="r">
              <a:lnSpc>
                <a:spcPct val="85000"/>
              </a:lnSpc>
              <a:buFont typeface="Arial" charset="0"/>
              <a:buNone/>
              <a:defRPr sz="1800" baseline="0">
                <a:latin typeface="나눔고딕" pitchFamily="50" charset="-127"/>
                <a:ea typeface="나눔고딕" pitchFamily="50" charset="-127"/>
              </a:defRPr>
            </a:lvl1pPr>
          </a:lstStyle>
          <a:p>
            <a:r>
              <a:rPr lang="en-US" altLang="ko-KR" dirty="0" smtClean="0"/>
              <a:t>Click to edit Master subtitle style</a:t>
            </a:r>
            <a:endParaRPr lang="en-US" altLang="ko-KR" dirty="0"/>
          </a:p>
        </p:txBody>
      </p:sp>
    </p:spTree>
    <p:extLst>
      <p:ext uri="{BB962C8B-B14F-4D97-AF65-F5344CB8AC3E}">
        <p14:creationId xmlns:p14="http://schemas.microsoft.com/office/powerpoint/2010/main" val="244642144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72480" y="728700"/>
            <a:ext cx="9359900" cy="529372"/>
          </a:xfrm>
          <a:prstGeom prst="rect">
            <a:avLst/>
          </a:prstGeom>
        </p:spPr>
        <p:txBody>
          <a:bodyPr wrap="square">
            <a:spAutoFit/>
          </a:bodyPr>
          <a:lstStyle>
            <a:lvl1pPr marL="0" marR="0" indent="0" algn="l" defTabSz="914342" rtl="0" eaLnBrk="1" fontAlgn="base" latinLnBrk="0" hangingPunct="1">
              <a:lnSpc>
                <a:spcPct val="100000"/>
              </a:lnSpc>
              <a:spcBef>
                <a:spcPct val="20000"/>
              </a:spcBef>
              <a:spcAft>
                <a:spcPct val="0"/>
              </a:spcAft>
              <a:buClr>
                <a:srgbClr val="FFD200"/>
              </a:buClr>
              <a:buSzPct val="75000"/>
              <a:buFontTx/>
              <a:buNone/>
              <a:tabLst/>
              <a:defRPr sz="1400" b="0" baseline="0">
                <a:solidFill>
                  <a:schemeClr val="tx1">
                    <a:lumMod val="50000"/>
                  </a:schemeClr>
                </a:solidFill>
                <a:latin typeface="JBold" pitchFamily="18" charset="-127"/>
                <a:ea typeface="JBold" pitchFamily="18" charset="-127"/>
                <a:cs typeface="JBold" pitchFamily="18" charset="-127"/>
              </a:defRPr>
            </a:lvl1pPr>
            <a:lvl2pPr marL="268271" indent="-215887" latinLnBrk="0">
              <a:buClr>
                <a:schemeClr val="accent1">
                  <a:lumMod val="75000"/>
                </a:schemeClr>
              </a:buClr>
              <a:buFont typeface="Wingdings" pitchFamily="2" charset="2"/>
              <a:buChar char="§"/>
              <a:defRPr sz="1200" baseline="0">
                <a:solidFill>
                  <a:schemeClr val="tx1">
                    <a:lumMod val="50000"/>
                  </a:schemeClr>
                </a:solidFill>
                <a:latin typeface="+mn-ea"/>
                <a:ea typeface="+mn-ea"/>
                <a:cs typeface="JBold" pitchFamily="18" charset="-127"/>
              </a:defRPr>
            </a:lvl2pPr>
            <a:lvl3pPr marL="539966" indent="-215986" latinLnBrk="0">
              <a:defRPr sz="1400" b="1" baseline="0">
                <a:solidFill>
                  <a:schemeClr val="tx1">
                    <a:lumMod val="50000"/>
                  </a:schemeClr>
                </a:solidFill>
                <a:latin typeface="맑은 고딕" pitchFamily="50" charset="-127"/>
                <a:ea typeface="맑은 고딕" pitchFamily="50" charset="-127"/>
              </a:defRPr>
            </a:lvl3pPr>
            <a:lvl4pPr marL="809949" indent="-215986" latinLnBrk="0">
              <a:defRPr sz="1400" baseline="0">
                <a:solidFill>
                  <a:schemeClr val="tx1">
                    <a:lumMod val="50000"/>
                  </a:schemeClr>
                </a:solidFill>
                <a:latin typeface="맑은 고딕" pitchFamily="50" charset="-127"/>
                <a:ea typeface="맑은 고딕" pitchFamily="50" charset="-127"/>
              </a:defRPr>
            </a:lvl4pPr>
            <a:lvl5pPr marL="1079932" indent="-215986" latinLnBrk="0">
              <a:defRPr sz="1200" b="1" baseline="0">
                <a:solidFill>
                  <a:schemeClr val="tx1">
                    <a:lumMod val="50000"/>
                  </a:schemeClr>
                </a:solidFill>
                <a:latin typeface="맑은 고딕" pitchFamily="50" charset="-127"/>
                <a:ea typeface="맑은 고딕" pitchFamily="50" charset="-127"/>
              </a:defRPr>
            </a:lvl5pPr>
          </a:lstStyle>
          <a:p>
            <a:pPr lvl="0"/>
            <a:r>
              <a:rPr lang="en-US" altLang="ko-KR" dirty="0" smtClean="0"/>
              <a:t>Click to edit Master text styles</a:t>
            </a:r>
          </a:p>
          <a:p>
            <a:pPr lvl="1"/>
            <a:r>
              <a:rPr lang="en-US" altLang="ko-KR" dirty="0" smtClean="0"/>
              <a:t>Second level</a:t>
            </a:r>
          </a:p>
        </p:txBody>
      </p:sp>
      <p:sp>
        <p:nvSpPr>
          <p:cNvPr id="4" name="Title 3"/>
          <p:cNvSpPr>
            <a:spLocks noGrp="1"/>
          </p:cNvSpPr>
          <p:nvPr>
            <p:ph type="title"/>
          </p:nvPr>
        </p:nvSpPr>
        <p:spPr>
          <a:xfrm>
            <a:off x="273050" y="278650"/>
            <a:ext cx="6768000" cy="334313"/>
          </a:xfrm>
          <a:prstGeom prst="rect">
            <a:avLst/>
          </a:prstGeom>
        </p:spPr>
        <p:txBody>
          <a:bodyPr wrap="square" lIns="39597" tIns="35997" rIns="39597" bIns="35997">
            <a:noAutofit/>
          </a:bodyPr>
          <a:lstStyle>
            <a:lvl1pPr>
              <a:defRPr sz="1800" baseline="0">
                <a:solidFill>
                  <a:schemeClr val="accent1">
                    <a:lumMod val="50000"/>
                  </a:schemeClr>
                </a:solidFill>
                <a:latin typeface="JBold" pitchFamily="18" charset="-127"/>
                <a:ea typeface="JBold" pitchFamily="18" charset="-127"/>
                <a:cs typeface="JBold" pitchFamily="18" charset="-127"/>
              </a:defRPr>
            </a:lvl1pPr>
          </a:lstStyle>
          <a:p>
            <a:r>
              <a:rPr lang="en-US" altLang="ko-KR" dirty="0" smtClean="0"/>
              <a:t>Click to edit Master title style</a:t>
            </a:r>
            <a:endParaRPr lang="ko-KR" altLang="en-US" dirty="0"/>
          </a:p>
        </p:txBody>
      </p:sp>
      <p:sp>
        <p:nvSpPr>
          <p:cNvPr id="5" name="Content Placeholder 17"/>
          <p:cNvSpPr>
            <a:spLocks noGrp="1"/>
          </p:cNvSpPr>
          <p:nvPr>
            <p:ph sz="quarter" idx="12" hasCustomPrompt="1"/>
          </p:nvPr>
        </p:nvSpPr>
        <p:spPr>
          <a:xfrm>
            <a:off x="6285638" y="105389"/>
            <a:ext cx="3437892" cy="432061"/>
          </a:xfrm>
          <a:prstGeom prst="rect">
            <a:avLst/>
          </a:prstGeom>
        </p:spPr>
        <p:txBody>
          <a:bodyPr/>
          <a:lstStyle>
            <a:lvl1pPr marL="0" indent="0" algn="r" rtl="0" fontAlgn="base">
              <a:spcBef>
                <a:spcPts val="100"/>
              </a:spcBef>
              <a:spcAft>
                <a:spcPts val="100"/>
              </a:spcAft>
              <a:buClr>
                <a:srgbClr val="FFD200"/>
              </a:buClr>
              <a:buSzPct val="75000"/>
              <a:buNone/>
              <a:defRPr lang="en-US" altLang="ko-KR" sz="1000" b="0" kern="0" baseline="0" dirty="0" smtClean="0">
                <a:solidFill>
                  <a:schemeClr val="accent1">
                    <a:lumMod val="75000"/>
                  </a:schemeClr>
                </a:solidFill>
                <a:latin typeface="JBold" pitchFamily="18" charset="-127"/>
                <a:ea typeface="JBold" pitchFamily="18" charset="-127"/>
                <a:cs typeface="JBold" pitchFamily="18" charset="-127"/>
              </a:defRPr>
            </a:lvl1pPr>
            <a:lvl2pPr marL="0" indent="0" algn="r" rtl="0" fontAlgn="base">
              <a:spcBef>
                <a:spcPts val="0"/>
              </a:spcBef>
              <a:spcAft>
                <a:spcPct val="0"/>
              </a:spcAft>
              <a:buClr>
                <a:srgbClr val="FFD200"/>
              </a:buClr>
              <a:buSzPct val="75000"/>
              <a:buNone/>
              <a:defRPr lang="en-US" altLang="ko-KR" sz="1000" kern="0" dirty="0" smtClean="0">
                <a:solidFill>
                  <a:schemeClr val="tx1">
                    <a:lumMod val="50000"/>
                  </a:schemeClr>
                </a:solidFill>
                <a:latin typeface="+mn-ea"/>
                <a:ea typeface="+mn-ea"/>
                <a:cs typeface="+mn-cs"/>
              </a:defRPr>
            </a:lvl2pPr>
            <a:lvl3pPr marL="0" indent="0" algn="r" rtl="0" fontAlgn="base">
              <a:spcBef>
                <a:spcPts val="0"/>
              </a:spcBef>
              <a:spcAft>
                <a:spcPct val="0"/>
              </a:spcAft>
              <a:buClr>
                <a:srgbClr val="FFD200"/>
              </a:buClr>
              <a:buSzPct val="75000"/>
              <a:buNone/>
              <a:defRPr lang="en-US" altLang="ko-KR" sz="1000" kern="0" dirty="0" smtClean="0">
                <a:solidFill>
                  <a:schemeClr val="tx1">
                    <a:lumMod val="50000"/>
                  </a:schemeClr>
                </a:solidFill>
                <a:latin typeface="+mn-ea"/>
                <a:ea typeface="+mn-ea"/>
                <a:cs typeface="+mn-cs"/>
              </a:defRPr>
            </a:lvl3pPr>
            <a:lvl4pPr marL="0" indent="0" algn="r" rtl="0" fontAlgn="base">
              <a:spcBef>
                <a:spcPts val="0"/>
              </a:spcBef>
              <a:spcAft>
                <a:spcPct val="0"/>
              </a:spcAft>
              <a:buClr>
                <a:srgbClr val="FFD200"/>
              </a:buClr>
              <a:buSzPct val="75000"/>
              <a:buNone/>
              <a:defRPr lang="en-US" altLang="ko-KR" sz="1000" kern="0" dirty="0" smtClean="0">
                <a:solidFill>
                  <a:schemeClr val="tx1">
                    <a:lumMod val="50000"/>
                  </a:schemeClr>
                </a:solidFill>
                <a:latin typeface="+mn-ea"/>
                <a:ea typeface="+mn-ea"/>
                <a:cs typeface="+mn-cs"/>
              </a:defRPr>
            </a:lvl4pPr>
            <a:lvl5pPr marL="0" indent="0" algn="r" rtl="0" fontAlgn="base">
              <a:spcBef>
                <a:spcPts val="0"/>
              </a:spcBef>
              <a:spcAft>
                <a:spcPct val="0"/>
              </a:spcAft>
              <a:buClr>
                <a:srgbClr val="FFD200"/>
              </a:buClr>
              <a:buSzPct val="75000"/>
              <a:buNone/>
              <a:defRPr lang="ko-KR" altLang="en-US" sz="1000" kern="0" dirty="0">
                <a:solidFill>
                  <a:schemeClr val="tx1">
                    <a:lumMod val="50000"/>
                  </a:schemeClr>
                </a:solidFill>
                <a:latin typeface="+mn-ea"/>
                <a:ea typeface="+mn-ea"/>
                <a:cs typeface="+mn-cs"/>
              </a:defRPr>
            </a:lvl5pPr>
          </a:lstStyle>
          <a:p>
            <a:pPr lvl="0"/>
            <a:r>
              <a:rPr lang="en-US" altLang="ko-KR" dirty="0" smtClean="0"/>
              <a:t>Lev.2 Lev.3 Lev.4 Title</a:t>
            </a:r>
            <a:endParaRPr lang="ko-KR" altLang="en-US" dirty="0"/>
          </a:p>
        </p:txBody>
      </p:sp>
    </p:spTree>
    <p:extLst>
      <p:ext uri="{BB962C8B-B14F-4D97-AF65-F5344CB8AC3E}">
        <p14:creationId xmlns:p14="http://schemas.microsoft.com/office/powerpoint/2010/main" val="298505642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431879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ags" Target="../tags/tag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35" name="Line 11"/>
          <p:cNvSpPr>
            <a:spLocks noChangeShapeType="1"/>
          </p:cNvSpPr>
          <p:nvPr/>
        </p:nvSpPr>
        <p:spPr bwMode="auto">
          <a:xfrm>
            <a:off x="273050" y="6578600"/>
            <a:ext cx="9359900" cy="0"/>
          </a:xfrm>
          <a:prstGeom prst="line">
            <a:avLst/>
          </a:prstGeom>
          <a:noFill/>
          <a:ln w="3175">
            <a:solidFill>
              <a:schemeClr val="accent1">
                <a:lumMod val="75000"/>
              </a:schemeClr>
            </a:solidFill>
            <a:round/>
            <a:headEnd/>
            <a:tailEnd/>
          </a:ln>
          <a:effectLst/>
        </p:spPr>
        <p:txBody>
          <a:bodyPr wrap="none" lIns="91434" tIns="45718" rIns="91434" bIns="45718" anchor="ctr"/>
          <a:lstStyle/>
          <a:p>
            <a:pPr latinLnBrk="0">
              <a:lnSpc>
                <a:spcPct val="90000"/>
              </a:lnSpc>
              <a:buClr>
                <a:srgbClr val="7D0900"/>
              </a:buClr>
              <a:defRPr/>
            </a:pPr>
            <a:endParaRPr kumimoji="0" lang="ko-KR" altLang="en-US" dirty="0">
              <a:solidFill>
                <a:srgbClr val="646464"/>
              </a:solidFill>
              <a:latin typeface="나눔고딕" pitchFamily="50" charset="-127"/>
              <a:ea typeface="나눔고딕" pitchFamily="50" charset="-127"/>
            </a:endParaRPr>
          </a:p>
        </p:txBody>
      </p:sp>
      <p:sp>
        <p:nvSpPr>
          <p:cNvPr id="1027" name="TextBox 19"/>
          <p:cNvSpPr txBox="1">
            <a:spLocks noChangeArrowheads="1"/>
          </p:cNvSpPr>
          <p:nvPr userDrawn="1"/>
        </p:nvSpPr>
        <p:spPr bwMode="auto">
          <a:xfrm>
            <a:off x="4991100" y="6613525"/>
            <a:ext cx="3556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4" tIns="45718" rIns="91434" bIns="45718"/>
          <a:lstStyle>
            <a:lvl1pPr eaLnBrk="0" hangingPunct="0">
              <a:defRPr kumimoji="1">
                <a:solidFill>
                  <a:schemeClr val="tx1"/>
                </a:solidFill>
                <a:latin typeface="Arial" charset="0"/>
                <a:ea typeface="굴림" pitchFamily="50" charset="-127"/>
              </a:defRPr>
            </a:lvl1pPr>
            <a:lvl2pPr marL="742950" indent="-285750" eaLnBrk="0" hangingPunct="0">
              <a:defRPr kumimoji="1">
                <a:solidFill>
                  <a:schemeClr val="tx1"/>
                </a:solidFill>
                <a:latin typeface="Arial" charset="0"/>
                <a:ea typeface="굴림" pitchFamily="50" charset="-127"/>
              </a:defRPr>
            </a:lvl2pPr>
            <a:lvl3pPr marL="1143000" indent="-228600" eaLnBrk="0" hangingPunct="0">
              <a:defRPr kumimoji="1">
                <a:solidFill>
                  <a:schemeClr val="tx1"/>
                </a:solidFill>
                <a:latin typeface="Arial" charset="0"/>
                <a:ea typeface="굴림" pitchFamily="50" charset="-127"/>
              </a:defRPr>
            </a:lvl3pPr>
            <a:lvl4pPr marL="1600200" indent="-228600" eaLnBrk="0" hangingPunct="0">
              <a:defRPr kumimoji="1">
                <a:solidFill>
                  <a:schemeClr val="tx1"/>
                </a:solidFill>
                <a:latin typeface="Arial" charset="0"/>
                <a:ea typeface="굴림" pitchFamily="50" charset="-127"/>
              </a:defRPr>
            </a:lvl4pPr>
            <a:lvl5pPr marL="2057400" indent="-228600" eaLnBrk="0" hangingPunct="0">
              <a:defRPr kumimoji="1">
                <a:solidFill>
                  <a:schemeClr val="tx1"/>
                </a:solidFill>
                <a:latin typeface="Arial" charset="0"/>
                <a:ea typeface="굴림" pitchFamily="50" charset="-127"/>
              </a:defRPr>
            </a:lvl5pPr>
            <a:lvl6pPr marL="2514600" indent="-228600" eaLnBrk="0" fontAlgn="base" hangingPunct="0">
              <a:spcBef>
                <a:spcPct val="0"/>
              </a:spcBef>
              <a:spcAft>
                <a:spcPct val="0"/>
              </a:spcAft>
              <a:defRPr kumimoji="1">
                <a:solidFill>
                  <a:schemeClr val="tx1"/>
                </a:solidFill>
                <a:latin typeface="Arial" charset="0"/>
                <a:ea typeface="굴림" pitchFamily="50" charset="-127"/>
              </a:defRPr>
            </a:lvl6pPr>
            <a:lvl7pPr marL="2971800" indent="-228600" eaLnBrk="0" fontAlgn="base" hangingPunct="0">
              <a:spcBef>
                <a:spcPct val="0"/>
              </a:spcBef>
              <a:spcAft>
                <a:spcPct val="0"/>
              </a:spcAft>
              <a:defRPr kumimoji="1">
                <a:solidFill>
                  <a:schemeClr val="tx1"/>
                </a:solidFill>
                <a:latin typeface="Arial" charset="0"/>
                <a:ea typeface="굴림" pitchFamily="50" charset="-127"/>
              </a:defRPr>
            </a:lvl7pPr>
            <a:lvl8pPr marL="3429000" indent="-228600" eaLnBrk="0" fontAlgn="base" hangingPunct="0">
              <a:spcBef>
                <a:spcPct val="0"/>
              </a:spcBef>
              <a:spcAft>
                <a:spcPct val="0"/>
              </a:spcAft>
              <a:defRPr kumimoji="1">
                <a:solidFill>
                  <a:schemeClr val="tx1"/>
                </a:solidFill>
                <a:latin typeface="Arial" charset="0"/>
                <a:ea typeface="굴림" pitchFamily="50" charset="-127"/>
              </a:defRPr>
            </a:lvl8pPr>
            <a:lvl9pPr marL="3886200" indent="-228600" eaLnBrk="0" fontAlgn="base" hangingPunct="0">
              <a:spcBef>
                <a:spcPct val="0"/>
              </a:spcBef>
              <a:spcAft>
                <a:spcPct val="0"/>
              </a:spcAft>
              <a:defRPr kumimoji="1">
                <a:solidFill>
                  <a:schemeClr val="tx1"/>
                </a:solidFill>
                <a:latin typeface="Arial" charset="0"/>
                <a:ea typeface="굴림" pitchFamily="50" charset="-127"/>
              </a:defRPr>
            </a:lvl9pPr>
          </a:lstStyle>
          <a:p>
            <a:pPr algn="ctr" eaLnBrk="1" latinLnBrk="0" hangingPunct="1"/>
            <a:fld id="{C64E92E5-CD45-4384-8691-9106A4F9B511}" type="slidenum">
              <a:rPr kumimoji="0" lang="ko-KR" altLang="en-US" sz="1000">
                <a:solidFill>
                  <a:srgbClr val="646464"/>
                </a:solidFill>
                <a:latin typeface="JBold" pitchFamily="18" charset="-127"/>
                <a:ea typeface="JBold" pitchFamily="18" charset="-127"/>
                <a:cs typeface="JBold" pitchFamily="18" charset="-127"/>
              </a:rPr>
              <a:pPr algn="ctr" eaLnBrk="1" latinLnBrk="0" hangingPunct="1"/>
              <a:t>‹#›</a:t>
            </a:fld>
            <a:endParaRPr kumimoji="0" lang="en-US" altLang="ko-KR" sz="1000" dirty="0">
              <a:solidFill>
                <a:srgbClr val="646464"/>
              </a:solidFill>
              <a:latin typeface="JBold" pitchFamily="18" charset="-127"/>
              <a:ea typeface="JBold" pitchFamily="18" charset="-127"/>
              <a:cs typeface="JBold" pitchFamily="18" charset="-127"/>
            </a:endParaRPr>
          </a:p>
        </p:txBody>
      </p:sp>
      <p:sp>
        <p:nvSpPr>
          <p:cNvPr id="1028" name="AcnBodyText_ID_6"/>
          <p:cNvSpPr>
            <a:spLocks noGrp="1"/>
          </p:cNvSpPr>
          <p:nvPr>
            <p:ph type="body" idx="1"/>
            <p:custDataLst>
              <p:tags r:id="rId5"/>
            </p:custDataLst>
          </p:nvPr>
        </p:nvSpPr>
        <p:spPr bwMode="gray">
          <a:xfrm>
            <a:off x="179388" y="2200275"/>
            <a:ext cx="8780462"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34" tIns="45718" rIns="91434" bIns="45718" numCol="1" anchor="t" anchorCtr="0" compatLnSpc="1">
            <a:prstTxWarp prst="textNoShape">
              <a:avLst/>
            </a:prstTxWarp>
          </a:bodyPr>
          <a:lstStyle/>
          <a:p>
            <a:pPr lvl="0"/>
            <a:r>
              <a:rPr lang="en-US" altLang="ko-KR" dirty="0" smtClean="0"/>
              <a:t>Click to edit Master text styles</a:t>
            </a:r>
          </a:p>
          <a:p>
            <a:pPr lvl="1"/>
            <a:r>
              <a:rPr lang="en-US" altLang="ko-KR" dirty="0" smtClean="0"/>
              <a:t>Second level</a:t>
            </a:r>
          </a:p>
          <a:p>
            <a:pPr lvl="2"/>
            <a:r>
              <a:rPr lang="en-US" altLang="ko-KR" dirty="0" smtClean="0"/>
              <a:t>Third level</a:t>
            </a:r>
          </a:p>
          <a:p>
            <a:pPr lvl="3"/>
            <a:r>
              <a:rPr lang="en-US" altLang="ko-KR" dirty="0" smtClean="0"/>
              <a:t>Fourth level</a:t>
            </a:r>
          </a:p>
          <a:p>
            <a:pPr lvl="4"/>
            <a:r>
              <a:rPr lang="en-US" altLang="ko-KR" dirty="0" smtClean="0"/>
              <a:t>Fifth level</a:t>
            </a:r>
            <a:endParaRPr lang="ko-KR" altLang="en-US" dirty="0" smtClean="0"/>
          </a:p>
        </p:txBody>
      </p:sp>
      <p:cxnSp>
        <p:nvCxnSpPr>
          <p:cNvPr id="9" name="Straight Connector 11"/>
          <p:cNvCxnSpPr>
            <a:cxnSpLocks noChangeShapeType="1"/>
          </p:cNvCxnSpPr>
          <p:nvPr userDrawn="1"/>
        </p:nvCxnSpPr>
        <p:spPr bwMode="auto">
          <a:xfrm rot="16200000">
            <a:off x="9570535" y="325232"/>
            <a:ext cx="396000" cy="0"/>
          </a:xfrm>
          <a:prstGeom prst="line">
            <a:avLst/>
          </a:prstGeom>
          <a:noFill/>
          <a:ln w="57150" algn="ctr">
            <a:solidFill>
              <a:schemeClr val="accent1">
                <a:lumMod val="75000"/>
              </a:schemeClr>
            </a:solidFill>
            <a:round/>
            <a:headEnd/>
            <a:tailEnd/>
          </a:ln>
        </p:spPr>
      </p:cxnSp>
      <p:sp>
        <p:nvSpPr>
          <p:cNvPr id="10" name="Line 11"/>
          <p:cNvSpPr>
            <a:spLocks noChangeShapeType="1"/>
          </p:cNvSpPr>
          <p:nvPr userDrawn="1"/>
        </p:nvSpPr>
        <p:spPr bwMode="auto">
          <a:xfrm>
            <a:off x="227475" y="668186"/>
            <a:ext cx="9469986" cy="0"/>
          </a:xfrm>
          <a:prstGeom prst="line">
            <a:avLst/>
          </a:prstGeom>
          <a:noFill/>
          <a:ln w="28575">
            <a:solidFill>
              <a:schemeClr val="accent1">
                <a:lumMod val="75000"/>
              </a:schemeClr>
            </a:solidFill>
            <a:round/>
            <a:headEnd/>
            <a:tailEnd/>
          </a:ln>
          <a:effectLst/>
        </p:spPr>
        <p:txBody>
          <a:bodyPr wrap="none" lIns="91434" tIns="45718" rIns="91434" bIns="45718" anchor="ctr"/>
          <a:lstStyle/>
          <a:p>
            <a:pPr latinLnBrk="0">
              <a:lnSpc>
                <a:spcPct val="90000"/>
              </a:lnSpc>
              <a:buClr>
                <a:srgbClr val="7D0900"/>
              </a:buClr>
              <a:defRPr/>
            </a:pPr>
            <a:endParaRPr kumimoji="0" lang="ko-KR" altLang="en-US" dirty="0">
              <a:solidFill>
                <a:srgbClr val="646464"/>
              </a:solidFill>
              <a:latin typeface="나눔고딕" pitchFamily="50" charset="-127"/>
              <a:ea typeface="나눔고딕" pitchFamily="50" charset="-127"/>
            </a:endParaRPr>
          </a:p>
        </p:txBody>
      </p:sp>
    </p:spTree>
  </p:cSld>
  <p:clrMap bg1="lt1" tx1="dk1" bg2="lt2" tx2="dk2" accent1="accent1" accent2="accent2" accent3="accent3" accent4="accent4" accent5="accent5" accent6="accent6" hlink="hlink" folHlink="folHlink"/>
  <p:sldLayoutIdLst>
    <p:sldLayoutId id="2147484458" r:id="rId1"/>
    <p:sldLayoutId id="2147484456" r:id="rId2"/>
    <p:sldLayoutId id="2147484457" r:id="rId3"/>
  </p:sldLayoutIdLst>
  <p:timing>
    <p:tnLst>
      <p:par>
        <p:cTn id="1" dur="indefinite" restart="never" nodeType="tmRoot"/>
      </p:par>
    </p:tnLst>
  </p:timing>
  <p:txStyles>
    <p:titleStyle>
      <a:lvl1pPr algn="l" rtl="0" eaLnBrk="0" fontAlgn="base" latinLnBrk="1" hangingPunct="0">
        <a:lnSpc>
          <a:spcPct val="85000"/>
        </a:lnSpc>
        <a:spcBef>
          <a:spcPct val="0"/>
        </a:spcBef>
        <a:spcAft>
          <a:spcPct val="0"/>
        </a:spcAft>
        <a:defRPr sz="3000" b="1">
          <a:solidFill>
            <a:srgbClr val="646464"/>
          </a:solidFill>
          <a:latin typeface="+mj-lt"/>
          <a:ea typeface="+mj-ea"/>
          <a:cs typeface="+mj-cs"/>
        </a:defRPr>
      </a:lvl1pPr>
      <a:lvl2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2pPr>
      <a:lvl3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3pPr>
      <a:lvl4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4pPr>
      <a:lvl5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5pPr>
      <a:lvl6pPr marL="457171" algn="l" rtl="0" eaLnBrk="1" fontAlgn="base" latinLnBrk="1" hangingPunct="1">
        <a:lnSpc>
          <a:spcPct val="85000"/>
        </a:lnSpc>
        <a:spcBef>
          <a:spcPct val="0"/>
        </a:spcBef>
        <a:spcAft>
          <a:spcPct val="0"/>
        </a:spcAft>
        <a:defRPr sz="3000" b="1">
          <a:solidFill>
            <a:srgbClr val="646464"/>
          </a:solidFill>
          <a:latin typeface="Arial" charset="0"/>
        </a:defRPr>
      </a:lvl6pPr>
      <a:lvl7pPr marL="914342" algn="l" rtl="0" eaLnBrk="1" fontAlgn="base" latinLnBrk="1" hangingPunct="1">
        <a:lnSpc>
          <a:spcPct val="85000"/>
        </a:lnSpc>
        <a:spcBef>
          <a:spcPct val="0"/>
        </a:spcBef>
        <a:spcAft>
          <a:spcPct val="0"/>
        </a:spcAft>
        <a:defRPr sz="3000" b="1">
          <a:solidFill>
            <a:srgbClr val="646464"/>
          </a:solidFill>
          <a:latin typeface="Arial" charset="0"/>
        </a:defRPr>
      </a:lvl7pPr>
      <a:lvl8pPr marL="1371513" algn="l" rtl="0" eaLnBrk="1" fontAlgn="base" latinLnBrk="1" hangingPunct="1">
        <a:lnSpc>
          <a:spcPct val="85000"/>
        </a:lnSpc>
        <a:spcBef>
          <a:spcPct val="0"/>
        </a:spcBef>
        <a:spcAft>
          <a:spcPct val="0"/>
        </a:spcAft>
        <a:defRPr sz="3000" b="1">
          <a:solidFill>
            <a:srgbClr val="646464"/>
          </a:solidFill>
          <a:latin typeface="Arial" charset="0"/>
        </a:defRPr>
      </a:lvl8pPr>
      <a:lvl9pPr marL="1828684" algn="l" rtl="0" eaLnBrk="1" fontAlgn="base" latinLnBrk="1" hangingPunct="1">
        <a:lnSpc>
          <a:spcPct val="85000"/>
        </a:lnSpc>
        <a:spcBef>
          <a:spcPct val="0"/>
        </a:spcBef>
        <a:spcAft>
          <a:spcPct val="0"/>
        </a:spcAft>
        <a:defRPr sz="3000" b="1">
          <a:solidFill>
            <a:srgbClr val="646464"/>
          </a:solidFill>
          <a:latin typeface="Arial" charset="0"/>
        </a:defRPr>
      </a:lvl9pPr>
    </p:titleStyle>
    <p:bodyStyle>
      <a:lvl1pPr marL="358775" indent="-358775"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cs typeface="+mn-cs"/>
        </a:defRPr>
      </a:lvl1pPr>
      <a:lvl2pPr marL="715963" indent="-354013"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2pPr>
      <a:lvl3pPr marL="1079500" indent="-360363"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3pPr>
      <a:lvl4pPr marL="1439863" indent="-357188"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4pPr>
      <a:lvl5pPr marL="1798638" indent="-355600"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5pPr>
      <a:lvl6pPr marL="2257282"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6pPr>
      <a:lvl7pPr marL="2714453"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7pPr>
      <a:lvl8pPr marL="3171625"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8pPr>
      <a:lvl9pPr marL="3628796"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ko-KR"/>
      </a:defPPr>
      <a:lvl1pPr marL="0" algn="l" defTabSz="914342" rtl="0" eaLnBrk="1" latinLnBrk="1" hangingPunct="1">
        <a:defRPr sz="1800" kern="1200">
          <a:solidFill>
            <a:schemeClr val="tx1"/>
          </a:solidFill>
          <a:latin typeface="+mn-lt"/>
          <a:ea typeface="+mn-ea"/>
          <a:cs typeface="+mn-cs"/>
        </a:defRPr>
      </a:lvl1pPr>
      <a:lvl2pPr marL="457171" algn="l" defTabSz="914342" rtl="0" eaLnBrk="1" latinLnBrk="1" hangingPunct="1">
        <a:defRPr sz="1800" kern="1200">
          <a:solidFill>
            <a:schemeClr val="tx1"/>
          </a:solidFill>
          <a:latin typeface="+mn-lt"/>
          <a:ea typeface="+mn-ea"/>
          <a:cs typeface="+mn-cs"/>
        </a:defRPr>
      </a:lvl2pPr>
      <a:lvl3pPr marL="914342" algn="l" defTabSz="914342" rtl="0" eaLnBrk="1" latinLnBrk="1" hangingPunct="1">
        <a:defRPr sz="1800" kern="1200">
          <a:solidFill>
            <a:schemeClr val="tx1"/>
          </a:solidFill>
          <a:latin typeface="+mn-lt"/>
          <a:ea typeface="+mn-ea"/>
          <a:cs typeface="+mn-cs"/>
        </a:defRPr>
      </a:lvl3pPr>
      <a:lvl4pPr marL="1371513" algn="l" defTabSz="914342" rtl="0" eaLnBrk="1" latinLnBrk="1" hangingPunct="1">
        <a:defRPr sz="1800" kern="1200">
          <a:solidFill>
            <a:schemeClr val="tx1"/>
          </a:solidFill>
          <a:latin typeface="+mn-lt"/>
          <a:ea typeface="+mn-ea"/>
          <a:cs typeface="+mn-cs"/>
        </a:defRPr>
      </a:lvl4pPr>
      <a:lvl5pPr marL="1828684" algn="l" defTabSz="914342" rtl="0" eaLnBrk="1" latinLnBrk="1" hangingPunct="1">
        <a:defRPr sz="1800" kern="1200">
          <a:solidFill>
            <a:schemeClr val="tx1"/>
          </a:solidFill>
          <a:latin typeface="+mn-lt"/>
          <a:ea typeface="+mn-ea"/>
          <a:cs typeface="+mn-cs"/>
        </a:defRPr>
      </a:lvl5pPr>
      <a:lvl6pPr marL="2285855" algn="l" defTabSz="914342" rtl="0" eaLnBrk="1" latinLnBrk="1" hangingPunct="1">
        <a:defRPr sz="1800" kern="1200">
          <a:solidFill>
            <a:schemeClr val="tx1"/>
          </a:solidFill>
          <a:latin typeface="+mn-lt"/>
          <a:ea typeface="+mn-ea"/>
          <a:cs typeface="+mn-cs"/>
        </a:defRPr>
      </a:lvl6pPr>
      <a:lvl7pPr marL="2743026" algn="l" defTabSz="914342" rtl="0" eaLnBrk="1" latinLnBrk="1" hangingPunct="1">
        <a:defRPr sz="1800" kern="1200">
          <a:solidFill>
            <a:schemeClr val="tx1"/>
          </a:solidFill>
          <a:latin typeface="+mn-lt"/>
          <a:ea typeface="+mn-ea"/>
          <a:cs typeface="+mn-cs"/>
        </a:defRPr>
      </a:lvl7pPr>
      <a:lvl8pPr marL="3200198" algn="l" defTabSz="914342" rtl="0" eaLnBrk="1" latinLnBrk="1" hangingPunct="1">
        <a:defRPr sz="1800" kern="1200">
          <a:solidFill>
            <a:schemeClr val="tx1"/>
          </a:solidFill>
          <a:latin typeface="+mn-lt"/>
          <a:ea typeface="+mn-ea"/>
          <a:cs typeface="+mn-cs"/>
        </a:defRPr>
      </a:lvl8pPr>
      <a:lvl9pPr marL="3657369" algn="l" defTabSz="914342"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5261529" y="3338990"/>
            <a:ext cx="3877974" cy="464741"/>
          </a:xfrm>
        </p:spPr>
        <p:txBody>
          <a:bodyPr/>
          <a:lstStyle/>
          <a:p>
            <a:pPr algn="r"/>
            <a:r>
              <a:rPr lang="ko-KR" altLang="en-US" dirty="0" smtClean="0">
                <a:solidFill>
                  <a:schemeClr val="tx1"/>
                </a:solidFill>
                <a:latin typeface="+mn-ea"/>
                <a:ea typeface="+mn-ea"/>
                <a:cs typeface="JBold" pitchFamily="18" charset="-127"/>
              </a:rPr>
              <a:t>온라인정산프로세스</a:t>
            </a:r>
            <a:endParaRPr lang="ko-KR" altLang="en-US" dirty="0">
              <a:solidFill>
                <a:schemeClr val="tx1"/>
              </a:solidFill>
              <a:latin typeface="+mn-ea"/>
              <a:ea typeface="+mn-ea"/>
              <a:cs typeface="JBold" pitchFamily="18" charset="-127"/>
            </a:endParaRPr>
          </a:p>
        </p:txBody>
      </p:sp>
      <p:cxnSp>
        <p:nvCxnSpPr>
          <p:cNvPr id="10" name="직선 연결선 9"/>
          <p:cNvCxnSpPr/>
          <p:nvPr/>
        </p:nvCxnSpPr>
        <p:spPr bwMode="auto">
          <a:xfrm>
            <a:off x="0" y="3143248"/>
            <a:ext cx="9768535"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7" name="직사각형 6"/>
          <p:cNvSpPr/>
          <p:nvPr/>
        </p:nvSpPr>
        <p:spPr>
          <a:xfrm>
            <a:off x="6280945" y="3709971"/>
            <a:ext cx="2857520" cy="61912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tIns="0" bIns="180000" rtlCol="0" anchor="ctr" anchorCtr="0"/>
          <a:lstStyle/>
          <a:p>
            <a:pPr algn="r">
              <a:lnSpc>
                <a:spcPct val="200000"/>
              </a:lnSpc>
            </a:pPr>
            <a:r>
              <a:rPr lang="ko-KR" altLang="en-US" dirty="0" smtClean="0">
                <a:solidFill>
                  <a:schemeClr val="tx1"/>
                </a:solidFill>
                <a:latin typeface="+mn-ea"/>
                <a:cs typeface="JBold" pitchFamily="18" charset="-127"/>
              </a:rPr>
              <a:t>패션 시스템 </a:t>
            </a:r>
            <a:r>
              <a:rPr lang="en-US" altLang="ko-KR" dirty="0" smtClean="0">
                <a:solidFill>
                  <a:schemeClr val="tx1"/>
                </a:solidFill>
                <a:latin typeface="+mn-ea"/>
                <a:cs typeface="JBold" pitchFamily="18" charset="-127"/>
              </a:rPr>
              <a:t>INTERFACE</a:t>
            </a:r>
            <a:endParaRPr lang="ko-KR" altLang="en-US" dirty="0" smtClean="0">
              <a:solidFill>
                <a:schemeClr val="tx1"/>
              </a:solidFill>
              <a:latin typeface="+mn-ea"/>
              <a:cs typeface="JBold" pitchFamily="18" charset="-127"/>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직사각형 212"/>
          <p:cNvSpPr/>
          <p:nvPr/>
        </p:nvSpPr>
        <p:spPr>
          <a:xfrm>
            <a:off x="4976019" y="1358770"/>
            <a:ext cx="2159479" cy="1039891"/>
          </a:xfrm>
          <a:prstGeom prst="rect">
            <a:avLst/>
          </a:prstGeom>
          <a:solidFill>
            <a:schemeClr val="accent1">
              <a:lumMod val="20000"/>
              <a:lumOff val="8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1200" b="1" kern="0" dirty="0" smtClean="0">
              <a:solidFill>
                <a:schemeClr val="bg1"/>
              </a:solidFill>
              <a:latin typeface="맑은 고딕" pitchFamily="50" charset="-127"/>
              <a:ea typeface="맑은 고딕" pitchFamily="50" charset="-127"/>
            </a:endParaRPr>
          </a:p>
        </p:txBody>
      </p:sp>
      <p:sp>
        <p:nvSpPr>
          <p:cNvPr id="11" name="제목 10"/>
          <p:cNvSpPr>
            <a:spLocks noGrp="1"/>
          </p:cNvSpPr>
          <p:nvPr>
            <p:ph type="title"/>
          </p:nvPr>
        </p:nvSpPr>
        <p:spPr/>
        <p:txBody>
          <a:bodyPr/>
          <a:lstStyle/>
          <a:p>
            <a:r>
              <a:rPr lang="en-US" altLang="ko-KR" dirty="0">
                <a:latin typeface="+mj-ea"/>
                <a:ea typeface="+mj-ea"/>
              </a:rPr>
              <a:t>1</a:t>
            </a:r>
            <a:r>
              <a:rPr lang="en-US" altLang="ko-KR" dirty="0" smtClean="0">
                <a:latin typeface="+mj-ea"/>
                <a:ea typeface="+mj-ea"/>
              </a:rPr>
              <a:t>. </a:t>
            </a:r>
            <a:r>
              <a:rPr lang="ko-KR" altLang="en-US" dirty="0" smtClean="0">
                <a:latin typeface="+mn-ea"/>
                <a:ea typeface="+mn-ea"/>
              </a:rPr>
              <a:t>온라인</a:t>
            </a:r>
            <a:r>
              <a:rPr lang="en-US" altLang="ko-KR" dirty="0" smtClean="0">
                <a:latin typeface="+mn-ea"/>
                <a:ea typeface="+mn-ea"/>
              </a:rPr>
              <a:t>(</a:t>
            </a:r>
            <a:r>
              <a:rPr lang="ko-KR" altLang="en-US" dirty="0" smtClean="0">
                <a:latin typeface="+mn-ea"/>
                <a:ea typeface="+mn-ea"/>
              </a:rPr>
              <a:t>자사</a:t>
            </a:r>
            <a:r>
              <a:rPr lang="en-US" altLang="ko-KR" dirty="0" smtClean="0">
                <a:latin typeface="+mn-ea"/>
                <a:ea typeface="+mn-ea"/>
              </a:rPr>
              <a:t>/</a:t>
            </a:r>
            <a:r>
              <a:rPr lang="ko-KR" altLang="en-US" dirty="0" smtClean="0">
                <a:latin typeface="+mn-ea"/>
                <a:ea typeface="+mn-ea"/>
              </a:rPr>
              <a:t>외부</a:t>
            </a:r>
            <a:r>
              <a:rPr lang="en-US" altLang="ko-KR" dirty="0" smtClean="0">
                <a:latin typeface="+mn-ea"/>
                <a:ea typeface="+mn-ea"/>
              </a:rPr>
              <a:t>)</a:t>
            </a:r>
            <a:r>
              <a:rPr lang="ko-KR" altLang="en-US" dirty="0" smtClean="0">
                <a:latin typeface="+mn-ea"/>
                <a:ea typeface="+mn-ea"/>
              </a:rPr>
              <a:t> 출고</a:t>
            </a:r>
            <a:endParaRPr lang="ko-KR" altLang="en-US" sz="1400" dirty="0">
              <a:latin typeface="+mn-ea"/>
              <a:ea typeface="+mn-ea"/>
            </a:endParaRPr>
          </a:p>
        </p:txBody>
      </p:sp>
      <p:sp>
        <p:nvSpPr>
          <p:cNvPr id="42" name="TextBox 39"/>
          <p:cNvSpPr txBox="1">
            <a:spLocks noChangeArrowheads="1"/>
          </p:cNvSpPr>
          <p:nvPr/>
        </p:nvSpPr>
        <p:spPr bwMode="auto">
          <a:xfrm>
            <a:off x="218855" y="738114"/>
            <a:ext cx="9594685" cy="563231"/>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smtClean="0">
                <a:latin typeface="+mn-ea"/>
                <a:ea typeface="+mn-ea"/>
              </a:rPr>
              <a:t>자사</a:t>
            </a:r>
            <a:r>
              <a:rPr kumimoji="0" lang="en-US" altLang="ko-KR" sz="1200" b="1" dirty="0" smtClean="0">
                <a:latin typeface="+mn-ea"/>
                <a:ea typeface="+mn-ea"/>
              </a:rPr>
              <a:t>/</a:t>
            </a:r>
            <a:r>
              <a:rPr kumimoji="0" lang="ko-KR" altLang="en-US" sz="1200" b="1" dirty="0" smtClean="0">
                <a:latin typeface="+mn-ea"/>
                <a:ea typeface="+mn-ea"/>
              </a:rPr>
              <a:t>외부 몰 고객 주문에 대하여 판매점으로 출고 하고 외부 몰에 대하여 판매 실적 생성</a:t>
            </a:r>
            <a:r>
              <a:rPr kumimoji="0" lang="en-US" altLang="ko-KR" sz="1200" b="1" dirty="0" smtClean="0">
                <a:latin typeface="+mn-ea"/>
                <a:ea typeface="+mn-ea"/>
              </a:rPr>
              <a:t>.</a:t>
            </a:r>
          </a:p>
          <a:p>
            <a:pPr algn="just" eaLnBrk="0" latinLnBrk="0" hangingPunct="0">
              <a:lnSpc>
                <a:spcPct val="140000"/>
              </a:lnSpc>
              <a:buClr>
                <a:schemeClr val="tx2"/>
              </a:buClr>
              <a:buSzPct val="75000"/>
              <a:buFontTx/>
              <a:buChar char="•"/>
              <a:defRPr/>
            </a:pPr>
            <a:r>
              <a:rPr kumimoji="0" lang="ko-KR" altLang="en-US" sz="1200" b="1" dirty="0" smtClean="0">
                <a:latin typeface="+mn-ea"/>
                <a:ea typeface="+mn-ea"/>
              </a:rPr>
              <a:t>자사 몰은 출고 실적만 생성 하고 자사 몰 판매는 자사 몰 판매실적 생성시 판매실적 생성</a:t>
            </a:r>
            <a:r>
              <a:rPr kumimoji="0" lang="en-US" altLang="ko-KR" sz="1200" b="1" dirty="0" smtClean="0">
                <a:latin typeface="+mn-ea"/>
                <a:ea typeface="+mn-ea"/>
              </a:rPr>
              <a:t>.</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latinLnBrk="0" hangingPunct="0">
                <a:lnSpc>
                  <a:spcPct val="140000"/>
                </a:lnSpc>
                <a:buClr>
                  <a:schemeClr val="tx2"/>
                </a:buClr>
                <a:buSzPct val="75000"/>
                <a:buFont typeface="Wingdings" panose="05000000000000000000" pitchFamily="2" charset="2"/>
                <a:buChar char="u"/>
              </a:pPr>
              <a:r>
                <a:rPr kumimoji="0" lang="en-US" altLang="ko-KR" sz="900" b="1" dirty="0" smtClean="0">
                  <a:latin typeface="+mn-ea"/>
                  <a:ea typeface="+mn-ea"/>
                </a:rPr>
                <a:t> </a:t>
              </a:r>
              <a:r>
                <a:rPr kumimoji="0" lang="ko-KR" altLang="en-US" sz="900" b="1" dirty="0" smtClean="0">
                  <a:latin typeface="+mn-ea"/>
                  <a:ea typeface="+mn-ea"/>
                </a:rPr>
                <a:t>정의</a:t>
              </a:r>
            </a:p>
            <a:p>
              <a:pPr eaLnBrk="0" latinLnBrk="0" hangingPunct="0">
                <a:lnSpc>
                  <a:spcPct val="140000"/>
                </a:lnSpc>
                <a:buClr>
                  <a:schemeClr val="tx2"/>
                </a:buClr>
                <a:buSzPct val="75000"/>
              </a:pPr>
              <a:r>
                <a:rPr kumimoji="0" lang="ko-KR" altLang="en-US" sz="900" dirty="0" err="1" smtClean="0">
                  <a:latin typeface="+mn-ea"/>
                  <a:ea typeface="+mn-ea"/>
                </a:rPr>
                <a:t>자사몰</a:t>
              </a:r>
              <a:r>
                <a:rPr kumimoji="0" lang="en-US" altLang="ko-KR" sz="900" dirty="0" smtClean="0">
                  <a:latin typeface="+mn-ea"/>
                  <a:ea typeface="+mn-ea"/>
                </a:rPr>
                <a:t>/</a:t>
              </a:r>
              <a:r>
                <a:rPr kumimoji="0" lang="ko-KR" altLang="en-US" sz="900" dirty="0" err="1" smtClean="0">
                  <a:latin typeface="+mn-ea"/>
                  <a:ea typeface="+mn-ea"/>
                </a:rPr>
                <a:t>제휴몰의</a:t>
              </a:r>
              <a:r>
                <a:rPr kumimoji="0" lang="ko-KR" altLang="en-US" sz="900" dirty="0" smtClean="0">
                  <a:latin typeface="+mn-ea"/>
                  <a:ea typeface="+mn-ea"/>
                </a:rPr>
                <a:t> 고객 주문에 대하여 판매점으로 출고 처리 한다</a:t>
              </a:r>
              <a:r>
                <a:rPr kumimoji="0" lang="en-US" altLang="ko-KR" sz="900" dirty="0" smtClean="0">
                  <a:latin typeface="+mn-ea"/>
                  <a:ea typeface="+mn-ea"/>
                </a:rPr>
                <a:t>.</a:t>
              </a:r>
            </a:p>
            <a:p>
              <a:pPr eaLnBrk="0" latinLnBrk="0" hangingPunct="0">
                <a:lnSpc>
                  <a:spcPct val="140000"/>
                </a:lnSpc>
                <a:buClr>
                  <a:schemeClr val="tx2"/>
                </a:buClr>
                <a:buSzPct val="75000"/>
              </a:pPr>
              <a:endParaRPr kumimoji="0" lang="ko-KR" altLang="en-US" sz="900" dirty="0" smtClean="0">
                <a:latin typeface="+mn-ea"/>
                <a:ea typeface="+mn-ea"/>
              </a:endParaRPr>
            </a:p>
            <a:p>
              <a:pPr marL="85725" indent="-85725" eaLnBrk="0" latinLnBrk="0" hangingPunct="0">
                <a:lnSpc>
                  <a:spcPct val="140000"/>
                </a:lnSpc>
                <a:buClr>
                  <a:schemeClr val="tx2"/>
                </a:buClr>
                <a:buSzPct val="75000"/>
                <a:buFont typeface="Wingdings" panose="05000000000000000000" pitchFamily="2" charset="2"/>
                <a:buChar char="u"/>
              </a:pPr>
              <a:r>
                <a:rPr kumimoji="0" lang="ko-KR" altLang="en-US" sz="900" b="1" dirty="0" smtClean="0">
                  <a:latin typeface="+mn-ea"/>
                  <a:ea typeface="+mn-ea"/>
                </a:rPr>
                <a:t> 선행 프로세스</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a:latin typeface="+mn-ea"/>
                </a:rPr>
                <a:t>출고실적 </a:t>
              </a:r>
              <a:r>
                <a:rPr kumimoji="0" lang="en-US" altLang="ko-KR" sz="900" dirty="0">
                  <a:latin typeface="+mn-ea"/>
                </a:rPr>
                <a:t>: WMS </a:t>
              </a:r>
              <a:r>
                <a:rPr kumimoji="0" lang="en-US" altLang="ko-KR" sz="900" dirty="0">
                  <a:latin typeface="+mn-ea"/>
                  <a:sym typeface="Wingdings" panose="05000000000000000000" pitchFamily="2" charset="2"/>
                </a:rPr>
                <a:t> </a:t>
              </a:r>
              <a:r>
                <a:rPr kumimoji="0" lang="en-US" altLang="ko-KR" sz="900" dirty="0" smtClean="0">
                  <a:latin typeface="+mn-ea"/>
                  <a:sym typeface="Wingdings" panose="05000000000000000000" pitchFamily="2" charset="2"/>
                </a:rPr>
                <a:t>BO  </a:t>
              </a:r>
              <a:r>
                <a:rPr kumimoji="0" lang="ko-KR" altLang="en-US" sz="900" dirty="0" smtClean="0">
                  <a:latin typeface="+mn-ea"/>
                  <a:sym typeface="Wingdings" panose="05000000000000000000" pitchFamily="2" charset="2"/>
                </a:rPr>
                <a:t>패션</a:t>
              </a:r>
              <a:r>
                <a:rPr kumimoji="0" lang="en-US" altLang="ko-KR" sz="900" dirty="0" smtClean="0">
                  <a:latin typeface="+mn-ea"/>
                  <a:sym typeface="Wingdings" panose="05000000000000000000" pitchFamily="2" charset="2"/>
                </a:rPr>
                <a:t>ERP</a:t>
              </a:r>
              <a:endParaRPr kumimoji="0" lang="en-US" altLang="ko-KR" sz="900" dirty="0">
                <a:latin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a:latin typeface="+mn-ea"/>
                </a:rPr>
                <a:t>2. </a:t>
              </a:r>
              <a:r>
                <a:rPr kumimoji="0" lang="ko-KR" altLang="en-US" sz="900" dirty="0">
                  <a:latin typeface="+mn-ea"/>
                </a:rPr>
                <a:t>출고실적 </a:t>
              </a:r>
              <a:r>
                <a:rPr kumimoji="0" lang="en-US" altLang="ko-KR" sz="900" dirty="0">
                  <a:latin typeface="+mn-ea"/>
                </a:rPr>
                <a:t>: BO </a:t>
              </a:r>
              <a:r>
                <a:rPr kumimoji="0" lang="en-US" altLang="ko-KR" sz="900" dirty="0">
                  <a:latin typeface="+mn-ea"/>
                  <a:sym typeface="Wingdings" panose="05000000000000000000" pitchFamily="2" charset="2"/>
                </a:rPr>
                <a:t> </a:t>
              </a:r>
              <a:r>
                <a:rPr kumimoji="0" lang="ko-KR" altLang="en-US" sz="900" dirty="0">
                  <a:latin typeface="+mn-ea"/>
                  <a:sym typeface="Wingdings" panose="05000000000000000000" pitchFamily="2" charset="2"/>
                </a:rPr>
                <a:t>패션</a:t>
              </a:r>
              <a:r>
                <a:rPr kumimoji="0" lang="en-US" altLang="ko-KR" sz="900" dirty="0">
                  <a:latin typeface="+mn-ea"/>
                  <a:sym typeface="Wingdings" panose="05000000000000000000" pitchFamily="2" charset="2"/>
                </a:rPr>
                <a:t>ERP</a:t>
              </a:r>
            </a:p>
            <a:p>
              <a:pPr eaLnBrk="0" latinLnBrk="0" hangingPunct="0">
                <a:lnSpc>
                  <a:spcPct val="140000"/>
                </a:lnSpc>
                <a:buClr>
                  <a:schemeClr val="tx2"/>
                </a:buClr>
                <a:buSzPct val="75000"/>
              </a:pPr>
              <a:r>
                <a:rPr kumimoji="0" lang="en-US" altLang="ko-KR" sz="900" dirty="0">
                  <a:latin typeface="+mn-ea"/>
                  <a:sym typeface="Wingdings" panose="05000000000000000000" pitchFamily="2" charset="2"/>
                </a:rPr>
                <a:t>   BO  </a:t>
              </a:r>
              <a:r>
                <a:rPr kumimoji="0" lang="ko-KR" altLang="en-US" sz="900" dirty="0">
                  <a:latin typeface="+mn-ea"/>
                  <a:sym typeface="Wingdings" panose="05000000000000000000" pitchFamily="2" charset="2"/>
                </a:rPr>
                <a:t>패션</a:t>
              </a:r>
              <a:r>
                <a:rPr kumimoji="0" lang="en-US" altLang="ko-KR" sz="900" dirty="0">
                  <a:latin typeface="+mn-ea"/>
                  <a:sym typeface="Wingdings" panose="05000000000000000000" pitchFamily="2" charset="2"/>
                </a:rPr>
                <a:t>ERP</a:t>
              </a:r>
              <a:r>
                <a:rPr kumimoji="0" lang="ko-KR" altLang="en-US" sz="900" dirty="0">
                  <a:latin typeface="+mn-ea"/>
                  <a:sym typeface="Wingdings" panose="05000000000000000000" pitchFamily="2" charset="2"/>
                </a:rPr>
                <a:t>는 </a:t>
              </a:r>
              <a:r>
                <a:rPr kumimoji="0" lang="ko-KR" altLang="en-US" sz="900" dirty="0" err="1">
                  <a:latin typeface="+mn-ea"/>
                  <a:sym typeface="Wingdings" panose="05000000000000000000" pitchFamily="2" charset="2"/>
                </a:rPr>
                <a:t>제휴몰</a:t>
              </a:r>
              <a:r>
                <a:rPr kumimoji="0" lang="ko-KR" altLang="en-US" sz="900" dirty="0">
                  <a:latin typeface="+mn-ea"/>
                  <a:sym typeface="Wingdings" panose="05000000000000000000" pitchFamily="2" charset="2"/>
                </a:rPr>
                <a:t> 판매시점</a:t>
              </a:r>
              <a:endParaRPr kumimoji="0" lang="en-US" altLang="ko-KR" sz="900" dirty="0">
                <a:latin typeface="+mn-ea"/>
                <a:sym typeface="Wingdings" panose="05000000000000000000" pitchFamily="2" charset="2"/>
              </a:endParaRPr>
            </a:p>
            <a:p>
              <a:pPr eaLnBrk="0" latinLnBrk="0" hangingPunct="0">
                <a:lnSpc>
                  <a:spcPct val="140000"/>
                </a:lnSpc>
                <a:buClr>
                  <a:schemeClr val="tx2"/>
                </a:buClr>
                <a:buSzPct val="75000"/>
              </a:pP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ko-KR" altLang="en-US" sz="900" dirty="0" smtClean="0">
                  <a:latin typeface="+mn-ea"/>
                  <a:ea typeface="+mn-ea"/>
                </a:rPr>
                <a:t> </a:t>
              </a:r>
            </a:p>
            <a:p>
              <a:pPr eaLnBrk="0" latinLnBrk="0" hangingPunct="0">
                <a:lnSpc>
                  <a:spcPct val="140000"/>
                </a:lnSpc>
                <a:buClr>
                  <a:schemeClr val="tx2"/>
                </a:buClr>
                <a:buSzPct val="75000"/>
                <a:buFont typeface="Wingdings" panose="05000000000000000000" pitchFamily="2" charset="2"/>
                <a:buChar char="u"/>
              </a:pPr>
              <a:r>
                <a:rPr kumimoji="0" lang="ko-KR" altLang="en-US" sz="900" dirty="0" smtClean="0">
                  <a:latin typeface="+mn-ea"/>
                  <a:ea typeface="+mn-ea"/>
                </a:rPr>
                <a:t> </a:t>
              </a:r>
              <a:r>
                <a:rPr kumimoji="0" lang="ko-KR" altLang="en-US" sz="900" b="1" dirty="0" smtClean="0">
                  <a:latin typeface="+mn-ea"/>
                  <a:ea typeface="+mn-ea"/>
                </a:rPr>
                <a:t>후행 프로세스</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smtClean="0">
                  <a:latin typeface="+mn-ea"/>
                  <a:ea typeface="+mn-ea"/>
                </a:rPr>
                <a:t>자사 몰 판매</a:t>
              </a:r>
              <a:r>
                <a:rPr kumimoji="0" lang="en-US" altLang="ko-KR" sz="900" dirty="0" smtClean="0">
                  <a:latin typeface="+mn-ea"/>
                  <a:ea typeface="+mn-ea"/>
                </a:rPr>
                <a:t>, </a:t>
              </a:r>
              <a:r>
                <a:rPr kumimoji="0" lang="ko-KR" altLang="en-US" sz="900" dirty="0" smtClean="0">
                  <a:latin typeface="+mn-ea"/>
                  <a:ea typeface="+mn-ea"/>
                </a:rPr>
                <a:t>판매반품</a:t>
              </a:r>
              <a:r>
                <a:rPr kumimoji="0" lang="en-US" altLang="ko-KR" sz="900" dirty="0" smtClean="0">
                  <a:latin typeface="+mn-ea"/>
                  <a:ea typeface="+mn-ea"/>
                </a:rPr>
                <a:t>, CS</a:t>
              </a:r>
              <a:r>
                <a:rPr kumimoji="0" lang="ko-KR" altLang="en-US" sz="900" dirty="0" smtClean="0">
                  <a:latin typeface="+mn-ea"/>
                  <a:ea typeface="+mn-ea"/>
                </a:rPr>
                <a:t>환불</a:t>
              </a:r>
              <a:r>
                <a:rPr kumimoji="0" lang="en-US" altLang="ko-KR" sz="900" dirty="0" smtClean="0">
                  <a:latin typeface="+mn-ea"/>
                  <a:ea typeface="+mn-ea"/>
                </a:rPr>
                <a:t>, </a:t>
              </a:r>
              <a:r>
                <a:rPr kumimoji="0" lang="ko-KR" altLang="en-US" sz="900" dirty="0" smtClean="0">
                  <a:latin typeface="+mn-ea"/>
                  <a:ea typeface="+mn-ea"/>
                </a:rPr>
                <a:t>외부 몰 정산</a:t>
              </a:r>
              <a:endParaRPr kumimoji="0" lang="en-US" altLang="ko-KR" sz="900" dirty="0" smtClean="0">
                <a:latin typeface="+mn-ea"/>
                <a:ea typeface="+mn-ea"/>
              </a:endParaRPr>
            </a:p>
            <a:p>
              <a:pPr eaLnBrk="0" latinLnBrk="0" hangingPunct="0">
                <a:lnSpc>
                  <a:spcPct val="140000"/>
                </a:lnSpc>
                <a:buClr>
                  <a:schemeClr val="tx2"/>
                </a:buClr>
                <a:buSzPct val="75000"/>
              </a:pPr>
              <a:r>
                <a:rPr kumimoji="0" lang="ko-KR" altLang="en-US" sz="900" dirty="0" smtClean="0">
                  <a:latin typeface="+mn-ea"/>
                  <a:ea typeface="+mn-ea"/>
                </a:rPr>
                <a:t> </a:t>
              </a:r>
              <a:endParaRPr kumimoji="0" lang="ko-KR" altLang="en-US" sz="900" dirty="0" smtClean="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smtClean="0">
                  <a:latin typeface="+mn-ea"/>
                  <a:ea typeface="+mn-ea"/>
                </a:rPr>
                <a:t> </a:t>
              </a:r>
              <a:r>
                <a:rPr kumimoji="0" lang="ko-KR" altLang="en-US" sz="900" b="1" dirty="0" smtClean="0">
                  <a:latin typeface="+mn-ea"/>
                  <a:ea typeface="+mn-ea"/>
                </a:rPr>
                <a:t>비즈니스 업무정책</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smtClean="0">
                  <a:latin typeface="+mn-ea"/>
                  <a:ea typeface="+mn-ea"/>
                </a:rPr>
                <a:t>외부 </a:t>
              </a:r>
              <a:r>
                <a:rPr kumimoji="0" lang="ko-KR" altLang="en-US" sz="900" dirty="0" smtClean="0">
                  <a:latin typeface="+mn-ea"/>
                  <a:ea typeface="+mn-ea"/>
                </a:rPr>
                <a:t>몰은 </a:t>
              </a:r>
              <a:r>
                <a:rPr kumimoji="0" lang="ko-KR" altLang="en-US" sz="900" dirty="0" smtClean="0">
                  <a:latin typeface="+mn-ea"/>
                  <a:ea typeface="+mn-ea"/>
                </a:rPr>
                <a:t>주문에 대해 판매실적과    </a:t>
              </a:r>
              <a:endParaRPr kumimoji="0" lang="en-US" altLang="ko-KR" sz="900" dirty="0" smtClean="0">
                <a:latin typeface="+mn-ea"/>
                <a:ea typeface="+mn-ea"/>
              </a:endParaRPr>
            </a:p>
            <a:p>
              <a:pPr eaLnBrk="0" latinLnBrk="0" hangingPunct="0">
                <a:lnSpc>
                  <a:spcPct val="140000"/>
                </a:lnSpc>
                <a:buClr>
                  <a:schemeClr val="tx2"/>
                </a:buClr>
                <a:buSzPct val="75000"/>
              </a:pPr>
              <a:r>
                <a:rPr kumimoji="0" lang="ko-KR" altLang="en-US" sz="900" dirty="0" smtClean="0">
                  <a:latin typeface="+mn-ea"/>
                  <a:ea typeface="+mn-ea"/>
                </a:rPr>
                <a:t>   출고 실적을 </a:t>
              </a:r>
              <a:r>
                <a:rPr kumimoji="0" lang="ko-KR" altLang="en-US" sz="900" dirty="0" smtClean="0">
                  <a:latin typeface="+mn-ea"/>
                  <a:ea typeface="+mn-ea"/>
                </a:rPr>
                <a:t>생성 한다</a:t>
              </a:r>
              <a:r>
                <a:rPr kumimoji="0" lang="en-US" altLang="ko-KR" sz="900" dirty="0" smtClean="0">
                  <a:latin typeface="+mn-ea"/>
                  <a:ea typeface="+mn-ea"/>
                </a:rPr>
                <a:t>.</a:t>
              </a:r>
              <a:endParaRPr kumimoji="0" lang="en-US" altLang="ko-KR" sz="900" dirty="0">
                <a:latin typeface="+mn-ea"/>
                <a:ea typeface="+mn-ea"/>
              </a:endParaRPr>
            </a:p>
            <a:p>
              <a:pPr eaLnBrk="0" latinLnBrk="0" hangingPunct="0">
                <a:lnSpc>
                  <a:spcPct val="140000"/>
                </a:lnSpc>
                <a:buClr>
                  <a:schemeClr val="tx2"/>
                </a:buClr>
                <a:buSzPct val="75000"/>
              </a:pPr>
              <a:r>
                <a:rPr kumimoji="0" lang="en-US" altLang="ko-KR" sz="900" dirty="0">
                  <a:latin typeface="+mn-ea"/>
                  <a:ea typeface="+mn-ea"/>
                </a:rPr>
                <a:t>2. </a:t>
              </a:r>
              <a:r>
                <a:rPr kumimoji="0" lang="ko-KR" altLang="en-US" sz="900" dirty="0" smtClean="0">
                  <a:latin typeface="+mn-ea"/>
                  <a:ea typeface="+mn-ea"/>
                </a:rPr>
                <a:t>자사 몰은 </a:t>
              </a:r>
              <a:r>
                <a:rPr kumimoji="0" lang="ko-KR" altLang="en-US" sz="900" dirty="0" smtClean="0">
                  <a:latin typeface="+mn-ea"/>
                  <a:ea typeface="+mn-ea"/>
                </a:rPr>
                <a:t>출고 실적만 생성 하고 </a:t>
              </a:r>
              <a:r>
                <a:rPr kumimoji="0" lang="ko-KR" altLang="en-US" sz="900" dirty="0" smtClean="0">
                  <a:latin typeface="+mn-ea"/>
                  <a:ea typeface="+mn-ea"/>
                </a:rPr>
                <a:t>  </a:t>
              </a:r>
              <a:endParaRPr kumimoji="0" lang="en-US" altLang="ko-KR" sz="900" dirty="0" smtClean="0">
                <a:latin typeface="+mn-ea"/>
                <a:ea typeface="+mn-ea"/>
              </a:endParaRPr>
            </a:p>
            <a:p>
              <a:pPr eaLnBrk="0" latinLnBrk="0" hangingPunct="0">
                <a:lnSpc>
                  <a:spcPct val="140000"/>
                </a:lnSpc>
                <a:buClr>
                  <a:schemeClr val="tx2"/>
                </a:buClr>
                <a:buSzPct val="75000"/>
              </a:pPr>
              <a:r>
                <a:rPr kumimoji="0" lang="en-US" altLang="ko-KR" sz="900" dirty="0">
                  <a:latin typeface="+mn-ea"/>
                  <a:ea typeface="+mn-ea"/>
                </a:rPr>
                <a:t> </a:t>
              </a:r>
              <a:r>
                <a:rPr kumimoji="0" lang="en-US" altLang="ko-KR" sz="900" dirty="0" smtClean="0">
                  <a:latin typeface="+mn-ea"/>
                  <a:ea typeface="+mn-ea"/>
                </a:rPr>
                <a:t>   </a:t>
              </a:r>
              <a:r>
                <a:rPr kumimoji="0" lang="ko-KR" altLang="en-US" sz="900" dirty="0" smtClean="0">
                  <a:latin typeface="+mn-ea"/>
                  <a:ea typeface="+mn-ea"/>
                </a:rPr>
                <a:t>판매는 </a:t>
              </a:r>
              <a:r>
                <a:rPr lang="en-US" altLang="ko-KR" sz="900" b="1" dirty="0" smtClean="0">
                  <a:latin typeface="+mn-ea"/>
                  <a:ea typeface="+mn-ea"/>
                </a:rPr>
                <a:t>SP_GWM_SALE_SHOP_RNDS</a:t>
              </a:r>
            </a:p>
            <a:p>
              <a:pPr eaLnBrk="0" latinLnBrk="0" hangingPunct="0">
                <a:lnSpc>
                  <a:spcPct val="140000"/>
                </a:lnSpc>
                <a:buClr>
                  <a:schemeClr val="tx2"/>
                </a:buClr>
                <a:buSzPct val="75000"/>
              </a:pPr>
              <a:r>
                <a:rPr lang="en-US" altLang="ko-KR" sz="900" b="1" dirty="0">
                  <a:latin typeface="+mn-ea"/>
                  <a:ea typeface="+mn-ea"/>
                </a:rPr>
                <a:t> </a:t>
              </a:r>
              <a:r>
                <a:rPr lang="en-US" altLang="ko-KR" sz="900" b="1" dirty="0" smtClean="0">
                  <a:latin typeface="+mn-ea"/>
                  <a:ea typeface="+mn-ea"/>
                </a:rPr>
                <a:t>   </a:t>
              </a:r>
              <a:r>
                <a:rPr lang="ko-KR" altLang="en-US" sz="900" dirty="0" smtClean="0">
                  <a:latin typeface="+mn-ea"/>
                  <a:ea typeface="+mn-ea"/>
                </a:rPr>
                <a:t>자사 몰 판매에서 </a:t>
              </a:r>
              <a:r>
                <a:rPr lang="ko-KR" altLang="en-US" sz="900" dirty="0" smtClean="0">
                  <a:latin typeface="+mn-ea"/>
                  <a:ea typeface="+mn-ea"/>
                </a:rPr>
                <a:t>처리 한다</a:t>
              </a:r>
              <a:r>
                <a:rPr lang="en-US" altLang="ko-KR" sz="900" dirty="0" smtClean="0">
                  <a:latin typeface="+mn-ea"/>
                  <a:ea typeface="+mn-ea"/>
                </a:rPr>
                <a:t>.</a:t>
              </a:r>
            </a:p>
            <a:p>
              <a:pPr eaLnBrk="0" latinLnBrk="0" hangingPunct="0">
                <a:lnSpc>
                  <a:spcPct val="140000"/>
                </a:lnSpc>
                <a:buClr>
                  <a:schemeClr val="tx2"/>
                </a:buClr>
                <a:buSzPct val="75000"/>
              </a:pPr>
              <a:r>
                <a:rPr kumimoji="0" lang="en-US" altLang="ko-KR" sz="900" dirty="0" smtClean="0">
                  <a:latin typeface="+mn-ea"/>
                  <a:ea typeface="+mn-ea"/>
                </a:rPr>
                <a:t>3. </a:t>
              </a:r>
              <a:r>
                <a:rPr kumimoji="0" lang="ko-KR" altLang="en-US" sz="900" dirty="0" smtClean="0">
                  <a:latin typeface="+mn-ea"/>
                  <a:ea typeface="+mn-ea"/>
                </a:rPr>
                <a:t>공급가 계산시 수량이 </a:t>
              </a:r>
              <a:r>
                <a:rPr kumimoji="0" lang="en-US" altLang="ko-KR" sz="900" dirty="0" smtClean="0">
                  <a:latin typeface="+mn-ea"/>
                  <a:ea typeface="+mn-ea"/>
                </a:rPr>
                <a:t>0</a:t>
              </a:r>
              <a:r>
                <a:rPr kumimoji="0" lang="ko-KR" altLang="en-US" sz="900" dirty="0" smtClean="0">
                  <a:latin typeface="+mn-ea"/>
                  <a:ea typeface="+mn-ea"/>
                </a:rPr>
                <a:t>인 대상은 제외</a:t>
              </a:r>
              <a:r>
                <a:rPr kumimoji="0" lang="en-US" altLang="ko-KR" sz="900" dirty="0" smtClean="0">
                  <a:latin typeface="+mn-ea"/>
                  <a:ea typeface="+mn-ea"/>
                </a:rPr>
                <a:t>(</a:t>
              </a:r>
              <a:r>
                <a:rPr kumimoji="0" lang="ko-KR" altLang="en-US" sz="900" dirty="0" smtClean="0">
                  <a:latin typeface="+mn-ea"/>
                  <a:ea typeface="+mn-ea"/>
                </a:rPr>
                <a:t>오류</a:t>
              </a:r>
              <a:r>
                <a:rPr kumimoji="0" lang="en-US" altLang="ko-KR" sz="900" dirty="0" smtClean="0">
                  <a:latin typeface="+mn-ea"/>
                  <a:ea typeface="+mn-ea"/>
                </a:rPr>
                <a:t>)</a:t>
              </a:r>
              <a:r>
                <a:rPr kumimoji="0" lang="ko-KR" altLang="en-US" sz="900" dirty="0" smtClean="0">
                  <a:latin typeface="+mn-ea"/>
                  <a:ea typeface="+mn-ea"/>
                </a:rPr>
                <a:t>처리 한다</a:t>
              </a:r>
              <a:r>
                <a:rPr kumimoji="0" lang="en-US" altLang="ko-KR" sz="900" dirty="0" smtClean="0">
                  <a:latin typeface="+mn-ea"/>
                  <a:ea typeface="+mn-ea"/>
                </a:rPr>
                <a:t>.</a:t>
              </a:r>
              <a:endParaRPr kumimoji="0" lang="ko-KR" altLang="en-US" sz="900" dirty="0">
                <a:latin typeface="+mn-ea"/>
                <a:ea typeface="+mn-ea"/>
              </a:endParaRPr>
            </a:p>
          </p:txBody>
        </p:sp>
      </p:grpSp>
      <p:sp>
        <p:nvSpPr>
          <p:cNvPr id="54" name="Line 50"/>
          <p:cNvSpPr>
            <a:spLocks noChangeShapeType="1"/>
          </p:cNvSpPr>
          <p:nvPr/>
        </p:nvSpPr>
        <p:spPr bwMode="gray">
          <a:xfrm>
            <a:off x="1923938" y="1709725"/>
            <a:ext cx="1009650" cy="0"/>
          </a:xfrm>
          <a:prstGeom prst="line">
            <a:avLst/>
          </a:prstGeom>
          <a:noFill/>
          <a:ln w="9525">
            <a:solidFill>
              <a:srgbClr val="C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sz="800">
              <a:latin typeface="+mn-ea"/>
              <a:ea typeface="+mn-ea"/>
            </a:endParaRPr>
          </a:p>
        </p:txBody>
      </p:sp>
      <p:sp>
        <p:nvSpPr>
          <p:cNvPr id="55" name="Rectangle 51"/>
          <p:cNvSpPr>
            <a:spLocks noChangeArrowheads="1"/>
          </p:cNvSpPr>
          <p:nvPr/>
        </p:nvSpPr>
        <p:spPr bwMode="gray">
          <a:xfrm>
            <a:off x="742838" y="1583450"/>
            <a:ext cx="1201738"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i="1" dirty="0" err="1">
                <a:latin typeface="+mn-ea"/>
                <a:ea typeface="+mn-ea"/>
              </a:rPr>
              <a:t>제휴몰</a:t>
            </a:r>
            <a:r>
              <a:rPr lang="ko-KR" altLang="en-US" sz="800" b="1" i="1" dirty="0">
                <a:latin typeface="+mn-ea"/>
                <a:ea typeface="+mn-ea"/>
              </a:rPr>
              <a:t> 출고</a:t>
            </a:r>
          </a:p>
        </p:txBody>
      </p:sp>
      <p:sp>
        <p:nvSpPr>
          <p:cNvPr id="66" name="AutoShape 79"/>
          <p:cNvSpPr>
            <a:spLocks noChangeArrowheads="1"/>
          </p:cNvSpPr>
          <p:nvPr/>
        </p:nvSpPr>
        <p:spPr bwMode="auto">
          <a:xfrm>
            <a:off x="2933588" y="1539069"/>
            <a:ext cx="996950" cy="341312"/>
          </a:xfrm>
          <a:prstGeom prst="flowChartTerminator">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800" dirty="0" smtClean="0">
                <a:latin typeface="+mn-ea"/>
                <a:ea typeface="+mn-ea"/>
              </a:rPr>
              <a:t>출고실적 </a:t>
            </a:r>
            <a:r>
              <a:rPr lang="ko-KR" altLang="en-US" sz="800" dirty="0">
                <a:latin typeface="+mn-ea"/>
                <a:ea typeface="+mn-ea"/>
              </a:rPr>
              <a:t>시작</a:t>
            </a:r>
          </a:p>
        </p:txBody>
      </p:sp>
      <p:sp>
        <p:nvSpPr>
          <p:cNvPr id="67" name="Rectangle 49"/>
          <p:cNvSpPr>
            <a:spLocks noChangeArrowheads="1"/>
          </p:cNvSpPr>
          <p:nvPr/>
        </p:nvSpPr>
        <p:spPr bwMode="gray">
          <a:xfrm>
            <a:off x="2769281" y="2203364"/>
            <a:ext cx="1325563"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인터페이스</a:t>
            </a:r>
            <a:endParaRPr lang="en-US" altLang="ko-KR" sz="800" b="1" dirty="0" smtClean="0">
              <a:latin typeface="+mn-ea"/>
              <a:ea typeface="+mn-ea"/>
            </a:endParaRPr>
          </a:p>
          <a:p>
            <a:pPr algn="ctr"/>
            <a:r>
              <a:rPr lang="ko-KR" altLang="en-US" sz="800" b="1" dirty="0" smtClean="0">
                <a:latin typeface="+mn-ea"/>
                <a:ea typeface="+mn-ea"/>
              </a:rPr>
              <a:t>상태변경</a:t>
            </a:r>
            <a:endParaRPr lang="ko-KR" altLang="en-US" sz="800" b="1" dirty="0">
              <a:latin typeface="+mn-ea"/>
              <a:ea typeface="+mn-ea"/>
            </a:endParaRPr>
          </a:p>
        </p:txBody>
      </p:sp>
      <p:cxnSp>
        <p:nvCxnSpPr>
          <p:cNvPr id="72" name="AutoShape 67"/>
          <p:cNvCxnSpPr>
            <a:cxnSpLocks noChangeShapeType="1"/>
            <a:stCxn id="66" idx="2"/>
            <a:endCxn id="67" idx="0"/>
          </p:cNvCxnSpPr>
          <p:nvPr/>
        </p:nvCxnSpPr>
        <p:spPr bwMode="gray">
          <a:xfrm>
            <a:off x="3432063" y="1880381"/>
            <a:ext cx="0" cy="322983"/>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AutoShape 86"/>
          <p:cNvSpPr>
            <a:spLocks noChangeArrowheads="1"/>
          </p:cNvSpPr>
          <p:nvPr/>
        </p:nvSpPr>
        <p:spPr bwMode="auto">
          <a:xfrm>
            <a:off x="497505" y="2131152"/>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ea typeface="+mn-ea"/>
              </a:rPr>
              <a:t>온라인출고</a:t>
            </a:r>
            <a:endParaRPr lang="en-US" altLang="ko-KR" sz="600" b="1" dirty="0">
              <a:latin typeface="+mn-ea"/>
              <a:ea typeface="+mn-ea"/>
            </a:endParaRPr>
          </a:p>
          <a:p>
            <a:pPr algn="ctr"/>
            <a:r>
              <a:rPr lang="en-US" altLang="ko-KR" sz="600" b="1" dirty="0" smtClean="0">
                <a:latin typeface="+mn-ea"/>
                <a:ea typeface="+mn-ea"/>
              </a:rPr>
              <a:t>T_GWM_RNDS_OUTB</a:t>
            </a:r>
            <a:endParaRPr lang="ko-KR" altLang="en-US" sz="600" b="1" dirty="0">
              <a:latin typeface="+mn-ea"/>
              <a:ea typeface="+mn-ea"/>
            </a:endParaRPr>
          </a:p>
        </p:txBody>
      </p:sp>
      <p:sp>
        <p:nvSpPr>
          <p:cNvPr id="97" name="AutoShape 73"/>
          <p:cNvSpPr>
            <a:spLocks noChangeArrowheads="1"/>
          </p:cNvSpPr>
          <p:nvPr/>
        </p:nvSpPr>
        <p:spPr bwMode="auto">
          <a:xfrm>
            <a:off x="2869076" y="3338990"/>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cxnSp>
        <p:nvCxnSpPr>
          <p:cNvPr id="70" name="AutoShape 67"/>
          <p:cNvCxnSpPr>
            <a:cxnSpLocks noChangeShapeType="1"/>
            <a:stCxn id="67" idx="1"/>
            <a:endCxn id="73" idx="4"/>
          </p:cNvCxnSpPr>
          <p:nvPr/>
        </p:nvCxnSpPr>
        <p:spPr bwMode="gray">
          <a:xfrm flipH="1">
            <a:off x="1064243" y="2373732"/>
            <a:ext cx="1705038" cy="1299"/>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TextBox 94"/>
          <p:cNvSpPr txBox="1">
            <a:spLocks noChangeArrowheads="1"/>
          </p:cNvSpPr>
          <p:nvPr/>
        </p:nvSpPr>
        <p:spPr bwMode="auto">
          <a:xfrm>
            <a:off x="3623158" y="2708920"/>
            <a:ext cx="1238561" cy="806375"/>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브랜드마감</a:t>
            </a:r>
            <a:endParaRPr lang="en-US" altLang="ko-KR" sz="800" dirty="0" smtClean="0">
              <a:latin typeface="+mn-ea"/>
              <a:ea typeface="+mn-ea"/>
            </a:endParaRPr>
          </a:p>
          <a:p>
            <a:pPr>
              <a:spcBef>
                <a:spcPct val="20000"/>
              </a:spcBef>
              <a:buClr>
                <a:srgbClr val="003366"/>
              </a:buClr>
            </a:pPr>
            <a:r>
              <a:rPr lang="ko-KR" altLang="en-US" sz="800" dirty="0" smtClean="0">
                <a:latin typeface="+mn-ea"/>
                <a:ea typeface="+mn-ea"/>
              </a:rPr>
              <a:t>매장브랜드</a:t>
            </a:r>
            <a:r>
              <a:rPr lang="en-US" altLang="ko-KR" sz="800" dirty="0" smtClean="0">
                <a:latin typeface="+mn-ea"/>
                <a:ea typeface="+mn-ea"/>
              </a:rPr>
              <a:t>, </a:t>
            </a:r>
            <a:r>
              <a:rPr lang="ko-KR" altLang="en-US" sz="800" dirty="0" smtClean="0">
                <a:latin typeface="+mn-ea"/>
                <a:ea typeface="+mn-ea"/>
              </a:rPr>
              <a:t>폐점여부</a:t>
            </a:r>
            <a:r>
              <a:rPr lang="en-US" altLang="ko-KR" sz="800" dirty="0" smtClean="0">
                <a:latin typeface="+mn-ea"/>
                <a:ea typeface="+mn-ea"/>
              </a:rPr>
              <a:t>,</a:t>
            </a:r>
          </a:p>
          <a:p>
            <a:pPr>
              <a:spcBef>
                <a:spcPct val="20000"/>
              </a:spcBef>
              <a:buClr>
                <a:srgbClr val="003366"/>
              </a:buClr>
            </a:pPr>
            <a:r>
              <a:rPr lang="ko-KR" altLang="en-US" sz="800" dirty="0" smtClean="0">
                <a:latin typeface="+mn-ea"/>
                <a:ea typeface="+mn-ea"/>
              </a:rPr>
              <a:t>매장할인마진율</a:t>
            </a:r>
            <a:endParaRPr lang="en-US" altLang="ko-KR" sz="800" dirty="0" smtClean="0">
              <a:latin typeface="+mn-ea"/>
              <a:ea typeface="+mn-ea"/>
            </a:endParaRPr>
          </a:p>
          <a:p>
            <a:pPr>
              <a:spcBef>
                <a:spcPct val="20000"/>
              </a:spcBef>
              <a:buClr>
                <a:srgbClr val="003366"/>
              </a:buClr>
            </a:pPr>
            <a:r>
              <a:rPr lang="en-US" altLang="ko-KR" sz="800" dirty="0">
                <a:latin typeface="+mn-ea"/>
                <a:ea typeface="+mn-ea"/>
              </a:rPr>
              <a:t> </a:t>
            </a:r>
            <a:r>
              <a:rPr lang="en-US" altLang="ko-KR" sz="800" dirty="0" smtClean="0">
                <a:latin typeface="+mn-ea"/>
                <a:ea typeface="+mn-ea"/>
              </a:rPr>
              <a:t>: </a:t>
            </a:r>
            <a:r>
              <a:rPr lang="ko-KR" altLang="en-US" sz="800" dirty="0" smtClean="0">
                <a:latin typeface="+mn-ea"/>
                <a:ea typeface="+mn-ea"/>
              </a:rPr>
              <a:t>출고매장</a:t>
            </a:r>
            <a:r>
              <a:rPr lang="en-US" altLang="ko-KR" sz="800" dirty="0" smtClean="0">
                <a:latin typeface="+mn-ea"/>
                <a:ea typeface="+mn-ea"/>
              </a:rPr>
              <a:t>, </a:t>
            </a:r>
            <a:r>
              <a:rPr lang="ko-KR" altLang="en-US" sz="800" dirty="0" smtClean="0">
                <a:latin typeface="+mn-ea"/>
                <a:ea typeface="+mn-ea"/>
              </a:rPr>
              <a:t>판매매장</a:t>
            </a:r>
            <a:endParaRPr lang="en-US" altLang="ko-KR" sz="800" dirty="0" smtClean="0">
              <a:latin typeface="+mn-ea"/>
              <a:ea typeface="+mn-ea"/>
            </a:endParaRPr>
          </a:p>
          <a:p>
            <a:pPr>
              <a:spcBef>
                <a:spcPct val="20000"/>
              </a:spcBef>
              <a:buClr>
                <a:srgbClr val="003366"/>
              </a:buClr>
            </a:pPr>
            <a:r>
              <a:rPr lang="ko-KR" altLang="en-US" sz="800" dirty="0" smtClean="0">
                <a:latin typeface="+mn-ea"/>
                <a:ea typeface="+mn-ea"/>
              </a:rPr>
              <a:t>제품유효성</a:t>
            </a:r>
            <a:endParaRPr lang="ko-KR" altLang="en-US" sz="800" dirty="0">
              <a:latin typeface="+mn-ea"/>
              <a:ea typeface="+mn-ea"/>
            </a:endParaRPr>
          </a:p>
        </p:txBody>
      </p:sp>
      <p:sp>
        <p:nvSpPr>
          <p:cNvPr id="89" name="TextBox 94"/>
          <p:cNvSpPr txBox="1">
            <a:spLocks noChangeArrowheads="1"/>
          </p:cNvSpPr>
          <p:nvPr/>
        </p:nvSpPr>
        <p:spPr bwMode="auto">
          <a:xfrm>
            <a:off x="2760786" y="1313765"/>
            <a:ext cx="142155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rPr>
              <a:t>SP_GWM_RNDS_OUTB</a:t>
            </a:r>
            <a:endParaRPr lang="ko-KR" altLang="en-US" sz="800" b="1" dirty="0">
              <a:latin typeface="+mn-ea"/>
              <a:ea typeface="+mn-ea"/>
            </a:endParaRPr>
          </a:p>
        </p:txBody>
      </p:sp>
      <p:cxnSp>
        <p:nvCxnSpPr>
          <p:cNvPr id="95" name="AutoShape 67"/>
          <p:cNvCxnSpPr>
            <a:cxnSpLocks noChangeShapeType="1"/>
            <a:stCxn id="67" idx="2"/>
            <a:endCxn id="97" idx="0"/>
          </p:cNvCxnSpPr>
          <p:nvPr/>
        </p:nvCxnSpPr>
        <p:spPr bwMode="gray">
          <a:xfrm rot="5400000">
            <a:off x="3033812" y="2940738"/>
            <a:ext cx="794891" cy="1613"/>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 Box 82"/>
          <p:cNvSpPr txBox="1">
            <a:spLocks noChangeArrowheads="1"/>
          </p:cNvSpPr>
          <p:nvPr/>
        </p:nvSpPr>
        <p:spPr bwMode="gray">
          <a:xfrm>
            <a:off x="3504283" y="3725204"/>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24" name="AutoShape 67"/>
          <p:cNvCxnSpPr>
            <a:cxnSpLocks noChangeShapeType="1"/>
            <a:stCxn id="97" idx="1"/>
          </p:cNvCxnSpPr>
          <p:nvPr/>
        </p:nvCxnSpPr>
        <p:spPr bwMode="gray">
          <a:xfrm rot="10800000" flipH="1">
            <a:off x="2869076" y="3113965"/>
            <a:ext cx="555530" cy="462356"/>
          </a:xfrm>
          <a:prstGeom prst="bentConnector3">
            <a:avLst>
              <a:gd name="adj1" fmla="val -4115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Text Box 82"/>
          <p:cNvSpPr txBox="1">
            <a:spLocks noChangeArrowheads="1"/>
          </p:cNvSpPr>
          <p:nvPr/>
        </p:nvSpPr>
        <p:spPr bwMode="gray">
          <a:xfrm>
            <a:off x="2654111" y="3381918"/>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28" name="AutoShape 67"/>
          <p:cNvCxnSpPr>
            <a:cxnSpLocks noChangeShapeType="1"/>
            <a:stCxn id="97" idx="2"/>
            <a:endCxn id="88" idx="3"/>
          </p:cNvCxnSpPr>
          <p:nvPr/>
        </p:nvCxnSpPr>
        <p:spPr bwMode="gray">
          <a:xfrm rot="5400000">
            <a:off x="2960294" y="3604718"/>
            <a:ext cx="261223" cy="679090"/>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AutoShape 86"/>
          <p:cNvSpPr>
            <a:spLocks noChangeArrowheads="1"/>
          </p:cNvSpPr>
          <p:nvPr/>
        </p:nvSpPr>
        <p:spPr bwMode="auto">
          <a:xfrm>
            <a:off x="5760702" y="1659879"/>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매장재고</a:t>
            </a:r>
            <a:endParaRPr lang="en-US" altLang="ko-KR" sz="600" b="1" dirty="0" smtClean="0">
              <a:latin typeface="+mn-ea"/>
              <a:ea typeface="+mn-ea"/>
            </a:endParaRPr>
          </a:p>
          <a:p>
            <a:pPr algn="ctr"/>
            <a:r>
              <a:rPr lang="en-US" altLang="ko-KR" sz="600" b="1" dirty="0" smtClean="0">
                <a:latin typeface="+mn-ea"/>
                <a:ea typeface="+mn-ea"/>
              </a:rPr>
              <a:t>T_SHOP_STOCK</a:t>
            </a:r>
            <a:endParaRPr lang="ko-KR" altLang="en-US" sz="600" b="1" dirty="0">
              <a:latin typeface="+mn-ea"/>
              <a:ea typeface="+mn-ea"/>
            </a:endParaRPr>
          </a:p>
        </p:txBody>
      </p:sp>
      <p:sp>
        <p:nvSpPr>
          <p:cNvPr id="75" name="AutoShape 86"/>
          <p:cNvSpPr>
            <a:spLocks noChangeArrowheads="1"/>
          </p:cNvSpPr>
          <p:nvPr/>
        </p:nvSpPr>
        <p:spPr bwMode="auto">
          <a:xfrm>
            <a:off x="6456492" y="1659879"/>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창고재고</a:t>
            </a:r>
            <a:endParaRPr lang="en-US" altLang="ko-KR" sz="600" b="1" dirty="0" smtClean="0">
              <a:latin typeface="+mn-ea"/>
              <a:ea typeface="+mn-ea"/>
            </a:endParaRPr>
          </a:p>
          <a:p>
            <a:pPr algn="ctr"/>
            <a:r>
              <a:rPr lang="en-US" altLang="ko-KR" sz="600" b="1" dirty="0" smtClean="0">
                <a:latin typeface="+mn-ea"/>
                <a:ea typeface="+mn-ea"/>
              </a:rPr>
              <a:t>T_WH_STOCK_PRDT</a:t>
            </a:r>
            <a:endParaRPr lang="ko-KR" altLang="en-US" sz="600" b="1" dirty="0">
              <a:latin typeface="+mn-ea"/>
              <a:ea typeface="+mn-ea"/>
            </a:endParaRPr>
          </a:p>
        </p:txBody>
      </p:sp>
      <p:sp>
        <p:nvSpPr>
          <p:cNvPr id="85" name="AutoShape 86"/>
          <p:cNvSpPr>
            <a:spLocks noChangeArrowheads="1"/>
          </p:cNvSpPr>
          <p:nvPr/>
        </p:nvSpPr>
        <p:spPr bwMode="auto">
          <a:xfrm>
            <a:off x="5088015" y="166850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제품월수불</a:t>
            </a:r>
            <a:endParaRPr lang="en-US" altLang="ko-KR" sz="600" b="1" dirty="0" smtClean="0">
              <a:latin typeface="+mn-ea"/>
              <a:ea typeface="+mn-ea"/>
            </a:endParaRPr>
          </a:p>
          <a:p>
            <a:pPr algn="ctr"/>
            <a:r>
              <a:rPr lang="en-US" altLang="ko-KR" sz="600" b="1" dirty="0" smtClean="0">
                <a:latin typeface="+mn-ea"/>
                <a:ea typeface="+mn-ea"/>
              </a:rPr>
              <a:t>T_M_RNDS</a:t>
            </a:r>
            <a:endParaRPr lang="ko-KR" altLang="en-US" sz="600" b="1" dirty="0">
              <a:latin typeface="+mn-ea"/>
              <a:ea typeface="+mn-ea"/>
            </a:endParaRPr>
          </a:p>
        </p:txBody>
      </p:sp>
      <p:sp>
        <p:nvSpPr>
          <p:cNvPr id="214" name="TextBox 94"/>
          <p:cNvSpPr txBox="1">
            <a:spLocks noChangeArrowheads="1"/>
          </p:cNvSpPr>
          <p:nvPr/>
        </p:nvSpPr>
        <p:spPr bwMode="auto">
          <a:xfrm>
            <a:off x="5400171" y="1371495"/>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b="1" dirty="0" smtClean="0">
                <a:latin typeface="+mn-ea"/>
                <a:ea typeface="+mn-ea"/>
              </a:rPr>
              <a:t>패션</a:t>
            </a:r>
            <a:r>
              <a:rPr lang="en-US" altLang="ko-KR" sz="800" b="1" dirty="0" smtClean="0">
                <a:latin typeface="+mn-ea"/>
                <a:ea typeface="+mn-ea"/>
              </a:rPr>
              <a:t>ERP </a:t>
            </a:r>
            <a:r>
              <a:rPr lang="ko-KR" altLang="en-US" sz="800" b="1" dirty="0" smtClean="0">
                <a:latin typeface="+mn-ea"/>
                <a:ea typeface="+mn-ea"/>
              </a:rPr>
              <a:t>야간배치 갱신</a:t>
            </a:r>
            <a:endParaRPr lang="ko-KR" altLang="en-US" sz="800" b="1" dirty="0">
              <a:latin typeface="+mn-ea"/>
              <a:ea typeface="+mn-ea"/>
            </a:endParaRPr>
          </a:p>
        </p:txBody>
      </p:sp>
      <p:sp>
        <p:nvSpPr>
          <p:cNvPr id="225" name="TextBox 94"/>
          <p:cNvSpPr txBox="1">
            <a:spLocks noChangeArrowheads="1"/>
          </p:cNvSpPr>
          <p:nvPr/>
        </p:nvSpPr>
        <p:spPr bwMode="auto">
          <a:xfrm>
            <a:off x="1218919" y="1876225"/>
            <a:ext cx="1835245"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a:latin typeface="+mn-ea"/>
                <a:sym typeface="Wingdings" panose="05000000000000000000" pitchFamily="2" charset="2"/>
              </a:rPr>
              <a:t>대상 </a:t>
            </a:r>
            <a:r>
              <a:rPr lang="en-US" altLang="ko-KR" sz="800" dirty="0">
                <a:latin typeface="+mn-ea"/>
                <a:sym typeface="Wingdings" panose="05000000000000000000" pitchFamily="2" charset="2"/>
              </a:rPr>
              <a:t>: </a:t>
            </a:r>
            <a:r>
              <a:rPr lang="en-US" altLang="ko-KR" sz="800" dirty="0" smtClean="0">
                <a:latin typeface="+mn-ea"/>
                <a:sym typeface="Wingdings" panose="05000000000000000000" pitchFamily="2" charset="2"/>
              </a:rPr>
              <a:t>SHOP_RNDS_ID </a:t>
            </a:r>
            <a:r>
              <a:rPr lang="en-US" altLang="ko-KR" sz="800" dirty="0">
                <a:latin typeface="+mn-ea"/>
                <a:sym typeface="Wingdings" panose="05000000000000000000" pitchFamily="2" charset="2"/>
              </a:rPr>
              <a:t>IS NULL </a:t>
            </a:r>
          </a:p>
          <a:p>
            <a:pPr>
              <a:spcBef>
                <a:spcPct val="20000"/>
              </a:spcBef>
              <a:buClr>
                <a:srgbClr val="003366"/>
              </a:buClr>
            </a:pP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       GRP_CD = ‘MCOM’</a:t>
            </a:r>
          </a:p>
          <a:p>
            <a:pPr>
              <a:spcBef>
                <a:spcPct val="20000"/>
              </a:spcBef>
              <a:buClr>
                <a:srgbClr val="003366"/>
              </a:buClr>
            </a:pPr>
            <a:r>
              <a:rPr lang="en-US" altLang="ko-KR" sz="800" dirty="0" smtClean="0">
                <a:latin typeface="+mn-ea"/>
                <a:ea typeface="+mn-ea"/>
              </a:rPr>
              <a:t>IF_STS : S </a:t>
            </a:r>
            <a:r>
              <a:rPr lang="en-US" altLang="ko-KR" sz="800" dirty="0" smtClean="0">
                <a:latin typeface="+mn-ea"/>
                <a:ea typeface="+mn-ea"/>
                <a:sym typeface="Wingdings" panose="05000000000000000000" pitchFamily="2" charset="2"/>
              </a:rPr>
              <a:t> R </a:t>
            </a:r>
            <a:r>
              <a:rPr lang="ko-KR" altLang="en-US" sz="800" dirty="0" smtClean="0">
                <a:latin typeface="+mn-ea"/>
                <a:ea typeface="+mn-ea"/>
                <a:sym typeface="Wingdings" panose="05000000000000000000" pitchFamily="2" charset="2"/>
              </a:rPr>
              <a:t>갱신</a:t>
            </a:r>
            <a:endParaRPr lang="en-US" altLang="ko-KR" sz="800" dirty="0" smtClean="0">
              <a:latin typeface="+mn-ea"/>
              <a:ea typeface="+mn-ea"/>
              <a:sym typeface="Wingdings" panose="05000000000000000000" pitchFamily="2" charset="2"/>
            </a:endParaRPr>
          </a:p>
        </p:txBody>
      </p:sp>
      <p:sp>
        <p:nvSpPr>
          <p:cNvPr id="77" name="TextBox 94"/>
          <p:cNvSpPr txBox="1">
            <a:spLocks noChangeArrowheads="1"/>
          </p:cNvSpPr>
          <p:nvPr/>
        </p:nvSpPr>
        <p:spPr bwMode="auto">
          <a:xfrm>
            <a:off x="947555" y="2822934"/>
            <a:ext cx="1835245"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a:latin typeface="+mn-ea"/>
                <a:sym typeface="Wingdings" panose="05000000000000000000" pitchFamily="2" charset="2"/>
              </a:rPr>
              <a:t>대상 </a:t>
            </a:r>
            <a:r>
              <a:rPr lang="en-US" altLang="ko-KR" sz="800" dirty="0">
                <a:latin typeface="+mn-ea"/>
                <a:sym typeface="Wingdings" panose="05000000000000000000" pitchFamily="2" charset="2"/>
              </a:rPr>
              <a:t>: </a:t>
            </a:r>
            <a:r>
              <a:rPr lang="en-US" altLang="ko-KR" sz="800" dirty="0" smtClean="0">
                <a:latin typeface="+mn-ea"/>
                <a:sym typeface="Wingdings" panose="05000000000000000000" pitchFamily="2" charset="2"/>
              </a:rPr>
              <a:t>SHOP_RNDS_ID </a:t>
            </a:r>
            <a:r>
              <a:rPr lang="en-US" altLang="ko-KR" sz="800" dirty="0">
                <a:latin typeface="+mn-ea"/>
                <a:sym typeface="Wingdings" panose="05000000000000000000" pitchFamily="2" charset="2"/>
              </a:rPr>
              <a:t>IS NULL </a:t>
            </a:r>
          </a:p>
          <a:p>
            <a:pPr>
              <a:spcBef>
                <a:spcPct val="20000"/>
              </a:spcBef>
              <a:buClr>
                <a:srgbClr val="003366"/>
              </a:buClr>
            </a:pP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       GRP_CD = ‘MCOM’</a:t>
            </a:r>
          </a:p>
          <a:p>
            <a:pPr>
              <a:spcBef>
                <a:spcPct val="20000"/>
              </a:spcBef>
              <a:buClr>
                <a:srgbClr val="003366"/>
              </a:buClr>
            </a:pPr>
            <a:r>
              <a:rPr lang="en-US" altLang="ko-KR" sz="800" dirty="0" smtClean="0">
                <a:latin typeface="+mn-ea"/>
                <a:ea typeface="+mn-ea"/>
              </a:rPr>
              <a:t>        IF_STS =</a:t>
            </a:r>
            <a:r>
              <a:rPr lang="en-US" altLang="ko-KR" sz="800" dirty="0" smtClean="0">
                <a:latin typeface="+mn-ea"/>
                <a:ea typeface="+mn-ea"/>
                <a:sym typeface="Wingdings" panose="05000000000000000000" pitchFamily="2" charset="2"/>
              </a:rPr>
              <a:t> R</a:t>
            </a:r>
          </a:p>
        </p:txBody>
      </p:sp>
      <p:cxnSp>
        <p:nvCxnSpPr>
          <p:cNvPr id="81" name="AutoShape 67"/>
          <p:cNvCxnSpPr>
            <a:cxnSpLocks noChangeShapeType="1"/>
            <a:stCxn id="73" idx="3"/>
          </p:cNvCxnSpPr>
          <p:nvPr/>
        </p:nvCxnSpPr>
        <p:spPr bwMode="gray">
          <a:xfrm rot="16200000" flipH="1">
            <a:off x="1986468" y="1413315"/>
            <a:ext cx="225946" cy="2637135"/>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TextBox 94"/>
          <p:cNvSpPr txBox="1">
            <a:spLocks noChangeArrowheads="1"/>
          </p:cNvSpPr>
          <p:nvPr/>
        </p:nvSpPr>
        <p:spPr bwMode="auto">
          <a:xfrm>
            <a:off x="1185517" y="2656244"/>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88" name="Rectangle 49"/>
          <p:cNvSpPr>
            <a:spLocks noChangeArrowheads="1"/>
          </p:cNvSpPr>
          <p:nvPr/>
        </p:nvSpPr>
        <p:spPr bwMode="gray">
          <a:xfrm>
            <a:off x="1425797" y="3966062"/>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공급가계산</a:t>
            </a:r>
            <a:endParaRPr lang="ko-KR" altLang="en-US" sz="800" b="1" dirty="0">
              <a:latin typeface="+mn-ea"/>
              <a:ea typeface="+mn-ea"/>
            </a:endParaRPr>
          </a:p>
        </p:txBody>
      </p:sp>
      <p:sp>
        <p:nvSpPr>
          <p:cNvPr id="90" name="TextBox 94"/>
          <p:cNvSpPr txBox="1">
            <a:spLocks noChangeArrowheads="1"/>
          </p:cNvSpPr>
          <p:nvPr/>
        </p:nvSpPr>
        <p:spPr bwMode="auto">
          <a:xfrm>
            <a:off x="1362027" y="3742503"/>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SP_CAL_SALE_SPPR_MNG</a:t>
            </a:r>
            <a:endParaRPr lang="ko-KR" altLang="en-US" sz="800" b="1" dirty="0">
              <a:latin typeface="+mn-ea"/>
              <a:ea typeface="+mn-ea"/>
            </a:endParaRPr>
          </a:p>
        </p:txBody>
      </p:sp>
      <p:sp>
        <p:nvSpPr>
          <p:cNvPr id="91" name="AutoShape 73"/>
          <p:cNvSpPr>
            <a:spLocks noChangeArrowheads="1"/>
          </p:cNvSpPr>
          <p:nvPr/>
        </p:nvSpPr>
        <p:spPr bwMode="auto">
          <a:xfrm>
            <a:off x="3152800" y="4214478"/>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자동판매</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여부 </a:t>
            </a:r>
            <a:r>
              <a:rPr lang="en-US" altLang="ko-KR" sz="800" dirty="0" smtClean="0">
                <a:latin typeface="+mn-ea"/>
                <a:ea typeface="+mn-ea"/>
              </a:rPr>
              <a:t>= Y</a:t>
            </a:r>
          </a:p>
        </p:txBody>
      </p:sp>
      <p:grpSp>
        <p:nvGrpSpPr>
          <p:cNvPr id="18" name="그룹 17"/>
          <p:cNvGrpSpPr/>
          <p:nvPr/>
        </p:nvGrpSpPr>
        <p:grpSpPr>
          <a:xfrm>
            <a:off x="1554423" y="4373275"/>
            <a:ext cx="968307" cy="1981049"/>
            <a:chOff x="1374403" y="4373275"/>
            <a:chExt cx="968307" cy="1981049"/>
          </a:xfrm>
        </p:grpSpPr>
        <p:sp>
          <p:nvSpPr>
            <p:cNvPr id="101" name="직사각형 100"/>
            <p:cNvSpPr/>
            <p:nvPr/>
          </p:nvSpPr>
          <p:spPr>
            <a:xfrm>
              <a:off x="1374403" y="4373275"/>
              <a:ext cx="968307" cy="1981049"/>
            </a:xfrm>
            <a:prstGeom prst="rect">
              <a:avLst/>
            </a:prstGeom>
            <a:solidFill>
              <a:srgbClr val="92D050"/>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1200" b="1" kern="0" dirty="0" smtClean="0">
                <a:solidFill>
                  <a:schemeClr val="bg1"/>
                </a:solidFill>
                <a:latin typeface="맑은 고딕" pitchFamily="50" charset="-127"/>
                <a:ea typeface="맑은 고딕" pitchFamily="50" charset="-127"/>
              </a:endParaRPr>
            </a:p>
          </p:txBody>
        </p:sp>
        <p:sp>
          <p:nvSpPr>
            <p:cNvPr id="96" name="Oval 108"/>
            <p:cNvSpPr>
              <a:spLocks noChangeArrowheads="1"/>
            </p:cNvSpPr>
            <p:nvPr/>
          </p:nvSpPr>
          <p:spPr bwMode="gray">
            <a:xfrm>
              <a:off x="1556949" y="4449021"/>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판매</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98" name="Oval 108"/>
            <p:cNvSpPr>
              <a:spLocks noChangeArrowheads="1"/>
            </p:cNvSpPr>
            <p:nvPr/>
          </p:nvSpPr>
          <p:spPr bwMode="gray">
            <a:xfrm>
              <a:off x="1559316" y="4932221"/>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출고반품</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99" name="Oval 108"/>
            <p:cNvSpPr>
              <a:spLocks noChangeArrowheads="1"/>
            </p:cNvSpPr>
            <p:nvPr/>
          </p:nvSpPr>
          <p:spPr bwMode="gray">
            <a:xfrm>
              <a:off x="1559316" y="5416835"/>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출고</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100" name="Text Box 121"/>
            <p:cNvSpPr txBox="1">
              <a:spLocks noChangeArrowheads="1"/>
            </p:cNvSpPr>
            <p:nvPr/>
          </p:nvSpPr>
          <p:spPr bwMode="gray">
            <a:xfrm>
              <a:off x="1397605" y="5823949"/>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r>
                <a:rPr lang="en-US" altLang="ko-KR" sz="800" dirty="0" smtClean="0">
                  <a:latin typeface="+mn-ea"/>
                  <a:ea typeface="+mn-ea"/>
                </a:rPr>
                <a:t>SHOP_RNDS_ID</a:t>
              </a:r>
            </a:p>
            <a:p>
              <a:r>
                <a:rPr lang="en-US" altLang="ko-KR" sz="800" dirty="0" smtClean="0">
                  <a:latin typeface="+mn-ea"/>
                  <a:ea typeface="+mn-ea"/>
                </a:rPr>
                <a:t>REG_NO</a:t>
              </a:r>
            </a:p>
          </p:txBody>
        </p:sp>
      </p:grpSp>
      <p:cxnSp>
        <p:nvCxnSpPr>
          <p:cNvPr id="104" name="AutoShape 67"/>
          <p:cNvCxnSpPr>
            <a:cxnSpLocks noChangeShapeType="1"/>
            <a:stCxn id="88" idx="1"/>
            <a:endCxn id="96" idx="2"/>
          </p:cNvCxnSpPr>
          <p:nvPr/>
        </p:nvCxnSpPr>
        <p:spPr bwMode="gray">
          <a:xfrm rot="10800000" flipH="1" flipV="1">
            <a:off x="1425797" y="4074874"/>
            <a:ext cx="311172" cy="550359"/>
          </a:xfrm>
          <a:prstGeom prst="bentConnector3">
            <a:avLst>
              <a:gd name="adj1" fmla="val -73464"/>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AutoShape 67"/>
          <p:cNvCxnSpPr>
            <a:cxnSpLocks noChangeShapeType="1"/>
            <a:stCxn id="88" idx="1"/>
            <a:endCxn id="98" idx="2"/>
          </p:cNvCxnSpPr>
          <p:nvPr/>
        </p:nvCxnSpPr>
        <p:spPr bwMode="gray">
          <a:xfrm rot="10800000" flipH="1" flipV="1">
            <a:off x="1425796" y="4074874"/>
            <a:ext cx="313539" cy="1033559"/>
          </a:xfrm>
          <a:prstGeom prst="bentConnector3">
            <a:avLst>
              <a:gd name="adj1" fmla="val -7291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AutoShape 67"/>
          <p:cNvCxnSpPr>
            <a:cxnSpLocks noChangeShapeType="1"/>
            <a:stCxn id="88" idx="1"/>
            <a:endCxn id="99" idx="2"/>
          </p:cNvCxnSpPr>
          <p:nvPr/>
        </p:nvCxnSpPr>
        <p:spPr bwMode="gray">
          <a:xfrm rot="10800000" flipH="1" flipV="1">
            <a:off x="1425796" y="4074874"/>
            <a:ext cx="313539" cy="1518173"/>
          </a:xfrm>
          <a:prstGeom prst="bentConnector3">
            <a:avLst>
              <a:gd name="adj1" fmla="val -7291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AutoShape 67"/>
          <p:cNvCxnSpPr>
            <a:cxnSpLocks noChangeShapeType="1"/>
            <a:stCxn id="96" idx="6"/>
            <a:endCxn id="91" idx="1"/>
          </p:cNvCxnSpPr>
          <p:nvPr/>
        </p:nvCxnSpPr>
        <p:spPr bwMode="gray">
          <a:xfrm flipV="1">
            <a:off x="2365619" y="4451809"/>
            <a:ext cx="787181" cy="173425"/>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AutoShape 86"/>
          <p:cNvSpPr>
            <a:spLocks noChangeArrowheads="1"/>
          </p:cNvSpPr>
          <p:nvPr/>
        </p:nvSpPr>
        <p:spPr bwMode="auto">
          <a:xfrm>
            <a:off x="5763090" y="37238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116" name="AutoShape 86"/>
          <p:cNvSpPr>
            <a:spLocks noChangeArrowheads="1"/>
          </p:cNvSpPr>
          <p:nvPr/>
        </p:nvSpPr>
        <p:spPr bwMode="auto">
          <a:xfrm>
            <a:off x="5106342" y="3709201"/>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a:t>
            </a:r>
            <a:endParaRPr lang="en-US" altLang="ko-KR" sz="600" b="1" dirty="0" smtClean="0">
              <a:latin typeface="+mn-ea"/>
              <a:ea typeface="+mn-ea"/>
            </a:endParaRPr>
          </a:p>
          <a:p>
            <a:pPr algn="ctr"/>
            <a:r>
              <a:rPr lang="en-US" altLang="ko-KR" sz="600" b="1" dirty="0" smtClean="0">
                <a:latin typeface="+mn-ea"/>
                <a:ea typeface="+mn-ea"/>
              </a:rPr>
              <a:t>T_SALE</a:t>
            </a:r>
            <a:endParaRPr lang="ko-KR" altLang="en-US" sz="600" b="1" dirty="0">
              <a:latin typeface="+mn-ea"/>
              <a:ea typeface="+mn-ea"/>
            </a:endParaRPr>
          </a:p>
        </p:txBody>
      </p:sp>
      <p:sp>
        <p:nvSpPr>
          <p:cNvPr id="117" name="AutoShape 86"/>
          <p:cNvSpPr>
            <a:spLocks noChangeArrowheads="1"/>
          </p:cNvSpPr>
          <p:nvPr/>
        </p:nvSpPr>
        <p:spPr bwMode="auto">
          <a:xfrm>
            <a:off x="4404589" y="371651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판매결재</a:t>
            </a:r>
            <a:endParaRPr lang="en-US" altLang="ko-KR" sz="600" b="1" dirty="0" smtClean="0">
              <a:latin typeface="+mn-ea"/>
              <a:ea typeface="+mn-ea"/>
            </a:endParaRPr>
          </a:p>
          <a:p>
            <a:pPr algn="ctr"/>
            <a:r>
              <a:rPr lang="en-US" altLang="ko-KR" sz="600" b="1" dirty="0" smtClean="0">
                <a:latin typeface="+mn-ea"/>
                <a:ea typeface="+mn-ea"/>
              </a:rPr>
              <a:t>T_SALE_STLM</a:t>
            </a:r>
            <a:endParaRPr lang="ko-KR" altLang="en-US" sz="600" b="1" dirty="0">
              <a:latin typeface="+mn-ea"/>
              <a:ea typeface="+mn-ea"/>
            </a:endParaRPr>
          </a:p>
        </p:txBody>
      </p:sp>
      <p:sp>
        <p:nvSpPr>
          <p:cNvPr id="119" name="Text Box 82"/>
          <p:cNvSpPr txBox="1">
            <a:spLocks noChangeArrowheads="1"/>
          </p:cNvSpPr>
          <p:nvPr/>
        </p:nvSpPr>
        <p:spPr bwMode="gray">
          <a:xfrm>
            <a:off x="4136847" y="4446012"/>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120" name="TextBox 94"/>
          <p:cNvSpPr txBox="1">
            <a:spLocks noChangeArrowheads="1"/>
          </p:cNvSpPr>
          <p:nvPr/>
        </p:nvSpPr>
        <p:spPr bwMode="auto">
          <a:xfrm>
            <a:off x="2931623" y="4599040"/>
            <a:ext cx="1661337" cy="458587"/>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rPr>
              <a:t>자동판매 여부</a:t>
            </a:r>
            <a:endParaRPr lang="en-US" altLang="ko-KR" sz="700" dirty="0" smtClean="0">
              <a:latin typeface="+mn-ea"/>
              <a:ea typeface="+mn-ea"/>
            </a:endParaRPr>
          </a:p>
          <a:p>
            <a:pPr>
              <a:spcBef>
                <a:spcPct val="20000"/>
              </a:spcBef>
              <a:buClr>
                <a:srgbClr val="003366"/>
              </a:buClr>
            </a:pPr>
            <a:r>
              <a:rPr lang="en-US" altLang="ko-KR" sz="700" dirty="0" smtClean="0">
                <a:latin typeface="+mn-ea"/>
                <a:ea typeface="+mn-ea"/>
              </a:rPr>
              <a:t>MALL_CD = MCOM </a:t>
            </a:r>
            <a:r>
              <a:rPr lang="en-US" altLang="ko-KR" sz="700" dirty="0" smtClean="0">
                <a:latin typeface="+mn-ea"/>
                <a:ea typeface="+mn-ea"/>
                <a:sym typeface="Wingdings" panose="05000000000000000000" pitchFamily="2" charset="2"/>
              </a:rPr>
              <a:t> N (</a:t>
            </a:r>
            <a:r>
              <a:rPr lang="ko-KR" altLang="en-US" sz="700" dirty="0" err="1" smtClean="0">
                <a:latin typeface="+mn-ea"/>
                <a:ea typeface="+mn-ea"/>
                <a:sym typeface="Wingdings" panose="05000000000000000000" pitchFamily="2" charset="2"/>
              </a:rPr>
              <a:t>자사몰</a:t>
            </a:r>
            <a:r>
              <a:rPr lang="en-US" altLang="ko-KR" sz="700" dirty="0" smtClean="0">
                <a:latin typeface="+mn-ea"/>
                <a:ea typeface="+mn-ea"/>
                <a:sym typeface="Wingdings" panose="05000000000000000000" pitchFamily="2" charset="2"/>
              </a:rPr>
              <a:t>)</a:t>
            </a:r>
            <a:endParaRPr lang="en-US" altLang="ko-KR" sz="700" dirty="0" smtClean="0">
              <a:latin typeface="+mn-ea"/>
              <a:ea typeface="+mn-ea"/>
            </a:endParaRPr>
          </a:p>
          <a:p>
            <a:pPr>
              <a:spcBef>
                <a:spcPct val="20000"/>
              </a:spcBef>
              <a:buClr>
                <a:srgbClr val="003366"/>
              </a:buClr>
            </a:pPr>
            <a:r>
              <a:rPr lang="en-US" altLang="ko-KR" sz="700" dirty="0" smtClean="0">
                <a:latin typeface="+mn-ea"/>
                <a:ea typeface="+mn-ea"/>
              </a:rPr>
              <a:t>MALL_CD != MCOM </a:t>
            </a:r>
            <a:r>
              <a:rPr lang="en-US" altLang="ko-KR" sz="700" dirty="0" smtClean="0">
                <a:latin typeface="+mn-ea"/>
                <a:ea typeface="+mn-ea"/>
                <a:sym typeface="Wingdings" panose="05000000000000000000" pitchFamily="2" charset="2"/>
              </a:rPr>
              <a:t></a:t>
            </a:r>
            <a:r>
              <a:rPr lang="en-US" altLang="ko-KR" sz="700" dirty="0" smtClean="0">
                <a:latin typeface="+mn-ea"/>
                <a:ea typeface="+mn-ea"/>
              </a:rPr>
              <a:t> N(</a:t>
            </a:r>
            <a:r>
              <a:rPr lang="ko-KR" altLang="en-US" sz="700" dirty="0" err="1" smtClean="0">
                <a:latin typeface="+mn-ea"/>
                <a:ea typeface="+mn-ea"/>
              </a:rPr>
              <a:t>제휴몰</a:t>
            </a:r>
            <a:r>
              <a:rPr lang="en-US" altLang="ko-KR" sz="700" dirty="0" smtClean="0">
                <a:latin typeface="+mn-ea"/>
                <a:ea typeface="+mn-ea"/>
              </a:rPr>
              <a:t>)</a:t>
            </a:r>
            <a:endParaRPr lang="ko-KR" altLang="en-US" sz="700" dirty="0">
              <a:latin typeface="+mn-ea"/>
              <a:ea typeface="+mn-ea"/>
            </a:endParaRPr>
          </a:p>
        </p:txBody>
      </p:sp>
      <p:cxnSp>
        <p:nvCxnSpPr>
          <p:cNvPr id="121" name="AutoShape 67"/>
          <p:cNvCxnSpPr>
            <a:cxnSpLocks noChangeShapeType="1"/>
            <a:stCxn id="91" idx="3"/>
            <a:endCxn id="117" idx="3"/>
          </p:cNvCxnSpPr>
          <p:nvPr/>
        </p:nvCxnSpPr>
        <p:spPr bwMode="gray">
          <a:xfrm flipV="1">
            <a:off x="4275548" y="4204271"/>
            <a:ext cx="412410" cy="247538"/>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AutoShape 67"/>
          <p:cNvCxnSpPr>
            <a:cxnSpLocks noChangeShapeType="1"/>
            <a:stCxn id="91" idx="3"/>
            <a:endCxn id="116" idx="3"/>
          </p:cNvCxnSpPr>
          <p:nvPr/>
        </p:nvCxnSpPr>
        <p:spPr bwMode="gray">
          <a:xfrm flipV="1">
            <a:off x="4275548" y="4196959"/>
            <a:ext cx="1114163" cy="254850"/>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TextBox 94"/>
          <p:cNvSpPr txBox="1">
            <a:spLocks noChangeArrowheads="1"/>
          </p:cNvSpPr>
          <p:nvPr/>
        </p:nvSpPr>
        <p:spPr bwMode="auto">
          <a:xfrm>
            <a:off x="4610429" y="4266700"/>
            <a:ext cx="796902" cy="363176"/>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결재구분 </a:t>
            </a:r>
            <a:r>
              <a:rPr lang="en-US" altLang="ko-KR" sz="800" dirty="0" smtClean="0">
                <a:latin typeface="+mn-ea"/>
                <a:ea typeface="+mn-ea"/>
              </a:rPr>
              <a:t>:</a:t>
            </a:r>
          </a:p>
          <a:p>
            <a:pPr>
              <a:spcBef>
                <a:spcPct val="20000"/>
              </a:spcBef>
              <a:buClr>
                <a:srgbClr val="003366"/>
              </a:buClr>
            </a:pPr>
            <a:r>
              <a:rPr lang="ko-KR" altLang="en-US" sz="800" dirty="0" smtClean="0">
                <a:latin typeface="+mn-ea"/>
                <a:ea typeface="+mn-ea"/>
              </a:rPr>
              <a:t>현금</a:t>
            </a:r>
            <a:r>
              <a:rPr lang="en-US" altLang="ko-KR" sz="800" dirty="0" smtClean="0">
                <a:latin typeface="+mn-ea"/>
                <a:ea typeface="+mn-ea"/>
              </a:rPr>
              <a:t>(</a:t>
            </a:r>
            <a:r>
              <a:rPr lang="ko-KR" altLang="en-US" sz="800" dirty="0" err="1" smtClean="0">
                <a:latin typeface="+mn-ea"/>
                <a:ea typeface="+mn-ea"/>
              </a:rPr>
              <a:t>비승인</a:t>
            </a:r>
            <a:r>
              <a:rPr lang="en-US" altLang="ko-KR" sz="800" dirty="0" smtClean="0">
                <a:latin typeface="+mn-ea"/>
                <a:ea typeface="+mn-ea"/>
              </a:rPr>
              <a:t>)</a:t>
            </a:r>
            <a:endParaRPr lang="ko-KR" altLang="en-US" sz="800" dirty="0">
              <a:latin typeface="+mn-ea"/>
              <a:ea typeface="+mn-ea"/>
            </a:endParaRPr>
          </a:p>
        </p:txBody>
      </p:sp>
      <p:cxnSp>
        <p:nvCxnSpPr>
          <p:cNvPr id="137" name="AutoShape 67"/>
          <p:cNvCxnSpPr>
            <a:cxnSpLocks noChangeShapeType="1"/>
            <a:stCxn id="98" idx="6"/>
            <a:endCxn id="115" idx="3"/>
          </p:cNvCxnSpPr>
          <p:nvPr/>
        </p:nvCxnSpPr>
        <p:spPr bwMode="gray">
          <a:xfrm flipV="1">
            <a:off x="2367986" y="4211601"/>
            <a:ext cx="3678473" cy="896833"/>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AutoShape 67"/>
          <p:cNvCxnSpPr>
            <a:cxnSpLocks noChangeShapeType="1"/>
            <a:stCxn id="99" idx="6"/>
            <a:endCxn id="144" idx="3"/>
          </p:cNvCxnSpPr>
          <p:nvPr/>
        </p:nvCxnSpPr>
        <p:spPr bwMode="gray">
          <a:xfrm flipV="1">
            <a:off x="2367986" y="4211601"/>
            <a:ext cx="4653212" cy="1381447"/>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AutoShape 86"/>
          <p:cNvSpPr>
            <a:spLocks noChangeArrowheads="1"/>
          </p:cNvSpPr>
          <p:nvPr/>
        </p:nvSpPr>
        <p:spPr bwMode="auto">
          <a:xfrm>
            <a:off x="6737829" y="37238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거래명세서</a:t>
            </a:r>
            <a:endParaRPr lang="en-US" altLang="ko-KR" sz="600" b="1" dirty="0" smtClean="0">
              <a:latin typeface="+mn-ea"/>
              <a:ea typeface="+mn-ea"/>
            </a:endParaRPr>
          </a:p>
          <a:p>
            <a:pPr algn="ctr"/>
            <a:r>
              <a:rPr lang="en-US" altLang="ko-KR" sz="600" b="1" dirty="0" smtClean="0">
                <a:latin typeface="+mn-ea"/>
                <a:ea typeface="+mn-ea"/>
              </a:rPr>
              <a:t>T_TRAN_SPEC</a:t>
            </a:r>
            <a:endParaRPr lang="ko-KR" altLang="en-US" sz="600" b="1" dirty="0">
              <a:latin typeface="+mn-ea"/>
              <a:ea typeface="+mn-ea"/>
            </a:endParaRPr>
          </a:p>
        </p:txBody>
      </p:sp>
      <p:sp>
        <p:nvSpPr>
          <p:cNvPr id="165" name="AutoShape 86"/>
          <p:cNvSpPr>
            <a:spLocks noChangeArrowheads="1"/>
          </p:cNvSpPr>
          <p:nvPr/>
        </p:nvSpPr>
        <p:spPr bwMode="auto">
          <a:xfrm>
            <a:off x="6708195" y="5928824"/>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ea typeface="+mn-ea"/>
              </a:rPr>
              <a:t>온라인출고</a:t>
            </a:r>
            <a:endParaRPr lang="en-US" altLang="ko-KR" sz="600" b="1" dirty="0">
              <a:latin typeface="+mn-ea"/>
              <a:ea typeface="+mn-ea"/>
            </a:endParaRPr>
          </a:p>
          <a:p>
            <a:pPr algn="ctr"/>
            <a:r>
              <a:rPr lang="en-US" altLang="ko-KR" sz="600" b="1" dirty="0" smtClean="0">
                <a:latin typeface="+mn-ea"/>
                <a:ea typeface="+mn-ea"/>
              </a:rPr>
              <a:t>T_GWM_RNDS_OUTB</a:t>
            </a:r>
            <a:endParaRPr lang="ko-KR" altLang="en-US" sz="600" b="1" dirty="0">
              <a:latin typeface="+mn-ea"/>
              <a:ea typeface="+mn-ea"/>
            </a:endParaRPr>
          </a:p>
        </p:txBody>
      </p:sp>
      <p:cxnSp>
        <p:nvCxnSpPr>
          <p:cNvPr id="183" name="AutoShape 67"/>
          <p:cNvCxnSpPr>
            <a:cxnSpLocks noChangeShapeType="1"/>
            <a:stCxn id="91" idx="3"/>
            <a:endCxn id="115" idx="3"/>
          </p:cNvCxnSpPr>
          <p:nvPr/>
        </p:nvCxnSpPr>
        <p:spPr bwMode="gray">
          <a:xfrm flipV="1">
            <a:off x="4275548" y="4211601"/>
            <a:ext cx="1770911" cy="240208"/>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AutoShape 67"/>
          <p:cNvCxnSpPr>
            <a:cxnSpLocks noChangeShapeType="1"/>
            <a:stCxn id="91" idx="3"/>
            <a:endCxn id="166" idx="1"/>
          </p:cNvCxnSpPr>
          <p:nvPr/>
        </p:nvCxnSpPr>
        <p:spPr bwMode="gray">
          <a:xfrm>
            <a:off x="4275548" y="4451809"/>
            <a:ext cx="722457" cy="1520920"/>
          </a:xfrm>
          <a:prstGeom prst="bentConnector3">
            <a:avLst>
              <a:gd name="adj1" fmla="val 56987"/>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 name="AutoShape 67"/>
          <p:cNvCxnSpPr>
            <a:cxnSpLocks noChangeShapeType="1"/>
            <a:stCxn id="166" idx="3"/>
            <a:endCxn id="165" idx="2"/>
          </p:cNvCxnSpPr>
          <p:nvPr/>
        </p:nvCxnSpPr>
        <p:spPr bwMode="gray">
          <a:xfrm>
            <a:off x="6385046" y="5972729"/>
            <a:ext cx="323149" cy="199974"/>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 name="AutoShape 67"/>
          <p:cNvCxnSpPr>
            <a:cxnSpLocks noChangeShapeType="1"/>
            <a:stCxn id="98" idx="6"/>
            <a:endCxn id="166" idx="1"/>
          </p:cNvCxnSpPr>
          <p:nvPr/>
        </p:nvCxnSpPr>
        <p:spPr bwMode="gray">
          <a:xfrm>
            <a:off x="2367986" y="5108434"/>
            <a:ext cx="2630019" cy="864295"/>
          </a:xfrm>
          <a:prstGeom prst="bentConnector3">
            <a:avLst>
              <a:gd name="adj1" fmla="val 88263"/>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AutoShape 67"/>
          <p:cNvCxnSpPr>
            <a:cxnSpLocks noChangeShapeType="1"/>
            <a:stCxn id="99" idx="6"/>
            <a:endCxn id="166" idx="1"/>
          </p:cNvCxnSpPr>
          <p:nvPr/>
        </p:nvCxnSpPr>
        <p:spPr bwMode="gray">
          <a:xfrm>
            <a:off x="2367986" y="5593048"/>
            <a:ext cx="2630019" cy="379681"/>
          </a:xfrm>
          <a:prstGeom prst="bentConnector3">
            <a:avLst>
              <a:gd name="adj1" fmla="val 8819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 name="TextBox 94"/>
          <p:cNvSpPr txBox="1">
            <a:spLocks noChangeArrowheads="1"/>
          </p:cNvSpPr>
          <p:nvPr/>
        </p:nvSpPr>
        <p:spPr bwMode="auto">
          <a:xfrm>
            <a:off x="2474477" y="5975158"/>
            <a:ext cx="2508614" cy="363176"/>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출고반품 </a:t>
            </a:r>
            <a:r>
              <a:rPr lang="en-US" altLang="ko-KR" sz="800" dirty="0" smtClean="0">
                <a:latin typeface="+mn-ea"/>
                <a:ea typeface="+mn-ea"/>
              </a:rPr>
              <a:t>: </a:t>
            </a:r>
            <a:r>
              <a:rPr lang="ko-KR" altLang="en-US" sz="800" dirty="0" smtClean="0">
                <a:latin typeface="+mn-ea"/>
                <a:ea typeface="+mn-ea"/>
              </a:rPr>
              <a:t>출고지 매장</a:t>
            </a:r>
            <a:r>
              <a:rPr lang="en-US" altLang="ko-KR" sz="800" dirty="0" smtClean="0">
                <a:latin typeface="+mn-ea"/>
                <a:ea typeface="+mn-ea"/>
              </a:rPr>
              <a:t>(STS027) </a:t>
            </a:r>
            <a:r>
              <a:rPr lang="en-US" altLang="ko-KR" sz="800" dirty="0" smtClean="0">
                <a:latin typeface="+mn-ea"/>
                <a:ea typeface="+mn-ea"/>
                <a:sym typeface="Wingdings" panose="05000000000000000000" pitchFamily="2" charset="2"/>
              </a:rPr>
              <a:t> </a:t>
            </a:r>
            <a:r>
              <a:rPr lang="ko-KR" altLang="en-US" sz="800" dirty="0" smtClean="0">
                <a:latin typeface="+mn-ea"/>
                <a:ea typeface="+mn-ea"/>
              </a:rPr>
              <a:t>창고</a:t>
            </a:r>
            <a:r>
              <a:rPr lang="en-US" altLang="ko-KR" sz="800" dirty="0" smtClean="0">
                <a:latin typeface="+mn-ea"/>
                <a:ea typeface="+mn-ea"/>
              </a:rPr>
              <a:t>(OA)</a:t>
            </a:r>
            <a:r>
              <a:rPr lang="ko-KR" altLang="en-US" sz="800" dirty="0" smtClean="0">
                <a:latin typeface="+mn-ea"/>
                <a:ea typeface="+mn-ea"/>
              </a:rPr>
              <a:t> 반품</a:t>
            </a:r>
            <a:endParaRPr lang="en-US" altLang="ko-KR" sz="800" dirty="0" smtClean="0">
              <a:latin typeface="+mn-ea"/>
              <a:ea typeface="+mn-ea"/>
            </a:endParaRPr>
          </a:p>
          <a:p>
            <a:pPr>
              <a:spcBef>
                <a:spcPct val="20000"/>
              </a:spcBef>
              <a:buClr>
                <a:srgbClr val="003366"/>
              </a:buClr>
            </a:pPr>
            <a:r>
              <a:rPr lang="ko-KR" altLang="en-US" sz="800" dirty="0" smtClean="0">
                <a:latin typeface="+mn-ea"/>
                <a:ea typeface="+mn-ea"/>
              </a:rPr>
              <a:t>출고</a:t>
            </a:r>
            <a:r>
              <a:rPr lang="en-US" altLang="ko-KR" sz="800" dirty="0" smtClean="0">
                <a:latin typeface="+mn-ea"/>
                <a:ea typeface="+mn-ea"/>
              </a:rPr>
              <a:t>: </a:t>
            </a:r>
            <a:r>
              <a:rPr lang="ko-KR" altLang="en-US" sz="800" dirty="0">
                <a:latin typeface="+mn-ea"/>
              </a:rPr>
              <a:t>창고</a:t>
            </a:r>
            <a:r>
              <a:rPr lang="en-US" altLang="ko-KR" sz="800" dirty="0">
                <a:latin typeface="+mn-ea"/>
              </a:rPr>
              <a:t>(OA) </a:t>
            </a:r>
            <a:r>
              <a:rPr lang="en-US" altLang="ko-KR" sz="800" dirty="0">
                <a:latin typeface="+mn-ea"/>
                <a:sym typeface="Wingdings" panose="05000000000000000000" pitchFamily="2" charset="2"/>
              </a:rPr>
              <a:t> </a:t>
            </a:r>
            <a:r>
              <a:rPr lang="ko-KR" altLang="en-US" sz="800" dirty="0" smtClean="0">
                <a:latin typeface="+mn-ea"/>
              </a:rPr>
              <a:t>판매처</a:t>
            </a:r>
            <a:r>
              <a:rPr lang="en-US" altLang="ko-KR" sz="800" dirty="0" smtClean="0">
                <a:latin typeface="+mn-ea"/>
              </a:rPr>
              <a:t> </a:t>
            </a:r>
            <a:r>
              <a:rPr lang="ko-KR" altLang="en-US" sz="800" dirty="0" smtClean="0">
                <a:latin typeface="+mn-ea"/>
              </a:rPr>
              <a:t>출고</a:t>
            </a:r>
            <a:endParaRPr lang="ko-KR" altLang="en-US" sz="800" dirty="0">
              <a:latin typeface="+mn-ea"/>
              <a:ea typeface="+mn-ea"/>
            </a:endParaRPr>
          </a:p>
        </p:txBody>
      </p:sp>
      <p:sp>
        <p:nvSpPr>
          <p:cNvPr id="216" name="TextBox 94"/>
          <p:cNvSpPr txBox="1">
            <a:spLocks noChangeArrowheads="1"/>
          </p:cNvSpPr>
          <p:nvPr/>
        </p:nvSpPr>
        <p:spPr bwMode="auto">
          <a:xfrm>
            <a:off x="5824014" y="4831385"/>
            <a:ext cx="153522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a:latin typeface="+mn-ea"/>
                <a:ea typeface="+mn-ea"/>
              </a:rPr>
              <a:t>창고</a:t>
            </a:r>
            <a:r>
              <a:rPr lang="en-US" altLang="ko-KR" sz="800" dirty="0">
                <a:latin typeface="+mn-ea"/>
                <a:ea typeface="+mn-ea"/>
              </a:rPr>
              <a:t>(OA) </a:t>
            </a:r>
            <a:r>
              <a:rPr lang="en-US" altLang="ko-KR" sz="800" dirty="0">
                <a:latin typeface="+mn-ea"/>
                <a:ea typeface="+mn-ea"/>
                <a:sym typeface="Wingdings" panose="05000000000000000000" pitchFamily="2" charset="2"/>
              </a:rPr>
              <a:t> </a:t>
            </a:r>
            <a:r>
              <a:rPr lang="ko-KR" altLang="en-US" sz="800" dirty="0" smtClean="0">
                <a:latin typeface="+mn-ea"/>
                <a:ea typeface="+mn-ea"/>
                <a:sym typeface="Wingdings" panose="05000000000000000000" pitchFamily="2" charset="2"/>
              </a:rPr>
              <a:t>판매 매장</a:t>
            </a:r>
            <a:r>
              <a:rPr lang="en-US" altLang="ko-KR" sz="800" dirty="0" smtClean="0">
                <a:latin typeface="+mn-ea"/>
                <a:ea typeface="+mn-ea"/>
              </a:rPr>
              <a:t> </a:t>
            </a:r>
            <a:r>
              <a:rPr lang="ko-KR" altLang="en-US" sz="800" dirty="0" smtClean="0">
                <a:latin typeface="+mn-ea"/>
                <a:ea typeface="+mn-ea"/>
              </a:rPr>
              <a:t>출고</a:t>
            </a:r>
            <a:endParaRPr lang="ko-KR" altLang="en-US" sz="800" dirty="0">
              <a:latin typeface="+mn-ea"/>
              <a:ea typeface="+mn-ea"/>
            </a:endParaRPr>
          </a:p>
        </p:txBody>
      </p:sp>
      <p:cxnSp>
        <p:nvCxnSpPr>
          <p:cNvPr id="217" name="AutoShape 67"/>
          <p:cNvCxnSpPr>
            <a:cxnSpLocks noChangeShapeType="1"/>
            <a:stCxn id="115" idx="1"/>
            <a:endCxn id="75" idx="3"/>
          </p:cNvCxnSpPr>
          <p:nvPr/>
        </p:nvCxnSpPr>
        <p:spPr bwMode="gray">
          <a:xfrm rot="5400000" flipH="1" flipV="1">
            <a:off x="5605057" y="2589039"/>
            <a:ext cx="1576206" cy="693402"/>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1" name="AutoShape 67"/>
          <p:cNvCxnSpPr>
            <a:cxnSpLocks noChangeShapeType="1"/>
            <a:stCxn id="115" idx="1"/>
            <a:endCxn id="65" idx="3"/>
          </p:cNvCxnSpPr>
          <p:nvPr/>
        </p:nvCxnSpPr>
        <p:spPr bwMode="gray">
          <a:xfrm rot="16200000" flipV="1">
            <a:off x="5257162" y="2934546"/>
            <a:ext cx="1576206" cy="2388"/>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4" name="AutoShape 67"/>
          <p:cNvCxnSpPr>
            <a:cxnSpLocks noChangeShapeType="1"/>
            <a:stCxn id="115" idx="1"/>
            <a:endCxn id="85" idx="3"/>
          </p:cNvCxnSpPr>
          <p:nvPr/>
        </p:nvCxnSpPr>
        <p:spPr bwMode="gray">
          <a:xfrm rot="16200000" flipV="1">
            <a:off x="4925132" y="2602515"/>
            <a:ext cx="1567580" cy="675075"/>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AutoShape 67"/>
          <p:cNvCxnSpPr>
            <a:cxnSpLocks noChangeShapeType="1"/>
            <a:stCxn id="99" idx="6"/>
            <a:endCxn id="115" idx="3"/>
          </p:cNvCxnSpPr>
          <p:nvPr/>
        </p:nvCxnSpPr>
        <p:spPr bwMode="gray">
          <a:xfrm flipV="1">
            <a:off x="2367986" y="4211601"/>
            <a:ext cx="3678473" cy="1381447"/>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6" name="Rectangle 49"/>
          <p:cNvSpPr>
            <a:spLocks noChangeArrowheads="1"/>
          </p:cNvSpPr>
          <p:nvPr/>
        </p:nvSpPr>
        <p:spPr bwMode="gray">
          <a:xfrm>
            <a:off x="4998005" y="5679250"/>
            <a:ext cx="1387041" cy="58695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판매수불</a:t>
            </a:r>
            <a:r>
              <a:rPr lang="en-US" altLang="ko-KR" sz="800" b="1" dirty="0" smtClean="0">
                <a:latin typeface="+mn-ea"/>
                <a:ea typeface="+mn-ea"/>
              </a:rPr>
              <a:t>ID</a:t>
            </a:r>
          </a:p>
          <a:p>
            <a:pPr algn="ctr"/>
            <a:r>
              <a:rPr lang="ko-KR" altLang="en-US" sz="800" b="1" dirty="0" smtClean="0">
                <a:latin typeface="+mn-ea"/>
                <a:ea typeface="+mn-ea"/>
              </a:rPr>
              <a:t>출고수불</a:t>
            </a:r>
            <a:r>
              <a:rPr lang="en-US" altLang="ko-KR" sz="800" b="1" dirty="0" smtClean="0">
                <a:latin typeface="+mn-ea"/>
                <a:ea typeface="+mn-ea"/>
              </a:rPr>
              <a:t>ID</a:t>
            </a:r>
          </a:p>
          <a:p>
            <a:pPr algn="ctr"/>
            <a:r>
              <a:rPr lang="ko-KR" altLang="en-US" sz="800" b="1" dirty="0">
                <a:latin typeface="+mn-ea"/>
              </a:rPr>
              <a:t>출고반품수불</a:t>
            </a:r>
            <a:r>
              <a:rPr lang="en-US" altLang="ko-KR" sz="800" b="1" dirty="0">
                <a:latin typeface="+mn-ea"/>
              </a:rPr>
              <a:t>ID</a:t>
            </a:r>
            <a:endParaRPr lang="en-US" altLang="ko-KR" sz="800" b="1" dirty="0" smtClean="0">
              <a:latin typeface="+mn-ea"/>
              <a:ea typeface="+mn-ea"/>
            </a:endParaRPr>
          </a:p>
          <a:p>
            <a:pPr algn="ctr"/>
            <a:r>
              <a:rPr lang="ko-KR" altLang="en-US" sz="800" b="1" dirty="0" smtClean="0">
                <a:latin typeface="+mn-ea"/>
                <a:ea typeface="+mn-ea"/>
              </a:rPr>
              <a:t>인터페이스 상태 </a:t>
            </a:r>
            <a:r>
              <a:rPr lang="en-US" altLang="ko-KR" sz="800" b="1" dirty="0" smtClean="0">
                <a:latin typeface="+mn-ea"/>
                <a:ea typeface="+mn-ea"/>
              </a:rPr>
              <a:t>UPDATE</a:t>
            </a:r>
            <a:endParaRPr lang="ko-KR" altLang="en-US" sz="800" b="1" dirty="0">
              <a:latin typeface="+mn-ea"/>
              <a:ea typeface="+mn-ea"/>
            </a:endParaRPr>
          </a:p>
        </p:txBody>
      </p:sp>
      <p:sp>
        <p:nvSpPr>
          <p:cNvPr id="268" name="TextBox 94"/>
          <p:cNvSpPr txBox="1">
            <a:spLocks noChangeArrowheads="1"/>
          </p:cNvSpPr>
          <p:nvPr/>
        </p:nvSpPr>
        <p:spPr bwMode="auto">
          <a:xfrm>
            <a:off x="5301645" y="6264315"/>
            <a:ext cx="914397"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dirty="0" smtClean="0">
                <a:latin typeface="+mn-ea"/>
                <a:ea typeface="+mn-ea"/>
              </a:rPr>
              <a:t>IF_STS : S </a:t>
            </a:r>
            <a:r>
              <a:rPr lang="en-US" altLang="ko-KR" sz="800" dirty="0" smtClean="0">
                <a:latin typeface="+mn-ea"/>
                <a:ea typeface="+mn-ea"/>
                <a:sym typeface="Wingdings" panose="05000000000000000000" pitchFamily="2" charset="2"/>
              </a:rPr>
              <a:t> F</a:t>
            </a:r>
            <a:endParaRPr lang="ko-KR" altLang="en-US" sz="800" dirty="0">
              <a:latin typeface="+mn-ea"/>
              <a:ea typeface="+mn-ea"/>
            </a:endParaRPr>
          </a:p>
        </p:txBody>
      </p:sp>
      <p:cxnSp>
        <p:nvCxnSpPr>
          <p:cNvPr id="277" name="AutoShape 67"/>
          <p:cNvCxnSpPr>
            <a:cxnSpLocks noChangeShapeType="1"/>
            <a:endCxn id="144" idx="3"/>
          </p:cNvCxnSpPr>
          <p:nvPr/>
        </p:nvCxnSpPr>
        <p:spPr bwMode="gray">
          <a:xfrm flipV="1">
            <a:off x="2356652" y="4211601"/>
            <a:ext cx="4664546" cy="893302"/>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TextBox 94"/>
          <p:cNvSpPr txBox="1">
            <a:spLocks noChangeArrowheads="1"/>
          </p:cNvSpPr>
          <p:nvPr/>
        </p:nvSpPr>
        <p:spPr bwMode="auto">
          <a:xfrm>
            <a:off x="1372411" y="4172459"/>
            <a:ext cx="153522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수량이 </a:t>
            </a:r>
            <a:r>
              <a:rPr lang="en-US" altLang="ko-KR" sz="800" dirty="0" smtClean="0">
                <a:latin typeface="+mn-ea"/>
                <a:ea typeface="+mn-ea"/>
              </a:rPr>
              <a:t>0</a:t>
            </a:r>
            <a:r>
              <a:rPr lang="ko-KR" altLang="en-US" sz="800" dirty="0" smtClean="0">
                <a:latin typeface="+mn-ea"/>
                <a:ea typeface="+mn-ea"/>
              </a:rPr>
              <a:t>인 대상은 오류 처리</a:t>
            </a:r>
            <a:endParaRPr lang="ko-KR" altLang="en-US" sz="800" dirty="0">
              <a:latin typeface="+mn-ea"/>
              <a:ea typeface="+mn-ea"/>
            </a:endParaRPr>
          </a:p>
        </p:txBody>
      </p:sp>
    </p:spTree>
    <p:extLst>
      <p:ext uri="{BB962C8B-B14F-4D97-AF65-F5344CB8AC3E}">
        <p14:creationId xmlns:p14="http://schemas.microsoft.com/office/powerpoint/2010/main" val="5817137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직사각형 212"/>
          <p:cNvSpPr/>
          <p:nvPr/>
        </p:nvSpPr>
        <p:spPr>
          <a:xfrm>
            <a:off x="4596134" y="1732736"/>
            <a:ext cx="2697126" cy="1039891"/>
          </a:xfrm>
          <a:prstGeom prst="rect">
            <a:avLst/>
          </a:prstGeom>
          <a:solidFill>
            <a:schemeClr val="accent1">
              <a:lumMod val="20000"/>
              <a:lumOff val="8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1200" b="1" kern="0" dirty="0" smtClean="0">
              <a:solidFill>
                <a:schemeClr val="bg1"/>
              </a:solidFill>
              <a:latin typeface="맑은 고딕" pitchFamily="50" charset="-127"/>
              <a:ea typeface="맑은 고딕" pitchFamily="50" charset="-127"/>
            </a:endParaRPr>
          </a:p>
        </p:txBody>
      </p:sp>
      <p:sp>
        <p:nvSpPr>
          <p:cNvPr id="11" name="제목 10"/>
          <p:cNvSpPr>
            <a:spLocks noGrp="1"/>
          </p:cNvSpPr>
          <p:nvPr>
            <p:ph type="title"/>
          </p:nvPr>
        </p:nvSpPr>
        <p:spPr/>
        <p:txBody>
          <a:bodyPr/>
          <a:lstStyle/>
          <a:p>
            <a:r>
              <a:rPr lang="en-US" altLang="ko-KR" dirty="0">
                <a:latin typeface="+mj-ea"/>
                <a:ea typeface="+mj-ea"/>
              </a:rPr>
              <a:t>2</a:t>
            </a:r>
            <a:r>
              <a:rPr lang="en-US" altLang="ko-KR" dirty="0" smtClean="0">
                <a:latin typeface="+mj-ea"/>
                <a:ea typeface="+mj-ea"/>
              </a:rPr>
              <a:t>. </a:t>
            </a:r>
            <a:r>
              <a:rPr lang="ko-KR" altLang="en-US" dirty="0" smtClean="0">
                <a:latin typeface="+mj-ea"/>
                <a:ea typeface="+mj-ea"/>
              </a:rPr>
              <a:t>온라인 출고 반품</a:t>
            </a:r>
            <a:r>
              <a:rPr lang="en-US" altLang="ko-KR" dirty="0" smtClean="0">
                <a:latin typeface="+mj-ea"/>
                <a:ea typeface="+mj-ea"/>
              </a:rPr>
              <a:t>(</a:t>
            </a:r>
            <a:r>
              <a:rPr lang="ko-KR" altLang="en-US" dirty="0" smtClean="0">
                <a:latin typeface="+mj-ea"/>
                <a:ea typeface="+mj-ea"/>
              </a:rPr>
              <a:t>자사</a:t>
            </a:r>
            <a:r>
              <a:rPr lang="en-US" altLang="ko-KR" dirty="0" smtClean="0">
                <a:latin typeface="+mj-ea"/>
                <a:ea typeface="+mj-ea"/>
              </a:rPr>
              <a:t>/</a:t>
            </a:r>
            <a:r>
              <a:rPr lang="ko-KR" altLang="en-US" dirty="0" smtClean="0">
                <a:latin typeface="+mj-ea"/>
                <a:ea typeface="+mj-ea"/>
              </a:rPr>
              <a:t>외부</a:t>
            </a:r>
            <a:r>
              <a:rPr lang="en-US" altLang="ko-KR" dirty="0" smtClean="0">
                <a:latin typeface="+mj-ea"/>
                <a:ea typeface="+mj-ea"/>
              </a:rPr>
              <a:t>)</a:t>
            </a:r>
            <a:endParaRPr lang="ko-KR" altLang="en-US" sz="1400" dirty="0">
              <a:latin typeface="+mj-ea"/>
              <a:ea typeface="+mj-ea"/>
            </a:endParaRPr>
          </a:p>
        </p:txBody>
      </p:sp>
      <p:sp>
        <p:nvSpPr>
          <p:cNvPr id="42" name="TextBox 39"/>
          <p:cNvSpPr txBox="1">
            <a:spLocks noChangeArrowheads="1"/>
          </p:cNvSpPr>
          <p:nvPr/>
        </p:nvSpPr>
        <p:spPr bwMode="auto">
          <a:xfrm>
            <a:off x="218855" y="738114"/>
            <a:ext cx="9594685" cy="563231"/>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smtClean="0">
                <a:latin typeface="+mn-ea"/>
                <a:ea typeface="+mn-ea"/>
              </a:rPr>
              <a:t> </a:t>
            </a:r>
            <a:r>
              <a:rPr kumimoji="0" lang="en-US" altLang="ko-KR" sz="1200" b="1" dirty="0" smtClean="0">
                <a:latin typeface="+mn-ea"/>
                <a:ea typeface="+mn-ea"/>
              </a:rPr>
              <a:t>WMS </a:t>
            </a:r>
            <a:r>
              <a:rPr kumimoji="0" lang="ko-KR" altLang="en-US" sz="1200" b="1" dirty="0" smtClean="0">
                <a:latin typeface="+mn-ea"/>
                <a:ea typeface="+mn-ea"/>
              </a:rPr>
              <a:t>입고 검수</a:t>
            </a:r>
            <a:r>
              <a:rPr kumimoji="0" lang="en-US" altLang="ko-KR" sz="1200" b="1" dirty="0" smtClean="0">
                <a:latin typeface="+mn-ea"/>
                <a:ea typeface="+mn-ea"/>
              </a:rPr>
              <a:t>(</a:t>
            </a:r>
            <a:r>
              <a:rPr kumimoji="0" lang="ko-KR" altLang="en-US" sz="1200" b="1" dirty="0" smtClean="0">
                <a:latin typeface="+mn-ea"/>
                <a:ea typeface="+mn-ea"/>
              </a:rPr>
              <a:t>가 입고</a:t>
            </a:r>
            <a:r>
              <a:rPr kumimoji="0" lang="en-US" altLang="ko-KR" sz="1200" b="1" dirty="0" smtClean="0">
                <a:latin typeface="+mn-ea"/>
                <a:ea typeface="+mn-ea"/>
              </a:rPr>
              <a:t>, </a:t>
            </a:r>
            <a:r>
              <a:rPr kumimoji="0" lang="ko-KR" altLang="en-US" sz="1200" b="1" dirty="0" smtClean="0">
                <a:latin typeface="+mn-ea"/>
                <a:ea typeface="+mn-ea"/>
              </a:rPr>
              <a:t>가 확정</a:t>
            </a:r>
            <a:r>
              <a:rPr kumimoji="0" lang="en-US" altLang="ko-KR" sz="1200" b="1" dirty="0" smtClean="0">
                <a:latin typeface="+mn-ea"/>
                <a:ea typeface="+mn-ea"/>
              </a:rPr>
              <a:t>)</a:t>
            </a:r>
            <a:r>
              <a:rPr kumimoji="0" lang="ko-KR" altLang="en-US" sz="1200" b="1" dirty="0" smtClean="0">
                <a:latin typeface="+mn-ea"/>
                <a:ea typeface="+mn-ea"/>
              </a:rPr>
              <a:t>에 대한 판매 반품</a:t>
            </a:r>
            <a:r>
              <a:rPr kumimoji="0" lang="en-US" altLang="ko-KR" sz="1200" b="1" dirty="0" smtClean="0">
                <a:latin typeface="+mn-ea"/>
                <a:ea typeface="+mn-ea"/>
              </a:rPr>
              <a:t>, WMS </a:t>
            </a:r>
            <a:r>
              <a:rPr kumimoji="0" lang="ko-KR" altLang="en-US" sz="1200" b="1" dirty="0" smtClean="0">
                <a:latin typeface="+mn-ea"/>
                <a:ea typeface="+mn-ea"/>
              </a:rPr>
              <a:t>매장 출고 실적 생성</a:t>
            </a:r>
            <a:r>
              <a:rPr kumimoji="0" lang="en-US" altLang="ko-KR" sz="1200" b="1" dirty="0" smtClean="0">
                <a:latin typeface="+mn-ea"/>
                <a:ea typeface="+mn-ea"/>
              </a:rPr>
              <a:t>.</a:t>
            </a:r>
            <a:r>
              <a:rPr kumimoji="0" lang="ko-KR" altLang="en-US" sz="1200" b="1" dirty="0" smtClean="0">
                <a:latin typeface="+mn-ea"/>
                <a:ea typeface="+mn-ea"/>
              </a:rPr>
              <a:t> </a:t>
            </a:r>
            <a:endParaRPr kumimoji="0" lang="en-US" altLang="ko-KR" sz="1200" b="1" dirty="0" smtClean="0">
              <a:latin typeface="+mn-ea"/>
              <a:ea typeface="+mn-ea"/>
            </a:endParaRPr>
          </a:p>
          <a:p>
            <a:pPr algn="just" eaLnBrk="0" latinLnBrk="0" hangingPunct="0">
              <a:lnSpc>
                <a:spcPct val="140000"/>
              </a:lnSpc>
              <a:buClr>
                <a:schemeClr val="tx2"/>
              </a:buClr>
              <a:buSzPct val="75000"/>
              <a:buFontTx/>
              <a:buChar char="•"/>
              <a:defRPr/>
            </a:pPr>
            <a:r>
              <a:rPr kumimoji="0" lang="ko-KR" altLang="en-US" sz="1200" b="1" dirty="0" smtClean="0">
                <a:latin typeface="+mn-ea"/>
                <a:ea typeface="+mn-ea"/>
              </a:rPr>
              <a:t> 자사</a:t>
            </a:r>
            <a:r>
              <a:rPr kumimoji="0" lang="en-US" altLang="ko-KR" sz="1200" b="1" dirty="0" smtClean="0">
                <a:latin typeface="+mn-ea"/>
                <a:ea typeface="+mn-ea"/>
              </a:rPr>
              <a:t>/</a:t>
            </a:r>
            <a:r>
              <a:rPr kumimoji="0" lang="ko-KR" altLang="en-US" sz="1200" b="1" dirty="0" smtClean="0">
                <a:latin typeface="+mn-ea"/>
                <a:ea typeface="+mn-ea"/>
              </a:rPr>
              <a:t>외부</a:t>
            </a:r>
            <a:r>
              <a:rPr kumimoji="0" lang="ko-KR" altLang="en-US" sz="1200" b="1" dirty="0" smtClean="0">
                <a:latin typeface="+mn-ea"/>
                <a:ea typeface="+mn-ea"/>
              </a:rPr>
              <a:t> 몰 </a:t>
            </a:r>
            <a:r>
              <a:rPr kumimoji="0" lang="ko-KR" altLang="en-US" sz="1200" b="1" dirty="0" smtClean="0">
                <a:latin typeface="+mn-ea"/>
                <a:ea typeface="+mn-ea"/>
              </a:rPr>
              <a:t>출고 반품을 등록</a:t>
            </a:r>
            <a:r>
              <a:rPr kumimoji="0" lang="en-US" altLang="ko-KR" sz="1200" b="1" dirty="0" smtClean="0">
                <a:latin typeface="+mn-ea"/>
                <a:ea typeface="+mn-ea"/>
              </a:rPr>
              <a:t>. </a:t>
            </a:r>
            <a:r>
              <a:rPr kumimoji="0" lang="ko-KR" altLang="en-US" sz="1200" b="1" dirty="0" smtClean="0">
                <a:latin typeface="+mn-ea"/>
                <a:ea typeface="+mn-ea"/>
              </a:rPr>
              <a:t>출고 반품 발생시 창고</a:t>
            </a:r>
            <a:r>
              <a:rPr kumimoji="0" lang="en-US" altLang="ko-KR" sz="1200" b="1" dirty="0" smtClean="0">
                <a:latin typeface="+mn-ea"/>
                <a:ea typeface="+mn-ea"/>
              </a:rPr>
              <a:t>(OA)</a:t>
            </a:r>
            <a:r>
              <a:rPr kumimoji="0" lang="ko-KR" altLang="en-US" sz="1200" b="1" dirty="0" smtClean="0">
                <a:latin typeface="+mn-ea"/>
                <a:ea typeface="+mn-ea"/>
              </a:rPr>
              <a:t>에서 출고지 매장</a:t>
            </a:r>
            <a:r>
              <a:rPr kumimoji="0" lang="en-US" altLang="ko-KR" sz="1200" b="1" dirty="0" smtClean="0">
                <a:latin typeface="+mn-ea"/>
                <a:ea typeface="+mn-ea"/>
              </a:rPr>
              <a:t>(WMS </a:t>
            </a:r>
            <a:r>
              <a:rPr kumimoji="0" lang="ko-KR" altLang="en-US" sz="1200" b="1" dirty="0" smtClean="0">
                <a:latin typeface="+mn-ea"/>
                <a:ea typeface="+mn-ea"/>
              </a:rPr>
              <a:t>센터 매장 </a:t>
            </a:r>
            <a:r>
              <a:rPr kumimoji="0" lang="en-US" altLang="ko-KR" sz="1200" b="1" dirty="0" smtClean="0">
                <a:latin typeface="+mn-ea"/>
                <a:ea typeface="+mn-ea"/>
              </a:rPr>
              <a:t>: STS027)</a:t>
            </a:r>
            <a:r>
              <a:rPr kumimoji="0" lang="ko-KR" altLang="en-US" sz="1200" b="1" dirty="0" smtClean="0">
                <a:latin typeface="+mn-ea"/>
                <a:ea typeface="+mn-ea"/>
              </a:rPr>
              <a:t>로 출고 처리를 한다</a:t>
            </a:r>
            <a:r>
              <a:rPr kumimoji="0" lang="en-US" altLang="ko-KR" sz="1200" b="1" dirty="0" smtClean="0">
                <a:latin typeface="+mn-ea"/>
                <a:ea typeface="+mn-ea"/>
              </a:rPr>
              <a:t>.</a:t>
            </a:r>
            <a:r>
              <a:rPr kumimoji="0" lang="ko-KR" altLang="en-US" sz="1200" b="1" dirty="0" smtClean="0">
                <a:latin typeface="+mn-ea"/>
                <a:ea typeface="+mn-ea"/>
              </a:rPr>
              <a:t> </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latinLnBrk="0" hangingPunct="0">
                <a:lnSpc>
                  <a:spcPct val="140000"/>
                </a:lnSpc>
                <a:buClr>
                  <a:schemeClr val="tx2"/>
                </a:buClr>
                <a:buSzPct val="75000"/>
                <a:buFont typeface="Wingdings" panose="05000000000000000000" pitchFamily="2" charset="2"/>
                <a:buChar char="u"/>
              </a:pPr>
              <a:r>
                <a:rPr kumimoji="0" lang="en-US" altLang="ko-KR" sz="900" b="1" dirty="0" smtClean="0">
                  <a:latin typeface="+mn-ea"/>
                  <a:ea typeface="+mn-ea"/>
                </a:rPr>
                <a:t> </a:t>
              </a:r>
              <a:r>
                <a:rPr kumimoji="0" lang="ko-KR" altLang="en-US" sz="900" b="1" dirty="0">
                  <a:latin typeface="+mn-ea"/>
                  <a:ea typeface="+mn-ea"/>
                </a:rPr>
                <a:t>정의</a:t>
              </a:r>
            </a:p>
            <a:p>
              <a:pPr eaLnBrk="0" latinLnBrk="0" hangingPunct="0">
                <a:lnSpc>
                  <a:spcPct val="140000"/>
                </a:lnSpc>
                <a:buClr>
                  <a:schemeClr val="tx2"/>
                </a:buClr>
                <a:buSzPct val="75000"/>
              </a:pPr>
              <a:r>
                <a:rPr kumimoji="0" lang="en-US" altLang="ko-KR" sz="900" dirty="0" smtClean="0">
                  <a:latin typeface="+mn-ea"/>
                  <a:ea typeface="+mn-ea"/>
                </a:rPr>
                <a:t>WMS </a:t>
              </a:r>
              <a:r>
                <a:rPr kumimoji="0" lang="ko-KR" altLang="en-US" sz="900" dirty="0" smtClean="0">
                  <a:latin typeface="+mn-ea"/>
                  <a:ea typeface="+mn-ea"/>
                </a:rPr>
                <a:t>입고 검수</a:t>
              </a:r>
              <a:r>
                <a:rPr kumimoji="0" lang="en-US" altLang="ko-KR" sz="900" dirty="0" smtClean="0">
                  <a:latin typeface="+mn-ea"/>
                  <a:ea typeface="+mn-ea"/>
                </a:rPr>
                <a:t>(</a:t>
              </a:r>
              <a:r>
                <a:rPr kumimoji="0" lang="ko-KR" altLang="en-US" sz="900" dirty="0" smtClean="0">
                  <a:latin typeface="+mn-ea"/>
                  <a:ea typeface="+mn-ea"/>
                </a:rPr>
                <a:t>클레임</a:t>
              </a:r>
              <a:r>
                <a:rPr kumimoji="0" lang="en-US" altLang="ko-KR" sz="900" dirty="0">
                  <a:latin typeface="+mn-ea"/>
                  <a:ea typeface="+mn-ea"/>
                </a:rPr>
                <a:t> </a:t>
              </a:r>
              <a:r>
                <a:rPr kumimoji="0" lang="ko-KR" altLang="en-US" sz="900" dirty="0" smtClean="0">
                  <a:latin typeface="+mn-ea"/>
                  <a:ea typeface="+mn-ea"/>
                </a:rPr>
                <a:t>포함</a:t>
              </a:r>
              <a:r>
                <a:rPr kumimoji="0" lang="en-US" altLang="ko-KR" sz="900" dirty="0" smtClean="0">
                  <a:latin typeface="+mn-ea"/>
                  <a:ea typeface="+mn-ea"/>
                </a:rPr>
                <a:t>) </a:t>
              </a:r>
              <a:r>
                <a:rPr kumimoji="0" lang="ko-KR" altLang="en-US" sz="900" dirty="0" smtClean="0">
                  <a:latin typeface="+mn-ea"/>
                  <a:ea typeface="+mn-ea"/>
                </a:rPr>
                <a:t>내역을 </a:t>
              </a:r>
              <a:r>
                <a:rPr kumimoji="0" lang="en-US" altLang="ko-KR" sz="900" dirty="0" smtClean="0">
                  <a:latin typeface="+mn-ea"/>
                  <a:ea typeface="+mn-ea"/>
                </a:rPr>
                <a:t>I/F   </a:t>
              </a:r>
            </a:p>
            <a:p>
              <a:pPr eaLnBrk="0" latinLnBrk="0" hangingPunct="0">
                <a:lnSpc>
                  <a:spcPct val="140000"/>
                </a:lnSpc>
                <a:buClr>
                  <a:schemeClr val="tx2"/>
                </a:buClr>
                <a:buSzPct val="75000"/>
              </a:pPr>
              <a:r>
                <a:rPr kumimoji="0" lang="ko-KR" altLang="en-US" sz="900" dirty="0" smtClean="0">
                  <a:latin typeface="+mn-ea"/>
                  <a:ea typeface="+mn-ea"/>
                </a:rPr>
                <a:t>받아 패션</a:t>
              </a:r>
              <a:r>
                <a:rPr kumimoji="0" lang="en-US" altLang="ko-KR" sz="900" dirty="0" smtClean="0">
                  <a:latin typeface="+mn-ea"/>
                  <a:ea typeface="+mn-ea"/>
                </a:rPr>
                <a:t>ERP </a:t>
              </a:r>
              <a:r>
                <a:rPr kumimoji="0" lang="ko-KR" altLang="en-US" sz="900" dirty="0" smtClean="0">
                  <a:latin typeface="+mn-ea"/>
                  <a:ea typeface="+mn-ea"/>
                </a:rPr>
                <a:t>실적 생성</a:t>
              </a:r>
              <a:r>
                <a:rPr kumimoji="0" lang="en-US" altLang="ko-KR" sz="900" dirty="0" smtClean="0">
                  <a:latin typeface="+mn-ea"/>
                  <a:ea typeface="+mn-ea"/>
                </a:rPr>
                <a:t>. </a:t>
              </a:r>
              <a:endParaRPr kumimoji="0" lang="en-US" altLang="ko-KR" sz="900" dirty="0" smtClean="0">
                <a:latin typeface="+mn-ea"/>
                <a:ea typeface="+mn-ea"/>
              </a:endParaRPr>
            </a:p>
            <a:p>
              <a:pPr eaLnBrk="0" latinLnBrk="0" hangingPunct="0">
                <a:lnSpc>
                  <a:spcPct val="140000"/>
                </a:lnSpc>
                <a:buClr>
                  <a:schemeClr val="tx2"/>
                </a:buClr>
                <a:buSzPct val="75000"/>
              </a:pPr>
              <a:r>
                <a:rPr kumimoji="0" lang="en-US" altLang="ko-KR" sz="900" dirty="0" smtClean="0">
                  <a:latin typeface="+mn-ea"/>
                  <a:ea typeface="+mn-ea"/>
                </a:rPr>
                <a:t>  </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자사 몰은 </a:t>
              </a:r>
              <a:r>
                <a:rPr kumimoji="0" lang="ko-KR" altLang="en-US" sz="900" dirty="0" smtClean="0">
                  <a:latin typeface="+mn-ea"/>
                  <a:ea typeface="+mn-ea"/>
                  <a:sym typeface="Wingdings" panose="05000000000000000000" pitchFamily="2" charset="2"/>
                </a:rPr>
                <a:t>판매 반품 없이 출고 반품</a:t>
              </a:r>
              <a:r>
                <a:rPr kumimoji="0" lang="en-US" altLang="ko-KR" sz="900" dirty="0" smtClean="0">
                  <a:latin typeface="+mn-ea"/>
                  <a:ea typeface="+mn-ea"/>
                  <a:sym typeface="Wingdings" panose="05000000000000000000" pitchFamily="2" charset="2"/>
                </a:rPr>
                <a:t>(WMS </a:t>
              </a:r>
              <a:r>
                <a:rPr kumimoji="0" lang="ko-KR" altLang="en-US" sz="900" dirty="0" smtClean="0">
                  <a:latin typeface="+mn-ea"/>
                  <a:ea typeface="+mn-ea"/>
                  <a:sym typeface="Wingdings" panose="05000000000000000000" pitchFamily="2" charset="2"/>
                </a:rPr>
                <a:t>매장</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처리</a:t>
              </a:r>
              <a:r>
                <a:rPr kumimoji="0" lang="en-US" altLang="ko-KR" sz="900" dirty="0" smtClean="0">
                  <a:latin typeface="+mn-ea"/>
                  <a:ea typeface="+mn-ea"/>
                  <a:sym typeface="Wingdings" panose="05000000000000000000" pitchFamily="2" charset="2"/>
                </a:rPr>
                <a:t>.</a:t>
              </a:r>
            </a:p>
            <a:p>
              <a:pPr eaLnBrk="0" latinLnBrk="0" hangingPunct="0">
                <a:lnSpc>
                  <a:spcPct val="140000"/>
                </a:lnSpc>
                <a:buClr>
                  <a:schemeClr val="tx2"/>
                </a:buClr>
                <a:buSzPct val="75000"/>
              </a:pPr>
              <a:r>
                <a:rPr kumimoji="0" lang="en-US" altLang="ko-KR" sz="900" dirty="0" smtClean="0">
                  <a:latin typeface="+mn-ea"/>
                  <a:ea typeface="+mn-ea"/>
                  <a:sym typeface="Wingdings" panose="05000000000000000000" pitchFamily="2" charset="2"/>
                </a:rPr>
                <a:t>: </a:t>
              </a:r>
              <a:r>
                <a:rPr kumimoji="0" lang="ko-KR" altLang="en-US" sz="900" dirty="0" err="1">
                  <a:latin typeface="+mn-ea"/>
                  <a:ea typeface="+mn-ea"/>
                  <a:sym typeface="Wingdings" panose="05000000000000000000" pitchFamily="2" charset="2"/>
                </a:rPr>
                <a:t>자사몰</a:t>
              </a:r>
              <a:r>
                <a:rPr kumimoji="0" lang="en-US" altLang="ko-KR" sz="900" dirty="0">
                  <a:latin typeface="+mn-ea"/>
                  <a:ea typeface="+mn-ea"/>
                  <a:sym typeface="Wingdings" panose="05000000000000000000" pitchFamily="2" charset="2"/>
                </a:rPr>
                <a:t>/</a:t>
              </a:r>
              <a:r>
                <a:rPr kumimoji="0" lang="ko-KR" altLang="en-US" sz="900" dirty="0" err="1">
                  <a:latin typeface="+mn-ea"/>
                  <a:ea typeface="+mn-ea"/>
                  <a:sym typeface="Wingdings" panose="05000000000000000000" pitchFamily="2" charset="2"/>
                </a:rPr>
                <a:t>외부몰</a:t>
              </a:r>
              <a:r>
                <a:rPr kumimoji="0" lang="ko-KR" altLang="en-US" sz="900" dirty="0">
                  <a:latin typeface="+mn-ea"/>
                  <a:ea typeface="+mn-ea"/>
                  <a:sym typeface="Wingdings" panose="05000000000000000000" pitchFamily="2" charset="2"/>
                </a:rPr>
                <a:t> 모두 판매 반품 없이 출고지</a:t>
              </a:r>
              <a:r>
                <a:rPr kumimoji="0" lang="en-US" altLang="ko-KR" sz="900" dirty="0">
                  <a:latin typeface="+mn-ea"/>
                  <a:ea typeface="+mn-ea"/>
                  <a:sym typeface="Wingdings" panose="05000000000000000000" pitchFamily="2" charset="2"/>
                </a:rPr>
                <a:t>(</a:t>
              </a:r>
              <a:r>
                <a:rPr kumimoji="0" lang="ko-KR" altLang="en-US" sz="900" dirty="0">
                  <a:latin typeface="+mn-ea"/>
                  <a:ea typeface="+mn-ea"/>
                  <a:sym typeface="Wingdings" panose="05000000000000000000" pitchFamily="2" charset="2"/>
                </a:rPr>
                <a:t>매장</a:t>
              </a:r>
              <a:r>
                <a:rPr kumimoji="0" lang="en-US" altLang="ko-KR" sz="900" dirty="0">
                  <a:latin typeface="+mn-ea"/>
                  <a:ea typeface="+mn-ea"/>
                  <a:sym typeface="Wingdings" panose="05000000000000000000" pitchFamily="2" charset="2"/>
                </a:rPr>
                <a:t>) </a:t>
              </a:r>
              <a:r>
                <a:rPr kumimoji="0" lang="ko-KR" altLang="en-US" sz="900" dirty="0">
                  <a:latin typeface="+mn-ea"/>
                  <a:ea typeface="+mn-ea"/>
                  <a:sym typeface="Wingdings" panose="05000000000000000000" pitchFamily="2" charset="2"/>
                </a:rPr>
                <a:t>입고만 </a:t>
              </a:r>
              <a:r>
                <a:rPr kumimoji="0" lang="ko-KR" altLang="en-US" sz="900" dirty="0" smtClean="0">
                  <a:latin typeface="+mn-ea"/>
                  <a:ea typeface="+mn-ea"/>
                  <a:sym typeface="Wingdings" panose="05000000000000000000" pitchFamily="2" charset="2"/>
                </a:rPr>
                <a:t>처리함</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ko-KR" altLang="en-US" sz="900" b="1" dirty="0" smtClean="0">
                  <a:latin typeface="+mn-ea"/>
                  <a:ea typeface="+mn-ea"/>
                </a:rPr>
                <a:t> </a:t>
              </a:r>
              <a:r>
                <a:rPr kumimoji="0" lang="ko-KR" altLang="en-US" sz="900" b="1" dirty="0" smtClean="0">
                  <a:latin typeface="+mn-ea"/>
                  <a:ea typeface="+mn-ea"/>
                </a:rPr>
                <a:t>선행 프로세스</a:t>
              </a:r>
            </a:p>
            <a:p>
              <a:pPr eaLnBrk="0" latinLnBrk="0" hangingPunct="0">
                <a:lnSpc>
                  <a:spcPct val="140000"/>
                </a:lnSpc>
                <a:buClr>
                  <a:schemeClr val="tx2"/>
                </a:buClr>
                <a:buSzPct val="75000"/>
              </a:pPr>
              <a:r>
                <a:rPr kumimoji="0" lang="en-US" altLang="ko-KR" sz="900" dirty="0" smtClean="0">
                  <a:latin typeface="+mn-ea"/>
                  <a:ea typeface="+mn-ea"/>
                </a:rPr>
                <a:t>1. </a:t>
              </a:r>
              <a:r>
                <a:rPr kumimoji="0" lang="en-US" altLang="ko-KR" sz="900" dirty="0" smtClean="0">
                  <a:latin typeface="+mn-ea"/>
                  <a:ea typeface="+mn-ea"/>
                </a:rPr>
                <a:t>WMS </a:t>
              </a:r>
              <a:r>
                <a:rPr kumimoji="0" lang="ko-KR" altLang="en-US" sz="900" dirty="0" smtClean="0">
                  <a:latin typeface="+mn-ea"/>
                  <a:ea typeface="+mn-ea"/>
                </a:rPr>
                <a:t>입고 검수 </a:t>
              </a:r>
              <a:r>
                <a:rPr kumimoji="0" lang="en-US" altLang="ko-KR" sz="900" dirty="0" smtClean="0">
                  <a:latin typeface="+mn-ea"/>
                  <a:ea typeface="+mn-ea"/>
                  <a:sym typeface="Wingdings" panose="05000000000000000000" pitchFamily="2" charset="2"/>
                </a:rPr>
                <a:t> BO  </a:t>
              </a:r>
              <a:r>
                <a:rPr kumimoji="0" lang="ko-KR" altLang="en-US" sz="900" dirty="0" smtClean="0">
                  <a:latin typeface="+mn-ea"/>
                  <a:ea typeface="+mn-ea"/>
                  <a:sym typeface="Wingdings" panose="05000000000000000000" pitchFamily="2" charset="2"/>
                </a:rPr>
                <a:t>패션</a:t>
              </a:r>
              <a:r>
                <a:rPr kumimoji="0" lang="en-US" altLang="ko-KR" sz="900" dirty="0" smtClean="0">
                  <a:latin typeface="+mn-ea"/>
                  <a:ea typeface="+mn-ea"/>
                  <a:sym typeface="Wingdings" panose="05000000000000000000" pitchFamily="2" charset="2"/>
                </a:rPr>
                <a:t>ERP</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a:latin typeface="+mn-ea"/>
                  <a:ea typeface="+mn-ea"/>
                  <a:sym typeface="Wingdings" panose="05000000000000000000" pitchFamily="2" charset="2"/>
                </a:rPr>
                <a:t> </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rPr>
                <a:t> </a:t>
              </a:r>
              <a:endParaRPr kumimoji="0" lang="ko-KR" altLang="en-US" sz="900" dirty="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a:latin typeface="+mn-ea"/>
                  <a:ea typeface="+mn-ea"/>
                </a:rPr>
                <a:t> </a:t>
              </a:r>
              <a:r>
                <a:rPr kumimoji="0" lang="ko-KR" altLang="en-US" sz="900" b="1" dirty="0">
                  <a:latin typeface="+mn-ea"/>
                  <a:ea typeface="+mn-ea"/>
                </a:rPr>
                <a:t>후행 프로세스</a:t>
              </a:r>
            </a:p>
            <a:p>
              <a:pPr eaLnBrk="0" latinLnBrk="0" hangingPunct="0">
                <a:lnSpc>
                  <a:spcPct val="140000"/>
                </a:lnSpc>
                <a:buClr>
                  <a:schemeClr val="tx2"/>
                </a:buClr>
                <a:buSzPct val="75000"/>
              </a:pPr>
              <a:r>
                <a:rPr kumimoji="0" lang="en-US" altLang="ko-KR" sz="900" dirty="0" smtClean="0">
                  <a:latin typeface="+mn-ea"/>
                  <a:ea typeface="+mn-ea"/>
                </a:rPr>
                <a:t>1</a:t>
              </a:r>
              <a:r>
                <a:rPr kumimoji="0" lang="en-US" altLang="ko-KR" sz="900" dirty="0" smtClean="0">
                  <a:latin typeface="+mn-ea"/>
                  <a:ea typeface="+mn-ea"/>
                </a:rPr>
                <a:t>. </a:t>
              </a:r>
              <a:r>
                <a:rPr kumimoji="0" lang="ko-KR" altLang="en-US" sz="900" dirty="0" smtClean="0">
                  <a:latin typeface="+mn-ea"/>
                  <a:ea typeface="+mn-ea"/>
                </a:rPr>
                <a:t>자사 몰 판매 실적</a:t>
              </a:r>
              <a:r>
                <a:rPr kumimoji="0" lang="en-US" altLang="ko-KR" sz="900" dirty="0" smtClean="0">
                  <a:latin typeface="+mn-ea"/>
                  <a:ea typeface="+mn-ea"/>
                </a:rPr>
                <a:t>, </a:t>
              </a:r>
              <a:r>
                <a:rPr kumimoji="0" lang="ko-KR" altLang="en-US" sz="900" dirty="0" err="1" smtClean="0">
                  <a:latin typeface="+mn-ea"/>
                  <a:ea typeface="+mn-ea"/>
                </a:rPr>
                <a:t>외부몰</a:t>
              </a:r>
              <a:r>
                <a:rPr kumimoji="0" lang="ko-KR" altLang="en-US" sz="900" dirty="0" smtClean="0">
                  <a:latin typeface="+mn-ea"/>
                  <a:ea typeface="+mn-ea"/>
                </a:rPr>
                <a:t> 판매 정산</a:t>
              </a:r>
              <a:r>
                <a:rPr kumimoji="0" lang="en-US" altLang="ko-KR" sz="900" dirty="0" smtClean="0">
                  <a:latin typeface="+mn-ea"/>
                  <a:ea typeface="+mn-ea"/>
                </a:rPr>
                <a:t>,</a:t>
              </a:r>
            </a:p>
            <a:p>
              <a:pPr eaLnBrk="0" latinLnBrk="0" hangingPunct="0">
                <a:lnSpc>
                  <a:spcPct val="140000"/>
                </a:lnSpc>
                <a:buClr>
                  <a:schemeClr val="tx2"/>
                </a:buClr>
                <a:buSzPct val="75000"/>
              </a:pPr>
              <a:r>
                <a:rPr kumimoji="0" lang="en-US" altLang="ko-KR" sz="900" dirty="0">
                  <a:latin typeface="+mn-ea"/>
                  <a:ea typeface="+mn-ea"/>
                </a:rPr>
                <a:t> </a:t>
              </a:r>
              <a:r>
                <a:rPr kumimoji="0" lang="en-US" altLang="ko-KR" sz="900" dirty="0" smtClean="0">
                  <a:latin typeface="+mn-ea"/>
                  <a:ea typeface="+mn-ea"/>
                </a:rPr>
                <a:t>  </a:t>
              </a:r>
              <a:r>
                <a:rPr kumimoji="0" lang="ko-KR" altLang="en-US" sz="900" dirty="0" smtClean="0">
                  <a:latin typeface="+mn-ea"/>
                  <a:ea typeface="+mn-ea"/>
                </a:rPr>
                <a:t>자사 몰 구매확정</a:t>
              </a:r>
              <a:endParaRPr kumimoji="0" lang="en-US" altLang="ko-KR" sz="900" dirty="0" smtClean="0">
                <a:latin typeface="+mn-ea"/>
                <a:ea typeface="+mn-ea"/>
              </a:endParaRPr>
            </a:p>
            <a:p>
              <a:pPr eaLnBrk="0" latinLnBrk="0" hangingPunct="0">
                <a:lnSpc>
                  <a:spcPct val="140000"/>
                </a:lnSpc>
                <a:buClr>
                  <a:schemeClr val="tx2"/>
                </a:buClr>
                <a:buSzPct val="75000"/>
              </a:pPr>
              <a:r>
                <a:rPr kumimoji="0" lang="en-US" altLang="ko-KR" sz="900" dirty="0" smtClean="0">
                  <a:latin typeface="+mn-ea"/>
                  <a:ea typeface="+mn-ea"/>
                </a:rPr>
                <a:t>2. </a:t>
              </a:r>
              <a:r>
                <a:rPr kumimoji="0" lang="ko-KR" altLang="en-US" sz="900" dirty="0" err="1">
                  <a:latin typeface="+mn-ea"/>
                  <a:ea typeface="+mn-ea"/>
                </a:rPr>
                <a:t>외부몰</a:t>
              </a:r>
              <a:r>
                <a:rPr kumimoji="0" lang="ko-KR" altLang="en-US" sz="900" dirty="0">
                  <a:latin typeface="+mn-ea"/>
                  <a:ea typeface="+mn-ea"/>
                </a:rPr>
                <a:t> 판매 </a:t>
              </a:r>
              <a:r>
                <a:rPr kumimoji="0" lang="ko-KR" altLang="en-US" sz="900" dirty="0" smtClean="0">
                  <a:latin typeface="+mn-ea"/>
                  <a:ea typeface="+mn-ea"/>
                </a:rPr>
                <a:t>반품</a:t>
              </a:r>
              <a:endParaRPr kumimoji="0" lang="en-US" altLang="ko-KR" sz="900" dirty="0" smtClean="0">
                <a:latin typeface="+mn-ea"/>
                <a:ea typeface="+mn-ea"/>
              </a:endParaRPr>
            </a:p>
            <a:p>
              <a:pPr eaLnBrk="0" latinLnBrk="0" hangingPunct="0">
                <a:lnSpc>
                  <a:spcPct val="140000"/>
                </a:lnSpc>
                <a:buClr>
                  <a:schemeClr val="tx2"/>
                </a:buClr>
                <a:buSzPct val="75000"/>
              </a:pPr>
              <a:r>
                <a:rPr kumimoji="0" lang="en-US" altLang="ko-KR" sz="900" dirty="0" smtClean="0">
                  <a:latin typeface="+mn-ea"/>
                  <a:ea typeface="+mn-ea"/>
                </a:rPr>
                <a:t>3. </a:t>
              </a:r>
              <a:r>
                <a:rPr kumimoji="0" lang="ko-KR" altLang="en-US" sz="900" dirty="0" err="1">
                  <a:latin typeface="+mn-ea"/>
                  <a:ea typeface="+mn-ea"/>
                </a:rPr>
                <a:t>자사몰</a:t>
              </a:r>
              <a:r>
                <a:rPr kumimoji="0" lang="en-US" altLang="ko-KR" sz="900" dirty="0">
                  <a:latin typeface="+mn-ea"/>
                  <a:ea typeface="+mn-ea"/>
                </a:rPr>
                <a:t>/</a:t>
              </a:r>
              <a:r>
                <a:rPr kumimoji="0" lang="ko-KR" altLang="en-US" sz="900" dirty="0" err="1">
                  <a:latin typeface="+mn-ea"/>
                  <a:ea typeface="+mn-ea"/>
                </a:rPr>
                <a:t>외부몰</a:t>
              </a:r>
              <a:r>
                <a:rPr kumimoji="0" lang="ko-KR" altLang="en-US" sz="900" dirty="0">
                  <a:latin typeface="+mn-ea"/>
                  <a:ea typeface="+mn-ea"/>
                </a:rPr>
                <a:t> 판매점 반품 처리</a:t>
              </a:r>
              <a:endParaRPr kumimoji="0" lang="en-US" altLang="ko-KR" sz="900" dirty="0" smtClean="0">
                <a:latin typeface="+mn-ea"/>
                <a:ea typeface="+mn-ea"/>
              </a:endParaRPr>
            </a:p>
            <a:p>
              <a:pPr eaLnBrk="0" latinLnBrk="0" hangingPunct="0">
                <a:lnSpc>
                  <a:spcPct val="140000"/>
                </a:lnSpc>
                <a:buClr>
                  <a:schemeClr val="tx2"/>
                </a:buClr>
                <a:buSzPct val="75000"/>
              </a:pPr>
              <a:endParaRPr kumimoji="0" lang="ko-KR" altLang="en-US" sz="900" dirty="0" smtClean="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smtClean="0">
                  <a:latin typeface="+mn-ea"/>
                  <a:ea typeface="+mn-ea"/>
                </a:rPr>
                <a:t> </a:t>
              </a:r>
              <a:r>
                <a:rPr kumimoji="0" lang="ko-KR" altLang="en-US" sz="900" b="1" dirty="0" smtClean="0">
                  <a:latin typeface="+mn-ea"/>
                  <a:ea typeface="+mn-ea"/>
                </a:rPr>
                <a:t>비즈니스 업무정책</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smtClean="0">
                  <a:latin typeface="+mn-ea"/>
                  <a:ea typeface="+mn-ea"/>
                </a:rPr>
                <a:t>자사 몰은 판매 실적 미 생성</a:t>
              </a:r>
              <a:endParaRPr kumimoji="0" lang="en-US" altLang="ko-KR" sz="900" dirty="0" smtClean="0">
                <a:latin typeface="+mn-ea"/>
                <a:ea typeface="+mn-ea"/>
              </a:endParaRPr>
            </a:p>
            <a:p>
              <a:pPr eaLnBrk="0" latinLnBrk="0" hangingPunct="0">
                <a:lnSpc>
                  <a:spcPct val="140000"/>
                </a:lnSpc>
                <a:buClr>
                  <a:schemeClr val="tx2"/>
                </a:buClr>
                <a:buSzPct val="75000"/>
              </a:pPr>
              <a:r>
                <a:rPr kumimoji="0" lang="en-US" altLang="ko-KR" sz="900" dirty="0" smtClean="0">
                  <a:latin typeface="+mn-ea"/>
                  <a:ea typeface="+mn-ea"/>
                </a:rPr>
                <a:t>2. </a:t>
              </a:r>
              <a:r>
                <a:rPr kumimoji="0" lang="ko-KR" altLang="en-US" sz="900" dirty="0" smtClean="0">
                  <a:latin typeface="+mn-ea"/>
                  <a:ea typeface="+mn-ea"/>
                </a:rPr>
                <a:t>자사</a:t>
              </a:r>
              <a:r>
                <a:rPr kumimoji="0" lang="en-US" altLang="ko-KR" sz="900" dirty="0" smtClean="0">
                  <a:latin typeface="+mn-ea"/>
                  <a:ea typeface="+mn-ea"/>
                </a:rPr>
                <a:t>/</a:t>
              </a:r>
              <a:r>
                <a:rPr kumimoji="0" lang="ko-KR" altLang="en-US" sz="900" dirty="0" smtClean="0">
                  <a:latin typeface="+mn-ea"/>
                  <a:ea typeface="+mn-ea"/>
                </a:rPr>
                <a:t>외부 몰 출고 반품은</a:t>
              </a:r>
              <a:r>
                <a:rPr kumimoji="0" lang="en-US" altLang="ko-KR" sz="900" dirty="0" smtClean="0">
                  <a:latin typeface="+mn-ea"/>
                  <a:ea typeface="+mn-ea"/>
                </a:rPr>
                <a:t> OA</a:t>
              </a:r>
              <a:r>
                <a:rPr kumimoji="0" lang="ko-KR" altLang="en-US" sz="900" dirty="0" smtClean="0">
                  <a:latin typeface="+mn-ea"/>
                  <a:ea typeface="+mn-ea"/>
                </a:rPr>
                <a:t>창고 반품 </a:t>
              </a:r>
              <a:r>
                <a:rPr kumimoji="0" lang="en-US" altLang="ko-KR" sz="900" dirty="0" smtClean="0">
                  <a:latin typeface="+mn-ea"/>
                  <a:ea typeface="+mn-ea"/>
                </a:rPr>
                <a:t>OA </a:t>
              </a:r>
              <a:r>
                <a:rPr kumimoji="0" lang="ko-KR" altLang="en-US" sz="900" dirty="0" smtClean="0">
                  <a:latin typeface="+mn-ea"/>
                  <a:ea typeface="+mn-ea"/>
                </a:rPr>
                <a:t>창고에서 </a:t>
              </a:r>
              <a:r>
                <a:rPr kumimoji="0" lang="en-US" altLang="ko-KR" sz="900" dirty="0" smtClean="0">
                  <a:latin typeface="+mn-ea"/>
                  <a:ea typeface="+mn-ea"/>
                </a:rPr>
                <a:t>WMS</a:t>
              </a:r>
              <a:r>
                <a:rPr kumimoji="0" lang="ko-KR" altLang="en-US" sz="900" dirty="0" smtClean="0">
                  <a:latin typeface="+mn-ea"/>
                  <a:ea typeface="+mn-ea"/>
                </a:rPr>
                <a:t> 매장</a:t>
              </a:r>
              <a:r>
                <a:rPr kumimoji="0" lang="en-US" altLang="ko-KR" sz="900" dirty="0" smtClean="0">
                  <a:latin typeface="+mn-ea"/>
                  <a:ea typeface="+mn-ea"/>
                </a:rPr>
                <a:t>(STS027) </a:t>
              </a:r>
              <a:r>
                <a:rPr kumimoji="0" lang="ko-KR" altLang="en-US" sz="900" dirty="0" smtClean="0">
                  <a:latin typeface="+mn-ea"/>
                  <a:ea typeface="+mn-ea"/>
                </a:rPr>
                <a:t>출고</a:t>
              </a:r>
              <a:r>
                <a:rPr kumimoji="0" lang="en-US" altLang="ko-KR" sz="900" dirty="0" smtClean="0">
                  <a:latin typeface="+mn-ea"/>
                  <a:ea typeface="+mn-ea"/>
                </a:rPr>
                <a:t>(</a:t>
              </a:r>
              <a:r>
                <a:rPr kumimoji="0" lang="ko-KR" altLang="en-US" sz="900" dirty="0">
                  <a:latin typeface="+mn-ea"/>
                  <a:ea typeface="+mn-ea"/>
                </a:rPr>
                <a:t>자사</a:t>
              </a:r>
              <a:r>
                <a:rPr kumimoji="0" lang="en-US" altLang="ko-KR" sz="900" dirty="0">
                  <a:latin typeface="+mn-ea"/>
                  <a:ea typeface="+mn-ea"/>
                </a:rPr>
                <a:t>/</a:t>
              </a:r>
              <a:r>
                <a:rPr kumimoji="0" lang="ko-KR" altLang="en-US" sz="900" dirty="0" err="1">
                  <a:latin typeface="+mn-ea"/>
                  <a:ea typeface="+mn-ea"/>
                </a:rPr>
                <a:t>외부몰</a:t>
              </a:r>
              <a:r>
                <a:rPr kumimoji="0" lang="ko-KR" altLang="en-US" sz="900" dirty="0">
                  <a:latin typeface="+mn-ea"/>
                  <a:ea typeface="+mn-ea"/>
                </a:rPr>
                <a:t> </a:t>
              </a:r>
              <a:r>
                <a:rPr kumimoji="0" lang="ko-KR" altLang="en-US" sz="900" dirty="0" smtClean="0">
                  <a:latin typeface="+mn-ea"/>
                  <a:ea typeface="+mn-ea"/>
                </a:rPr>
                <a:t>모두 </a:t>
              </a:r>
              <a:r>
                <a:rPr kumimoji="0" lang="en-US" altLang="ko-KR" sz="900" dirty="0" smtClean="0">
                  <a:latin typeface="+mn-ea"/>
                  <a:ea typeface="+mn-ea"/>
                </a:rPr>
                <a:t>OA</a:t>
              </a:r>
              <a:r>
                <a:rPr kumimoji="0" lang="ko-KR" altLang="en-US" sz="900" dirty="0">
                  <a:latin typeface="+mn-ea"/>
                  <a:ea typeface="+mn-ea"/>
                </a:rPr>
                <a:t>창고 출고 </a:t>
              </a:r>
              <a:r>
                <a:rPr kumimoji="0" lang="en-US" altLang="ko-KR" sz="900" dirty="0">
                  <a:latin typeface="+mn-ea"/>
                  <a:ea typeface="+mn-ea"/>
                </a:rPr>
                <a:t>-&gt; </a:t>
              </a:r>
              <a:r>
                <a:rPr kumimoji="0" lang="ko-KR" altLang="en-US" sz="900" dirty="0">
                  <a:latin typeface="+mn-ea"/>
                  <a:ea typeface="+mn-ea"/>
                </a:rPr>
                <a:t>출고지</a:t>
              </a:r>
              <a:r>
                <a:rPr kumimoji="0" lang="en-US" altLang="ko-KR" sz="900" dirty="0">
                  <a:latin typeface="+mn-ea"/>
                  <a:ea typeface="+mn-ea"/>
                </a:rPr>
                <a:t>(STS027) </a:t>
              </a:r>
              <a:r>
                <a:rPr kumimoji="0" lang="ko-KR" altLang="en-US" sz="900" dirty="0">
                  <a:latin typeface="+mn-ea"/>
                  <a:ea typeface="+mn-ea"/>
                </a:rPr>
                <a:t>입고 처리만 함</a:t>
              </a:r>
              <a:r>
                <a:rPr kumimoji="0" lang="en-US" altLang="ko-KR" sz="900" dirty="0" smtClean="0">
                  <a:latin typeface="+mn-ea"/>
                  <a:ea typeface="+mn-ea"/>
                </a:rPr>
                <a:t>.)</a:t>
              </a:r>
            </a:p>
            <a:p>
              <a:pPr eaLnBrk="0" latinLnBrk="0" hangingPunct="0">
                <a:lnSpc>
                  <a:spcPct val="140000"/>
                </a:lnSpc>
                <a:buClr>
                  <a:schemeClr val="tx2"/>
                </a:buClr>
                <a:buSzPct val="75000"/>
              </a:pPr>
              <a:r>
                <a:rPr kumimoji="0" lang="en-US" altLang="ko-KR" sz="900" dirty="0" smtClean="0">
                  <a:latin typeface="+mn-ea"/>
                  <a:ea typeface="+mn-ea"/>
                </a:rPr>
                <a:t>3. WMS</a:t>
              </a:r>
              <a:r>
                <a:rPr kumimoji="0" lang="ko-KR" altLang="en-US" sz="900" dirty="0" smtClean="0">
                  <a:latin typeface="+mn-ea"/>
                  <a:ea typeface="+mn-ea"/>
                </a:rPr>
                <a:t>매장 매장 </a:t>
              </a:r>
              <a:r>
                <a:rPr kumimoji="0" lang="ko-KR" altLang="en-US" sz="900" dirty="0" err="1" smtClean="0">
                  <a:latin typeface="+mn-ea"/>
                  <a:ea typeface="+mn-ea"/>
                </a:rPr>
                <a:t>입고시</a:t>
              </a:r>
              <a:r>
                <a:rPr kumimoji="0" lang="ko-KR" altLang="en-US" sz="900" dirty="0" smtClean="0">
                  <a:latin typeface="+mn-ea"/>
                  <a:ea typeface="+mn-ea"/>
                </a:rPr>
                <a:t> 수량만 발생 하고 금액은 모두 </a:t>
              </a:r>
              <a:r>
                <a:rPr kumimoji="0" lang="en-US" altLang="ko-KR" sz="900" dirty="0" smtClean="0">
                  <a:latin typeface="+mn-ea"/>
                  <a:ea typeface="+mn-ea"/>
                </a:rPr>
                <a:t>0</a:t>
              </a:r>
              <a:r>
                <a:rPr kumimoji="0" lang="ko-KR" altLang="en-US" sz="900" dirty="0" smtClean="0">
                  <a:latin typeface="+mn-ea"/>
                  <a:ea typeface="+mn-ea"/>
                </a:rPr>
                <a:t>으로 생성</a:t>
              </a:r>
              <a:r>
                <a:rPr kumimoji="0" lang="en-US" altLang="ko-KR" sz="900" dirty="0" smtClean="0">
                  <a:latin typeface="+mn-ea"/>
                  <a:ea typeface="+mn-ea"/>
                </a:rPr>
                <a:t>.</a:t>
              </a:r>
              <a:r>
                <a:rPr kumimoji="0" lang="ko-KR" altLang="en-US" sz="900" dirty="0" smtClean="0">
                  <a:latin typeface="+mn-ea"/>
                  <a:ea typeface="+mn-ea"/>
                </a:rPr>
                <a:t> </a:t>
              </a:r>
              <a:endParaRPr kumimoji="0" lang="ko-KR" altLang="en-US" sz="900" dirty="0">
                <a:latin typeface="+mn-ea"/>
                <a:ea typeface="+mn-ea"/>
              </a:endParaRPr>
            </a:p>
            <a:p>
              <a:pPr algn="l" eaLnBrk="0" latinLnBrk="0" hangingPunct="0">
                <a:lnSpc>
                  <a:spcPct val="110000"/>
                </a:lnSpc>
                <a:buClr>
                  <a:schemeClr val="tx2"/>
                </a:buClr>
                <a:buSzPct val="75000"/>
                <a:buFont typeface="Wingdings" panose="05000000000000000000" pitchFamily="2" charset="2"/>
                <a:buNone/>
              </a:pPr>
              <a:r>
                <a:rPr kumimoji="0" lang="en-US" altLang="ko-KR" sz="900" dirty="0" smtClean="0">
                  <a:latin typeface="+mn-ea"/>
                  <a:ea typeface="+mn-ea"/>
                </a:rPr>
                <a:t> </a:t>
              </a:r>
              <a:endParaRPr kumimoji="0" lang="en-US" altLang="ko-KR" sz="900" dirty="0">
                <a:latin typeface="+mn-ea"/>
                <a:ea typeface="+mn-ea"/>
              </a:endParaRPr>
            </a:p>
          </p:txBody>
        </p:sp>
      </p:grpSp>
      <p:sp>
        <p:nvSpPr>
          <p:cNvPr id="54" name="Line 50"/>
          <p:cNvSpPr>
            <a:spLocks noChangeShapeType="1"/>
          </p:cNvSpPr>
          <p:nvPr/>
        </p:nvSpPr>
        <p:spPr bwMode="gray">
          <a:xfrm>
            <a:off x="1543589" y="1709725"/>
            <a:ext cx="1412489" cy="0"/>
          </a:xfrm>
          <a:prstGeom prst="line">
            <a:avLst/>
          </a:prstGeom>
          <a:noFill/>
          <a:ln w="9525">
            <a:solidFill>
              <a:srgbClr val="C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sz="800">
              <a:latin typeface="+mn-ea"/>
              <a:ea typeface="+mn-ea"/>
            </a:endParaRPr>
          </a:p>
        </p:txBody>
      </p:sp>
      <p:sp>
        <p:nvSpPr>
          <p:cNvPr id="55" name="Rectangle 51"/>
          <p:cNvSpPr>
            <a:spLocks noChangeArrowheads="1"/>
          </p:cNvSpPr>
          <p:nvPr/>
        </p:nvSpPr>
        <p:spPr bwMode="gray">
          <a:xfrm>
            <a:off x="362490" y="1583450"/>
            <a:ext cx="1201738"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i="1" dirty="0" smtClean="0">
                <a:latin typeface="+mn-ea"/>
                <a:ea typeface="+mn-ea"/>
              </a:rPr>
              <a:t>자사</a:t>
            </a:r>
            <a:r>
              <a:rPr lang="en-US" altLang="ko-KR" sz="800" b="1" i="1" dirty="0" smtClean="0">
                <a:latin typeface="+mn-ea"/>
                <a:ea typeface="+mn-ea"/>
              </a:rPr>
              <a:t>/</a:t>
            </a:r>
            <a:r>
              <a:rPr lang="ko-KR" altLang="en-US" sz="800" b="1" i="1" dirty="0" err="1" smtClean="0">
                <a:latin typeface="+mn-ea"/>
                <a:ea typeface="+mn-ea"/>
              </a:rPr>
              <a:t>외부몰</a:t>
            </a:r>
            <a:r>
              <a:rPr lang="ko-KR" altLang="en-US" sz="800" b="1" i="1" dirty="0" smtClean="0">
                <a:latin typeface="+mn-ea"/>
                <a:ea typeface="+mn-ea"/>
              </a:rPr>
              <a:t> 반품</a:t>
            </a:r>
            <a:endParaRPr lang="ko-KR" altLang="en-US" sz="800" b="1" i="1" dirty="0">
              <a:latin typeface="+mn-ea"/>
              <a:ea typeface="+mn-ea"/>
            </a:endParaRPr>
          </a:p>
        </p:txBody>
      </p:sp>
      <p:sp>
        <p:nvSpPr>
          <p:cNvPr id="66" name="AutoShape 79"/>
          <p:cNvSpPr>
            <a:spLocks noChangeArrowheads="1"/>
          </p:cNvSpPr>
          <p:nvPr/>
        </p:nvSpPr>
        <p:spPr bwMode="auto">
          <a:xfrm>
            <a:off x="2956079" y="1539069"/>
            <a:ext cx="996950" cy="341312"/>
          </a:xfrm>
          <a:prstGeom prst="flowChartTerminator">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800" dirty="0" smtClean="0">
                <a:latin typeface="+mn-ea"/>
                <a:ea typeface="+mn-ea"/>
              </a:rPr>
              <a:t>반품 </a:t>
            </a:r>
            <a:r>
              <a:rPr lang="ko-KR" altLang="en-US" sz="800" dirty="0">
                <a:latin typeface="+mn-ea"/>
                <a:ea typeface="+mn-ea"/>
              </a:rPr>
              <a:t>시작</a:t>
            </a:r>
          </a:p>
        </p:txBody>
      </p:sp>
      <p:sp>
        <p:nvSpPr>
          <p:cNvPr id="67" name="Rectangle 49"/>
          <p:cNvSpPr>
            <a:spLocks noChangeArrowheads="1"/>
          </p:cNvSpPr>
          <p:nvPr/>
        </p:nvSpPr>
        <p:spPr bwMode="gray">
          <a:xfrm>
            <a:off x="2791772" y="2244643"/>
            <a:ext cx="1325563"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인터페이스</a:t>
            </a:r>
            <a:endParaRPr lang="en-US" altLang="ko-KR" sz="800" b="1" dirty="0" smtClean="0">
              <a:latin typeface="+mn-ea"/>
              <a:ea typeface="+mn-ea"/>
            </a:endParaRPr>
          </a:p>
          <a:p>
            <a:pPr algn="ctr"/>
            <a:r>
              <a:rPr lang="ko-KR" altLang="en-US" sz="800" b="1" dirty="0" smtClean="0">
                <a:latin typeface="+mn-ea"/>
                <a:ea typeface="+mn-ea"/>
              </a:rPr>
              <a:t>상태변경</a:t>
            </a:r>
            <a:endParaRPr lang="ko-KR" altLang="en-US" sz="800" b="1" dirty="0">
              <a:latin typeface="+mn-ea"/>
              <a:ea typeface="+mn-ea"/>
            </a:endParaRPr>
          </a:p>
        </p:txBody>
      </p:sp>
      <p:cxnSp>
        <p:nvCxnSpPr>
          <p:cNvPr id="72" name="AutoShape 67"/>
          <p:cNvCxnSpPr>
            <a:cxnSpLocks noChangeShapeType="1"/>
            <a:stCxn id="66" idx="2"/>
            <a:endCxn id="67" idx="0"/>
          </p:cNvCxnSpPr>
          <p:nvPr/>
        </p:nvCxnSpPr>
        <p:spPr bwMode="gray">
          <a:xfrm>
            <a:off x="3454554" y="1880381"/>
            <a:ext cx="0" cy="364262"/>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AutoShape 86"/>
          <p:cNvSpPr>
            <a:spLocks noChangeArrowheads="1"/>
          </p:cNvSpPr>
          <p:nvPr/>
        </p:nvSpPr>
        <p:spPr bwMode="auto">
          <a:xfrm>
            <a:off x="601017" y="217615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온라인출고반품</a:t>
            </a:r>
            <a:endParaRPr lang="en-US" altLang="ko-KR" sz="600" b="1" dirty="0" smtClean="0">
              <a:latin typeface="+mn-ea"/>
              <a:ea typeface="+mn-ea"/>
            </a:endParaRPr>
          </a:p>
          <a:p>
            <a:pPr algn="ctr"/>
            <a:r>
              <a:rPr lang="en-US" altLang="ko-KR" sz="600" b="1" dirty="0">
                <a:latin typeface="+mn-ea"/>
                <a:ea typeface="+mn-ea"/>
              </a:rPr>
              <a:t>T_GWM_RNDS_RETURN</a:t>
            </a:r>
            <a:endParaRPr lang="ko-KR" altLang="en-US" sz="600" b="1" dirty="0">
              <a:latin typeface="+mn-ea"/>
              <a:ea typeface="+mn-ea"/>
            </a:endParaRPr>
          </a:p>
        </p:txBody>
      </p:sp>
      <p:sp>
        <p:nvSpPr>
          <p:cNvPr id="97" name="AutoShape 73"/>
          <p:cNvSpPr>
            <a:spLocks noChangeArrowheads="1"/>
          </p:cNvSpPr>
          <p:nvPr/>
        </p:nvSpPr>
        <p:spPr bwMode="auto">
          <a:xfrm>
            <a:off x="2891567" y="3338990"/>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cxnSp>
        <p:nvCxnSpPr>
          <p:cNvPr id="70" name="AutoShape 67"/>
          <p:cNvCxnSpPr>
            <a:cxnSpLocks noChangeShapeType="1"/>
            <a:stCxn id="67" idx="1"/>
            <a:endCxn id="73" idx="4"/>
          </p:cNvCxnSpPr>
          <p:nvPr/>
        </p:nvCxnSpPr>
        <p:spPr bwMode="gray">
          <a:xfrm flipH="1">
            <a:off x="1167755" y="2415011"/>
            <a:ext cx="1624017" cy="5025"/>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TextBox 94"/>
          <p:cNvSpPr txBox="1">
            <a:spLocks noChangeArrowheads="1"/>
          </p:cNvSpPr>
          <p:nvPr/>
        </p:nvSpPr>
        <p:spPr bwMode="auto">
          <a:xfrm>
            <a:off x="2766364" y="1313765"/>
            <a:ext cx="142155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SP_GWM_RNDS_RETURN</a:t>
            </a:r>
            <a:endParaRPr lang="ko-KR" altLang="en-US" sz="800" b="1" dirty="0">
              <a:latin typeface="+mn-ea"/>
              <a:ea typeface="+mn-ea"/>
            </a:endParaRPr>
          </a:p>
        </p:txBody>
      </p:sp>
      <p:sp>
        <p:nvSpPr>
          <p:cNvPr id="92" name="TextBox 94"/>
          <p:cNvSpPr txBox="1">
            <a:spLocks noChangeArrowheads="1"/>
          </p:cNvSpPr>
          <p:nvPr/>
        </p:nvSpPr>
        <p:spPr bwMode="auto">
          <a:xfrm>
            <a:off x="1272550" y="1853825"/>
            <a:ext cx="1835245"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a:latin typeface="+mn-ea"/>
                <a:sym typeface="Wingdings" panose="05000000000000000000" pitchFamily="2" charset="2"/>
              </a:rPr>
              <a:t>대상 </a:t>
            </a:r>
            <a:r>
              <a:rPr lang="en-US" altLang="ko-KR" sz="800" dirty="0">
                <a:latin typeface="+mn-ea"/>
                <a:sym typeface="Wingdings" panose="05000000000000000000" pitchFamily="2" charset="2"/>
              </a:rPr>
              <a:t>: WH_SHOP_RNDS_ID IS NULL </a:t>
            </a:r>
          </a:p>
          <a:p>
            <a:pPr>
              <a:spcBef>
                <a:spcPct val="20000"/>
              </a:spcBef>
              <a:buClr>
                <a:srgbClr val="003366"/>
              </a:buClr>
            </a:pP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       GRP_CD = ‘MCOM’</a:t>
            </a:r>
          </a:p>
          <a:p>
            <a:pPr>
              <a:spcBef>
                <a:spcPct val="20000"/>
              </a:spcBef>
              <a:buClr>
                <a:srgbClr val="003366"/>
              </a:buClr>
            </a:pPr>
            <a:r>
              <a:rPr lang="en-US" altLang="ko-KR" sz="800" dirty="0" smtClean="0">
                <a:latin typeface="+mn-ea"/>
                <a:ea typeface="+mn-ea"/>
              </a:rPr>
              <a:t>IF_STS : S </a:t>
            </a:r>
            <a:r>
              <a:rPr lang="en-US" altLang="ko-KR" sz="800" dirty="0" smtClean="0">
                <a:latin typeface="+mn-ea"/>
                <a:ea typeface="+mn-ea"/>
                <a:sym typeface="Wingdings" panose="05000000000000000000" pitchFamily="2" charset="2"/>
              </a:rPr>
              <a:t> R </a:t>
            </a:r>
            <a:r>
              <a:rPr lang="ko-KR" altLang="en-US" sz="800" dirty="0" smtClean="0">
                <a:latin typeface="+mn-ea"/>
                <a:ea typeface="+mn-ea"/>
                <a:sym typeface="Wingdings" panose="05000000000000000000" pitchFamily="2" charset="2"/>
              </a:rPr>
              <a:t>갱신</a:t>
            </a:r>
            <a:endParaRPr lang="en-US" altLang="ko-KR" sz="800" dirty="0" smtClean="0">
              <a:latin typeface="+mn-ea"/>
              <a:ea typeface="+mn-ea"/>
              <a:sym typeface="Wingdings" panose="05000000000000000000" pitchFamily="2" charset="2"/>
            </a:endParaRPr>
          </a:p>
        </p:txBody>
      </p:sp>
      <p:cxnSp>
        <p:nvCxnSpPr>
          <p:cNvPr id="95" name="AutoShape 67"/>
          <p:cNvCxnSpPr>
            <a:cxnSpLocks noChangeShapeType="1"/>
            <a:stCxn id="67" idx="2"/>
            <a:endCxn id="97" idx="0"/>
          </p:cNvCxnSpPr>
          <p:nvPr/>
        </p:nvCxnSpPr>
        <p:spPr bwMode="gray">
          <a:xfrm rot="5400000">
            <a:off x="3076942" y="2961378"/>
            <a:ext cx="753612" cy="1613"/>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 Box 82"/>
          <p:cNvSpPr txBox="1">
            <a:spLocks noChangeArrowheads="1"/>
          </p:cNvSpPr>
          <p:nvPr/>
        </p:nvSpPr>
        <p:spPr bwMode="gray">
          <a:xfrm>
            <a:off x="3526774" y="3725204"/>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24" name="AutoShape 67"/>
          <p:cNvCxnSpPr>
            <a:cxnSpLocks noChangeShapeType="1"/>
            <a:stCxn id="97" idx="1"/>
          </p:cNvCxnSpPr>
          <p:nvPr/>
        </p:nvCxnSpPr>
        <p:spPr bwMode="gray">
          <a:xfrm rot="10800000" flipH="1">
            <a:off x="2891567" y="3113965"/>
            <a:ext cx="555530" cy="462356"/>
          </a:xfrm>
          <a:prstGeom prst="bentConnector3">
            <a:avLst>
              <a:gd name="adj1" fmla="val -4115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Text Box 82"/>
          <p:cNvSpPr txBox="1">
            <a:spLocks noChangeArrowheads="1"/>
          </p:cNvSpPr>
          <p:nvPr/>
        </p:nvSpPr>
        <p:spPr bwMode="gray">
          <a:xfrm>
            <a:off x="2711213" y="3354915"/>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28" name="AutoShape 67"/>
          <p:cNvCxnSpPr>
            <a:cxnSpLocks noChangeShapeType="1"/>
            <a:stCxn id="97" idx="2"/>
            <a:endCxn id="143" idx="0"/>
          </p:cNvCxnSpPr>
          <p:nvPr/>
        </p:nvCxnSpPr>
        <p:spPr bwMode="gray">
          <a:xfrm rot="5400000">
            <a:off x="2327360" y="3616179"/>
            <a:ext cx="928108" cy="1323054"/>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AutoShape 86"/>
          <p:cNvSpPr>
            <a:spLocks noChangeArrowheads="1"/>
          </p:cNvSpPr>
          <p:nvPr/>
        </p:nvSpPr>
        <p:spPr bwMode="auto">
          <a:xfrm>
            <a:off x="5259683" y="396906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69" name="AutoShape 86"/>
          <p:cNvSpPr>
            <a:spLocks noChangeArrowheads="1"/>
          </p:cNvSpPr>
          <p:nvPr/>
        </p:nvSpPr>
        <p:spPr bwMode="auto">
          <a:xfrm>
            <a:off x="6141456" y="397091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거래명세서</a:t>
            </a:r>
            <a:endParaRPr lang="en-US" altLang="ko-KR" sz="600" b="1" dirty="0" smtClean="0">
              <a:latin typeface="+mn-ea"/>
              <a:ea typeface="+mn-ea"/>
            </a:endParaRPr>
          </a:p>
          <a:p>
            <a:pPr algn="ctr"/>
            <a:r>
              <a:rPr lang="en-US" altLang="ko-KR" sz="600" b="1" dirty="0" smtClean="0">
                <a:latin typeface="+mn-ea"/>
                <a:ea typeface="+mn-ea"/>
              </a:rPr>
              <a:t>T_TRAN_SPEC</a:t>
            </a:r>
            <a:endParaRPr lang="ko-KR" altLang="en-US" sz="600" b="1" dirty="0">
              <a:latin typeface="+mn-ea"/>
              <a:ea typeface="+mn-ea"/>
            </a:endParaRPr>
          </a:p>
        </p:txBody>
      </p:sp>
      <p:sp>
        <p:nvSpPr>
          <p:cNvPr id="65" name="AutoShape 86"/>
          <p:cNvSpPr>
            <a:spLocks noChangeArrowheads="1"/>
          </p:cNvSpPr>
          <p:nvPr/>
        </p:nvSpPr>
        <p:spPr bwMode="auto">
          <a:xfrm>
            <a:off x="5583941"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매장재고</a:t>
            </a:r>
            <a:endParaRPr lang="en-US" altLang="ko-KR" sz="600" b="1" dirty="0" smtClean="0">
              <a:latin typeface="+mn-ea"/>
              <a:ea typeface="+mn-ea"/>
            </a:endParaRPr>
          </a:p>
          <a:p>
            <a:pPr algn="ctr"/>
            <a:r>
              <a:rPr lang="en-US" altLang="ko-KR" sz="600" b="1" dirty="0" smtClean="0">
                <a:latin typeface="+mn-ea"/>
                <a:ea typeface="+mn-ea"/>
              </a:rPr>
              <a:t>T_SHOP_STOCK</a:t>
            </a:r>
            <a:endParaRPr lang="ko-KR" altLang="en-US" sz="600" b="1" dirty="0">
              <a:latin typeface="+mn-ea"/>
              <a:ea typeface="+mn-ea"/>
            </a:endParaRPr>
          </a:p>
        </p:txBody>
      </p:sp>
      <p:sp>
        <p:nvSpPr>
          <p:cNvPr id="75" name="AutoShape 86"/>
          <p:cNvSpPr>
            <a:spLocks noChangeArrowheads="1"/>
          </p:cNvSpPr>
          <p:nvPr/>
        </p:nvSpPr>
        <p:spPr bwMode="auto">
          <a:xfrm>
            <a:off x="6484244"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창고재고</a:t>
            </a:r>
            <a:endParaRPr lang="en-US" altLang="ko-KR" sz="600" b="1" dirty="0" smtClean="0">
              <a:latin typeface="+mn-ea"/>
              <a:ea typeface="+mn-ea"/>
            </a:endParaRPr>
          </a:p>
          <a:p>
            <a:pPr algn="ctr"/>
            <a:r>
              <a:rPr lang="en-US" altLang="ko-KR" sz="600" b="1" dirty="0" smtClean="0">
                <a:latin typeface="+mn-ea"/>
                <a:ea typeface="+mn-ea"/>
              </a:rPr>
              <a:t>T_WH_STOCK_PRDT</a:t>
            </a:r>
            <a:endParaRPr lang="ko-KR" altLang="en-US" sz="600" b="1" dirty="0">
              <a:latin typeface="+mn-ea"/>
              <a:ea typeface="+mn-ea"/>
            </a:endParaRPr>
          </a:p>
        </p:txBody>
      </p:sp>
      <p:cxnSp>
        <p:nvCxnSpPr>
          <p:cNvPr id="76" name="AutoShape 67"/>
          <p:cNvCxnSpPr>
            <a:cxnSpLocks noChangeShapeType="1"/>
            <a:stCxn id="51" idx="1"/>
            <a:endCxn id="65" idx="3"/>
          </p:cNvCxnSpPr>
          <p:nvPr/>
        </p:nvCxnSpPr>
        <p:spPr bwMode="gray">
          <a:xfrm rot="5400000" flipH="1" flipV="1">
            <a:off x="4981453" y="3083203"/>
            <a:ext cx="1447457" cy="324258"/>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AutoShape 67"/>
          <p:cNvCxnSpPr>
            <a:cxnSpLocks noChangeShapeType="1"/>
            <a:stCxn id="51" idx="1"/>
            <a:endCxn id="75" idx="3"/>
          </p:cNvCxnSpPr>
          <p:nvPr/>
        </p:nvCxnSpPr>
        <p:spPr bwMode="gray">
          <a:xfrm rot="5400000" flipH="1" flipV="1">
            <a:off x="5431604" y="2633052"/>
            <a:ext cx="1447457" cy="1224561"/>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AutoShape 86"/>
          <p:cNvSpPr>
            <a:spLocks noChangeArrowheads="1"/>
          </p:cNvSpPr>
          <p:nvPr/>
        </p:nvSpPr>
        <p:spPr bwMode="auto">
          <a:xfrm>
            <a:off x="4817078"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제품월수불</a:t>
            </a:r>
            <a:endParaRPr lang="en-US" altLang="ko-KR" sz="600" b="1" dirty="0" smtClean="0">
              <a:latin typeface="+mn-ea"/>
              <a:ea typeface="+mn-ea"/>
            </a:endParaRPr>
          </a:p>
          <a:p>
            <a:pPr algn="ctr"/>
            <a:r>
              <a:rPr lang="en-US" altLang="ko-KR" sz="600" b="1" dirty="0" smtClean="0">
                <a:latin typeface="+mn-ea"/>
                <a:ea typeface="+mn-ea"/>
              </a:rPr>
              <a:t>T_M_RNDS</a:t>
            </a:r>
            <a:endParaRPr lang="ko-KR" altLang="en-US" sz="600" b="1" dirty="0">
              <a:latin typeface="+mn-ea"/>
              <a:ea typeface="+mn-ea"/>
            </a:endParaRPr>
          </a:p>
        </p:txBody>
      </p:sp>
      <p:cxnSp>
        <p:nvCxnSpPr>
          <p:cNvPr id="86" name="AutoShape 67"/>
          <p:cNvCxnSpPr>
            <a:cxnSpLocks noChangeShapeType="1"/>
            <a:stCxn id="51" idx="1"/>
            <a:endCxn id="85" idx="3"/>
          </p:cNvCxnSpPr>
          <p:nvPr/>
        </p:nvCxnSpPr>
        <p:spPr bwMode="gray">
          <a:xfrm rot="16200000" flipV="1">
            <a:off x="4598022" y="3024029"/>
            <a:ext cx="1447457" cy="442605"/>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7" name="AutoShape 86"/>
          <p:cNvSpPr>
            <a:spLocks noChangeArrowheads="1"/>
          </p:cNvSpPr>
          <p:nvPr/>
        </p:nvSpPr>
        <p:spPr bwMode="auto">
          <a:xfrm>
            <a:off x="4506150" y="5353634"/>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ea typeface="+mn-ea"/>
              </a:rPr>
              <a:t>온라인출고반품</a:t>
            </a:r>
            <a:endParaRPr lang="en-US" altLang="ko-KR" sz="600" b="1" dirty="0">
              <a:latin typeface="+mn-ea"/>
              <a:ea typeface="+mn-ea"/>
            </a:endParaRPr>
          </a:p>
          <a:p>
            <a:pPr algn="ctr"/>
            <a:r>
              <a:rPr lang="en-US" altLang="ko-KR" sz="600" b="1" dirty="0">
                <a:latin typeface="+mn-ea"/>
                <a:ea typeface="+mn-ea"/>
              </a:rPr>
              <a:t>T_GWM_RNDS_RETURN</a:t>
            </a:r>
            <a:endParaRPr lang="ko-KR" altLang="en-US" sz="600" b="1" dirty="0">
              <a:latin typeface="+mn-ea"/>
              <a:ea typeface="+mn-ea"/>
            </a:endParaRPr>
          </a:p>
        </p:txBody>
      </p:sp>
      <p:sp>
        <p:nvSpPr>
          <p:cNvPr id="103" name="Rectangle 49"/>
          <p:cNvSpPr>
            <a:spLocks noChangeArrowheads="1"/>
          </p:cNvSpPr>
          <p:nvPr/>
        </p:nvSpPr>
        <p:spPr bwMode="gray">
          <a:xfrm>
            <a:off x="1465323" y="5868299"/>
            <a:ext cx="1325563"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인터페이스</a:t>
            </a:r>
            <a:endParaRPr lang="en-US" altLang="ko-KR" sz="800" b="1" dirty="0" smtClean="0">
              <a:latin typeface="+mn-ea"/>
              <a:ea typeface="+mn-ea"/>
            </a:endParaRPr>
          </a:p>
          <a:p>
            <a:pPr algn="ctr"/>
            <a:r>
              <a:rPr lang="ko-KR" altLang="en-US" sz="800" b="1" dirty="0" smtClean="0">
                <a:latin typeface="+mn-ea"/>
                <a:ea typeface="+mn-ea"/>
              </a:rPr>
              <a:t>상태변경</a:t>
            </a:r>
            <a:endParaRPr lang="ko-KR" altLang="en-US" sz="800" b="1" dirty="0">
              <a:latin typeface="+mn-ea"/>
              <a:ea typeface="+mn-ea"/>
            </a:endParaRPr>
          </a:p>
        </p:txBody>
      </p:sp>
      <p:cxnSp>
        <p:nvCxnSpPr>
          <p:cNvPr id="108" name="AutoShape 67"/>
          <p:cNvCxnSpPr>
            <a:cxnSpLocks noChangeShapeType="1"/>
            <a:stCxn id="103" idx="3"/>
            <a:endCxn id="87" idx="3"/>
          </p:cNvCxnSpPr>
          <p:nvPr/>
        </p:nvCxnSpPr>
        <p:spPr bwMode="gray">
          <a:xfrm flipV="1">
            <a:off x="2790886" y="5841392"/>
            <a:ext cx="1998633" cy="197275"/>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AutoShape 67"/>
          <p:cNvCxnSpPr>
            <a:cxnSpLocks noChangeShapeType="1"/>
            <a:stCxn id="143" idx="4"/>
            <a:endCxn id="103" idx="0"/>
          </p:cNvCxnSpPr>
          <p:nvPr/>
        </p:nvCxnSpPr>
        <p:spPr bwMode="gray">
          <a:xfrm flipH="1">
            <a:off x="2128105" y="5094185"/>
            <a:ext cx="1782" cy="774114"/>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AutoShape 67"/>
          <p:cNvCxnSpPr>
            <a:cxnSpLocks noChangeShapeType="1"/>
            <a:stCxn id="143" idx="6"/>
            <a:endCxn id="69" idx="3"/>
          </p:cNvCxnSpPr>
          <p:nvPr/>
        </p:nvCxnSpPr>
        <p:spPr bwMode="gray">
          <a:xfrm flipV="1">
            <a:off x="2444212" y="4458668"/>
            <a:ext cx="3980613" cy="459305"/>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AutoShape 67"/>
          <p:cNvCxnSpPr>
            <a:cxnSpLocks noChangeShapeType="1"/>
            <a:stCxn id="143" idx="6"/>
            <a:endCxn id="51" idx="3"/>
          </p:cNvCxnSpPr>
          <p:nvPr/>
        </p:nvCxnSpPr>
        <p:spPr bwMode="gray">
          <a:xfrm flipV="1">
            <a:off x="2444212" y="4456818"/>
            <a:ext cx="3098840" cy="461155"/>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4" name="TextBox 94"/>
          <p:cNvSpPr txBox="1">
            <a:spLocks noChangeArrowheads="1"/>
          </p:cNvSpPr>
          <p:nvPr/>
        </p:nvSpPr>
        <p:spPr bwMode="auto">
          <a:xfrm>
            <a:off x="5292296" y="1746821"/>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b="1" dirty="0" smtClean="0">
                <a:latin typeface="+mn-ea"/>
                <a:ea typeface="+mn-ea"/>
              </a:rPr>
              <a:t>패션</a:t>
            </a:r>
            <a:r>
              <a:rPr lang="en-US" altLang="ko-KR" sz="800" b="1" dirty="0" smtClean="0">
                <a:latin typeface="+mn-ea"/>
                <a:ea typeface="+mn-ea"/>
              </a:rPr>
              <a:t>ERP </a:t>
            </a:r>
            <a:r>
              <a:rPr lang="ko-KR" altLang="en-US" sz="800" b="1" dirty="0" smtClean="0">
                <a:latin typeface="+mn-ea"/>
                <a:ea typeface="+mn-ea"/>
              </a:rPr>
              <a:t>야간배치 갱신</a:t>
            </a:r>
            <a:endParaRPr lang="ko-KR" altLang="en-US" sz="800" b="1" dirty="0">
              <a:latin typeface="+mn-ea"/>
              <a:ea typeface="+mn-ea"/>
            </a:endParaRPr>
          </a:p>
        </p:txBody>
      </p:sp>
      <p:sp>
        <p:nvSpPr>
          <p:cNvPr id="78" name="TextBox 94"/>
          <p:cNvSpPr txBox="1">
            <a:spLocks noChangeArrowheads="1"/>
          </p:cNvSpPr>
          <p:nvPr/>
        </p:nvSpPr>
        <p:spPr bwMode="auto">
          <a:xfrm>
            <a:off x="3984469" y="3179830"/>
            <a:ext cx="1238561" cy="658642"/>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브랜드마감</a:t>
            </a:r>
            <a:endParaRPr lang="en-US" altLang="ko-KR" sz="800" dirty="0" smtClean="0">
              <a:latin typeface="+mn-ea"/>
              <a:ea typeface="+mn-ea"/>
            </a:endParaRPr>
          </a:p>
          <a:p>
            <a:pPr>
              <a:spcBef>
                <a:spcPct val="20000"/>
              </a:spcBef>
              <a:buClr>
                <a:srgbClr val="003366"/>
              </a:buClr>
            </a:pPr>
            <a:r>
              <a:rPr lang="ko-KR" altLang="en-US" sz="800" dirty="0" smtClean="0">
                <a:latin typeface="+mn-ea"/>
                <a:ea typeface="+mn-ea"/>
              </a:rPr>
              <a:t>매장브랜드</a:t>
            </a:r>
            <a:r>
              <a:rPr lang="en-US" altLang="ko-KR" sz="800" dirty="0" smtClean="0">
                <a:latin typeface="+mn-ea"/>
                <a:ea typeface="+mn-ea"/>
              </a:rPr>
              <a:t>, </a:t>
            </a:r>
            <a:r>
              <a:rPr lang="ko-KR" altLang="en-US" sz="800" dirty="0" smtClean="0">
                <a:latin typeface="+mn-ea"/>
                <a:ea typeface="+mn-ea"/>
              </a:rPr>
              <a:t>폐점여부</a:t>
            </a:r>
            <a:r>
              <a:rPr lang="en-US" altLang="ko-KR" sz="800" dirty="0" smtClean="0">
                <a:latin typeface="+mn-ea"/>
                <a:ea typeface="+mn-ea"/>
              </a:rPr>
              <a:t>,</a:t>
            </a:r>
          </a:p>
          <a:p>
            <a:pPr>
              <a:spcBef>
                <a:spcPct val="20000"/>
              </a:spcBef>
              <a:buClr>
                <a:srgbClr val="003366"/>
              </a:buClr>
            </a:pPr>
            <a:r>
              <a:rPr lang="ko-KR" altLang="en-US" sz="800" dirty="0" err="1" smtClean="0">
                <a:latin typeface="+mn-ea"/>
                <a:ea typeface="+mn-ea"/>
              </a:rPr>
              <a:t>출고지할인마진율</a:t>
            </a:r>
            <a:endParaRPr lang="en-US" altLang="ko-KR" sz="800" dirty="0" smtClean="0">
              <a:latin typeface="+mn-ea"/>
              <a:ea typeface="+mn-ea"/>
            </a:endParaRPr>
          </a:p>
          <a:p>
            <a:pPr>
              <a:spcBef>
                <a:spcPct val="20000"/>
              </a:spcBef>
              <a:buClr>
                <a:srgbClr val="003366"/>
              </a:buClr>
            </a:pPr>
            <a:r>
              <a:rPr lang="ko-KR" altLang="en-US" sz="800" dirty="0" smtClean="0">
                <a:latin typeface="+mn-ea"/>
                <a:ea typeface="+mn-ea"/>
              </a:rPr>
              <a:t>제품유효성</a:t>
            </a:r>
            <a:endParaRPr lang="ko-KR" altLang="en-US" sz="800" dirty="0">
              <a:latin typeface="+mn-ea"/>
              <a:ea typeface="+mn-ea"/>
            </a:endParaRPr>
          </a:p>
        </p:txBody>
      </p:sp>
      <p:cxnSp>
        <p:nvCxnSpPr>
          <p:cNvPr id="81" name="AutoShape 67"/>
          <p:cNvCxnSpPr>
            <a:cxnSpLocks noChangeShapeType="1"/>
            <a:stCxn id="73" idx="3"/>
          </p:cNvCxnSpPr>
          <p:nvPr/>
        </p:nvCxnSpPr>
        <p:spPr bwMode="gray">
          <a:xfrm rot="16200000" flipH="1">
            <a:off x="2040861" y="1507439"/>
            <a:ext cx="267965" cy="2580915"/>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TextBox 94"/>
          <p:cNvSpPr txBox="1">
            <a:spLocks noChangeArrowheads="1"/>
          </p:cNvSpPr>
          <p:nvPr/>
        </p:nvSpPr>
        <p:spPr bwMode="auto">
          <a:xfrm>
            <a:off x="5072888" y="5818084"/>
            <a:ext cx="1835245"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a:latin typeface="+mn-ea"/>
                <a:sym typeface="Wingdings" panose="05000000000000000000" pitchFamily="2" charset="2"/>
              </a:rPr>
              <a:t>대상 </a:t>
            </a:r>
            <a:r>
              <a:rPr lang="en-US" altLang="ko-KR" sz="800" dirty="0">
                <a:latin typeface="+mn-ea"/>
                <a:sym typeface="Wingdings" panose="05000000000000000000" pitchFamily="2" charset="2"/>
              </a:rPr>
              <a:t>: WH_SHOP_RNDS_ID IS NULL </a:t>
            </a:r>
          </a:p>
          <a:p>
            <a:pPr>
              <a:spcBef>
                <a:spcPct val="20000"/>
              </a:spcBef>
              <a:buClr>
                <a:srgbClr val="003366"/>
              </a:buClr>
            </a:pP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       GRP_CD = ‘MCOM’</a:t>
            </a:r>
          </a:p>
          <a:p>
            <a:pPr>
              <a:spcBef>
                <a:spcPct val="20000"/>
              </a:spcBef>
              <a:buClr>
                <a:srgbClr val="003366"/>
              </a:buClr>
            </a:pPr>
            <a:r>
              <a:rPr lang="en-US" altLang="ko-KR" sz="800" dirty="0" smtClean="0">
                <a:latin typeface="+mn-ea"/>
                <a:ea typeface="+mn-ea"/>
              </a:rPr>
              <a:t>IF_STS : S </a:t>
            </a:r>
            <a:r>
              <a:rPr lang="en-US" altLang="ko-KR" sz="800" dirty="0" smtClean="0">
                <a:latin typeface="+mn-ea"/>
                <a:ea typeface="+mn-ea"/>
                <a:sym typeface="Wingdings" panose="05000000000000000000" pitchFamily="2" charset="2"/>
              </a:rPr>
              <a:t> F </a:t>
            </a:r>
            <a:r>
              <a:rPr lang="ko-KR" altLang="en-US" sz="800" dirty="0" smtClean="0">
                <a:latin typeface="+mn-ea"/>
                <a:ea typeface="+mn-ea"/>
                <a:sym typeface="Wingdings" panose="05000000000000000000" pitchFamily="2" charset="2"/>
              </a:rPr>
              <a:t>갱신</a:t>
            </a:r>
            <a:endParaRPr lang="en-US" altLang="ko-KR" sz="800" dirty="0" smtClean="0">
              <a:latin typeface="+mn-ea"/>
              <a:ea typeface="+mn-ea"/>
              <a:sym typeface="Wingdings" panose="05000000000000000000" pitchFamily="2" charset="2"/>
            </a:endParaRPr>
          </a:p>
        </p:txBody>
      </p:sp>
      <p:cxnSp>
        <p:nvCxnSpPr>
          <p:cNvPr id="104" name="AutoShape 67"/>
          <p:cNvCxnSpPr>
            <a:cxnSpLocks noChangeShapeType="1"/>
            <a:stCxn id="143" idx="6"/>
            <a:endCxn id="87" idx="2"/>
          </p:cNvCxnSpPr>
          <p:nvPr/>
        </p:nvCxnSpPr>
        <p:spPr bwMode="gray">
          <a:xfrm>
            <a:off x="2444212" y="4917973"/>
            <a:ext cx="2061938" cy="679540"/>
          </a:xfrm>
          <a:prstGeom prst="bentConnector3">
            <a:avLst>
              <a:gd name="adj1" fmla="val 42469"/>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TextBox 94"/>
          <p:cNvSpPr txBox="1">
            <a:spLocks noChangeArrowheads="1"/>
          </p:cNvSpPr>
          <p:nvPr/>
        </p:nvSpPr>
        <p:spPr bwMode="auto">
          <a:xfrm>
            <a:off x="3288628" y="5385378"/>
            <a:ext cx="1214322"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출고수불</a:t>
            </a:r>
            <a:r>
              <a:rPr lang="en-US" altLang="ko-KR" sz="800" dirty="0" smtClean="0">
                <a:latin typeface="+mn-ea"/>
                <a:ea typeface="+mn-ea"/>
              </a:rPr>
              <a:t>ID UPDATE</a:t>
            </a:r>
            <a:endParaRPr lang="ko-KR" altLang="en-US" sz="800" dirty="0">
              <a:latin typeface="+mn-ea"/>
              <a:ea typeface="+mn-ea"/>
            </a:endParaRPr>
          </a:p>
        </p:txBody>
      </p:sp>
      <p:sp>
        <p:nvSpPr>
          <p:cNvPr id="110" name="TextBox 94"/>
          <p:cNvSpPr txBox="1">
            <a:spLocks noChangeArrowheads="1"/>
          </p:cNvSpPr>
          <p:nvPr/>
        </p:nvSpPr>
        <p:spPr bwMode="auto">
          <a:xfrm>
            <a:off x="867505" y="2933945"/>
            <a:ext cx="1835245"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a:latin typeface="+mn-ea"/>
                <a:sym typeface="Wingdings" panose="05000000000000000000" pitchFamily="2" charset="2"/>
              </a:rPr>
              <a:t>대상 </a:t>
            </a:r>
            <a:r>
              <a:rPr lang="en-US" altLang="ko-KR" sz="800" dirty="0">
                <a:latin typeface="+mn-ea"/>
                <a:sym typeface="Wingdings" panose="05000000000000000000" pitchFamily="2" charset="2"/>
              </a:rPr>
              <a:t>: </a:t>
            </a:r>
            <a:r>
              <a:rPr lang="en-US" altLang="ko-KR" sz="800" dirty="0" smtClean="0">
                <a:latin typeface="+mn-ea"/>
                <a:sym typeface="Wingdings" panose="05000000000000000000" pitchFamily="2" charset="2"/>
              </a:rPr>
              <a:t>WH_SHOP_RNDS_ID </a:t>
            </a:r>
            <a:r>
              <a:rPr lang="en-US" altLang="ko-KR" sz="800" dirty="0">
                <a:latin typeface="+mn-ea"/>
                <a:sym typeface="Wingdings" panose="05000000000000000000" pitchFamily="2" charset="2"/>
              </a:rPr>
              <a:t>IS NULL </a:t>
            </a:r>
          </a:p>
          <a:p>
            <a:pPr>
              <a:spcBef>
                <a:spcPct val="20000"/>
              </a:spcBef>
              <a:buClr>
                <a:srgbClr val="003366"/>
              </a:buClr>
            </a:pP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       GRP_CD = ‘MCOM’</a:t>
            </a:r>
          </a:p>
          <a:p>
            <a:pPr>
              <a:spcBef>
                <a:spcPct val="20000"/>
              </a:spcBef>
              <a:buClr>
                <a:srgbClr val="003366"/>
              </a:buClr>
            </a:pPr>
            <a:r>
              <a:rPr lang="en-US" altLang="ko-KR" sz="800" dirty="0" smtClean="0">
                <a:latin typeface="+mn-ea"/>
                <a:ea typeface="+mn-ea"/>
              </a:rPr>
              <a:t>        IF_STS =</a:t>
            </a:r>
            <a:r>
              <a:rPr lang="en-US" altLang="ko-KR" sz="800" dirty="0" smtClean="0">
                <a:latin typeface="+mn-ea"/>
                <a:ea typeface="+mn-ea"/>
                <a:sym typeface="Wingdings" panose="05000000000000000000" pitchFamily="2" charset="2"/>
              </a:rPr>
              <a:t> R</a:t>
            </a:r>
          </a:p>
        </p:txBody>
      </p:sp>
      <p:sp>
        <p:nvSpPr>
          <p:cNvPr id="111" name="TextBox 94"/>
          <p:cNvSpPr txBox="1">
            <a:spLocks noChangeArrowheads="1"/>
          </p:cNvSpPr>
          <p:nvPr/>
        </p:nvSpPr>
        <p:spPr bwMode="auto">
          <a:xfrm>
            <a:off x="884385" y="2707303"/>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12" name="TextBox 94"/>
          <p:cNvSpPr txBox="1">
            <a:spLocks noChangeArrowheads="1"/>
          </p:cNvSpPr>
          <p:nvPr/>
        </p:nvSpPr>
        <p:spPr bwMode="auto">
          <a:xfrm>
            <a:off x="4199751" y="4752239"/>
            <a:ext cx="2913488"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a:latin typeface="+mn-ea"/>
                <a:ea typeface="+mn-ea"/>
              </a:rPr>
              <a:t> 창고</a:t>
            </a:r>
            <a:r>
              <a:rPr lang="en-US" altLang="ko-KR" sz="800" dirty="0">
                <a:latin typeface="+mn-ea"/>
                <a:ea typeface="+mn-ea"/>
              </a:rPr>
              <a:t>(OA</a:t>
            </a:r>
            <a:r>
              <a:rPr lang="en-US" altLang="ko-KR" sz="800" dirty="0" smtClean="0">
                <a:latin typeface="+mn-ea"/>
                <a:ea typeface="+mn-ea"/>
              </a:rPr>
              <a:t>) </a:t>
            </a:r>
            <a:r>
              <a:rPr lang="en-US" altLang="ko-KR" sz="800" dirty="0" smtClean="0">
                <a:latin typeface="+mn-ea"/>
                <a:ea typeface="+mn-ea"/>
                <a:sym typeface="Wingdings" panose="05000000000000000000" pitchFamily="2" charset="2"/>
              </a:rPr>
              <a:t> </a:t>
            </a:r>
            <a:r>
              <a:rPr lang="en-US" altLang="ko-KR" sz="800" dirty="0" smtClean="0">
                <a:latin typeface="+mn-ea"/>
                <a:ea typeface="+mn-ea"/>
              </a:rPr>
              <a:t>WMS</a:t>
            </a:r>
            <a:r>
              <a:rPr lang="ko-KR" altLang="en-US" sz="800" dirty="0" smtClean="0">
                <a:latin typeface="+mn-ea"/>
                <a:ea typeface="+mn-ea"/>
              </a:rPr>
              <a:t>센터 매장</a:t>
            </a:r>
            <a:r>
              <a:rPr lang="en-US" altLang="ko-KR" sz="800" dirty="0" smtClean="0">
                <a:latin typeface="+mn-ea"/>
                <a:ea typeface="+mn-ea"/>
              </a:rPr>
              <a:t>ID(STS027) </a:t>
            </a:r>
            <a:r>
              <a:rPr lang="ko-KR" altLang="en-US" sz="800" dirty="0" smtClean="0">
                <a:latin typeface="+mn-ea"/>
                <a:ea typeface="+mn-ea"/>
                <a:sym typeface="Wingdings" panose="05000000000000000000" pitchFamily="2" charset="2"/>
              </a:rPr>
              <a:t>출고</a:t>
            </a:r>
            <a:endParaRPr lang="en-US" altLang="ko-KR" sz="800" dirty="0" smtClean="0">
              <a:latin typeface="+mn-ea"/>
              <a:ea typeface="+mn-ea"/>
              <a:sym typeface="Wingdings" panose="05000000000000000000" pitchFamily="2" charset="2"/>
            </a:endParaRPr>
          </a:p>
          <a:p>
            <a:pPr>
              <a:spcBef>
                <a:spcPct val="20000"/>
              </a:spcBef>
              <a:buClr>
                <a:srgbClr val="003366"/>
              </a:buClr>
            </a:pPr>
            <a:r>
              <a:rPr lang="en-US" altLang="ko-KR" sz="800" dirty="0" smtClean="0">
                <a:latin typeface="+mn-ea"/>
                <a:ea typeface="+mn-ea"/>
              </a:rPr>
              <a:t>  : </a:t>
            </a:r>
            <a:r>
              <a:rPr lang="ko-KR" altLang="en-US" sz="800" dirty="0" smtClean="0">
                <a:latin typeface="+mn-ea"/>
                <a:ea typeface="+mn-ea"/>
              </a:rPr>
              <a:t>공급단가</a:t>
            </a:r>
            <a:r>
              <a:rPr lang="en-US" altLang="ko-KR" sz="800" dirty="0" smtClean="0">
                <a:latin typeface="+mn-ea"/>
                <a:ea typeface="+mn-ea"/>
              </a:rPr>
              <a:t>, </a:t>
            </a:r>
            <a:r>
              <a:rPr lang="ko-KR" altLang="en-US" sz="800" dirty="0" smtClean="0">
                <a:latin typeface="+mn-ea"/>
                <a:ea typeface="+mn-ea"/>
              </a:rPr>
              <a:t>공급금액</a:t>
            </a:r>
            <a:r>
              <a:rPr lang="en-US" altLang="ko-KR" sz="800" dirty="0" smtClean="0">
                <a:latin typeface="+mn-ea"/>
                <a:ea typeface="+mn-ea"/>
              </a:rPr>
              <a:t>, </a:t>
            </a:r>
            <a:r>
              <a:rPr lang="ko-KR" altLang="en-US" sz="800" dirty="0" smtClean="0">
                <a:latin typeface="+mn-ea"/>
                <a:ea typeface="+mn-ea"/>
              </a:rPr>
              <a:t>부가세</a:t>
            </a:r>
            <a:r>
              <a:rPr lang="en-US" altLang="ko-KR" sz="800" dirty="0" smtClean="0">
                <a:latin typeface="+mn-ea"/>
                <a:ea typeface="+mn-ea"/>
              </a:rPr>
              <a:t>, </a:t>
            </a:r>
            <a:r>
              <a:rPr lang="ko-KR" altLang="en-US" sz="800" dirty="0" smtClean="0">
                <a:latin typeface="+mn-ea"/>
                <a:ea typeface="+mn-ea"/>
              </a:rPr>
              <a:t>금액은 모두 </a:t>
            </a:r>
            <a:r>
              <a:rPr lang="en-US" altLang="ko-KR" sz="800" dirty="0" smtClean="0">
                <a:latin typeface="+mn-ea"/>
                <a:ea typeface="+mn-ea"/>
              </a:rPr>
              <a:t>0</a:t>
            </a:r>
            <a:r>
              <a:rPr lang="ko-KR" altLang="en-US" sz="800" dirty="0" smtClean="0">
                <a:latin typeface="+mn-ea"/>
                <a:ea typeface="+mn-ea"/>
              </a:rPr>
              <a:t>으로 처리</a:t>
            </a:r>
            <a:endParaRPr lang="en-US" altLang="ko-KR" sz="800" dirty="0" smtClean="0">
              <a:latin typeface="+mn-ea"/>
              <a:ea typeface="+mn-ea"/>
            </a:endParaRPr>
          </a:p>
          <a:p>
            <a:pPr>
              <a:spcBef>
                <a:spcPct val="20000"/>
              </a:spcBef>
              <a:buClr>
                <a:srgbClr val="003366"/>
              </a:buClr>
            </a:pPr>
            <a:r>
              <a:rPr lang="en-US" altLang="ko-KR" sz="800" dirty="0">
                <a:latin typeface="+mn-ea"/>
                <a:ea typeface="+mn-ea"/>
              </a:rPr>
              <a:t> </a:t>
            </a:r>
            <a:r>
              <a:rPr lang="en-US" altLang="ko-KR" sz="800" dirty="0" smtClean="0">
                <a:latin typeface="+mn-ea"/>
                <a:ea typeface="+mn-ea"/>
              </a:rPr>
              <a:t> : </a:t>
            </a:r>
            <a:r>
              <a:rPr lang="ko-KR" altLang="en-US" sz="800" dirty="0" smtClean="0">
                <a:latin typeface="+mn-ea"/>
                <a:ea typeface="+mn-ea"/>
              </a:rPr>
              <a:t>수량만 창고에서 출고지 매장으로 이동</a:t>
            </a:r>
            <a:r>
              <a:rPr lang="en-US" altLang="ko-KR" sz="800" dirty="0" smtClean="0">
                <a:latin typeface="+mn-ea"/>
                <a:ea typeface="+mn-ea"/>
              </a:rPr>
              <a:t> </a:t>
            </a:r>
            <a:endParaRPr lang="ko-KR" altLang="en-US" sz="800" dirty="0">
              <a:latin typeface="+mn-ea"/>
              <a:ea typeface="+mn-ea"/>
            </a:endParaRPr>
          </a:p>
        </p:txBody>
      </p:sp>
      <p:sp>
        <p:nvSpPr>
          <p:cNvPr id="143" name="Oval 108"/>
          <p:cNvSpPr>
            <a:spLocks noChangeArrowheads="1"/>
          </p:cNvSpPr>
          <p:nvPr/>
        </p:nvSpPr>
        <p:spPr bwMode="gray">
          <a:xfrm>
            <a:off x="1815562" y="4741760"/>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출고</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154" name="Text Box 121"/>
          <p:cNvSpPr txBox="1">
            <a:spLocks noChangeArrowheads="1"/>
          </p:cNvSpPr>
          <p:nvPr/>
        </p:nvSpPr>
        <p:spPr bwMode="gray">
          <a:xfrm>
            <a:off x="2217149" y="4336219"/>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r>
              <a:rPr lang="en-US" altLang="ko-KR" sz="800" dirty="0" smtClean="0">
                <a:latin typeface="+mn-ea"/>
                <a:ea typeface="+mn-ea"/>
              </a:rPr>
              <a:t>SHOP_RNDS_ID</a:t>
            </a:r>
          </a:p>
          <a:p>
            <a:r>
              <a:rPr lang="en-US" altLang="ko-KR" sz="800" dirty="0" smtClean="0">
                <a:latin typeface="+mn-ea"/>
                <a:ea typeface="+mn-ea"/>
              </a:rPr>
              <a:t>REG_NO</a:t>
            </a:r>
          </a:p>
        </p:txBody>
      </p:sp>
    </p:spTree>
    <p:extLst>
      <p:ext uri="{BB962C8B-B14F-4D97-AF65-F5344CB8AC3E}">
        <p14:creationId xmlns:p14="http://schemas.microsoft.com/office/powerpoint/2010/main" val="20875105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직사각형 288"/>
          <p:cNvSpPr/>
          <p:nvPr/>
        </p:nvSpPr>
        <p:spPr>
          <a:xfrm>
            <a:off x="4960039" y="1645887"/>
            <a:ext cx="1549810" cy="1039891"/>
          </a:xfrm>
          <a:prstGeom prst="rect">
            <a:avLst/>
          </a:prstGeom>
          <a:solidFill>
            <a:schemeClr val="accent1">
              <a:lumMod val="20000"/>
              <a:lumOff val="8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1200" b="1" kern="0" dirty="0" smtClean="0">
              <a:solidFill>
                <a:schemeClr val="bg1"/>
              </a:solidFill>
              <a:latin typeface="+mn-ea"/>
              <a:ea typeface="+mn-ea"/>
            </a:endParaRPr>
          </a:p>
        </p:txBody>
      </p:sp>
      <p:sp>
        <p:nvSpPr>
          <p:cNvPr id="11" name="제목 10"/>
          <p:cNvSpPr>
            <a:spLocks noGrp="1"/>
          </p:cNvSpPr>
          <p:nvPr>
            <p:ph type="title"/>
          </p:nvPr>
        </p:nvSpPr>
        <p:spPr/>
        <p:txBody>
          <a:bodyPr/>
          <a:lstStyle/>
          <a:p>
            <a:r>
              <a:rPr lang="en-US" altLang="ko-KR" dirty="0" smtClean="0">
                <a:latin typeface="+mj-ea"/>
                <a:ea typeface="+mj-ea"/>
              </a:rPr>
              <a:t>3. </a:t>
            </a:r>
            <a:r>
              <a:rPr lang="ko-KR" altLang="en-US" dirty="0" err="1" smtClean="0">
                <a:latin typeface="+mj-ea"/>
                <a:ea typeface="+mj-ea"/>
              </a:rPr>
              <a:t>자사몰</a:t>
            </a:r>
            <a:r>
              <a:rPr lang="ko-KR" altLang="en-US" dirty="0" smtClean="0">
                <a:latin typeface="+mj-ea"/>
                <a:ea typeface="+mj-ea"/>
              </a:rPr>
              <a:t> 판매</a:t>
            </a:r>
            <a:endParaRPr lang="ko-KR" altLang="en-US" sz="1400" dirty="0">
              <a:latin typeface="+mj-ea"/>
              <a:ea typeface="+mj-ea"/>
            </a:endParaRPr>
          </a:p>
        </p:txBody>
      </p:sp>
      <p:sp>
        <p:nvSpPr>
          <p:cNvPr id="42" name="TextBox 39"/>
          <p:cNvSpPr txBox="1">
            <a:spLocks noChangeArrowheads="1"/>
          </p:cNvSpPr>
          <p:nvPr/>
        </p:nvSpPr>
        <p:spPr bwMode="auto">
          <a:xfrm>
            <a:off x="218855" y="738114"/>
            <a:ext cx="9594685" cy="563231"/>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a:latin typeface="+mn-ea"/>
                <a:ea typeface="+mn-ea"/>
              </a:rPr>
              <a:t> </a:t>
            </a:r>
            <a:r>
              <a:rPr kumimoji="0" lang="ko-KR" altLang="en-US" sz="1200" b="1" dirty="0" err="1">
                <a:latin typeface="+mn-ea"/>
                <a:ea typeface="+mn-ea"/>
              </a:rPr>
              <a:t>자사몰</a:t>
            </a:r>
            <a:r>
              <a:rPr kumimoji="0" lang="ko-KR" altLang="en-US" sz="1200" b="1" dirty="0">
                <a:latin typeface="+mn-ea"/>
                <a:ea typeface="+mn-ea"/>
              </a:rPr>
              <a:t> 판매</a:t>
            </a:r>
            <a:r>
              <a:rPr kumimoji="0" lang="en-US" altLang="ko-KR" sz="1200" b="1" dirty="0">
                <a:latin typeface="+mn-ea"/>
                <a:ea typeface="+mn-ea"/>
              </a:rPr>
              <a:t>/</a:t>
            </a:r>
            <a:r>
              <a:rPr kumimoji="0" lang="ko-KR" altLang="en-US" sz="1200" b="1" dirty="0">
                <a:latin typeface="+mn-ea"/>
                <a:ea typeface="+mn-ea"/>
              </a:rPr>
              <a:t>판매 반품은 결제</a:t>
            </a:r>
            <a:r>
              <a:rPr kumimoji="0" lang="en-US" altLang="ko-KR" sz="1200" b="1" dirty="0">
                <a:latin typeface="+mn-ea"/>
                <a:ea typeface="+mn-ea"/>
              </a:rPr>
              <a:t>/</a:t>
            </a:r>
            <a:r>
              <a:rPr kumimoji="0" lang="ko-KR" altLang="en-US" sz="1200" b="1" dirty="0">
                <a:latin typeface="+mn-ea"/>
                <a:ea typeface="+mn-ea"/>
              </a:rPr>
              <a:t>구매확정 으로 판매 실적 생성</a:t>
            </a:r>
            <a:r>
              <a:rPr kumimoji="0" lang="en-US" altLang="ko-KR" sz="1200" b="1" dirty="0">
                <a:latin typeface="+mn-ea"/>
                <a:ea typeface="+mn-ea"/>
              </a:rPr>
              <a:t>. </a:t>
            </a:r>
            <a:endParaRPr kumimoji="0" lang="en-US" altLang="ko-KR" sz="1200" b="1" dirty="0" smtClean="0">
              <a:latin typeface="+mn-ea"/>
              <a:ea typeface="+mn-ea"/>
            </a:endParaRPr>
          </a:p>
          <a:p>
            <a:pPr algn="just" eaLnBrk="0" latinLnBrk="0" hangingPunct="0">
              <a:lnSpc>
                <a:spcPct val="140000"/>
              </a:lnSpc>
              <a:buClr>
                <a:schemeClr val="tx2"/>
              </a:buClr>
              <a:buSzPct val="75000"/>
              <a:buFontTx/>
              <a:buChar char="•"/>
              <a:defRPr/>
            </a:pPr>
            <a:r>
              <a:rPr kumimoji="0" lang="ko-KR" altLang="en-US" sz="1200" b="1" dirty="0" smtClean="0">
                <a:latin typeface="+mn-ea"/>
                <a:ea typeface="+mn-ea"/>
              </a:rPr>
              <a:t> 구매 확정시 결제 기준 판매 실적 삭제 후 구매 확정 기준으로 판매 실적 재 생성</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latinLnBrk="0" hangingPunct="0">
                <a:lnSpc>
                  <a:spcPct val="140000"/>
                </a:lnSpc>
                <a:buClr>
                  <a:schemeClr val="tx2"/>
                </a:buClr>
                <a:buSzPct val="75000"/>
                <a:buFont typeface="Wingdings" panose="05000000000000000000" pitchFamily="2" charset="2"/>
                <a:buChar char="u"/>
              </a:pPr>
              <a:r>
                <a:rPr kumimoji="0" lang="en-US" altLang="ko-KR" sz="900" b="1" dirty="0" smtClean="0">
                  <a:latin typeface="+mn-ea"/>
                  <a:ea typeface="+mn-ea"/>
                </a:rPr>
                <a:t> </a:t>
              </a:r>
              <a:r>
                <a:rPr kumimoji="0" lang="ko-KR" altLang="en-US" sz="900" b="1" dirty="0">
                  <a:latin typeface="+mn-ea"/>
                  <a:ea typeface="+mn-ea"/>
                </a:rPr>
                <a:t>정의</a:t>
              </a:r>
            </a:p>
            <a:p>
              <a:pPr eaLnBrk="0" latinLnBrk="0" hangingPunct="0">
                <a:lnSpc>
                  <a:spcPct val="140000"/>
                </a:lnSpc>
                <a:buClr>
                  <a:schemeClr val="tx2"/>
                </a:buClr>
                <a:buSzPct val="75000"/>
              </a:pPr>
              <a:r>
                <a:rPr kumimoji="0" lang="ko-KR" altLang="en-US" sz="900" dirty="0" smtClean="0">
                  <a:latin typeface="+mn-ea"/>
                  <a:ea typeface="+mn-ea"/>
                </a:rPr>
                <a:t>자사 몰 판매 실적은 결제 기준으로 생성 하고 구매 확정시 결제 기준 실적 삭제 후 구매 확정 기준으로 판매 실적 재 생성</a:t>
              </a:r>
              <a:r>
                <a:rPr kumimoji="0" lang="en-US" altLang="ko-KR" sz="900" dirty="0" smtClean="0">
                  <a:latin typeface="+mn-ea"/>
                  <a:ea typeface="+mn-ea"/>
                </a:rPr>
                <a:t>.</a:t>
              </a:r>
            </a:p>
            <a:p>
              <a:pPr eaLnBrk="0" latinLnBrk="0" hangingPunct="0">
                <a:lnSpc>
                  <a:spcPct val="140000"/>
                </a:lnSpc>
                <a:buClr>
                  <a:schemeClr val="tx2"/>
                </a:buClr>
                <a:buSzPct val="75000"/>
              </a:pPr>
              <a:endParaRPr kumimoji="0" lang="ko-KR" altLang="en-US" sz="900" dirty="0" smtClean="0">
                <a:latin typeface="+mn-ea"/>
                <a:ea typeface="+mn-ea"/>
              </a:endParaRPr>
            </a:p>
            <a:p>
              <a:pPr marL="85725" indent="-85725" eaLnBrk="0" latinLnBrk="0" hangingPunct="0">
                <a:lnSpc>
                  <a:spcPct val="140000"/>
                </a:lnSpc>
                <a:buClr>
                  <a:schemeClr val="tx2"/>
                </a:buClr>
                <a:buSzPct val="75000"/>
                <a:buFont typeface="Wingdings" panose="05000000000000000000" pitchFamily="2" charset="2"/>
                <a:buChar char="u"/>
              </a:pPr>
              <a:r>
                <a:rPr kumimoji="0" lang="ko-KR" altLang="en-US" sz="900" b="1" dirty="0" smtClean="0">
                  <a:latin typeface="+mn-ea"/>
                  <a:ea typeface="+mn-ea"/>
                </a:rPr>
                <a:t> 선행 프로세스</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smtClean="0">
                  <a:latin typeface="+mn-ea"/>
                  <a:ea typeface="+mn-ea"/>
                </a:rPr>
                <a:t>자사 몰 판매</a:t>
              </a:r>
              <a:endParaRPr kumimoji="0" lang="en-US" altLang="ko-KR" sz="900" dirty="0" smtClean="0">
                <a:latin typeface="+mn-ea"/>
                <a:ea typeface="+mn-ea"/>
              </a:endParaRPr>
            </a:p>
            <a:p>
              <a:pPr eaLnBrk="0" latinLnBrk="0" hangingPunct="0">
                <a:lnSpc>
                  <a:spcPct val="140000"/>
                </a:lnSpc>
                <a:buClr>
                  <a:schemeClr val="tx2"/>
                </a:buClr>
                <a:buSzPct val="75000"/>
              </a:pPr>
              <a:endParaRPr kumimoji="0" lang="ko-KR" altLang="en-US" sz="900" dirty="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a:latin typeface="+mn-ea"/>
                  <a:ea typeface="+mn-ea"/>
                </a:rPr>
                <a:t> </a:t>
              </a:r>
              <a:r>
                <a:rPr kumimoji="0" lang="ko-KR" altLang="en-US" sz="900" b="1" dirty="0">
                  <a:latin typeface="+mn-ea"/>
                  <a:ea typeface="+mn-ea"/>
                </a:rPr>
                <a:t>후행 프로세스</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err="1" smtClean="0">
                  <a:latin typeface="+mn-ea"/>
                  <a:ea typeface="+mn-ea"/>
                </a:rPr>
                <a:t>자사몰</a:t>
              </a:r>
              <a:r>
                <a:rPr kumimoji="0" lang="ko-KR" altLang="en-US" sz="900" dirty="0" smtClean="0">
                  <a:latin typeface="+mn-ea"/>
                  <a:ea typeface="+mn-ea"/>
                </a:rPr>
                <a:t> 구매 확정</a:t>
              </a:r>
              <a:endParaRPr kumimoji="0" lang="en-US" altLang="ko-KR" sz="900" dirty="0" smtClean="0">
                <a:latin typeface="+mn-ea"/>
                <a:ea typeface="+mn-ea"/>
              </a:endParaRPr>
            </a:p>
            <a:p>
              <a:pPr eaLnBrk="0" latinLnBrk="0" hangingPunct="0">
                <a:lnSpc>
                  <a:spcPct val="140000"/>
                </a:lnSpc>
                <a:buClr>
                  <a:schemeClr val="tx2"/>
                </a:buClr>
                <a:buSzPct val="75000"/>
              </a:pPr>
              <a:r>
                <a:rPr kumimoji="0" lang="en-US" altLang="ko-KR" sz="900" dirty="0" smtClean="0">
                  <a:latin typeface="+mn-ea"/>
                  <a:ea typeface="+mn-ea"/>
                </a:rPr>
                <a:t>  : </a:t>
              </a:r>
              <a:r>
                <a:rPr kumimoji="0" lang="ko-KR" altLang="en-US" sz="900" dirty="0">
                  <a:latin typeface="+mn-ea"/>
                  <a:ea typeface="+mn-ea"/>
                </a:rPr>
                <a:t>구매확정 기준 매출은 매월 초 정산기간에 발생</a:t>
              </a:r>
              <a:endParaRPr kumimoji="0" lang="en-US" altLang="ko-KR" sz="900" dirty="0" smtClean="0">
                <a:latin typeface="+mn-ea"/>
                <a:ea typeface="+mn-ea"/>
              </a:endParaRPr>
            </a:p>
            <a:p>
              <a:pPr eaLnBrk="0" latinLnBrk="0" hangingPunct="0">
                <a:lnSpc>
                  <a:spcPct val="140000"/>
                </a:lnSpc>
                <a:buClr>
                  <a:schemeClr val="tx2"/>
                </a:buClr>
                <a:buSzPct val="75000"/>
              </a:pPr>
              <a:endParaRPr kumimoji="0" lang="ko-KR" altLang="en-US" sz="900" dirty="0" smtClean="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smtClean="0">
                  <a:latin typeface="+mn-ea"/>
                  <a:ea typeface="+mn-ea"/>
                </a:rPr>
                <a:t> </a:t>
              </a:r>
              <a:r>
                <a:rPr kumimoji="0" lang="ko-KR" altLang="en-US" sz="900" b="1" dirty="0" smtClean="0">
                  <a:latin typeface="+mn-ea"/>
                  <a:ea typeface="+mn-ea"/>
                </a:rPr>
                <a:t>비즈니스 업무정책</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smtClean="0">
                  <a:latin typeface="+mn-ea"/>
                  <a:ea typeface="+mn-ea"/>
                </a:rPr>
                <a:t>패션 </a:t>
              </a:r>
              <a:r>
                <a:rPr kumimoji="0" lang="en-US" altLang="ko-KR" sz="900" dirty="0" smtClean="0">
                  <a:latin typeface="+mn-ea"/>
                  <a:ea typeface="+mn-ea"/>
                </a:rPr>
                <a:t>ERP </a:t>
              </a:r>
              <a:r>
                <a:rPr kumimoji="0" lang="ko-KR" altLang="en-US" sz="900" dirty="0" smtClean="0">
                  <a:latin typeface="+mn-ea"/>
                  <a:ea typeface="+mn-ea"/>
                </a:rPr>
                <a:t>실적에 구매 확정이 </a:t>
              </a:r>
              <a:r>
                <a:rPr kumimoji="0" lang="en-US" altLang="ko-KR" sz="900" dirty="0" smtClean="0">
                  <a:latin typeface="+mn-ea"/>
                  <a:ea typeface="+mn-ea"/>
                </a:rPr>
                <a:t>1</a:t>
              </a:r>
              <a:r>
                <a:rPr kumimoji="0" lang="ko-KR" altLang="en-US" sz="900" dirty="0" err="1" smtClean="0">
                  <a:latin typeface="+mn-ea"/>
                  <a:ea typeface="+mn-ea"/>
                </a:rPr>
                <a:t>건이상</a:t>
              </a:r>
              <a:endParaRPr kumimoji="0" lang="en-US" altLang="ko-KR" sz="900" dirty="0" smtClean="0">
                <a:latin typeface="+mn-ea"/>
                <a:ea typeface="+mn-ea"/>
              </a:endParaRPr>
            </a:p>
            <a:p>
              <a:pPr eaLnBrk="0" latinLnBrk="0" hangingPunct="0">
                <a:lnSpc>
                  <a:spcPct val="140000"/>
                </a:lnSpc>
                <a:buClr>
                  <a:schemeClr val="tx2"/>
                </a:buClr>
                <a:buSzPct val="75000"/>
              </a:pPr>
              <a:r>
                <a:rPr kumimoji="0" lang="ko-KR" altLang="en-US" sz="900" dirty="0" smtClean="0">
                  <a:latin typeface="+mn-ea"/>
                  <a:ea typeface="+mn-ea"/>
                </a:rPr>
                <a:t>   발생되면 결제 기준에서 구매 확정</a:t>
              </a:r>
              <a:endParaRPr kumimoji="0" lang="en-US" altLang="ko-KR" sz="900" dirty="0" smtClean="0">
                <a:latin typeface="+mn-ea"/>
                <a:ea typeface="+mn-ea"/>
              </a:endParaRPr>
            </a:p>
            <a:p>
              <a:pPr eaLnBrk="0" latinLnBrk="0" hangingPunct="0">
                <a:lnSpc>
                  <a:spcPct val="140000"/>
                </a:lnSpc>
                <a:buClr>
                  <a:schemeClr val="tx2"/>
                </a:buClr>
                <a:buSzPct val="75000"/>
              </a:pPr>
              <a:r>
                <a:rPr kumimoji="0" lang="en-US" altLang="ko-KR" sz="900" dirty="0">
                  <a:latin typeface="+mn-ea"/>
                  <a:ea typeface="+mn-ea"/>
                </a:rPr>
                <a:t> </a:t>
              </a:r>
              <a:r>
                <a:rPr kumimoji="0" lang="en-US" altLang="ko-KR" sz="900" dirty="0" smtClean="0">
                  <a:latin typeface="+mn-ea"/>
                  <a:ea typeface="+mn-ea"/>
                </a:rPr>
                <a:t> </a:t>
              </a:r>
              <a:r>
                <a:rPr kumimoji="0" lang="ko-KR" altLang="en-US" sz="900" dirty="0" smtClean="0">
                  <a:latin typeface="+mn-ea"/>
                  <a:ea typeface="+mn-ea"/>
                </a:rPr>
                <a:t> 기준으로 실적 변경</a:t>
              </a:r>
              <a:endParaRPr kumimoji="0" lang="en-US" altLang="ko-KR" sz="900" dirty="0" smtClean="0">
                <a:latin typeface="+mn-ea"/>
                <a:ea typeface="+mn-ea"/>
              </a:endParaRPr>
            </a:p>
            <a:p>
              <a:pPr eaLnBrk="0" latinLnBrk="0" hangingPunct="0">
                <a:lnSpc>
                  <a:spcPct val="140000"/>
                </a:lnSpc>
                <a:buClr>
                  <a:schemeClr val="tx2"/>
                </a:buClr>
                <a:buSzPct val="75000"/>
              </a:pPr>
              <a:r>
                <a:rPr kumimoji="0" lang="en-US" altLang="ko-KR" sz="900" dirty="0" smtClean="0">
                  <a:latin typeface="+mn-ea"/>
                  <a:ea typeface="+mn-ea"/>
                </a:rPr>
                <a:t>2</a:t>
              </a:r>
              <a:r>
                <a:rPr kumimoji="0" lang="en-US" altLang="ko-KR" sz="900" dirty="0" smtClean="0">
                  <a:latin typeface="+mn-ea"/>
                  <a:ea typeface="+mn-ea"/>
                </a:rPr>
                <a:t>. </a:t>
              </a:r>
              <a:r>
                <a:rPr kumimoji="0" lang="ko-KR" altLang="en-US" sz="900" dirty="0" smtClean="0">
                  <a:latin typeface="+mn-ea"/>
                  <a:ea typeface="+mn-ea"/>
                </a:rPr>
                <a:t>자사 몰은 클레임 </a:t>
              </a:r>
              <a:r>
                <a:rPr kumimoji="0" lang="ko-KR" altLang="en-US" sz="900" dirty="0" err="1" smtClean="0">
                  <a:latin typeface="+mn-ea"/>
                  <a:ea typeface="+mn-ea"/>
                </a:rPr>
                <a:t>발생건</a:t>
              </a:r>
              <a:r>
                <a:rPr kumimoji="0" lang="ko-KR" altLang="en-US" sz="900" dirty="0" smtClean="0">
                  <a:latin typeface="+mn-ea"/>
                  <a:ea typeface="+mn-ea"/>
                </a:rPr>
                <a:t> 포함 하여 판매 </a:t>
              </a:r>
              <a:r>
                <a:rPr kumimoji="0" lang="ko-KR" altLang="en-US" sz="900" dirty="0" smtClean="0">
                  <a:latin typeface="+mn-ea"/>
                  <a:ea typeface="+mn-ea"/>
                </a:rPr>
                <a:t>실적을 패션</a:t>
              </a:r>
              <a:r>
                <a:rPr kumimoji="0" lang="en-US" altLang="ko-KR" sz="900" dirty="0" smtClean="0">
                  <a:latin typeface="+mn-ea"/>
                  <a:ea typeface="+mn-ea"/>
                </a:rPr>
                <a:t>ERP</a:t>
              </a:r>
              <a:r>
                <a:rPr kumimoji="0" lang="ko-KR" altLang="en-US" sz="900" dirty="0" smtClean="0">
                  <a:latin typeface="+mn-ea"/>
                  <a:ea typeface="+mn-ea"/>
                </a:rPr>
                <a:t>에 반영</a:t>
              </a:r>
              <a:r>
                <a:rPr kumimoji="0" lang="en-US" altLang="ko-KR" sz="900" dirty="0" smtClean="0">
                  <a:latin typeface="+mn-ea"/>
                  <a:ea typeface="+mn-ea"/>
                </a:rPr>
                <a:t>.</a:t>
              </a:r>
              <a:endParaRPr kumimoji="0" lang="en-US" altLang="ko-KR" sz="900" dirty="0">
                <a:latin typeface="+mn-ea"/>
                <a:ea typeface="+mn-ea"/>
              </a:endParaRPr>
            </a:p>
          </p:txBody>
        </p:sp>
      </p:grpSp>
      <p:sp>
        <p:nvSpPr>
          <p:cNvPr id="54" name="Line 50"/>
          <p:cNvSpPr>
            <a:spLocks noChangeShapeType="1"/>
          </p:cNvSpPr>
          <p:nvPr/>
        </p:nvSpPr>
        <p:spPr bwMode="gray">
          <a:xfrm>
            <a:off x="1543590" y="1799735"/>
            <a:ext cx="1009650" cy="0"/>
          </a:xfrm>
          <a:prstGeom prst="line">
            <a:avLst/>
          </a:prstGeom>
          <a:noFill/>
          <a:ln w="9525">
            <a:solidFill>
              <a:srgbClr val="C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sz="800">
              <a:latin typeface="+mn-ea"/>
              <a:ea typeface="+mn-ea"/>
            </a:endParaRPr>
          </a:p>
        </p:txBody>
      </p:sp>
      <p:sp>
        <p:nvSpPr>
          <p:cNvPr id="55" name="Rectangle 51"/>
          <p:cNvSpPr>
            <a:spLocks noChangeArrowheads="1"/>
          </p:cNvSpPr>
          <p:nvPr/>
        </p:nvSpPr>
        <p:spPr bwMode="gray">
          <a:xfrm>
            <a:off x="362490" y="1673460"/>
            <a:ext cx="1201738"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i="1" dirty="0" err="1" smtClean="0">
                <a:latin typeface="+mn-ea"/>
                <a:ea typeface="+mn-ea"/>
              </a:rPr>
              <a:t>자사몰</a:t>
            </a:r>
            <a:r>
              <a:rPr lang="ko-KR" altLang="en-US" sz="800" b="1" i="1" dirty="0" smtClean="0">
                <a:latin typeface="+mn-ea"/>
                <a:ea typeface="+mn-ea"/>
              </a:rPr>
              <a:t> 판매</a:t>
            </a:r>
            <a:endParaRPr lang="ko-KR" altLang="en-US" sz="800" b="1" i="1" dirty="0">
              <a:latin typeface="+mn-ea"/>
              <a:ea typeface="+mn-ea"/>
            </a:endParaRPr>
          </a:p>
        </p:txBody>
      </p:sp>
      <p:sp>
        <p:nvSpPr>
          <p:cNvPr id="66" name="AutoShape 79"/>
          <p:cNvSpPr>
            <a:spLocks noChangeArrowheads="1"/>
          </p:cNvSpPr>
          <p:nvPr/>
        </p:nvSpPr>
        <p:spPr bwMode="auto">
          <a:xfrm>
            <a:off x="1939073" y="1629079"/>
            <a:ext cx="996950" cy="341312"/>
          </a:xfrm>
          <a:prstGeom prst="flowChartTerminator">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800" dirty="0" smtClean="0">
                <a:latin typeface="+mn-ea"/>
                <a:ea typeface="+mn-ea"/>
              </a:rPr>
              <a:t>판매실적 </a:t>
            </a:r>
            <a:r>
              <a:rPr lang="ko-KR" altLang="en-US" sz="800" dirty="0">
                <a:latin typeface="+mn-ea"/>
                <a:ea typeface="+mn-ea"/>
              </a:rPr>
              <a:t>시작</a:t>
            </a:r>
          </a:p>
        </p:txBody>
      </p:sp>
      <p:cxnSp>
        <p:nvCxnSpPr>
          <p:cNvPr id="72" name="AutoShape 67"/>
          <p:cNvCxnSpPr>
            <a:cxnSpLocks noChangeShapeType="1"/>
            <a:stCxn id="66" idx="2"/>
            <a:endCxn id="139" idx="0"/>
          </p:cNvCxnSpPr>
          <p:nvPr/>
        </p:nvCxnSpPr>
        <p:spPr bwMode="gray">
          <a:xfrm flipH="1">
            <a:off x="2434907" y="1970391"/>
            <a:ext cx="2641" cy="385705"/>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TextBox 94"/>
          <p:cNvSpPr txBox="1">
            <a:spLocks noChangeArrowheads="1"/>
          </p:cNvSpPr>
          <p:nvPr/>
        </p:nvSpPr>
        <p:spPr bwMode="auto">
          <a:xfrm>
            <a:off x="1757645" y="1403775"/>
            <a:ext cx="1701424"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SP_GWM_SALE_SHOP_RNDS</a:t>
            </a:r>
            <a:endParaRPr lang="ko-KR" altLang="en-US" sz="800" b="1" dirty="0">
              <a:latin typeface="+mn-ea"/>
              <a:ea typeface="+mn-ea"/>
            </a:endParaRPr>
          </a:p>
        </p:txBody>
      </p:sp>
      <p:sp>
        <p:nvSpPr>
          <p:cNvPr id="65" name="AutoShape 86"/>
          <p:cNvSpPr>
            <a:spLocks noChangeArrowheads="1"/>
          </p:cNvSpPr>
          <p:nvPr/>
        </p:nvSpPr>
        <p:spPr bwMode="auto">
          <a:xfrm>
            <a:off x="5141443"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매장재고</a:t>
            </a:r>
            <a:endParaRPr lang="en-US" altLang="ko-KR" sz="600" b="1" dirty="0" smtClean="0">
              <a:latin typeface="+mn-ea"/>
              <a:ea typeface="+mn-ea"/>
            </a:endParaRPr>
          </a:p>
          <a:p>
            <a:pPr algn="ctr"/>
            <a:r>
              <a:rPr lang="en-US" altLang="ko-KR" sz="600" b="1" dirty="0" smtClean="0">
                <a:latin typeface="+mn-ea"/>
                <a:ea typeface="+mn-ea"/>
              </a:rPr>
              <a:t>T_SHOP_STOCK</a:t>
            </a:r>
            <a:endParaRPr lang="ko-KR" altLang="en-US" sz="600" b="1" dirty="0">
              <a:latin typeface="+mn-ea"/>
              <a:ea typeface="+mn-ea"/>
            </a:endParaRPr>
          </a:p>
        </p:txBody>
      </p:sp>
      <p:sp>
        <p:nvSpPr>
          <p:cNvPr id="75" name="AutoShape 86"/>
          <p:cNvSpPr>
            <a:spLocks noChangeArrowheads="1"/>
          </p:cNvSpPr>
          <p:nvPr/>
        </p:nvSpPr>
        <p:spPr bwMode="auto">
          <a:xfrm>
            <a:off x="5781417"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제품월수불</a:t>
            </a:r>
            <a:endParaRPr lang="en-US" altLang="ko-KR" sz="600" b="1" dirty="0" smtClean="0">
              <a:latin typeface="+mn-ea"/>
              <a:ea typeface="+mn-ea"/>
            </a:endParaRPr>
          </a:p>
          <a:p>
            <a:pPr algn="ctr"/>
            <a:r>
              <a:rPr lang="en-US" altLang="ko-KR" sz="600" b="1" dirty="0" smtClean="0">
                <a:latin typeface="+mn-ea"/>
                <a:ea typeface="+mn-ea"/>
              </a:rPr>
              <a:t>T_M_RNDS</a:t>
            </a:r>
            <a:endParaRPr lang="ko-KR" altLang="en-US" sz="600" b="1" dirty="0">
              <a:latin typeface="+mn-ea"/>
              <a:ea typeface="+mn-ea"/>
            </a:endParaRPr>
          </a:p>
        </p:txBody>
      </p:sp>
      <p:sp>
        <p:nvSpPr>
          <p:cNvPr id="139" name="AutoShape 73"/>
          <p:cNvSpPr>
            <a:spLocks noChangeArrowheads="1"/>
          </p:cNvSpPr>
          <p:nvPr/>
        </p:nvSpPr>
        <p:spPr bwMode="auto">
          <a:xfrm>
            <a:off x="1873533" y="2356096"/>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구매확정</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sp>
        <p:nvSpPr>
          <p:cNvPr id="141" name="AutoShape 86"/>
          <p:cNvSpPr>
            <a:spLocks noChangeArrowheads="1"/>
          </p:cNvSpPr>
          <p:nvPr/>
        </p:nvSpPr>
        <p:spPr bwMode="auto">
          <a:xfrm>
            <a:off x="587515" y="202114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cxnSp>
        <p:nvCxnSpPr>
          <p:cNvPr id="143" name="AutoShape 67"/>
          <p:cNvCxnSpPr>
            <a:cxnSpLocks noChangeShapeType="1"/>
            <a:stCxn id="141" idx="4"/>
            <a:endCxn id="139" idx="1"/>
          </p:cNvCxnSpPr>
          <p:nvPr/>
        </p:nvCxnSpPr>
        <p:spPr bwMode="gray">
          <a:xfrm>
            <a:off x="1154253" y="2265026"/>
            <a:ext cx="719280" cy="328401"/>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 name="TextBox 94"/>
          <p:cNvSpPr txBox="1">
            <a:spLocks noChangeArrowheads="1"/>
          </p:cNvSpPr>
          <p:nvPr/>
        </p:nvSpPr>
        <p:spPr bwMode="auto">
          <a:xfrm>
            <a:off x="362490" y="2521347"/>
            <a:ext cx="1816088" cy="658642"/>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매장 </a:t>
            </a:r>
            <a:r>
              <a:rPr lang="en-US" altLang="ko-KR" sz="800" dirty="0" smtClean="0">
                <a:latin typeface="+mn-ea"/>
                <a:ea typeface="+mn-ea"/>
              </a:rPr>
              <a:t>: STS015</a:t>
            </a:r>
          </a:p>
          <a:p>
            <a:pPr>
              <a:spcBef>
                <a:spcPct val="20000"/>
              </a:spcBef>
              <a:buClr>
                <a:srgbClr val="003366"/>
              </a:buClr>
            </a:pPr>
            <a:r>
              <a:rPr lang="ko-KR" altLang="en-US" sz="800" dirty="0" smtClean="0">
                <a:latin typeface="+mn-ea"/>
                <a:ea typeface="+mn-ea"/>
              </a:rPr>
              <a:t>대상 </a:t>
            </a:r>
            <a:r>
              <a:rPr lang="en-US" altLang="ko-KR" sz="800" dirty="0" smtClean="0">
                <a:latin typeface="+mn-ea"/>
                <a:ea typeface="+mn-ea"/>
              </a:rPr>
              <a:t>: </a:t>
            </a:r>
            <a:r>
              <a:rPr lang="ko-KR" altLang="en-US" sz="800" dirty="0" smtClean="0">
                <a:latin typeface="+mn-ea"/>
                <a:ea typeface="+mn-ea"/>
              </a:rPr>
              <a:t>판매</a:t>
            </a:r>
            <a:r>
              <a:rPr lang="en-US" altLang="ko-KR" sz="800" dirty="0" smtClean="0">
                <a:latin typeface="+mn-ea"/>
                <a:ea typeface="+mn-ea"/>
              </a:rPr>
              <a:t>(C20922)</a:t>
            </a:r>
          </a:p>
          <a:p>
            <a:pPr>
              <a:spcBef>
                <a:spcPct val="20000"/>
              </a:spcBef>
              <a:buClr>
                <a:srgbClr val="003366"/>
              </a:buClr>
            </a:pPr>
            <a:r>
              <a:rPr lang="en-US" altLang="ko-KR" sz="800" dirty="0" smtClean="0">
                <a:latin typeface="+mn-ea"/>
                <a:ea typeface="+mn-ea"/>
              </a:rPr>
              <a:t>ATTR1 : ‘GWM_STLM%’</a:t>
            </a:r>
          </a:p>
          <a:p>
            <a:pPr>
              <a:spcBef>
                <a:spcPct val="20000"/>
              </a:spcBef>
              <a:buClr>
                <a:srgbClr val="003366"/>
              </a:buClr>
            </a:pPr>
            <a:r>
              <a:rPr lang="en-US" altLang="ko-KR" sz="800" dirty="0">
                <a:latin typeface="+mn-ea"/>
                <a:ea typeface="+mn-ea"/>
              </a:rPr>
              <a:t>ATTR13 ='</a:t>
            </a:r>
            <a:r>
              <a:rPr lang="ko-KR" altLang="en-US" sz="800" dirty="0" err="1">
                <a:latin typeface="+mn-ea"/>
                <a:ea typeface="+mn-ea"/>
              </a:rPr>
              <a:t>굿웨어몰구매확정기준</a:t>
            </a:r>
            <a:r>
              <a:rPr lang="en-US" altLang="ko-KR" sz="800" dirty="0">
                <a:latin typeface="+mn-ea"/>
                <a:ea typeface="+mn-ea"/>
              </a:rPr>
              <a:t>'</a:t>
            </a:r>
            <a:endParaRPr lang="ko-KR" altLang="en-US" sz="800" dirty="0">
              <a:latin typeface="+mn-ea"/>
              <a:ea typeface="+mn-ea"/>
            </a:endParaRPr>
          </a:p>
        </p:txBody>
      </p:sp>
      <p:sp>
        <p:nvSpPr>
          <p:cNvPr id="147" name="Text Box 82"/>
          <p:cNvSpPr txBox="1">
            <a:spLocks noChangeArrowheads="1"/>
          </p:cNvSpPr>
          <p:nvPr/>
        </p:nvSpPr>
        <p:spPr bwMode="gray">
          <a:xfrm>
            <a:off x="2387715" y="2782037"/>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48" name="Text Box 82"/>
          <p:cNvSpPr txBox="1">
            <a:spLocks noChangeArrowheads="1"/>
          </p:cNvSpPr>
          <p:nvPr/>
        </p:nvSpPr>
        <p:spPr bwMode="gray">
          <a:xfrm>
            <a:off x="2809436" y="2583486"/>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149" name="Rectangle 49"/>
          <p:cNvSpPr>
            <a:spLocks noChangeArrowheads="1"/>
          </p:cNvSpPr>
          <p:nvPr/>
        </p:nvSpPr>
        <p:spPr bwMode="gray">
          <a:xfrm>
            <a:off x="1774897" y="3210036"/>
            <a:ext cx="1325563"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조회일자변경</a:t>
            </a:r>
            <a:endParaRPr lang="en-US" altLang="ko-KR" sz="800" b="1" dirty="0" smtClean="0">
              <a:latin typeface="+mn-ea"/>
              <a:ea typeface="+mn-ea"/>
            </a:endParaRPr>
          </a:p>
          <a:p>
            <a:pPr algn="ctr"/>
            <a:r>
              <a:rPr lang="ko-KR" altLang="en-US" sz="800" b="1" dirty="0" smtClean="0">
                <a:latin typeface="+mn-ea"/>
                <a:ea typeface="+mn-ea"/>
              </a:rPr>
              <a:t>매월 </a:t>
            </a:r>
            <a:r>
              <a:rPr lang="en-US" altLang="ko-KR" sz="800" b="1" dirty="0" smtClean="0">
                <a:latin typeface="+mn-ea"/>
                <a:ea typeface="+mn-ea"/>
              </a:rPr>
              <a:t>1 ~ </a:t>
            </a:r>
            <a:r>
              <a:rPr lang="ko-KR" altLang="en-US" sz="800" b="1" dirty="0" smtClean="0">
                <a:latin typeface="+mn-ea"/>
                <a:ea typeface="+mn-ea"/>
              </a:rPr>
              <a:t>현재일자</a:t>
            </a:r>
            <a:endParaRPr lang="en-US" altLang="ko-KR" sz="800" b="1" dirty="0" smtClean="0">
              <a:latin typeface="+mn-ea"/>
              <a:ea typeface="+mn-ea"/>
            </a:endParaRPr>
          </a:p>
        </p:txBody>
      </p:sp>
      <p:cxnSp>
        <p:nvCxnSpPr>
          <p:cNvPr id="151" name="AutoShape 67"/>
          <p:cNvCxnSpPr>
            <a:cxnSpLocks noChangeShapeType="1"/>
            <a:stCxn id="139" idx="2"/>
            <a:endCxn id="149" idx="0"/>
          </p:cNvCxnSpPr>
          <p:nvPr/>
        </p:nvCxnSpPr>
        <p:spPr bwMode="gray">
          <a:xfrm>
            <a:off x="2434907" y="2830758"/>
            <a:ext cx="2772" cy="379278"/>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Rectangle 49"/>
          <p:cNvSpPr>
            <a:spLocks noChangeArrowheads="1"/>
          </p:cNvSpPr>
          <p:nvPr/>
        </p:nvSpPr>
        <p:spPr bwMode="gray">
          <a:xfrm>
            <a:off x="3444958" y="2423059"/>
            <a:ext cx="1325563"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조회일자</a:t>
            </a:r>
            <a:endParaRPr lang="en-US" altLang="ko-KR" sz="800" b="1" dirty="0" smtClean="0">
              <a:latin typeface="+mn-ea"/>
              <a:ea typeface="+mn-ea"/>
            </a:endParaRPr>
          </a:p>
          <a:p>
            <a:pPr algn="ctr"/>
            <a:r>
              <a:rPr lang="ko-KR" altLang="en-US" sz="800" b="1" dirty="0" smtClean="0">
                <a:latin typeface="+mn-ea"/>
                <a:ea typeface="+mn-ea"/>
              </a:rPr>
              <a:t>입력</a:t>
            </a:r>
            <a:r>
              <a:rPr lang="en-US" altLang="ko-KR" sz="800" b="1" dirty="0" smtClean="0">
                <a:latin typeface="+mn-ea"/>
                <a:ea typeface="+mn-ea"/>
              </a:rPr>
              <a:t>Parameter</a:t>
            </a:r>
          </a:p>
        </p:txBody>
      </p:sp>
      <p:cxnSp>
        <p:nvCxnSpPr>
          <p:cNvPr id="157" name="AutoShape 67"/>
          <p:cNvCxnSpPr>
            <a:cxnSpLocks noChangeShapeType="1"/>
            <a:stCxn id="139" idx="3"/>
            <a:endCxn id="155" idx="1"/>
          </p:cNvCxnSpPr>
          <p:nvPr/>
        </p:nvCxnSpPr>
        <p:spPr bwMode="gray">
          <a:xfrm>
            <a:off x="2996281" y="2593427"/>
            <a:ext cx="448677"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 name="AutoShape 86"/>
          <p:cNvSpPr>
            <a:spLocks noChangeArrowheads="1"/>
          </p:cNvSpPr>
          <p:nvPr/>
        </p:nvSpPr>
        <p:spPr bwMode="auto">
          <a:xfrm>
            <a:off x="1959193" y="469621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600" b="1" dirty="0">
                <a:latin typeface="+mn-ea"/>
                <a:ea typeface="+mn-ea"/>
              </a:rPr>
              <a:t> -&gt; BO </a:t>
            </a:r>
            <a:r>
              <a:rPr lang="ko-KR" altLang="en-US" sz="600" b="1" dirty="0">
                <a:latin typeface="+mn-ea"/>
                <a:ea typeface="+mn-ea"/>
              </a:rPr>
              <a:t>통계 </a:t>
            </a:r>
            <a:r>
              <a:rPr lang="ko-KR" altLang="en-US" sz="600" b="1" dirty="0" smtClean="0">
                <a:latin typeface="+mn-ea"/>
                <a:ea typeface="+mn-ea"/>
              </a:rPr>
              <a:t>테이블</a:t>
            </a:r>
            <a:endParaRPr lang="en-US" altLang="ko-KR" sz="600" b="1" dirty="0" smtClean="0">
              <a:latin typeface="+mn-ea"/>
              <a:ea typeface="+mn-ea"/>
            </a:endParaRPr>
          </a:p>
          <a:p>
            <a:pPr algn="ctr"/>
            <a:r>
              <a:rPr lang="en-US" altLang="ko-KR" sz="600" b="1" dirty="0" smtClean="0">
                <a:latin typeface="+mn-ea"/>
                <a:ea typeface="+mn-ea"/>
              </a:rPr>
              <a:t>STT_SALES_ORD_CLM_GOD_MDAT_HM</a:t>
            </a:r>
            <a:endParaRPr lang="ko-KR" altLang="en-US" sz="600" b="1" dirty="0">
              <a:latin typeface="+mn-ea"/>
              <a:ea typeface="+mn-ea"/>
            </a:endParaRPr>
          </a:p>
        </p:txBody>
      </p:sp>
      <p:cxnSp>
        <p:nvCxnSpPr>
          <p:cNvPr id="161" name="AutoShape 67"/>
          <p:cNvCxnSpPr>
            <a:cxnSpLocks noChangeShapeType="1"/>
            <a:stCxn id="149" idx="3"/>
            <a:endCxn id="171" idx="0"/>
          </p:cNvCxnSpPr>
          <p:nvPr/>
        </p:nvCxnSpPr>
        <p:spPr bwMode="gray">
          <a:xfrm>
            <a:off x="3100460" y="3380404"/>
            <a:ext cx="1009709" cy="206918"/>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AutoShape 67"/>
          <p:cNvCxnSpPr>
            <a:cxnSpLocks noChangeShapeType="1"/>
            <a:stCxn id="155" idx="2"/>
            <a:endCxn id="171" idx="0"/>
          </p:cNvCxnSpPr>
          <p:nvPr/>
        </p:nvCxnSpPr>
        <p:spPr bwMode="gray">
          <a:xfrm>
            <a:off x="4107740" y="2763794"/>
            <a:ext cx="2429" cy="823528"/>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 name="AutoShape 86"/>
          <p:cNvSpPr>
            <a:spLocks noChangeArrowheads="1"/>
          </p:cNvSpPr>
          <p:nvPr/>
        </p:nvSpPr>
        <p:spPr bwMode="auto">
          <a:xfrm>
            <a:off x="500932" y="507888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굿웨어몰</a:t>
            </a:r>
            <a:r>
              <a:rPr lang="ko-KR" altLang="en-US" sz="600" b="1" dirty="0" smtClean="0">
                <a:latin typeface="+mn-ea"/>
                <a:ea typeface="+mn-ea"/>
              </a:rPr>
              <a:t> 판매수불용</a:t>
            </a:r>
            <a:endParaRPr lang="en-US" altLang="ko-KR" sz="600" b="1" dirty="0" smtClean="0">
              <a:latin typeface="+mn-ea"/>
              <a:ea typeface="+mn-ea"/>
            </a:endParaRPr>
          </a:p>
          <a:p>
            <a:pPr algn="ctr"/>
            <a:r>
              <a:rPr lang="en-US" altLang="ko-KR" sz="600" b="1" dirty="0" smtClean="0">
                <a:latin typeface="+mn-ea"/>
                <a:ea typeface="+mn-ea"/>
              </a:rPr>
              <a:t>T_GWM_SALE_SHOP_RNDS</a:t>
            </a:r>
            <a:endParaRPr lang="ko-KR" altLang="en-US" sz="600" b="1" dirty="0">
              <a:latin typeface="+mn-ea"/>
              <a:ea typeface="+mn-ea"/>
            </a:endParaRPr>
          </a:p>
        </p:txBody>
      </p:sp>
      <p:sp>
        <p:nvSpPr>
          <p:cNvPr id="171" name="AutoShape 73"/>
          <p:cNvSpPr>
            <a:spLocks noChangeArrowheads="1"/>
          </p:cNvSpPr>
          <p:nvPr/>
        </p:nvSpPr>
        <p:spPr bwMode="auto">
          <a:xfrm>
            <a:off x="3548795" y="3587322"/>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en-US" altLang="ko-KR" sz="700" dirty="0" smtClean="0">
                <a:latin typeface="+mn-ea"/>
                <a:ea typeface="+mn-ea"/>
              </a:rPr>
              <a:t>CLM_NO</a:t>
            </a:r>
          </a:p>
          <a:p>
            <a:pPr algn="ctr" eaLnBrk="0" latinLnBrk="0" hangingPunct="0">
              <a:lnSpc>
                <a:spcPct val="40000"/>
              </a:lnSpc>
              <a:spcBef>
                <a:spcPct val="50000"/>
              </a:spcBef>
            </a:pPr>
            <a:r>
              <a:rPr lang="en-US" altLang="ko-KR" sz="700" dirty="0" smtClean="0">
                <a:latin typeface="+mn-ea"/>
                <a:ea typeface="+mn-ea"/>
              </a:rPr>
              <a:t>IS NLL OR</a:t>
            </a:r>
          </a:p>
          <a:p>
            <a:pPr algn="ctr" eaLnBrk="0" latinLnBrk="0" hangingPunct="0">
              <a:lnSpc>
                <a:spcPct val="40000"/>
              </a:lnSpc>
              <a:spcBef>
                <a:spcPct val="50000"/>
              </a:spcBef>
            </a:pPr>
            <a:r>
              <a:rPr lang="en-US" altLang="ko-KR" sz="700" dirty="0" smtClean="0">
                <a:latin typeface="+mn-ea"/>
                <a:ea typeface="+mn-ea"/>
              </a:rPr>
              <a:t>CLM_NO = ‘ ‘</a:t>
            </a:r>
          </a:p>
        </p:txBody>
      </p:sp>
      <p:sp>
        <p:nvSpPr>
          <p:cNvPr id="174" name="Text Box 82"/>
          <p:cNvSpPr txBox="1">
            <a:spLocks noChangeArrowheads="1"/>
          </p:cNvSpPr>
          <p:nvPr/>
        </p:nvSpPr>
        <p:spPr bwMode="gray">
          <a:xfrm>
            <a:off x="4110169" y="4012826"/>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75" name="Text Box 82"/>
          <p:cNvSpPr txBox="1">
            <a:spLocks noChangeArrowheads="1"/>
          </p:cNvSpPr>
          <p:nvPr/>
        </p:nvSpPr>
        <p:spPr bwMode="gray">
          <a:xfrm>
            <a:off x="3394501" y="3599376"/>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176" name="Rectangle 49"/>
          <p:cNvSpPr>
            <a:spLocks noChangeArrowheads="1"/>
          </p:cNvSpPr>
          <p:nvPr/>
        </p:nvSpPr>
        <p:spPr bwMode="gray">
          <a:xfrm>
            <a:off x="3452164" y="4378675"/>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en-US" altLang="ko-KR" sz="800" b="1" dirty="0" smtClean="0">
                <a:latin typeface="+mn-ea"/>
                <a:ea typeface="+mn-ea"/>
              </a:rPr>
              <a:t>PAY_DT = </a:t>
            </a:r>
            <a:r>
              <a:rPr lang="ko-KR" altLang="en-US" sz="800" b="1" dirty="0" smtClean="0">
                <a:latin typeface="+mn-ea"/>
                <a:ea typeface="+mn-ea"/>
              </a:rPr>
              <a:t>조회일자</a:t>
            </a:r>
            <a:endParaRPr lang="en-US" altLang="ko-KR" sz="800" b="1" dirty="0" smtClean="0">
              <a:latin typeface="+mn-ea"/>
              <a:ea typeface="+mn-ea"/>
            </a:endParaRPr>
          </a:p>
        </p:txBody>
      </p:sp>
      <p:sp>
        <p:nvSpPr>
          <p:cNvPr id="178" name="Rectangle 49"/>
          <p:cNvSpPr>
            <a:spLocks noChangeArrowheads="1"/>
          </p:cNvSpPr>
          <p:nvPr/>
        </p:nvSpPr>
        <p:spPr bwMode="gray">
          <a:xfrm>
            <a:off x="1543590" y="3979819"/>
            <a:ext cx="158462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en-US" altLang="ko-KR" sz="800" dirty="0">
                <a:latin typeface="+mn-ea"/>
                <a:ea typeface="+mn-ea"/>
              </a:rPr>
              <a:t>CLM_COMPT_DT</a:t>
            </a:r>
            <a:r>
              <a:rPr lang="en-US" altLang="ko-KR" sz="800" b="1" dirty="0" smtClean="0">
                <a:latin typeface="+mn-ea"/>
                <a:ea typeface="+mn-ea"/>
              </a:rPr>
              <a:t>= </a:t>
            </a:r>
            <a:r>
              <a:rPr lang="ko-KR" altLang="en-US" sz="800" b="1" dirty="0" smtClean="0">
                <a:latin typeface="+mn-ea"/>
                <a:ea typeface="+mn-ea"/>
              </a:rPr>
              <a:t>조회일자</a:t>
            </a:r>
            <a:endParaRPr lang="en-US" altLang="ko-KR" sz="800" b="1" dirty="0" smtClean="0">
              <a:latin typeface="+mn-ea"/>
              <a:ea typeface="+mn-ea"/>
            </a:endParaRPr>
          </a:p>
        </p:txBody>
      </p:sp>
      <p:cxnSp>
        <p:nvCxnSpPr>
          <p:cNvPr id="179" name="AutoShape 67"/>
          <p:cNvCxnSpPr>
            <a:cxnSpLocks noChangeShapeType="1"/>
            <a:stCxn id="171" idx="2"/>
            <a:endCxn id="176" idx="0"/>
          </p:cNvCxnSpPr>
          <p:nvPr/>
        </p:nvCxnSpPr>
        <p:spPr bwMode="gray">
          <a:xfrm>
            <a:off x="4110169" y="4061984"/>
            <a:ext cx="4777" cy="316691"/>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AutoShape 67"/>
          <p:cNvCxnSpPr>
            <a:cxnSpLocks noChangeShapeType="1"/>
            <a:stCxn id="171" idx="1"/>
            <a:endCxn id="178" idx="3"/>
          </p:cNvCxnSpPr>
          <p:nvPr/>
        </p:nvCxnSpPr>
        <p:spPr bwMode="gray">
          <a:xfrm rot="10800000" flipV="1">
            <a:off x="3128213" y="3824652"/>
            <a:ext cx="420582" cy="263979"/>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6" name="AutoShape 67"/>
          <p:cNvCxnSpPr>
            <a:cxnSpLocks noChangeShapeType="1"/>
            <a:stCxn id="178" idx="2"/>
            <a:endCxn id="160" idx="1"/>
          </p:cNvCxnSpPr>
          <p:nvPr/>
        </p:nvCxnSpPr>
        <p:spPr bwMode="gray">
          <a:xfrm rot="5400000">
            <a:off x="2039846" y="4400160"/>
            <a:ext cx="498773" cy="93340"/>
          </a:xfrm>
          <a:prstGeom prst="bentConnector3">
            <a:avLst>
              <a:gd name="adj1" fmla="val 58245"/>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9" name="AutoShape 67"/>
          <p:cNvCxnSpPr>
            <a:cxnSpLocks noChangeShapeType="1"/>
            <a:stCxn id="176" idx="1"/>
            <a:endCxn id="160" idx="1"/>
          </p:cNvCxnSpPr>
          <p:nvPr/>
        </p:nvCxnSpPr>
        <p:spPr bwMode="gray">
          <a:xfrm rot="10800000" flipV="1">
            <a:off x="2242562" y="4487487"/>
            <a:ext cx="1209602" cy="208729"/>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 name="TextBox 94"/>
          <p:cNvSpPr txBox="1">
            <a:spLocks noChangeArrowheads="1"/>
          </p:cNvSpPr>
          <p:nvPr/>
        </p:nvSpPr>
        <p:spPr bwMode="auto">
          <a:xfrm>
            <a:off x="1798848" y="4499922"/>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cxnSp>
        <p:nvCxnSpPr>
          <p:cNvPr id="195" name="AutoShape 67"/>
          <p:cNvCxnSpPr>
            <a:cxnSpLocks noChangeShapeType="1"/>
            <a:stCxn id="160" idx="2"/>
            <a:endCxn id="167" idx="1"/>
          </p:cNvCxnSpPr>
          <p:nvPr/>
        </p:nvCxnSpPr>
        <p:spPr bwMode="gray">
          <a:xfrm rot="10800000" flipV="1">
            <a:off x="784301" y="4940095"/>
            <a:ext cx="1174892" cy="138791"/>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2" name="TextBox 94"/>
          <p:cNvSpPr txBox="1">
            <a:spLocks noChangeArrowheads="1"/>
          </p:cNvSpPr>
          <p:nvPr/>
        </p:nvSpPr>
        <p:spPr bwMode="auto">
          <a:xfrm>
            <a:off x="418870" y="4353850"/>
            <a:ext cx="1066004" cy="584775"/>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주문번호</a:t>
            </a:r>
            <a:r>
              <a:rPr lang="en-US" altLang="ko-KR" sz="800" dirty="0" smtClean="0">
                <a:latin typeface="+mn-ea"/>
                <a:ea typeface="+mn-ea"/>
              </a:rPr>
              <a:t>, </a:t>
            </a:r>
            <a:r>
              <a:rPr lang="ko-KR" altLang="en-US" sz="800" dirty="0" smtClean="0">
                <a:latin typeface="+mn-ea"/>
                <a:ea typeface="+mn-ea"/>
              </a:rPr>
              <a:t>주문상품순번</a:t>
            </a:r>
            <a:r>
              <a:rPr lang="en-US" altLang="ko-KR" sz="800" dirty="0" smtClean="0">
                <a:latin typeface="+mn-ea"/>
                <a:ea typeface="+mn-ea"/>
              </a:rPr>
              <a:t>, </a:t>
            </a:r>
            <a:r>
              <a:rPr lang="ko-KR" altLang="en-US" sz="800" dirty="0" smtClean="0">
                <a:latin typeface="+mn-ea"/>
                <a:ea typeface="+mn-ea"/>
              </a:rPr>
              <a:t>주문클레임상품순번 대상 </a:t>
            </a:r>
            <a:r>
              <a:rPr lang="en-US" altLang="ko-KR" sz="800" dirty="0" smtClean="0">
                <a:latin typeface="+mn-ea"/>
                <a:ea typeface="+mn-ea"/>
              </a:rPr>
              <a:t>UPDATE/INSERT</a:t>
            </a:r>
            <a:endParaRPr lang="ko-KR" altLang="en-US" sz="800" dirty="0">
              <a:latin typeface="+mn-ea"/>
              <a:ea typeface="+mn-ea"/>
            </a:endParaRPr>
          </a:p>
        </p:txBody>
      </p:sp>
      <p:sp>
        <p:nvSpPr>
          <p:cNvPr id="216" name="AutoShape 73"/>
          <p:cNvSpPr>
            <a:spLocks noChangeArrowheads="1"/>
          </p:cNvSpPr>
          <p:nvPr/>
        </p:nvSpPr>
        <p:spPr bwMode="auto">
          <a:xfrm>
            <a:off x="3338445" y="5274205"/>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cxnSp>
        <p:nvCxnSpPr>
          <p:cNvPr id="217" name="AutoShape 67"/>
          <p:cNvCxnSpPr>
            <a:cxnSpLocks noChangeShapeType="1"/>
            <a:stCxn id="167" idx="4"/>
            <a:endCxn id="216" idx="1"/>
          </p:cNvCxnSpPr>
          <p:nvPr/>
        </p:nvCxnSpPr>
        <p:spPr bwMode="gray">
          <a:xfrm>
            <a:off x="1067670" y="5322766"/>
            <a:ext cx="2270775" cy="188770"/>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0" name="TextBox 94"/>
          <p:cNvSpPr txBox="1">
            <a:spLocks noChangeArrowheads="1"/>
          </p:cNvSpPr>
          <p:nvPr/>
        </p:nvSpPr>
        <p:spPr bwMode="auto">
          <a:xfrm>
            <a:off x="576528" y="5615206"/>
            <a:ext cx="2878187" cy="806375"/>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대상 </a:t>
            </a:r>
            <a:r>
              <a:rPr lang="en-US" altLang="ko-KR" sz="800" dirty="0" smtClean="0">
                <a:latin typeface="+mn-ea"/>
                <a:ea typeface="+mn-ea"/>
              </a:rPr>
              <a:t>: </a:t>
            </a:r>
            <a:r>
              <a:rPr lang="ko-KR" altLang="en-US" sz="800" dirty="0" smtClean="0">
                <a:latin typeface="+mn-ea"/>
                <a:ea typeface="+mn-ea"/>
              </a:rPr>
              <a:t>판매</a:t>
            </a:r>
            <a:r>
              <a:rPr lang="en-US" altLang="ko-KR" sz="800" dirty="0" smtClean="0">
                <a:latin typeface="+mn-ea"/>
                <a:ea typeface="+mn-ea"/>
              </a:rPr>
              <a:t>, </a:t>
            </a:r>
            <a:r>
              <a:rPr lang="ko-KR" altLang="en-US" sz="800" dirty="0" smtClean="0">
                <a:latin typeface="+mn-ea"/>
                <a:ea typeface="+mn-ea"/>
              </a:rPr>
              <a:t>클레임</a:t>
            </a:r>
            <a:r>
              <a:rPr lang="en-US" altLang="ko-KR" sz="800" dirty="0" smtClean="0">
                <a:latin typeface="+mn-ea"/>
                <a:ea typeface="+mn-ea"/>
              </a:rPr>
              <a:t>(</a:t>
            </a:r>
            <a:r>
              <a:rPr lang="ko-KR" altLang="en-US" sz="800" dirty="0" smtClean="0">
                <a:latin typeface="+mn-ea"/>
                <a:ea typeface="+mn-ea"/>
              </a:rPr>
              <a:t>취소</a:t>
            </a:r>
            <a:r>
              <a:rPr lang="en-US" altLang="ko-KR" sz="800" dirty="0" smtClean="0">
                <a:latin typeface="+mn-ea"/>
                <a:ea typeface="+mn-ea"/>
              </a:rPr>
              <a:t>, </a:t>
            </a:r>
            <a:r>
              <a:rPr lang="ko-KR" altLang="en-US" sz="800" dirty="0" smtClean="0">
                <a:latin typeface="+mn-ea"/>
                <a:ea typeface="+mn-ea"/>
              </a:rPr>
              <a:t>교환</a:t>
            </a:r>
            <a:r>
              <a:rPr lang="en-US" altLang="ko-KR" sz="800" dirty="0" smtClean="0">
                <a:latin typeface="+mn-ea"/>
                <a:ea typeface="+mn-ea"/>
              </a:rPr>
              <a:t>, </a:t>
            </a:r>
            <a:r>
              <a:rPr lang="ko-KR" altLang="en-US" sz="800" dirty="0" smtClean="0">
                <a:latin typeface="+mn-ea"/>
                <a:ea typeface="+mn-ea"/>
              </a:rPr>
              <a:t>교환반품</a:t>
            </a:r>
            <a:r>
              <a:rPr lang="en-US" altLang="ko-KR" sz="800" dirty="0" smtClean="0">
                <a:latin typeface="+mn-ea"/>
                <a:ea typeface="+mn-ea"/>
              </a:rPr>
              <a:t>)</a:t>
            </a:r>
          </a:p>
          <a:p>
            <a:pPr>
              <a:spcBef>
                <a:spcPct val="20000"/>
              </a:spcBef>
              <a:buClr>
                <a:srgbClr val="003366"/>
              </a:buClr>
            </a:pPr>
            <a:r>
              <a:rPr lang="en-US" altLang="ko-KR" sz="800" dirty="0">
                <a:latin typeface="+mn-ea"/>
                <a:ea typeface="+mn-ea"/>
              </a:rPr>
              <a:t>ORD_CHNNL_CD IN ('UNITY_MALL','CLUB_MALL') </a:t>
            </a:r>
            <a:endParaRPr lang="en-US" altLang="ko-KR" sz="800" dirty="0" smtClean="0">
              <a:latin typeface="+mn-ea"/>
              <a:ea typeface="+mn-ea"/>
            </a:endParaRPr>
          </a:p>
          <a:p>
            <a:pPr>
              <a:spcBef>
                <a:spcPct val="20000"/>
              </a:spcBef>
              <a:buClr>
                <a:srgbClr val="003366"/>
              </a:buClr>
            </a:pPr>
            <a:r>
              <a:rPr lang="en-US" altLang="ko-KR" sz="800" dirty="0" smtClean="0">
                <a:latin typeface="+mn-ea"/>
                <a:ea typeface="+mn-ea"/>
                <a:sym typeface="Wingdings" panose="05000000000000000000" pitchFamily="2" charset="2"/>
              </a:rPr>
              <a:t></a:t>
            </a:r>
            <a:r>
              <a:rPr lang="en-US" altLang="ko-KR" sz="800" dirty="0" smtClean="0">
                <a:latin typeface="+mn-ea"/>
                <a:ea typeface="+mn-ea"/>
              </a:rPr>
              <a:t> </a:t>
            </a:r>
            <a:r>
              <a:rPr lang="ko-KR" altLang="en-US" sz="800" dirty="0" err="1" smtClean="0">
                <a:latin typeface="+mn-ea"/>
                <a:ea typeface="+mn-ea"/>
              </a:rPr>
              <a:t>통합몰</a:t>
            </a:r>
            <a:r>
              <a:rPr lang="en-US" altLang="ko-KR" sz="800" dirty="0" smtClean="0">
                <a:latin typeface="+mn-ea"/>
                <a:ea typeface="+mn-ea"/>
              </a:rPr>
              <a:t>, </a:t>
            </a:r>
            <a:r>
              <a:rPr lang="ko-KR" altLang="en-US" sz="800" dirty="0" err="1" smtClean="0">
                <a:latin typeface="+mn-ea"/>
                <a:ea typeface="+mn-ea"/>
              </a:rPr>
              <a:t>클럽몰</a:t>
            </a:r>
            <a:endParaRPr lang="en-US" altLang="ko-KR" sz="800" dirty="0" smtClean="0">
              <a:latin typeface="+mn-ea"/>
              <a:ea typeface="+mn-ea"/>
            </a:endParaRPr>
          </a:p>
          <a:p>
            <a:pPr>
              <a:spcBef>
                <a:spcPct val="20000"/>
              </a:spcBef>
              <a:buClr>
                <a:srgbClr val="003366"/>
              </a:buClr>
            </a:pPr>
            <a:r>
              <a:rPr lang="en-US" altLang="ko-KR" sz="800" dirty="0" smtClean="0">
                <a:latin typeface="+mn-ea"/>
                <a:ea typeface="+mn-ea"/>
              </a:rPr>
              <a:t>SHOP_RNDS_ID IS NULL,</a:t>
            </a:r>
          </a:p>
          <a:p>
            <a:pPr>
              <a:spcBef>
                <a:spcPct val="20000"/>
              </a:spcBef>
              <a:buClr>
                <a:srgbClr val="003366"/>
              </a:buClr>
            </a:pPr>
            <a:r>
              <a:rPr lang="en-US" altLang="ko-KR" sz="800" dirty="0" smtClean="0">
                <a:latin typeface="+mn-ea"/>
                <a:ea typeface="+mn-ea"/>
              </a:rPr>
              <a:t> SHOP_ID = ‘STS015’</a:t>
            </a:r>
            <a:endParaRPr lang="ko-KR" altLang="en-US" sz="800" dirty="0">
              <a:latin typeface="+mn-ea"/>
              <a:ea typeface="+mn-ea"/>
            </a:endParaRPr>
          </a:p>
        </p:txBody>
      </p:sp>
      <p:sp>
        <p:nvSpPr>
          <p:cNvPr id="221" name="TextBox 94"/>
          <p:cNvSpPr txBox="1">
            <a:spLocks noChangeArrowheads="1"/>
          </p:cNvSpPr>
          <p:nvPr/>
        </p:nvSpPr>
        <p:spPr bwMode="auto">
          <a:xfrm>
            <a:off x="3332820" y="5798411"/>
            <a:ext cx="1410031"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브랜드마감</a:t>
            </a:r>
            <a:endParaRPr lang="en-US" altLang="ko-KR" sz="800" dirty="0" smtClean="0">
              <a:latin typeface="+mn-ea"/>
              <a:ea typeface="+mn-ea"/>
            </a:endParaRPr>
          </a:p>
          <a:p>
            <a:pPr>
              <a:spcBef>
                <a:spcPct val="20000"/>
              </a:spcBef>
              <a:buClr>
                <a:srgbClr val="003366"/>
              </a:buClr>
            </a:pPr>
            <a:r>
              <a:rPr lang="ko-KR" altLang="en-US" sz="800" dirty="0" smtClean="0">
                <a:latin typeface="+mn-ea"/>
                <a:ea typeface="+mn-ea"/>
              </a:rPr>
              <a:t>매장브랜드</a:t>
            </a:r>
            <a:r>
              <a:rPr lang="en-US" altLang="ko-KR" sz="800" dirty="0" smtClean="0">
                <a:latin typeface="+mn-ea"/>
                <a:ea typeface="+mn-ea"/>
              </a:rPr>
              <a:t>, </a:t>
            </a:r>
            <a:r>
              <a:rPr lang="ko-KR" altLang="en-US" sz="800" dirty="0" smtClean="0">
                <a:latin typeface="+mn-ea"/>
                <a:ea typeface="+mn-ea"/>
              </a:rPr>
              <a:t>폐점여부</a:t>
            </a:r>
            <a:r>
              <a:rPr lang="en-US" altLang="ko-KR" sz="800" dirty="0" smtClean="0">
                <a:latin typeface="+mn-ea"/>
                <a:ea typeface="+mn-ea"/>
              </a:rPr>
              <a:t>,</a:t>
            </a:r>
          </a:p>
          <a:p>
            <a:pPr>
              <a:spcBef>
                <a:spcPct val="20000"/>
              </a:spcBef>
              <a:buClr>
                <a:srgbClr val="003366"/>
              </a:buClr>
            </a:pPr>
            <a:r>
              <a:rPr lang="ko-KR" altLang="en-US" sz="800" dirty="0" smtClean="0">
                <a:latin typeface="+mn-ea"/>
                <a:ea typeface="+mn-ea"/>
              </a:rPr>
              <a:t>매장할인마진율</a:t>
            </a:r>
            <a:endParaRPr lang="ko-KR" altLang="en-US" sz="800" dirty="0">
              <a:latin typeface="+mn-ea"/>
              <a:ea typeface="+mn-ea"/>
            </a:endParaRPr>
          </a:p>
        </p:txBody>
      </p:sp>
      <p:sp>
        <p:nvSpPr>
          <p:cNvPr id="222" name="Rectangle 49"/>
          <p:cNvSpPr>
            <a:spLocks noChangeArrowheads="1"/>
          </p:cNvSpPr>
          <p:nvPr/>
        </p:nvSpPr>
        <p:spPr bwMode="gray">
          <a:xfrm>
            <a:off x="4767307" y="5698474"/>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공급가계산</a:t>
            </a:r>
            <a:endParaRPr lang="ko-KR" altLang="en-US" sz="800" b="1" dirty="0">
              <a:latin typeface="+mn-ea"/>
              <a:ea typeface="+mn-ea"/>
            </a:endParaRPr>
          </a:p>
        </p:txBody>
      </p:sp>
      <p:cxnSp>
        <p:nvCxnSpPr>
          <p:cNvPr id="223" name="AutoShape 67"/>
          <p:cNvCxnSpPr>
            <a:cxnSpLocks noChangeShapeType="1"/>
            <a:stCxn id="216" idx="3"/>
            <a:endCxn id="222" idx="1"/>
          </p:cNvCxnSpPr>
          <p:nvPr/>
        </p:nvCxnSpPr>
        <p:spPr bwMode="gray">
          <a:xfrm>
            <a:off x="4461193" y="5511536"/>
            <a:ext cx="306114" cy="295751"/>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6" name="Text Box 82"/>
          <p:cNvSpPr txBox="1">
            <a:spLocks noChangeArrowheads="1"/>
          </p:cNvSpPr>
          <p:nvPr/>
        </p:nvSpPr>
        <p:spPr bwMode="gray">
          <a:xfrm>
            <a:off x="4277925" y="5273210"/>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227" name="Text Box 82"/>
          <p:cNvSpPr txBox="1">
            <a:spLocks noChangeArrowheads="1"/>
          </p:cNvSpPr>
          <p:nvPr/>
        </p:nvSpPr>
        <p:spPr bwMode="gray">
          <a:xfrm>
            <a:off x="3547497" y="5148771"/>
            <a:ext cx="376013"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237" name="AutoShape 67"/>
          <p:cNvCxnSpPr>
            <a:cxnSpLocks noChangeShapeType="1"/>
            <a:stCxn id="216" idx="0"/>
          </p:cNvCxnSpPr>
          <p:nvPr/>
        </p:nvCxnSpPr>
        <p:spPr bwMode="gray">
          <a:xfrm rot="16200000" flipV="1">
            <a:off x="3330187" y="4704572"/>
            <a:ext cx="129482" cy="1009783"/>
          </a:xfrm>
          <a:prstGeom prst="bentConnector2">
            <a:avLst/>
          </a:prstGeom>
          <a:noFill/>
          <a:ln w="9525">
            <a:solidFill>
              <a:srgbClr val="CC3300"/>
            </a:solidFill>
            <a:miter lim="800000"/>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AutoShape 67"/>
          <p:cNvCxnSpPr>
            <a:cxnSpLocks noChangeShapeType="1"/>
          </p:cNvCxnSpPr>
          <p:nvPr/>
        </p:nvCxnSpPr>
        <p:spPr bwMode="gray">
          <a:xfrm>
            <a:off x="2890036" y="5148771"/>
            <a:ext cx="0" cy="361783"/>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0" name="TextBox 94"/>
          <p:cNvSpPr txBox="1">
            <a:spLocks noChangeArrowheads="1"/>
          </p:cNvSpPr>
          <p:nvPr/>
        </p:nvSpPr>
        <p:spPr bwMode="auto">
          <a:xfrm>
            <a:off x="4724744" y="5913856"/>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SP_CAL_SALE_SPPR_MNG</a:t>
            </a:r>
            <a:endParaRPr lang="ko-KR" altLang="en-US" sz="800" b="1" dirty="0">
              <a:latin typeface="+mn-ea"/>
              <a:ea typeface="+mn-ea"/>
            </a:endParaRPr>
          </a:p>
        </p:txBody>
      </p:sp>
      <p:cxnSp>
        <p:nvCxnSpPr>
          <p:cNvPr id="252" name="AutoShape 67"/>
          <p:cNvCxnSpPr>
            <a:cxnSpLocks noChangeShapeType="1"/>
            <a:stCxn id="222" idx="0"/>
            <a:endCxn id="307" idx="4"/>
          </p:cNvCxnSpPr>
          <p:nvPr/>
        </p:nvCxnSpPr>
        <p:spPr bwMode="gray">
          <a:xfrm flipH="1" flipV="1">
            <a:off x="5428619" y="5111990"/>
            <a:ext cx="1470" cy="586484"/>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5" name="AutoShape 86"/>
          <p:cNvSpPr>
            <a:spLocks noChangeArrowheads="1"/>
          </p:cNvSpPr>
          <p:nvPr/>
        </p:nvSpPr>
        <p:spPr bwMode="auto">
          <a:xfrm>
            <a:off x="5140659" y="368264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256" name="AutoShape 86"/>
          <p:cNvSpPr>
            <a:spLocks noChangeArrowheads="1"/>
          </p:cNvSpPr>
          <p:nvPr/>
        </p:nvSpPr>
        <p:spPr bwMode="auto">
          <a:xfrm>
            <a:off x="5943110" y="3667116"/>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a:t>
            </a:r>
            <a:endParaRPr lang="en-US" altLang="ko-KR" sz="600" b="1" dirty="0" smtClean="0">
              <a:latin typeface="+mn-ea"/>
              <a:ea typeface="+mn-ea"/>
            </a:endParaRPr>
          </a:p>
          <a:p>
            <a:pPr algn="ctr"/>
            <a:r>
              <a:rPr lang="en-US" altLang="ko-KR" sz="600" b="1" dirty="0" smtClean="0">
                <a:latin typeface="+mn-ea"/>
                <a:ea typeface="+mn-ea"/>
              </a:rPr>
              <a:t>T_SALE</a:t>
            </a:r>
            <a:endParaRPr lang="ko-KR" altLang="en-US" sz="600" b="1" dirty="0">
              <a:latin typeface="+mn-ea"/>
              <a:ea typeface="+mn-ea"/>
            </a:endParaRPr>
          </a:p>
        </p:txBody>
      </p:sp>
      <p:sp>
        <p:nvSpPr>
          <p:cNvPr id="257" name="AutoShape 86"/>
          <p:cNvSpPr>
            <a:spLocks noChangeArrowheads="1"/>
          </p:cNvSpPr>
          <p:nvPr/>
        </p:nvSpPr>
        <p:spPr bwMode="auto">
          <a:xfrm>
            <a:off x="6658886" y="368264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판매결재</a:t>
            </a:r>
            <a:endParaRPr lang="en-US" altLang="ko-KR" sz="600" b="1" dirty="0" smtClean="0">
              <a:latin typeface="+mn-ea"/>
              <a:ea typeface="+mn-ea"/>
            </a:endParaRPr>
          </a:p>
          <a:p>
            <a:pPr algn="ctr"/>
            <a:r>
              <a:rPr lang="en-US" altLang="ko-KR" sz="600" b="1" dirty="0" smtClean="0">
                <a:latin typeface="+mn-ea"/>
                <a:ea typeface="+mn-ea"/>
              </a:rPr>
              <a:t>T_SALE_STLM</a:t>
            </a:r>
            <a:endParaRPr lang="ko-KR" altLang="en-US" sz="600" b="1" dirty="0">
              <a:latin typeface="+mn-ea"/>
              <a:ea typeface="+mn-ea"/>
            </a:endParaRPr>
          </a:p>
        </p:txBody>
      </p:sp>
      <p:cxnSp>
        <p:nvCxnSpPr>
          <p:cNvPr id="261" name="AutoShape 67"/>
          <p:cNvCxnSpPr>
            <a:cxnSpLocks noChangeShapeType="1"/>
            <a:stCxn id="307" idx="0"/>
            <a:endCxn id="255" idx="3"/>
          </p:cNvCxnSpPr>
          <p:nvPr/>
        </p:nvCxnSpPr>
        <p:spPr bwMode="gray">
          <a:xfrm rot="16200000" flipV="1">
            <a:off x="5131744" y="4462689"/>
            <a:ext cx="589160" cy="4591"/>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4" name="AutoShape 67"/>
          <p:cNvCxnSpPr>
            <a:cxnSpLocks noChangeShapeType="1"/>
            <a:stCxn id="307" idx="0"/>
            <a:endCxn id="256" idx="3"/>
          </p:cNvCxnSpPr>
          <p:nvPr/>
        </p:nvCxnSpPr>
        <p:spPr bwMode="gray">
          <a:xfrm rot="5400000" flipH="1" flipV="1">
            <a:off x="5525204" y="4058290"/>
            <a:ext cx="604691" cy="797860"/>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7" name="AutoShape 67"/>
          <p:cNvCxnSpPr>
            <a:cxnSpLocks noChangeShapeType="1"/>
            <a:stCxn id="307" idx="0"/>
            <a:endCxn id="257" idx="3"/>
          </p:cNvCxnSpPr>
          <p:nvPr/>
        </p:nvCxnSpPr>
        <p:spPr bwMode="gray">
          <a:xfrm rot="5400000" flipH="1" flipV="1">
            <a:off x="5890857" y="3708167"/>
            <a:ext cx="589160" cy="1513636"/>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 name="AutoShape 67"/>
          <p:cNvCxnSpPr>
            <a:cxnSpLocks noChangeShapeType="1"/>
            <a:stCxn id="255" idx="1"/>
            <a:endCxn id="65" idx="3"/>
          </p:cNvCxnSpPr>
          <p:nvPr/>
        </p:nvCxnSpPr>
        <p:spPr bwMode="gray">
          <a:xfrm rot="5400000" flipH="1" flipV="1">
            <a:off x="4843898" y="3101733"/>
            <a:ext cx="1161044" cy="784"/>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3" name="AutoShape 67"/>
          <p:cNvCxnSpPr>
            <a:cxnSpLocks noChangeShapeType="1"/>
            <a:stCxn id="255" idx="1"/>
            <a:endCxn id="75" idx="3"/>
          </p:cNvCxnSpPr>
          <p:nvPr/>
        </p:nvCxnSpPr>
        <p:spPr bwMode="gray">
          <a:xfrm rot="5400000" flipH="1" flipV="1">
            <a:off x="5163885" y="2781746"/>
            <a:ext cx="1161044" cy="640758"/>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 name="AutoShape 86"/>
          <p:cNvSpPr>
            <a:spLocks noChangeArrowheads="1"/>
          </p:cNvSpPr>
          <p:nvPr/>
        </p:nvSpPr>
        <p:spPr bwMode="auto">
          <a:xfrm>
            <a:off x="6573180" y="5191492"/>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굿웨어몰</a:t>
            </a:r>
            <a:r>
              <a:rPr lang="ko-KR" altLang="en-US" sz="600" b="1" dirty="0" smtClean="0">
                <a:latin typeface="+mn-ea"/>
                <a:ea typeface="+mn-ea"/>
              </a:rPr>
              <a:t> 판매수불용</a:t>
            </a:r>
            <a:endParaRPr lang="en-US" altLang="ko-KR" sz="600" b="1" dirty="0" smtClean="0">
              <a:latin typeface="+mn-ea"/>
              <a:ea typeface="+mn-ea"/>
            </a:endParaRPr>
          </a:p>
          <a:p>
            <a:pPr algn="ctr"/>
            <a:r>
              <a:rPr lang="en-US" altLang="ko-KR" sz="600" b="1" dirty="0" smtClean="0">
                <a:latin typeface="+mn-ea"/>
                <a:ea typeface="+mn-ea"/>
              </a:rPr>
              <a:t>T_GWM_SALE_SHOP_RNDS</a:t>
            </a:r>
            <a:endParaRPr lang="ko-KR" altLang="en-US" sz="600" b="1" dirty="0">
              <a:latin typeface="+mn-ea"/>
              <a:ea typeface="+mn-ea"/>
            </a:endParaRPr>
          </a:p>
        </p:txBody>
      </p:sp>
      <p:cxnSp>
        <p:nvCxnSpPr>
          <p:cNvPr id="281" name="AutoShape 67"/>
          <p:cNvCxnSpPr>
            <a:cxnSpLocks noChangeShapeType="1"/>
            <a:stCxn id="307" idx="6"/>
            <a:endCxn id="276" idx="1"/>
          </p:cNvCxnSpPr>
          <p:nvPr/>
        </p:nvCxnSpPr>
        <p:spPr bwMode="gray">
          <a:xfrm>
            <a:off x="5742944" y="4935778"/>
            <a:ext cx="1113605" cy="255714"/>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4" name="Text Box 82"/>
          <p:cNvSpPr txBox="1">
            <a:spLocks noChangeArrowheads="1"/>
          </p:cNvSpPr>
          <p:nvPr/>
        </p:nvSpPr>
        <p:spPr bwMode="gray">
          <a:xfrm>
            <a:off x="6152239" y="4699498"/>
            <a:ext cx="1123236"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ko-KR" altLang="en-US" sz="800" dirty="0" smtClean="0">
                <a:latin typeface="+mn-ea"/>
                <a:ea typeface="+mn-ea"/>
              </a:rPr>
              <a:t>판매수불</a:t>
            </a:r>
            <a:r>
              <a:rPr lang="en-US" altLang="ko-KR" sz="800" dirty="0" smtClean="0">
                <a:latin typeface="+mn-ea"/>
                <a:ea typeface="+mn-ea"/>
              </a:rPr>
              <a:t>ID UPDATE</a:t>
            </a:r>
            <a:endParaRPr lang="en-US" altLang="ko-KR" sz="800" dirty="0">
              <a:latin typeface="+mn-ea"/>
              <a:ea typeface="+mn-ea"/>
            </a:endParaRPr>
          </a:p>
        </p:txBody>
      </p:sp>
      <p:sp>
        <p:nvSpPr>
          <p:cNvPr id="285" name="Text Box 82"/>
          <p:cNvSpPr txBox="1">
            <a:spLocks noChangeArrowheads="1"/>
          </p:cNvSpPr>
          <p:nvPr/>
        </p:nvSpPr>
        <p:spPr bwMode="gray">
          <a:xfrm>
            <a:off x="3677701" y="4601910"/>
            <a:ext cx="939681"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ko-KR" altLang="en-US" sz="800" dirty="0" smtClean="0">
                <a:latin typeface="+mn-ea"/>
                <a:ea typeface="+mn-ea"/>
              </a:rPr>
              <a:t>결재시점 데이터</a:t>
            </a:r>
            <a:endParaRPr lang="en-US" altLang="ko-KR" sz="800" dirty="0">
              <a:latin typeface="+mn-ea"/>
              <a:ea typeface="+mn-ea"/>
            </a:endParaRPr>
          </a:p>
        </p:txBody>
      </p:sp>
      <p:sp>
        <p:nvSpPr>
          <p:cNvPr id="286" name="Text Box 82"/>
          <p:cNvSpPr txBox="1">
            <a:spLocks noChangeArrowheads="1"/>
          </p:cNvSpPr>
          <p:nvPr/>
        </p:nvSpPr>
        <p:spPr bwMode="gray">
          <a:xfrm>
            <a:off x="1822062" y="3771328"/>
            <a:ext cx="121058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ko-KR" altLang="en-US" sz="800" dirty="0" smtClean="0">
                <a:latin typeface="+mn-ea"/>
                <a:ea typeface="+mn-ea"/>
              </a:rPr>
              <a:t>클레임발생시점데이터</a:t>
            </a:r>
            <a:endParaRPr lang="en-US" altLang="ko-KR" sz="800" dirty="0" smtClean="0">
              <a:latin typeface="+mn-ea"/>
              <a:ea typeface="+mn-ea"/>
            </a:endParaRPr>
          </a:p>
        </p:txBody>
      </p:sp>
      <p:sp>
        <p:nvSpPr>
          <p:cNvPr id="290" name="TextBox 94"/>
          <p:cNvSpPr txBox="1">
            <a:spLocks noChangeArrowheads="1"/>
          </p:cNvSpPr>
          <p:nvPr/>
        </p:nvSpPr>
        <p:spPr bwMode="auto">
          <a:xfrm>
            <a:off x="5075731" y="1754947"/>
            <a:ext cx="1289953"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b="1" dirty="0" smtClean="0">
                <a:latin typeface="+mn-ea"/>
                <a:ea typeface="+mn-ea"/>
              </a:rPr>
              <a:t>패션</a:t>
            </a:r>
            <a:r>
              <a:rPr lang="en-US" altLang="ko-KR" sz="800" b="1" dirty="0" smtClean="0">
                <a:latin typeface="+mn-ea"/>
                <a:ea typeface="+mn-ea"/>
              </a:rPr>
              <a:t>ERP </a:t>
            </a:r>
            <a:r>
              <a:rPr lang="ko-KR" altLang="en-US" sz="800" b="1" dirty="0" smtClean="0">
                <a:latin typeface="+mn-ea"/>
                <a:ea typeface="+mn-ea"/>
              </a:rPr>
              <a:t>야간배치 갱신</a:t>
            </a:r>
            <a:endParaRPr lang="ko-KR" altLang="en-US" sz="800" b="1" dirty="0">
              <a:latin typeface="+mn-ea"/>
              <a:ea typeface="+mn-ea"/>
            </a:endParaRPr>
          </a:p>
        </p:txBody>
      </p:sp>
      <p:sp>
        <p:nvSpPr>
          <p:cNvPr id="302" name="TextBox 94"/>
          <p:cNvSpPr txBox="1">
            <a:spLocks noChangeArrowheads="1"/>
          </p:cNvSpPr>
          <p:nvPr/>
        </p:nvSpPr>
        <p:spPr bwMode="auto">
          <a:xfrm>
            <a:off x="1789016" y="5360577"/>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307" name="Oval 108"/>
          <p:cNvSpPr>
            <a:spLocks noChangeArrowheads="1"/>
          </p:cNvSpPr>
          <p:nvPr/>
        </p:nvSpPr>
        <p:spPr bwMode="gray">
          <a:xfrm>
            <a:off x="5114294" y="4759565"/>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판매</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315" name="Text Box 121"/>
          <p:cNvSpPr txBox="1">
            <a:spLocks noChangeArrowheads="1"/>
          </p:cNvSpPr>
          <p:nvPr/>
        </p:nvSpPr>
        <p:spPr bwMode="gray">
          <a:xfrm>
            <a:off x="5459539" y="5041746"/>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r>
              <a:rPr lang="en-US" altLang="ko-KR" sz="800" dirty="0" smtClean="0">
                <a:latin typeface="+mn-ea"/>
                <a:ea typeface="+mn-ea"/>
              </a:rPr>
              <a:t>SHOP_RNDS_ID</a:t>
            </a:r>
          </a:p>
          <a:p>
            <a:r>
              <a:rPr lang="en-US" altLang="ko-KR" sz="800" dirty="0" smtClean="0">
                <a:latin typeface="+mn-ea"/>
                <a:ea typeface="+mn-ea"/>
              </a:rPr>
              <a:t>REG_NO</a:t>
            </a:r>
          </a:p>
        </p:txBody>
      </p:sp>
      <p:sp>
        <p:nvSpPr>
          <p:cNvPr id="316" name="Text Box 121"/>
          <p:cNvSpPr txBox="1">
            <a:spLocks noChangeArrowheads="1"/>
          </p:cNvSpPr>
          <p:nvPr/>
        </p:nvSpPr>
        <p:spPr bwMode="gray">
          <a:xfrm>
            <a:off x="2379097" y="2942682"/>
            <a:ext cx="1021877" cy="215444"/>
          </a:xfrm>
          <a:prstGeom prst="rect">
            <a:avLst/>
          </a:prstGeom>
          <a:noFill/>
          <a:ln>
            <a:noFill/>
          </a:ln>
          <a:effectLst/>
        </p:spPr>
        <p:txBody>
          <a:bodyPr wrap="square">
            <a:spAutoFit/>
          </a:bodyPr>
          <a:lstStyle/>
          <a:p>
            <a:pPr algn="ctr"/>
            <a:r>
              <a:rPr lang="ko-KR" altLang="en-US" sz="800" dirty="0" smtClean="0">
                <a:latin typeface="+mn-ea"/>
                <a:ea typeface="+mn-ea"/>
              </a:rPr>
              <a:t>구매확정건수 </a:t>
            </a:r>
            <a:r>
              <a:rPr lang="en-US" altLang="ko-KR" sz="800" dirty="0" smtClean="0">
                <a:latin typeface="+mn-ea"/>
                <a:ea typeface="+mn-ea"/>
              </a:rPr>
              <a:t>&gt; 0</a:t>
            </a:r>
          </a:p>
        </p:txBody>
      </p:sp>
      <p:sp>
        <p:nvSpPr>
          <p:cNvPr id="73" name="TextBox 94"/>
          <p:cNvSpPr txBox="1">
            <a:spLocks noChangeArrowheads="1"/>
          </p:cNvSpPr>
          <p:nvPr/>
        </p:nvSpPr>
        <p:spPr bwMode="auto">
          <a:xfrm>
            <a:off x="2359090" y="4626492"/>
            <a:ext cx="1237016" cy="363176"/>
          </a:xfrm>
          <a:prstGeom prst="rect">
            <a:avLst/>
          </a:prstGeom>
          <a:noFill/>
          <a:ln w="9525">
            <a:noFill/>
            <a:miter lim="800000"/>
            <a:headEnd/>
            <a:tailEnd/>
          </a:ln>
        </p:spPr>
        <p:txBody>
          <a:bodyPr wrap="square">
            <a:spAutoFit/>
          </a:bodyPr>
          <a:lstStyle/>
          <a:p>
            <a:pPr algn="ctr">
              <a:spcBef>
                <a:spcPct val="20000"/>
              </a:spcBef>
              <a:buClr>
                <a:srgbClr val="003366"/>
              </a:buClr>
            </a:pPr>
            <a:r>
              <a:rPr lang="en-US" altLang="ko-KR" sz="800" dirty="0">
                <a:latin typeface="+mn-ea"/>
                <a:ea typeface="+mn-ea"/>
              </a:rPr>
              <a:t>(</a:t>
            </a:r>
            <a:r>
              <a:rPr lang="ko-KR" altLang="en-US" sz="800" dirty="0">
                <a:latin typeface="+mn-ea"/>
                <a:ea typeface="+mn-ea"/>
              </a:rPr>
              <a:t>주문</a:t>
            </a:r>
            <a:r>
              <a:rPr lang="en-US" altLang="ko-KR" sz="800" dirty="0">
                <a:latin typeface="+mn-ea"/>
                <a:ea typeface="+mn-ea"/>
              </a:rPr>
              <a:t>,</a:t>
            </a:r>
            <a:r>
              <a:rPr lang="ko-KR" altLang="en-US" sz="800" dirty="0">
                <a:latin typeface="+mn-ea"/>
                <a:ea typeface="+mn-ea"/>
              </a:rPr>
              <a:t>클레임 매출</a:t>
            </a:r>
            <a:r>
              <a:rPr lang="en-US" altLang="ko-KR" sz="800" dirty="0">
                <a:latin typeface="+mn-ea"/>
                <a:ea typeface="+mn-ea"/>
              </a:rPr>
              <a:t>)</a:t>
            </a:r>
          </a:p>
          <a:p>
            <a:pPr algn="ctr">
              <a:spcBef>
                <a:spcPct val="20000"/>
              </a:spcBef>
              <a:buClr>
                <a:srgbClr val="003366"/>
              </a:buClr>
            </a:pPr>
            <a:r>
              <a:rPr lang="en-US" altLang="ko-KR" sz="800" dirty="0">
                <a:latin typeface="+mn-ea"/>
                <a:ea typeface="+mn-ea"/>
              </a:rPr>
              <a:t>1</a:t>
            </a:r>
            <a:r>
              <a:rPr lang="ko-KR" altLang="en-US" sz="800" dirty="0">
                <a:latin typeface="+mn-ea"/>
                <a:ea typeface="+mn-ea"/>
              </a:rPr>
              <a:t>시간 배치</a:t>
            </a:r>
            <a:endParaRPr lang="ko-KR" altLang="en-US" sz="800" dirty="0">
              <a:latin typeface="+mn-ea"/>
              <a:ea typeface="+mn-ea"/>
            </a:endParaRPr>
          </a:p>
        </p:txBody>
      </p:sp>
    </p:spTree>
    <p:extLst>
      <p:ext uri="{BB962C8B-B14F-4D97-AF65-F5344CB8AC3E}">
        <p14:creationId xmlns:p14="http://schemas.microsoft.com/office/powerpoint/2010/main" val="29543220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직사각형 212"/>
          <p:cNvSpPr/>
          <p:nvPr/>
        </p:nvSpPr>
        <p:spPr>
          <a:xfrm>
            <a:off x="4461119" y="1358770"/>
            <a:ext cx="2922151" cy="1039891"/>
          </a:xfrm>
          <a:prstGeom prst="rect">
            <a:avLst/>
          </a:prstGeom>
          <a:solidFill>
            <a:schemeClr val="accent1">
              <a:lumMod val="20000"/>
              <a:lumOff val="8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1200" b="1" kern="0" dirty="0" smtClean="0">
              <a:solidFill>
                <a:schemeClr val="bg1"/>
              </a:solidFill>
              <a:latin typeface="맑은 고딕" pitchFamily="50" charset="-127"/>
              <a:ea typeface="맑은 고딕" pitchFamily="50" charset="-127"/>
            </a:endParaRPr>
          </a:p>
        </p:txBody>
      </p:sp>
      <p:sp>
        <p:nvSpPr>
          <p:cNvPr id="11" name="제목 10"/>
          <p:cNvSpPr>
            <a:spLocks noGrp="1"/>
          </p:cNvSpPr>
          <p:nvPr>
            <p:ph type="title"/>
          </p:nvPr>
        </p:nvSpPr>
        <p:spPr/>
        <p:txBody>
          <a:bodyPr/>
          <a:lstStyle/>
          <a:p>
            <a:r>
              <a:rPr lang="en-US" altLang="ko-KR" dirty="0" smtClean="0">
                <a:latin typeface="+mj-ea"/>
                <a:ea typeface="+mj-ea"/>
              </a:rPr>
              <a:t>4</a:t>
            </a:r>
            <a:r>
              <a:rPr lang="en-US" altLang="ko-KR" dirty="0" smtClean="0">
                <a:latin typeface="+mj-ea"/>
                <a:ea typeface="+mj-ea"/>
              </a:rPr>
              <a:t>. </a:t>
            </a:r>
            <a:r>
              <a:rPr lang="ko-KR" altLang="en-US" dirty="0" smtClean="0">
                <a:latin typeface="+mj-ea"/>
                <a:ea typeface="+mj-ea"/>
              </a:rPr>
              <a:t>온라인 판매 반품</a:t>
            </a:r>
            <a:r>
              <a:rPr lang="en-US" altLang="ko-KR" dirty="0" smtClean="0">
                <a:latin typeface="+mj-ea"/>
                <a:ea typeface="+mj-ea"/>
              </a:rPr>
              <a:t>(</a:t>
            </a:r>
            <a:r>
              <a:rPr lang="ko-KR" altLang="en-US" dirty="0" smtClean="0">
                <a:latin typeface="+mj-ea"/>
                <a:ea typeface="+mj-ea"/>
              </a:rPr>
              <a:t>자사</a:t>
            </a:r>
            <a:r>
              <a:rPr lang="en-US" altLang="ko-KR" dirty="0" smtClean="0">
                <a:latin typeface="+mj-ea"/>
                <a:ea typeface="+mj-ea"/>
              </a:rPr>
              <a:t>/</a:t>
            </a:r>
            <a:r>
              <a:rPr lang="ko-KR" altLang="en-US" dirty="0" smtClean="0">
                <a:latin typeface="+mj-ea"/>
                <a:ea typeface="+mj-ea"/>
              </a:rPr>
              <a:t>외부</a:t>
            </a:r>
            <a:r>
              <a:rPr lang="en-US" altLang="ko-KR" dirty="0" smtClean="0">
                <a:latin typeface="+mj-ea"/>
                <a:ea typeface="+mj-ea"/>
              </a:rPr>
              <a:t>)</a:t>
            </a:r>
            <a:endParaRPr lang="ko-KR" altLang="en-US" sz="1400" dirty="0">
              <a:latin typeface="+mj-ea"/>
              <a:ea typeface="+mj-ea"/>
            </a:endParaRPr>
          </a:p>
        </p:txBody>
      </p:sp>
      <p:sp>
        <p:nvSpPr>
          <p:cNvPr id="42" name="TextBox 39"/>
          <p:cNvSpPr txBox="1">
            <a:spLocks noChangeArrowheads="1"/>
          </p:cNvSpPr>
          <p:nvPr/>
        </p:nvSpPr>
        <p:spPr bwMode="auto">
          <a:xfrm>
            <a:off x="218855" y="738114"/>
            <a:ext cx="9594685" cy="304699"/>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a:latin typeface="+mn-ea"/>
                <a:ea typeface="+mn-ea"/>
              </a:rPr>
              <a:t> </a:t>
            </a:r>
            <a:r>
              <a:rPr kumimoji="0" lang="ko-KR" altLang="en-US" sz="1200" b="1" dirty="0" smtClean="0">
                <a:latin typeface="+mn-ea"/>
                <a:ea typeface="+mn-ea"/>
              </a:rPr>
              <a:t>자사</a:t>
            </a:r>
            <a:r>
              <a:rPr kumimoji="0" lang="en-US" altLang="ko-KR" sz="1200" b="1" dirty="0" smtClean="0">
                <a:latin typeface="+mn-ea"/>
                <a:ea typeface="+mn-ea"/>
              </a:rPr>
              <a:t>/</a:t>
            </a:r>
            <a:r>
              <a:rPr kumimoji="0" lang="ko-KR" altLang="en-US" sz="1200" b="1" dirty="0" smtClean="0">
                <a:latin typeface="+mn-ea"/>
                <a:ea typeface="+mn-ea"/>
              </a:rPr>
              <a:t>외부 몰 </a:t>
            </a:r>
            <a:r>
              <a:rPr kumimoji="0" lang="ko-KR" altLang="en-US" sz="1200" b="1" dirty="0" smtClean="0">
                <a:latin typeface="+mn-ea"/>
                <a:ea typeface="+mn-ea"/>
              </a:rPr>
              <a:t>매장반품 등록을 관리</a:t>
            </a:r>
            <a:r>
              <a:rPr kumimoji="0" lang="en-US" altLang="ko-KR" sz="1200" b="1" dirty="0" smtClean="0">
                <a:latin typeface="+mn-ea"/>
                <a:ea typeface="+mn-ea"/>
              </a:rPr>
              <a:t>. </a:t>
            </a:r>
            <a:r>
              <a:rPr kumimoji="0" lang="ko-KR" altLang="en-US" sz="1200" b="1" dirty="0" smtClean="0">
                <a:latin typeface="+mn-ea"/>
                <a:ea typeface="+mn-ea"/>
              </a:rPr>
              <a:t> </a:t>
            </a:r>
            <a:r>
              <a:rPr kumimoji="0" lang="ko-KR" altLang="en-US" sz="1200" b="1" dirty="0" smtClean="0">
                <a:latin typeface="+mn-ea"/>
                <a:ea typeface="+mn-ea"/>
              </a:rPr>
              <a:t>자사 몰은 </a:t>
            </a:r>
            <a:r>
              <a:rPr kumimoji="0" lang="ko-KR" altLang="en-US" sz="1200" b="1" dirty="0" smtClean="0">
                <a:latin typeface="+mn-ea"/>
                <a:ea typeface="+mn-ea"/>
              </a:rPr>
              <a:t>매장 출고반품 실적만 발생하고 </a:t>
            </a:r>
            <a:r>
              <a:rPr kumimoji="0" lang="ko-KR" altLang="en-US" sz="1200" b="1" dirty="0" smtClean="0">
                <a:latin typeface="+mn-ea"/>
                <a:ea typeface="+mn-ea"/>
              </a:rPr>
              <a:t>외부 </a:t>
            </a:r>
            <a:r>
              <a:rPr kumimoji="0" lang="ko-KR" altLang="en-US" sz="1200" b="1" dirty="0" smtClean="0">
                <a:latin typeface="+mn-ea"/>
                <a:ea typeface="+mn-ea"/>
              </a:rPr>
              <a:t>몰은 </a:t>
            </a:r>
            <a:r>
              <a:rPr kumimoji="0" lang="ko-KR" altLang="en-US" sz="1200" b="1" dirty="0" smtClean="0">
                <a:latin typeface="+mn-ea"/>
                <a:ea typeface="+mn-ea"/>
              </a:rPr>
              <a:t>출고반품</a:t>
            </a:r>
            <a:r>
              <a:rPr kumimoji="0" lang="en-US" altLang="ko-KR" sz="1200" b="1" dirty="0" smtClean="0">
                <a:latin typeface="+mn-ea"/>
                <a:ea typeface="+mn-ea"/>
              </a:rPr>
              <a:t>/</a:t>
            </a:r>
            <a:r>
              <a:rPr kumimoji="0" lang="ko-KR" altLang="en-US" sz="1200" b="1" dirty="0" smtClean="0">
                <a:latin typeface="+mn-ea"/>
                <a:ea typeface="+mn-ea"/>
              </a:rPr>
              <a:t>판매반품 실적이 발생</a:t>
            </a:r>
            <a:r>
              <a:rPr kumimoji="0" lang="en-US" altLang="ko-KR" sz="1200" b="1" dirty="0" smtClean="0">
                <a:latin typeface="+mn-ea"/>
                <a:ea typeface="+mn-ea"/>
              </a:rPr>
              <a:t>.</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latinLnBrk="0" hangingPunct="0">
                <a:lnSpc>
                  <a:spcPct val="140000"/>
                </a:lnSpc>
                <a:buClr>
                  <a:schemeClr val="tx2"/>
                </a:buClr>
                <a:buSzPct val="75000"/>
                <a:buFont typeface="Wingdings" panose="05000000000000000000" pitchFamily="2" charset="2"/>
                <a:buChar char="u"/>
              </a:pPr>
              <a:r>
                <a:rPr kumimoji="0" lang="en-US" altLang="ko-KR" sz="900" b="1" dirty="0" smtClean="0">
                  <a:latin typeface="+mn-ea"/>
                  <a:ea typeface="+mn-ea"/>
                </a:rPr>
                <a:t> </a:t>
              </a:r>
              <a:r>
                <a:rPr kumimoji="0" lang="ko-KR" altLang="en-US" sz="900" b="1" dirty="0">
                  <a:latin typeface="+mn-ea"/>
                  <a:ea typeface="+mn-ea"/>
                </a:rPr>
                <a:t>정의</a:t>
              </a:r>
            </a:p>
            <a:p>
              <a:pPr eaLnBrk="0" latinLnBrk="0" hangingPunct="0">
                <a:lnSpc>
                  <a:spcPct val="140000"/>
                </a:lnSpc>
                <a:buClr>
                  <a:schemeClr val="tx2"/>
                </a:buClr>
                <a:buSzPct val="75000"/>
              </a:pPr>
              <a:r>
                <a:rPr kumimoji="0" lang="ko-KR" altLang="en-US" sz="900" dirty="0" smtClean="0">
                  <a:latin typeface="+mn-ea"/>
                  <a:ea typeface="+mn-ea"/>
                </a:rPr>
                <a:t>온라인에서 발생된 판매 반품을 패션</a:t>
              </a:r>
              <a:endParaRPr kumimoji="0" lang="en-US" altLang="ko-KR" sz="900" dirty="0" smtClean="0">
                <a:latin typeface="+mn-ea"/>
                <a:ea typeface="+mn-ea"/>
              </a:endParaRPr>
            </a:p>
            <a:p>
              <a:pPr eaLnBrk="0" latinLnBrk="0" hangingPunct="0">
                <a:lnSpc>
                  <a:spcPct val="140000"/>
                </a:lnSpc>
                <a:buClr>
                  <a:schemeClr val="tx2"/>
                </a:buClr>
                <a:buSzPct val="75000"/>
              </a:pPr>
              <a:r>
                <a:rPr kumimoji="0" lang="en-US" altLang="ko-KR" sz="900" dirty="0">
                  <a:latin typeface="+mn-ea"/>
                  <a:ea typeface="+mn-ea"/>
                </a:rPr>
                <a:t> </a:t>
              </a:r>
              <a:r>
                <a:rPr kumimoji="0" lang="en-US" altLang="ko-KR" sz="900" dirty="0" smtClean="0">
                  <a:latin typeface="+mn-ea"/>
                  <a:ea typeface="+mn-ea"/>
                </a:rPr>
                <a:t>ERP </a:t>
              </a:r>
              <a:r>
                <a:rPr kumimoji="0" lang="ko-KR" altLang="en-US" sz="900" dirty="0" smtClean="0">
                  <a:latin typeface="+mn-ea"/>
                  <a:ea typeface="+mn-ea"/>
                </a:rPr>
                <a:t>판매 실적 생성</a:t>
              </a:r>
              <a:r>
                <a:rPr kumimoji="0" lang="en-US" altLang="ko-KR" sz="900" dirty="0" smtClean="0">
                  <a:latin typeface="+mn-ea"/>
                  <a:ea typeface="+mn-ea"/>
                </a:rPr>
                <a:t>.</a:t>
              </a:r>
              <a:endParaRPr kumimoji="0" lang="en-US" altLang="ko-KR" sz="900" dirty="0" smtClean="0">
                <a:latin typeface="+mn-ea"/>
                <a:ea typeface="+mn-ea"/>
              </a:endParaRPr>
            </a:p>
            <a:p>
              <a:pPr eaLnBrk="0" latinLnBrk="0" hangingPunct="0">
                <a:lnSpc>
                  <a:spcPct val="140000"/>
                </a:lnSpc>
                <a:buClr>
                  <a:schemeClr val="tx2"/>
                </a:buClr>
                <a:buSzPct val="75000"/>
              </a:pPr>
              <a:endParaRPr kumimoji="0" lang="ko-KR" altLang="en-US" sz="900" dirty="0" smtClean="0">
                <a:latin typeface="+mn-ea"/>
                <a:ea typeface="+mn-ea"/>
              </a:endParaRPr>
            </a:p>
            <a:p>
              <a:pPr marL="85725" indent="-85725" eaLnBrk="0" latinLnBrk="0" hangingPunct="0">
                <a:lnSpc>
                  <a:spcPct val="140000"/>
                </a:lnSpc>
                <a:buClr>
                  <a:schemeClr val="tx2"/>
                </a:buClr>
                <a:buSzPct val="75000"/>
                <a:buFont typeface="Wingdings" panose="05000000000000000000" pitchFamily="2" charset="2"/>
                <a:buChar char="u"/>
              </a:pPr>
              <a:r>
                <a:rPr kumimoji="0" lang="ko-KR" altLang="en-US" sz="900" b="1" dirty="0" smtClean="0">
                  <a:latin typeface="+mn-ea"/>
                  <a:ea typeface="+mn-ea"/>
                </a:rPr>
                <a:t> 선행 프로세스</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smtClean="0">
                  <a:latin typeface="+mn-ea"/>
                  <a:ea typeface="+mn-ea"/>
                </a:rPr>
                <a:t>온라인 판매</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ko-KR" altLang="en-US" sz="900" dirty="0" smtClean="0">
                  <a:latin typeface="+mn-ea"/>
                  <a:ea typeface="+mn-ea"/>
                </a:rPr>
                <a:t> </a:t>
              </a:r>
              <a:endParaRPr kumimoji="0" lang="ko-KR" altLang="en-US" sz="900" dirty="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a:latin typeface="+mn-ea"/>
                  <a:ea typeface="+mn-ea"/>
                </a:rPr>
                <a:t> </a:t>
              </a:r>
              <a:r>
                <a:rPr kumimoji="0" lang="ko-KR" altLang="en-US" sz="900" b="1" dirty="0">
                  <a:latin typeface="+mn-ea"/>
                  <a:ea typeface="+mn-ea"/>
                </a:rPr>
                <a:t>후행 프로세스</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smtClean="0">
                  <a:latin typeface="+mn-ea"/>
                  <a:ea typeface="+mn-ea"/>
                </a:rPr>
                <a:t>자자 몰 구매확정</a:t>
              </a:r>
              <a:r>
                <a:rPr kumimoji="0" lang="en-US" altLang="ko-KR" sz="900" dirty="0" smtClean="0">
                  <a:latin typeface="+mn-ea"/>
                  <a:ea typeface="+mn-ea"/>
                </a:rPr>
                <a:t>, </a:t>
              </a:r>
              <a:r>
                <a:rPr kumimoji="0" lang="ko-KR" altLang="en-US" sz="900" dirty="0" smtClean="0">
                  <a:latin typeface="+mn-ea"/>
                  <a:ea typeface="+mn-ea"/>
                </a:rPr>
                <a:t>외부 몰 정산</a:t>
              </a:r>
              <a:r>
                <a:rPr kumimoji="0" lang="en-US" altLang="ko-KR" sz="900" dirty="0" smtClean="0">
                  <a:latin typeface="+mn-ea"/>
                  <a:ea typeface="+mn-ea"/>
                </a:rPr>
                <a:t> </a:t>
              </a:r>
            </a:p>
            <a:p>
              <a:pPr eaLnBrk="0" latinLnBrk="0" hangingPunct="0">
                <a:lnSpc>
                  <a:spcPct val="140000"/>
                </a:lnSpc>
                <a:buClr>
                  <a:schemeClr val="tx2"/>
                </a:buClr>
                <a:buSzPct val="75000"/>
              </a:pPr>
              <a:endParaRPr kumimoji="0" lang="ko-KR" altLang="en-US" sz="900" dirty="0" smtClean="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smtClean="0">
                  <a:latin typeface="+mn-ea"/>
                  <a:ea typeface="+mn-ea"/>
                </a:rPr>
                <a:t> </a:t>
              </a:r>
              <a:r>
                <a:rPr kumimoji="0" lang="ko-KR" altLang="en-US" sz="900" b="1" dirty="0" smtClean="0">
                  <a:latin typeface="+mn-ea"/>
                  <a:ea typeface="+mn-ea"/>
                </a:rPr>
                <a:t>비즈니스 업무정책</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smtClean="0">
                  <a:latin typeface="+mn-ea"/>
                  <a:ea typeface="+mn-ea"/>
                </a:rPr>
                <a:t>외부 몰은 </a:t>
              </a:r>
              <a:r>
                <a:rPr kumimoji="0" lang="ko-KR" altLang="en-US" sz="900" dirty="0" smtClean="0">
                  <a:latin typeface="+mn-ea"/>
                  <a:ea typeface="+mn-ea"/>
                </a:rPr>
                <a:t>판매</a:t>
              </a:r>
              <a:r>
                <a:rPr kumimoji="0" lang="en-US" altLang="ko-KR" sz="900" dirty="0" smtClean="0">
                  <a:latin typeface="+mn-ea"/>
                  <a:ea typeface="+mn-ea"/>
                </a:rPr>
                <a:t>/</a:t>
              </a:r>
              <a:r>
                <a:rPr kumimoji="0" lang="ko-KR" altLang="en-US" sz="900" dirty="0" smtClean="0">
                  <a:latin typeface="+mn-ea"/>
                  <a:ea typeface="+mn-ea"/>
                </a:rPr>
                <a:t>거래명세서 동시 발생</a:t>
              </a:r>
              <a:r>
                <a:rPr kumimoji="0" lang="en-US" altLang="ko-KR" sz="900" dirty="0" smtClean="0">
                  <a:latin typeface="+mn-ea"/>
                  <a:ea typeface="+mn-ea"/>
                </a:rPr>
                <a:t>.</a:t>
              </a:r>
            </a:p>
            <a:p>
              <a:pPr eaLnBrk="0" latinLnBrk="0" hangingPunct="0">
                <a:lnSpc>
                  <a:spcPct val="140000"/>
                </a:lnSpc>
                <a:buClr>
                  <a:schemeClr val="tx2"/>
                </a:buClr>
                <a:buSzPct val="75000"/>
              </a:pPr>
              <a:r>
                <a:rPr kumimoji="0" lang="en-US" altLang="ko-KR" sz="900" dirty="0" smtClean="0">
                  <a:latin typeface="+mn-ea"/>
                  <a:ea typeface="+mn-ea"/>
                </a:rPr>
                <a:t>2. </a:t>
              </a:r>
              <a:r>
                <a:rPr kumimoji="0" lang="ko-KR" altLang="en-US" sz="900" dirty="0" smtClean="0">
                  <a:latin typeface="+mn-ea"/>
                  <a:ea typeface="+mn-ea"/>
                </a:rPr>
                <a:t>자사 몰은 </a:t>
              </a:r>
              <a:r>
                <a:rPr kumimoji="0" lang="ko-KR" altLang="en-US" sz="900" dirty="0" smtClean="0">
                  <a:latin typeface="+mn-ea"/>
                  <a:ea typeface="+mn-ea"/>
                </a:rPr>
                <a:t>판매 반품 없이 반품 출고</a:t>
              </a:r>
              <a:endParaRPr kumimoji="0" lang="en-US" altLang="ko-KR" sz="900" dirty="0" smtClean="0">
                <a:latin typeface="+mn-ea"/>
                <a:ea typeface="+mn-ea"/>
              </a:endParaRPr>
            </a:p>
            <a:p>
              <a:pPr eaLnBrk="0" latinLnBrk="0" hangingPunct="0">
                <a:lnSpc>
                  <a:spcPct val="140000"/>
                </a:lnSpc>
                <a:buClr>
                  <a:schemeClr val="tx2"/>
                </a:buClr>
                <a:buSzPct val="75000"/>
              </a:pPr>
              <a:r>
                <a:rPr kumimoji="0" lang="en-US" altLang="ko-KR" sz="900" dirty="0">
                  <a:latin typeface="+mn-ea"/>
                  <a:ea typeface="+mn-ea"/>
                </a:rPr>
                <a:t> </a:t>
              </a:r>
              <a:r>
                <a:rPr kumimoji="0" lang="en-US" altLang="ko-KR" sz="900" dirty="0" smtClean="0">
                  <a:latin typeface="+mn-ea"/>
                  <a:ea typeface="+mn-ea"/>
                </a:rPr>
                <a:t>  </a:t>
              </a:r>
              <a:r>
                <a:rPr kumimoji="0" lang="ko-KR" altLang="en-US" sz="900" dirty="0" smtClean="0">
                  <a:latin typeface="+mn-ea"/>
                  <a:ea typeface="+mn-ea"/>
                </a:rPr>
                <a:t>실적 생성</a:t>
              </a:r>
              <a:endParaRPr kumimoji="0" lang="en-US" altLang="ko-KR" sz="900" dirty="0" smtClean="0">
                <a:latin typeface="+mn-ea"/>
                <a:ea typeface="+mn-ea"/>
              </a:endParaRPr>
            </a:p>
            <a:p>
              <a:pPr eaLnBrk="0" latinLnBrk="0" hangingPunct="0">
                <a:lnSpc>
                  <a:spcPct val="140000"/>
                </a:lnSpc>
                <a:buClr>
                  <a:schemeClr val="tx2"/>
                </a:buClr>
                <a:buSzPct val="75000"/>
              </a:pPr>
              <a:r>
                <a:rPr kumimoji="0" lang="en-US" altLang="ko-KR" sz="900" dirty="0" smtClean="0">
                  <a:latin typeface="+mn-ea"/>
                  <a:ea typeface="+mn-ea"/>
                  <a:sym typeface="Wingdings" panose="05000000000000000000" pitchFamily="2" charset="2"/>
                </a:rPr>
                <a:t>3</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판매반품 내역에서 창고에서 출고지</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a:latin typeface="+mn-ea"/>
                  <a:ea typeface="+mn-ea"/>
                  <a:sym typeface="Wingdings" panose="05000000000000000000" pitchFamily="2" charset="2"/>
                </a:rPr>
                <a:t> </a:t>
              </a:r>
              <a:r>
                <a:rPr kumimoji="0" lang="en-US" altLang="ko-KR" sz="900" dirty="0" smtClean="0">
                  <a:latin typeface="+mn-ea"/>
                  <a:ea typeface="+mn-ea"/>
                  <a:sym typeface="Wingdings" panose="05000000000000000000" pitchFamily="2" charset="2"/>
                </a:rPr>
                <a:t>  (STS027)</a:t>
              </a:r>
              <a:r>
                <a:rPr kumimoji="0" lang="ko-KR" altLang="en-US" sz="900" dirty="0" smtClean="0">
                  <a:latin typeface="+mn-ea"/>
                  <a:ea typeface="+mn-ea"/>
                  <a:sym typeface="Wingdings" panose="05000000000000000000" pitchFamily="2" charset="2"/>
                </a:rPr>
                <a:t>로 </a:t>
              </a:r>
              <a:r>
                <a:rPr kumimoji="0" lang="ko-KR" altLang="en-US" sz="900" dirty="0" err="1" smtClean="0">
                  <a:latin typeface="+mn-ea"/>
                  <a:ea typeface="+mn-ea"/>
                  <a:sym typeface="Wingdings" panose="05000000000000000000" pitchFamily="2" charset="2"/>
                </a:rPr>
                <a:t>출고시</a:t>
              </a:r>
              <a:r>
                <a:rPr kumimoji="0" lang="ko-KR" altLang="en-US" sz="900" dirty="0" smtClean="0">
                  <a:latin typeface="+mn-ea"/>
                  <a:ea typeface="+mn-ea"/>
                  <a:sym typeface="Wingdings" panose="05000000000000000000" pitchFamily="2" charset="2"/>
                </a:rPr>
                <a:t> 수량은 </a:t>
              </a:r>
              <a:r>
                <a:rPr kumimoji="0" lang="en-US" altLang="ko-KR" sz="900" dirty="0" smtClean="0">
                  <a:latin typeface="+mn-ea"/>
                  <a:ea typeface="+mn-ea"/>
                  <a:sym typeface="Wingdings" panose="05000000000000000000" pitchFamily="2" charset="2"/>
                </a:rPr>
                <a:t>0</a:t>
              </a:r>
              <a:r>
                <a:rPr kumimoji="0" lang="ko-KR" altLang="en-US" sz="900" dirty="0" smtClean="0">
                  <a:latin typeface="+mn-ea"/>
                  <a:ea typeface="+mn-ea"/>
                  <a:sym typeface="Wingdings" panose="05000000000000000000" pitchFamily="2" charset="2"/>
                </a:rPr>
                <a:t>으로 </a:t>
              </a:r>
              <a:r>
                <a:rPr kumimoji="0" lang="ko-KR" altLang="en-US" sz="900" dirty="0" smtClean="0">
                  <a:latin typeface="+mn-ea"/>
                  <a:ea typeface="+mn-ea"/>
                  <a:sym typeface="Wingdings" panose="05000000000000000000" pitchFamily="2" charset="2"/>
                </a:rPr>
                <a:t>처리</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수량은 </a:t>
              </a:r>
              <a:r>
                <a:rPr kumimoji="0" lang="en-US" altLang="ko-KR" sz="900" dirty="0" smtClean="0">
                  <a:latin typeface="+mn-ea"/>
                  <a:ea typeface="+mn-ea"/>
                  <a:sym typeface="Wingdings" panose="05000000000000000000" pitchFamily="2" charset="2"/>
                </a:rPr>
                <a:t>SP_GWM_RNDS_RETUN</a:t>
              </a:r>
              <a:r>
                <a:rPr kumimoji="0" lang="ko-KR" altLang="en-US" sz="900" dirty="0" smtClean="0">
                  <a:latin typeface="+mn-ea"/>
                  <a:ea typeface="+mn-ea"/>
                  <a:sym typeface="Wingdings" panose="05000000000000000000" pitchFamily="2" charset="2"/>
                </a:rPr>
                <a:t>에서 생성</a:t>
              </a:r>
              <a:endParaRPr kumimoji="0" lang="ko-KR" altLang="en-US" sz="900" dirty="0">
                <a:latin typeface="+mn-ea"/>
                <a:ea typeface="+mn-ea"/>
              </a:endParaRPr>
            </a:p>
            <a:p>
              <a:pPr algn="l" eaLnBrk="0" latinLnBrk="0" hangingPunct="0">
                <a:lnSpc>
                  <a:spcPct val="110000"/>
                </a:lnSpc>
                <a:buClr>
                  <a:schemeClr val="tx2"/>
                </a:buClr>
                <a:buSzPct val="75000"/>
                <a:buFont typeface="Wingdings" panose="05000000000000000000" pitchFamily="2" charset="2"/>
                <a:buNone/>
              </a:pPr>
              <a:r>
                <a:rPr kumimoji="0" lang="en-US" altLang="ko-KR" sz="900" dirty="0" smtClean="0">
                  <a:latin typeface="+mn-ea"/>
                  <a:ea typeface="+mn-ea"/>
                </a:rPr>
                <a:t> </a:t>
              </a:r>
              <a:endParaRPr kumimoji="0" lang="en-US" altLang="ko-KR" sz="900" dirty="0">
                <a:latin typeface="+mn-ea"/>
                <a:ea typeface="+mn-ea"/>
              </a:endParaRPr>
            </a:p>
          </p:txBody>
        </p:sp>
      </p:grpSp>
      <p:sp>
        <p:nvSpPr>
          <p:cNvPr id="54" name="Line 50"/>
          <p:cNvSpPr>
            <a:spLocks noChangeShapeType="1"/>
          </p:cNvSpPr>
          <p:nvPr/>
        </p:nvSpPr>
        <p:spPr bwMode="gray">
          <a:xfrm>
            <a:off x="1923938" y="1709725"/>
            <a:ext cx="1009650" cy="0"/>
          </a:xfrm>
          <a:prstGeom prst="line">
            <a:avLst/>
          </a:prstGeom>
          <a:noFill/>
          <a:ln w="9525">
            <a:solidFill>
              <a:srgbClr val="C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sz="800">
              <a:latin typeface="+mn-ea"/>
              <a:ea typeface="+mn-ea"/>
            </a:endParaRPr>
          </a:p>
        </p:txBody>
      </p:sp>
      <p:sp>
        <p:nvSpPr>
          <p:cNvPr id="55" name="Rectangle 51"/>
          <p:cNvSpPr>
            <a:spLocks noChangeArrowheads="1"/>
          </p:cNvSpPr>
          <p:nvPr/>
        </p:nvSpPr>
        <p:spPr bwMode="gray">
          <a:xfrm>
            <a:off x="742838" y="1583450"/>
            <a:ext cx="1201738"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i="1" dirty="0" smtClean="0">
                <a:latin typeface="+mn-ea"/>
                <a:ea typeface="+mn-ea"/>
              </a:rPr>
              <a:t>자사</a:t>
            </a:r>
            <a:r>
              <a:rPr lang="en-US" altLang="ko-KR" sz="800" b="1" i="1" dirty="0" smtClean="0">
                <a:latin typeface="+mn-ea"/>
                <a:ea typeface="+mn-ea"/>
              </a:rPr>
              <a:t>/</a:t>
            </a:r>
            <a:r>
              <a:rPr lang="ko-KR" altLang="en-US" sz="800" b="1" i="1" dirty="0" err="1" smtClean="0">
                <a:latin typeface="+mn-ea"/>
                <a:ea typeface="+mn-ea"/>
              </a:rPr>
              <a:t>제휴몰</a:t>
            </a:r>
            <a:r>
              <a:rPr lang="ko-KR" altLang="en-US" sz="800" b="1" i="1" dirty="0" smtClean="0">
                <a:latin typeface="+mn-ea"/>
                <a:ea typeface="+mn-ea"/>
              </a:rPr>
              <a:t> 반품</a:t>
            </a:r>
            <a:endParaRPr lang="ko-KR" altLang="en-US" sz="800" b="1" i="1" dirty="0">
              <a:latin typeface="+mn-ea"/>
              <a:ea typeface="+mn-ea"/>
            </a:endParaRPr>
          </a:p>
        </p:txBody>
      </p:sp>
      <p:sp>
        <p:nvSpPr>
          <p:cNvPr id="66" name="AutoShape 79"/>
          <p:cNvSpPr>
            <a:spLocks noChangeArrowheads="1"/>
          </p:cNvSpPr>
          <p:nvPr/>
        </p:nvSpPr>
        <p:spPr bwMode="auto">
          <a:xfrm>
            <a:off x="2933588" y="1539069"/>
            <a:ext cx="996950" cy="341312"/>
          </a:xfrm>
          <a:prstGeom prst="flowChartTerminator">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800" dirty="0" smtClean="0">
                <a:latin typeface="+mn-ea"/>
                <a:ea typeface="+mn-ea"/>
              </a:rPr>
              <a:t>반품실적 </a:t>
            </a:r>
            <a:r>
              <a:rPr lang="ko-KR" altLang="en-US" sz="800" dirty="0">
                <a:latin typeface="+mn-ea"/>
                <a:ea typeface="+mn-ea"/>
              </a:rPr>
              <a:t>시작</a:t>
            </a:r>
          </a:p>
        </p:txBody>
      </p:sp>
      <p:sp>
        <p:nvSpPr>
          <p:cNvPr id="67" name="Rectangle 49"/>
          <p:cNvSpPr>
            <a:spLocks noChangeArrowheads="1"/>
          </p:cNvSpPr>
          <p:nvPr/>
        </p:nvSpPr>
        <p:spPr bwMode="gray">
          <a:xfrm>
            <a:off x="2769281" y="2203364"/>
            <a:ext cx="1325563"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인터페이스</a:t>
            </a:r>
            <a:endParaRPr lang="en-US" altLang="ko-KR" sz="800" b="1" dirty="0" smtClean="0">
              <a:latin typeface="+mn-ea"/>
              <a:ea typeface="+mn-ea"/>
            </a:endParaRPr>
          </a:p>
          <a:p>
            <a:pPr algn="ctr"/>
            <a:r>
              <a:rPr lang="ko-KR" altLang="en-US" sz="800" b="1" dirty="0" smtClean="0">
                <a:latin typeface="+mn-ea"/>
                <a:ea typeface="+mn-ea"/>
              </a:rPr>
              <a:t>상태변경</a:t>
            </a:r>
            <a:endParaRPr lang="ko-KR" altLang="en-US" sz="800" b="1" dirty="0">
              <a:latin typeface="+mn-ea"/>
              <a:ea typeface="+mn-ea"/>
            </a:endParaRPr>
          </a:p>
        </p:txBody>
      </p:sp>
      <p:cxnSp>
        <p:nvCxnSpPr>
          <p:cNvPr id="72" name="AutoShape 67"/>
          <p:cNvCxnSpPr>
            <a:cxnSpLocks noChangeShapeType="1"/>
            <a:stCxn id="66" idx="2"/>
            <a:endCxn id="67" idx="0"/>
          </p:cNvCxnSpPr>
          <p:nvPr/>
        </p:nvCxnSpPr>
        <p:spPr bwMode="gray">
          <a:xfrm>
            <a:off x="3432063" y="1880381"/>
            <a:ext cx="0" cy="322983"/>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AutoShape 86"/>
          <p:cNvSpPr>
            <a:spLocks noChangeArrowheads="1"/>
          </p:cNvSpPr>
          <p:nvPr/>
        </p:nvSpPr>
        <p:spPr bwMode="auto">
          <a:xfrm>
            <a:off x="497505" y="2131152"/>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온라인판매반품</a:t>
            </a:r>
            <a:endParaRPr lang="en-US" altLang="ko-KR" sz="600" b="1" dirty="0" smtClean="0">
              <a:latin typeface="+mn-ea"/>
              <a:ea typeface="+mn-ea"/>
            </a:endParaRPr>
          </a:p>
          <a:p>
            <a:pPr algn="ctr"/>
            <a:r>
              <a:rPr lang="en-US" altLang="ko-KR" sz="600" b="1" dirty="0">
                <a:latin typeface="+mn-ea"/>
                <a:ea typeface="+mn-ea"/>
              </a:rPr>
              <a:t>T_GWM_RNDS_REFUND</a:t>
            </a:r>
            <a:endParaRPr lang="ko-KR" altLang="en-US" sz="600" b="1" dirty="0">
              <a:latin typeface="+mn-ea"/>
              <a:ea typeface="+mn-ea"/>
            </a:endParaRPr>
          </a:p>
        </p:txBody>
      </p:sp>
      <p:sp>
        <p:nvSpPr>
          <p:cNvPr id="97" name="AutoShape 73"/>
          <p:cNvSpPr>
            <a:spLocks noChangeArrowheads="1"/>
          </p:cNvSpPr>
          <p:nvPr/>
        </p:nvSpPr>
        <p:spPr bwMode="auto">
          <a:xfrm>
            <a:off x="2869076" y="3338990"/>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cxnSp>
        <p:nvCxnSpPr>
          <p:cNvPr id="70" name="AutoShape 67"/>
          <p:cNvCxnSpPr>
            <a:cxnSpLocks noChangeShapeType="1"/>
            <a:stCxn id="67" idx="1"/>
            <a:endCxn id="73" idx="4"/>
          </p:cNvCxnSpPr>
          <p:nvPr/>
        </p:nvCxnSpPr>
        <p:spPr bwMode="gray">
          <a:xfrm flipH="1">
            <a:off x="1064243" y="2373732"/>
            <a:ext cx="1705038" cy="1299"/>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TextBox 94"/>
          <p:cNvSpPr txBox="1">
            <a:spLocks noChangeArrowheads="1"/>
          </p:cNvSpPr>
          <p:nvPr/>
        </p:nvSpPr>
        <p:spPr bwMode="auto">
          <a:xfrm>
            <a:off x="3623158" y="2708920"/>
            <a:ext cx="1238561" cy="806375"/>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브랜드마감</a:t>
            </a:r>
            <a:endParaRPr lang="en-US" altLang="ko-KR" sz="800" dirty="0" smtClean="0">
              <a:latin typeface="+mn-ea"/>
              <a:ea typeface="+mn-ea"/>
            </a:endParaRPr>
          </a:p>
          <a:p>
            <a:pPr>
              <a:spcBef>
                <a:spcPct val="20000"/>
              </a:spcBef>
              <a:buClr>
                <a:srgbClr val="003366"/>
              </a:buClr>
            </a:pPr>
            <a:r>
              <a:rPr lang="ko-KR" altLang="en-US" sz="800" dirty="0" smtClean="0">
                <a:latin typeface="+mn-ea"/>
                <a:ea typeface="+mn-ea"/>
              </a:rPr>
              <a:t>매장브랜드</a:t>
            </a:r>
            <a:r>
              <a:rPr lang="en-US" altLang="ko-KR" sz="800" dirty="0" smtClean="0">
                <a:latin typeface="+mn-ea"/>
                <a:ea typeface="+mn-ea"/>
              </a:rPr>
              <a:t>, </a:t>
            </a:r>
            <a:r>
              <a:rPr lang="ko-KR" altLang="en-US" sz="800" dirty="0" smtClean="0">
                <a:latin typeface="+mn-ea"/>
                <a:ea typeface="+mn-ea"/>
              </a:rPr>
              <a:t>폐점여부</a:t>
            </a:r>
            <a:r>
              <a:rPr lang="en-US" altLang="ko-KR" sz="800" dirty="0" smtClean="0">
                <a:latin typeface="+mn-ea"/>
                <a:ea typeface="+mn-ea"/>
              </a:rPr>
              <a:t>,</a:t>
            </a:r>
          </a:p>
          <a:p>
            <a:pPr>
              <a:spcBef>
                <a:spcPct val="20000"/>
              </a:spcBef>
              <a:buClr>
                <a:srgbClr val="003366"/>
              </a:buClr>
            </a:pPr>
            <a:r>
              <a:rPr lang="ko-KR" altLang="en-US" sz="800" dirty="0" smtClean="0">
                <a:latin typeface="+mn-ea"/>
                <a:ea typeface="+mn-ea"/>
              </a:rPr>
              <a:t>매장할인마진율</a:t>
            </a:r>
            <a:endParaRPr lang="en-US" altLang="ko-KR" sz="800" dirty="0" smtClean="0">
              <a:latin typeface="+mn-ea"/>
              <a:ea typeface="+mn-ea"/>
            </a:endParaRPr>
          </a:p>
          <a:p>
            <a:pPr>
              <a:spcBef>
                <a:spcPct val="20000"/>
              </a:spcBef>
              <a:buClr>
                <a:srgbClr val="003366"/>
              </a:buClr>
            </a:pPr>
            <a:r>
              <a:rPr lang="en-US" altLang="ko-KR" sz="800" dirty="0">
                <a:latin typeface="+mn-ea"/>
                <a:ea typeface="+mn-ea"/>
              </a:rPr>
              <a:t> </a:t>
            </a:r>
            <a:r>
              <a:rPr lang="en-US" altLang="ko-KR" sz="800" dirty="0" smtClean="0">
                <a:latin typeface="+mn-ea"/>
                <a:ea typeface="+mn-ea"/>
              </a:rPr>
              <a:t>: </a:t>
            </a:r>
            <a:r>
              <a:rPr lang="ko-KR" altLang="en-US" sz="800" dirty="0" smtClean="0">
                <a:latin typeface="+mn-ea"/>
                <a:ea typeface="+mn-ea"/>
              </a:rPr>
              <a:t>출고매장</a:t>
            </a:r>
            <a:r>
              <a:rPr lang="en-US" altLang="ko-KR" sz="800" dirty="0" smtClean="0">
                <a:latin typeface="+mn-ea"/>
                <a:ea typeface="+mn-ea"/>
              </a:rPr>
              <a:t>, </a:t>
            </a:r>
            <a:r>
              <a:rPr lang="ko-KR" altLang="en-US" sz="800" dirty="0" smtClean="0">
                <a:latin typeface="+mn-ea"/>
                <a:ea typeface="+mn-ea"/>
              </a:rPr>
              <a:t>판매매장</a:t>
            </a:r>
            <a:endParaRPr lang="en-US" altLang="ko-KR" sz="800" dirty="0" smtClean="0">
              <a:latin typeface="+mn-ea"/>
              <a:ea typeface="+mn-ea"/>
            </a:endParaRPr>
          </a:p>
          <a:p>
            <a:pPr>
              <a:spcBef>
                <a:spcPct val="20000"/>
              </a:spcBef>
              <a:buClr>
                <a:srgbClr val="003366"/>
              </a:buClr>
            </a:pPr>
            <a:r>
              <a:rPr lang="ko-KR" altLang="en-US" sz="800" dirty="0" smtClean="0">
                <a:latin typeface="+mn-ea"/>
                <a:ea typeface="+mn-ea"/>
              </a:rPr>
              <a:t>제품유효성</a:t>
            </a:r>
            <a:endParaRPr lang="ko-KR" altLang="en-US" sz="800" dirty="0">
              <a:latin typeface="+mn-ea"/>
              <a:ea typeface="+mn-ea"/>
            </a:endParaRPr>
          </a:p>
        </p:txBody>
      </p:sp>
      <p:sp>
        <p:nvSpPr>
          <p:cNvPr id="89" name="TextBox 94"/>
          <p:cNvSpPr txBox="1">
            <a:spLocks noChangeArrowheads="1"/>
          </p:cNvSpPr>
          <p:nvPr/>
        </p:nvSpPr>
        <p:spPr bwMode="auto">
          <a:xfrm>
            <a:off x="2760786" y="1313765"/>
            <a:ext cx="142155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SP_GWM_RNDS_REFUND</a:t>
            </a:r>
            <a:endParaRPr lang="ko-KR" altLang="en-US" sz="800" b="1" dirty="0">
              <a:latin typeface="+mn-ea"/>
              <a:ea typeface="+mn-ea"/>
            </a:endParaRPr>
          </a:p>
        </p:txBody>
      </p:sp>
      <p:cxnSp>
        <p:nvCxnSpPr>
          <p:cNvPr id="95" name="AutoShape 67"/>
          <p:cNvCxnSpPr>
            <a:cxnSpLocks noChangeShapeType="1"/>
            <a:stCxn id="67" idx="2"/>
            <a:endCxn id="97" idx="0"/>
          </p:cNvCxnSpPr>
          <p:nvPr/>
        </p:nvCxnSpPr>
        <p:spPr bwMode="gray">
          <a:xfrm rot="5400000">
            <a:off x="3033812" y="2940738"/>
            <a:ext cx="794891" cy="1613"/>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 Box 82"/>
          <p:cNvSpPr txBox="1">
            <a:spLocks noChangeArrowheads="1"/>
          </p:cNvSpPr>
          <p:nvPr/>
        </p:nvSpPr>
        <p:spPr bwMode="gray">
          <a:xfrm>
            <a:off x="3504283" y="3725204"/>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24" name="AutoShape 67"/>
          <p:cNvCxnSpPr>
            <a:cxnSpLocks noChangeShapeType="1"/>
            <a:stCxn id="97" idx="1"/>
          </p:cNvCxnSpPr>
          <p:nvPr/>
        </p:nvCxnSpPr>
        <p:spPr bwMode="gray">
          <a:xfrm rot="10800000" flipH="1">
            <a:off x="2869076" y="3113965"/>
            <a:ext cx="555530" cy="462356"/>
          </a:xfrm>
          <a:prstGeom prst="bentConnector3">
            <a:avLst>
              <a:gd name="adj1" fmla="val -4115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Text Box 82"/>
          <p:cNvSpPr txBox="1">
            <a:spLocks noChangeArrowheads="1"/>
          </p:cNvSpPr>
          <p:nvPr/>
        </p:nvSpPr>
        <p:spPr bwMode="gray">
          <a:xfrm>
            <a:off x="2654111" y="3381918"/>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28" name="AutoShape 67"/>
          <p:cNvCxnSpPr>
            <a:cxnSpLocks noChangeShapeType="1"/>
            <a:stCxn id="97" idx="2"/>
            <a:endCxn id="88" idx="3"/>
          </p:cNvCxnSpPr>
          <p:nvPr/>
        </p:nvCxnSpPr>
        <p:spPr bwMode="gray">
          <a:xfrm rot="5400000">
            <a:off x="2960294" y="3604718"/>
            <a:ext cx="261223" cy="679090"/>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AutoShape 86"/>
          <p:cNvSpPr>
            <a:spLocks noChangeArrowheads="1"/>
          </p:cNvSpPr>
          <p:nvPr/>
        </p:nvSpPr>
        <p:spPr bwMode="auto">
          <a:xfrm>
            <a:off x="5646402" y="1659879"/>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매장재고</a:t>
            </a:r>
            <a:endParaRPr lang="en-US" altLang="ko-KR" sz="600" b="1" dirty="0" smtClean="0">
              <a:latin typeface="+mn-ea"/>
              <a:ea typeface="+mn-ea"/>
            </a:endParaRPr>
          </a:p>
          <a:p>
            <a:pPr algn="ctr"/>
            <a:r>
              <a:rPr lang="en-US" altLang="ko-KR" sz="600" b="1" dirty="0" smtClean="0">
                <a:latin typeface="+mn-ea"/>
                <a:ea typeface="+mn-ea"/>
              </a:rPr>
              <a:t>T_SHOP_STOCK</a:t>
            </a:r>
            <a:endParaRPr lang="ko-KR" altLang="en-US" sz="600" b="1" dirty="0">
              <a:latin typeface="+mn-ea"/>
              <a:ea typeface="+mn-ea"/>
            </a:endParaRPr>
          </a:p>
        </p:txBody>
      </p:sp>
      <p:sp>
        <p:nvSpPr>
          <p:cNvPr id="75" name="AutoShape 86"/>
          <p:cNvSpPr>
            <a:spLocks noChangeArrowheads="1"/>
          </p:cNvSpPr>
          <p:nvPr/>
        </p:nvSpPr>
        <p:spPr bwMode="auto">
          <a:xfrm>
            <a:off x="6546502" y="1659879"/>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창고재고</a:t>
            </a:r>
            <a:endParaRPr lang="en-US" altLang="ko-KR" sz="600" b="1" dirty="0" smtClean="0">
              <a:latin typeface="+mn-ea"/>
              <a:ea typeface="+mn-ea"/>
            </a:endParaRPr>
          </a:p>
          <a:p>
            <a:pPr algn="ctr"/>
            <a:r>
              <a:rPr lang="en-US" altLang="ko-KR" sz="600" b="1" dirty="0" smtClean="0">
                <a:latin typeface="+mn-ea"/>
                <a:ea typeface="+mn-ea"/>
              </a:rPr>
              <a:t>T_WH_STOCK_PRDT</a:t>
            </a:r>
            <a:endParaRPr lang="ko-KR" altLang="en-US" sz="600" b="1" dirty="0">
              <a:latin typeface="+mn-ea"/>
              <a:ea typeface="+mn-ea"/>
            </a:endParaRPr>
          </a:p>
        </p:txBody>
      </p:sp>
      <p:sp>
        <p:nvSpPr>
          <p:cNvPr id="85" name="AutoShape 86"/>
          <p:cNvSpPr>
            <a:spLocks noChangeArrowheads="1"/>
          </p:cNvSpPr>
          <p:nvPr/>
        </p:nvSpPr>
        <p:spPr bwMode="auto">
          <a:xfrm>
            <a:off x="4772980" y="166850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제품월수불</a:t>
            </a:r>
            <a:endParaRPr lang="en-US" altLang="ko-KR" sz="600" b="1" dirty="0" smtClean="0">
              <a:latin typeface="+mn-ea"/>
              <a:ea typeface="+mn-ea"/>
            </a:endParaRPr>
          </a:p>
          <a:p>
            <a:pPr algn="ctr"/>
            <a:r>
              <a:rPr lang="en-US" altLang="ko-KR" sz="600" b="1" dirty="0" smtClean="0">
                <a:latin typeface="+mn-ea"/>
                <a:ea typeface="+mn-ea"/>
              </a:rPr>
              <a:t>T_M_RNDS</a:t>
            </a:r>
            <a:endParaRPr lang="ko-KR" altLang="en-US" sz="600" b="1" dirty="0">
              <a:latin typeface="+mn-ea"/>
              <a:ea typeface="+mn-ea"/>
            </a:endParaRPr>
          </a:p>
        </p:txBody>
      </p:sp>
      <p:sp>
        <p:nvSpPr>
          <p:cNvPr id="214" name="TextBox 94"/>
          <p:cNvSpPr txBox="1">
            <a:spLocks noChangeArrowheads="1"/>
          </p:cNvSpPr>
          <p:nvPr/>
        </p:nvSpPr>
        <p:spPr bwMode="auto">
          <a:xfrm>
            <a:off x="5157282" y="1372855"/>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b="1" dirty="0" smtClean="0">
                <a:latin typeface="+mn-ea"/>
                <a:ea typeface="+mn-ea"/>
              </a:rPr>
              <a:t>패션</a:t>
            </a:r>
            <a:r>
              <a:rPr lang="en-US" altLang="ko-KR" sz="800" b="1" dirty="0" smtClean="0">
                <a:latin typeface="+mn-ea"/>
                <a:ea typeface="+mn-ea"/>
              </a:rPr>
              <a:t>ERP </a:t>
            </a:r>
            <a:r>
              <a:rPr lang="ko-KR" altLang="en-US" sz="800" b="1" dirty="0" smtClean="0">
                <a:latin typeface="+mn-ea"/>
                <a:ea typeface="+mn-ea"/>
              </a:rPr>
              <a:t>야간배치 갱신</a:t>
            </a:r>
            <a:endParaRPr lang="ko-KR" altLang="en-US" sz="800" b="1" dirty="0">
              <a:latin typeface="+mn-ea"/>
              <a:ea typeface="+mn-ea"/>
            </a:endParaRPr>
          </a:p>
        </p:txBody>
      </p:sp>
      <p:sp>
        <p:nvSpPr>
          <p:cNvPr id="225" name="TextBox 94"/>
          <p:cNvSpPr txBox="1">
            <a:spLocks noChangeArrowheads="1"/>
          </p:cNvSpPr>
          <p:nvPr/>
        </p:nvSpPr>
        <p:spPr bwMode="auto">
          <a:xfrm>
            <a:off x="1218919" y="1876225"/>
            <a:ext cx="1835245"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a:latin typeface="+mn-ea"/>
                <a:sym typeface="Wingdings" panose="05000000000000000000" pitchFamily="2" charset="2"/>
              </a:rPr>
              <a:t>대상 </a:t>
            </a:r>
            <a:r>
              <a:rPr lang="en-US" altLang="ko-KR" sz="800" dirty="0">
                <a:latin typeface="+mn-ea"/>
                <a:sym typeface="Wingdings" panose="05000000000000000000" pitchFamily="2" charset="2"/>
              </a:rPr>
              <a:t>: </a:t>
            </a:r>
            <a:r>
              <a:rPr lang="en-US" altLang="ko-KR" sz="800" dirty="0" smtClean="0">
                <a:latin typeface="+mn-ea"/>
                <a:sym typeface="Wingdings" panose="05000000000000000000" pitchFamily="2" charset="2"/>
              </a:rPr>
              <a:t>SHOP_RNDS_ID </a:t>
            </a:r>
            <a:r>
              <a:rPr lang="en-US" altLang="ko-KR" sz="800" dirty="0">
                <a:latin typeface="+mn-ea"/>
                <a:sym typeface="Wingdings" panose="05000000000000000000" pitchFamily="2" charset="2"/>
              </a:rPr>
              <a:t>IS NULL </a:t>
            </a:r>
          </a:p>
          <a:p>
            <a:pPr>
              <a:spcBef>
                <a:spcPct val="20000"/>
              </a:spcBef>
              <a:buClr>
                <a:srgbClr val="003366"/>
              </a:buClr>
            </a:pP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       GRP_CD = ‘MCOM’</a:t>
            </a:r>
          </a:p>
          <a:p>
            <a:pPr>
              <a:spcBef>
                <a:spcPct val="20000"/>
              </a:spcBef>
              <a:buClr>
                <a:srgbClr val="003366"/>
              </a:buClr>
            </a:pPr>
            <a:r>
              <a:rPr lang="en-US" altLang="ko-KR" sz="800" dirty="0" smtClean="0">
                <a:latin typeface="+mn-ea"/>
                <a:ea typeface="+mn-ea"/>
              </a:rPr>
              <a:t>IF_STS : S </a:t>
            </a:r>
            <a:r>
              <a:rPr lang="en-US" altLang="ko-KR" sz="800" dirty="0" smtClean="0">
                <a:latin typeface="+mn-ea"/>
                <a:ea typeface="+mn-ea"/>
                <a:sym typeface="Wingdings" panose="05000000000000000000" pitchFamily="2" charset="2"/>
              </a:rPr>
              <a:t> R </a:t>
            </a:r>
            <a:r>
              <a:rPr lang="ko-KR" altLang="en-US" sz="800" dirty="0" smtClean="0">
                <a:latin typeface="+mn-ea"/>
                <a:ea typeface="+mn-ea"/>
                <a:sym typeface="Wingdings" panose="05000000000000000000" pitchFamily="2" charset="2"/>
              </a:rPr>
              <a:t>갱신</a:t>
            </a:r>
            <a:endParaRPr lang="en-US" altLang="ko-KR" sz="800" dirty="0" smtClean="0">
              <a:latin typeface="+mn-ea"/>
              <a:ea typeface="+mn-ea"/>
              <a:sym typeface="Wingdings" panose="05000000000000000000" pitchFamily="2" charset="2"/>
            </a:endParaRPr>
          </a:p>
        </p:txBody>
      </p:sp>
      <p:sp>
        <p:nvSpPr>
          <p:cNvPr id="77" name="TextBox 94"/>
          <p:cNvSpPr txBox="1">
            <a:spLocks noChangeArrowheads="1"/>
          </p:cNvSpPr>
          <p:nvPr/>
        </p:nvSpPr>
        <p:spPr bwMode="auto">
          <a:xfrm>
            <a:off x="947555" y="2822934"/>
            <a:ext cx="1835245"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a:latin typeface="+mn-ea"/>
                <a:sym typeface="Wingdings" panose="05000000000000000000" pitchFamily="2" charset="2"/>
              </a:rPr>
              <a:t>대상 </a:t>
            </a:r>
            <a:r>
              <a:rPr lang="en-US" altLang="ko-KR" sz="800" dirty="0">
                <a:latin typeface="+mn-ea"/>
                <a:sym typeface="Wingdings" panose="05000000000000000000" pitchFamily="2" charset="2"/>
              </a:rPr>
              <a:t>: </a:t>
            </a:r>
            <a:r>
              <a:rPr lang="en-US" altLang="ko-KR" sz="800" dirty="0" smtClean="0">
                <a:latin typeface="+mn-ea"/>
                <a:sym typeface="Wingdings" panose="05000000000000000000" pitchFamily="2" charset="2"/>
              </a:rPr>
              <a:t>SHOP_RNDS_ID </a:t>
            </a:r>
            <a:r>
              <a:rPr lang="en-US" altLang="ko-KR" sz="800" dirty="0">
                <a:latin typeface="+mn-ea"/>
                <a:sym typeface="Wingdings" panose="05000000000000000000" pitchFamily="2" charset="2"/>
              </a:rPr>
              <a:t>IS NULL </a:t>
            </a:r>
          </a:p>
          <a:p>
            <a:pPr>
              <a:spcBef>
                <a:spcPct val="20000"/>
              </a:spcBef>
              <a:buClr>
                <a:srgbClr val="003366"/>
              </a:buClr>
            </a:pP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       GRP_CD = ‘MCOM’</a:t>
            </a:r>
          </a:p>
          <a:p>
            <a:pPr>
              <a:spcBef>
                <a:spcPct val="20000"/>
              </a:spcBef>
              <a:buClr>
                <a:srgbClr val="003366"/>
              </a:buClr>
            </a:pPr>
            <a:r>
              <a:rPr lang="en-US" altLang="ko-KR" sz="800" dirty="0" smtClean="0">
                <a:latin typeface="+mn-ea"/>
                <a:ea typeface="+mn-ea"/>
              </a:rPr>
              <a:t>        IF_STS =</a:t>
            </a:r>
            <a:r>
              <a:rPr lang="en-US" altLang="ko-KR" sz="800" dirty="0" smtClean="0">
                <a:latin typeface="+mn-ea"/>
                <a:ea typeface="+mn-ea"/>
                <a:sym typeface="Wingdings" panose="05000000000000000000" pitchFamily="2" charset="2"/>
              </a:rPr>
              <a:t> R</a:t>
            </a:r>
          </a:p>
        </p:txBody>
      </p:sp>
      <p:cxnSp>
        <p:nvCxnSpPr>
          <p:cNvPr id="81" name="AutoShape 67"/>
          <p:cNvCxnSpPr>
            <a:cxnSpLocks noChangeShapeType="1"/>
            <a:stCxn id="73" idx="3"/>
          </p:cNvCxnSpPr>
          <p:nvPr/>
        </p:nvCxnSpPr>
        <p:spPr bwMode="gray">
          <a:xfrm rot="16200000" flipH="1">
            <a:off x="1986468" y="1413315"/>
            <a:ext cx="225946" cy="2637135"/>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TextBox 94"/>
          <p:cNvSpPr txBox="1">
            <a:spLocks noChangeArrowheads="1"/>
          </p:cNvSpPr>
          <p:nvPr/>
        </p:nvSpPr>
        <p:spPr bwMode="auto">
          <a:xfrm>
            <a:off x="1185517" y="2656244"/>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88" name="Rectangle 49"/>
          <p:cNvSpPr>
            <a:spLocks noChangeArrowheads="1"/>
          </p:cNvSpPr>
          <p:nvPr/>
        </p:nvSpPr>
        <p:spPr bwMode="gray">
          <a:xfrm>
            <a:off x="1425797" y="3966062"/>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공급가계산</a:t>
            </a:r>
            <a:endParaRPr lang="ko-KR" altLang="en-US" sz="800" b="1" dirty="0">
              <a:latin typeface="+mn-ea"/>
              <a:ea typeface="+mn-ea"/>
            </a:endParaRPr>
          </a:p>
        </p:txBody>
      </p:sp>
      <p:sp>
        <p:nvSpPr>
          <p:cNvPr id="90" name="TextBox 94"/>
          <p:cNvSpPr txBox="1">
            <a:spLocks noChangeArrowheads="1"/>
          </p:cNvSpPr>
          <p:nvPr/>
        </p:nvSpPr>
        <p:spPr bwMode="auto">
          <a:xfrm>
            <a:off x="1362027" y="3742503"/>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SP_CAL_SALE_SPPR_MNG</a:t>
            </a:r>
            <a:endParaRPr lang="ko-KR" altLang="en-US" sz="800" b="1" dirty="0">
              <a:latin typeface="+mn-ea"/>
              <a:ea typeface="+mn-ea"/>
            </a:endParaRPr>
          </a:p>
        </p:txBody>
      </p:sp>
      <p:sp>
        <p:nvSpPr>
          <p:cNvPr id="91" name="AutoShape 73"/>
          <p:cNvSpPr>
            <a:spLocks noChangeArrowheads="1"/>
          </p:cNvSpPr>
          <p:nvPr/>
        </p:nvSpPr>
        <p:spPr bwMode="auto">
          <a:xfrm>
            <a:off x="3357669" y="4393652"/>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err="1" smtClean="0">
                <a:latin typeface="+mn-ea"/>
                <a:ea typeface="+mn-ea"/>
              </a:rPr>
              <a:t>자사몰</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grpSp>
        <p:nvGrpSpPr>
          <p:cNvPr id="18" name="그룹 17"/>
          <p:cNvGrpSpPr/>
          <p:nvPr/>
        </p:nvGrpSpPr>
        <p:grpSpPr>
          <a:xfrm>
            <a:off x="1554423" y="4373275"/>
            <a:ext cx="968307" cy="1981049"/>
            <a:chOff x="1374403" y="4373275"/>
            <a:chExt cx="968307" cy="1981049"/>
          </a:xfrm>
        </p:grpSpPr>
        <p:sp>
          <p:nvSpPr>
            <p:cNvPr id="101" name="직사각형 100"/>
            <p:cNvSpPr/>
            <p:nvPr/>
          </p:nvSpPr>
          <p:spPr>
            <a:xfrm>
              <a:off x="1374403" y="4373275"/>
              <a:ext cx="968307" cy="1981049"/>
            </a:xfrm>
            <a:prstGeom prst="rect">
              <a:avLst/>
            </a:prstGeom>
            <a:solidFill>
              <a:srgbClr val="92D050"/>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1200" b="1" kern="0" dirty="0" smtClean="0">
                <a:solidFill>
                  <a:schemeClr val="bg1"/>
                </a:solidFill>
                <a:latin typeface="맑은 고딕" pitchFamily="50" charset="-127"/>
                <a:ea typeface="맑은 고딕" pitchFamily="50" charset="-127"/>
              </a:endParaRPr>
            </a:p>
          </p:txBody>
        </p:sp>
        <p:sp>
          <p:nvSpPr>
            <p:cNvPr id="96" name="Oval 108"/>
            <p:cNvSpPr>
              <a:spLocks noChangeArrowheads="1"/>
            </p:cNvSpPr>
            <p:nvPr/>
          </p:nvSpPr>
          <p:spPr bwMode="gray">
            <a:xfrm>
              <a:off x="1556949" y="4449021"/>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판매반품</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98" name="Oval 108"/>
            <p:cNvSpPr>
              <a:spLocks noChangeArrowheads="1"/>
            </p:cNvSpPr>
            <p:nvPr/>
          </p:nvSpPr>
          <p:spPr bwMode="gray">
            <a:xfrm>
              <a:off x="1559316" y="4932221"/>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출고반품</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99" name="Oval 108"/>
            <p:cNvSpPr>
              <a:spLocks noChangeArrowheads="1"/>
            </p:cNvSpPr>
            <p:nvPr/>
          </p:nvSpPr>
          <p:spPr bwMode="gray">
            <a:xfrm>
              <a:off x="1559316" y="5416835"/>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출고</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100" name="Text Box 121"/>
            <p:cNvSpPr txBox="1">
              <a:spLocks noChangeArrowheads="1"/>
            </p:cNvSpPr>
            <p:nvPr/>
          </p:nvSpPr>
          <p:spPr bwMode="gray">
            <a:xfrm>
              <a:off x="1397605" y="5823949"/>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r>
                <a:rPr lang="en-US" altLang="ko-KR" sz="800" dirty="0" smtClean="0">
                  <a:latin typeface="+mn-ea"/>
                  <a:ea typeface="+mn-ea"/>
                </a:rPr>
                <a:t>SHOP_RNDS_ID</a:t>
              </a:r>
            </a:p>
            <a:p>
              <a:r>
                <a:rPr lang="en-US" altLang="ko-KR" sz="800" dirty="0" smtClean="0">
                  <a:latin typeface="+mn-ea"/>
                  <a:ea typeface="+mn-ea"/>
                </a:rPr>
                <a:t>REG_NO</a:t>
              </a:r>
            </a:p>
          </p:txBody>
        </p:sp>
      </p:grpSp>
      <p:cxnSp>
        <p:nvCxnSpPr>
          <p:cNvPr id="104" name="AutoShape 67"/>
          <p:cNvCxnSpPr>
            <a:cxnSpLocks noChangeShapeType="1"/>
            <a:stCxn id="88" idx="1"/>
            <a:endCxn id="96" idx="2"/>
          </p:cNvCxnSpPr>
          <p:nvPr/>
        </p:nvCxnSpPr>
        <p:spPr bwMode="gray">
          <a:xfrm rot="10800000" flipH="1" flipV="1">
            <a:off x="1425797" y="4074874"/>
            <a:ext cx="311172" cy="550359"/>
          </a:xfrm>
          <a:prstGeom prst="bentConnector3">
            <a:avLst>
              <a:gd name="adj1" fmla="val -73464"/>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AutoShape 67"/>
          <p:cNvCxnSpPr>
            <a:cxnSpLocks noChangeShapeType="1"/>
            <a:stCxn id="88" idx="1"/>
            <a:endCxn id="98" idx="2"/>
          </p:cNvCxnSpPr>
          <p:nvPr/>
        </p:nvCxnSpPr>
        <p:spPr bwMode="gray">
          <a:xfrm rot="10800000" flipH="1" flipV="1">
            <a:off x="1425796" y="4074874"/>
            <a:ext cx="313539" cy="1033559"/>
          </a:xfrm>
          <a:prstGeom prst="bentConnector3">
            <a:avLst>
              <a:gd name="adj1" fmla="val -7291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AutoShape 67"/>
          <p:cNvCxnSpPr>
            <a:cxnSpLocks noChangeShapeType="1"/>
            <a:stCxn id="88" idx="1"/>
            <a:endCxn id="99" idx="2"/>
          </p:cNvCxnSpPr>
          <p:nvPr/>
        </p:nvCxnSpPr>
        <p:spPr bwMode="gray">
          <a:xfrm rot="10800000" flipH="1" flipV="1">
            <a:off x="1425796" y="4074874"/>
            <a:ext cx="313539" cy="1518173"/>
          </a:xfrm>
          <a:prstGeom prst="bentConnector3">
            <a:avLst>
              <a:gd name="adj1" fmla="val -7291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AutoShape 67"/>
          <p:cNvCxnSpPr>
            <a:cxnSpLocks noChangeShapeType="1"/>
            <a:stCxn id="96" idx="6"/>
            <a:endCxn id="91" idx="1"/>
          </p:cNvCxnSpPr>
          <p:nvPr/>
        </p:nvCxnSpPr>
        <p:spPr bwMode="gray">
          <a:xfrm>
            <a:off x="2365619" y="4625234"/>
            <a:ext cx="992050" cy="5749"/>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AutoShape 86"/>
          <p:cNvSpPr>
            <a:spLocks noChangeArrowheads="1"/>
          </p:cNvSpPr>
          <p:nvPr/>
        </p:nvSpPr>
        <p:spPr bwMode="auto">
          <a:xfrm>
            <a:off x="5892198" y="37238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116" name="AutoShape 86"/>
          <p:cNvSpPr>
            <a:spLocks noChangeArrowheads="1"/>
          </p:cNvSpPr>
          <p:nvPr/>
        </p:nvSpPr>
        <p:spPr bwMode="auto">
          <a:xfrm>
            <a:off x="5106342" y="3709201"/>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a:t>
            </a:r>
            <a:endParaRPr lang="en-US" altLang="ko-KR" sz="600" b="1" dirty="0" smtClean="0">
              <a:latin typeface="+mn-ea"/>
              <a:ea typeface="+mn-ea"/>
            </a:endParaRPr>
          </a:p>
          <a:p>
            <a:pPr algn="ctr"/>
            <a:r>
              <a:rPr lang="en-US" altLang="ko-KR" sz="600" b="1" dirty="0" smtClean="0">
                <a:latin typeface="+mn-ea"/>
                <a:ea typeface="+mn-ea"/>
              </a:rPr>
              <a:t>T_SALE</a:t>
            </a:r>
            <a:endParaRPr lang="ko-KR" altLang="en-US" sz="600" b="1" dirty="0">
              <a:latin typeface="+mn-ea"/>
              <a:ea typeface="+mn-ea"/>
            </a:endParaRPr>
          </a:p>
        </p:txBody>
      </p:sp>
      <p:sp>
        <p:nvSpPr>
          <p:cNvPr id="117" name="AutoShape 86"/>
          <p:cNvSpPr>
            <a:spLocks noChangeArrowheads="1"/>
          </p:cNvSpPr>
          <p:nvPr/>
        </p:nvSpPr>
        <p:spPr bwMode="auto">
          <a:xfrm>
            <a:off x="4404589" y="371651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판매결재</a:t>
            </a:r>
            <a:endParaRPr lang="en-US" altLang="ko-KR" sz="600" b="1" dirty="0" smtClean="0">
              <a:latin typeface="+mn-ea"/>
              <a:ea typeface="+mn-ea"/>
            </a:endParaRPr>
          </a:p>
          <a:p>
            <a:pPr algn="ctr"/>
            <a:r>
              <a:rPr lang="en-US" altLang="ko-KR" sz="600" b="1" dirty="0" smtClean="0">
                <a:latin typeface="+mn-ea"/>
                <a:ea typeface="+mn-ea"/>
              </a:rPr>
              <a:t>T_SALE_STLM</a:t>
            </a:r>
            <a:endParaRPr lang="ko-KR" altLang="en-US" sz="600" b="1" dirty="0">
              <a:latin typeface="+mn-ea"/>
              <a:ea typeface="+mn-ea"/>
            </a:endParaRPr>
          </a:p>
        </p:txBody>
      </p:sp>
      <p:sp>
        <p:nvSpPr>
          <p:cNvPr id="119" name="Text Box 82"/>
          <p:cNvSpPr txBox="1">
            <a:spLocks noChangeArrowheads="1"/>
          </p:cNvSpPr>
          <p:nvPr/>
        </p:nvSpPr>
        <p:spPr bwMode="gray">
          <a:xfrm>
            <a:off x="4289437" y="4383686"/>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120" name="TextBox 94"/>
          <p:cNvSpPr txBox="1">
            <a:spLocks noChangeArrowheads="1"/>
          </p:cNvSpPr>
          <p:nvPr/>
        </p:nvSpPr>
        <p:spPr bwMode="auto">
          <a:xfrm>
            <a:off x="3006361" y="4199426"/>
            <a:ext cx="1260573" cy="363176"/>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dirty="0" smtClean="0">
                <a:latin typeface="+mn-ea"/>
                <a:ea typeface="+mn-ea"/>
              </a:rPr>
              <a:t>MALL_CD : MCOM</a:t>
            </a:r>
          </a:p>
          <a:p>
            <a:pPr>
              <a:spcBef>
                <a:spcPct val="20000"/>
              </a:spcBef>
              <a:buClr>
                <a:srgbClr val="003366"/>
              </a:buClr>
            </a:pPr>
            <a:r>
              <a:rPr lang="ko-KR" altLang="en-US" sz="800" dirty="0" err="1" smtClean="0">
                <a:latin typeface="+mn-ea"/>
                <a:ea typeface="+mn-ea"/>
              </a:rPr>
              <a:t>자사몰</a:t>
            </a:r>
            <a:endParaRPr lang="ko-KR" altLang="en-US" sz="800" dirty="0">
              <a:latin typeface="+mn-ea"/>
              <a:ea typeface="+mn-ea"/>
            </a:endParaRPr>
          </a:p>
        </p:txBody>
      </p:sp>
      <p:cxnSp>
        <p:nvCxnSpPr>
          <p:cNvPr id="121" name="AutoShape 67"/>
          <p:cNvCxnSpPr>
            <a:cxnSpLocks noChangeShapeType="1"/>
            <a:stCxn id="91" idx="3"/>
            <a:endCxn id="117" idx="3"/>
          </p:cNvCxnSpPr>
          <p:nvPr/>
        </p:nvCxnSpPr>
        <p:spPr bwMode="gray">
          <a:xfrm flipV="1">
            <a:off x="4480417" y="4204271"/>
            <a:ext cx="207541" cy="426712"/>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AutoShape 67"/>
          <p:cNvCxnSpPr>
            <a:cxnSpLocks noChangeShapeType="1"/>
            <a:stCxn id="91" idx="3"/>
            <a:endCxn id="116" idx="3"/>
          </p:cNvCxnSpPr>
          <p:nvPr/>
        </p:nvCxnSpPr>
        <p:spPr bwMode="gray">
          <a:xfrm flipV="1">
            <a:off x="4480417" y="4196959"/>
            <a:ext cx="909294" cy="434024"/>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TextBox 94"/>
          <p:cNvSpPr txBox="1">
            <a:spLocks noChangeArrowheads="1"/>
          </p:cNvSpPr>
          <p:nvPr/>
        </p:nvSpPr>
        <p:spPr bwMode="auto">
          <a:xfrm>
            <a:off x="4610429" y="4266700"/>
            <a:ext cx="796902" cy="363176"/>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결재구분 </a:t>
            </a:r>
            <a:r>
              <a:rPr lang="en-US" altLang="ko-KR" sz="800" dirty="0" smtClean="0">
                <a:latin typeface="+mn-ea"/>
                <a:ea typeface="+mn-ea"/>
              </a:rPr>
              <a:t>:</a:t>
            </a:r>
          </a:p>
          <a:p>
            <a:pPr>
              <a:spcBef>
                <a:spcPct val="20000"/>
              </a:spcBef>
              <a:buClr>
                <a:srgbClr val="003366"/>
              </a:buClr>
            </a:pPr>
            <a:r>
              <a:rPr lang="ko-KR" altLang="en-US" sz="800" dirty="0" smtClean="0">
                <a:latin typeface="+mn-ea"/>
                <a:ea typeface="+mn-ea"/>
              </a:rPr>
              <a:t>현금</a:t>
            </a:r>
            <a:r>
              <a:rPr lang="en-US" altLang="ko-KR" sz="800" dirty="0" smtClean="0">
                <a:latin typeface="+mn-ea"/>
                <a:ea typeface="+mn-ea"/>
              </a:rPr>
              <a:t>(</a:t>
            </a:r>
            <a:r>
              <a:rPr lang="ko-KR" altLang="en-US" sz="800" dirty="0" err="1" smtClean="0">
                <a:latin typeface="+mn-ea"/>
                <a:ea typeface="+mn-ea"/>
              </a:rPr>
              <a:t>비승인</a:t>
            </a:r>
            <a:r>
              <a:rPr lang="en-US" altLang="ko-KR" sz="800" dirty="0" smtClean="0">
                <a:latin typeface="+mn-ea"/>
                <a:ea typeface="+mn-ea"/>
              </a:rPr>
              <a:t>)</a:t>
            </a:r>
            <a:endParaRPr lang="ko-KR" altLang="en-US" sz="800" dirty="0">
              <a:latin typeface="+mn-ea"/>
              <a:ea typeface="+mn-ea"/>
            </a:endParaRPr>
          </a:p>
        </p:txBody>
      </p:sp>
      <p:cxnSp>
        <p:nvCxnSpPr>
          <p:cNvPr id="137" name="AutoShape 67"/>
          <p:cNvCxnSpPr>
            <a:cxnSpLocks noChangeShapeType="1"/>
            <a:stCxn id="98" idx="6"/>
            <a:endCxn id="115" idx="3"/>
          </p:cNvCxnSpPr>
          <p:nvPr/>
        </p:nvCxnSpPr>
        <p:spPr bwMode="gray">
          <a:xfrm flipV="1">
            <a:off x="2367986" y="4211601"/>
            <a:ext cx="3807581" cy="896833"/>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AutoShape 67"/>
          <p:cNvCxnSpPr>
            <a:cxnSpLocks noChangeShapeType="1"/>
            <a:stCxn id="99" idx="6"/>
            <a:endCxn id="144" idx="3"/>
          </p:cNvCxnSpPr>
          <p:nvPr/>
        </p:nvCxnSpPr>
        <p:spPr bwMode="gray">
          <a:xfrm flipV="1">
            <a:off x="2367986" y="4211601"/>
            <a:ext cx="4653212" cy="1381447"/>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AutoShape 86"/>
          <p:cNvSpPr>
            <a:spLocks noChangeArrowheads="1"/>
          </p:cNvSpPr>
          <p:nvPr/>
        </p:nvSpPr>
        <p:spPr bwMode="auto">
          <a:xfrm>
            <a:off x="6737829" y="37238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거래명세서</a:t>
            </a:r>
            <a:endParaRPr lang="en-US" altLang="ko-KR" sz="600" b="1" dirty="0" smtClean="0">
              <a:latin typeface="+mn-ea"/>
              <a:ea typeface="+mn-ea"/>
            </a:endParaRPr>
          </a:p>
          <a:p>
            <a:pPr algn="ctr"/>
            <a:r>
              <a:rPr lang="en-US" altLang="ko-KR" sz="600" b="1" dirty="0" smtClean="0">
                <a:latin typeface="+mn-ea"/>
                <a:ea typeface="+mn-ea"/>
              </a:rPr>
              <a:t>T_TRAN_SPEC</a:t>
            </a:r>
            <a:endParaRPr lang="ko-KR" altLang="en-US" sz="600" b="1" dirty="0">
              <a:latin typeface="+mn-ea"/>
              <a:ea typeface="+mn-ea"/>
            </a:endParaRPr>
          </a:p>
        </p:txBody>
      </p:sp>
      <p:sp>
        <p:nvSpPr>
          <p:cNvPr id="165" name="AutoShape 86"/>
          <p:cNvSpPr>
            <a:spLocks noChangeArrowheads="1"/>
          </p:cNvSpPr>
          <p:nvPr/>
        </p:nvSpPr>
        <p:spPr bwMode="auto">
          <a:xfrm>
            <a:off x="6798205" y="5928824"/>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ea typeface="+mn-ea"/>
              </a:rPr>
              <a:t>온라인판매반품</a:t>
            </a:r>
            <a:endParaRPr lang="en-US" altLang="ko-KR" sz="600" b="1" dirty="0">
              <a:latin typeface="+mn-ea"/>
              <a:ea typeface="+mn-ea"/>
            </a:endParaRPr>
          </a:p>
          <a:p>
            <a:pPr algn="ctr"/>
            <a:r>
              <a:rPr lang="en-US" altLang="ko-KR" sz="600" b="1" dirty="0" smtClean="0">
                <a:latin typeface="+mn-ea"/>
                <a:ea typeface="+mn-ea"/>
              </a:rPr>
              <a:t>T_GWM_RNDS_REFUND</a:t>
            </a:r>
            <a:endParaRPr lang="ko-KR" altLang="en-US" sz="600" b="1" dirty="0">
              <a:latin typeface="+mn-ea"/>
              <a:ea typeface="+mn-ea"/>
            </a:endParaRPr>
          </a:p>
        </p:txBody>
      </p:sp>
      <p:cxnSp>
        <p:nvCxnSpPr>
          <p:cNvPr id="183" name="AutoShape 67"/>
          <p:cNvCxnSpPr>
            <a:cxnSpLocks noChangeShapeType="1"/>
            <a:stCxn id="91" idx="3"/>
            <a:endCxn id="115" idx="3"/>
          </p:cNvCxnSpPr>
          <p:nvPr/>
        </p:nvCxnSpPr>
        <p:spPr bwMode="gray">
          <a:xfrm flipV="1">
            <a:off x="4480417" y="4211601"/>
            <a:ext cx="1695150" cy="419382"/>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AutoShape 67"/>
          <p:cNvCxnSpPr>
            <a:cxnSpLocks noChangeShapeType="1"/>
            <a:stCxn id="91" idx="3"/>
            <a:endCxn id="166" idx="1"/>
          </p:cNvCxnSpPr>
          <p:nvPr/>
        </p:nvCxnSpPr>
        <p:spPr bwMode="gray">
          <a:xfrm>
            <a:off x="4480417" y="4630983"/>
            <a:ext cx="517588" cy="1341746"/>
          </a:xfrm>
          <a:prstGeom prst="bentConnector3">
            <a:avLst>
              <a:gd name="adj1" fmla="val 4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 name="AutoShape 67"/>
          <p:cNvCxnSpPr>
            <a:cxnSpLocks noChangeShapeType="1"/>
            <a:stCxn id="166" idx="3"/>
            <a:endCxn id="165" idx="2"/>
          </p:cNvCxnSpPr>
          <p:nvPr/>
        </p:nvCxnSpPr>
        <p:spPr bwMode="gray">
          <a:xfrm>
            <a:off x="6385046" y="5972729"/>
            <a:ext cx="413159" cy="199974"/>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 name="AutoShape 67"/>
          <p:cNvCxnSpPr>
            <a:cxnSpLocks noChangeShapeType="1"/>
            <a:stCxn id="98" idx="6"/>
            <a:endCxn id="166" idx="1"/>
          </p:cNvCxnSpPr>
          <p:nvPr/>
        </p:nvCxnSpPr>
        <p:spPr bwMode="gray">
          <a:xfrm>
            <a:off x="2367986" y="5108434"/>
            <a:ext cx="2630019" cy="864295"/>
          </a:xfrm>
          <a:prstGeom prst="bentConnector3">
            <a:avLst>
              <a:gd name="adj1" fmla="val 8772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AutoShape 67"/>
          <p:cNvCxnSpPr>
            <a:cxnSpLocks noChangeShapeType="1"/>
            <a:stCxn id="99" idx="6"/>
            <a:endCxn id="166" idx="1"/>
          </p:cNvCxnSpPr>
          <p:nvPr/>
        </p:nvCxnSpPr>
        <p:spPr bwMode="gray">
          <a:xfrm>
            <a:off x="2367986" y="5593048"/>
            <a:ext cx="2630019" cy="379681"/>
          </a:xfrm>
          <a:prstGeom prst="bentConnector3">
            <a:avLst>
              <a:gd name="adj1" fmla="val 8772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 name="TextBox 94"/>
          <p:cNvSpPr txBox="1">
            <a:spLocks noChangeArrowheads="1"/>
          </p:cNvSpPr>
          <p:nvPr/>
        </p:nvSpPr>
        <p:spPr bwMode="auto">
          <a:xfrm>
            <a:off x="2610219" y="5949280"/>
            <a:ext cx="2355619" cy="363176"/>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출고반품 </a:t>
            </a:r>
            <a:r>
              <a:rPr lang="en-US" altLang="ko-KR" sz="800" dirty="0" smtClean="0">
                <a:latin typeface="+mn-ea"/>
                <a:ea typeface="+mn-ea"/>
              </a:rPr>
              <a:t>: </a:t>
            </a:r>
            <a:r>
              <a:rPr lang="ko-KR" altLang="en-US" sz="800" dirty="0" smtClean="0">
                <a:latin typeface="+mn-ea"/>
                <a:ea typeface="+mn-ea"/>
              </a:rPr>
              <a:t>판매 매장</a:t>
            </a:r>
            <a:r>
              <a:rPr lang="en-US" altLang="ko-KR" sz="800" dirty="0" smtClean="0">
                <a:latin typeface="+mn-ea"/>
                <a:ea typeface="+mn-ea"/>
              </a:rPr>
              <a:t>ID </a:t>
            </a:r>
            <a:r>
              <a:rPr lang="en-US" altLang="ko-KR" sz="800" dirty="0" smtClean="0">
                <a:latin typeface="+mn-ea"/>
                <a:ea typeface="+mn-ea"/>
                <a:sym typeface="Wingdings" panose="05000000000000000000" pitchFamily="2" charset="2"/>
              </a:rPr>
              <a:t> </a:t>
            </a:r>
            <a:r>
              <a:rPr lang="ko-KR" altLang="en-US" sz="800" dirty="0" smtClean="0">
                <a:latin typeface="+mn-ea"/>
                <a:ea typeface="+mn-ea"/>
              </a:rPr>
              <a:t>창고</a:t>
            </a:r>
            <a:r>
              <a:rPr lang="en-US" altLang="ko-KR" sz="800" dirty="0" smtClean="0">
                <a:latin typeface="+mn-ea"/>
                <a:ea typeface="+mn-ea"/>
              </a:rPr>
              <a:t>(OA)</a:t>
            </a:r>
            <a:r>
              <a:rPr lang="ko-KR" altLang="en-US" sz="800" dirty="0" smtClean="0">
                <a:latin typeface="+mn-ea"/>
                <a:ea typeface="+mn-ea"/>
              </a:rPr>
              <a:t> 반품</a:t>
            </a:r>
            <a:endParaRPr lang="en-US" altLang="ko-KR" sz="800" dirty="0" smtClean="0">
              <a:latin typeface="+mn-ea"/>
              <a:ea typeface="+mn-ea"/>
            </a:endParaRPr>
          </a:p>
          <a:p>
            <a:pPr>
              <a:spcBef>
                <a:spcPct val="20000"/>
              </a:spcBef>
              <a:buClr>
                <a:srgbClr val="003366"/>
              </a:buClr>
            </a:pPr>
            <a:r>
              <a:rPr lang="ko-KR" altLang="en-US" sz="800" dirty="0" smtClean="0">
                <a:latin typeface="+mn-ea"/>
                <a:ea typeface="+mn-ea"/>
              </a:rPr>
              <a:t>출고</a:t>
            </a:r>
            <a:r>
              <a:rPr lang="en-US" altLang="ko-KR" sz="800" dirty="0" smtClean="0">
                <a:latin typeface="+mn-ea"/>
                <a:ea typeface="+mn-ea"/>
              </a:rPr>
              <a:t>: </a:t>
            </a:r>
            <a:r>
              <a:rPr lang="ko-KR" altLang="en-US" sz="800" dirty="0">
                <a:latin typeface="+mn-ea"/>
              </a:rPr>
              <a:t>창고</a:t>
            </a:r>
            <a:r>
              <a:rPr lang="en-US" altLang="ko-KR" sz="800" dirty="0">
                <a:latin typeface="+mn-ea"/>
              </a:rPr>
              <a:t>(OA) </a:t>
            </a:r>
            <a:r>
              <a:rPr lang="en-US" altLang="ko-KR" sz="800" dirty="0">
                <a:latin typeface="+mn-ea"/>
                <a:sym typeface="Wingdings" panose="05000000000000000000" pitchFamily="2" charset="2"/>
              </a:rPr>
              <a:t> </a:t>
            </a:r>
            <a:r>
              <a:rPr lang="ko-KR" altLang="en-US" sz="800" dirty="0">
                <a:latin typeface="+mn-ea"/>
              </a:rPr>
              <a:t>출고지 매장</a:t>
            </a:r>
            <a:r>
              <a:rPr lang="en-US" altLang="ko-KR" sz="800" dirty="0">
                <a:latin typeface="+mn-ea"/>
              </a:rPr>
              <a:t>ID(STS027) </a:t>
            </a:r>
            <a:r>
              <a:rPr lang="ko-KR" altLang="en-US" sz="800" dirty="0" smtClean="0">
                <a:latin typeface="+mn-ea"/>
              </a:rPr>
              <a:t>출고</a:t>
            </a:r>
            <a:endParaRPr lang="ko-KR" altLang="en-US" sz="800" dirty="0">
              <a:latin typeface="+mn-ea"/>
              <a:ea typeface="+mn-ea"/>
            </a:endParaRPr>
          </a:p>
        </p:txBody>
      </p:sp>
      <p:sp>
        <p:nvSpPr>
          <p:cNvPr id="216" name="TextBox 94"/>
          <p:cNvSpPr txBox="1">
            <a:spLocks noChangeArrowheads="1"/>
          </p:cNvSpPr>
          <p:nvPr/>
        </p:nvSpPr>
        <p:spPr bwMode="auto">
          <a:xfrm>
            <a:off x="6221464" y="4685791"/>
            <a:ext cx="1149172" cy="461665"/>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a:latin typeface="+mn-ea"/>
                <a:ea typeface="+mn-ea"/>
              </a:rPr>
              <a:t>창고</a:t>
            </a:r>
            <a:r>
              <a:rPr lang="en-US" altLang="ko-KR" sz="800" dirty="0">
                <a:latin typeface="+mn-ea"/>
                <a:ea typeface="+mn-ea"/>
              </a:rPr>
              <a:t>(OA) </a:t>
            </a:r>
            <a:r>
              <a:rPr lang="en-US" altLang="ko-KR" sz="800" dirty="0">
                <a:latin typeface="+mn-ea"/>
                <a:ea typeface="+mn-ea"/>
                <a:sym typeface="Wingdings" panose="05000000000000000000" pitchFamily="2" charset="2"/>
              </a:rPr>
              <a:t> </a:t>
            </a:r>
            <a:r>
              <a:rPr lang="ko-KR" altLang="en-US" sz="800" dirty="0">
                <a:latin typeface="+mn-ea"/>
                <a:ea typeface="+mn-ea"/>
              </a:rPr>
              <a:t>출고지 매장</a:t>
            </a:r>
            <a:r>
              <a:rPr lang="en-US" altLang="ko-KR" sz="800" dirty="0">
                <a:latin typeface="+mn-ea"/>
                <a:ea typeface="+mn-ea"/>
              </a:rPr>
              <a:t>ID(STS027) </a:t>
            </a:r>
            <a:r>
              <a:rPr lang="ko-KR" altLang="en-US" sz="800" dirty="0" smtClean="0">
                <a:latin typeface="+mn-ea"/>
                <a:ea typeface="+mn-ea"/>
              </a:rPr>
              <a:t>출고 수량은 </a:t>
            </a:r>
            <a:r>
              <a:rPr lang="en-US" altLang="ko-KR" sz="800" dirty="0" smtClean="0">
                <a:latin typeface="+mn-ea"/>
                <a:ea typeface="+mn-ea"/>
              </a:rPr>
              <a:t>0</a:t>
            </a:r>
            <a:endParaRPr lang="ko-KR" altLang="en-US" sz="800" dirty="0">
              <a:latin typeface="+mn-ea"/>
              <a:ea typeface="+mn-ea"/>
            </a:endParaRPr>
          </a:p>
        </p:txBody>
      </p:sp>
      <p:cxnSp>
        <p:nvCxnSpPr>
          <p:cNvPr id="217" name="AutoShape 67"/>
          <p:cNvCxnSpPr>
            <a:cxnSpLocks noChangeShapeType="1"/>
            <a:stCxn id="115" idx="1"/>
            <a:endCxn id="75" idx="3"/>
          </p:cNvCxnSpPr>
          <p:nvPr/>
        </p:nvCxnSpPr>
        <p:spPr bwMode="gray">
          <a:xfrm rot="5400000" flipH="1" flipV="1">
            <a:off x="5714616" y="2608588"/>
            <a:ext cx="1576206" cy="654304"/>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1" name="AutoShape 67"/>
          <p:cNvCxnSpPr>
            <a:cxnSpLocks noChangeShapeType="1"/>
            <a:stCxn id="115" idx="1"/>
            <a:endCxn id="65" idx="3"/>
          </p:cNvCxnSpPr>
          <p:nvPr/>
        </p:nvCxnSpPr>
        <p:spPr bwMode="gray">
          <a:xfrm rot="16200000" flipV="1">
            <a:off x="5264566" y="2812842"/>
            <a:ext cx="1576206" cy="245796"/>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4" name="AutoShape 67"/>
          <p:cNvCxnSpPr>
            <a:cxnSpLocks noChangeShapeType="1"/>
            <a:stCxn id="115" idx="1"/>
            <a:endCxn id="85" idx="3"/>
          </p:cNvCxnSpPr>
          <p:nvPr/>
        </p:nvCxnSpPr>
        <p:spPr bwMode="gray">
          <a:xfrm rot="16200000" flipV="1">
            <a:off x="4832168" y="2380444"/>
            <a:ext cx="1567580" cy="1119218"/>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AutoShape 67"/>
          <p:cNvCxnSpPr>
            <a:cxnSpLocks noChangeShapeType="1"/>
            <a:stCxn id="99" idx="6"/>
            <a:endCxn id="115" idx="3"/>
          </p:cNvCxnSpPr>
          <p:nvPr/>
        </p:nvCxnSpPr>
        <p:spPr bwMode="gray">
          <a:xfrm flipV="1">
            <a:off x="2367986" y="4211601"/>
            <a:ext cx="3807581" cy="1381447"/>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6" name="Rectangle 49"/>
          <p:cNvSpPr>
            <a:spLocks noChangeArrowheads="1"/>
          </p:cNvSpPr>
          <p:nvPr/>
        </p:nvSpPr>
        <p:spPr bwMode="gray">
          <a:xfrm>
            <a:off x="4998005" y="5679250"/>
            <a:ext cx="1387041" cy="58695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판매반품수불</a:t>
            </a:r>
            <a:r>
              <a:rPr lang="en-US" altLang="ko-KR" sz="800" b="1" dirty="0" smtClean="0">
                <a:latin typeface="+mn-ea"/>
                <a:ea typeface="+mn-ea"/>
              </a:rPr>
              <a:t>ID</a:t>
            </a:r>
          </a:p>
          <a:p>
            <a:pPr algn="ctr"/>
            <a:r>
              <a:rPr lang="ko-KR" altLang="en-US" sz="800" b="1" dirty="0" smtClean="0">
                <a:latin typeface="+mn-ea"/>
                <a:ea typeface="+mn-ea"/>
              </a:rPr>
              <a:t>출고반품수불</a:t>
            </a:r>
            <a:r>
              <a:rPr lang="en-US" altLang="ko-KR" sz="800" b="1" dirty="0" smtClean="0">
                <a:latin typeface="+mn-ea"/>
                <a:ea typeface="+mn-ea"/>
              </a:rPr>
              <a:t>ID</a:t>
            </a:r>
          </a:p>
          <a:p>
            <a:pPr algn="ctr"/>
            <a:r>
              <a:rPr lang="ko-KR" altLang="en-US" sz="800" b="1" dirty="0" smtClean="0">
                <a:latin typeface="+mn-ea"/>
                <a:ea typeface="+mn-ea"/>
              </a:rPr>
              <a:t>출고수불</a:t>
            </a:r>
            <a:r>
              <a:rPr lang="en-US" altLang="ko-KR" sz="800" b="1" dirty="0" smtClean="0">
                <a:latin typeface="+mn-ea"/>
                <a:ea typeface="+mn-ea"/>
              </a:rPr>
              <a:t>ID</a:t>
            </a:r>
          </a:p>
          <a:p>
            <a:pPr algn="ctr"/>
            <a:r>
              <a:rPr lang="ko-KR" altLang="en-US" sz="800" b="1" dirty="0" smtClean="0">
                <a:latin typeface="+mn-ea"/>
                <a:ea typeface="+mn-ea"/>
              </a:rPr>
              <a:t>인터페이스 상태 </a:t>
            </a:r>
            <a:r>
              <a:rPr lang="en-US" altLang="ko-KR" sz="800" b="1" dirty="0" smtClean="0">
                <a:latin typeface="+mn-ea"/>
                <a:ea typeface="+mn-ea"/>
              </a:rPr>
              <a:t>UPDATE</a:t>
            </a:r>
            <a:endParaRPr lang="ko-KR" altLang="en-US" sz="800" b="1" dirty="0">
              <a:latin typeface="+mn-ea"/>
              <a:ea typeface="+mn-ea"/>
            </a:endParaRPr>
          </a:p>
        </p:txBody>
      </p:sp>
      <p:sp>
        <p:nvSpPr>
          <p:cNvPr id="268" name="TextBox 94"/>
          <p:cNvSpPr txBox="1">
            <a:spLocks noChangeArrowheads="1"/>
          </p:cNvSpPr>
          <p:nvPr/>
        </p:nvSpPr>
        <p:spPr bwMode="auto">
          <a:xfrm>
            <a:off x="5301645" y="6264315"/>
            <a:ext cx="914397"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dirty="0" smtClean="0">
                <a:latin typeface="+mn-ea"/>
                <a:ea typeface="+mn-ea"/>
              </a:rPr>
              <a:t>IF_STS : S </a:t>
            </a:r>
            <a:r>
              <a:rPr lang="en-US" altLang="ko-KR" sz="800" dirty="0" smtClean="0">
                <a:latin typeface="+mn-ea"/>
                <a:ea typeface="+mn-ea"/>
                <a:sym typeface="Wingdings" panose="05000000000000000000" pitchFamily="2" charset="2"/>
              </a:rPr>
              <a:t> F</a:t>
            </a:r>
            <a:endParaRPr lang="ko-KR" altLang="en-US" sz="800" dirty="0">
              <a:latin typeface="+mn-ea"/>
              <a:ea typeface="+mn-ea"/>
            </a:endParaRPr>
          </a:p>
        </p:txBody>
      </p:sp>
      <p:cxnSp>
        <p:nvCxnSpPr>
          <p:cNvPr id="277" name="AutoShape 67"/>
          <p:cNvCxnSpPr>
            <a:cxnSpLocks noChangeShapeType="1"/>
            <a:stCxn id="98" idx="6"/>
            <a:endCxn id="144" idx="3"/>
          </p:cNvCxnSpPr>
          <p:nvPr/>
        </p:nvCxnSpPr>
        <p:spPr bwMode="gray">
          <a:xfrm flipV="1">
            <a:off x="2367986" y="4211601"/>
            <a:ext cx="4653212" cy="896833"/>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7293749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제목 10"/>
          <p:cNvSpPr>
            <a:spLocks noGrp="1"/>
          </p:cNvSpPr>
          <p:nvPr>
            <p:ph type="title"/>
          </p:nvPr>
        </p:nvSpPr>
        <p:spPr/>
        <p:txBody>
          <a:bodyPr/>
          <a:lstStyle/>
          <a:p>
            <a:r>
              <a:rPr lang="en-US" altLang="ko-KR" dirty="0" smtClean="0">
                <a:latin typeface="+mn-ea"/>
                <a:ea typeface="+mn-ea"/>
              </a:rPr>
              <a:t>5</a:t>
            </a:r>
            <a:r>
              <a:rPr lang="en-US" altLang="ko-KR" dirty="0" smtClean="0">
                <a:latin typeface="+mn-ea"/>
                <a:ea typeface="+mn-ea"/>
              </a:rPr>
              <a:t>. </a:t>
            </a:r>
            <a:r>
              <a:rPr lang="ko-KR" altLang="en-US" dirty="0" smtClean="0">
                <a:latin typeface="+mn-ea"/>
                <a:ea typeface="+mn-ea"/>
              </a:rPr>
              <a:t>자사 몰 구매 확정</a:t>
            </a:r>
            <a:endParaRPr lang="ko-KR" altLang="en-US" sz="1400" dirty="0">
              <a:latin typeface="+mn-ea"/>
              <a:ea typeface="+mn-ea"/>
            </a:endParaRPr>
          </a:p>
        </p:txBody>
      </p:sp>
      <p:sp>
        <p:nvSpPr>
          <p:cNvPr id="42" name="TextBox 39"/>
          <p:cNvSpPr txBox="1">
            <a:spLocks noChangeArrowheads="1"/>
          </p:cNvSpPr>
          <p:nvPr/>
        </p:nvSpPr>
        <p:spPr bwMode="auto">
          <a:xfrm>
            <a:off x="218855" y="738114"/>
            <a:ext cx="9594685" cy="304699"/>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a:latin typeface="+mn-ea"/>
                <a:ea typeface="+mn-ea"/>
              </a:rPr>
              <a:t> </a:t>
            </a:r>
            <a:r>
              <a:rPr kumimoji="0" lang="ko-KR" altLang="en-US" sz="1200" b="1" dirty="0" smtClean="0">
                <a:latin typeface="+mn-ea"/>
                <a:ea typeface="+mn-ea"/>
              </a:rPr>
              <a:t>구매 확정은 자사 몰에서 발생 하고 구매 확정시 결제 기준 판매 실적 삭제 </a:t>
            </a:r>
            <a:r>
              <a:rPr kumimoji="0" lang="en-US" altLang="ko-KR" sz="1200" b="1" dirty="0" smtClean="0">
                <a:latin typeface="+mn-ea"/>
                <a:ea typeface="+mn-ea"/>
                <a:sym typeface="Wingdings" panose="05000000000000000000" pitchFamily="2" charset="2"/>
              </a:rPr>
              <a:t> </a:t>
            </a:r>
            <a:r>
              <a:rPr kumimoji="0" lang="ko-KR" altLang="en-US" sz="1200" b="1" dirty="0" smtClean="0">
                <a:latin typeface="+mn-ea"/>
                <a:ea typeface="+mn-ea"/>
                <a:sym typeface="Wingdings" panose="05000000000000000000" pitchFamily="2" charset="2"/>
              </a:rPr>
              <a:t>구매 확정 기준 판매 실적 재 생성</a:t>
            </a:r>
            <a:r>
              <a:rPr kumimoji="0" lang="en-US" altLang="ko-KR" sz="1200" b="1" dirty="0" smtClean="0">
                <a:latin typeface="+mn-ea"/>
                <a:ea typeface="+mn-ea"/>
              </a:rPr>
              <a:t>.</a:t>
            </a:r>
            <a:r>
              <a:rPr kumimoji="0" lang="ko-KR" altLang="en-US" sz="1200" b="1" dirty="0" smtClean="0">
                <a:latin typeface="+mn-ea"/>
                <a:ea typeface="+mn-ea"/>
              </a:rPr>
              <a:t> </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mn-ea"/>
                <a:ea typeface="+mn-ea"/>
              </a:endParaRPr>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latinLnBrk="0" hangingPunct="0">
                <a:lnSpc>
                  <a:spcPct val="140000"/>
                </a:lnSpc>
                <a:buClr>
                  <a:schemeClr val="tx2"/>
                </a:buClr>
                <a:buSzPct val="75000"/>
                <a:buFont typeface="Wingdings" panose="05000000000000000000" pitchFamily="2" charset="2"/>
                <a:buChar char="u"/>
              </a:pPr>
              <a:r>
                <a:rPr kumimoji="0" lang="en-US" altLang="ko-KR" sz="900" b="1" dirty="0" smtClean="0">
                  <a:latin typeface="+mn-ea"/>
                  <a:ea typeface="+mn-ea"/>
                </a:rPr>
                <a:t> </a:t>
              </a:r>
              <a:r>
                <a:rPr kumimoji="0" lang="ko-KR" altLang="en-US" sz="900" b="1" dirty="0">
                  <a:latin typeface="+mn-ea"/>
                  <a:ea typeface="+mn-ea"/>
                </a:rPr>
                <a:t>정의</a:t>
              </a:r>
            </a:p>
            <a:p>
              <a:pPr eaLnBrk="0" latinLnBrk="0" hangingPunct="0">
                <a:lnSpc>
                  <a:spcPct val="140000"/>
                </a:lnSpc>
                <a:buClr>
                  <a:schemeClr val="tx2"/>
                </a:buClr>
                <a:buSzPct val="75000"/>
              </a:pPr>
              <a:r>
                <a:rPr kumimoji="0" lang="ko-KR" altLang="en-US" sz="900" dirty="0" smtClean="0">
                  <a:latin typeface="+mn-ea"/>
                  <a:ea typeface="+mn-ea"/>
                </a:rPr>
                <a:t>자사 몰의 판매 실적을 결제 기준 실적에서 구매 확정 기준으로 변경</a:t>
              </a:r>
              <a:endParaRPr kumimoji="0" lang="en-US" altLang="ko-KR" sz="900" dirty="0" smtClean="0">
                <a:latin typeface="+mn-ea"/>
                <a:ea typeface="+mn-ea"/>
              </a:endParaRPr>
            </a:p>
            <a:p>
              <a:pPr eaLnBrk="0" latinLnBrk="0" hangingPunct="0">
                <a:lnSpc>
                  <a:spcPct val="140000"/>
                </a:lnSpc>
                <a:buClr>
                  <a:schemeClr val="tx2"/>
                </a:buClr>
                <a:buSzPct val="75000"/>
              </a:pPr>
              <a:endParaRPr kumimoji="0" lang="ko-KR" altLang="en-US" sz="900" b="1" dirty="0" smtClean="0">
                <a:solidFill>
                  <a:srgbClr val="FF0000"/>
                </a:solidFill>
                <a:latin typeface="+mn-ea"/>
                <a:ea typeface="+mn-ea"/>
              </a:endParaRPr>
            </a:p>
            <a:p>
              <a:pPr marL="85725" indent="-85725" eaLnBrk="0" latinLnBrk="0" hangingPunct="0">
                <a:lnSpc>
                  <a:spcPct val="140000"/>
                </a:lnSpc>
                <a:buClr>
                  <a:schemeClr val="tx2"/>
                </a:buClr>
                <a:buSzPct val="75000"/>
                <a:buFont typeface="Wingdings" panose="05000000000000000000" pitchFamily="2" charset="2"/>
                <a:buChar char="u"/>
              </a:pPr>
              <a:r>
                <a:rPr kumimoji="0" lang="ko-KR" altLang="en-US" sz="900" b="1" dirty="0" smtClean="0">
                  <a:latin typeface="+mn-ea"/>
                  <a:ea typeface="+mn-ea"/>
                </a:rPr>
                <a:t> 선행 프로세스</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smtClean="0">
                  <a:latin typeface="+mn-ea"/>
                  <a:ea typeface="+mn-ea"/>
                </a:rPr>
                <a:t>자사 몰 판매</a:t>
              </a:r>
              <a:endParaRPr kumimoji="0" lang="en-US" altLang="ko-KR" sz="900" dirty="0" smtClean="0">
                <a:latin typeface="+mn-ea"/>
                <a:ea typeface="+mn-ea"/>
              </a:endParaRPr>
            </a:p>
            <a:p>
              <a:pPr eaLnBrk="0" latinLnBrk="0" hangingPunct="0">
                <a:lnSpc>
                  <a:spcPct val="140000"/>
                </a:lnSpc>
                <a:buClr>
                  <a:schemeClr val="tx2"/>
                </a:buClr>
                <a:buSzPct val="75000"/>
              </a:pPr>
              <a:endParaRPr kumimoji="0" lang="ko-KR" altLang="en-US" sz="900" dirty="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a:latin typeface="+mn-ea"/>
                  <a:ea typeface="+mn-ea"/>
                </a:rPr>
                <a:t> </a:t>
              </a:r>
              <a:r>
                <a:rPr kumimoji="0" lang="ko-KR" altLang="en-US" sz="900" b="1" dirty="0">
                  <a:latin typeface="+mn-ea"/>
                  <a:ea typeface="+mn-ea"/>
                </a:rPr>
                <a:t>후행 프로세스</a:t>
              </a:r>
            </a:p>
            <a:p>
              <a:pPr eaLnBrk="0" latinLnBrk="0" hangingPunct="0">
                <a:lnSpc>
                  <a:spcPct val="140000"/>
                </a:lnSpc>
                <a:buClr>
                  <a:schemeClr val="tx2"/>
                </a:buClr>
                <a:buSzPct val="75000"/>
              </a:pPr>
              <a:r>
                <a:rPr kumimoji="0" lang="en-US" altLang="ko-KR" sz="900" dirty="0" smtClean="0">
                  <a:latin typeface="+mn-ea"/>
                  <a:ea typeface="+mn-ea"/>
                </a:rPr>
                <a:t>1. </a:t>
              </a:r>
              <a:endParaRPr kumimoji="0" lang="en-US" altLang="ko-KR" sz="900" dirty="0" smtClean="0">
                <a:latin typeface="+mn-ea"/>
                <a:ea typeface="+mn-ea"/>
              </a:endParaRPr>
            </a:p>
            <a:p>
              <a:pPr eaLnBrk="0" latinLnBrk="0" hangingPunct="0">
                <a:lnSpc>
                  <a:spcPct val="140000"/>
                </a:lnSpc>
                <a:buClr>
                  <a:schemeClr val="tx2"/>
                </a:buClr>
                <a:buSzPct val="75000"/>
              </a:pPr>
              <a:endParaRPr kumimoji="0" lang="ko-KR" altLang="en-US" sz="900" dirty="0" smtClean="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smtClean="0">
                  <a:latin typeface="+mn-ea"/>
                  <a:ea typeface="+mn-ea"/>
                </a:rPr>
                <a:t> </a:t>
              </a:r>
              <a:r>
                <a:rPr kumimoji="0" lang="ko-KR" altLang="en-US" sz="900" b="1" dirty="0" smtClean="0">
                  <a:latin typeface="+mn-ea"/>
                  <a:ea typeface="+mn-ea"/>
                </a:rPr>
                <a:t>비즈니스 업무정책</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smtClean="0">
                  <a:latin typeface="+mn-ea"/>
                  <a:ea typeface="+mn-ea"/>
                </a:rPr>
                <a:t>결제 기준 판매 실적 삭제 후 구매 확정 기준 판매 실적 재 생성</a:t>
              </a:r>
              <a:r>
                <a:rPr kumimoji="0" lang="en-US" altLang="ko-KR" sz="900" dirty="0" smtClean="0">
                  <a:latin typeface="+mn-ea"/>
                  <a:ea typeface="+mn-ea"/>
                </a:rPr>
                <a:t>.</a:t>
              </a:r>
              <a:endParaRPr kumimoji="0" lang="ko-KR" altLang="en-US" sz="900" dirty="0">
                <a:latin typeface="+mn-ea"/>
                <a:ea typeface="+mn-ea"/>
              </a:endParaRPr>
            </a:p>
            <a:p>
              <a:pPr algn="l" eaLnBrk="0" latinLnBrk="0" hangingPunct="0">
                <a:lnSpc>
                  <a:spcPct val="110000"/>
                </a:lnSpc>
                <a:buClr>
                  <a:schemeClr val="tx2"/>
                </a:buClr>
                <a:buSzPct val="75000"/>
                <a:buFont typeface="Wingdings" panose="05000000000000000000" pitchFamily="2" charset="2"/>
                <a:buNone/>
              </a:pPr>
              <a:r>
                <a:rPr kumimoji="0" lang="en-US" altLang="ko-KR" sz="900" dirty="0" smtClean="0">
                  <a:latin typeface="+mn-ea"/>
                  <a:ea typeface="+mn-ea"/>
                </a:rPr>
                <a:t> </a:t>
              </a:r>
              <a:endParaRPr kumimoji="0" lang="en-US" altLang="ko-KR" sz="900" dirty="0">
                <a:latin typeface="+mn-ea"/>
                <a:ea typeface="+mn-ea"/>
              </a:endParaRPr>
            </a:p>
          </p:txBody>
        </p:sp>
      </p:grpSp>
      <p:sp>
        <p:nvSpPr>
          <p:cNvPr id="54" name="Line 50"/>
          <p:cNvSpPr>
            <a:spLocks noChangeShapeType="1"/>
          </p:cNvSpPr>
          <p:nvPr/>
        </p:nvSpPr>
        <p:spPr bwMode="gray">
          <a:xfrm>
            <a:off x="1543589" y="1709725"/>
            <a:ext cx="1468839" cy="0"/>
          </a:xfrm>
          <a:prstGeom prst="line">
            <a:avLst/>
          </a:prstGeom>
          <a:noFill/>
          <a:ln w="9525">
            <a:solidFill>
              <a:srgbClr val="C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sz="800">
              <a:latin typeface="+mn-ea"/>
              <a:ea typeface="+mn-ea"/>
            </a:endParaRPr>
          </a:p>
        </p:txBody>
      </p:sp>
      <p:sp>
        <p:nvSpPr>
          <p:cNvPr id="55" name="Rectangle 51"/>
          <p:cNvSpPr>
            <a:spLocks noChangeArrowheads="1"/>
          </p:cNvSpPr>
          <p:nvPr/>
        </p:nvSpPr>
        <p:spPr bwMode="gray">
          <a:xfrm>
            <a:off x="465897" y="1583450"/>
            <a:ext cx="1201738"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i="1" dirty="0" err="1" smtClean="0">
                <a:latin typeface="+mn-ea"/>
                <a:ea typeface="+mn-ea"/>
              </a:rPr>
              <a:t>자사몰구매확정</a:t>
            </a:r>
            <a:endParaRPr lang="ko-KR" altLang="en-US" sz="800" b="1" i="1" dirty="0">
              <a:latin typeface="+mn-ea"/>
              <a:ea typeface="+mn-ea"/>
            </a:endParaRPr>
          </a:p>
        </p:txBody>
      </p:sp>
      <p:sp>
        <p:nvSpPr>
          <p:cNvPr id="66" name="AutoShape 79"/>
          <p:cNvSpPr>
            <a:spLocks noChangeArrowheads="1"/>
          </p:cNvSpPr>
          <p:nvPr/>
        </p:nvSpPr>
        <p:spPr bwMode="auto">
          <a:xfrm>
            <a:off x="3012429" y="1539069"/>
            <a:ext cx="996950" cy="341312"/>
          </a:xfrm>
          <a:prstGeom prst="flowChartTerminator">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800" dirty="0" err="1" smtClean="0">
                <a:latin typeface="+mn-ea"/>
                <a:ea typeface="+mn-ea"/>
              </a:rPr>
              <a:t>자사몰</a:t>
            </a:r>
            <a:endParaRPr lang="en-US" altLang="ko-KR" sz="800" dirty="0" smtClean="0">
              <a:latin typeface="+mn-ea"/>
              <a:ea typeface="+mn-ea"/>
            </a:endParaRPr>
          </a:p>
          <a:p>
            <a:pPr algn="ctr"/>
            <a:r>
              <a:rPr lang="ko-KR" altLang="en-US" sz="800" dirty="0" smtClean="0">
                <a:latin typeface="+mn-ea"/>
                <a:ea typeface="+mn-ea"/>
              </a:rPr>
              <a:t>구매확정 시작</a:t>
            </a:r>
            <a:endParaRPr lang="ko-KR" altLang="en-US" sz="800" dirty="0">
              <a:latin typeface="+mn-ea"/>
              <a:ea typeface="+mn-ea"/>
            </a:endParaRPr>
          </a:p>
        </p:txBody>
      </p:sp>
      <p:sp>
        <p:nvSpPr>
          <p:cNvPr id="67" name="Rectangle 49"/>
          <p:cNvSpPr>
            <a:spLocks noChangeArrowheads="1"/>
          </p:cNvSpPr>
          <p:nvPr/>
        </p:nvSpPr>
        <p:spPr bwMode="gray">
          <a:xfrm>
            <a:off x="2848122" y="2244643"/>
            <a:ext cx="1325563"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전월 판매수불</a:t>
            </a:r>
            <a:endParaRPr lang="en-US" altLang="ko-KR" sz="800" b="1" dirty="0" smtClean="0">
              <a:latin typeface="+mn-ea"/>
              <a:ea typeface="+mn-ea"/>
            </a:endParaRPr>
          </a:p>
          <a:p>
            <a:pPr algn="ctr"/>
            <a:r>
              <a:rPr lang="ko-KR" altLang="en-US" sz="800" b="1" dirty="0" smtClean="0">
                <a:latin typeface="+mn-ea"/>
                <a:ea typeface="+mn-ea"/>
              </a:rPr>
              <a:t>삭제처리</a:t>
            </a:r>
            <a:r>
              <a:rPr lang="en-US" altLang="ko-KR" sz="800" b="1" dirty="0" smtClean="0">
                <a:latin typeface="+mn-ea"/>
                <a:ea typeface="+mn-ea"/>
              </a:rPr>
              <a:t>(UPDATE)</a:t>
            </a:r>
            <a:endParaRPr lang="ko-KR" altLang="en-US" sz="800" b="1" dirty="0">
              <a:latin typeface="+mn-ea"/>
              <a:ea typeface="+mn-ea"/>
            </a:endParaRPr>
          </a:p>
        </p:txBody>
      </p:sp>
      <p:cxnSp>
        <p:nvCxnSpPr>
          <p:cNvPr id="72" name="AutoShape 67"/>
          <p:cNvCxnSpPr>
            <a:cxnSpLocks noChangeShapeType="1"/>
            <a:stCxn id="66" idx="2"/>
            <a:endCxn id="67" idx="0"/>
          </p:cNvCxnSpPr>
          <p:nvPr/>
        </p:nvCxnSpPr>
        <p:spPr bwMode="gray">
          <a:xfrm>
            <a:off x="3510904" y="1880381"/>
            <a:ext cx="0" cy="364262"/>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AutoShape 86"/>
          <p:cNvSpPr>
            <a:spLocks noChangeArrowheads="1"/>
          </p:cNvSpPr>
          <p:nvPr/>
        </p:nvSpPr>
        <p:spPr bwMode="auto">
          <a:xfrm>
            <a:off x="6366482" y="2900026"/>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cxnSp>
        <p:nvCxnSpPr>
          <p:cNvPr id="70" name="AutoShape 67"/>
          <p:cNvCxnSpPr>
            <a:cxnSpLocks noChangeShapeType="1"/>
            <a:stCxn id="67" idx="3"/>
            <a:endCxn id="73" idx="2"/>
          </p:cNvCxnSpPr>
          <p:nvPr/>
        </p:nvCxnSpPr>
        <p:spPr bwMode="gray">
          <a:xfrm>
            <a:off x="4173685" y="2415011"/>
            <a:ext cx="2192797" cy="728894"/>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TextBox 94"/>
          <p:cNvSpPr txBox="1">
            <a:spLocks noChangeArrowheads="1"/>
          </p:cNvSpPr>
          <p:nvPr/>
        </p:nvSpPr>
        <p:spPr bwMode="auto">
          <a:xfrm>
            <a:off x="2651424" y="1313336"/>
            <a:ext cx="224240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SP_GWM_SALE_SHOP_RNDS_CONFIRM</a:t>
            </a:r>
            <a:endParaRPr lang="ko-KR" altLang="en-US" sz="800" b="1" dirty="0">
              <a:latin typeface="+mn-ea"/>
              <a:ea typeface="+mn-ea"/>
            </a:endParaRPr>
          </a:p>
        </p:txBody>
      </p:sp>
      <p:sp>
        <p:nvSpPr>
          <p:cNvPr id="92" name="TextBox 94"/>
          <p:cNvSpPr txBox="1">
            <a:spLocks noChangeArrowheads="1"/>
          </p:cNvSpPr>
          <p:nvPr/>
        </p:nvSpPr>
        <p:spPr bwMode="auto">
          <a:xfrm>
            <a:off x="5458015" y="1928625"/>
            <a:ext cx="1835245" cy="954107"/>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a:latin typeface="+mn-ea"/>
                <a:ea typeface="+mn-ea"/>
                <a:sym typeface="Wingdings" panose="05000000000000000000" pitchFamily="2" charset="2"/>
              </a:rPr>
              <a:t>대상 </a:t>
            </a:r>
            <a:r>
              <a:rPr lang="en-US" altLang="ko-KR" sz="800" dirty="0">
                <a:latin typeface="+mn-ea"/>
                <a:ea typeface="+mn-ea"/>
                <a:sym typeface="Wingdings" panose="05000000000000000000" pitchFamily="2" charset="2"/>
              </a:rPr>
              <a:t>: </a:t>
            </a:r>
            <a:r>
              <a:rPr lang="ko-KR" altLang="en-US" sz="800" dirty="0" err="1" smtClean="0">
                <a:latin typeface="+mn-ea"/>
                <a:ea typeface="+mn-ea"/>
                <a:sym typeface="Wingdings" panose="05000000000000000000" pitchFamily="2" charset="2"/>
              </a:rPr>
              <a:t>전월판매데이터</a:t>
            </a:r>
            <a:r>
              <a:rPr lang="en-US" altLang="ko-KR" sz="800" dirty="0" smtClean="0">
                <a:latin typeface="+mn-ea"/>
                <a:ea typeface="+mn-ea"/>
                <a:sym typeface="Wingdings" panose="05000000000000000000" pitchFamily="2" charset="2"/>
              </a:rPr>
              <a:t> </a:t>
            </a:r>
            <a:endParaRPr lang="en-US" altLang="ko-KR" sz="800" dirty="0">
              <a:latin typeface="+mn-ea"/>
              <a:ea typeface="+mn-ea"/>
              <a:sym typeface="Wingdings" panose="05000000000000000000" pitchFamily="2" charset="2"/>
            </a:endParaRPr>
          </a:p>
          <a:p>
            <a:pPr>
              <a:spcBef>
                <a:spcPct val="20000"/>
              </a:spcBef>
              <a:buClr>
                <a:srgbClr val="003366"/>
              </a:buClr>
            </a:pP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       SHOP_ID = ‘STS015’</a:t>
            </a:r>
          </a:p>
          <a:p>
            <a:pPr>
              <a:spcBef>
                <a:spcPct val="20000"/>
              </a:spcBef>
              <a:buClr>
                <a:srgbClr val="003366"/>
              </a:buClr>
            </a:pP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       ATTR1 = GWM_SALE</a:t>
            </a:r>
          </a:p>
          <a:p>
            <a:pPr>
              <a:spcBef>
                <a:spcPct val="20000"/>
              </a:spcBef>
              <a:buClr>
                <a:srgbClr val="003366"/>
              </a:buClr>
            </a:pP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       ATTR13 = </a:t>
            </a:r>
            <a:r>
              <a:rPr lang="ko-KR" altLang="en-US" sz="800" dirty="0" err="1" smtClean="0">
                <a:latin typeface="+mn-ea"/>
                <a:ea typeface="+mn-ea"/>
                <a:sym typeface="Wingdings" panose="05000000000000000000" pitchFamily="2" charset="2"/>
              </a:rPr>
              <a:t>굿웨어몰결재기준</a:t>
            </a:r>
            <a:endParaRPr lang="en-US" altLang="ko-KR" sz="800" dirty="0" smtClean="0">
              <a:latin typeface="+mn-ea"/>
              <a:ea typeface="+mn-ea"/>
              <a:sym typeface="Wingdings" panose="05000000000000000000" pitchFamily="2" charset="2"/>
            </a:endParaRPr>
          </a:p>
          <a:p>
            <a:pPr>
              <a:spcBef>
                <a:spcPct val="20000"/>
              </a:spcBef>
              <a:buClr>
                <a:srgbClr val="003366"/>
              </a:buClr>
            </a:pPr>
            <a:r>
              <a:rPr lang="en-US" altLang="ko-KR" sz="800" dirty="0" smtClean="0">
                <a:latin typeface="+mn-ea"/>
                <a:ea typeface="+mn-ea"/>
                <a:sym typeface="Wingdings" panose="05000000000000000000" pitchFamily="2" charset="2"/>
              </a:rPr>
              <a:t>DEL_DAY  </a:t>
            </a:r>
            <a:r>
              <a:rPr lang="ko-KR" altLang="en-US" sz="800" dirty="0" smtClean="0">
                <a:latin typeface="+mn-ea"/>
                <a:ea typeface="+mn-ea"/>
                <a:sym typeface="Wingdings" panose="05000000000000000000" pitchFamily="2" charset="2"/>
              </a:rPr>
              <a:t>시스템일자</a:t>
            </a:r>
            <a:endParaRPr lang="en-US" altLang="ko-KR" sz="800" dirty="0" smtClean="0">
              <a:latin typeface="+mn-ea"/>
              <a:ea typeface="+mn-ea"/>
              <a:sym typeface="Wingdings" panose="05000000000000000000" pitchFamily="2" charset="2"/>
            </a:endParaRPr>
          </a:p>
          <a:p>
            <a:pPr>
              <a:spcBef>
                <a:spcPct val="20000"/>
              </a:spcBef>
              <a:buClr>
                <a:srgbClr val="003366"/>
              </a:buClr>
            </a:pPr>
            <a:r>
              <a:rPr lang="en-US" altLang="ko-KR" sz="800" dirty="0" smtClean="0">
                <a:latin typeface="+mn-ea"/>
                <a:ea typeface="+mn-ea"/>
                <a:sym typeface="Wingdings" panose="05000000000000000000" pitchFamily="2" charset="2"/>
              </a:rPr>
              <a:t>DEL_USERID  SYSTEM(GWM)</a:t>
            </a:r>
          </a:p>
        </p:txBody>
      </p:sp>
      <p:grpSp>
        <p:nvGrpSpPr>
          <p:cNvPr id="3" name="그룹 2"/>
          <p:cNvGrpSpPr/>
          <p:nvPr/>
        </p:nvGrpSpPr>
        <p:grpSpPr>
          <a:xfrm>
            <a:off x="573469" y="2138778"/>
            <a:ext cx="1094751" cy="1316528"/>
            <a:chOff x="469477" y="3387874"/>
            <a:chExt cx="1094751" cy="1316528"/>
          </a:xfrm>
        </p:grpSpPr>
        <p:sp>
          <p:nvSpPr>
            <p:cNvPr id="53" name="Rectangle 2"/>
            <p:cNvSpPr>
              <a:spLocks noChangeArrowheads="1"/>
            </p:cNvSpPr>
            <p:nvPr/>
          </p:nvSpPr>
          <p:spPr bwMode="gray">
            <a:xfrm>
              <a:off x="469477" y="3387874"/>
              <a:ext cx="1094751" cy="1316528"/>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b="1">
                <a:latin typeface="+mn-ea"/>
                <a:ea typeface="+mn-ea"/>
              </a:endParaRPr>
            </a:p>
          </p:txBody>
        </p:sp>
        <p:sp>
          <p:nvSpPr>
            <p:cNvPr id="50" name="AutoShape 86"/>
            <p:cNvSpPr>
              <a:spLocks noChangeArrowheads="1"/>
            </p:cNvSpPr>
            <p:nvPr/>
          </p:nvSpPr>
          <p:spPr bwMode="auto">
            <a:xfrm>
              <a:off x="708015" y="3995986"/>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a:latin typeface="+mn-ea"/>
                  <a:ea typeface="+mn-ea"/>
                </a:rPr>
                <a:t>자사몰</a:t>
              </a:r>
              <a:r>
                <a:rPr lang="ko-KR" altLang="en-US" sz="600" b="1" dirty="0">
                  <a:latin typeface="+mn-ea"/>
                  <a:ea typeface="+mn-ea"/>
                </a:rPr>
                <a:t> 구매확정 </a:t>
              </a:r>
              <a:r>
                <a:rPr lang="en-US" altLang="ko-KR" sz="600" b="1" dirty="0">
                  <a:latin typeface="+mn-ea"/>
                  <a:ea typeface="+mn-ea"/>
                </a:rPr>
                <a:t>I/F</a:t>
              </a:r>
              <a:r>
                <a:rPr lang="ko-KR" altLang="en-US" sz="600" b="1" dirty="0" smtClean="0">
                  <a:latin typeface="+mn-ea"/>
                  <a:ea typeface="+mn-ea"/>
                </a:rPr>
                <a:t>테이블</a:t>
              </a:r>
              <a:endParaRPr lang="en-US" altLang="ko-KR" sz="600" b="1" dirty="0" smtClean="0">
                <a:latin typeface="+mn-ea"/>
                <a:ea typeface="+mn-ea"/>
              </a:endParaRPr>
            </a:p>
            <a:p>
              <a:pPr algn="ctr"/>
              <a:r>
                <a:rPr lang="en-US" altLang="ko-KR" sz="600" b="1" dirty="0" smtClean="0">
                  <a:latin typeface="+mn-ea"/>
                  <a:ea typeface="+mn-ea"/>
                </a:rPr>
                <a:t>(</a:t>
              </a:r>
              <a:r>
                <a:rPr lang="ko-KR" altLang="en-US" sz="600" b="1" dirty="0" err="1">
                  <a:latin typeface="+mn-ea"/>
                  <a:ea typeface="+mn-ea"/>
                </a:rPr>
                <a:t>굿웨어몰</a:t>
              </a:r>
              <a:r>
                <a:rPr lang="en-US" altLang="ko-KR" sz="600" b="1" dirty="0">
                  <a:latin typeface="+mn-ea"/>
                  <a:ea typeface="+mn-ea"/>
                </a:rPr>
                <a:t>BO)</a:t>
              </a:r>
              <a:endParaRPr lang="en-US" altLang="ko-KR" sz="600" b="1" dirty="0" smtClean="0">
                <a:latin typeface="+mn-ea"/>
                <a:ea typeface="+mn-ea"/>
              </a:endParaRPr>
            </a:p>
            <a:p>
              <a:pPr algn="ctr"/>
              <a:r>
                <a:rPr lang="en-US" altLang="ko-KR" sz="600" b="1" dirty="0">
                  <a:latin typeface="+mn-ea"/>
                  <a:ea typeface="+mn-ea"/>
                </a:rPr>
                <a:t>T_GWM_IF_CAL_ORD_CLM_GOD</a:t>
              </a:r>
              <a:endParaRPr lang="ko-KR" altLang="en-US" sz="600" b="1" dirty="0">
                <a:latin typeface="+mn-ea"/>
                <a:ea typeface="+mn-ea"/>
              </a:endParaRPr>
            </a:p>
          </p:txBody>
        </p:sp>
        <p:sp>
          <p:nvSpPr>
            <p:cNvPr id="52" name="AutoShape 86"/>
            <p:cNvSpPr>
              <a:spLocks noChangeArrowheads="1"/>
            </p:cNvSpPr>
            <p:nvPr/>
          </p:nvSpPr>
          <p:spPr bwMode="auto">
            <a:xfrm>
              <a:off x="715258" y="3448051"/>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600" b="1" dirty="0" smtClean="0">
                  <a:latin typeface="+mn-ea"/>
                  <a:ea typeface="+mn-ea"/>
                </a:rPr>
                <a:t>V_</a:t>
              </a:r>
              <a:r>
                <a:rPr lang="ko-KR" altLang="en-US" sz="600" b="1" dirty="0" smtClean="0">
                  <a:latin typeface="+mn-ea"/>
                  <a:ea typeface="+mn-ea"/>
                </a:rPr>
                <a:t>제품사이즈</a:t>
              </a:r>
              <a:endParaRPr lang="en-US" altLang="ko-KR" sz="600" b="1" dirty="0" smtClean="0">
                <a:latin typeface="+mn-ea"/>
                <a:ea typeface="+mn-ea"/>
              </a:endParaRPr>
            </a:p>
            <a:p>
              <a:pPr algn="ctr"/>
              <a:r>
                <a:rPr lang="en-US" altLang="ko-KR" sz="600" b="1" dirty="0" smtClean="0">
                  <a:latin typeface="+mn-ea"/>
                  <a:ea typeface="+mn-ea"/>
                </a:rPr>
                <a:t>V_PRDT_SIZE</a:t>
              </a:r>
              <a:endParaRPr lang="ko-KR" altLang="en-US" sz="600" b="1" dirty="0">
                <a:latin typeface="+mn-ea"/>
                <a:ea typeface="+mn-ea"/>
              </a:endParaRPr>
            </a:p>
          </p:txBody>
        </p:sp>
      </p:grpSp>
      <p:cxnSp>
        <p:nvCxnSpPr>
          <p:cNvPr id="56" name="AutoShape 67"/>
          <p:cNvCxnSpPr>
            <a:cxnSpLocks noChangeShapeType="1"/>
            <a:stCxn id="67" idx="2"/>
            <a:endCxn id="74" idx="0"/>
          </p:cNvCxnSpPr>
          <p:nvPr/>
        </p:nvCxnSpPr>
        <p:spPr bwMode="gray">
          <a:xfrm flipH="1">
            <a:off x="3506931" y="2585378"/>
            <a:ext cx="3973" cy="864015"/>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67"/>
          <p:cNvCxnSpPr>
            <a:cxnSpLocks noChangeShapeType="1"/>
            <a:stCxn id="53" idx="3"/>
          </p:cNvCxnSpPr>
          <p:nvPr/>
        </p:nvCxnSpPr>
        <p:spPr bwMode="gray">
          <a:xfrm>
            <a:off x="1668220" y="2797042"/>
            <a:ext cx="1838711"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TextBox 94"/>
          <p:cNvSpPr txBox="1">
            <a:spLocks noChangeArrowheads="1"/>
          </p:cNvSpPr>
          <p:nvPr/>
        </p:nvSpPr>
        <p:spPr bwMode="auto">
          <a:xfrm>
            <a:off x="1975939" y="2614595"/>
            <a:ext cx="432592"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71" name="TextBox 94"/>
          <p:cNvSpPr txBox="1">
            <a:spLocks noChangeArrowheads="1"/>
          </p:cNvSpPr>
          <p:nvPr/>
        </p:nvSpPr>
        <p:spPr bwMode="auto">
          <a:xfrm>
            <a:off x="1842307" y="2798930"/>
            <a:ext cx="1625528"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a:latin typeface="+mn-ea"/>
                <a:ea typeface="+mn-ea"/>
                <a:sym typeface="Wingdings" panose="05000000000000000000" pitchFamily="2" charset="2"/>
              </a:rPr>
              <a:t>대상 </a:t>
            </a: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SHOP_ID = ‘STS015’</a:t>
            </a:r>
          </a:p>
          <a:p>
            <a:pPr>
              <a:spcBef>
                <a:spcPct val="20000"/>
              </a:spcBef>
              <a:buClr>
                <a:srgbClr val="003366"/>
              </a:buClr>
            </a:pP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       SHOP_RNDS_ID IS NULL</a:t>
            </a:r>
          </a:p>
          <a:p>
            <a:pPr>
              <a:spcBef>
                <a:spcPct val="20000"/>
              </a:spcBef>
              <a:buClr>
                <a:srgbClr val="003366"/>
              </a:buClr>
            </a:pPr>
            <a:r>
              <a:rPr lang="en-US" altLang="ko-KR" sz="800" dirty="0" smtClean="0">
                <a:latin typeface="+mn-ea"/>
                <a:ea typeface="+mn-ea"/>
                <a:sym typeface="Wingdings" panose="05000000000000000000" pitchFamily="2" charset="2"/>
              </a:rPr>
              <a:t>STLM_YYMM = SYSTEM </a:t>
            </a:r>
            <a:r>
              <a:rPr lang="ko-KR" altLang="en-US" sz="800" dirty="0" smtClean="0">
                <a:latin typeface="+mn-ea"/>
                <a:ea typeface="+mn-ea"/>
                <a:sym typeface="Wingdings" panose="05000000000000000000" pitchFamily="2" charset="2"/>
              </a:rPr>
              <a:t>전월</a:t>
            </a:r>
            <a:endParaRPr lang="en-US" altLang="ko-KR" sz="800" dirty="0" smtClean="0">
              <a:latin typeface="+mn-ea"/>
              <a:ea typeface="+mn-ea"/>
              <a:sym typeface="Wingdings" panose="05000000000000000000" pitchFamily="2" charset="2"/>
            </a:endParaRPr>
          </a:p>
        </p:txBody>
      </p:sp>
      <p:sp>
        <p:nvSpPr>
          <p:cNvPr id="74" name="AutoShape 73"/>
          <p:cNvSpPr>
            <a:spLocks noChangeArrowheads="1"/>
          </p:cNvSpPr>
          <p:nvPr/>
        </p:nvSpPr>
        <p:spPr bwMode="auto">
          <a:xfrm>
            <a:off x="2945557" y="3449393"/>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sp>
        <p:nvSpPr>
          <p:cNvPr id="77" name="TextBox 94"/>
          <p:cNvSpPr txBox="1">
            <a:spLocks noChangeArrowheads="1"/>
          </p:cNvSpPr>
          <p:nvPr/>
        </p:nvSpPr>
        <p:spPr bwMode="auto">
          <a:xfrm>
            <a:off x="4267048" y="3076711"/>
            <a:ext cx="1238561" cy="658642"/>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브랜드마감</a:t>
            </a:r>
            <a:endParaRPr lang="en-US" altLang="ko-KR" sz="800" dirty="0" smtClean="0">
              <a:latin typeface="+mn-ea"/>
              <a:ea typeface="+mn-ea"/>
            </a:endParaRPr>
          </a:p>
          <a:p>
            <a:pPr>
              <a:spcBef>
                <a:spcPct val="20000"/>
              </a:spcBef>
              <a:buClr>
                <a:srgbClr val="003366"/>
              </a:buClr>
            </a:pPr>
            <a:r>
              <a:rPr lang="ko-KR" altLang="en-US" sz="800" dirty="0" smtClean="0">
                <a:latin typeface="+mn-ea"/>
                <a:ea typeface="+mn-ea"/>
              </a:rPr>
              <a:t>매장브랜드</a:t>
            </a:r>
            <a:r>
              <a:rPr lang="en-US" altLang="ko-KR" sz="800" dirty="0" smtClean="0">
                <a:latin typeface="+mn-ea"/>
                <a:ea typeface="+mn-ea"/>
              </a:rPr>
              <a:t>, </a:t>
            </a:r>
            <a:r>
              <a:rPr lang="ko-KR" altLang="en-US" sz="800" dirty="0" smtClean="0">
                <a:latin typeface="+mn-ea"/>
                <a:ea typeface="+mn-ea"/>
              </a:rPr>
              <a:t>폐점여부</a:t>
            </a:r>
            <a:r>
              <a:rPr lang="en-US" altLang="ko-KR" sz="800" dirty="0" smtClean="0">
                <a:latin typeface="+mn-ea"/>
                <a:ea typeface="+mn-ea"/>
              </a:rPr>
              <a:t>,</a:t>
            </a:r>
          </a:p>
          <a:p>
            <a:pPr>
              <a:spcBef>
                <a:spcPct val="20000"/>
              </a:spcBef>
              <a:buClr>
                <a:srgbClr val="003366"/>
              </a:buClr>
            </a:pPr>
            <a:r>
              <a:rPr lang="ko-KR" altLang="en-US" sz="800" dirty="0" smtClean="0">
                <a:latin typeface="+mn-ea"/>
                <a:ea typeface="+mn-ea"/>
              </a:rPr>
              <a:t>할인마진율</a:t>
            </a:r>
            <a:endParaRPr lang="en-US" altLang="ko-KR" sz="800" dirty="0" smtClean="0">
              <a:latin typeface="+mn-ea"/>
              <a:ea typeface="+mn-ea"/>
            </a:endParaRPr>
          </a:p>
          <a:p>
            <a:pPr>
              <a:spcBef>
                <a:spcPct val="20000"/>
              </a:spcBef>
              <a:buClr>
                <a:srgbClr val="003366"/>
              </a:buClr>
            </a:pPr>
            <a:r>
              <a:rPr lang="ko-KR" altLang="en-US" sz="800" dirty="0" smtClean="0">
                <a:latin typeface="+mn-ea"/>
                <a:ea typeface="+mn-ea"/>
              </a:rPr>
              <a:t>제품유효성</a:t>
            </a:r>
            <a:endParaRPr lang="ko-KR" altLang="en-US" sz="800" dirty="0">
              <a:latin typeface="+mn-ea"/>
              <a:ea typeface="+mn-ea"/>
            </a:endParaRPr>
          </a:p>
        </p:txBody>
      </p:sp>
      <p:cxnSp>
        <p:nvCxnSpPr>
          <p:cNvPr id="79" name="AutoShape 67"/>
          <p:cNvCxnSpPr>
            <a:cxnSpLocks noChangeShapeType="1"/>
            <a:stCxn id="74" idx="3"/>
          </p:cNvCxnSpPr>
          <p:nvPr/>
        </p:nvCxnSpPr>
        <p:spPr bwMode="gray">
          <a:xfrm flipH="1" flipV="1">
            <a:off x="3506931" y="3143905"/>
            <a:ext cx="561374" cy="542819"/>
          </a:xfrm>
          <a:prstGeom prst="bentConnector3">
            <a:avLst>
              <a:gd name="adj1" fmla="val -4072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 Box 82"/>
          <p:cNvSpPr txBox="1">
            <a:spLocks noChangeArrowheads="1"/>
          </p:cNvSpPr>
          <p:nvPr/>
        </p:nvSpPr>
        <p:spPr bwMode="gray">
          <a:xfrm>
            <a:off x="3889556" y="3483586"/>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83" name="Rectangle 49"/>
          <p:cNvSpPr>
            <a:spLocks noChangeArrowheads="1"/>
          </p:cNvSpPr>
          <p:nvPr/>
        </p:nvSpPr>
        <p:spPr bwMode="gray">
          <a:xfrm>
            <a:off x="1947356" y="4189551"/>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공급가계산</a:t>
            </a:r>
            <a:endParaRPr lang="ko-KR" altLang="en-US" sz="800" b="1" dirty="0">
              <a:latin typeface="+mn-ea"/>
              <a:ea typeface="+mn-ea"/>
            </a:endParaRPr>
          </a:p>
        </p:txBody>
      </p:sp>
      <p:sp>
        <p:nvSpPr>
          <p:cNvPr id="84" name="TextBox 94"/>
          <p:cNvSpPr txBox="1">
            <a:spLocks noChangeArrowheads="1"/>
          </p:cNvSpPr>
          <p:nvPr/>
        </p:nvSpPr>
        <p:spPr bwMode="auto">
          <a:xfrm>
            <a:off x="2578811" y="4002114"/>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SP_CAL_SALE_SPPR_MNG</a:t>
            </a:r>
            <a:endParaRPr lang="ko-KR" altLang="en-US" sz="800" b="1" dirty="0">
              <a:latin typeface="+mn-ea"/>
              <a:ea typeface="+mn-ea"/>
            </a:endParaRPr>
          </a:p>
        </p:txBody>
      </p:sp>
      <p:cxnSp>
        <p:nvCxnSpPr>
          <p:cNvPr id="88" name="AutoShape 67"/>
          <p:cNvCxnSpPr>
            <a:cxnSpLocks noChangeShapeType="1"/>
            <a:stCxn id="74" idx="1"/>
            <a:endCxn id="83" idx="0"/>
          </p:cNvCxnSpPr>
          <p:nvPr/>
        </p:nvCxnSpPr>
        <p:spPr bwMode="gray">
          <a:xfrm rot="10800000" flipV="1">
            <a:off x="2610139" y="3686723"/>
            <a:ext cx="335419" cy="502827"/>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Text Box 82"/>
          <p:cNvSpPr txBox="1">
            <a:spLocks noChangeArrowheads="1"/>
          </p:cNvSpPr>
          <p:nvPr/>
        </p:nvSpPr>
        <p:spPr bwMode="gray">
          <a:xfrm>
            <a:off x="2792760" y="3483586"/>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91" name="Oval 108"/>
          <p:cNvSpPr>
            <a:spLocks noChangeArrowheads="1"/>
          </p:cNvSpPr>
          <p:nvPr/>
        </p:nvSpPr>
        <p:spPr bwMode="gray">
          <a:xfrm>
            <a:off x="2296259" y="4700692"/>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kern="0" dirty="0" smtClean="0">
                <a:solidFill>
                  <a:srgbClr val="000000"/>
                </a:solidFill>
                <a:latin typeface="+mn-ea"/>
                <a:ea typeface="+mn-ea"/>
              </a:rPr>
              <a:t>판매</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cxnSp>
        <p:nvCxnSpPr>
          <p:cNvPr id="93" name="AutoShape 67"/>
          <p:cNvCxnSpPr>
            <a:cxnSpLocks noChangeShapeType="1"/>
            <a:stCxn id="83" idx="2"/>
            <a:endCxn id="91" idx="0"/>
          </p:cNvCxnSpPr>
          <p:nvPr/>
        </p:nvCxnSpPr>
        <p:spPr bwMode="gray">
          <a:xfrm rot="16200000" flipH="1">
            <a:off x="2463603" y="4553711"/>
            <a:ext cx="293516" cy="446"/>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Text Box 121"/>
          <p:cNvSpPr txBox="1">
            <a:spLocks noChangeArrowheads="1"/>
          </p:cNvSpPr>
          <p:nvPr/>
        </p:nvSpPr>
        <p:spPr bwMode="gray">
          <a:xfrm>
            <a:off x="1405687" y="4661719"/>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pPr algn="ctr"/>
            <a:r>
              <a:rPr lang="en-US" altLang="ko-KR" sz="800" dirty="0" smtClean="0">
                <a:latin typeface="+mn-ea"/>
                <a:ea typeface="+mn-ea"/>
              </a:rPr>
              <a:t>SHOP_RNDS_ID</a:t>
            </a:r>
          </a:p>
          <a:p>
            <a:pPr algn="ctr"/>
            <a:r>
              <a:rPr lang="en-US" altLang="ko-KR" sz="800" dirty="0" smtClean="0">
                <a:latin typeface="+mn-ea"/>
                <a:ea typeface="+mn-ea"/>
              </a:rPr>
              <a:t>REG_NO</a:t>
            </a:r>
          </a:p>
        </p:txBody>
      </p:sp>
      <p:sp>
        <p:nvSpPr>
          <p:cNvPr id="96" name="AutoShape 86"/>
          <p:cNvSpPr>
            <a:spLocks noChangeArrowheads="1"/>
          </p:cNvSpPr>
          <p:nvPr/>
        </p:nvSpPr>
        <p:spPr bwMode="auto">
          <a:xfrm>
            <a:off x="3707062" y="550652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98" name="AutoShape 86"/>
          <p:cNvSpPr>
            <a:spLocks noChangeArrowheads="1"/>
          </p:cNvSpPr>
          <p:nvPr/>
        </p:nvSpPr>
        <p:spPr bwMode="auto">
          <a:xfrm>
            <a:off x="2856955" y="5506526"/>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a:t>
            </a:r>
            <a:endParaRPr lang="en-US" altLang="ko-KR" sz="600" b="1" dirty="0" smtClean="0">
              <a:latin typeface="+mn-ea"/>
              <a:ea typeface="+mn-ea"/>
            </a:endParaRPr>
          </a:p>
          <a:p>
            <a:pPr algn="ctr"/>
            <a:r>
              <a:rPr lang="en-US" altLang="ko-KR" sz="600" b="1" dirty="0" smtClean="0">
                <a:latin typeface="+mn-ea"/>
                <a:ea typeface="+mn-ea"/>
              </a:rPr>
              <a:t>T_SALE</a:t>
            </a:r>
            <a:endParaRPr lang="ko-KR" altLang="en-US" sz="600" b="1" dirty="0">
              <a:latin typeface="+mn-ea"/>
              <a:ea typeface="+mn-ea"/>
            </a:endParaRPr>
          </a:p>
        </p:txBody>
      </p:sp>
      <p:sp>
        <p:nvSpPr>
          <p:cNvPr id="99" name="AutoShape 86"/>
          <p:cNvSpPr>
            <a:spLocks noChangeArrowheads="1"/>
          </p:cNvSpPr>
          <p:nvPr/>
        </p:nvSpPr>
        <p:spPr bwMode="auto">
          <a:xfrm>
            <a:off x="2004572" y="5506526"/>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판매결재</a:t>
            </a:r>
            <a:endParaRPr lang="en-US" altLang="ko-KR" sz="600" b="1" dirty="0" smtClean="0">
              <a:latin typeface="+mn-ea"/>
              <a:ea typeface="+mn-ea"/>
            </a:endParaRPr>
          </a:p>
          <a:p>
            <a:pPr algn="ctr"/>
            <a:r>
              <a:rPr lang="en-US" altLang="ko-KR" sz="600" b="1" dirty="0" smtClean="0">
                <a:latin typeface="+mn-ea"/>
                <a:ea typeface="+mn-ea"/>
              </a:rPr>
              <a:t>T_SALE_STLM</a:t>
            </a:r>
            <a:endParaRPr lang="ko-KR" altLang="en-US" sz="600" b="1" dirty="0">
              <a:latin typeface="+mn-ea"/>
              <a:ea typeface="+mn-ea"/>
            </a:endParaRPr>
          </a:p>
        </p:txBody>
      </p:sp>
      <p:cxnSp>
        <p:nvCxnSpPr>
          <p:cNvPr id="100" name="AutoShape 67"/>
          <p:cNvCxnSpPr>
            <a:cxnSpLocks noChangeShapeType="1"/>
            <a:stCxn id="91" idx="4"/>
            <a:endCxn id="99" idx="1"/>
          </p:cNvCxnSpPr>
          <p:nvPr/>
        </p:nvCxnSpPr>
        <p:spPr bwMode="gray">
          <a:xfrm rot="5400000">
            <a:off x="2222559" y="5118500"/>
            <a:ext cx="453409" cy="322643"/>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67"/>
          <p:cNvCxnSpPr>
            <a:cxnSpLocks noChangeShapeType="1"/>
            <a:stCxn id="91" idx="4"/>
            <a:endCxn id="98" idx="1"/>
          </p:cNvCxnSpPr>
          <p:nvPr/>
        </p:nvCxnSpPr>
        <p:spPr bwMode="gray">
          <a:xfrm rot="16200000" flipH="1">
            <a:off x="2648750" y="5014951"/>
            <a:ext cx="453409" cy="529740"/>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AutoShape 67"/>
          <p:cNvCxnSpPr>
            <a:cxnSpLocks noChangeShapeType="1"/>
            <a:stCxn id="91" idx="4"/>
            <a:endCxn id="96" idx="1"/>
          </p:cNvCxnSpPr>
          <p:nvPr/>
        </p:nvCxnSpPr>
        <p:spPr bwMode="gray">
          <a:xfrm rot="16200000" flipH="1">
            <a:off x="3073802" y="4589898"/>
            <a:ext cx="453410" cy="1379847"/>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AutoShape 86"/>
          <p:cNvSpPr>
            <a:spLocks noChangeArrowheads="1"/>
          </p:cNvSpPr>
          <p:nvPr/>
        </p:nvSpPr>
        <p:spPr bwMode="auto">
          <a:xfrm>
            <a:off x="4862990" y="388634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a:latin typeface="+mn-ea"/>
                <a:ea typeface="+mn-ea"/>
              </a:rPr>
              <a:t>자사몰</a:t>
            </a:r>
            <a:r>
              <a:rPr lang="ko-KR" altLang="en-US" sz="600" b="1" dirty="0">
                <a:latin typeface="+mn-ea"/>
                <a:ea typeface="+mn-ea"/>
              </a:rPr>
              <a:t> 구매확정 </a:t>
            </a:r>
            <a:r>
              <a:rPr lang="en-US" altLang="ko-KR" sz="600" b="1" dirty="0">
                <a:latin typeface="+mn-ea"/>
                <a:ea typeface="+mn-ea"/>
              </a:rPr>
              <a:t>I/F</a:t>
            </a:r>
            <a:r>
              <a:rPr lang="ko-KR" altLang="en-US" sz="600" b="1" dirty="0" smtClean="0">
                <a:latin typeface="+mn-ea"/>
                <a:ea typeface="+mn-ea"/>
              </a:rPr>
              <a:t>테이블</a:t>
            </a:r>
            <a:endParaRPr lang="en-US" altLang="ko-KR" sz="600" b="1" dirty="0" smtClean="0">
              <a:latin typeface="+mn-ea"/>
              <a:ea typeface="+mn-ea"/>
            </a:endParaRPr>
          </a:p>
          <a:p>
            <a:pPr algn="ctr"/>
            <a:r>
              <a:rPr lang="en-US" altLang="ko-KR" sz="600" b="1" dirty="0" smtClean="0">
                <a:latin typeface="+mn-ea"/>
                <a:ea typeface="+mn-ea"/>
              </a:rPr>
              <a:t>(</a:t>
            </a:r>
            <a:r>
              <a:rPr lang="ko-KR" altLang="en-US" sz="600" b="1" dirty="0" err="1">
                <a:latin typeface="+mn-ea"/>
                <a:ea typeface="+mn-ea"/>
              </a:rPr>
              <a:t>굿웨어몰</a:t>
            </a:r>
            <a:r>
              <a:rPr lang="en-US" altLang="ko-KR" sz="600" b="1" dirty="0">
                <a:latin typeface="+mn-ea"/>
                <a:ea typeface="+mn-ea"/>
              </a:rPr>
              <a:t>BO)</a:t>
            </a:r>
            <a:endParaRPr lang="en-US" altLang="ko-KR" sz="600" b="1" dirty="0" smtClean="0">
              <a:latin typeface="+mn-ea"/>
              <a:ea typeface="+mn-ea"/>
            </a:endParaRPr>
          </a:p>
          <a:p>
            <a:pPr algn="ctr"/>
            <a:r>
              <a:rPr lang="en-US" altLang="ko-KR" sz="600" b="1" dirty="0">
                <a:latin typeface="+mn-ea"/>
                <a:ea typeface="+mn-ea"/>
              </a:rPr>
              <a:t>T_GWM_IF_CAL_ORD_CLM_GOD</a:t>
            </a:r>
            <a:endParaRPr lang="ko-KR" altLang="en-US" sz="600" b="1" dirty="0">
              <a:latin typeface="+mn-ea"/>
              <a:ea typeface="+mn-ea"/>
            </a:endParaRPr>
          </a:p>
        </p:txBody>
      </p:sp>
      <p:sp>
        <p:nvSpPr>
          <p:cNvPr id="115" name="Rectangle 49"/>
          <p:cNvSpPr>
            <a:spLocks noChangeArrowheads="1"/>
          </p:cNvSpPr>
          <p:nvPr/>
        </p:nvSpPr>
        <p:spPr bwMode="gray">
          <a:xfrm>
            <a:off x="3635972" y="4621334"/>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판매수불</a:t>
            </a:r>
            <a:r>
              <a:rPr lang="en-US" altLang="ko-KR" sz="800" b="1" dirty="0" smtClean="0">
                <a:latin typeface="+mn-ea"/>
                <a:ea typeface="+mn-ea"/>
              </a:rPr>
              <a:t>ID</a:t>
            </a:r>
            <a:r>
              <a:rPr lang="ko-KR" altLang="en-US" sz="800" b="1" dirty="0" smtClean="0">
                <a:latin typeface="+mn-ea"/>
                <a:ea typeface="+mn-ea"/>
              </a:rPr>
              <a:t>갱신</a:t>
            </a:r>
            <a:endParaRPr lang="ko-KR" altLang="en-US" sz="800" b="1" dirty="0">
              <a:latin typeface="+mn-ea"/>
              <a:ea typeface="+mn-ea"/>
            </a:endParaRPr>
          </a:p>
        </p:txBody>
      </p:sp>
      <p:cxnSp>
        <p:nvCxnSpPr>
          <p:cNvPr id="117" name="AutoShape 67"/>
          <p:cNvCxnSpPr>
            <a:cxnSpLocks noChangeShapeType="1"/>
            <a:stCxn id="115" idx="3"/>
            <a:endCxn id="113" idx="3"/>
          </p:cNvCxnSpPr>
          <p:nvPr/>
        </p:nvCxnSpPr>
        <p:spPr bwMode="gray">
          <a:xfrm flipV="1">
            <a:off x="4961535" y="4374105"/>
            <a:ext cx="184824" cy="356042"/>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AutoShape 67"/>
          <p:cNvCxnSpPr>
            <a:cxnSpLocks noChangeShapeType="1"/>
            <a:stCxn id="91" idx="6"/>
            <a:endCxn id="115" idx="1"/>
          </p:cNvCxnSpPr>
          <p:nvPr/>
        </p:nvCxnSpPr>
        <p:spPr bwMode="gray">
          <a:xfrm flipV="1">
            <a:off x="2924909" y="4730147"/>
            <a:ext cx="711063" cy="146758"/>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직사각형 127"/>
          <p:cNvSpPr/>
          <p:nvPr/>
        </p:nvSpPr>
        <p:spPr>
          <a:xfrm>
            <a:off x="5306739" y="4892552"/>
            <a:ext cx="1896511" cy="1039891"/>
          </a:xfrm>
          <a:prstGeom prst="rect">
            <a:avLst/>
          </a:prstGeom>
          <a:solidFill>
            <a:schemeClr val="accent1">
              <a:lumMod val="20000"/>
              <a:lumOff val="8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800" b="1" kern="0" dirty="0" smtClean="0">
              <a:solidFill>
                <a:schemeClr val="bg1"/>
              </a:solidFill>
              <a:latin typeface="+mn-ea"/>
              <a:ea typeface="+mn-ea"/>
            </a:endParaRPr>
          </a:p>
        </p:txBody>
      </p:sp>
      <p:sp>
        <p:nvSpPr>
          <p:cNvPr id="129" name="AutoShape 86"/>
          <p:cNvSpPr>
            <a:spLocks noChangeArrowheads="1"/>
          </p:cNvSpPr>
          <p:nvPr/>
        </p:nvSpPr>
        <p:spPr bwMode="auto">
          <a:xfrm>
            <a:off x="5488144" y="528051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매장재고</a:t>
            </a:r>
            <a:endParaRPr lang="en-US" altLang="ko-KR" sz="600" b="1" dirty="0" smtClean="0">
              <a:latin typeface="+mn-ea"/>
              <a:ea typeface="+mn-ea"/>
            </a:endParaRPr>
          </a:p>
          <a:p>
            <a:pPr algn="ctr"/>
            <a:r>
              <a:rPr lang="en-US" altLang="ko-KR" sz="600" b="1" dirty="0" smtClean="0">
                <a:latin typeface="+mn-ea"/>
                <a:ea typeface="+mn-ea"/>
              </a:rPr>
              <a:t>T_SHOP_STOCK</a:t>
            </a:r>
            <a:endParaRPr lang="ko-KR" altLang="en-US" sz="600" b="1" dirty="0">
              <a:latin typeface="+mn-ea"/>
              <a:ea typeface="+mn-ea"/>
            </a:endParaRPr>
          </a:p>
        </p:txBody>
      </p:sp>
      <p:sp>
        <p:nvSpPr>
          <p:cNvPr id="130" name="AutoShape 86"/>
          <p:cNvSpPr>
            <a:spLocks noChangeArrowheads="1"/>
          </p:cNvSpPr>
          <p:nvPr/>
        </p:nvSpPr>
        <p:spPr bwMode="auto">
          <a:xfrm>
            <a:off x="6479329" y="528051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제품월수불</a:t>
            </a:r>
            <a:endParaRPr lang="en-US" altLang="ko-KR" sz="600" b="1" dirty="0" smtClean="0">
              <a:latin typeface="+mn-ea"/>
              <a:ea typeface="+mn-ea"/>
            </a:endParaRPr>
          </a:p>
          <a:p>
            <a:pPr algn="ctr"/>
            <a:r>
              <a:rPr lang="en-US" altLang="ko-KR" sz="600" b="1" dirty="0" smtClean="0">
                <a:latin typeface="+mn-ea"/>
                <a:ea typeface="+mn-ea"/>
              </a:rPr>
              <a:t>T_M_RNDS</a:t>
            </a:r>
            <a:endParaRPr lang="ko-KR" altLang="en-US" sz="600" b="1" dirty="0">
              <a:latin typeface="+mn-ea"/>
              <a:ea typeface="+mn-ea"/>
            </a:endParaRPr>
          </a:p>
        </p:txBody>
      </p:sp>
      <p:sp>
        <p:nvSpPr>
          <p:cNvPr id="131" name="TextBox 94"/>
          <p:cNvSpPr txBox="1">
            <a:spLocks noChangeArrowheads="1"/>
          </p:cNvSpPr>
          <p:nvPr/>
        </p:nvSpPr>
        <p:spPr bwMode="auto">
          <a:xfrm>
            <a:off x="5566500" y="4993486"/>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b="1" dirty="0" smtClean="0">
                <a:latin typeface="+mn-ea"/>
                <a:ea typeface="+mn-ea"/>
              </a:rPr>
              <a:t>패션</a:t>
            </a:r>
            <a:r>
              <a:rPr lang="en-US" altLang="ko-KR" sz="800" b="1" dirty="0" smtClean="0">
                <a:latin typeface="+mn-ea"/>
                <a:ea typeface="+mn-ea"/>
              </a:rPr>
              <a:t>ERP </a:t>
            </a:r>
            <a:r>
              <a:rPr lang="ko-KR" altLang="en-US" sz="800" b="1" dirty="0" smtClean="0">
                <a:latin typeface="+mn-ea"/>
                <a:ea typeface="+mn-ea"/>
              </a:rPr>
              <a:t>야간배치 갱신</a:t>
            </a:r>
            <a:endParaRPr lang="ko-KR" altLang="en-US" sz="800" b="1" dirty="0">
              <a:latin typeface="+mn-ea"/>
              <a:ea typeface="+mn-ea"/>
            </a:endParaRPr>
          </a:p>
        </p:txBody>
      </p:sp>
      <p:cxnSp>
        <p:nvCxnSpPr>
          <p:cNvPr id="132" name="AutoShape 67"/>
          <p:cNvCxnSpPr>
            <a:cxnSpLocks noChangeShapeType="1"/>
            <a:stCxn id="96" idx="3"/>
            <a:endCxn id="129" idx="3"/>
          </p:cNvCxnSpPr>
          <p:nvPr/>
        </p:nvCxnSpPr>
        <p:spPr bwMode="gray">
          <a:xfrm rot="5400000" flipH="1" flipV="1">
            <a:off x="4767963" y="4990736"/>
            <a:ext cx="226017" cy="1781082"/>
          </a:xfrm>
          <a:prstGeom prst="bentConnector3">
            <a:avLst>
              <a:gd name="adj1" fmla="val -101143"/>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 name="AutoShape 67"/>
          <p:cNvCxnSpPr>
            <a:cxnSpLocks noChangeShapeType="1"/>
            <a:stCxn id="96" idx="3"/>
            <a:endCxn id="130" idx="3"/>
          </p:cNvCxnSpPr>
          <p:nvPr/>
        </p:nvCxnSpPr>
        <p:spPr bwMode="gray">
          <a:xfrm rot="5400000" flipH="1" flipV="1">
            <a:off x="5263555" y="4495143"/>
            <a:ext cx="226017" cy="2772267"/>
          </a:xfrm>
          <a:prstGeom prst="bentConnector3">
            <a:avLst>
              <a:gd name="adj1" fmla="val -101143"/>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AutoShape 67"/>
          <p:cNvCxnSpPr>
            <a:cxnSpLocks noChangeShapeType="1"/>
            <a:stCxn id="73" idx="3"/>
            <a:endCxn id="129" idx="1"/>
          </p:cNvCxnSpPr>
          <p:nvPr/>
        </p:nvCxnSpPr>
        <p:spPr bwMode="gray">
          <a:xfrm rot="5400000">
            <a:off x="5264319" y="3894978"/>
            <a:ext cx="1892726" cy="878338"/>
          </a:xfrm>
          <a:prstGeom prst="bentConnector3">
            <a:avLst>
              <a:gd name="adj1" fmla="val 64585"/>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AutoShape 67"/>
          <p:cNvCxnSpPr>
            <a:cxnSpLocks noChangeShapeType="1"/>
            <a:stCxn id="73" idx="3"/>
            <a:endCxn id="130" idx="1"/>
          </p:cNvCxnSpPr>
          <p:nvPr/>
        </p:nvCxnSpPr>
        <p:spPr bwMode="gray">
          <a:xfrm rot="16200000" flipH="1">
            <a:off x="5759911" y="4277723"/>
            <a:ext cx="1892726" cy="112847"/>
          </a:xfrm>
          <a:prstGeom prst="bentConnector3">
            <a:avLst>
              <a:gd name="adj1" fmla="val 64585"/>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TextBox 94"/>
          <p:cNvSpPr txBox="1">
            <a:spLocks noChangeArrowheads="1"/>
          </p:cNvSpPr>
          <p:nvPr/>
        </p:nvSpPr>
        <p:spPr bwMode="auto">
          <a:xfrm>
            <a:off x="1925184" y="6008905"/>
            <a:ext cx="796902" cy="363176"/>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결재구분 </a:t>
            </a:r>
            <a:r>
              <a:rPr lang="en-US" altLang="ko-KR" sz="800" dirty="0" smtClean="0">
                <a:latin typeface="+mn-ea"/>
                <a:ea typeface="+mn-ea"/>
              </a:rPr>
              <a:t>:</a:t>
            </a:r>
          </a:p>
          <a:p>
            <a:pPr>
              <a:spcBef>
                <a:spcPct val="20000"/>
              </a:spcBef>
              <a:buClr>
                <a:srgbClr val="003366"/>
              </a:buClr>
            </a:pPr>
            <a:r>
              <a:rPr lang="ko-KR" altLang="en-US" sz="800" dirty="0" smtClean="0">
                <a:latin typeface="+mn-ea"/>
                <a:ea typeface="+mn-ea"/>
              </a:rPr>
              <a:t>현금</a:t>
            </a:r>
            <a:r>
              <a:rPr lang="en-US" altLang="ko-KR" sz="800" dirty="0" smtClean="0">
                <a:latin typeface="+mn-ea"/>
                <a:ea typeface="+mn-ea"/>
              </a:rPr>
              <a:t>(</a:t>
            </a:r>
            <a:r>
              <a:rPr lang="ko-KR" altLang="en-US" sz="800" dirty="0" err="1" smtClean="0">
                <a:latin typeface="+mn-ea"/>
                <a:ea typeface="+mn-ea"/>
              </a:rPr>
              <a:t>비승인</a:t>
            </a:r>
            <a:r>
              <a:rPr lang="en-US" altLang="ko-KR" sz="800" dirty="0" smtClean="0">
                <a:latin typeface="+mn-ea"/>
                <a:ea typeface="+mn-ea"/>
              </a:rPr>
              <a:t>)</a:t>
            </a:r>
            <a:endParaRPr lang="ko-KR" altLang="en-US" sz="800" dirty="0">
              <a:latin typeface="+mn-ea"/>
              <a:ea typeface="+mn-ea"/>
            </a:endParaRPr>
          </a:p>
        </p:txBody>
      </p:sp>
    </p:spTree>
    <p:extLst>
      <p:ext uri="{BB962C8B-B14F-4D97-AF65-F5344CB8AC3E}">
        <p14:creationId xmlns:p14="http://schemas.microsoft.com/office/powerpoint/2010/main" val="18091868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제목 10"/>
          <p:cNvSpPr>
            <a:spLocks noGrp="1"/>
          </p:cNvSpPr>
          <p:nvPr>
            <p:ph type="title"/>
          </p:nvPr>
        </p:nvSpPr>
        <p:spPr/>
        <p:txBody>
          <a:bodyPr/>
          <a:lstStyle/>
          <a:p>
            <a:r>
              <a:rPr lang="en-US" altLang="ko-KR" dirty="0">
                <a:latin typeface="+mn-ea"/>
                <a:ea typeface="+mn-ea"/>
              </a:rPr>
              <a:t>6</a:t>
            </a:r>
            <a:r>
              <a:rPr lang="en-US" altLang="ko-KR" dirty="0" smtClean="0">
                <a:latin typeface="+mn-ea"/>
                <a:ea typeface="+mn-ea"/>
              </a:rPr>
              <a:t>. </a:t>
            </a:r>
            <a:r>
              <a:rPr lang="ko-KR" altLang="en-US" dirty="0" smtClean="0">
                <a:latin typeface="+mn-ea"/>
                <a:ea typeface="+mn-ea"/>
              </a:rPr>
              <a:t>외부 몰 정산</a:t>
            </a:r>
            <a:endParaRPr lang="ko-KR" altLang="en-US" sz="1400" dirty="0">
              <a:latin typeface="+mn-ea"/>
              <a:ea typeface="+mn-ea"/>
            </a:endParaRPr>
          </a:p>
        </p:txBody>
      </p:sp>
      <p:sp>
        <p:nvSpPr>
          <p:cNvPr id="42" name="TextBox 39"/>
          <p:cNvSpPr txBox="1">
            <a:spLocks noChangeArrowheads="1"/>
          </p:cNvSpPr>
          <p:nvPr/>
        </p:nvSpPr>
        <p:spPr bwMode="auto">
          <a:xfrm>
            <a:off x="218855" y="738114"/>
            <a:ext cx="9594685" cy="304699"/>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smtClean="0">
                <a:latin typeface="+mn-ea"/>
                <a:ea typeface="+mn-ea"/>
              </a:rPr>
              <a:t> 외부 몰 판매에 대한 정산 처리</a:t>
            </a:r>
            <a:r>
              <a:rPr kumimoji="0" lang="en-US" altLang="ko-KR" sz="1200" b="1" dirty="0" smtClean="0">
                <a:latin typeface="+mn-ea"/>
                <a:ea typeface="+mn-ea"/>
              </a:rPr>
              <a:t>. </a:t>
            </a:r>
            <a:r>
              <a:rPr kumimoji="0" lang="ko-KR" altLang="en-US" sz="1200" b="1" dirty="0" smtClean="0">
                <a:latin typeface="+mn-ea"/>
                <a:ea typeface="+mn-ea"/>
              </a:rPr>
              <a:t>외부 몰 정산 </a:t>
            </a:r>
            <a:r>
              <a:rPr kumimoji="0" lang="en-US" altLang="ko-KR" sz="1200" b="1" dirty="0" smtClean="0">
                <a:latin typeface="+mn-ea"/>
                <a:ea typeface="+mn-ea"/>
              </a:rPr>
              <a:t>LIST </a:t>
            </a:r>
            <a:r>
              <a:rPr kumimoji="0" lang="ko-KR" altLang="en-US" sz="1200" b="1" dirty="0" smtClean="0">
                <a:latin typeface="+mn-ea"/>
                <a:ea typeface="+mn-ea"/>
              </a:rPr>
              <a:t>수취 후 </a:t>
            </a:r>
            <a:r>
              <a:rPr kumimoji="0" lang="ko-KR" altLang="en-US" sz="1200" b="1" dirty="0" smtClean="0">
                <a:latin typeface="+mn-ea"/>
                <a:ea typeface="+mn-ea"/>
              </a:rPr>
              <a:t>외부 몰 정산 수행</a:t>
            </a:r>
            <a:r>
              <a:rPr kumimoji="0" lang="en-US" altLang="ko-KR" sz="1200" b="1" dirty="0" smtClean="0">
                <a:latin typeface="+mn-ea"/>
                <a:ea typeface="+mn-ea"/>
              </a:rPr>
              <a:t>.</a:t>
            </a:r>
            <a:r>
              <a:rPr kumimoji="0" lang="ko-KR" altLang="en-US" sz="1200" b="1" dirty="0" smtClean="0">
                <a:latin typeface="+mn-ea"/>
                <a:ea typeface="+mn-ea"/>
              </a:rPr>
              <a:t> </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mn-ea"/>
                <a:ea typeface="+mn-ea"/>
              </a:endParaRPr>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latinLnBrk="0" hangingPunct="0">
                <a:lnSpc>
                  <a:spcPct val="140000"/>
                </a:lnSpc>
                <a:buClr>
                  <a:schemeClr val="tx2"/>
                </a:buClr>
                <a:buSzPct val="75000"/>
                <a:buFont typeface="Wingdings" panose="05000000000000000000" pitchFamily="2" charset="2"/>
                <a:buChar char="u"/>
              </a:pPr>
              <a:r>
                <a:rPr kumimoji="0" lang="en-US" altLang="ko-KR" sz="900" b="1" dirty="0" smtClean="0">
                  <a:latin typeface="+mn-ea"/>
                  <a:ea typeface="+mn-ea"/>
                </a:rPr>
                <a:t> </a:t>
              </a:r>
              <a:r>
                <a:rPr kumimoji="0" lang="ko-KR" altLang="en-US" sz="900" b="1" dirty="0">
                  <a:latin typeface="+mn-ea"/>
                  <a:ea typeface="+mn-ea"/>
                </a:rPr>
                <a:t>정의</a:t>
              </a:r>
            </a:p>
            <a:p>
              <a:pPr eaLnBrk="0" latinLnBrk="0" hangingPunct="0">
                <a:lnSpc>
                  <a:spcPct val="140000"/>
                </a:lnSpc>
                <a:buClr>
                  <a:schemeClr val="tx2"/>
                </a:buClr>
                <a:buSzPct val="75000"/>
              </a:pPr>
              <a:r>
                <a:rPr kumimoji="0" lang="ko-KR" altLang="en-US" sz="900" dirty="0" smtClean="0">
                  <a:latin typeface="+mn-ea"/>
                  <a:ea typeface="+mn-ea"/>
                </a:rPr>
                <a:t>외부 몰의 판매에 대한 정산 처리</a:t>
              </a:r>
              <a:r>
                <a:rPr kumimoji="0" lang="en-US" altLang="ko-KR" sz="900" dirty="0" smtClean="0">
                  <a:latin typeface="+mn-ea"/>
                  <a:ea typeface="+mn-ea"/>
                </a:rPr>
                <a:t>.</a:t>
              </a:r>
              <a:endParaRPr kumimoji="0" lang="en-US" altLang="ko-KR" sz="900" dirty="0" smtClean="0">
                <a:latin typeface="+mn-ea"/>
                <a:ea typeface="+mn-ea"/>
              </a:endParaRPr>
            </a:p>
            <a:p>
              <a:pPr eaLnBrk="0" latinLnBrk="0" hangingPunct="0">
                <a:lnSpc>
                  <a:spcPct val="140000"/>
                </a:lnSpc>
                <a:buClr>
                  <a:schemeClr val="tx2"/>
                </a:buClr>
                <a:buSzPct val="75000"/>
              </a:pPr>
              <a:r>
                <a:rPr kumimoji="0" lang="en-US" altLang="ko-KR" sz="900" dirty="0" smtClean="0">
                  <a:latin typeface="+mn-ea"/>
                  <a:ea typeface="+mn-ea"/>
                </a:rPr>
                <a:t>  </a:t>
              </a:r>
              <a:endParaRPr kumimoji="0" lang="ko-KR" altLang="en-US" sz="900" b="1" dirty="0" smtClean="0">
                <a:solidFill>
                  <a:srgbClr val="FF0000"/>
                </a:solidFill>
                <a:latin typeface="+mn-ea"/>
                <a:ea typeface="+mn-ea"/>
              </a:endParaRPr>
            </a:p>
            <a:p>
              <a:pPr marL="85725" indent="-85725" eaLnBrk="0" latinLnBrk="0" hangingPunct="0">
                <a:lnSpc>
                  <a:spcPct val="140000"/>
                </a:lnSpc>
                <a:buClr>
                  <a:schemeClr val="tx2"/>
                </a:buClr>
                <a:buSzPct val="75000"/>
                <a:buFont typeface="Wingdings" panose="05000000000000000000" pitchFamily="2" charset="2"/>
                <a:buChar char="u"/>
              </a:pPr>
              <a:r>
                <a:rPr kumimoji="0" lang="ko-KR" altLang="en-US" sz="900" b="1" dirty="0" smtClean="0">
                  <a:latin typeface="+mn-ea"/>
                  <a:ea typeface="+mn-ea"/>
                </a:rPr>
                <a:t> 선행 프로세스</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smtClean="0">
                  <a:latin typeface="+mn-ea"/>
                  <a:ea typeface="+mn-ea"/>
                </a:rPr>
                <a:t>외부 </a:t>
              </a:r>
              <a:r>
                <a:rPr kumimoji="0" lang="ko-KR" altLang="en-US" sz="900" dirty="0" smtClean="0">
                  <a:latin typeface="+mn-ea"/>
                  <a:ea typeface="+mn-ea"/>
                </a:rPr>
                <a:t>몰 판매</a:t>
              </a:r>
              <a:r>
                <a:rPr kumimoji="0" lang="en-US" altLang="ko-KR" sz="900" dirty="0" smtClean="0">
                  <a:latin typeface="+mn-ea"/>
                  <a:ea typeface="+mn-ea"/>
                </a:rPr>
                <a:t> </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smtClean="0">
                  <a:latin typeface="+mn-ea"/>
                  <a:ea typeface="+mn-ea"/>
                </a:rPr>
                <a:t>2. </a:t>
              </a:r>
              <a:r>
                <a:rPr kumimoji="0" lang="ko-KR" altLang="en-US" sz="900" dirty="0" smtClean="0">
                  <a:latin typeface="+mn-ea"/>
                  <a:ea typeface="+mn-ea"/>
                </a:rPr>
                <a:t>외부 몰 정산 </a:t>
              </a:r>
              <a:r>
                <a:rPr kumimoji="0" lang="en-US" altLang="ko-KR" sz="900" dirty="0" smtClean="0">
                  <a:latin typeface="+mn-ea"/>
                  <a:ea typeface="+mn-ea"/>
                </a:rPr>
                <a:t>LIST </a:t>
              </a:r>
              <a:r>
                <a:rPr kumimoji="0" lang="ko-KR" altLang="en-US" sz="900" dirty="0" smtClean="0">
                  <a:latin typeface="+mn-ea"/>
                  <a:ea typeface="+mn-ea"/>
                </a:rPr>
                <a:t>수취 </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등록</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a:latin typeface="+mn-ea"/>
                  <a:ea typeface="+mn-ea"/>
                  <a:sym typeface="Wingdings" panose="05000000000000000000" pitchFamily="2" charset="2"/>
                </a:rPr>
                <a:t> BO</a:t>
              </a:r>
              <a:r>
                <a:rPr kumimoji="0" lang="ko-KR" altLang="en-US" sz="900" dirty="0">
                  <a:latin typeface="+mn-ea"/>
                  <a:ea typeface="+mn-ea"/>
                  <a:sym typeface="Wingdings" panose="05000000000000000000" pitchFamily="2" charset="2"/>
                </a:rPr>
                <a:t>에서 </a:t>
              </a:r>
              <a:r>
                <a:rPr kumimoji="0" lang="ko-KR" altLang="en-US" sz="900" dirty="0" err="1">
                  <a:latin typeface="+mn-ea"/>
                  <a:ea typeface="+mn-ea"/>
                  <a:sym typeface="Wingdings" panose="05000000000000000000" pitchFamily="2" charset="2"/>
                </a:rPr>
                <a:t>주문매칭</a:t>
              </a:r>
              <a:r>
                <a:rPr kumimoji="0" lang="ko-KR" altLang="en-US" sz="900" dirty="0">
                  <a:latin typeface="+mn-ea"/>
                  <a:ea typeface="+mn-ea"/>
                  <a:sym typeface="Wingdings" panose="05000000000000000000" pitchFamily="2" charset="2"/>
                </a:rPr>
                <a:t> 진행</a:t>
              </a:r>
            </a:p>
            <a:p>
              <a:pPr eaLnBrk="0" latinLnBrk="0" hangingPunct="0">
                <a:lnSpc>
                  <a:spcPct val="140000"/>
                </a:lnSpc>
                <a:buClr>
                  <a:schemeClr val="tx2"/>
                </a:buClr>
                <a:buSzPct val="75000"/>
              </a:pPr>
              <a:r>
                <a:rPr kumimoji="0" lang="en-US" altLang="ko-KR" sz="900" dirty="0">
                  <a:latin typeface="+mn-ea"/>
                  <a:ea typeface="+mn-ea"/>
                  <a:sym typeface="Wingdings" panose="05000000000000000000" pitchFamily="2" charset="2"/>
                </a:rPr>
                <a:t>-&gt; </a:t>
              </a:r>
              <a:r>
                <a:rPr kumimoji="0" lang="ko-KR" altLang="en-US" sz="900" dirty="0" err="1">
                  <a:latin typeface="+mn-ea"/>
                  <a:ea typeface="+mn-ea"/>
                  <a:sym typeface="Wingdings" panose="05000000000000000000" pitchFamily="2" charset="2"/>
                </a:rPr>
                <a:t>매칭</a:t>
              </a:r>
              <a:r>
                <a:rPr kumimoji="0" lang="ko-KR" altLang="en-US" sz="900" dirty="0">
                  <a:latin typeface="+mn-ea"/>
                  <a:ea typeface="+mn-ea"/>
                  <a:sym typeface="Wingdings" panose="05000000000000000000" pitchFamily="2" charset="2"/>
                </a:rPr>
                <a:t> </a:t>
              </a:r>
              <a:r>
                <a:rPr kumimoji="0" lang="en-US" altLang="ko-KR" sz="900" dirty="0">
                  <a:latin typeface="+mn-ea"/>
                  <a:ea typeface="+mn-ea"/>
                  <a:sym typeface="Wingdings" panose="05000000000000000000" pitchFamily="2" charset="2"/>
                </a:rPr>
                <a:t>(SS10. T_GWM_IF_STLM_BASE)</a:t>
              </a:r>
            </a:p>
            <a:p>
              <a:pPr eaLnBrk="0" latinLnBrk="0" hangingPunct="0">
                <a:lnSpc>
                  <a:spcPct val="140000"/>
                </a:lnSpc>
                <a:buClr>
                  <a:schemeClr val="tx2"/>
                </a:buClr>
                <a:buSzPct val="75000"/>
              </a:pPr>
              <a:r>
                <a:rPr kumimoji="0" lang="en-US" altLang="ko-KR" sz="900" dirty="0">
                  <a:latin typeface="+mn-ea"/>
                  <a:ea typeface="+mn-ea"/>
                  <a:sym typeface="Wingdings" panose="05000000000000000000" pitchFamily="2" charset="2"/>
                </a:rPr>
                <a:t>-&gt; </a:t>
              </a:r>
              <a:r>
                <a:rPr kumimoji="0" lang="ko-KR" altLang="en-US" sz="900" dirty="0" err="1">
                  <a:latin typeface="+mn-ea"/>
                  <a:ea typeface="+mn-ea"/>
                  <a:sym typeface="Wingdings" panose="05000000000000000000" pitchFamily="2" charset="2"/>
                </a:rPr>
                <a:t>미매칭</a:t>
              </a:r>
              <a:r>
                <a:rPr kumimoji="0" lang="ko-KR" altLang="en-US" sz="900" dirty="0">
                  <a:latin typeface="+mn-ea"/>
                  <a:ea typeface="+mn-ea"/>
                  <a:sym typeface="Wingdings" panose="05000000000000000000" pitchFamily="2" charset="2"/>
                </a:rPr>
                <a:t> </a:t>
              </a:r>
              <a:r>
                <a:rPr kumimoji="0" lang="en-US" altLang="ko-KR" sz="900" dirty="0">
                  <a:latin typeface="+mn-ea"/>
                  <a:ea typeface="+mn-ea"/>
                  <a:sym typeface="Wingdings" panose="05000000000000000000" pitchFamily="2" charset="2"/>
                </a:rPr>
                <a:t>(SS10.T_GWM_IF_STLM_BASE_MISS)</a:t>
              </a:r>
            </a:p>
            <a:p>
              <a:pPr eaLnBrk="0" latinLnBrk="0" hangingPunct="0">
                <a:lnSpc>
                  <a:spcPct val="140000"/>
                </a:lnSpc>
                <a:buClr>
                  <a:schemeClr val="tx2"/>
                </a:buClr>
                <a:buSzPct val="75000"/>
              </a:pP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rPr>
                <a:t> </a:t>
              </a:r>
            </a:p>
            <a:p>
              <a:pPr eaLnBrk="0" latinLnBrk="0" hangingPunct="0">
                <a:lnSpc>
                  <a:spcPct val="140000"/>
                </a:lnSpc>
                <a:buClr>
                  <a:schemeClr val="tx2"/>
                </a:buClr>
                <a:buSzPct val="75000"/>
                <a:buFont typeface="Wingdings" panose="05000000000000000000" pitchFamily="2" charset="2"/>
                <a:buChar char="u"/>
              </a:pPr>
              <a:r>
                <a:rPr kumimoji="0" lang="ko-KR" altLang="en-US" sz="900" dirty="0" smtClean="0">
                  <a:latin typeface="+mn-ea"/>
                  <a:ea typeface="+mn-ea"/>
                </a:rPr>
                <a:t> </a:t>
              </a:r>
              <a:r>
                <a:rPr kumimoji="0" lang="ko-KR" altLang="en-US" sz="900" b="1" dirty="0">
                  <a:latin typeface="+mn-ea"/>
                  <a:ea typeface="+mn-ea"/>
                </a:rPr>
                <a:t>후행 프로세스</a:t>
              </a:r>
            </a:p>
            <a:p>
              <a:pPr eaLnBrk="0" latinLnBrk="0" hangingPunct="0">
                <a:lnSpc>
                  <a:spcPct val="140000"/>
                </a:lnSpc>
                <a:buClr>
                  <a:schemeClr val="tx2"/>
                </a:buClr>
                <a:buSzPct val="75000"/>
              </a:pPr>
              <a:r>
                <a:rPr kumimoji="0" lang="en-US" altLang="ko-KR" sz="900" dirty="0" smtClean="0">
                  <a:latin typeface="+mn-ea"/>
                  <a:ea typeface="+mn-ea"/>
                </a:rPr>
                <a:t>1. </a:t>
              </a:r>
              <a:endParaRPr kumimoji="0" lang="en-US" altLang="ko-KR" sz="900" dirty="0" smtClean="0">
                <a:latin typeface="+mn-ea"/>
                <a:ea typeface="+mn-ea"/>
              </a:endParaRPr>
            </a:p>
            <a:p>
              <a:pPr eaLnBrk="0" latinLnBrk="0" hangingPunct="0">
                <a:lnSpc>
                  <a:spcPct val="140000"/>
                </a:lnSpc>
                <a:buClr>
                  <a:schemeClr val="tx2"/>
                </a:buClr>
                <a:buSzPct val="75000"/>
              </a:pPr>
              <a:endParaRPr kumimoji="0" lang="ko-KR" altLang="en-US" sz="900" dirty="0" smtClean="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smtClean="0">
                  <a:latin typeface="+mn-ea"/>
                  <a:ea typeface="+mn-ea"/>
                </a:rPr>
                <a:t> </a:t>
              </a:r>
              <a:r>
                <a:rPr kumimoji="0" lang="ko-KR" altLang="en-US" sz="900" b="1" dirty="0" smtClean="0">
                  <a:latin typeface="+mn-ea"/>
                  <a:ea typeface="+mn-ea"/>
                </a:rPr>
                <a:t>비즈니스 업무정책</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smtClean="0">
                  <a:latin typeface="+mn-ea"/>
                  <a:ea typeface="+mn-ea"/>
                </a:rPr>
                <a:t>외부 몰 정산은 정산서 업로드 </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주문번호 </a:t>
              </a:r>
              <a:r>
                <a:rPr kumimoji="0" lang="ko-KR" altLang="en-US" sz="900" dirty="0" err="1" smtClean="0">
                  <a:latin typeface="+mn-ea"/>
                  <a:ea typeface="+mn-ea"/>
                  <a:sym typeface="Wingdings" panose="05000000000000000000" pitchFamily="2" charset="2"/>
                </a:rPr>
                <a:t>매칭</a:t>
              </a:r>
              <a:r>
                <a:rPr kumimoji="0" lang="ko-KR" altLang="en-US" sz="900" dirty="0" smtClean="0">
                  <a:latin typeface="+mn-ea"/>
                  <a:ea typeface="+mn-ea"/>
                  <a:sym typeface="Wingdings" panose="05000000000000000000" pitchFamily="2" charset="2"/>
                </a:rPr>
                <a:t> </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정산서 없는 판매 </a:t>
              </a:r>
              <a:r>
                <a:rPr kumimoji="0" lang="ko-KR" altLang="en-US" sz="900" dirty="0" err="1" smtClean="0">
                  <a:latin typeface="+mn-ea"/>
                  <a:ea typeface="+mn-ea"/>
                  <a:sym typeface="Wingdings" panose="05000000000000000000" pitchFamily="2" charset="2"/>
                </a:rPr>
                <a:t>매칭</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이월 판매 </a:t>
              </a:r>
              <a:r>
                <a:rPr kumimoji="0" lang="ko-KR" altLang="en-US" sz="900" dirty="0" err="1" smtClean="0">
                  <a:latin typeface="+mn-ea"/>
                  <a:ea typeface="+mn-ea"/>
                  <a:sym typeface="Wingdings" panose="05000000000000000000" pitchFamily="2" charset="2"/>
                </a:rPr>
                <a:t>매칭</a:t>
              </a:r>
              <a:r>
                <a:rPr kumimoji="0" lang="ko-KR" altLang="en-US" sz="900" dirty="0" smtClean="0">
                  <a:latin typeface="+mn-ea"/>
                  <a:ea typeface="+mn-ea"/>
                  <a:sym typeface="Wingdings" panose="05000000000000000000" pitchFamily="2" charset="2"/>
                </a:rPr>
                <a:t> 처리</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smtClean="0">
                  <a:latin typeface="+mn-ea"/>
                  <a:ea typeface="+mn-ea"/>
                </a:rPr>
                <a:t>2</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정산서와 주문</a:t>
              </a:r>
              <a:r>
                <a:rPr kumimoji="0" lang="en-US" altLang="ko-KR" sz="900" dirty="0" smtClean="0">
                  <a:latin typeface="+mn-ea"/>
                  <a:ea typeface="+mn-ea"/>
                  <a:sym typeface="Wingdings" panose="05000000000000000000" pitchFamily="2" charset="2"/>
                </a:rPr>
                <a:t>(</a:t>
              </a:r>
              <a:r>
                <a:rPr kumimoji="0" lang="ko-KR" altLang="en-US" sz="900" dirty="0" smtClean="0">
                  <a:latin typeface="+mn-ea"/>
                  <a:ea typeface="+mn-ea"/>
                  <a:sym typeface="Wingdings" panose="05000000000000000000" pitchFamily="2" charset="2"/>
                </a:rPr>
                <a:t>판매</a:t>
              </a:r>
              <a:r>
                <a:rPr kumimoji="0" lang="en-US" altLang="ko-KR" sz="900" dirty="0" smtClean="0">
                  <a:latin typeface="+mn-ea"/>
                  <a:ea typeface="+mn-ea"/>
                  <a:sym typeface="Wingdings" panose="05000000000000000000" pitchFamily="2" charset="2"/>
                </a:rPr>
                <a:t>)</a:t>
              </a:r>
              <a:r>
                <a:rPr kumimoji="0" lang="ko-KR" altLang="en-US" sz="900" dirty="0" smtClean="0">
                  <a:latin typeface="+mn-ea"/>
                  <a:ea typeface="+mn-ea"/>
                  <a:sym typeface="Wingdings" panose="05000000000000000000" pitchFamily="2" charset="2"/>
                </a:rPr>
                <a:t>과 </a:t>
              </a:r>
              <a:r>
                <a:rPr kumimoji="0" lang="ko-KR" altLang="en-US" sz="900" dirty="0" err="1" smtClean="0">
                  <a:latin typeface="+mn-ea"/>
                  <a:ea typeface="+mn-ea"/>
                  <a:sym typeface="Wingdings" panose="05000000000000000000" pitchFamily="2" charset="2"/>
                </a:rPr>
                <a:t>매칭시</a:t>
              </a:r>
              <a:r>
                <a:rPr kumimoji="0" lang="ko-KR" altLang="en-US" sz="900" dirty="0" smtClean="0">
                  <a:latin typeface="+mn-ea"/>
                  <a:ea typeface="+mn-ea"/>
                  <a:sym typeface="Wingdings" panose="05000000000000000000" pitchFamily="2" charset="2"/>
                </a:rPr>
                <a:t> 판매금액이 </a:t>
              </a:r>
              <a:r>
                <a:rPr kumimoji="0" lang="ko-KR" altLang="en-US" sz="900" dirty="0" err="1" smtClean="0">
                  <a:latin typeface="+mn-ea"/>
                  <a:ea typeface="+mn-ea"/>
                  <a:sym typeface="Wingdings" panose="05000000000000000000" pitchFamily="2" charset="2"/>
                </a:rPr>
                <a:t>차이시</a:t>
              </a:r>
              <a:r>
                <a:rPr kumimoji="0" lang="ko-KR" altLang="en-US" sz="900" dirty="0" smtClean="0">
                  <a:latin typeface="+mn-ea"/>
                  <a:ea typeface="+mn-ea"/>
                  <a:sym typeface="Wingdings" panose="05000000000000000000" pitchFamily="2" charset="2"/>
                </a:rPr>
                <a:t> 차이 금액을 패션</a:t>
              </a:r>
              <a:r>
                <a:rPr kumimoji="0" lang="en-US" altLang="ko-KR" sz="900" dirty="0" smtClean="0">
                  <a:latin typeface="+mn-ea"/>
                  <a:ea typeface="+mn-ea"/>
                  <a:sym typeface="Wingdings" panose="05000000000000000000" pitchFamily="2" charset="2"/>
                </a:rPr>
                <a:t>EPR</a:t>
              </a:r>
            </a:p>
            <a:p>
              <a:pPr eaLnBrk="0" latinLnBrk="0" hangingPunct="0">
                <a:lnSpc>
                  <a:spcPct val="140000"/>
                </a:lnSpc>
                <a:buClr>
                  <a:schemeClr val="tx2"/>
                </a:buClr>
                <a:buSzPct val="75000"/>
              </a:pPr>
              <a:r>
                <a:rPr kumimoji="0" lang="ko-KR" altLang="en-US" sz="900" dirty="0" smtClean="0">
                  <a:latin typeface="+mn-ea"/>
                  <a:ea typeface="+mn-ea"/>
                  <a:sym typeface="Wingdings" panose="05000000000000000000" pitchFamily="2" charset="2"/>
                </a:rPr>
                <a:t>실적으로 생성 </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smtClean="0">
                  <a:latin typeface="+mn-ea"/>
                  <a:ea typeface="+mn-ea"/>
                  <a:sym typeface="Wingdings" panose="05000000000000000000" pitchFamily="2" charset="2"/>
                </a:rPr>
                <a:t>3. </a:t>
              </a:r>
              <a:r>
                <a:rPr kumimoji="0" lang="ko-KR" altLang="en-US" sz="900" dirty="0" smtClean="0">
                  <a:latin typeface="+mn-ea"/>
                  <a:ea typeface="+mn-ea"/>
                  <a:sym typeface="Wingdings" panose="05000000000000000000" pitchFamily="2" charset="2"/>
                </a:rPr>
                <a:t>정산서가 없는 주문</a:t>
              </a:r>
              <a:r>
                <a:rPr kumimoji="0" lang="en-US" altLang="ko-KR" sz="900" dirty="0" smtClean="0">
                  <a:latin typeface="+mn-ea"/>
                  <a:ea typeface="+mn-ea"/>
                  <a:sym typeface="Wingdings" panose="05000000000000000000" pitchFamily="2" charset="2"/>
                </a:rPr>
                <a:t>(</a:t>
              </a:r>
              <a:r>
                <a:rPr kumimoji="0" lang="ko-KR" altLang="en-US" sz="900" dirty="0" smtClean="0">
                  <a:latin typeface="+mn-ea"/>
                  <a:ea typeface="+mn-ea"/>
                  <a:sym typeface="Wingdings" panose="05000000000000000000" pitchFamily="2" charset="2"/>
                </a:rPr>
                <a:t>판매</a:t>
              </a:r>
              <a:r>
                <a:rPr kumimoji="0" lang="en-US" altLang="ko-KR" sz="900" dirty="0" smtClean="0">
                  <a:latin typeface="+mn-ea"/>
                  <a:ea typeface="+mn-ea"/>
                  <a:sym typeface="Wingdings" panose="05000000000000000000" pitchFamily="2" charset="2"/>
                </a:rPr>
                <a:t>)</a:t>
              </a:r>
              <a:r>
                <a:rPr kumimoji="0" lang="ko-KR" altLang="en-US" sz="900" dirty="0" smtClean="0">
                  <a:latin typeface="+mn-ea"/>
                  <a:ea typeface="+mn-ea"/>
                  <a:sym typeface="Wingdings" panose="05000000000000000000" pitchFamily="2" charset="2"/>
                </a:rPr>
                <a:t>는 판매점 </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판매반품</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smtClean="0">
                  <a:latin typeface="+mn-ea"/>
                  <a:ea typeface="+mn-ea"/>
                  <a:sym typeface="Wingdings" panose="05000000000000000000" pitchFamily="2" charset="2"/>
                </a:rPr>
                <a:t>4. </a:t>
              </a:r>
              <a:r>
                <a:rPr kumimoji="0" lang="ko-KR" altLang="en-US" sz="900" dirty="0" smtClean="0">
                  <a:latin typeface="+mn-ea"/>
                  <a:ea typeface="+mn-ea"/>
                  <a:sym typeface="Wingdings" panose="05000000000000000000" pitchFamily="2" charset="2"/>
                </a:rPr>
                <a:t>정산서와 이월 판매 </a:t>
              </a:r>
              <a:r>
                <a:rPr kumimoji="0" lang="ko-KR" altLang="en-US" sz="900" dirty="0" err="1" smtClean="0">
                  <a:latin typeface="+mn-ea"/>
                  <a:ea typeface="+mn-ea"/>
                  <a:sym typeface="Wingdings" panose="05000000000000000000" pitchFamily="2" charset="2"/>
                </a:rPr>
                <a:t>매칭</a:t>
              </a:r>
              <a:r>
                <a:rPr kumimoji="0" lang="ko-KR" altLang="en-US" sz="900" dirty="0" err="1" smtClean="0">
                  <a:latin typeface="+mn-ea"/>
                  <a:ea typeface="+mn-ea"/>
                  <a:sym typeface="Wingdings" panose="05000000000000000000" pitchFamily="2" charset="2"/>
                </a:rPr>
                <a:t>은</a:t>
              </a:r>
              <a:r>
                <a:rPr kumimoji="0" lang="ko-KR" altLang="en-US" sz="900" dirty="0" smtClean="0">
                  <a:latin typeface="+mn-ea"/>
                  <a:ea typeface="+mn-ea"/>
                  <a:sym typeface="Wingdings" panose="05000000000000000000" pitchFamily="2" charset="2"/>
                </a:rPr>
                <a:t> 판매점 </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판매 실적 생성</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smtClean="0">
                  <a:latin typeface="+mn-ea"/>
                  <a:ea typeface="+mn-ea"/>
                  <a:sym typeface="Wingdings" panose="05000000000000000000" pitchFamily="2" charset="2"/>
                </a:rPr>
                <a:t>5. </a:t>
              </a:r>
              <a:r>
                <a:rPr kumimoji="0" lang="ko-KR" altLang="en-US" sz="900" dirty="0">
                  <a:latin typeface="+mn-ea"/>
                  <a:ea typeface="+mn-ea"/>
                  <a:sym typeface="Wingdings" panose="05000000000000000000" pitchFamily="2" charset="2"/>
                </a:rPr>
                <a:t>주문</a:t>
              </a:r>
              <a:r>
                <a:rPr kumimoji="0" lang="en-US" altLang="ko-KR" sz="900" dirty="0">
                  <a:latin typeface="+mn-ea"/>
                  <a:ea typeface="+mn-ea"/>
                  <a:sym typeface="Wingdings" panose="05000000000000000000" pitchFamily="2" charset="2"/>
                </a:rPr>
                <a:t>(</a:t>
              </a:r>
              <a:r>
                <a:rPr kumimoji="0" lang="ko-KR" altLang="en-US" sz="900" dirty="0">
                  <a:latin typeface="+mn-ea"/>
                  <a:ea typeface="+mn-ea"/>
                  <a:sym typeface="Wingdings" panose="05000000000000000000" pitchFamily="2" charset="2"/>
                </a:rPr>
                <a:t>판매</a:t>
              </a:r>
              <a:r>
                <a:rPr kumimoji="0" lang="en-US" altLang="ko-KR" sz="900" dirty="0">
                  <a:latin typeface="+mn-ea"/>
                  <a:ea typeface="+mn-ea"/>
                  <a:sym typeface="Wingdings" panose="05000000000000000000" pitchFamily="2" charset="2"/>
                </a:rPr>
                <a:t>)</a:t>
              </a:r>
              <a:r>
                <a:rPr kumimoji="0" lang="ko-KR" altLang="en-US" sz="900" dirty="0" smtClean="0">
                  <a:latin typeface="+mn-ea"/>
                  <a:ea typeface="+mn-ea"/>
                  <a:sym typeface="Wingdings" panose="05000000000000000000" pitchFamily="2" charset="2"/>
                </a:rPr>
                <a:t> 미 </a:t>
              </a:r>
              <a:r>
                <a:rPr kumimoji="0" lang="ko-KR" altLang="en-US" sz="900" dirty="0" err="1" smtClean="0">
                  <a:latin typeface="+mn-ea"/>
                  <a:ea typeface="+mn-ea"/>
                  <a:sym typeface="Wingdings" panose="05000000000000000000" pitchFamily="2" charset="2"/>
                </a:rPr>
                <a:t>매칭</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정산서 포함 </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a:latin typeface="+mn-ea"/>
                  <a:ea typeface="+mn-ea"/>
                  <a:sym typeface="Wingdings" panose="05000000000000000000" pitchFamily="2" charset="2"/>
                </a:rPr>
                <a:t> </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sym typeface="Wingdings" panose="05000000000000000000" pitchFamily="2" charset="2"/>
                </a:rPr>
                <a:t>판매점 </a:t>
              </a:r>
              <a:r>
                <a:rPr kumimoji="0" lang="en-US" altLang="ko-KR" sz="900" dirty="0" smtClean="0">
                  <a:latin typeface="+mn-ea"/>
                  <a:ea typeface="+mn-ea"/>
                  <a:sym typeface="Wingdings" panose="05000000000000000000" pitchFamily="2" charset="2"/>
                </a:rPr>
                <a:t> </a:t>
              </a:r>
              <a:r>
                <a:rPr kumimoji="0" lang="ko-KR" altLang="en-US" sz="900" dirty="0" err="1" smtClean="0">
                  <a:latin typeface="+mn-ea"/>
                  <a:ea typeface="+mn-ea"/>
                  <a:sym typeface="Wingdings" panose="05000000000000000000" pitchFamily="2" charset="2"/>
                </a:rPr>
                <a:t>가품번</a:t>
              </a:r>
              <a:r>
                <a:rPr kumimoji="0" lang="ko-KR" altLang="en-US" sz="900" dirty="0" smtClean="0">
                  <a:latin typeface="+mn-ea"/>
                  <a:ea typeface="+mn-ea"/>
                  <a:sym typeface="Wingdings" panose="05000000000000000000" pitchFamily="2" charset="2"/>
                </a:rPr>
                <a:t> 판매 실적 생성</a:t>
              </a:r>
              <a:endParaRPr kumimoji="0" lang="ko-KR" altLang="en-US" sz="900" dirty="0">
                <a:latin typeface="+mn-ea"/>
                <a:ea typeface="+mn-ea"/>
              </a:endParaRPr>
            </a:p>
            <a:p>
              <a:pPr algn="l" eaLnBrk="0" latinLnBrk="0" hangingPunct="0">
                <a:lnSpc>
                  <a:spcPct val="110000"/>
                </a:lnSpc>
                <a:buClr>
                  <a:schemeClr val="tx2"/>
                </a:buClr>
                <a:buSzPct val="75000"/>
                <a:buFont typeface="Wingdings" panose="05000000000000000000" pitchFamily="2" charset="2"/>
                <a:buNone/>
              </a:pPr>
              <a:r>
                <a:rPr kumimoji="0" lang="en-US" altLang="ko-KR" sz="900" dirty="0" smtClean="0">
                  <a:latin typeface="+mn-ea"/>
                  <a:ea typeface="+mn-ea"/>
                </a:rPr>
                <a:t> </a:t>
              </a:r>
              <a:endParaRPr kumimoji="0" lang="en-US" altLang="ko-KR" sz="900" dirty="0">
                <a:latin typeface="+mn-ea"/>
                <a:ea typeface="+mn-ea"/>
              </a:endParaRPr>
            </a:p>
          </p:txBody>
        </p:sp>
      </p:grpSp>
      <p:sp>
        <p:nvSpPr>
          <p:cNvPr id="54" name="Line 50"/>
          <p:cNvSpPr>
            <a:spLocks noChangeShapeType="1"/>
          </p:cNvSpPr>
          <p:nvPr/>
        </p:nvSpPr>
        <p:spPr bwMode="gray">
          <a:xfrm>
            <a:off x="2955090" y="1709725"/>
            <a:ext cx="1344793" cy="0"/>
          </a:xfrm>
          <a:prstGeom prst="line">
            <a:avLst/>
          </a:prstGeom>
          <a:noFill/>
          <a:ln w="9525">
            <a:solidFill>
              <a:srgbClr val="C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sz="800">
              <a:latin typeface="+mn-ea"/>
              <a:ea typeface="+mn-ea"/>
            </a:endParaRPr>
          </a:p>
        </p:txBody>
      </p:sp>
      <p:sp>
        <p:nvSpPr>
          <p:cNvPr id="55" name="Rectangle 51"/>
          <p:cNvSpPr>
            <a:spLocks noChangeArrowheads="1"/>
          </p:cNvSpPr>
          <p:nvPr/>
        </p:nvSpPr>
        <p:spPr bwMode="gray">
          <a:xfrm>
            <a:off x="1753352" y="1583450"/>
            <a:ext cx="1201738"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i="1" dirty="0" err="1" smtClean="0">
                <a:latin typeface="+mn-ea"/>
                <a:ea typeface="+mn-ea"/>
              </a:rPr>
              <a:t>제휴몰정산</a:t>
            </a:r>
            <a:endParaRPr lang="ko-KR" altLang="en-US" sz="800" b="1" i="1" dirty="0">
              <a:latin typeface="+mn-ea"/>
              <a:ea typeface="+mn-ea"/>
            </a:endParaRPr>
          </a:p>
        </p:txBody>
      </p:sp>
      <p:sp>
        <p:nvSpPr>
          <p:cNvPr id="66" name="AutoShape 79"/>
          <p:cNvSpPr>
            <a:spLocks noChangeArrowheads="1"/>
          </p:cNvSpPr>
          <p:nvPr/>
        </p:nvSpPr>
        <p:spPr bwMode="auto">
          <a:xfrm>
            <a:off x="4296422" y="1539069"/>
            <a:ext cx="996950" cy="341312"/>
          </a:xfrm>
          <a:prstGeom prst="flowChartTerminator">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800" dirty="0" err="1" smtClean="0">
                <a:latin typeface="+mn-ea"/>
                <a:ea typeface="+mn-ea"/>
              </a:rPr>
              <a:t>제휴몰정산</a:t>
            </a:r>
            <a:r>
              <a:rPr lang="ko-KR" altLang="en-US" sz="800" dirty="0" smtClean="0">
                <a:latin typeface="+mn-ea"/>
                <a:ea typeface="+mn-ea"/>
              </a:rPr>
              <a:t> 시작</a:t>
            </a:r>
            <a:endParaRPr lang="ko-KR" altLang="en-US" sz="800" dirty="0">
              <a:latin typeface="+mn-ea"/>
              <a:ea typeface="+mn-ea"/>
            </a:endParaRPr>
          </a:p>
        </p:txBody>
      </p:sp>
      <p:cxnSp>
        <p:nvCxnSpPr>
          <p:cNvPr id="72" name="AutoShape 67"/>
          <p:cNvCxnSpPr>
            <a:cxnSpLocks noChangeShapeType="1"/>
            <a:stCxn id="66" idx="2"/>
            <a:endCxn id="74" idx="0"/>
          </p:cNvCxnSpPr>
          <p:nvPr/>
        </p:nvCxnSpPr>
        <p:spPr bwMode="gray">
          <a:xfrm>
            <a:off x="4794897" y="1880381"/>
            <a:ext cx="0" cy="240633"/>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TextBox 94"/>
          <p:cNvSpPr txBox="1">
            <a:spLocks noChangeArrowheads="1"/>
          </p:cNvSpPr>
          <p:nvPr/>
        </p:nvSpPr>
        <p:spPr bwMode="auto">
          <a:xfrm>
            <a:off x="4145037" y="1313336"/>
            <a:ext cx="141688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SP_ONLINE_STLM_BASE</a:t>
            </a:r>
            <a:endParaRPr lang="ko-KR" altLang="en-US" sz="800" b="1" dirty="0">
              <a:latin typeface="+mn-ea"/>
              <a:ea typeface="+mn-ea"/>
            </a:endParaRPr>
          </a:p>
        </p:txBody>
      </p:sp>
      <p:sp>
        <p:nvSpPr>
          <p:cNvPr id="53" name="Rectangle 2"/>
          <p:cNvSpPr>
            <a:spLocks noChangeArrowheads="1"/>
          </p:cNvSpPr>
          <p:nvPr/>
        </p:nvSpPr>
        <p:spPr bwMode="gray">
          <a:xfrm>
            <a:off x="437869" y="2438890"/>
            <a:ext cx="2204526" cy="657751"/>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a:latin typeface="+mn-ea"/>
              <a:ea typeface="+mn-ea"/>
            </a:endParaRPr>
          </a:p>
        </p:txBody>
      </p:sp>
      <p:sp>
        <p:nvSpPr>
          <p:cNvPr id="50" name="AutoShape 86"/>
          <p:cNvSpPr>
            <a:spLocks noChangeArrowheads="1"/>
          </p:cNvSpPr>
          <p:nvPr/>
        </p:nvSpPr>
        <p:spPr bwMode="auto">
          <a:xfrm>
            <a:off x="1866290" y="2512398"/>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온라인정산진행체크</a:t>
            </a:r>
            <a:endParaRPr lang="en-US" altLang="ko-KR" sz="600" b="1" dirty="0" smtClean="0">
              <a:latin typeface="+mn-ea"/>
              <a:ea typeface="+mn-ea"/>
            </a:endParaRPr>
          </a:p>
          <a:p>
            <a:pPr algn="ctr"/>
            <a:r>
              <a:rPr lang="en-US" altLang="ko-KR" sz="600" b="1" dirty="0" smtClean="0">
                <a:latin typeface="+mn-ea"/>
                <a:ea typeface="+mn-ea"/>
              </a:rPr>
              <a:t>T_ONLINE_STLM_CHECK</a:t>
            </a:r>
            <a:endParaRPr lang="ko-KR" altLang="en-US" sz="600" b="1" dirty="0">
              <a:latin typeface="+mn-ea"/>
              <a:ea typeface="+mn-ea"/>
            </a:endParaRPr>
          </a:p>
        </p:txBody>
      </p:sp>
      <p:sp>
        <p:nvSpPr>
          <p:cNvPr id="52" name="AutoShape 86"/>
          <p:cNvSpPr>
            <a:spLocks noChangeArrowheads="1"/>
          </p:cNvSpPr>
          <p:nvPr/>
        </p:nvSpPr>
        <p:spPr bwMode="auto">
          <a:xfrm>
            <a:off x="683650" y="249906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sp>
        <p:nvSpPr>
          <p:cNvPr id="74" name="AutoShape 73"/>
          <p:cNvSpPr>
            <a:spLocks noChangeArrowheads="1"/>
          </p:cNvSpPr>
          <p:nvPr/>
        </p:nvSpPr>
        <p:spPr bwMode="auto">
          <a:xfrm>
            <a:off x="4233523" y="2121014"/>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마감</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cxnSp>
        <p:nvCxnSpPr>
          <p:cNvPr id="88" name="AutoShape 67"/>
          <p:cNvCxnSpPr>
            <a:cxnSpLocks noChangeShapeType="1"/>
            <a:stCxn id="74" idx="2"/>
            <a:endCxn id="65" idx="0"/>
          </p:cNvCxnSpPr>
          <p:nvPr/>
        </p:nvCxnSpPr>
        <p:spPr bwMode="gray">
          <a:xfrm>
            <a:off x="4794897" y="2595676"/>
            <a:ext cx="6109" cy="220246"/>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Text Box 82"/>
          <p:cNvSpPr txBox="1">
            <a:spLocks noChangeArrowheads="1"/>
          </p:cNvSpPr>
          <p:nvPr/>
        </p:nvSpPr>
        <p:spPr bwMode="gray">
          <a:xfrm>
            <a:off x="5165535" y="2123855"/>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5" name="타원 4"/>
          <p:cNvSpPr/>
          <p:nvPr/>
        </p:nvSpPr>
        <p:spPr>
          <a:xfrm>
            <a:off x="5635266" y="2191087"/>
            <a:ext cx="352849" cy="338735"/>
          </a:xfrm>
          <a:prstGeom prst="ellipse">
            <a:avLst/>
          </a:prstGeom>
          <a:noFill/>
          <a:ln>
            <a:solidFill>
              <a:schemeClr val="tx1"/>
            </a:solidFill>
          </a:ln>
        </p:spPr>
        <p:txBody>
          <a:bodyPr wrap="none" lIns="0" rIns="0" rtlCol="0" anchor="ctr">
            <a:noAutofit/>
          </a:bodyPr>
          <a:lstStyle/>
          <a:p>
            <a:pPr marL="268288" indent="-215900" algn="ctr">
              <a:spcBef>
                <a:spcPct val="20000"/>
              </a:spcBef>
              <a:buClr>
                <a:srgbClr val="FFD200"/>
              </a:buClr>
              <a:buSzPct val="75000"/>
            </a:pPr>
            <a:r>
              <a:rPr lang="ko-KR" altLang="en-US" sz="800" kern="0" dirty="0" smtClean="0">
                <a:latin typeface="+mn-ea"/>
                <a:ea typeface="+mn-ea"/>
              </a:rPr>
              <a:t>종료</a:t>
            </a:r>
          </a:p>
        </p:txBody>
      </p:sp>
      <p:cxnSp>
        <p:nvCxnSpPr>
          <p:cNvPr id="60" name="AutoShape 67"/>
          <p:cNvCxnSpPr>
            <a:cxnSpLocks noChangeShapeType="1"/>
            <a:stCxn id="74" idx="3"/>
            <a:endCxn id="5" idx="2"/>
          </p:cNvCxnSpPr>
          <p:nvPr/>
        </p:nvCxnSpPr>
        <p:spPr bwMode="gray">
          <a:xfrm>
            <a:off x="5356271" y="2358345"/>
            <a:ext cx="278995" cy="211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AutoShape 73"/>
          <p:cNvSpPr>
            <a:spLocks noChangeArrowheads="1"/>
          </p:cNvSpPr>
          <p:nvPr/>
        </p:nvSpPr>
        <p:spPr bwMode="auto">
          <a:xfrm>
            <a:off x="4239632" y="2815922"/>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작업구분</a:t>
            </a:r>
            <a:endParaRPr lang="en-US" altLang="ko-KR" sz="800" dirty="0" smtClean="0">
              <a:latin typeface="+mn-ea"/>
              <a:ea typeface="+mn-ea"/>
            </a:endParaRPr>
          </a:p>
          <a:p>
            <a:pPr algn="ctr" eaLnBrk="0" latinLnBrk="0" hangingPunct="0">
              <a:lnSpc>
                <a:spcPct val="40000"/>
              </a:lnSpc>
              <a:spcBef>
                <a:spcPct val="50000"/>
              </a:spcBef>
            </a:pPr>
            <a:r>
              <a:rPr lang="en-US" altLang="ko-KR" sz="800" dirty="0" smtClean="0">
                <a:latin typeface="+mn-ea"/>
                <a:ea typeface="+mn-ea"/>
              </a:rPr>
              <a:t>DELETE</a:t>
            </a: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sp>
        <p:nvSpPr>
          <p:cNvPr id="69" name="Text Box 82"/>
          <p:cNvSpPr txBox="1">
            <a:spLocks noChangeArrowheads="1"/>
          </p:cNvSpPr>
          <p:nvPr/>
        </p:nvSpPr>
        <p:spPr bwMode="gray">
          <a:xfrm>
            <a:off x="4453469" y="2502102"/>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75" name="Text Box 82"/>
          <p:cNvSpPr txBox="1">
            <a:spLocks noChangeArrowheads="1"/>
          </p:cNvSpPr>
          <p:nvPr/>
        </p:nvSpPr>
        <p:spPr bwMode="gray">
          <a:xfrm>
            <a:off x="4130420" y="2843935"/>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76" name="Rectangle 49"/>
          <p:cNvSpPr>
            <a:spLocks noChangeArrowheads="1"/>
          </p:cNvSpPr>
          <p:nvPr/>
        </p:nvSpPr>
        <p:spPr bwMode="gray">
          <a:xfrm>
            <a:off x="2997959" y="2626310"/>
            <a:ext cx="109994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삭제일자</a:t>
            </a:r>
            <a:r>
              <a:rPr lang="en-US" altLang="ko-KR" sz="800" b="1" dirty="0">
                <a:latin typeface="+mn-ea"/>
                <a:ea typeface="+mn-ea"/>
              </a:rPr>
              <a:t> </a:t>
            </a:r>
            <a:r>
              <a:rPr lang="en-US" altLang="ko-KR" sz="800" b="1" dirty="0" smtClean="0">
                <a:latin typeface="+mn-ea"/>
                <a:ea typeface="+mn-ea"/>
              </a:rPr>
              <a:t>UPDATE</a:t>
            </a:r>
            <a:endParaRPr lang="ko-KR" altLang="en-US" sz="800" b="1" dirty="0">
              <a:latin typeface="+mn-ea"/>
              <a:ea typeface="+mn-ea"/>
            </a:endParaRPr>
          </a:p>
        </p:txBody>
      </p:sp>
      <p:cxnSp>
        <p:nvCxnSpPr>
          <p:cNvPr id="78" name="AutoShape 67"/>
          <p:cNvCxnSpPr>
            <a:cxnSpLocks noChangeShapeType="1"/>
            <a:stCxn id="65" idx="1"/>
            <a:endCxn id="76" idx="2"/>
          </p:cNvCxnSpPr>
          <p:nvPr/>
        </p:nvCxnSpPr>
        <p:spPr bwMode="gray">
          <a:xfrm rot="10800000">
            <a:off x="3547932" y="2843935"/>
            <a:ext cx="691700" cy="209318"/>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AutoShape 67"/>
          <p:cNvCxnSpPr>
            <a:cxnSpLocks noChangeShapeType="1"/>
            <a:stCxn id="76" idx="1"/>
          </p:cNvCxnSpPr>
          <p:nvPr/>
        </p:nvCxnSpPr>
        <p:spPr bwMode="gray">
          <a:xfrm rot="10800000">
            <a:off x="2690457" y="2632919"/>
            <a:ext cx="307502" cy="102204"/>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AutoShape 86"/>
          <p:cNvSpPr>
            <a:spLocks noChangeArrowheads="1"/>
          </p:cNvSpPr>
          <p:nvPr/>
        </p:nvSpPr>
        <p:spPr bwMode="auto">
          <a:xfrm>
            <a:off x="2658382" y="185382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600" b="1" dirty="0" smtClean="0">
                <a:latin typeface="+mn-ea"/>
                <a:ea typeface="+mn-ea"/>
              </a:rPr>
              <a:t>EC</a:t>
            </a:r>
          </a:p>
          <a:p>
            <a:pPr algn="ctr"/>
            <a:r>
              <a:rPr lang="en-US" altLang="ko-KR" sz="600" b="1" dirty="0" smtClean="0">
                <a:latin typeface="+mn-ea"/>
                <a:ea typeface="+mn-ea"/>
              </a:rPr>
              <a:t>(</a:t>
            </a:r>
            <a:r>
              <a:rPr lang="ko-KR" altLang="en-US" sz="600" b="1" dirty="0" err="1" smtClean="0">
                <a:latin typeface="+mn-ea"/>
                <a:ea typeface="+mn-ea"/>
              </a:rPr>
              <a:t>온라인구시스템</a:t>
            </a:r>
            <a:r>
              <a:rPr lang="en-US" altLang="ko-KR" sz="600" b="1" dirty="0" smtClean="0">
                <a:latin typeface="+mn-ea"/>
                <a:ea typeface="+mn-ea"/>
              </a:rPr>
              <a:t>)</a:t>
            </a:r>
            <a:endParaRPr lang="en-US" altLang="ko-KR" sz="600" b="1" dirty="0" smtClean="0">
              <a:latin typeface="+mn-ea"/>
              <a:ea typeface="+mn-ea"/>
            </a:endParaRPr>
          </a:p>
          <a:p>
            <a:pPr algn="ctr"/>
            <a:r>
              <a:rPr lang="en-US" altLang="ko-KR" sz="600" b="1" dirty="0" smtClean="0">
                <a:latin typeface="+mn-ea"/>
                <a:ea typeface="+mn-ea"/>
              </a:rPr>
              <a:t>TEMP_INS</a:t>
            </a:r>
            <a:endParaRPr lang="ko-KR" altLang="en-US" sz="600" b="1" dirty="0">
              <a:latin typeface="+mn-ea"/>
              <a:ea typeface="+mn-ea"/>
            </a:endParaRPr>
          </a:p>
        </p:txBody>
      </p:sp>
      <p:cxnSp>
        <p:nvCxnSpPr>
          <p:cNvPr id="86" name="AutoShape 67"/>
          <p:cNvCxnSpPr>
            <a:cxnSpLocks noChangeShapeType="1"/>
            <a:stCxn id="85" idx="4"/>
          </p:cNvCxnSpPr>
          <p:nvPr/>
        </p:nvCxnSpPr>
        <p:spPr bwMode="gray">
          <a:xfrm flipV="1">
            <a:off x="3225120" y="1957770"/>
            <a:ext cx="1573239" cy="139934"/>
          </a:xfrm>
          <a:prstGeom prst="bentConnector3">
            <a:avLst>
              <a:gd name="adj1" fmla="val 6261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7" name="TextBox 94"/>
          <p:cNvSpPr txBox="1">
            <a:spLocks noChangeArrowheads="1"/>
          </p:cNvSpPr>
          <p:nvPr/>
        </p:nvSpPr>
        <p:spPr bwMode="auto">
          <a:xfrm>
            <a:off x="1577625" y="1992083"/>
            <a:ext cx="710120"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sym typeface="Wingdings" panose="05000000000000000000" pitchFamily="2" charset="2"/>
              </a:rPr>
              <a:t>엑셀업로드</a:t>
            </a:r>
            <a:endParaRPr lang="en-US" altLang="ko-KR" sz="800" dirty="0" smtClean="0">
              <a:latin typeface="+mn-ea"/>
              <a:ea typeface="+mn-ea"/>
              <a:sym typeface="Wingdings" panose="05000000000000000000" pitchFamily="2" charset="2"/>
            </a:endParaRPr>
          </a:p>
        </p:txBody>
      </p:sp>
      <p:cxnSp>
        <p:nvCxnSpPr>
          <p:cNvPr id="95" name="AutoShape 67"/>
          <p:cNvCxnSpPr>
            <a:cxnSpLocks noChangeShapeType="1"/>
            <a:stCxn id="87" idx="3"/>
            <a:endCxn id="85" idx="2"/>
          </p:cNvCxnSpPr>
          <p:nvPr/>
        </p:nvCxnSpPr>
        <p:spPr bwMode="gray">
          <a:xfrm flipV="1">
            <a:off x="2287745" y="2097704"/>
            <a:ext cx="370637" cy="2101"/>
          </a:xfrm>
          <a:prstGeom prst="straightConnector1">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AutoShape 73"/>
          <p:cNvSpPr>
            <a:spLocks noChangeArrowheads="1"/>
          </p:cNvSpPr>
          <p:nvPr/>
        </p:nvSpPr>
        <p:spPr bwMode="auto">
          <a:xfrm>
            <a:off x="2771034" y="3264865"/>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작업구분</a:t>
            </a:r>
            <a:endParaRPr lang="en-US" altLang="ko-KR" sz="800" dirty="0" smtClean="0">
              <a:latin typeface="+mn-ea"/>
              <a:ea typeface="+mn-ea"/>
            </a:endParaRPr>
          </a:p>
          <a:p>
            <a:pPr algn="ctr" eaLnBrk="0" latinLnBrk="0" hangingPunct="0">
              <a:lnSpc>
                <a:spcPct val="40000"/>
              </a:lnSpc>
              <a:spcBef>
                <a:spcPct val="50000"/>
              </a:spcBef>
            </a:pPr>
            <a:r>
              <a:rPr lang="en-US" altLang="ko-KR" sz="800" dirty="0" smtClean="0">
                <a:latin typeface="+mn-ea"/>
                <a:ea typeface="+mn-ea"/>
              </a:rPr>
              <a:t>MAPP</a:t>
            </a: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cxnSp>
        <p:nvCxnSpPr>
          <p:cNvPr id="102" name="AutoShape 67"/>
          <p:cNvCxnSpPr>
            <a:cxnSpLocks noChangeShapeType="1"/>
            <a:stCxn id="65" idx="2"/>
            <a:endCxn id="97" idx="3"/>
          </p:cNvCxnSpPr>
          <p:nvPr/>
        </p:nvCxnSpPr>
        <p:spPr bwMode="gray">
          <a:xfrm rot="5400000">
            <a:off x="4241588" y="2942778"/>
            <a:ext cx="211612" cy="907224"/>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Text Box 82"/>
          <p:cNvSpPr txBox="1">
            <a:spLocks noChangeArrowheads="1"/>
          </p:cNvSpPr>
          <p:nvPr/>
        </p:nvSpPr>
        <p:spPr bwMode="gray">
          <a:xfrm>
            <a:off x="4477131" y="3217816"/>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104" name="AutoShape 73"/>
          <p:cNvSpPr>
            <a:spLocks noChangeArrowheads="1"/>
          </p:cNvSpPr>
          <p:nvPr/>
        </p:nvSpPr>
        <p:spPr bwMode="auto">
          <a:xfrm>
            <a:off x="1325460" y="4029440"/>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조회 건수 </a:t>
            </a:r>
            <a:r>
              <a:rPr lang="en-US" altLang="ko-KR" sz="800" dirty="0" smtClean="0">
                <a:latin typeface="+mn-ea"/>
                <a:ea typeface="+mn-ea"/>
              </a:rPr>
              <a:t>&lt; 1</a:t>
            </a:r>
          </a:p>
        </p:txBody>
      </p:sp>
      <p:sp>
        <p:nvSpPr>
          <p:cNvPr id="107" name="Text Box 82"/>
          <p:cNvSpPr txBox="1">
            <a:spLocks noChangeArrowheads="1"/>
          </p:cNvSpPr>
          <p:nvPr/>
        </p:nvSpPr>
        <p:spPr bwMode="gray">
          <a:xfrm>
            <a:off x="2597058" y="3264776"/>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109" name="AutoShape 67"/>
          <p:cNvCxnSpPr>
            <a:cxnSpLocks noChangeShapeType="1"/>
            <a:stCxn id="97" idx="1"/>
            <a:endCxn id="52" idx="4"/>
          </p:cNvCxnSpPr>
          <p:nvPr/>
        </p:nvCxnSpPr>
        <p:spPr bwMode="gray">
          <a:xfrm rot="10800000">
            <a:off x="1250388" y="2742946"/>
            <a:ext cx="1520646" cy="759250"/>
          </a:xfrm>
          <a:prstGeom prst="bentConnector3">
            <a:avLst>
              <a:gd name="adj1" fmla="val 7893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TextBox 94"/>
          <p:cNvSpPr txBox="1">
            <a:spLocks noChangeArrowheads="1"/>
          </p:cNvSpPr>
          <p:nvPr/>
        </p:nvSpPr>
        <p:spPr bwMode="auto">
          <a:xfrm>
            <a:off x="1524593" y="3298600"/>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12" name="TextBox 94"/>
          <p:cNvSpPr txBox="1">
            <a:spLocks noChangeArrowheads="1"/>
          </p:cNvSpPr>
          <p:nvPr/>
        </p:nvSpPr>
        <p:spPr bwMode="auto">
          <a:xfrm>
            <a:off x="1109248" y="3530721"/>
            <a:ext cx="2040157" cy="363176"/>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검색조건 </a:t>
            </a:r>
            <a:r>
              <a:rPr lang="en-US" altLang="ko-KR" sz="800" dirty="0" smtClean="0">
                <a:latin typeface="+mn-ea"/>
                <a:ea typeface="+mn-ea"/>
              </a:rPr>
              <a:t>: </a:t>
            </a:r>
            <a:r>
              <a:rPr lang="ko-KR" altLang="en-US" sz="800" dirty="0" err="1" smtClean="0">
                <a:latin typeface="+mn-ea"/>
                <a:ea typeface="+mn-ea"/>
              </a:rPr>
              <a:t>정산년월</a:t>
            </a:r>
            <a:r>
              <a:rPr lang="en-US" altLang="ko-KR" sz="800" dirty="0" smtClean="0">
                <a:latin typeface="+mn-ea"/>
                <a:ea typeface="+mn-ea"/>
              </a:rPr>
              <a:t>, </a:t>
            </a:r>
            <a:r>
              <a:rPr lang="ko-KR" altLang="en-US" sz="800" dirty="0" smtClean="0">
                <a:latin typeface="+mn-ea"/>
                <a:ea typeface="+mn-ea"/>
              </a:rPr>
              <a:t>상위브랜드</a:t>
            </a:r>
            <a:endParaRPr lang="en-US" altLang="ko-KR" sz="800" dirty="0" smtClean="0">
              <a:latin typeface="+mn-ea"/>
              <a:ea typeface="+mn-ea"/>
            </a:endParaRPr>
          </a:p>
          <a:p>
            <a:pPr>
              <a:spcBef>
                <a:spcPct val="20000"/>
              </a:spcBef>
              <a:buClr>
                <a:srgbClr val="003366"/>
              </a:buClr>
            </a:pPr>
            <a:r>
              <a:rPr lang="en-US" altLang="ko-KR" sz="800" dirty="0" smtClean="0">
                <a:latin typeface="+mn-ea"/>
                <a:ea typeface="+mn-ea"/>
              </a:rPr>
              <a:t>MALL_ID, </a:t>
            </a:r>
            <a:r>
              <a:rPr lang="ko-KR" altLang="en-US" sz="800" dirty="0" smtClean="0">
                <a:latin typeface="+mn-ea"/>
                <a:ea typeface="+mn-ea"/>
              </a:rPr>
              <a:t>정산매장</a:t>
            </a:r>
            <a:r>
              <a:rPr lang="en-US" altLang="ko-KR" sz="800" dirty="0" smtClean="0">
                <a:latin typeface="+mn-ea"/>
                <a:ea typeface="+mn-ea"/>
              </a:rPr>
              <a:t>, DEL_DAY IS NULL</a:t>
            </a:r>
            <a:endParaRPr lang="ko-KR" altLang="en-US" sz="800" dirty="0">
              <a:latin typeface="+mn-ea"/>
              <a:ea typeface="+mn-ea"/>
            </a:endParaRPr>
          </a:p>
        </p:txBody>
      </p:sp>
      <p:cxnSp>
        <p:nvCxnSpPr>
          <p:cNvPr id="51" name="AutoShape 67"/>
          <p:cNvCxnSpPr>
            <a:cxnSpLocks noChangeShapeType="1"/>
            <a:stCxn id="52" idx="3"/>
            <a:endCxn id="104" idx="1"/>
          </p:cNvCxnSpPr>
          <p:nvPr/>
        </p:nvCxnSpPr>
        <p:spPr bwMode="gray">
          <a:xfrm rot="16200000" flipH="1">
            <a:off x="506266" y="3447577"/>
            <a:ext cx="1279946" cy="358441"/>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AutoShape 86"/>
          <p:cNvSpPr>
            <a:spLocks noChangeArrowheads="1"/>
          </p:cNvSpPr>
          <p:nvPr/>
        </p:nvSpPr>
        <p:spPr bwMode="auto">
          <a:xfrm>
            <a:off x="542510" y="531921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sp>
        <p:nvSpPr>
          <p:cNvPr id="57" name="Text Box 82"/>
          <p:cNvSpPr txBox="1">
            <a:spLocks noChangeArrowheads="1"/>
          </p:cNvSpPr>
          <p:nvPr/>
        </p:nvSpPr>
        <p:spPr bwMode="gray">
          <a:xfrm>
            <a:off x="1462614" y="4398942"/>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58" name="AutoShape 86"/>
          <p:cNvSpPr>
            <a:spLocks noChangeArrowheads="1"/>
          </p:cNvSpPr>
          <p:nvPr/>
        </p:nvSpPr>
        <p:spPr bwMode="auto">
          <a:xfrm>
            <a:off x="578035" y="446411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인터페이스정산기본</a:t>
            </a:r>
            <a:endParaRPr lang="en-US" altLang="ko-KR" sz="600" b="1" dirty="0" smtClean="0">
              <a:latin typeface="+mn-ea"/>
              <a:ea typeface="+mn-ea"/>
            </a:endParaRPr>
          </a:p>
          <a:p>
            <a:pPr algn="ctr"/>
            <a:r>
              <a:rPr lang="en-US" altLang="ko-KR" sz="600" b="1" dirty="0" smtClean="0">
                <a:latin typeface="+mn-ea"/>
                <a:ea typeface="+mn-ea"/>
              </a:rPr>
              <a:t>T_GWM_IF_STLM_BASE</a:t>
            </a:r>
            <a:endParaRPr lang="ko-KR" altLang="en-US" sz="600" b="1" dirty="0">
              <a:latin typeface="+mn-ea"/>
              <a:ea typeface="+mn-ea"/>
            </a:endParaRPr>
          </a:p>
        </p:txBody>
      </p:sp>
      <p:sp>
        <p:nvSpPr>
          <p:cNvPr id="59" name="Rectangle 49"/>
          <p:cNvSpPr>
            <a:spLocks noChangeArrowheads="1"/>
          </p:cNvSpPr>
          <p:nvPr/>
        </p:nvSpPr>
        <p:spPr bwMode="gray">
          <a:xfrm>
            <a:off x="1514248" y="5184195"/>
            <a:ext cx="109994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데이터 </a:t>
            </a:r>
            <a:r>
              <a:rPr lang="en-US" altLang="ko-KR" sz="800" b="1" dirty="0" smtClean="0">
                <a:latin typeface="+mn-ea"/>
                <a:ea typeface="+mn-ea"/>
              </a:rPr>
              <a:t>INSERT</a:t>
            </a:r>
            <a:endParaRPr lang="ko-KR" altLang="en-US" sz="800" b="1" dirty="0">
              <a:latin typeface="+mn-ea"/>
              <a:ea typeface="+mn-ea"/>
            </a:endParaRPr>
          </a:p>
        </p:txBody>
      </p:sp>
      <p:cxnSp>
        <p:nvCxnSpPr>
          <p:cNvPr id="61" name="AutoShape 67"/>
          <p:cNvCxnSpPr>
            <a:cxnSpLocks noChangeShapeType="1"/>
            <a:stCxn id="104" idx="2"/>
            <a:endCxn id="59" idx="0"/>
          </p:cNvCxnSpPr>
          <p:nvPr/>
        </p:nvCxnSpPr>
        <p:spPr bwMode="gray">
          <a:xfrm rot="16200000" flipH="1">
            <a:off x="1635481" y="4755454"/>
            <a:ext cx="680093" cy="177387"/>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AutoShape 67"/>
          <p:cNvCxnSpPr>
            <a:cxnSpLocks noChangeShapeType="1"/>
            <a:stCxn id="58" idx="4"/>
          </p:cNvCxnSpPr>
          <p:nvPr/>
        </p:nvCxnSpPr>
        <p:spPr bwMode="gray">
          <a:xfrm>
            <a:off x="1144773" y="4707994"/>
            <a:ext cx="742061"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AutoShape 67"/>
          <p:cNvCxnSpPr>
            <a:cxnSpLocks noChangeShapeType="1"/>
            <a:stCxn id="59" idx="1"/>
            <a:endCxn id="56" idx="4"/>
          </p:cNvCxnSpPr>
          <p:nvPr/>
        </p:nvCxnSpPr>
        <p:spPr bwMode="gray">
          <a:xfrm rot="10800000" flipV="1">
            <a:off x="1109248" y="5293007"/>
            <a:ext cx="405000" cy="270081"/>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TextBox 94"/>
          <p:cNvSpPr txBox="1">
            <a:spLocks noChangeArrowheads="1"/>
          </p:cNvSpPr>
          <p:nvPr/>
        </p:nvSpPr>
        <p:spPr bwMode="auto">
          <a:xfrm>
            <a:off x="217846" y="5895704"/>
            <a:ext cx="2040157"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err="1" smtClean="0">
                <a:latin typeface="+mn-ea"/>
                <a:ea typeface="+mn-ea"/>
              </a:rPr>
              <a:t>대상제휴몰</a:t>
            </a:r>
            <a:r>
              <a:rPr lang="ko-KR" altLang="en-US" sz="800" dirty="0" smtClean="0">
                <a:latin typeface="+mn-ea"/>
                <a:ea typeface="+mn-ea"/>
              </a:rPr>
              <a:t> </a:t>
            </a:r>
            <a:r>
              <a:rPr lang="en-US" altLang="ko-KR" sz="800" dirty="0" smtClean="0">
                <a:latin typeface="+mn-ea"/>
                <a:ea typeface="+mn-ea"/>
              </a:rPr>
              <a:t>:</a:t>
            </a:r>
            <a:r>
              <a:rPr lang="ko-KR" altLang="en-US" sz="800" dirty="0" err="1" smtClean="0">
                <a:latin typeface="+mn-ea"/>
                <a:ea typeface="+mn-ea"/>
              </a:rPr>
              <a:t>옥션</a:t>
            </a:r>
            <a:r>
              <a:rPr lang="en-US" altLang="ko-KR" sz="800" dirty="0" smtClean="0">
                <a:latin typeface="+mn-ea"/>
                <a:ea typeface="+mn-ea"/>
              </a:rPr>
              <a:t>, </a:t>
            </a:r>
            <a:r>
              <a:rPr lang="ko-KR" altLang="en-US" sz="800" dirty="0" err="1" smtClean="0">
                <a:latin typeface="+mn-ea"/>
                <a:ea typeface="+mn-ea"/>
              </a:rPr>
              <a:t>카카오톡스토어</a:t>
            </a:r>
            <a:r>
              <a:rPr lang="en-US" altLang="ko-KR" sz="800" dirty="0" smtClean="0">
                <a:latin typeface="+mn-ea"/>
                <a:ea typeface="+mn-ea"/>
              </a:rPr>
              <a:t>,</a:t>
            </a:r>
          </a:p>
          <a:p>
            <a:pPr>
              <a:spcBef>
                <a:spcPct val="20000"/>
              </a:spcBef>
              <a:buClr>
                <a:srgbClr val="003366"/>
              </a:buClr>
            </a:pPr>
            <a:r>
              <a:rPr lang="ko-KR" altLang="en-US" sz="800" dirty="0" err="1" smtClean="0">
                <a:latin typeface="+mn-ea"/>
                <a:ea typeface="+mn-ea"/>
              </a:rPr>
              <a:t>무신사</a:t>
            </a:r>
            <a:r>
              <a:rPr lang="en-US" altLang="ko-KR" sz="800" dirty="0" smtClean="0">
                <a:latin typeface="+mn-ea"/>
                <a:ea typeface="+mn-ea"/>
              </a:rPr>
              <a:t>, 11</a:t>
            </a:r>
            <a:r>
              <a:rPr lang="ko-KR" altLang="en-US" sz="800" dirty="0" smtClean="0">
                <a:latin typeface="+mn-ea"/>
                <a:ea typeface="+mn-ea"/>
              </a:rPr>
              <a:t>번가</a:t>
            </a:r>
            <a:r>
              <a:rPr lang="en-US" altLang="ko-KR" sz="800" dirty="0" smtClean="0">
                <a:latin typeface="+mn-ea"/>
                <a:ea typeface="+mn-ea"/>
              </a:rPr>
              <a:t>, </a:t>
            </a:r>
            <a:r>
              <a:rPr lang="ko-KR" altLang="en-US" sz="800" dirty="0" err="1" smtClean="0">
                <a:latin typeface="+mn-ea"/>
                <a:ea typeface="+mn-ea"/>
              </a:rPr>
              <a:t>쿠팡</a:t>
            </a:r>
            <a:r>
              <a:rPr lang="en-US" altLang="ko-KR" sz="800" dirty="0" smtClean="0">
                <a:latin typeface="+mn-ea"/>
                <a:ea typeface="+mn-ea"/>
              </a:rPr>
              <a:t>, </a:t>
            </a:r>
            <a:r>
              <a:rPr lang="ko-KR" altLang="en-US" sz="800" dirty="0" smtClean="0">
                <a:latin typeface="+mn-ea"/>
                <a:ea typeface="+mn-ea"/>
              </a:rPr>
              <a:t>하프클럽</a:t>
            </a:r>
            <a:r>
              <a:rPr lang="en-US" altLang="ko-KR" sz="800" dirty="0" smtClean="0">
                <a:latin typeface="+mn-ea"/>
                <a:ea typeface="+mn-ea"/>
              </a:rPr>
              <a:t>(</a:t>
            </a:r>
            <a:r>
              <a:rPr lang="ko-KR" altLang="en-US" sz="800" dirty="0" smtClean="0">
                <a:latin typeface="+mn-ea"/>
                <a:ea typeface="+mn-ea"/>
              </a:rPr>
              <a:t>신</a:t>
            </a:r>
            <a:r>
              <a:rPr lang="en-US" altLang="ko-KR" sz="800" dirty="0" smtClean="0">
                <a:latin typeface="+mn-ea"/>
                <a:ea typeface="+mn-ea"/>
              </a:rPr>
              <a:t>),</a:t>
            </a:r>
          </a:p>
          <a:p>
            <a:pPr>
              <a:spcBef>
                <a:spcPct val="20000"/>
              </a:spcBef>
              <a:buClr>
                <a:srgbClr val="003366"/>
              </a:buClr>
            </a:pPr>
            <a:r>
              <a:rPr lang="ko-KR" altLang="en-US" sz="800" dirty="0" err="1" smtClean="0">
                <a:latin typeface="+mn-ea"/>
                <a:ea typeface="+mn-ea"/>
              </a:rPr>
              <a:t>위메프</a:t>
            </a:r>
            <a:r>
              <a:rPr lang="en-US" altLang="ko-KR" sz="800" dirty="0" smtClean="0">
                <a:latin typeface="+mn-ea"/>
                <a:ea typeface="+mn-ea"/>
              </a:rPr>
              <a:t>(</a:t>
            </a:r>
            <a:r>
              <a:rPr lang="ko-KR" altLang="en-US" sz="800" dirty="0" smtClean="0">
                <a:latin typeface="+mn-ea"/>
                <a:ea typeface="+mn-ea"/>
              </a:rPr>
              <a:t>신</a:t>
            </a:r>
            <a:r>
              <a:rPr lang="en-US" altLang="ko-KR" sz="800" dirty="0" smtClean="0">
                <a:latin typeface="+mn-ea"/>
                <a:ea typeface="+mn-ea"/>
              </a:rPr>
              <a:t>),</a:t>
            </a:r>
            <a:r>
              <a:rPr lang="ko-KR" altLang="en-US" sz="800" dirty="0" smtClean="0">
                <a:latin typeface="+mn-ea"/>
                <a:ea typeface="+mn-ea"/>
              </a:rPr>
              <a:t>스마트스토어</a:t>
            </a:r>
            <a:r>
              <a:rPr lang="en-US" altLang="ko-KR" sz="800" dirty="0" smtClean="0">
                <a:latin typeface="+mn-ea"/>
                <a:ea typeface="+mn-ea"/>
              </a:rPr>
              <a:t>,G</a:t>
            </a:r>
            <a:r>
              <a:rPr lang="ko-KR" altLang="en-US" sz="800" dirty="0" smtClean="0">
                <a:latin typeface="+mn-ea"/>
                <a:ea typeface="+mn-ea"/>
              </a:rPr>
              <a:t>마켓</a:t>
            </a:r>
            <a:r>
              <a:rPr lang="en-US" altLang="ko-KR" sz="800" dirty="0" smtClean="0">
                <a:latin typeface="+mn-ea"/>
                <a:ea typeface="+mn-ea"/>
              </a:rPr>
              <a:t>,29CM</a:t>
            </a:r>
            <a:endParaRPr lang="ko-KR" altLang="en-US" sz="800" dirty="0">
              <a:latin typeface="+mn-ea"/>
              <a:ea typeface="+mn-ea"/>
            </a:endParaRPr>
          </a:p>
        </p:txBody>
      </p:sp>
      <p:sp>
        <p:nvSpPr>
          <p:cNvPr id="77" name="TextBox 94"/>
          <p:cNvSpPr txBox="1">
            <a:spLocks noChangeArrowheads="1"/>
          </p:cNvSpPr>
          <p:nvPr/>
        </p:nvSpPr>
        <p:spPr bwMode="auto">
          <a:xfrm>
            <a:off x="342896" y="4961696"/>
            <a:ext cx="1626533"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err="1" smtClean="0">
                <a:latin typeface="+mn-ea"/>
                <a:ea typeface="+mn-ea"/>
              </a:rPr>
              <a:t>제휴몰의</a:t>
            </a:r>
            <a:r>
              <a:rPr lang="ko-KR" altLang="en-US" sz="800" dirty="0" smtClean="0">
                <a:latin typeface="+mn-ea"/>
                <a:ea typeface="+mn-ea"/>
              </a:rPr>
              <a:t> 최종차수</a:t>
            </a:r>
            <a:r>
              <a:rPr lang="en-US" altLang="ko-KR" sz="800" dirty="0" smtClean="0">
                <a:latin typeface="+mn-ea"/>
                <a:ea typeface="+mn-ea"/>
              </a:rPr>
              <a:t>(MAX(NO))</a:t>
            </a:r>
            <a:endParaRPr lang="ko-KR" altLang="en-US" sz="800" dirty="0">
              <a:latin typeface="+mn-ea"/>
              <a:ea typeface="+mn-ea"/>
            </a:endParaRPr>
          </a:p>
        </p:txBody>
      </p:sp>
      <p:sp>
        <p:nvSpPr>
          <p:cNvPr id="81" name="Text Box 82"/>
          <p:cNvSpPr txBox="1">
            <a:spLocks noChangeArrowheads="1"/>
          </p:cNvSpPr>
          <p:nvPr/>
        </p:nvSpPr>
        <p:spPr bwMode="gray">
          <a:xfrm>
            <a:off x="2291204" y="4032376"/>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82" name="AutoShape 86"/>
          <p:cNvSpPr>
            <a:spLocks noChangeArrowheads="1"/>
          </p:cNvSpPr>
          <p:nvPr/>
        </p:nvSpPr>
        <p:spPr bwMode="auto">
          <a:xfrm>
            <a:off x="2186578" y="453687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공통코드</a:t>
            </a:r>
            <a:endParaRPr lang="en-US" altLang="ko-KR" sz="600" b="1" dirty="0" smtClean="0">
              <a:latin typeface="+mn-ea"/>
              <a:ea typeface="+mn-ea"/>
            </a:endParaRPr>
          </a:p>
          <a:p>
            <a:pPr algn="ctr"/>
            <a:r>
              <a:rPr lang="en-US" altLang="ko-KR" sz="600" b="1" dirty="0" smtClean="0">
                <a:latin typeface="+mn-ea"/>
                <a:ea typeface="+mn-ea"/>
              </a:rPr>
              <a:t>T_COMN_CD</a:t>
            </a:r>
            <a:endParaRPr lang="ko-KR" altLang="en-US" sz="600" b="1" dirty="0">
              <a:latin typeface="+mn-ea"/>
              <a:ea typeface="+mn-ea"/>
            </a:endParaRPr>
          </a:p>
        </p:txBody>
      </p:sp>
      <p:sp>
        <p:nvSpPr>
          <p:cNvPr id="83" name="Rectangle 49"/>
          <p:cNvSpPr>
            <a:spLocks noChangeArrowheads="1"/>
          </p:cNvSpPr>
          <p:nvPr/>
        </p:nvSpPr>
        <p:spPr bwMode="gray">
          <a:xfrm>
            <a:off x="2997959" y="5189542"/>
            <a:ext cx="109994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데이터 </a:t>
            </a:r>
            <a:r>
              <a:rPr lang="en-US" altLang="ko-KR" sz="800" b="1" dirty="0" smtClean="0">
                <a:latin typeface="+mn-ea"/>
                <a:ea typeface="+mn-ea"/>
              </a:rPr>
              <a:t>MERGE</a:t>
            </a:r>
            <a:endParaRPr lang="ko-KR" altLang="en-US" sz="800" b="1" dirty="0">
              <a:latin typeface="+mn-ea"/>
              <a:ea typeface="+mn-ea"/>
            </a:endParaRPr>
          </a:p>
        </p:txBody>
      </p:sp>
      <p:cxnSp>
        <p:nvCxnSpPr>
          <p:cNvPr id="84" name="AutoShape 67"/>
          <p:cNvCxnSpPr>
            <a:cxnSpLocks noChangeShapeType="1"/>
            <a:stCxn id="104" idx="3"/>
            <a:endCxn id="83" idx="0"/>
          </p:cNvCxnSpPr>
          <p:nvPr/>
        </p:nvCxnSpPr>
        <p:spPr bwMode="gray">
          <a:xfrm>
            <a:off x="2448208" y="4266771"/>
            <a:ext cx="1099724" cy="922771"/>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AutoShape 67"/>
          <p:cNvCxnSpPr>
            <a:cxnSpLocks noChangeShapeType="1"/>
            <a:stCxn id="82" idx="4"/>
          </p:cNvCxnSpPr>
          <p:nvPr/>
        </p:nvCxnSpPr>
        <p:spPr bwMode="gray">
          <a:xfrm>
            <a:off x="2753316" y="4780752"/>
            <a:ext cx="794616"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TextBox 94"/>
          <p:cNvSpPr txBox="1">
            <a:spLocks noChangeArrowheads="1"/>
          </p:cNvSpPr>
          <p:nvPr/>
        </p:nvSpPr>
        <p:spPr bwMode="auto">
          <a:xfrm>
            <a:off x="2690872" y="4458309"/>
            <a:ext cx="1337476" cy="363176"/>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dirty="0" smtClean="0">
                <a:latin typeface="+mn-ea"/>
                <a:ea typeface="+mn-ea"/>
                <a:sym typeface="Wingdings" panose="05000000000000000000" pitchFamily="2" charset="2"/>
              </a:rPr>
              <a:t>ATTR1 NSERT</a:t>
            </a:r>
          </a:p>
          <a:p>
            <a:pPr>
              <a:spcBef>
                <a:spcPct val="20000"/>
              </a:spcBef>
              <a:buClr>
                <a:srgbClr val="003366"/>
              </a:buClr>
            </a:pPr>
            <a:r>
              <a:rPr lang="en-US" altLang="ko-KR" sz="800" dirty="0" smtClean="0">
                <a:latin typeface="+mn-ea"/>
                <a:ea typeface="+mn-ea"/>
                <a:sym typeface="Wingdings" panose="05000000000000000000" pitchFamily="2" charset="2"/>
              </a:rPr>
              <a:t>(C59701:</a:t>
            </a:r>
            <a:r>
              <a:rPr lang="ko-KR" altLang="en-US" sz="800" dirty="0" smtClean="0">
                <a:latin typeface="+mn-ea"/>
                <a:ea typeface="+mn-ea"/>
                <a:sym typeface="Wingdings" panose="05000000000000000000" pitchFamily="2" charset="2"/>
              </a:rPr>
              <a:t>정산내역업로드</a:t>
            </a:r>
            <a:r>
              <a:rPr lang="en-US" altLang="ko-KR" sz="800" dirty="0" smtClean="0">
                <a:latin typeface="+mn-ea"/>
                <a:ea typeface="+mn-ea"/>
                <a:sym typeface="Wingdings" panose="05000000000000000000" pitchFamily="2" charset="2"/>
              </a:rPr>
              <a:t>)</a:t>
            </a:r>
          </a:p>
        </p:txBody>
      </p:sp>
      <p:sp>
        <p:nvSpPr>
          <p:cNvPr id="94" name="AutoShape 86"/>
          <p:cNvSpPr>
            <a:spLocks noChangeArrowheads="1"/>
          </p:cNvSpPr>
          <p:nvPr/>
        </p:nvSpPr>
        <p:spPr bwMode="auto">
          <a:xfrm>
            <a:off x="2527874" y="545422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온라인정산진행체크</a:t>
            </a:r>
            <a:endParaRPr lang="en-US" altLang="ko-KR" sz="600" b="1" dirty="0" smtClean="0">
              <a:latin typeface="+mn-ea"/>
              <a:ea typeface="+mn-ea"/>
            </a:endParaRPr>
          </a:p>
          <a:p>
            <a:pPr algn="ctr"/>
            <a:r>
              <a:rPr lang="en-US" altLang="ko-KR" sz="600" b="1" dirty="0" smtClean="0">
                <a:latin typeface="+mn-ea"/>
                <a:ea typeface="+mn-ea"/>
              </a:rPr>
              <a:t>T_ONLINE_STLM_CHECK</a:t>
            </a:r>
            <a:endParaRPr lang="ko-KR" altLang="en-US" sz="600" b="1" dirty="0">
              <a:latin typeface="+mn-ea"/>
              <a:ea typeface="+mn-ea"/>
            </a:endParaRPr>
          </a:p>
        </p:txBody>
      </p:sp>
      <p:cxnSp>
        <p:nvCxnSpPr>
          <p:cNvPr id="96" name="AutoShape 67"/>
          <p:cNvCxnSpPr>
            <a:cxnSpLocks noChangeShapeType="1"/>
            <a:stCxn id="83" idx="2"/>
            <a:endCxn id="94" idx="4"/>
          </p:cNvCxnSpPr>
          <p:nvPr/>
        </p:nvCxnSpPr>
        <p:spPr bwMode="gray">
          <a:xfrm rot="5400000">
            <a:off x="3175804" y="5325975"/>
            <a:ext cx="290937" cy="453320"/>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TextBox 94"/>
          <p:cNvSpPr txBox="1">
            <a:spLocks noChangeArrowheads="1"/>
          </p:cNvSpPr>
          <p:nvPr/>
        </p:nvSpPr>
        <p:spPr bwMode="auto">
          <a:xfrm>
            <a:off x="2252700" y="5949280"/>
            <a:ext cx="1201791"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err="1" smtClean="0">
                <a:latin typeface="+mn-ea"/>
                <a:ea typeface="+mn-ea"/>
              </a:rPr>
              <a:t>정산년월</a:t>
            </a:r>
            <a:r>
              <a:rPr lang="en-US" altLang="ko-KR" sz="800" dirty="0" smtClean="0">
                <a:latin typeface="+mn-ea"/>
                <a:ea typeface="+mn-ea"/>
              </a:rPr>
              <a:t>, MALL_ID, </a:t>
            </a:r>
          </a:p>
          <a:p>
            <a:pPr>
              <a:spcBef>
                <a:spcPct val="20000"/>
              </a:spcBef>
              <a:buClr>
                <a:srgbClr val="003366"/>
              </a:buClr>
            </a:pPr>
            <a:r>
              <a:rPr lang="ko-KR" altLang="en-US" sz="800" dirty="0" smtClean="0">
                <a:latin typeface="+mn-ea"/>
                <a:ea typeface="+mn-ea"/>
              </a:rPr>
              <a:t>브랜드</a:t>
            </a:r>
            <a:r>
              <a:rPr lang="en-US" altLang="ko-KR" sz="800" dirty="0" smtClean="0">
                <a:latin typeface="+mn-ea"/>
                <a:ea typeface="+mn-ea"/>
              </a:rPr>
              <a:t>, </a:t>
            </a:r>
            <a:r>
              <a:rPr lang="ko-KR" altLang="en-US" sz="800" dirty="0" smtClean="0">
                <a:latin typeface="+mn-ea"/>
                <a:ea typeface="+mn-ea"/>
              </a:rPr>
              <a:t>매장</a:t>
            </a:r>
            <a:r>
              <a:rPr lang="en-US" altLang="ko-KR" sz="800" dirty="0" smtClean="0">
                <a:latin typeface="+mn-ea"/>
                <a:ea typeface="+mn-ea"/>
              </a:rPr>
              <a:t>,</a:t>
            </a:r>
          </a:p>
          <a:p>
            <a:pPr>
              <a:spcBef>
                <a:spcPct val="20000"/>
              </a:spcBef>
              <a:buClr>
                <a:srgbClr val="003366"/>
              </a:buClr>
            </a:pPr>
            <a:r>
              <a:rPr lang="ko-KR" altLang="en-US" sz="800" dirty="0" smtClean="0">
                <a:latin typeface="+mn-ea"/>
                <a:ea typeface="+mn-ea"/>
              </a:rPr>
              <a:t>작업구분</a:t>
            </a:r>
            <a:r>
              <a:rPr lang="en-US" altLang="ko-KR" sz="800" dirty="0" smtClean="0">
                <a:latin typeface="+mn-ea"/>
                <a:ea typeface="+mn-ea"/>
              </a:rPr>
              <a:t>(C59701)</a:t>
            </a:r>
            <a:endParaRPr lang="ko-KR" altLang="en-US" sz="800" dirty="0">
              <a:latin typeface="+mn-ea"/>
              <a:ea typeface="+mn-ea"/>
            </a:endParaRPr>
          </a:p>
        </p:txBody>
      </p:sp>
      <p:cxnSp>
        <p:nvCxnSpPr>
          <p:cNvPr id="105" name="AutoShape 67"/>
          <p:cNvCxnSpPr>
            <a:cxnSpLocks noChangeShapeType="1"/>
            <a:stCxn id="59" idx="3"/>
          </p:cNvCxnSpPr>
          <p:nvPr/>
        </p:nvCxnSpPr>
        <p:spPr bwMode="gray">
          <a:xfrm flipV="1">
            <a:off x="2614194" y="4780752"/>
            <a:ext cx="925776" cy="512256"/>
          </a:xfrm>
          <a:prstGeom prst="bentConnector3">
            <a:avLst>
              <a:gd name="adj1" fmla="val 3509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TextBox 94"/>
          <p:cNvSpPr txBox="1">
            <a:spLocks noChangeArrowheads="1"/>
          </p:cNvSpPr>
          <p:nvPr/>
        </p:nvSpPr>
        <p:spPr bwMode="auto">
          <a:xfrm>
            <a:off x="2567735" y="4038501"/>
            <a:ext cx="886756"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진행현황</a:t>
            </a:r>
            <a:r>
              <a:rPr lang="en-US" altLang="ko-KR" sz="800" dirty="0">
                <a:latin typeface="+mn-ea"/>
                <a:ea typeface="+mn-ea"/>
              </a:rPr>
              <a:t> </a:t>
            </a:r>
            <a:r>
              <a:rPr lang="ko-KR" altLang="en-US" sz="800" dirty="0" smtClean="0">
                <a:latin typeface="+mn-ea"/>
                <a:ea typeface="+mn-ea"/>
              </a:rPr>
              <a:t>관리</a:t>
            </a:r>
            <a:endParaRPr lang="ko-KR" altLang="en-US" sz="800" dirty="0">
              <a:latin typeface="+mn-ea"/>
              <a:ea typeface="+mn-ea"/>
            </a:endParaRPr>
          </a:p>
        </p:txBody>
      </p:sp>
      <p:grpSp>
        <p:nvGrpSpPr>
          <p:cNvPr id="113" name="그룹 112"/>
          <p:cNvGrpSpPr/>
          <p:nvPr/>
        </p:nvGrpSpPr>
        <p:grpSpPr>
          <a:xfrm>
            <a:off x="839120" y="1862272"/>
            <a:ext cx="738505" cy="323850"/>
            <a:chOff x="1074208" y="1567755"/>
            <a:chExt cx="738505" cy="323850"/>
          </a:xfrm>
        </p:grpSpPr>
        <p:sp>
          <p:nvSpPr>
            <p:cNvPr id="115" name="Text Box 55"/>
            <p:cNvSpPr txBox="1">
              <a:spLocks noChangeArrowheads="1"/>
            </p:cNvSpPr>
            <p:nvPr/>
          </p:nvSpPr>
          <p:spPr bwMode="gray">
            <a:xfrm>
              <a:off x="1320270" y="1669355"/>
              <a:ext cx="492443"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ko-KR" altLang="en-US" sz="800" b="1" dirty="0" smtClean="0">
                  <a:solidFill>
                    <a:srgbClr val="0000CC"/>
                  </a:solidFill>
                  <a:latin typeface="+mn-ea"/>
                  <a:ea typeface="+mn-ea"/>
                </a:rPr>
                <a:t>담당자</a:t>
              </a:r>
            </a:p>
          </p:txBody>
        </p:sp>
        <p:grpSp>
          <p:nvGrpSpPr>
            <p:cNvPr id="116" name="Group 100"/>
            <p:cNvGrpSpPr>
              <a:grpSpLocks/>
            </p:cNvGrpSpPr>
            <p:nvPr/>
          </p:nvGrpSpPr>
          <p:grpSpPr bwMode="auto">
            <a:xfrm>
              <a:off x="1074208" y="1567755"/>
              <a:ext cx="274637" cy="323850"/>
              <a:chOff x="395" y="2124"/>
              <a:chExt cx="209" cy="318"/>
            </a:xfrm>
          </p:grpSpPr>
          <p:grpSp>
            <p:nvGrpSpPr>
              <p:cNvPr id="117" name="Group 101"/>
              <p:cNvGrpSpPr>
                <a:grpSpLocks/>
              </p:cNvGrpSpPr>
              <p:nvPr/>
            </p:nvGrpSpPr>
            <p:grpSpPr bwMode="auto">
              <a:xfrm>
                <a:off x="420" y="2124"/>
                <a:ext cx="184" cy="318"/>
                <a:chOff x="282" y="3570"/>
                <a:chExt cx="240" cy="474"/>
              </a:xfrm>
            </p:grpSpPr>
            <p:sp>
              <p:nvSpPr>
                <p:cNvPr id="130" name="Oval 102"/>
                <p:cNvSpPr>
                  <a:spLocks noChangeArrowheads="1"/>
                </p:cNvSpPr>
                <p:nvPr/>
              </p:nvSpPr>
              <p:spPr bwMode="gray">
                <a:xfrm>
                  <a:off x="330" y="3570"/>
                  <a:ext cx="132" cy="132"/>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sp>
              <p:nvSpPr>
                <p:cNvPr id="131" name="Line 103"/>
                <p:cNvSpPr>
                  <a:spLocks noChangeShapeType="1"/>
                </p:cNvSpPr>
                <p:nvPr/>
              </p:nvSpPr>
              <p:spPr bwMode="gray">
                <a:xfrm>
                  <a:off x="282" y="3792"/>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sp>
              <p:nvSpPr>
                <p:cNvPr id="132" name="Line 104"/>
                <p:cNvSpPr>
                  <a:spLocks noChangeShapeType="1"/>
                </p:cNvSpPr>
                <p:nvPr/>
              </p:nvSpPr>
              <p:spPr bwMode="gray">
                <a:xfrm>
                  <a:off x="396" y="3708"/>
                  <a:ext cx="0" cy="19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sp>
              <p:nvSpPr>
                <p:cNvPr id="133" name="Line 105"/>
                <p:cNvSpPr>
                  <a:spLocks noChangeShapeType="1"/>
                </p:cNvSpPr>
                <p:nvPr/>
              </p:nvSpPr>
              <p:spPr bwMode="gray">
                <a:xfrm flipH="1">
                  <a:off x="288" y="3906"/>
                  <a:ext cx="108" cy="13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sp>
              <p:nvSpPr>
                <p:cNvPr id="134" name="Line 106"/>
                <p:cNvSpPr>
                  <a:spLocks noChangeShapeType="1"/>
                </p:cNvSpPr>
                <p:nvPr/>
              </p:nvSpPr>
              <p:spPr bwMode="gray">
                <a:xfrm>
                  <a:off x="400" y="3904"/>
                  <a:ext cx="108" cy="13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grpSp>
          <p:grpSp>
            <p:nvGrpSpPr>
              <p:cNvPr id="118" name="Group 107"/>
              <p:cNvGrpSpPr>
                <a:grpSpLocks/>
              </p:cNvGrpSpPr>
              <p:nvPr/>
            </p:nvGrpSpPr>
            <p:grpSpPr bwMode="auto">
              <a:xfrm>
                <a:off x="395" y="2180"/>
                <a:ext cx="45" cy="127"/>
                <a:chOff x="2597" y="1682"/>
                <a:chExt cx="183" cy="403"/>
              </a:xfrm>
            </p:grpSpPr>
            <p:sp>
              <p:nvSpPr>
                <p:cNvPr id="126" name="Freeform 108"/>
                <p:cNvSpPr>
                  <a:spLocks/>
                </p:cNvSpPr>
                <p:nvPr/>
              </p:nvSpPr>
              <p:spPr bwMode="auto">
                <a:xfrm>
                  <a:off x="2632" y="1739"/>
                  <a:ext cx="84" cy="62"/>
                </a:xfrm>
                <a:custGeom>
                  <a:avLst/>
                  <a:gdLst>
                    <a:gd name="T0" fmla="*/ 45 w 169"/>
                    <a:gd name="T1" fmla="*/ 0 h 124"/>
                    <a:gd name="T2" fmla="*/ 0 w 169"/>
                    <a:gd name="T3" fmla="*/ 57 h 124"/>
                    <a:gd name="T4" fmla="*/ 34 w 169"/>
                    <a:gd name="T5" fmla="*/ 124 h 124"/>
                    <a:gd name="T6" fmla="*/ 78 w 169"/>
                    <a:gd name="T7" fmla="*/ 103 h 124"/>
                    <a:gd name="T8" fmla="*/ 102 w 169"/>
                    <a:gd name="T9" fmla="*/ 57 h 124"/>
                    <a:gd name="T10" fmla="*/ 169 w 169"/>
                    <a:gd name="T11" fmla="*/ 46 h 124"/>
                    <a:gd name="T12" fmla="*/ 91 w 169"/>
                    <a:gd name="T13" fmla="*/ 0 h 124"/>
                    <a:gd name="T14" fmla="*/ 45 w 169"/>
                    <a:gd name="T15" fmla="*/ 0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9" h="124">
                      <a:moveTo>
                        <a:pt x="45" y="0"/>
                      </a:moveTo>
                      <a:lnTo>
                        <a:pt x="0" y="57"/>
                      </a:lnTo>
                      <a:lnTo>
                        <a:pt x="34" y="124"/>
                      </a:lnTo>
                      <a:lnTo>
                        <a:pt x="78" y="103"/>
                      </a:lnTo>
                      <a:lnTo>
                        <a:pt x="102" y="57"/>
                      </a:lnTo>
                      <a:lnTo>
                        <a:pt x="169" y="46"/>
                      </a:lnTo>
                      <a:lnTo>
                        <a:pt x="91" y="0"/>
                      </a:lnTo>
                      <a:lnTo>
                        <a:pt x="45" y="0"/>
                      </a:lnTo>
                      <a:close/>
                    </a:path>
                  </a:pathLst>
                </a:custGeom>
                <a:solidFill>
                  <a:srgbClr val="E599E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sp>
              <p:nvSpPr>
                <p:cNvPr id="127" name="Freeform 109"/>
                <p:cNvSpPr>
                  <a:spLocks/>
                </p:cNvSpPr>
                <p:nvPr/>
              </p:nvSpPr>
              <p:spPr bwMode="auto">
                <a:xfrm rot="20633656" flipV="1">
                  <a:off x="2711" y="1790"/>
                  <a:ext cx="69" cy="295"/>
                </a:xfrm>
                <a:custGeom>
                  <a:avLst/>
                  <a:gdLst>
                    <a:gd name="T0" fmla="*/ 103 w 149"/>
                    <a:gd name="T1" fmla="*/ 0 h 194"/>
                    <a:gd name="T2" fmla="*/ 149 w 149"/>
                    <a:gd name="T3" fmla="*/ 23 h 194"/>
                    <a:gd name="T4" fmla="*/ 126 w 149"/>
                    <a:gd name="T5" fmla="*/ 49 h 194"/>
                    <a:gd name="T6" fmla="*/ 111 w 149"/>
                    <a:gd name="T7" fmla="*/ 71 h 194"/>
                    <a:gd name="T8" fmla="*/ 99 w 149"/>
                    <a:gd name="T9" fmla="*/ 88 h 194"/>
                    <a:gd name="T10" fmla="*/ 89 w 149"/>
                    <a:gd name="T11" fmla="*/ 103 h 194"/>
                    <a:gd name="T12" fmla="*/ 82 w 149"/>
                    <a:gd name="T13" fmla="*/ 120 h 194"/>
                    <a:gd name="T14" fmla="*/ 75 w 149"/>
                    <a:gd name="T15" fmla="*/ 138 h 194"/>
                    <a:gd name="T16" fmla="*/ 68 w 149"/>
                    <a:gd name="T17" fmla="*/ 163 h 194"/>
                    <a:gd name="T18" fmla="*/ 57 w 149"/>
                    <a:gd name="T19" fmla="*/ 194 h 194"/>
                    <a:gd name="T20" fmla="*/ 0 w 149"/>
                    <a:gd name="T21" fmla="*/ 194 h 194"/>
                    <a:gd name="T22" fmla="*/ 9 w 149"/>
                    <a:gd name="T23" fmla="*/ 168 h 194"/>
                    <a:gd name="T24" fmla="*/ 20 w 149"/>
                    <a:gd name="T25" fmla="*/ 143 h 194"/>
                    <a:gd name="T26" fmla="*/ 31 w 149"/>
                    <a:gd name="T27" fmla="*/ 118 h 194"/>
                    <a:gd name="T28" fmla="*/ 45 w 149"/>
                    <a:gd name="T29" fmla="*/ 94 h 194"/>
                    <a:gd name="T30" fmla="*/ 59 w 149"/>
                    <a:gd name="T31" fmla="*/ 69 h 194"/>
                    <a:gd name="T32" fmla="*/ 72 w 149"/>
                    <a:gd name="T33" fmla="*/ 46 h 194"/>
                    <a:gd name="T34" fmla="*/ 88 w 149"/>
                    <a:gd name="T35" fmla="*/ 23 h 194"/>
                    <a:gd name="T36" fmla="*/ 103 w 149"/>
                    <a:gd name="T37"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94">
                      <a:moveTo>
                        <a:pt x="103" y="0"/>
                      </a:moveTo>
                      <a:lnTo>
                        <a:pt x="149" y="23"/>
                      </a:lnTo>
                      <a:lnTo>
                        <a:pt x="126" y="49"/>
                      </a:lnTo>
                      <a:lnTo>
                        <a:pt x="111" y="71"/>
                      </a:lnTo>
                      <a:lnTo>
                        <a:pt x="99" y="88"/>
                      </a:lnTo>
                      <a:lnTo>
                        <a:pt x="89" y="103"/>
                      </a:lnTo>
                      <a:lnTo>
                        <a:pt x="82" y="120"/>
                      </a:lnTo>
                      <a:lnTo>
                        <a:pt x="75" y="138"/>
                      </a:lnTo>
                      <a:lnTo>
                        <a:pt x="68" y="163"/>
                      </a:lnTo>
                      <a:lnTo>
                        <a:pt x="57" y="194"/>
                      </a:lnTo>
                      <a:lnTo>
                        <a:pt x="0" y="194"/>
                      </a:lnTo>
                      <a:lnTo>
                        <a:pt x="9" y="168"/>
                      </a:lnTo>
                      <a:lnTo>
                        <a:pt x="20" y="143"/>
                      </a:lnTo>
                      <a:lnTo>
                        <a:pt x="31" y="118"/>
                      </a:lnTo>
                      <a:lnTo>
                        <a:pt x="45" y="94"/>
                      </a:lnTo>
                      <a:lnTo>
                        <a:pt x="59" y="69"/>
                      </a:lnTo>
                      <a:lnTo>
                        <a:pt x="72" y="46"/>
                      </a:lnTo>
                      <a:lnTo>
                        <a:pt x="88" y="23"/>
                      </a:lnTo>
                      <a:lnTo>
                        <a:pt x="1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sp>
              <p:nvSpPr>
                <p:cNvPr id="128" name="Freeform 110"/>
                <p:cNvSpPr>
                  <a:spLocks/>
                </p:cNvSpPr>
                <p:nvPr/>
              </p:nvSpPr>
              <p:spPr bwMode="auto">
                <a:xfrm>
                  <a:off x="2683" y="1704"/>
                  <a:ext cx="79" cy="109"/>
                </a:xfrm>
                <a:custGeom>
                  <a:avLst/>
                  <a:gdLst>
                    <a:gd name="T0" fmla="*/ 0 w 158"/>
                    <a:gd name="T1" fmla="*/ 138 h 216"/>
                    <a:gd name="T2" fmla="*/ 0 w 158"/>
                    <a:gd name="T3" fmla="*/ 195 h 216"/>
                    <a:gd name="T4" fmla="*/ 91 w 158"/>
                    <a:gd name="T5" fmla="*/ 216 h 216"/>
                    <a:gd name="T6" fmla="*/ 158 w 158"/>
                    <a:gd name="T7" fmla="*/ 183 h 216"/>
                    <a:gd name="T8" fmla="*/ 148 w 158"/>
                    <a:gd name="T9" fmla="*/ 103 h 216"/>
                    <a:gd name="T10" fmla="*/ 126 w 158"/>
                    <a:gd name="T11" fmla="*/ 81 h 216"/>
                    <a:gd name="T12" fmla="*/ 111 w 158"/>
                    <a:gd name="T13" fmla="*/ 66 h 216"/>
                    <a:gd name="T14" fmla="*/ 98 w 158"/>
                    <a:gd name="T15" fmla="*/ 53 h 216"/>
                    <a:gd name="T16" fmla="*/ 88 w 158"/>
                    <a:gd name="T17" fmla="*/ 44 h 216"/>
                    <a:gd name="T18" fmla="*/ 74 w 158"/>
                    <a:gd name="T19" fmla="*/ 35 h 216"/>
                    <a:gd name="T20" fmla="*/ 57 w 158"/>
                    <a:gd name="T21" fmla="*/ 26 h 216"/>
                    <a:gd name="T22" fmla="*/ 32 w 158"/>
                    <a:gd name="T23" fmla="*/ 14 h 216"/>
                    <a:gd name="T24" fmla="*/ 0 w 158"/>
                    <a:gd name="T25" fmla="*/ 0 h 216"/>
                    <a:gd name="T26" fmla="*/ 0 w 158"/>
                    <a:gd name="T27" fmla="*/ 64 h 216"/>
                    <a:gd name="T28" fmla="*/ 17 w 158"/>
                    <a:gd name="T29" fmla="*/ 72 h 216"/>
                    <a:gd name="T30" fmla="*/ 34 w 158"/>
                    <a:gd name="T31" fmla="*/ 81 h 216"/>
                    <a:gd name="T32" fmla="*/ 48 w 158"/>
                    <a:gd name="T33" fmla="*/ 92 h 216"/>
                    <a:gd name="T34" fmla="*/ 61 w 158"/>
                    <a:gd name="T35" fmla="*/ 103 h 216"/>
                    <a:gd name="T36" fmla="*/ 74 w 158"/>
                    <a:gd name="T37" fmla="*/ 116 h 216"/>
                    <a:gd name="T38" fmla="*/ 85 w 158"/>
                    <a:gd name="T39" fmla="*/ 130 h 216"/>
                    <a:gd name="T40" fmla="*/ 94 w 158"/>
                    <a:gd name="T41" fmla="*/ 144 h 216"/>
                    <a:gd name="T42" fmla="*/ 103 w 158"/>
                    <a:gd name="T43" fmla="*/ 159 h 216"/>
                    <a:gd name="T44" fmla="*/ 91 w 158"/>
                    <a:gd name="T45" fmla="*/ 161 h 216"/>
                    <a:gd name="T46" fmla="*/ 77 w 158"/>
                    <a:gd name="T47" fmla="*/ 161 h 216"/>
                    <a:gd name="T48" fmla="*/ 63 w 158"/>
                    <a:gd name="T49" fmla="*/ 161 h 216"/>
                    <a:gd name="T50" fmla="*/ 49 w 158"/>
                    <a:gd name="T51" fmla="*/ 158 h 216"/>
                    <a:gd name="T52" fmla="*/ 35 w 158"/>
                    <a:gd name="T53" fmla="*/ 155 h 216"/>
                    <a:gd name="T54" fmla="*/ 23 w 158"/>
                    <a:gd name="T55" fmla="*/ 150 h 216"/>
                    <a:gd name="T56" fmla="*/ 11 w 158"/>
                    <a:gd name="T57" fmla="*/ 144 h 216"/>
                    <a:gd name="T58" fmla="*/ 0 w 158"/>
                    <a:gd name="T59" fmla="*/ 138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 h="216">
                      <a:moveTo>
                        <a:pt x="0" y="138"/>
                      </a:moveTo>
                      <a:lnTo>
                        <a:pt x="0" y="195"/>
                      </a:lnTo>
                      <a:lnTo>
                        <a:pt x="91" y="216"/>
                      </a:lnTo>
                      <a:lnTo>
                        <a:pt x="158" y="183"/>
                      </a:lnTo>
                      <a:lnTo>
                        <a:pt x="148" y="103"/>
                      </a:lnTo>
                      <a:lnTo>
                        <a:pt x="126" y="81"/>
                      </a:lnTo>
                      <a:lnTo>
                        <a:pt x="111" y="66"/>
                      </a:lnTo>
                      <a:lnTo>
                        <a:pt x="98" y="53"/>
                      </a:lnTo>
                      <a:lnTo>
                        <a:pt x="88" y="44"/>
                      </a:lnTo>
                      <a:lnTo>
                        <a:pt x="74" y="35"/>
                      </a:lnTo>
                      <a:lnTo>
                        <a:pt x="57" y="26"/>
                      </a:lnTo>
                      <a:lnTo>
                        <a:pt x="32" y="14"/>
                      </a:lnTo>
                      <a:lnTo>
                        <a:pt x="0" y="0"/>
                      </a:lnTo>
                      <a:lnTo>
                        <a:pt x="0" y="64"/>
                      </a:lnTo>
                      <a:lnTo>
                        <a:pt x="17" y="72"/>
                      </a:lnTo>
                      <a:lnTo>
                        <a:pt x="34" y="81"/>
                      </a:lnTo>
                      <a:lnTo>
                        <a:pt x="48" y="92"/>
                      </a:lnTo>
                      <a:lnTo>
                        <a:pt x="61" y="103"/>
                      </a:lnTo>
                      <a:lnTo>
                        <a:pt x="74" y="116"/>
                      </a:lnTo>
                      <a:lnTo>
                        <a:pt x="85" y="130"/>
                      </a:lnTo>
                      <a:lnTo>
                        <a:pt x="94" y="144"/>
                      </a:lnTo>
                      <a:lnTo>
                        <a:pt x="103" y="159"/>
                      </a:lnTo>
                      <a:lnTo>
                        <a:pt x="91" y="161"/>
                      </a:lnTo>
                      <a:lnTo>
                        <a:pt x="77" y="161"/>
                      </a:lnTo>
                      <a:lnTo>
                        <a:pt x="63" y="161"/>
                      </a:lnTo>
                      <a:lnTo>
                        <a:pt x="49" y="158"/>
                      </a:lnTo>
                      <a:lnTo>
                        <a:pt x="35" y="155"/>
                      </a:lnTo>
                      <a:lnTo>
                        <a:pt x="23" y="150"/>
                      </a:lnTo>
                      <a:lnTo>
                        <a:pt x="11" y="144"/>
                      </a:lnTo>
                      <a:lnTo>
                        <a:pt x="0"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sp>
              <p:nvSpPr>
                <p:cNvPr id="129" name="Freeform 111"/>
                <p:cNvSpPr>
                  <a:spLocks/>
                </p:cNvSpPr>
                <p:nvPr/>
              </p:nvSpPr>
              <p:spPr bwMode="auto">
                <a:xfrm>
                  <a:off x="2597" y="1682"/>
                  <a:ext cx="87" cy="154"/>
                </a:xfrm>
                <a:custGeom>
                  <a:avLst/>
                  <a:gdLst>
                    <a:gd name="T0" fmla="*/ 172 w 174"/>
                    <a:gd name="T1" fmla="*/ 109 h 307"/>
                    <a:gd name="T2" fmla="*/ 172 w 174"/>
                    <a:gd name="T3" fmla="*/ 45 h 307"/>
                    <a:gd name="T4" fmla="*/ 158 w 174"/>
                    <a:gd name="T5" fmla="*/ 40 h 307"/>
                    <a:gd name="T6" fmla="*/ 146 w 174"/>
                    <a:gd name="T7" fmla="*/ 35 h 307"/>
                    <a:gd name="T8" fmla="*/ 132 w 174"/>
                    <a:gd name="T9" fmla="*/ 31 h 307"/>
                    <a:gd name="T10" fmla="*/ 120 w 174"/>
                    <a:gd name="T11" fmla="*/ 25 h 307"/>
                    <a:gd name="T12" fmla="*/ 108 w 174"/>
                    <a:gd name="T13" fmla="*/ 19 h 307"/>
                    <a:gd name="T14" fmla="*/ 95 w 174"/>
                    <a:gd name="T15" fmla="*/ 12 h 307"/>
                    <a:gd name="T16" fmla="*/ 81 w 174"/>
                    <a:gd name="T17" fmla="*/ 6 h 307"/>
                    <a:gd name="T18" fmla="*/ 69 w 174"/>
                    <a:gd name="T19" fmla="*/ 0 h 307"/>
                    <a:gd name="T20" fmla="*/ 0 w 174"/>
                    <a:gd name="T21" fmla="*/ 217 h 307"/>
                    <a:gd name="T22" fmla="*/ 5 w 174"/>
                    <a:gd name="T23" fmla="*/ 231 h 307"/>
                    <a:gd name="T24" fmla="*/ 12 w 174"/>
                    <a:gd name="T25" fmla="*/ 244 h 307"/>
                    <a:gd name="T26" fmla="*/ 22 w 174"/>
                    <a:gd name="T27" fmla="*/ 258 h 307"/>
                    <a:gd name="T28" fmla="*/ 31 w 174"/>
                    <a:gd name="T29" fmla="*/ 271 h 307"/>
                    <a:gd name="T30" fmla="*/ 43 w 174"/>
                    <a:gd name="T31" fmla="*/ 281 h 307"/>
                    <a:gd name="T32" fmla="*/ 55 w 174"/>
                    <a:gd name="T33" fmla="*/ 292 h 307"/>
                    <a:gd name="T34" fmla="*/ 68 w 174"/>
                    <a:gd name="T35" fmla="*/ 300 h 307"/>
                    <a:gd name="T36" fmla="*/ 80 w 174"/>
                    <a:gd name="T37" fmla="*/ 307 h 307"/>
                    <a:gd name="T38" fmla="*/ 147 w 174"/>
                    <a:gd name="T39" fmla="*/ 286 h 307"/>
                    <a:gd name="T40" fmla="*/ 160 w 174"/>
                    <a:gd name="T41" fmla="*/ 264 h 307"/>
                    <a:gd name="T42" fmla="*/ 169 w 174"/>
                    <a:gd name="T43" fmla="*/ 237 h 307"/>
                    <a:gd name="T44" fmla="*/ 174 w 174"/>
                    <a:gd name="T45" fmla="*/ 209 h 307"/>
                    <a:gd name="T46" fmla="*/ 172 w 174"/>
                    <a:gd name="T47" fmla="*/ 183 h 307"/>
                    <a:gd name="T48" fmla="*/ 166 w 174"/>
                    <a:gd name="T49" fmla="*/ 192 h 307"/>
                    <a:gd name="T50" fmla="*/ 161 w 174"/>
                    <a:gd name="T51" fmla="*/ 201 h 307"/>
                    <a:gd name="T52" fmla="*/ 155 w 174"/>
                    <a:gd name="T53" fmla="*/ 212 h 307"/>
                    <a:gd name="T54" fmla="*/ 147 w 174"/>
                    <a:gd name="T55" fmla="*/ 221 h 307"/>
                    <a:gd name="T56" fmla="*/ 140 w 174"/>
                    <a:gd name="T57" fmla="*/ 231 h 307"/>
                    <a:gd name="T58" fmla="*/ 132 w 174"/>
                    <a:gd name="T59" fmla="*/ 240 h 307"/>
                    <a:gd name="T60" fmla="*/ 123 w 174"/>
                    <a:gd name="T61" fmla="*/ 246 h 307"/>
                    <a:gd name="T62" fmla="*/ 114 w 174"/>
                    <a:gd name="T63" fmla="*/ 251 h 307"/>
                    <a:gd name="T64" fmla="*/ 69 w 174"/>
                    <a:gd name="T65" fmla="*/ 228 h 307"/>
                    <a:gd name="T66" fmla="*/ 75 w 174"/>
                    <a:gd name="T67" fmla="*/ 191 h 307"/>
                    <a:gd name="T68" fmla="*/ 84 w 174"/>
                    <a:gd name="T69" fmla="*/ 154 h 307"/>
                    <a:gd name="T70" fmla="*/ 92 w 174"/>
                    <a:gd name="T71" fmla="*/ 117 h 307"/>
                    <a:gd name="T72" fmla="*/ 103 w 174"/>
                    <a:gd name="T73" fmla="*/ 80 h 307"/>
                    <a:gd name="T74" fmla="*/ 172 w 174"/>
                    <a:gd name="T75" fmla="*/ 109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4" h="307">
                      <a:moveTo>
                        <a:pt x="172" y="109"/>
                      </a:moveTo>
                      <a:lnTo>
                        <a:pt x="172" y="45"/>
                      </a:lnTo>
                      <a:lnTo>
                        <a:pt x="158" y="40"/>
                      </a:lnTo>
                      <a:lnTo>
                        <a:pt x="146" y="35"/>
                      </a:lnTo>
                      <a:lnTo>
                        <a:pt x="132" y="31"/>
                      </a:lnTo>
                      <a:lnTo>
                        <a:pt x="120" y="25"/>
                      </a:lnTo>
                      <a:lnTo>
                        <a:pt x="108" y="19"/>
                      </a:lnTo>
                      <a:lnTo>
                        <a:pt x="95" y="12"/>
                      </a:lnTo>
                      <a:lnTo>
                        <a:pt x="81" y="6"/>
                      </a:lnTo>
                      <a:lnTo>
                        <a:pt x="69" y="0"/>
                      </a:lnTo>
                      <a:lnTo>
                        <a:pt x="0" y="217"/>
                      </a:lnTo>
                      <a:lnTo>
                        <a:pt x="5" y="231"/>
                      </a:lnTo>
                      <a:lnTo>
                        <a:pt x="12" y="244"/>
                      </a:lnTo>
                      <a:lnTo>
                        <a:pt x="22" y="258"/>
                      </a:lnTo>
                      <a:lnTo>
                        <a:pt x="31" y="271"/>
                      </a:lnTo>
                      <a:lnTo>
                        <a:pt x="43" y="281"/>
                      </a:lnTo>
                      <a:lnTo>
                        <a:pt x="55" y="292"/>
                      </a:lnTo>
                      <a:lnTo>
                        <a:pt x="68" y="300"/>
                      </a:lnTo>
                      <a:lnTo>
                        <a:pt x="80" y="307"/>
                      </a:lnTo>
                      <a:lnTo>
                        <a:pt x="147" y="286"/>
                      </a:lnTo>
                      <a:lnTo>
                        <a:pt x="160" y="264"/>
                      </a:lnTo>
                      <a:lnTo>
                        <a:pt x="169" y="237"/>
                      </a:lnTo>
                      <a:lnTo>
                        <a:pt x="174" y="209"/>
                      </a:lnTo>
                      <a:lnTo>
                        <a:pt x="172" y="183"/>
                      </a:lnTo>
                      <a:lnTo>
                        <a:pt x="166" y="192"/>
                      </a:lnTo>
                      <a:lnTo>
                        <a:pt x="161" y="201"/>
                      </a:lnTo>
                      <a:lnTo>
                        <a:pt x="155" y="212"/>
                      </a:lnTo>
                      <a:lnTo>
                        <a:pt x="147" y="221"/>
                      </a:lnTo>
                      <a:lnTo>
                        <a:pt x="140" y="231"/>
                      </a:lnTo>
                      <a:lnTo>
                        <a:pt x="132" y="240"/>
                      </a:lnTo>
                      <a:lnTo>
                        <a:pt x="123" y="246"/>
                      </a:lnTo>
                      <a:lnTo>
                        <a:pt x="114" y="251"/>
                      </a:lnTo>
                      <a:lnTo>
                        <a:pt x="69" y="228"/>
                      </a:lnTo>
                      <a:lnTo>
                        <a:pt x="75" y="191"/>
                      </a:lnTo>
                      <a:lnTo>
                        <a:pt x="84" y="154"/>
                      </a:lnTo>
                      <a:lnTo>
                        <a:pt x="92" y="117"/>
                      </a:lnTo>
                      <a:lnTo>
                        <a:pt x="103" y="80"/>
                      </a:lnTo>
                      <a:lnTo>
                        <a:pt x="172"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grpSp>
          <p:grpSp>
            <p:nvGrpSpPr>
              <p:cNvPr id="119" name="Group 112"/>
              <p:cNvGrpSpPr>
                <a:grpSpLocks/>
              </p:cNvGrpSpPr>
              <p:nvPr/>
            </p:nvGrpSpPr>
            <p:grpSpPr bwMode="auto">
              <a:xfrm>
                <a:off x="511" y="2203"/>
                <a:ext cx="77" cy="62"/>
                <a:chOff x="3235" y="1597"/>
                <a:chExt cx="263" cy="200"/>
              </a:xfrm>
            </p:grpSpPr>
            <p:sp>
              <p:nvSpPr>
                <p:cNvPr id="123" name="Freeform 113"/>
                <p:cNvSpPr>
                  <a:spLocks/>
                </p:cNvSpPr>
                <p:nvPr/>
              </p:nvSpPr>
              <p:spPr bwMode="auto">
                <a:xfrm>
                  <a:off x="3321" y="1647"/>
                  <a:ext cx="114" cy="75"/>
                </a:xfrm>
                <a:custGeom>
                  <a:avLst/>
                  <a:gdLst>
                    <a:gd name="T0" fmla="*/ 0 w 229"/>
                    <a:gd name="T1" fmla="*/ 115 h 149"/>
                    <a:gd name="T2" fmla="*/ 81 w 229"/>
                    <a:gd name="T3" fmla="*/ 104 h 149"/>
                    <a:gd name="T4" fmla="*/ 115 w 229"/>
                    <a:gd name="T5" fmla="*/ 25 h 149"/>
                    <a:gd name="T6" fmla="*/ 160 w 229"/>
                    <a:gd name="T7" fmla="*/ 35 h 149"/>
                    <a:gd name="T8" fmla="*/ 195 w 229"/>
                    <a:gd name="T9" fmla="*/ 0 h 149"/>
                    <a:gd name="T10" fmla="*/ 229 w 229"/>
                    <a:gd name="T11" fmla="*/ 25 h 149"/>
                    <a:gd name="T12" fmla="*/ 172 w 229"/>
                    <a:gd name="T13" fmla="*/ 92 h 149"/>
                    <a:gd name="T14" fmla="*/ 126 w 229"/>
                    <a:gd name="T15" fmla="*/ 81 h 149"/>
                    <a:gd name="T16" fmla="*/ 115 w 229"/>
                    <a:gd name="T17" fmla="*/ 126 h 149"/>
                    <a:gd name="T18" fmla="*/ 25 w 229"/>
                    <a:gd name="T19" fmla="*/ 149 h 149"/>
                    <a:gd name="T20" fmla="*/ 0 w 229"/>
                    <a:gd name="T21" fmla="*/ 11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9" h="149">
                      <a:moveTo>
                        <a:pt x="0" y="115"/>
                      </a:moveTo>
                      <a:lnTo>
                        <a:pt x="81" y="104"/>
                      </a:lnTo>
                      <a:lnTo>
                        <a:pt x="115" y="25"/>
                      </a:lnTo>
                      <a:lnTo>
                        <a:pt x="160" y="35"/>
                      </a:lnTo>
                      <a:lnTo>
                        <a:pt x="195" y="0"/>
                      </a:lnTo>
                      <a:lnTo>
                        <a:pt x="229" y="25"/>
                      </a:lnTo>
                      <a:lnTo>
                        <a:pt x="172" y="92"/>
                      </a:lnTo>
                      <a:lnTo>
                        <a:pt x="126" y="81"/>
                      </a:lnTo>
                      <a:lnTo>
                        <a:pt x="115" y="126"/>
                      </a:lnTo>
                      <a:lnTo>
                        <a:pt x="25" y="149"/>
                      </a:lnTo>
                      <a:lnTo>
                        <a:pt x="0" y="115"/>
                      </a:lnTo>
                      <a:close/>
                    </a:path>
                  </a:pathLst>
                </a:custGeom>
                <a:solidFill>
                  <a:srgbClr val="7CFFE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sp>
              <p:nvSpPr>
                <p:cNvPr id="124" name="Freeform 114"/>
                <p:cNvSpPr>
                  <a:spLocks/>
                </p:cNvSpPr>
                <p:nvPr/>
              </p:nvSpPr>
              <p:spPr bwMode="auto">
                <a:xfrm>
                  <a:off x="3370" y="1597"/>
                  <a:ext cx="128" cy="167"/>
                </a:xfrm>
                <a:custGeom>
                  <a:avLst/>
                  <a:gdLst>
                    <a:gd name="T0" fmla="*/ 0 w 257"/>
                    <a:gd name="T1" fmla="*/ 273 h 333"/>
                    <a:gd name="T2" fmla="*/ 0 w 257"/>
                    <a:gd name="T3" fmla="*/ 333 h 333"/>
                    <a:gd name="T4" fmla="*/ 7 w 257"/>
                    <a:gd name="T5" fmla="*/ 318 h 333"/>
                    <a:gd name="T6" fmla="*/ 119 w 257"/>
                    <a:gd name="T7" fmla="*/ 307 h 333"/>
                    <a:gd name="T8" fmla="*/ 131 w 257"/>
                    <a:gd name="T9" fmla="*/ 239 h 333"/>
                    <a:gd name="T10" fmla="*/ 223 w 257"/>
                    <a:gd name="T11" fmla="*/ 227 h 333"/>
                    <a:gd name="T12" fmla="*/ 257 w 257"/>
                    <a:gd name="T13" fmla="*/ 149 h 333"/>
                    <a:gd name="T14" fmla="*/ 211 w 257"/>
                    <a:gd name="T15" fmla="*/ 33 h 333"/>
                    <a:gd name="T16" fmla="*/ 189 w 257"/>
                    <a:gd name="T17" fmla="*/ 21 h 333"/>
                    <a:gd name="T18" fmla="*/ 163 w 257"/>
                    <a:gd name="T19" fmla="*/ 12 h 333"/>
                    <a:gd name="T20" fmla="*/ 136 w 257"/>
                    <a:gd name="T21" fmla="*/ 4 h 333"/>
                    <a:gd name="T22" fmla="*/ 108 w 257"/>
                    <a:gd name="T23" fmla="*/ 0 h 333"/>
                    <a:gd name="T24" fmla="*/ 79 w 257"/>
                    <a:gd name="T25" fmla="*/ 0 h 333"/>
                    <a:gd name="T26" fmla="*/ 50 w 257"/>
                    <a:gd name="T27" fmla="*/ 1 h 333"/>
                    <a:gd name="T28" fmla="*/ 23 w 257"/>
                    <a:gd name="T29" fmla="*/ 7 h 333"/>
                    <a:gd name="T30" fmla="*/ 0 w 257"/>
                    <a:gd name="T31" fmla="*/ 18 h 333"/>
                    <a:gd name="T32" fmla="*/ 0 w 257"/>
                    <a:gd name="T33" fmla="*/ 70 h 333"/>
                    <a:gd name="T34" fmla="*/ 62 w 257"/>
                    <a:gd name="T35" fmla="*/ 44 h 333"/>
                    <a:gd name="T36" fmla="*/ 142 w 257"/>
                    <a:gd name="T37" fmla="*/ 56 h 333"/>
                    <a:gd name="T38" fmla="*/ 200 w 257"/>
                    <a:gd name="T39" fmla="*/ 126 h 333"/>
                    <a:gd name="T40" fmla="*/ 176 w 257"/>
                    <a:gd name="T41" fmla="*/ 182 h 333"/>
                    <a:gd name="T42" fmla="*/ 97 w 257"/>
                    <a:gd name="T43" fmla="*/ 205 h 333"/>
                    <a:gd name="T44" fmla="*/ 85 w 257"/>
                    <a:gd name="T45" fmla="*/ 273 h 333"/>
                    <a:gd name="T46" fmla="*/ 0 w 257"/>
                    <a:gd name="T47" fmla="*/ 273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7" h="333">
                      <a:moveTo>
                        <a:pt x="0" y="273"/>
                      </a:moveTo>
                      <a:lnTo>
                        <a:pt x="0" y="333"/>
                      </a:lnTo>
                      <a:lnTo>
                        <a:pt x="7" y="318"/>
                      </a:lnTo>
                      <a:lnTo>
                        <a:pt x="119" y="307"/>
                      </a:lnTo>
                      <a:lnTo>
                        <a:pt x="131" y="239"/>
                      </a:lnTo>
                      <a:lnTo>
                        <a:pt x="223" y="227"/>
                      </a:lnTo>
                      <a:lnTo>
                        <a:pt x="257" y="149"/>
                      </a:lnTo>
                      <a:lnTo>
                        <a:pt x="211" y="33"/>
                      </a:lnTo>
                      <a:lnTo>
                        <a:pt x="189" y="21"/>
                      </a:lnTo>
                      <a:lnTo>
                        <a:pt x="163" y="12"/>
                      </a:lnTo>
                      <a:lnTo>
                        <a:pt x="136" y="4"/>
                      </a:lnTo>
                      <a:lnTo>
                        <a:pt x="108" y="0"/>
                      </a:lnTo>
                      <a:lnTo>
                        <a:pt x="79" y="0"/>
                      </a:lnTo>
                      <a:lnTo>
                        <a:pt x="50" y="1"/>
                      </a:lnTo>
                      <a:lnTo>
                        <a:pt x="23" y="7"/>
                      </a:lnTo>
                      <a:lnTo>
                        <a:pt x="0" y="18"/>
                      </a:lnTo>
                      <a:lnTo>
                        <a:pt x="0" y="70"/>
                      </a:lnTo>
                      <a:lnTo>
                        <a:pt x="62" y="44"/>
                      </a:lnTo>
                      <a:lnTo>
                        <a:pt x="142" y="56"/>
                      </a:lnTo>
                      <a:lnTo>
                        <a:pt x="200" y="126"/>
                      </a:lnTo>
                      <a:lnTo>
                        <a:pt x="176" y="182"/>
                      </a:lnTo>
                      <a:lnTo>
                        <a:pt x="97" y="205"/>
                      </a:lnTo>
                      <a:lnTo>
                        <a:pt x="85" y="273"/>
                      </a:lnTo>
                      <a:lnTo>
                        <a:pt x="0" y="2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sp>
              <p:nvSpPr>
                <p:cNvPr id="125" name="Freeform 115"/>
                <p:cNvSpPr>
                  <a:spLocks/>
                </p:cNvSpPr>
                <p:nvPr/>
              </p:nvSpPr>
              <p:spPr bwMode="auto">
                <a:xfrm>
                  <a:off x="3235" y="1606"/>
                  <a:ext cx="135" cy="191"/>
                </a:xfrm>
                <a:custGeom>
                  <a:avLst/>
                  <a:gdLst>
                    <a:gd name="T0" fmla="*/ 268 w 270"/>
                    <a:gd name="T1" fmla="*/ 52 h 383"/>
                    <a:gd name="T2" fmla="*/ 268 w 270"/>
                    <a:gd name="T3" fmla="*/ 0 h 383"/>
                    <a:gd name="T4" fmla="*/ 244 w 270"/>
                    <a:gd name="T5" fmla="*/ 3 h 383"/>
                    <a:gd name="T6" fmla="*/ 219 w 270"/>
                    <a:gd name="T7" fmla="*/ 12 h 383"/>
                    <a:gd name="T8" fmla="*/ 195 w 270"/>
                    <a:gd name="T9" fmla="*/ 26 h 383"/>
                    <a:gd name="T10" fmla="*/ 172 w 270"/>
                    <a:gd name="T11" fmla="*/ 45 h 383"/>
                    <a:gd name="T12" fmla="*/ 149 w 270"/>
                    <a:gd name="T13" fmla="*/ 68 h 383"/>
                    <a:gd name="T14" fmla="*/ 129 w 270"/>
                    <a:gd name="T15" fmla="*/ 92 h 383"/>
                    <a:gd name="T16" fmla="*/ 107 w 270"/>
                    <a:gd name="T17" fmla="*/ 121 h 383"/>
                    <a:gd name="T18" fmla="*/ 89 w 270"/>
                    <a:gd name="T19" fmla="*/ 151 h 383"/>
                    <a:gd name="T20" fmla="*/ 70 w 270"/>
                    <a:gd name="T21" fmla="*/ 181 h 383"/>
                    <a:gd name="T22" fmla="*/ 55 w 270"/>
                    <a:gd name="T23" fmla="*/ 214 h 383"/>
                    <a:gd name="T24" fmla="*/ 41 w 270"/>
                    <a:gd name="T25" fmla="*/ 246 h 383"/>
                    <a:gd name="T26" fmla="*/ 27 w 270"/>
                    <a:gd name="T27" fmla="*/ 277 h 383"/>
                    <a:gd name="T28" fmla="*/ 18 w 270"/>
                    <a:gd name="T29" fmla="*/ 306 h 383"/>
                    <a:gd name="T30" fmla="*/ 9 w 270"/>
                    <a:gd name="T31" fmla="*/ 333 h 383"/>
                    <a:gd name="T32" fmla="*/ 3 w 270"/>
                    <a:gd name="T33" fmla="*/ 358 h 383"/>
                    <a:gd name="T34" fmla="*/ 0 w 270"/>
                    <a:gd name="T35" fmla="*/ 380 h 383"/>
                    <a:gd name="T36" fmla="*/ 13 w 270"/>
                    <a:gd name="T37" fmla="*/ 381 h 383"/>
                    <a:gd name="T38" fmla="*/ 27 w 270"/>
                    <a:gd name="T39" fmla="*/ 383 h 383"/>
                    <a:gd name="T40" fmla="*/ 41 w 270"/>
                    <a:gd name="T41" fmla="*/ 383 h 383"/>
                    <a:gd name="T42" fmla="*/ 56 w 270"/>
                    <a:gd name="T43" fmla="*/ 381 h 383"/>
                    <a:gd name="T44" fmla="*/ 72 w 270"/>
                    <a:gd name="T45" fmla="*/ 380 h 383"/>
                    <a:gd name="T46" fmla="*/ 89 w 270"/>
                    <a:gd name="T47" fmla="*/ 378 h 383"/>
                    <a:gd name="T48" fmla="*/ 104 w 270"/>
                    <a:gd name="T49" fmla="*/ 375 h 383"/>
                    <a:gd name="T50" fmla="*/ 121 w 270"/>
                    <a:gd name="T51" fmla="*/ 372 h 383"/>
                    <a:gd name="T52" fmla="*/ 138 w 270"/>
                    <a:gd name="T53" fmla="*/ 370 h 383"/>
                    <a:gd name="T54" fmla="*/ 155 w 270"/>
                    <a:gd name="T55" fmla="*/ 367 h 383"/>
                    <a:gd name="T56" fmla="*/ 172 w 270"/>
                    <a:gd name="T57" fmla="*/ 364 h 383"/>
                    <a:gd name="T58" fmla="*/ 187 w 270"/>
                    <a:gd name="T59" fmla="*/ 361 h 383"/>
                    <a:gd name="T60" fmla="*/ 204 w 270"/>
                    <a:gd name="T61" fmla="*/ 360 h 383"/>
                    <a:gd name="T62" fmla="*/ 221 w 270"/>
                    <a:gd name="T63" fmla="*/ 358 h 383"/>
                    <a:gd name="T64" fmla="*/ 236 w 270"/>
                    <a:gd name="T65" fmla="*/ 356 h 383"/>
                    <a:gd name="T66" fmla="*/ 251 w 270"/>
                    <a:gd name="T67" fmla="*/ 356 h 383"/>
                    <a:gd name="T68" fmla="*/ 262 w 270"/>
                    <a:gd name="T69" fmla="*/ 335 h 383"/>
                    <a:gd name="T70" fmla="*/ 268 w 270"/>
                    <a:gd name="T71" fmla="*/ 307 h 383"/>
                    <a:gd name="T72" fmla="*/ 270 w 270"/>
                    <a:gd name="T73" fmla="*/ 280 h 383"/>
                    <a:gd name="T74" fmla="*/ 268 w 270"/>
                    <a:gd name="T75" fmla="*/ 255 h 383"/>
                    <a:gd name="T76" fmla="*/ 262 w 270"/>
                    <a:gd name="T77" fmla="*/ 255 h 383"/>
                    <a:gd name="T78" fmla="*/ 239 w 270"/>
                    <a:gd name="T79" fmla="*/ 300 h 383"/>
                    <a:gd name="T80" fmla="*/ 218 w 270"/>
                    <a:gd name="T81" fmla="*/ 303 h 383"/>
                    <a:gd name="T82" fmla="*/ 196 w 270"/>
                    <a:gd name="T83" fmla="*/ 306 h 383"/>
                    <a:gd name="T84" fmla="*/ 175 w 270"/>
                    <a:gd name="T85" fmla="*/ 307 h 383"/>
                    <a:gd name="T86" fmla="*/ 155 w 270"/>
                    <a:gd name="T87" fmla="*/ 310 h 383"/>
                    <a:gd name="T88" fmla="*/ 133 w 270"/>
                    <a:gd name="T89" fmla="*/ 310 h 383"/>
                    <a:gd name="T90" fmla="*/ 112 w 270"/>
                    <a:gd name="T91" fmla="*/ 312 h 383"/>
                    <a:gd name="T92" fmla="*/ 90 w 270"/>
                    <a:gd name="T93" fmla="*/ 312 h 383"/>
                    <a:gd name="T94" fmla="*/ 69 w 270"/>
                    <a:gd name="T95" fmla="*/ 312 h 383"/>
                    <a:gd name="T96" fmla="*/ 76 w 270"/>
                    <a:gd name="T97" fmla="*/ 280 h 383"/>
                    <a:gd name="T98" fmla="*/ 92 w 270"/>
                    <a:gd name="T99" fmla="*/ 241 h 383"/>
                    <a:gd name="T100" fmla="*/ 115 w 270"/>
                    <a:gd name="T101" fmla="*/ 198 h 383"/>
                    <a:gd name="T102" fmla="*/ 141 w 270"/>
                    <a:gd name="T103" fmla="*/ 157 h 383"/>
                    <a:gd name="T104" fmla="*/ 172 w 270"/>
                    <a:gd name="T105" fmla="*/ 118 h 383"/>
                    <a:gd name="T106" fmla="*/ 204 w 270"/>
                    <a:gd name="T107" fmla="*/ 84 h 383"/>
                    <a:gd name="T108" fmla="*/ 236 w 270"/>
                    <a:gd name="T109" fmla="*/ 61 h 383"/>
                    <a:gd name="T110" fmla="*/ 268 w 270"/>
                    <a:gd name="T111" fmla="*/ 52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70" h="383">
                      <a:moveTo>
                        <a:pt x="268" y="52"/>
                      </a:moveTo>
                      <a:lnTo>
                        <a:pt x="268" y="0"/>
                      </a:lnTo>
                      <a:lnTo>
                        <a:pt x="244" y="3"/>
                      </a:lnTo>
                      <a:lnTo>
                        <a:pt x="219" y="12"/>
                      </a:lnTo>
                      <a:lnTo>
                        <a:pt x="195" y="26"/>
                      </a:lnTo>
                      <a:lnTo>
                        <a:pt x="172" y="45"/>
                      </a:lnTo>
                      <a:lnTo>
                        <a:pt x="149" y="68"/>
                      </a:lnTo>
                      <a:lnTo>
                        <a:pt x="129" y="92"/>
                      </a:lnTo>
                      <a:lnTo>
                        <a:pt x="107" y="121"/>
                      </a:lnTo>
                      <a:lnTo>
                        <a:pt x="89" y="151"/>
                      </a:lnTo>
                      <a:lnTo>
                        <a:pt x="70" y="181"/>
                      </a:lnTo>
                      <a:lnTo>
                        <a:pt x="55" y="214"/>
                      </a:lnTo>
                      <a:lnTo>
                        <a:pt x="41" y="246"/>
                      </a:lnTo>
                      <a:lnTo>
                        <a:pt x="27" y="277"/>
                      </a:lnTo>
                      <a:lnTo>
                        <a:pt x="18" y="306"/>
                      </a:lnTo>
                      <a:lnTo>
                        <a:pt x="9" y="333"/>
                      </a:lnTo>
                      <a:lnTo>
                        <a:pt x="3" y="358"/>
                      </a:lnTo>
                      <a:lnTo>
                        <a:pt x="0" y="380"/>
                      </a:lnTo>
                      <a:lnTo>
                        <a:pt x="13" y="381"/>
                      </a:lnTo>
                      <a:lnTo>
                        <a:pt x="27" y="383"/>
                      </a:lnTo>
                      <a:lnTo>
                        <a:pt x="41" y="383"/>
                      </a:lnTo>
                      <a:lnTo>
                        <a:pt x="56" y="381"/>
                      </a:lnTo>
                      <a:lnTo>
                        <a:pt x="72" y="380"/>
                      </a:lnTo>
                      <a:lnTo>
                        <a:pt x="89" y="378"/>
                      </a:lnTo>
                      <a:lnTo>
                        <a:pt x="104" y="375"/>
                      </a:lnTo>
                      <a:lnTo>
                        <a:pt x="121" y="372"/>
                      </a:lnTo>
                      <a:lnTo>
                        <a:pt x="138" y="370"/>
                      </a:lnTo>
                      <a:lnTo>
                        <a:pt x="155" y="367"/>
                      </a:lnTo>
                      <a:lnTo>
                        <a:pt x="172" y="364"/>
                      </a:lnTo>
                      <a:lnTo>
                        <a:pt x="187" y="361"/>
                      </a:lnTo>
                      <a:lnTo>
                        <a:pt x="204" y="360"/>
                      </a:lnTo>
                      <a:lnTo>
                        <a:pt x="221" y="358"/>
                      </a:lnTo>
                      <a:lnTo>
                        <a:pt x="236" y="356"/>
                      </a:lnTo>
                      <a:lnTo>
                        <a:pt x="251" y="356"/>
                      </a:lnTo>
                      <a:lnTo>
                        <a:pt x="262" y="335"/>
                      </a:lnTo>
                      <a:lnTo>
                        <a:pt x="268" y="307"/>
                      </a:lnTo>
                      <a:lnTo>
                        <a:pt x="270" y="280"/>
                      </a:lnTo>
                      <a:lnTo>
                        <a:pt x="268" y="255"/>
                      </a:lnTo>
                      <a:lnTo>
                        <a:pt x="262" y="255"/>
                      </a:lnTo>
                      <a:lnTo>
                        <a:pt x="239" y="300"/>
                      </a:lnTo>
                      <a:lnTo>
                        <a:pt x="218" y="303"/>
                      </a:lnTo>
                      <a:lnTo>
                        <a:pt x="196" y="306"/>
                      </a:lnTo>
                      <a:lnTo>
                        <a:pt x="175" y="307"/>
                      </a:lnTo>
                      <a:lnTo>
                        <a:pt x="155" y="310"/>
                      </a:lnTo>
                      <a:lnTo>
                        <a:pt x="133" y="310"/>
                      </a:lnTo>
                      <a:lnTo>
                        <a:pt x="112" y="312"/>
                      </a:lnTo>
                      <a:lnTo>
                        <a:pt x="90" y="312"/>
                      </a:lnTo>
                      <a:lnTo>
                        <a:pt x="69" y="312"/>
                      </a:lnTo>
                      <a:lnTo>
                        <a:pt x="76" y="280"/>
                      </a:lnTo>
                      <a:lnTo>
                        <a:pt x="92" y="241"/>
                      </a:lnTo>
                      <a:lnTo>
                        <a:pt x="115" y="198"/>
                      </a:lnTo>
                      <a:lnTo>
                        <a:pt x="141" y="157"/>
                      </a:lnTo>
                      <a:lnTo>
                        <a:pt x="172" y="118"/>
                      </a:lnTo>
                      <a:lnTo>
                        <a:pt x="204" y="84"/>
                      </a:lnTo>
                      <a:lnTo>
                        <a:pt x="236" y="61"/>
                      </a:lnTo>
                      <a:lnTo>
                        <a:pt x="268"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grpSp>
          <p:grpSp>
            <p:nvGrpSpPr>
              <p:cNvPr id="120" name="Group 116"/>
              <p:cNvGrpSpPr>
                <a:grpSpLocks/>
              </p:cNvGrpSpPr>
              <p:nvPr/>
            </p:nvGrpSpPr>
            <p:grpSpPr bwMode="auto">
              <a:xfrm>
                <a:off x="456" y="2139"/>
                <a:ext cx="82" cy="28"/>
                <a:chOff x="1200" y="3160"/>
                <a:chExt cx="250" cy="98"/>
              </a:xfrm>
            </p:grpSpPr>
            <p:sp>
              <p:nvSpPr>
                <p:cNvPr id="121" name="Line 117"/>
                <p:cNvSpPr>
                  <a:spLocks noChangeShapeType="1"/>
                </p:cNvSpPr>
                <p:nvPr/>
              </p:nvSpPr>
              <p:spPr bwMode="gray">
                <a:xfrm>
                  <a:off x="1200" y="3162"/>
                  <a:ext cx="96" cy="9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122" name="Line 118"/>
                <p:cNvSpPr>
                  <a:spLocks noChangeShapeType="1"/>
                </p:cNvSpPr>
                <p:nvPr/>
              </p:nvSpPr>
              <p:spPr bwMode="gray">
                <a:xfrm flipH="1">
                  <a:off x="1354" y="3160"/>
                  <a:ext cx="96" cy="9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smtClean="0">
                    <a:ln>
                      <a:noFill/>
                    </a:ln>
                    <a:solidFill>
                      <a:srgbClr val="000000"/>
                    </a:solidFill>
                    <a:effectLst/>
                    <a:uLnTx/>
                    <a:uFillTx/>
                    <a:latin typeface="+mn-ea"/>
                    <a:ea typeface="+mn-ea"/>
                  </a:endParaRPr>
                </a:p>
              </p:txBody>
            </p:sp>
          </p:grpSp>
        </p:grpSp>
      </p:grpSp>
      <p:sp>
        <p:nvSpPr>
          <p:cNvPr id="138" name="AutoShape 86"/>
          <p:cNvSpPr>
            <a:spLocks noChangeArrowheads="1"/>
          </p:cNvSpPr>
          <p:nvPr/>
        </p:nvSpPr>
        <p:spPr bwMode="auto">
          <a:xfrm>
            <a:off x="4377187" y="5911572"/>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600" b="1" dirty="0" smtClean="0">
                <a:latin typeface="+mn-ea"/>
                <a:ea typeface="+mn-ea"/>
              </a:rPr>
              <a:t>??</a:t>
            </a:r>
          </a:p>
          <a:p>
            <a:pPr algn="ctr"/>
            <a:r>
              <a:rPr lang="en-US" altLang="ko-KR" sz="600" b="1" dirty="0" smtClean="0">
                <a:latin typeface="+mn-ea"/>
                <a:ea typeface="+mn-ea"/>
              </a:rPr>
              <a:t>OM_ORDER@EDW_EC</a:t>
            </a:r>
            <a:endParaRPr lang="ko-KR" altLang="en-US" sz="600" b="1" dirty="0">
              <a:latin typeface="+mn-ea"/>
              <a:ea typeface="+mn-ea"/>
            </a:endParaRPr>
          </a:p>
        </p:txBody>
      </p:sp>
      <p:sp>
        <p:nvSpPr>
          <p:cNvPr id="139" name="AutoShape 86"/>
          <p:cNvSpPr>
            <a:spLocks noChangeArrowheads="1"/>
          </p:cNvSpPr>
          <p:nvPr/>
        </p:nvSpPr>
        <p:spPr bwMode="auto">
          <a:xfrm>
            <a:off x="4367935" y="537575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cxnSp>
        <p:nvCxnSpPr>
          <p:cNvPr id="140" name="AutoShape 67"/>
          <p:cNvCxnSpPr>
            <a:cxnSpLocks noChangeShapeType="1"/>
            <a:stCxn id="83" idx="3"/>
            <a:endCxn id="139" idx="2"/>
          </p:cNvCxnSpPr>
          <p:nvPr/>
        </p:nvCxnSpPr>
        <p:spPr bwMode="gray">
          <a:xfrm>
            <a:off x="4097905" y="5298355"/>
            <a:ext cx="270030" cy="321281"/>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AutoShape 67"/>
          <p:cNvCxnSpPr>
            <a:cxnSpLocks noChangeShapeType="1"/>
            <a:stCxn id="83" idx="3"/>
            <a:endCxn id="138" idx="2"/>
          </p:cNvCxnSpPr>
          <p:nvPr/>
        </p:nvCxnSpPr>
        <p:spPr bwMode="gray">
          <a:xfrm>
            <a:off x="4097905" y="5298355"/>
            <a:ext cx="279282" cy="857096"/>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 name="Rectangle 49"/>
          <p:cNvSpPr>
            <a:spLocks noChangeArrowheads="1"/>
          </p:cNvSpPr>
          <p:nvPr/>
        </p:nvSpPr>
        <p:spPr bwMode="gray">
          <a:xfrm>
            <a:off x="5582339" y="5509278"/>
            <a:ext cx="109994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데이터 </a:t>
            </a:r>
            <a:r>
              <a:rPr lang="en-US" altLang="ko-KR" sz="800" b="1" dirty="0" smtClean="0">
                <a:latin typeface="+mn-ea"/>
                <a:ea typeface="+mn-ea"/>
              </a:rPr>
              <a:t>UPDATE</a:t>
            </a:r>
            <a:endParaRPr lang="ko-KR" altLang="en-US" sz="800" b="1" dirty="0">
              <a:latin typeface="+mn-ea"/>
              <a:ea typeface="+mn-ea"/>
            </a:endParaRPr>
          </a:p>
        </p:txBody>
      </p:sp>
      <p:sp>
        <p:nvSpPr>
          <p:cNvPr id="147" name="TextBox 94"/>
          <p:cNvSpPr txBox="1">
            <a:spLocks noChangeArrowheads="1"/>
          </p:cNvSpPr>
          <p:nvPr/>
        </p:nvSpPr>
        <p:spPr bwMode="auto">
          <a:xfrm>
            <a:off x="5057505" y="5418801"/>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cxnSp>
        <p:nvCxnSpPr>
          <p:cNvPr id="148" name="AutoShape 67"/>
          <p:cNvCxnSpPr>
            <a:cxnSpLocks noChangeShapeType="1"/>
            <a:stCxn id="139" idx="4"/>
            <a:endCxn id="146" idx="1"/>
          </p:cNvCxnSpPr>
          <p:nvPr/>
        </p:nvCxnSpPr>
        <p:spPr bwMode="gray">
          <a:xfrm flipV="1">
            <a:off x="4934673" y="5618091"/>
            <a:ext cx="647666" cy="1545"/>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2" name="AutoShape 67"/>
          <p:cNvCxnSpPr>
            <a:cxnSpLocks noChangeShapeType="1"/>
            <a:stCxn id="138" idx="4"/>
            <a:endCxn id="146" idx="1"/>
          </p:cNvCxnSpPr>
          <p:nvPr/>
        </p:nvCxnSpPr>
        <p:spPr bwMode="gray">
          <a:xfrm flipV="1">
            <a:off x="4943925" y="5618091"/>
            <a:ext cx="638414" cy="537360"/>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AutoShape 67"/>
          <p:cNvCxnSpPr>
            <a:cxnSpLocks noChangeShapeType="1"/>
            <a:stCxn id="146" idx="0"/>
            <a:endCxn id="139" idx="1"/>
          </p:cNvCxnSpPr>
          <p:nvPr/>
        </p:nvCxnSpPr>
        <p:spPr bwMode="gray">
          <a:xfrm rot="16200000" flipV="1">
            <a:off x="5325048" y="4702014"/>
            <a:ext cx="133521" cy="1481008"/>
          </a:xfrm>
          <a:prstGeom prst="bentConnector3">
            <a:avLst>
              <a:gd name="adj1" fmla="val 271209"/>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1" name="TextBox 94"/>
          <p:cNvSpPr txBox="1">
            <a:spLocks noChangeArrowheads="1"/>
          </p:cNvSpPr>
          <p:nvPr/>
        </p:nvSpPr>
        <p:spPr bwMode="auto">
          <a:xfrm>
            <a:off x="5730479" y="5707844"/>
            <a:ext cx="1067726" cy="830997"/>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상품별주문번호</a:t>
            </a:r>
            <a:r>
              <a:rPr lang="en-US" altLang="ko-KR" sz="800" dirty="0" smtClean="0">
                <a:latin typeface="+mn-ea"/>
                <a:ea typeface="+mn-ea"/>
              </a:rPr>
              <a:t>,</a:t>
            </a:r>
            <a:r>
              <a:rPr lang="ko-KR" altLang="en-US" sz="800" dirty="0" smtClean="0">
                <a:latin typeface="+mn-ea"/>
                <a:ea typeface="+mn-ea"/>
              </a:rPr>
              <a:t>주문일자</a:t>
            </a:r>
            <a:r>
              <a:rPr lang="en-US" altLang="ko-KR" sz="800" dirty="0" smtClean="0">
                <a:latin typeface="+mn-ea"/>
                <a:ea typeface="+mn-ea"/>
              </a:rPr>
              <a:t>, </a:t>
            </a:r>
            <a:r>
              <a:rPr lang="ko-KR" altLang="en-US" sz="800" dirty="0" smtClean="0">
                <a:latin typeface="+mn-ea"/>
                <a:ea typeface="+mn-ea"/>
              </a:rPr>
              <a:t>쇼핑몰아이디</a:t>
            </a:r>
            <a:r>
              <a:rPr lang="en-US" altLang="ko-KR" sz="800" dirty="0" smtClean="0">
                <a:latin typeface="+mn-ea"/>
                <a:ea typeface="+mn-ea"/>
              </a:rPr>
              <a:t>, </a:t>
            </a:r>
            <a:r>
              <a:rPr lang="ko-KR" altLang="en-US" sz="800" dirty="0" smtClean="0">
                <a:latin typeface="+mn-ea"/>
                <a:ea typeface="+mn-ea"/>
              </a:rPr>
              <a:t>제품</a:t>
            </a:r>
            <a:r>
              <a:rPr lang="en-US" altLang="ko-KR" sz="800" dirty="0" smtClean="0">
                <a:latin typeface="+mn-ea"/>
                <a:ea typeface="+mn-ea"/>
              </a:rPr>
              <a:t>,</a:t>
            </a:r>
            <a:r>
              <a:rPr lang="ko-KR" altLang="en-US" sz="800" dirty="0" smtClean="0">
                <a:latin typeface="+mn-ea"/>
                <a:ea typeface="+mn-ea"/>
              </a:rPr>
              <a:t>칼라</a:t>
            </a:r>
            <a:r>
              <a:rPr lang="en-US" altLang="ko-KR" sz="800" dirty="0" smtClean="0">
                <a:latin typeface="+mn-ea"/>
                <a:ea typeface="+mn-ea"/>
              </a:rPr>
              <a:t>,</a:t>
            </a:r>
            <a:r>
              <a:rPr lang="ko-KR" altLang="en-US" sz="800" dirty="0" smtClean="0">
                <a:latin typeface="+mn-ea"/>
                <a:ea typeface="+mn-ea"/>
              </a:rPr>
              <a:t>사이즈</a:t>
            </a:r>
            <a:r>
              <a:rPr lang="en-US" altLang="ko-KR" sz="800" dirty="0" smtClean="0">
                <a:latin typeface="+mn-ea"/>
                <a:ea typeface="+mn-ea"/>
              </a:rPr>
              <a:t>,</a:t>
            </a:r>
            <a:r>
              <a:rPr lang="ko-KR" altLang="en-US" sz="800" dirty="0" smtClean="0">
                <a:latin typeface="+mn-ea"/>
                <a:ea typeface="+mn-ea"/>
              </a:rPr>
              <a:t>주문수량</a:t>
            </a:r>
            <a:r>
              <a:rPr lang="en-US" altLang="ko-KR" sz="800" dirty="0" smtClean="0">
                <a:latin typeface="+mn-ea"/>
                <a:ea typeface="+mn-ea"/>
              </a:rPr>
              <a:t>, </a:t>
            </a:r>
            <a:r>
              <a:rPr lang="ko-KR" altLang="en-US" sz="800" dirty="0" err="1" smtClean="0">
                <a:latin typeface="+mn-ea"/>
                <a:ea typeface="+mn-ea"/>
              </a:rPr>
              <a:t>패키</a:t>
            </a:r>
            <a:r>
              <a:rPr lang="en-US" altLang="ko-KR" sz="800" dirty="0" smtClean="0">
                <a:latin typeface="+mn-ea"/>
                <a:ea typeface="+mn-ea"/>
              </a:rPr>
              <a:t>/</a:t>
            </a:r>
            <a:r>
              <a:rPr lang="ko-KR" altLang="en-US" sz="800" dirty="0" err="1" smtClean="0">
                <a:latin typeface="+mn-ea"/>
                <a:ea typeface="+mn-ea"/>
              </a:rPr>
              <a:t>배송완료일시</a:t>
            </a:r>
            <a:r>
              <a:rPr lang="en-US" altLang="ko-KR" sz="800" dirty="0" smtClean="0">
                <a:latin typeface="+mn-ea"/>
                <a:ea typeface="+mn-ea"/>
              </a:rPr>
              <a:t>, </a:t>
            </a:r>
            <a:r>
              <a:rPr lang="ko-KR" altLang="en-US" sz="800" dirty="0" smtClean="0">
                <a:latin typeface="+mn-ea"/>
                <a:ea typeface="+mn-ea"/>
              </a:rPr>
              <a:t>주문금액</a:t>
            </a:r>
            <a:r>
              <a:rPr lang="en-US" altLang="ko-KR" sz="800" dirty="0" smtClean="0">
                <a:latin typeface="+mn-ea"/>
                <a:ea typeface="+mn-ea"/>
              </a:rPr>
              <a:t>/</a:t>
            </a:r>
            <a:r>
              <a:rPr lang="ko-KR" altLang="en-US" sz="800" dirty="0" smtClean="0">
                <a:latin typeface="+mn-ea"/>
                <a:ea typeface="+mn-ea"/>
              </a:rPr>
              <a:t>물류출고매장</a:t>
            </a:r>
            <a:endParaRPr lang="ko-KR" altLang="en-US" sz="800" dirty="0">
              <a:latin typeface="+mn-ea"/>
              <a:ea typeface="+mn-ea"/>
            </a:endParaRPr>
          </a:p>
        </p:txBody>
      </p:sp>
      <p:sp>
        <p:nvSpPr>
          <p:cNvPr id="93" name="AutoShape 73"/>
          <p:cNvSpPr>
            <a:spLocks noChangeArrowheads="1"/>
          </p:cNvSpPr>
          <p:nvPr/>
        </p:nvSpPr>
        <p:spPr bwMode="auto">
          <a:xfrm>
            <a:off x="3785247" y="3773158"/>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작업구분</a:t>
            </a:r>
            <a:endParaRPr lang="en-US" altLang="ko-KR" sz="800" dirty="0" smtClean="0">
              <a:latin typeface="+mn-ea"/>
              <a:ea typeface="+mn-ea"/>
            </a:endParaRPr>
          </a:p>
          <a:p>
            <a:pPr algn="ctr" eaLnBrk="0" latinLnBrk="0" hangingPunct="0">
              <a:lnSpc>
                <a:spcPct val="40000"/>
              </a:lnSpc>
              <a:spcBef>
                <a:spcPct val="50000"/>
              </a:spcBef>
            </a:pPr>
            <a:r>
              <a:rPr lang="en-US" altLang="ko-KR" sz="800" dirty="0" smtClean="0">
                <a:latin typeface="+mn-ea"/>
                <a:ea typeface="+mn-ea"/>
              </a:rPr>
              <a:t>MAPP2</a:t>
            </a: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sp>
        <p:nvSpPr>
          <p:cNvPr id="99" name="Text Box 82"/>
          <p:cNvSpPr txBox="1">
            <a:spLocks noChangeArrowheads="1"/>
          </p:cNvSpPr>
          <p:nvPr/>
        </p:nvSpPr>
        <p:spPr bwMode="gray">
          <a:xfrm>
            <a:off x="3259486" y="3671795"/>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100" name="AutoShape 67"/>
          <p:cNvCxnSpPr>
            <a:cxnSpLocks noChangeShapeType="1"/>
            <a:stCxn id="97" idx="2"/>
            <a:endCxn id="93" idx="1"/>
          </p:cNvCxnSpPr>
          <p:nvPr/>
        </p:nvCxnSpPr>
        <p:spPr bwMode="gray">
          <a:xfrm rot="16200000" flipH="1">
            <a:off x="3423346" y="3648588"/>
            <a:ext cx="270962" cy="452839"/>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 name="AutoShape 86"/>
          <p:cNvSpPr>
            <a:spLocks noChangeArrowheads="1"/>
          </p:cNvSpPr>
          <p:nvPr/>
        </p:nvSpPr>
        <p:spPr bwMode="auto">
          <a:xfrm>
            <a:off x="4944496" y="410819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온라인정산진행체크</a:t>
            </a:r>
            <a:endParaRPr lang="en-US" altLang="ko-KR" sz="600" b="1" dirty="0" smtClean="0">
              <a:latin typeface="+mn-ea"/>
              <a:ea typeface="+mn-ea"/>
            </a:endParaRPr>
          </a:p>
          <a:p>
            <a:pPr algn="ctr"/>
            <a:r>
              <a:rPr lang="en-US" altLang="ko-KR" sz="600" b="1" dirty="0" smtClean="0">
                <a:latin typeface="+mn-ea"/>
                <a:ea typeface="+mn-ea"/>
              </a:rPr>
              <a:t>T_ONLINE_STLM_CHECK</a:t>
            </a:r>
            <a:endParaRPr lang="ko-KR" altLang="en-US" sz="600" b="1" dirty="0">
              <a:latin typeface="+mn-ea"/>
              <a:ea typeface="+mn-ea"/>
            </a:endParaRPr>
          </a:p>
        </p:txBody>
      </p:sp>
      <p:sp>
        <p:nvSpPr>
          <p:cNvPr id="108" name="TextBox 94"/>
          <p:cNvSpPr txBox="1">
            <a:spLocks noChangeArrowheads="1"/>
          </p:cNvSpPr>
          <p:nvPr/>
        </p:nvSpPr>
        <p:spPr bwMode="auto">
          <a:xfrm>
            <a:off x="4263413" y="4326334"/>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14" name="TextBox 94"/>
          <p:cNvSpPr txBox="1">
            <a:spLocks noChangeArrowheads="1"/>
          </p:cNvSpPr>
          <p:nvPr/>
        </p:nvSpPr>
        <p:spPr bwMode="auto">
          <a:xfrm>
            <a:off x="4099462" y="4579631"/>
            <a:ext cx="2040157"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검색조건 </a:t>
            </a:r>
            <a:r>
              <a:rPr lang="en-US" altLang="ko-KR" sz="800" dirty="0" smtClean="0">
                <a:latin typeface="+mn-ea"/>
                <a:ea typeface="+mn-ea"/>
              </a:rPr>
              <a:t>: </a:t>
            </a:r>
            <a:r>
              <a:rPr lang="ko-KR" altLang="en-US" sz="800" dirty="0" err="1" smtClean="0">
                <a:latin typeface="+mn-ea"/>
                <a:ea typeface="+mn-ea"/>
              </a:rPr>
              <a:t>정산년월</a:t>
            </a:r>
            <a:r>
              <a:rPr lang="en-US" altLang="ko-KR" sz="800" dirty="0" smtClean="0">
                <a:latin typeface="+mn-ea"/>
                <a:ea typeface="+mn-ea"/>
              </a:rPr>
              <a:t>, </a:t>
            </a:r>
            <a:r>
              <a:rPr lang="ko-KR" altLang="en-US" sz="800" dirty="0" smtClean="0">
                <a:latin typeface="+mn-ea"/>
                <a:ea typeface="+mn-ea"/>
              </a:rPr>
              <a:t>상위브랜드</a:t>
            </a:r>
            <a:endParaRPr lang="en-US" altLang="ko-KR" sz="800" dirty="0" smtClean="0">
              <a:latin typeface="+mn-ea"/>
              <a:ea typeface="+mn-ea"/>
            </a:endParaRPr>
          </a:p>
          <a:p>
            <a:pPr>
              <a:spcBef>
                <a:spcPct val="20000"/>
              </a:spcBef>
              <a:buClr>
                <a:srgbClr val="003366"/>
              </a:buClr>
            </a:pPr>
            <a:r>
              <a:rPr lang="en-US" altLang="ko-KR" sz="800" dirty="0" smtClean="0">
                <a:latin typeface="+mn-ea"/>
                <a:ea typeface="+mn-ea"/>
              </a:rPr>
              <a:t>MALL_ID, </a:t>
            </a:r>
            <a:r>
              <a:rPr lang="ko-KR" altLang="en-US" sz="800" dirty="0" smtClean="0">
                <a:latin typeface="+mn-ea"/>
                <a:ea typeface="+mn-ea"/>
              </a:rPr>
              <a:t>정산매장</a:t>
            </a:r>
            <a:r>
              <a:rPr lang="en-US" altLang="ko-KR" sz="800" dirty="0" smtClean="0">
                <a:latin typeface="+mn-ea"/>
                <a:ea typeface="+mn-ea"/>
              </a:rPr>
              <a:t>, DEL_DAY IS NULL</a:t>
            </a:r>
          </a:p>
          <a:p>
            <a:pPr>
              <a:spcBef>
                <a:spcPct val="20000"/>
              </a:spcBef>
              <a:buClr>
                <a:srgbClr val="003366"/>
              </a:buClr>
            </a:pPr>
            <a:r>
              <a:rPr lang="en-US" altLang="ko-KR" sz="800" dirty="0" smtClean="0">
                <a:latin typeface="+mn-ea"/>
                <a:ea typeface="+mn-ea"/>
              </a:rPr>
              <a:t>WORK_CLSBY = ‘C59702’</a:t>
            </a:r>
            <a:endParaRPr lang="ko-KR" altLang="en-US" sz="800" dirty="0">
              <a:latin typeface="+mn-ea"/>
              <a:ea typeface="+mn-ea"/>
            </a:endParaRPr>
          </a:p>
        </p:txBody>
      </p:sp>
      <p:cxnSp>
        <p:nvCxnSpPr>
          <p:cNvPr id="135" name="AutoShape 67"/>
          <p:cNvCxnSpPr>
            <a:cxnSpLocks noChangeShapeType="1"/>
            <a:stCxn id="93" idx="2"/>
            <a:endCxn id="101" idx="2"/>
          </p:cNvCxnSpPr>
          <p:nvPr/>
        </p:nvCxnSpPr>
        <p:spPr bwMode="gray">
          <a:xfrm rot="16200000" flipH="1">
            <a:off x="4593432" y="4001008"/>
            <a:ext cx="104252" cy="597875"/>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 name="Text Box 82"/>
          <p:cNvSpPr txBox="1">
            <a:spLocks noChangeArrowheads="1"/>
          </p:cNvSpPr>
          <p:nvPr/>
        </p:nvSpPr>
        <p:spPr bwMode="gray">
          <a:xfrm>
            <a:off x="3990455" y="4177844"/>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44" name="AutoShape 73"/>
          <p:cNvSpPr>
            <a:spLocks noChangeArrowheads="1"/>
          </p:cNvSpPr>
          <p:nvPr/>
        </p:nvSpPr>
        <p:spPr bwMode="auto">
          <a:xfrm>
            <a:off x="5902954" y="3654025"/>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조회 건수 </a:t>
            </a:r>
            <a:r>
              <a:rPr lang="en-US" altLang="ko-KR" sz="800" dirty="0" smtClean="0">
                <a:latin typeface="+mn-ea"/>
                <a:ea typeface="+mn-ea"/>
              </a:rPr>
              <a:t>&lt; 1</a:t>
            </a:r>
          </a:p>
        </p:txBody>
      </p:sp>
      <p:cxnSp>
        <p:nvCxnSpPr>
          <p:cNvPr id="145" name="AutoShape 67"/>
          <p:cNvCxnSpPr>
            <a:cxnSpLocks noChangeShapeType="1"/>
            <a:stCxn id="101" idx="4"/>
            <a:endCxn id="144" idx="1"/>
          </p:cNvCxnSpPr>
          <p:nvPr/>
        </p:nvCxnSpPr>
        <p:spPr bwMode="gray">
          <a:xfrm flipV="1">
            <a:off x="5511234" y="3891356"/>
            <a:ext cx="391720" cy="460716"/>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Text Box 82"/>
          <p:cNvSpPr txBox="1">
            <a:spLocks noChangeArrowheads="1"/>
          </p:cNvSpPr>
          <p:nvPr/>
        </p:nvSpPr>
        <p:spPr bwMode="gray">
          <a:xfrm>
            <a:off x="6707215" y="3610476"/>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50" name="타원 149"/>
          <p:cNvSpPr/>
          <p:nvPr/>
        </p:nvSpPr>
        <p:spPr>
          <a:xfrm>
            <a:off x="7058593" y="3391053"/>
            <a:ext cx="352849" cy="338735"/>
          </a:xfrm>
          <a:prstGeom prst="ellipse">
            <a:avLst/>
          </a:prstGeom>
          <a:noFill/>
          <a:ln>
            <a:solidFill>
              <a:schemeClr val="tx1"/>
            </a:solidFill>
          </a:ln>
        </p:spPr>
        <p:txBody>
          <a:bodyPr wrap="none" lIns="0" rIns="0" rtlCol="0" anchor="ctr">
            <a:noAutofit/>
          </a:bodyPr>
          <a:lstStyle/>
          <a:p>
            <a:pPr marL="268288" indent="-215900" algn="ctr">
              <a:spcBef>
                <a:spcPct val="20000"/>
              </a:spcBef>
              <a:buClr>
                <a:srgbClr val="FFD200"/>
              </a:buClr>
              <a:buSzPct val="75000"/>
            </a:pPr>
            <a:r>
              <a:rPr lang="ko-KR" altLang="en-US" sz="800" kern="0" dirty="0" smtClean="0">
                <a:latin typeface="+mn-ea"/>
                <a:ea typeface="+mn-ea"/>
              </a:rPr>
              <a:t>종료</a:t>
            </a:r>
          </a:p>
        </p:txBody>
      </p:sp>
      <p:sp>
        <p:nvSpPr>
          <p:cNvPr id="141" name="Text Box 82"/>
          <p:cNvSpPr txBox="1">
            <a:spLocks noChangeArrowheads="1"/>
          </p:cNvSpPr>
          <p:nvPr/>
        </p:nvSpPr>
        <p:spPr bwMode="gray">
          <a:xfrm>
            <a:off x="6464056" y="4070122"/>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143" name="AutoShape 86"/>
          <p:cNvSpPr>
            <a:spLocks noChangeArrowheads="1"/>
          </p:cNvSpPr>
          <p:nvPr/>
        </p:nvSpPr>
        <p:spPr bwMode="auto">
          <a:xfrm>
            <a:off x="6663190" y="4471412"/>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cxnSp>
        <p:nvCxnSpPr>
          <p:cNvPr id="153" name="AutoShape 67"/>
          <p:cNvCxnSpPr>
            <a:cxnSpLocks noChangeShapeType="1"/>
            <a:stCxn id="144" idx="2"/>
            <a:endCxn id="143" idx="1"/>
          </p:cNvCxnSpPr>
          <p:nvPr/>
        </p:nvCxnSpPr>
        <p:spPr bwMode="gray">
          <a:xfrm rot="16200000" flipH="1">
            <a:off x="6534081" y="4058933"/>
            <a:ext cx="342725" cy="482231"/>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TextBox 94"/>
          <p:cNvSpPr txBox="1">
            <a:spLocks noChangeArrowheads="1"/>
          </p:cNvSpPr>
          <p:nvPr/>
        </p:nvSpPr>
        <p:spPr bwMode="auto">
          <a:xfrm>
            <a:off x="6139348" y="4518701"/>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56" name="TextBox 94"/>
          <p:cNvSpPr txBox="1">
            <a:spLocks noChangeArrowheads="1"/>
          </p:cNvSpPr>
          <p:nvPr/>
        </p:nvSpPr>
        <p:spPr bwMode="auto">
          <a:xfrm>
            <a:off x="6379628" y="4975971"/>
            <a:ext cx="1067726"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수불</a:t>
            </a:r>
            <a:r>
              <a:rPr lang="en-US" altLang="ko-KR" sz="800" dirty="0" smtClean="0">
                <a:latin typeface="+mn-ea"/>
                <a:ea typeface="+mn-ea"/>
              </a:rPr>
              <a:t>ID, ATT10,</a:t>
            </a:r>
          </a:p>
          <a:p>
            <a:pPr>
              <a:spcBef>
                <a:spcPct val="20000"/>
              </a:spcBef>
              <a:buClr>
                <a:srgbClr val="003366"/>
              </a:buClr>
            </a:pPr>
            <a:r>
              <a:rPr lang="en-US" altLang="ko-KR" sz="800" dirty="0" smtClean="0">
                <a:latin typeface="+mn-ea"/>
                <a:ea typeface="+mn-ea"/>
              </a:rPr>
              <a:t>ATTR2, </a:t>
            </a:r>
            <a:r>
              <a:rPr lang="ko-KR" altLang="en-US" sz="800" dirty="0" err="1" smtClean="0">
                <a:latin typeface="+mn-ea"/>
                <a:ea typeface="+mn-ea"/>
              </a:rPr>
              <a:t>실판매금액</a:t>
            </a:r>
            <a:endParaRPr lang="en-US" altLang="ko-KR" sz="800" dirty="0" smtClean="0">
              <a:latin typeface="+mn-ea"/>
              <a:ea typeface="+mn-ea"/>
            </a:endParaRPr>
          </a:p>
          <a:p>
            <a:pPr>
              <a:spcBef>
                <a:spcPct val="20000"/>
              </a:spcBef>
              <a:buClr>
                <a:srgbClr val="003366"/>
              </a:buClr>
            </a:pPr>
            <a:r>
              <a:rPr lang="ko-KR" altLang="en-US" sz="800" dirty="0" smtClean="0">
                <a:latin typeface="+mn-ea"/>
                <a:ea typeface="+mn-ea"/>
              </a:rPr>
              <a:t>매장</a:t>
            </a:r>
            <a:endParaRPr lang="ko-KR" altLang="en-US" sz="800" dirty="0">
              <a:latin typeface="+mn-ea"/>
              <a:ea typeface="+mn-ea"/>
            </a:endParaRPr>
          </a:p>
        </p:txBody>
      </p:sp>
      <p:cxnSp>
        <p:nvCxnSpPr>
          <p:cNvPr id="157" name="AutoShape 67"/>
          <p:cNvCxnSpPr>
            <a:cxnSpLocks noChangeShapeType="1"/>
            <a:stCxn id="143" idx="2"/>
            <a:endCxn id="146" idx="0"/>
          </p:cNvCxnSpPr>
          <p:nvPr/>
        </p:nvCxnSpPr>
        <p:spPr bwMode="gray">
          <a:xfrm rot="10800000" flipV="1">
            <a:off x="6132312" y="4715290"/>
            <a:ext cx="530878" cy="793987"/>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AutoShape 67"/>
          <p:cNvCxnSpPr>
            <a:cxnSpLocks noChangeShapeType="1"/>
            <a:stCxn id="144" idx="3"/>
            <a:endCxn id="150" idx="4"/>
          </p:cNvCxnSpPr>
          <p:nvPr/>
        </p:nvCxnSpPr>
        <p:spPr bwMode="gray">
          <a:xfrm flipV="1">
            <a:off x="7025702" y="3729788"/>
            <a:ext cx="209316" cy="161568"/>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9" name="Text Box 82"/>
          <p:cNvSpPr txBox="1">
            <a:spLocks noChangeArrowheads="1"/>
          </p:cNvSpPr>
          <p:nvPr/>
        </p:nvSpPr>
        <p:spPr bwMode="gray">
          <a:xfrm>
            <a:off x="4708838" y="3789040"/>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18" name="순서도: 페이지 연결자 17"/>
          <p:cNvSpPr/>
          <p:nvPr/>
        </p:nvSpPr>
        <p:spPr>
          <a:xfrm>
            <a:off x="6692822" y="1656981"/>
            <a:ext cx="679669" cy="568329"/>
          </a:xfrm>
          <a:prstGeom prst="flowChartOffpageConnector">
            <a:avLst/>
          </a:prstGeom>
          <a:solidFill>
            <a:schemeClr val="accent1">
              <a:lumMod val="40000"/>
              <a:lumOff val="60000"/>
            </a:schemeClr>
          </a:solidFill>
          <a:ln>
            <a:solidFill>
              <a:schemeClr val="accent1"/>
            </a:solidFill>
          </a:ln>
        </p:spPr>
        <p:txBody>
          <a:bodyPr wrap="square" rtlCol="0" anchor="ctr">
            <a:noAutofit/>
          </a:bodyPr>
          <a:lstStyle/>
          <a:p>
            <a:pPr marL="268288" indent="-215900">
              <a:spcBef>
                <a:spcPct val="20000"/>
              </a:spcBef>
              <a:buClr>
                <a:srgbClr val="FFD200"/>
              </a:buClr>
              <a:buSzPct val="75000"/>
            </a:pPr>
            <a:r>
              <a:rPr lang="ko-KR" altLang="en-US" sz="800" b="1" kern="0" dirty="0" smtClean="0">
                <a:latin typeface="+mn-ea"/>
                <a:ea typeface="+mn-ea"/>
              </a:rPr>
              <a:t>작업구분</a:t>
            </a:r>
            <a:endParaRPr lang="en-US" altLang="ko-KR" sz="800" b="1" kern="0" dirty="0" smtClean="0">
              <a:latin typeface="+mn-ea"/>
              <a:ea typeface="+mn-ea"/>
            </a:endParaRPr>
          </a:p>
          <a:p>
            <a:pPr marL="268288" indent="-215900" algn="ctr">
              <a:spcBef>
                <a:spcPct val="20000"/>
              </a:spcBef>
              <a:buClr>
                <a:srgbClr val="FFD200"/>
              </a:buClr>
              <a:buSzPct val="75000"/>
            </a:pPr>
            <a:r>
              <a:rPr lang="en-US" altLang="ko-KR" sz="800" b="1" kern="0" dirty="0" smtClean="0">
                <a:latin typeface="+mn-ea"/>
                <a:ea typeface="+mn-ea"/>
              </a:rPr>
              <a:t>MAPP3</a:t>
            </a:r>
          </a:p>
          <a:p>
            <a:pPr marL="268288" indent="-215900" algn="ctr">
              <a:spcBef>
                <a:spcPct val="20000"/>
              </a:spcBef>
              <a:buClr>
                <a:srgbClr val="FFD200"/>
              </a:buClr>
              <a:buSzPct val="75000"/>
            </a:pPr>
            <a:r>
              <a:rPr lang="ko-KR" altLang="en-US" sz="800" b="1" kern="0" dirty="0" smtClean="0">
                <a:latin typeface="+mn-ea"/>
                <a:ea typeface="+mn-ea"/>
              </a:rPr>
              <a:t>처리</a:t>
            </a:r>
          </a:p>
        </p:txBody>
      </p:sp>
      <p:cxnSp>
        <p:nvCxnSpPr>
          <p:cNvPr id="160" name="AutoShape 67"/>
          <p:cNvCxnSpPr>
            <a:cxnSpLocks noChangeShapeType="1"/>
            <a:stCxn id="93" idx="3"/>
            <a:endCxn id="162" idx="1"/>
          </p:cNvCxnSpPr>
          <p:nvPr/>
        </p:nvCxnSpPr>
        <p:spPr bwMode="gray">
          <a:xfrm flipV="1">
            <a:off x="4907995" y="3326684"/>
            <a:ext cx="540060" cy="683805"/>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2" name="AutoShape 73"/>
          <p:cNvSpPr>
            <a:spLocks noChangeArrowheads="1"/>
          </p:cNvSpPr>
          <p:nvPr/>
        </p:nvSpPr>
        <p:spPr bwMode="auto">
          <a:xfrm>
            <a:off x="5448055" y="3089353"/>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작업구분</a:t>
            </a:r>
            <a:endParaRPr lang="en-US" altLang="ko-KR" sz="800" dirty="0" smtClean="0">
              <a:latin typeface="+mn-ea"/>
              <a:ea typeface="+mn-ea"/>
            </a:endParaRPr>
          </a:p>
          <a:p>
            <a:pPr algn="ctr" eaLnBrk="0" latinLnBrk="0" hangingPunct="0">
              <a:lnSpc>
                <a:spcPct val="40000"/>
              </a:lnSpc>
              <a:spcBef>
                <a:spcPct val="50000"/>
              </a:spcBef>
            </a:pPr>
            <a:r>
              <a:rPr lang="en-US" altLang="ko-KR" sz="800" dirty="0" smtClean="0">
                <a:latin typeface="+mn-ea"/>
                <a:ea typeface="+mn-ea"/>
              </a:rPr>
              <a:t>MAPP3</a:t>
            </a: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sp>
        <p:nvSpPr>
          <p:cNvPr id="163" name="Text Box 82"/>
          <p:cNvSpPr txBox="1">
            <a:spLocks noChangeArrowheads="1"/>
          </p:cNvSpPr>
          <p:nvPr/>
        </p:nvSpPr>
        <p:spPr bwMode="gray">
          <a:xfrm>
            <a:off x="5726747" y="2932130"/>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164" name="AutoShape 67"/>
          <p:cNvCxnSpPr>
            <a:cxnSpLocks noChangeShapeType="1"/>
            <a:stCxn id="162" idx="0"/>
            <a:endCxn id="18" idx="1"/>
          </p:cNvCxnSpPr>
          <p:nvPr/>
        </p:nvCxnSpPr>
        <p:spPr bwMode="gray">
          <a:xfrm rot="5400000" flipH="1" flipV="1">
            <a:off x="5777022" y="2173554"/>
            <a:ext cx="1148207" cy="683393"/>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순서도: 페이지 연결자 164"/>
          <p:cNvSpPr/>
          <p:nvPr/>
        </p:nvSpPr>
        <p:spPr>
          <a:xfrm>
            <a:off x="6699908" y="2411155"/>
            <a:ext cx="679669" cy="568329"/>
          </a:xfrm>
          <a:prstGeom prst="flowChartOffpageConnector">
            <a:avLst/>
          </a:prstGeom>
          <a:solidFill>
            <a:schemeClr val="accent1">
              <a:lumMod val="40000"/>
              <a:lumOff val="60000"/>
            </a:schemeClr>
          </a:solidFill>
          <a:ln>
            <a:solidFill>
              <a:schemeClr val="accent1"/>
            </a:solidFill>
          </a:ln>
        </p:spPr>
        <p:txBody>
          <a:bodyPr wrap="square" rtlCol="0" anchor="ctr">
            <a:noAutofit/>
          </a:bodyPr>
          <a:lstStyle/>
          <a:p>
            <a:pPr marL="268288" indent="-215900">
              <a:spcBef>
                <a:spcPct val="20000"/>
              </a:spcBef>
              <a:buClr>
                <a:srgbClr val="FFD200"/>
              </a:buClr>
              <a:buSzPct val="75000"/>
            </a:pPr>
            <a:r>
              <a:rPr lang="ko-KR" altLang="en-US" sz="800" b="1" kern="0" dirty="0" smtClean="0">
                <a:latin typeface="+mn-ea"/>
                <a:ea typeface="+mn-ea"/>
              </a:rPr>
              <a:t>작업구분</a:t>
            </a:r>
            <a:endParaRPr lang="en-US" altLang="ko-KR" sz="800" b="1" kern="0" dirty="0" smtClean="0">
              <a:latin typeface="+mn-ea"/>
              <a:ea typeface="+mn-ea"/>
            </a:endParaRPr>
          </a:p>
          <a:p>
            <a:pPr marL="268288" indent="-215900" algn="ctr">
              <a:spcBef>
                <a:spcPct val="20000"/>
              </a:spcBef>
              <a:buClr>
                <a:srgbClr val="FFD200"/>
              </a:buClr>
              <a:buSzPct val="75000"/>
            </a:pPr>
            <a:r>
              <a:rPr lang="ko-KR" altLang="en-US" sz="800" b="1" kern="0" dirty="0" smtClean="0">
                <a:latin typeface="+mn-ea"/>
                <a:ea typeface="+mn-ea"/>
              </a:rPr>
              <a:t>정산처리</a:t>
            </a:r>
            <a:endParaRPr lang="en-US" altLang="ko-KR" sz="800" b="1" kern="0" dirty="0" smtClean="0">
              <a:latin typeface="+mn-ea"/>
              <a:ea typeface="+mn-ea"/>
            </a:endParaRPr>
          </a:p>
          <a:p>
            <a:pPr marL="268288" indent="-215900" algn="ctr">
              <a:spcBef>
                <a:spcPct val="20000"/>
              </a:spcBef>
              <a:buClr>
                <a:srgbClr val="FFD200"/>
              </a:buClr>
              <a:buSzPct val="75000"/>
            </a:pPr>
            <a:r>
              <a:rPr lang="ko-KR" altLang="en-US" sz="800" b="1" kern="0" dirty="0" smtClean="0">
                <a:latin typeface="+mn-ea"/>
                <a:ea typeface="+mn-ea"/>
              </a:rPr>
              <a:t>처리</a:t>
            </a:r>
          </a:p>
        </p:txBody>
      </p:sp>
      <p:sp>
        <p:nvSpPr>
          <p:cNvPr id="166" name="Text Box 82"/>
          <p:cNvSpPr txBox="1">
            <a:spLocks noChangeArrowheads="1"/>
          </p:cNvSpPr>
          <p:nvPr/>
        </p:nvSpPr>
        <p:spPr bwMode="gray">
          <a:xfrm>
            <a:off x="6364831" y="3123546"/>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167" name="AutoShape 67"/>
          <p:cNvCxnSpPr>
            <a:cxnSpLocks noChangeShapeType="1"/>
            <a:stCxn id="162" idx="3"/>
            <a:endCxn id="165" idx="2"/>
          </p:cNvCxnSpPr>
          <p:nvPr/>
        </p:nvCxnSpPr>
        <p:spPr bwMode="gray">
          <a:xfrm flipV="1">
            <a:off x="6570803" y="2979484"/>
            <a:ext cx="468940" cy="347200"/>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TextBox 94"/>
          <p:cNvSpPr txBox="1">
            <a:spLocks noChangeArrowheads="1"/>
          </p:cNvSpPr>
          <p:nvPr/>
        </p:nvSpPr>
        <p:spPr bwMode="auto">
          <a:xfrm>
            <a:off x="3143275" y="1733049"/>
            <a:ext cx="1206813" cy="363176"/>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err="1" smtClean="0">
                <a:latin typeface="+mn-ea"/>
                <a:ea typeface="+mn-ea"/>
              </a:rPr>
              <a:t>정산년월</a:t>
            </a:r>
            <a:r>
              <a:rPr lang="en-US" altLang="ko-KR" sz="800" dirty="0" smtClean="0">
                <a:latin typeface="+mn-ea"/>
                <a:ea typeface="+mn-ea"/>
              </a:rPr>
              <a:t>, </a:t>
            </a:r>
            <a:r>
              <a:rPr lang="ko-KR" altLang="en-US" sz="800" dirty="0" smtClean="0">
                <a:latin typeface="+mn-ea"/>
                <a:ea typeface="+mn-ea"/>
              </a:rPr>
              <a:t>상위브랜드</a:t>
            </a:r>
            <a:endParaRPr lang="en-US" altLang="ko-KR" sz="800" dirty="0" smtClean="0">
              <a:latin typeface="+mn-ea"/>
              <a:ea typeface="+mn-ea"/>
            </a:endParaRPr>
          </a:p>
          <a:p>
            <a:pPr>
              <a:spcBef>
                <a:spcPct val="20000"/>
              </a:spcBef>
              <a:buClr>
                <a:srgbClr val="003366"/>
              </a:buClr>
            </a:pPr>
            <a:r>
              <a:rPr lang="en-US" altLang="ko-KR" sz="800" dirty="0" smtClean="0">
                <a:latin typeface="+mn-ea"/>
                <a:ea typeface="+mn-ea"/>
              </a:rPr>
              <a:t>MALL_ID, </a:t>
            </a:r>
            <a:r>
              <a:rPr lang="ko-KR" altLang="en-US" sz="800" dirty="0" smtClean="0">
                <a:latin typeface="+mn-ea"/>
                <a:ea typeface="+mn-ea"/>
              </a:rPr>
              <a:t>정산매장</a:t>
            </a:r>
            <a:endParaRPr lang="ko-KR" altLang="en-US" sz="800" dirty="0">
              <a:latin typeface="+mn-ea"/>
              <a:ea typeface="+mn-ea"/>
            </a:endParaRPr>
          </a:p>
        </p:txBody>
      </p:sp>
      <p:sp>
        <p:nvSpPr>
          <p:cNvPr id="169" name="TextBox 94"/>
          <p:cNvSpPr txBox="1">
            <a:spLocks noChangeArrowheads="1"/>
          </p:cNvSpPr>
          <p:nvPr/>
        </p:nvSpPr>
        <p:spPr bwMode="auto">
          <a:xfrm>
            <a:off x="4142116" y="1976908"/>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51" name="TextBox 94"/>
          <p:cNvSpPr txBox="1">
            <a:spLocks noChangeArrowheads="1"/>
          </p:cNvSpPr>
          <p:nvPr/>
        </p:nvSpPr>
        <p:spPr bwMode="auto">
          <a:xfrm>
            <a:off x="3152800" y="2118931"/>
            <a:ext cx="1274769" cy="461665"/>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dirty="0">
                <a:latin typeface="+mn-ea"/>
                <a:ea typeface="+mn-ea"/>
              </a:rPr>
              <a:t>EC(</a:t>
            </a:r>
            <a:r>
              <a:rPr lang="ko-KR" altLang="en-US" sz="800" dirty="0">
                <a:latin typeface="+mn-ea"/>
                <a:ea typeface="+mn-ea"/>
              </a:rPr>
              <a:t>온라인 구 시스템</a:t>
            </a:r>
            <a:r>
              <a:rPr lang="en-US" altLang="ko-KR" sz="800" dirty="0">
                <a:latin typeface="+mn-ea"/>
                <a:ea typeface="+mn-ea"/>
              </a:rPr>
              <a:t>) </a:t>
            </a:r>
            <a:r>
              <a:rPr lang="ko-KR" altLang="en-US" sz="800" dirty="0">
                <a:latin typeface="+mn-ea"/>
                <a:ea typeface="+mn-ea"/>
              </a:rPr>
              <a:t>으로 연동한 주문의 정산서 업로드 시 </a:t>
            </a:r>
            <a:r>
              <a:rPr lang="ko-KR" altLang="en-US" sz="800" dirty="0" smtClean="0">
                <a:latin typeface="+mn-ea"/>
                <a:ea typeface="+mn-ea"/>
              </a:rPr>
              <a:t>사용</a:t>
            </a:r>
            <a:endParaRPr lang="ko-KR" altLang="en-US" sz="800" dirty="0">
              <a:latin typeface="+mn-ea"/>
              <a:ea typeface="+mn-ea"/>
            </a:endParaRPr>
          </a:p>
        </p:txBody>
      </p:sp>
    </p:spTree>
    <p:extLst>
      <p:ext uri="{BB962C8B-B14F-4D97-AF65-F5344CB8AC3E}">
        <p14:creationId xmlns:p14="http://schemas.microsoft.com/office/powerpoint/2010/main" val="27920034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tangle 2"/>
          <p:cNvSpPr>
            <a:spLocks noChangeArrowheads="1"/>
          </p:cNvSpPr>
          <p:nvPr/>
        </p:nvSpPr>
        <p:spPr bwMode="gray">
          <a:xfrm>
            <a:off x="408619" y="4450456"/>
            <a:ext cx="5579496" cy="2004536"/>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a:latin typeface="+mn-ea"/>
              <a:ea typeface="+mn-ea"/>
            </a:endParaRPr>
          </a:p>
        </p:txBody>
      </p:sp>
      <p:sp>
        <p:nvSpPr>
          <p:cNvPr id="274" name="AutoShape 86"/>
          <p:cNvSpPr>
            <a:spLocks noChangeArrowheads="1"/>
          </p:cNvSpPr>
          <p:nvPr/>
        </p:nvSpPr>
        <p:spPr bwMode="auto">
          <a:xfrm>
            <a:off x="3675312" y="5851766"/>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sp>
        <p:nvSpPr>
          <p:cNvPr id="276" name="AutoShape 86"/>
          <p:cNvSpPr>
            <a:spLocks noChangeArrowheads="1"/>
          </p:cNvSpPr>
          <p:nvPr/>
        </p:nvSpPr>
        <p:spPr bwMode="auto">
          <a:xfrm>
            <a:off x="3667683" y="5398719"/>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a:latin typeface="+mn-ea"/>
                <a:ea typeface="+mn-ea"/>
              </a:rPr>
              <a:t>미배칭</a:t>
            </a:r>
            <a:r>
              <a:rPr lang="ko-KR" altLang="en-US" sz="600" b="1" dirty="0">
                <a:latin typeface="+mn-ea"/>
                <a:ea typeface="+mn-ea"/>
              </a:rPr>
              <a:t> 주문</a:t>
            </a:r>
            <a:r>
              <a:rPr lang="en-US" altLang="ko-KR" sz="600" b="1" dirty="0">
                <a:latin typeface="+mn-ea"/>
                <a:ea typeface="+mn-ea"/>
              </a:rPr>
              <a:t>I/F</a:t>
            </a:r>
            <a:endParaRPr lang="en-US" altLang="ko-KR" sz="600" b="1" dirty="0" smtClean="0">
              <a:latin typeface="+mn-ea"/>
              <a:ea typeface="+mn-ea"/>
            </a:endParaRPr>
          </a:p>
          <a:p>
            <a:pPr algn="ctr"/>
            <a:r>
              <a:rPr lang="en-US" altLang="ko-KR" sz="600" b="1" dirty="0">
                <a:latin typeface="+mn-ea"/>
                <a:ea typeface="+mn-ea"/>
              </a:rPr>
              <a:t>T_GWM_IF_STLM_BASE_MISS</a:t>
            </a:r>
            <a:endParaRPr lang="ko-KR" altLang="en-US" sz="600" b="1" dirty="0">
              <a:latin typeface="+mn-ea"/>
              <a:ea typeface="+mn-ea"/>
            </a:endParaRPr>
          </a:p>
        </p:txBody>
      </p:sp>
      <p:sp>
        <p:nvSpPr>
          <p:cNvPr id="175" name="Rectangle 2"/>
          <p:cNvSpPr>
            <a:spLocks noChangeArrowheads="1"/>
          </p:cNvSpPr>
          <p:nvPr/>
        </p:nvSpPr>
        <p:spPr bwMode="gray">
          <a:xfrm>
            <a:off x="333410" y="2383517"/>
            <a:ext cx="1784885" cy="658264"/>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a:latin typeface="+mn-ea"/>
              <a:ea typeface="+mn-ea"/>
            </a:endParaRPr>
          </a:p>
        </p:txBody>
      </p:sp>
      <p:sp>
        <p:nvSpPr>
          <p:cNvPr id="11" name="제목 10"/>
          <p:cNvSpPr>
            <a:spLocks noGrp="1"/>
          </p:cNvSpPr>
          <p:nvPr>
            <p:ph type="title"/>
          </p:nvPr>
        </p:nvSpPr>
        <p:spPr/>
        <p:txBody>
          <a:bodyPr/>
          <a:lstStyle/>
          <a:p>
            <a:r>
              <a:rPr lang="en-US" altLang="ko-KR" dirty="0">
                <a:latin typeface="+mn-ea"/>
                <a:ea typeface="+mn-ea"/>
              </a:rPr>
              <a:t>6</a:t>
            </a:r>
            <a:r>
              <a:rPr lang="en-US" altLang="ko-KR" dirty="0" smtClean="0">
                <a:latin typeface="+mn-ea"/>
                <a:ea typeface="+mn-ea"/>
              </a:rPr>
              <a:t>. </a:t>
            </a:r>
            <a:r>
              <a:rPr lang="ko-KR" altLang="en-US" dirty="0" smtClean="0">
                <a:latin typeface="+mn-ea"/>
                <a:ea typeface="+mn-ea"/>
              </a:rPr>
              <a:t>외부 </a:t>
            </a:r>
            <a:r>
              <a:rPr lang="ko-KR" altLang="en-US" dirty="0" smtClean="0">
                <a:latin typeface="+mn-ea"/>
                <a:ea typeface="+mn-ea"/>
              </a:rPr>
              <a:t>몰 정산</a:t>
            </a:r>
            <a:endParaRPr lang="ko-KR" altLang="en-US" sz="1400" dirty="0">
              <a:latin typeface="+mn-ea"/>
              <a:ea typeface="+mn-ea"/>
            </a:endParaRPr>
          </a:p>
        </p:txBody>
      </p:sp>
      <p:sp>
        <p:nvSpPr>
          <p:cNvPr id="42" name="TextBox 39"/>
          <p:cNvSpPr txBox="1">
            <a:spLocks noChangeArrowheads="1"/>
          </p:cNvSpPr>
          <p:nvPr/>
        </p:nvSpPr>
        <p:spPr bwMode="auto">
          <a:xfrm>
            <a:off x="218855" y="738114"/>
            <a:ext cx="9594685" cy="304699"/>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a:latin typeface="+mn-ea"/>
                <a:ea typeface="+mn-ea"/>
              </a:rPr>
              <a:t> </a:t>
            </a:r>
            <a:r>
              <a:rPr kumimoji="0" lang="ko-KR" altLang="en-US" sz="1200" b="1" dirty="0">
                <a:solidFill>
                  <a:prstClr val="black"/>
                </a:solidFill>
                <a:latin typeface="+mn-ea"/>
                <a:ea typeface="+mn-ea"/>
              </a:rPr>
              <a:t>외부 몰 판매에 대한 정산 처리</a:t>
            </a:r>
            <a:r>
              <a:rPr kumimoji="0" lang="en-US" altLang="ko-KR" sz="1200" b="1" dirty="0">
                <a:solidFill>
                  <a:prstClr val="black"/>
                </a:solidFill>
                <a:latin typeface="+mn-ea"/>
                <a:ea typeface="+mn-ea"/>
              </a:rPr>
              <a:t>. </a:t>
            </a:r>
            <a:r>
              <a:rPr kumimoji="0" lang="ko-KR" altLang="en-US" sz="1200" b="1" dirty="0">
                <a:solidFill>
                  <a:prstClr val="black"/>
                </a:solidFill>
                <a:latin typeface="+mn-ea"/>
                <a:ea typeface="+mn-ea"/>
              </a:rPr>
              <a:t>외부 몰 정산 </a:t>
            </a:r>
            <a:r>
              <a:rPr kumimoji="0" lang="en-US" altLang="ko-KR" sz="1200" b="1" dirty="0">
                <a:solidFill>
                  <a:prstClr val="black"/>
                </a:solidFill>
                <a:latin typeface="+mn-ea"/>
                <a:ea typeface="+mn-ea"/>
              </a:rPr>
              <a:t>LIST </a:t>
            </a:r>
            <a:r>
              <a:rPr kumimoji="0" lang="ko-KR" altLang="en-US" sz="1200" b="1" dirty="0">
                <a:solidFill>
                  <a:prstClr val="black"/>
                </a:solidFill>
                <a:latin typeface="+mn-ea"/>
                <a:ea typeface="+mn-ea"/>
              </a:rPr>
              <a:t>수취 후 외부 몰 정산 수행</a:t>
            </a:r>
            <a:r>
              <a:rPr kumimoji="0" lang="en-US" altLang="ko-KR" sz="1200" b="1" dirty="0">
                <a:solidFill>
                  <a:prstClr val="black"/>
                </a:solidFill>
                <a:latin typeface="+mn-ea"/>
                <a:ea typeface="+mn-ea"/>
              </a:rPr>
              <a:t>.</a:t>
            </a:r>
            <a:r>
              <a:rPr kumimoji="0" lang="ko-KR" altLang="en-US" sz="1200" b="1" dirty="0" smtClean="0">
                <a:latin typeface="+mn-ea"/>
                <a:ea typeface="+mn-ea"/>
              </a:rPr>
              <a:t> </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mn-ea"/>
                <a:ea typeface="+mn-ea"/>
              </a:endParaRPr>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kumimoji="0" lang="en-US" altLang="ko-KR" sz="900" b="1" dirty="0" smtClean="0">
                  <a:latin typeface="+mn-ea"/>
                  <a:ea typeface="+mn-ea"/>
                </a:rPr>
                <a:t> </a:t>
              </a:r>
              <a:r>
                <a:rPr kumimoji="0" lang="en-US" altLang="ko-KR" sz="900" b="1" dirty="0" smtClean="0">
                  <a:solidFill>
                    <a:prstClr val="black"/>
                  </a:solidFill>
                  <a:latin typeface="+mn-ea"/>
                  <a:ea typeface="+mn-ea"/>
                </a:rPr>
                <a:t> </a:t>
              </a:r>
              <a:r>
                <a:rPr lang="en-US" altLang="ko-KR" sz="900" b="1" dirty="0">
                  <a:latin typeface="+mn-ea"/>
                  <a:ea typeface="+mn-ea"/>
                </a:rPr>
                <a:t>※ </a:t>
              </a:r>
              <a:r>
                <a:rPr lang="ko-KR" altLang="en-US" sz="900" b="1" dirty="0">
                  <a:latin typeface="+mn-ea"/>
                  <a:ea typeface="+mn-ea"/>
                </a:rPr>
                <a:t>참고 </a:t>
              </a:r>
              <a:r>
                <a:rPr lang="en-US" altLang="ko-KR" sz="900" b="1" dirty="0">
                  <a:latin typeface="+mn-ea"/>
                  <a:ea typeface="+mn-ea"/>
                </a:rPr>
                <a:t>: </a:t>
              </a:r>
              <a:r>
                <a:rPr lang="ko-KR" altLang="en-US" sz="900" b="1" dirty="0">
                  <a:latin typeface="+mn-ea"/>
                  <a:ea typeface="+mn-ea"/>
                </a:rPr>
                <a:t>프로시저 내 </a:t>
              </a:r>
              <a:r>
                <a:rPr lang="en-US" altLang="ko-KR" sz="900" b="1" dirty="0">
                  <a:latin typeface="+mn-ea"/>
                  <a:ea typeface="+mn-ea"/>
                </a:rPr>
                <a:t>V_WORK_CLSBY</a:t>
              </a:r>
              <a:r>
                <a:rPr lang="ko-KR" altLang="en-US" sz="900" b="1" dirty="0">
                  <a:latin typeface="+mn-ea"/>
                  <a:ea typeface="+mn-ea"/>
                </a:rPr>
                <a:t>로 비즈니스 </a:t>
              </a:r>
              <a:r>
                <a:rPr lang="ko-KR" altLang="en-US" sz="900" b="1" dirty="0" err="1">
                  <a:latin typeface="+mn-ea"/>
                  <a:ea typeface="+mn-ea"/>
                </a:rPr>
                <a:t>업부</a:t>
              </a:r>
              <a:r>
                <a:rPr lang="ko-KR" altLang="en-US" sz="900" b="1" dirty="0">
                  <a:latin typeface="+mn-ea"/>
                  <a:ea typeface="+mn-ea"/>
                </a:rPr>
                <a:t> 구분</a:t>
              </a:r>
              <a:r>
                <a:rPr lang="en-US" altLang="ko-KR" sz="900" b="1" dirty="0">
                  <a:latin typeface="+mn-ea"/>
                  <a:ea typeface="+mn-ea"/>
                </a:rPr>
                <a:t>.</a:t>
              </a:r>
            </a:p>
            <a:p>
              <a:endParaRPr lang="en-US" altLang="ko-KR" sz="900" b="1" dirty="0">
                <a:latin typeface="+mn-ea"/>
                <a:ea typeface="+mn-ea"/>
              </a:endParaRPr>
            </a:p>
            <a:p>
              <a:r>
                <a:rPr lang="en-US" altLang="ko-KR" sz="900" b="1" dirty="0">
                  <a:latin typeface="+mn-ea"/>
                  <a:ea typeface="+mn-ea"/>
                </a:rPr>
                <a:t>MAPP : </a:t>
              </a:r>
              <a:r>
                <a:rPr lang="ko-KR" altLang="en-US" sz="900" b="1" dirty="0" err="1">
                  <a:latin typeface="+mn-ea"/>
                  <a:ea typeface="+mn-ea"/>
                </a:rPr>
                <a:t>주문매칭</a:t>
              </a:r>
              <a:r>
                <a:rPr lang="ko-KR" altLang="en-US" sz="900" b="1" dirty="0">
                  <a:latin typeface="+mn-ea"/>
                  <a:ea typeface="+mn-ea"/>
                </a:rPr>
                <a:t> </a:t>
              </a:r>
              <a:endParaRPr lang="en-US" altLang="ko-KR" sz="900" b="1" dirty="0">
                <a:latin typeface="+mn-ea"/>
                <a:ea typeface="+mn-ea"/>
              </a:endParaRPr>
            </a:p>
            <a:p>
              <a:r>
                <a:rPr lang="en-US" altLang="ko-KR" sz="900" b="1" dirty="0" smtClean="0">
                  <a:latin typeface="+mn-ea"/>
                  <a:ea typeface="+mn-ea"/>
                </a:rPr>
                <a:t> </a:t>
              </a:r>
              <a:r>
                <a:rPr lang="en-US" altLang="ko-KR" sz="900" dirty="0">
                  <a:latin typeface="+mn-ea"/>
                  <a:ea typeface="+mn-ea"/>
                </a:rPr>
                <a:t>BO</a:t>
              </a:r>
              <a:r>
                <a:rPr lang="ko-KR" altLang="en-US" sz="900" dirty="0">
                  <a:latin typeface="+mn-ea"/>
                  <a:ea typeface="+mn-ea"/>
                </a:rPr>
                <a:t>에서 정산서와 매칭된 주문</a:t>
              </a:r>
              <a:r>
                <a:rPr lang="en-US" altLang="ko-KR" sz="900" dirty="0">
                  <a:latin typeface="+mn-ea"/>
                  <a:ea typeface="+mn-ea"/>
                </a:rPr>
                <a:t> (SS10. T_GWM_IF_STLM_BASE) </a:t>
              </a:r>
              <a:r>
                <a:rPr lang="ko-KR" altLang="en-US" sz="900" dirty="0">
                  <a:latin typeface="+mn-ea"/>
                  <a:ea typeface="+mn-ea"/>
                </a:rPr>
                <a:t>을 정산 </a:t>
              </a:r>
              <a:r>
                <a:rPr lang="ko-KR" altLang="en-US" sz="900" dirty="0" smtClean="0">
                  <a:latin typeface="+mn-ea"/>
                  <a:ea typeface="+mn-ea"/>
                </a:rPr>
                <a:t>테이블 </a:t>
              </a:r>
              <a:r>
                <a:rPr lang="ko-KR" altLang="en-US" sz="900" dirty="0">
                  <a:latin typeface="+mn-ea"/>
                  <a:ea typeface="+mn-ea"/>
                </a:rPr>
                <a:t>저장</a:t>
              </a:r>
              <a:endParaRPr lang="en-US" altLang="ko-KR" sz="900" dirty="0">
                <a:latin typeface="+mn-ea"/>
                <a:ea typeface="+mn-ea"/>
              </a:endParaRPr>
            </a:p>
            <a:p>
              <a:r>
                <a:rPr lang="en-US" altLang="ko-KR" sz="900" b="1" dirty="0">
                  <a:latin typeface="+mn-ea"/>
                  <a:ea typeface="+mn-ea"/>
                </a:rPr>
                <a:t>MAPP2 : </a:t>
              </a:r>
              <a:r>
                <a:rPr lang="ko-KR" altLang="en-US" sz="900" b="1" dirty="0" err="1">
                  <a:latin typeface="+mn-ea"/>
                  <a:ea typeface="+mn-ea"/>
                </a:rPr>
                <a:t>판매매칭</a:t>
              </a:r>
              <a:endParaRPr lang="en-US" altLang="ko-KR" sz="900" b="1" dirty="0">
                <a:latin typeface="+mn-ea"/>
                <a:ea typeface="+mn-ea"/>
              </a:endParaRPr>
            </a:p>
            <a:p>
              <a:r>
                <a:rPr lang="en-US" altLang="ko-KR" sz="900" b="1" dirty="0" smtClean="0">
                  <a:latin typeface="+mn-ea"/>
                  <a:ea typeface="+mn-ea"/>
                </a:rPr>
                <a:t> </a:t>
              </a:r>
              <a:r>
                <a:rPr lang="ko-KR" altLang="en-US" sz="900" dirty="0">
                  <a:latin typeface="+mn-ea"/>
                  <a:ea typeface="+mn-ea"/>
                </a:rPr>
                <a:t>정산 테이블과 매장수불 테이블을 이용해 당월 판매수불 정보를 정산 테이블에 저장</a:t>
              </a:r>
              <a:endParaRPr lang="en-US" altLang="ko-KR" sz="900" dirty="0">
                <a:latin typeface="+mn-ea"/>
                <a:ea typeface="+mn-ea"/>
              </a:endParaRPr>
            </a:p>
            <a:p>
              <a:r>
                <a:rPr lang="en-US" altLang="ko-KR" sz="900" b="1" dirty="0">
                  <a:latin typeface="+mn-ea"/>
                  <a:ea typeface="+mn-ea"/>
                </a:rPr>
                <a:t>MAPP3 : </a:t>
              </a:r>
              <a:r>
                <a:rPr lang="ko-KR" altLang="en-US" sz="900" b="1" dirty="0" err="1">
                  <a:latin typeface="+mn-ea"/>
                  <a:ea typeface="+mn-ea"/>
                </a:rPr>
                <a:t>정산없는</a:t>
              </a:r>
              <a:r>
                <a:rPr lang="ko-KR" altLang="en-US" sz="900" b="1" dirty="0">
                  <a:latin typeface="+mn-ea"/>
                  <a:ea typeface="+mn-ea"/>
                </a:rPr>
                <a:t> 주문 가져오기 </a:t>
              </a:r>
              <a:endParaRPr lang="en-US" altLang="ko-KR" sz="900" b="1" dirty="0">
                <a:latin typeface="+mn-ea"/>
                <a:ea typeface="+mn-ea"/>
              </a:endParaRPr>
            </a:p>
            <a:p>
              <a:r>
                <a:rPr lang="en-US" altLang="ko-KR" sz="900" b="1" dirty="0">
                  <a:latin typeface="+mn-ea"/>
                  <a:ea typeface="+mn-ea"/>
                </a:rPr>
                <a:t> </a:t>
              </a:r>
              <a:r>
                <a:rPr lang="en-US" altLang="ko-KR" sz="900" dirty="0" smtClean="0">
                  <a:latin typeface="+mn-ea"/>
                  <a:ea typeface="+mn-ea"/>
                </a:rPr>
                <a:t>BO</a:t>
              </a:r>
              <a:r>
                <a:rPr lang="ko-KR" altLang="en-US" sz="900" dirty="0">
                  <a:latin typeface="+mn-ea"/>
                  <a:ea typeface="+mn-ea"/>
                </a:rPr>
                <a:t>에서 정산서와 매칭되지 않은 주문 </a:t>
              </a:r>
              <a:r>
                <a:rPr lang="en-US" altLang="ko-KR" sz="900" dirty="0">
                  <a:latin typeface="+mn-ea"/>
                  <a:ea typeface="+mn-ea"/>
                </a:rPr>
                <a:t>(SS10.T_GWM_IF_STLM_BASE_MISS)</a:t>
              </a:r>
              <a:r>
                <a:rPr lang="ko-KR" altLang="en-US" sz="900" dirty="0">
                  <a:latin typeface="+mn-ea"/>
                  <a:ea typeface="+mn-ea"/>
                </a:rPr>
                <a:t>을 정산 테이블에 </a:t>
              </a:r>
              <a:r>
                <a:rPr lang="ko-KR" altLang="en-US" sz="900" dirty="0" smtClean="0">
                  <a:latin typeface="+mn-ea"/>
                  <a:ea typeface="+mn-ea"/>
                </a:rPr>
                <a:t>저장</a:t>
              </a:r>
              <a:endParaRPr lang="en-US" altLang="ko-KR" sz="900" b="1" dirty="0">
                <a:latin typeface="+mn-ea"/>
                <a:ea typeface="+mn-ea"/>
              </a:endParaRPr>
            </a:p>
            <a:p>
              <a:r>
                <a:rPr lang="en-US" altLang="ko-KR" sz="900" b="1" dirty="0">
                  <a:latin typeface="+mn-ea"/>
                  <a:ea typeface="+mn-ea"/>
                </a:rPr>
                <a:t>STLM1 : </a:t>
              </a:r>
              <a:r>
                <a:rPr lang="ko-KR" altLang="en-US" sz="900" b="1" dirty="0">
                  <a:latin typeface="+mn-ea"/>
                  <a:ea typeface="+mn-ea"/>
                </a:rPr>
                <a:t>정산</a:t>
              </a:r>
              <a:r>
                <a:rPr lang="en-US" altLang="ko-KR" sz="900" b="1" dirty="0">
                  <a:latin typeface="+mn-ea"/>
                  <a:ea typeface="+mn-ea"/>
                </a:rPr>
                <a:t>1</a:t>
              </a:r>
            </a:p>
            <a:p>
              <a:r>
                <a:rPr lang="ko-KR" altLang="en-US" sz="900" dirty="0" smtClean="0">
                  <a:latin typeface="+mn-ea"/>
                  <a:ea typeface="+mn-ea"/>
                </a:rPr>
                <a:t>당월 </a:t>
              </a:r>
              <a:r>
                <a:rPr lang="ko-KR" altLang="en-US" sz="900" dirty="0">
                  <a:latin typeface="+mn-ea"/>
                  <a:ea typeface="+mn-ea"/>
                </a:rPr>
                <a:t>정산 건으로 정산서와 당월 매출 차액에 대한 판매수불 생성</a:t>
              </a:r>
              <a:r>
                <a:rPr lang="en-US" altLang="ko-KR" sz="900" dirty="0">
                  <a:latin typeface="+mn-ea"/>
                  <a:ea typeface="+mn-ea"/>
                </a:rPr>
                <a:t>.</a:t>
              </a:r>
            </a:p>
            <a:p>
              <a:r>
                <a:rPr lang="en-US" altLang="ko-KR" sz="900" b="1" dirty="0">
                  <a:latin typeface="+mn-ea"/>
                  <a:ea typeface="+mn-ea"/>
                </a:rPr>
                <a:t>STLM2 : </a:t>
              </a:r>
              <a:r>
                <a:rPr lang="ko-KR" altLang="en-US" sz="900" b="1" dirty="0">
                  <a:latin typeface="+mn-ea"/>
                  <a:ea typeface="+mn-ea"/>
                </a:rPr>
                <a:t>정산</a:t>
              </a:r>
              <a:r>
                <a:rPr lang="en-US" altLang="ko-KR" sz="900" b="1" dirty="0">
                  <a:latin typeface="+mn-ea"/>
                  <a:ea typeface="+mn-ea"/>
                </a:rPr>
                <a:t>2</a:t>
              </a:r>
            </a:p>
            <a:p>
              <a:r>
                <a:rPr lang="en-US" altLang="ko-KR" sz="900" b="1" dirty="0" smtClean="0">
                  <a:latin typeface="+mn-ea"/>
                  <a:ea typeface="+mn-ea"/>
                </a:rPr>
                <a:t> </a:t>
              </a:r>
              <a:r>
                <a:rPr lang="ko-KR" altLang="en-US" sz="900" dirty="0">
                  <a:latin typeface="+mn-ea"/>
                  <a:ea typeface="+mn-ea"/>
                </a:rPr>
                <a:t>당월 </a:t>
              </a:r>
              <a:r>
                <a:rPr lang="ko-KR" altLang="en-US" sz="900" dirty="0" err="1">
                  <a:latin typeface="+mn-ea"/>
                  <a:ea typeface="+mn-ea"/>
                </a:rPr>
                <a:t>미정산</a:t>
              </a:r>
              <a:r>
                <a:rPr lang="ko-KR" altLang="en-US" sz="900" dirty="0">
                  <a:latin typeface="+mn-ea"/>
                  <a:ea typeface="+mn-ea"/>
                </a:rPr>
                <a:t> 건으로 </a:t>
              </a:r>
              <a:r>
                <a:rPr lang="en-US" altLang="ko-KR" sz="900" dirty="0">
                  <a:latin typeface="+mn-ea"/>
                  <a:ea typeface="+mn-ea"/>
                </a:rPr>
                <a:t>MAPP3</a:t>
              </a:r>
              <a:r>
                <a:rPr lang="ko-KR" altLang="en-US" sz="900" dirty="0">
                  <a:latin typeface="+mn-ea"/>
                  <a:ea typeface="+mn-ea"/>
                </a:rPr>
                <a:t>에서 가져온 </a:t>
              </a:r>
              <a:r>
                <a:rPr lang="ko-KR" altLang="en-US" sz="900" dirty="0" err="1">
                  <a:latin typeface="+mn-ea"/>
                  <a:ea typeface="+mn-ea"/>
                </a:rPr>
                <a:t>미매칭</a:t>
              </a:r>
              <a:r>
                <a:rPr lang="ko-KR" altLang="en-US" sz="900" dirty="0">
                  <a:latin typeface="+mn-ea"/>
                  <a:ea typeface="+mn-ea"/>
                </a:rPr>
                <a:t> 주문의 판매를 이월 처리함</a:t>
              </a:r>
              <a:r>
                <a:rPr lang="en-US" altLang="ko-KR" sz="900" dirty="0">
                  <a:latin typeface="+mn-ea"/>
                  <a:ea typeface="+mn-ea"/>
                </a:rPr>
                <a:t>.</a:t>
              </a:r>
            </a:p>
            <a:p>
              <a:r>
                <a:rPr lang="en-US" altLang="ko-KR" sz="900" b="1" dirty="0">
                  <a:latin typeface="+mn-ea"/>
                  <a:ea typeface="+mn-ea"/>
                </a:rPr>
                <a:t>STLM3 : </a:t>
              </a:r>
              <a:r>
                <a:rPr lang="ko-KR" altLang="en-US" sz="900" b="1" dirty="0">
                  <a:latin typeface="+mn-ea"/>
                  <a:ea typeface="+mn-ea"/>
                </a:rPr>
                <a:t>정산</a:t>
              </a:r>
              <a:r>
                <a:rPr lang="en-US" altLang="ko-KR" sz="900" b="1" dirty="0">
                  <a:latin typeface="+mn-ea"/>
                  <a:ea typeface="+mn-ea"/>
                </a:rPr>
                <a:t>3</a:t>
              </a:r>
            </a:p>
            <a:p>
              <a:r>
                <a:rPr lang="ko-KR" altLang="en-US" sz="900" dirty="0" smtClean="0">
                  <a:latin typeface="+mn-ea"/>
                  <a:ea typeface="+mn-ea"/>
                </a:rPr>
                <a:t>이전월 </a:t>
              </a:r>
              <a:r>
                <a:rPr lang="ko-KR" altLang="en-US" sz="900" dirty="0">
                  <a:latin typeface="+mn-ea"/>
                  <a:ea typeface="+mn-ea"/>
                </a:rPr>
                <a:t>이월된 주문이 정산이 된 경우 정산금액으로 판매수불 생성</a:t>
              </a:r>
              <a:r>
                <a:rPr lang="en-US" altLang="ko-KR" sz="900" dirty="0">
                  <a:latin typeface="+mn-ea"/>
                  <a:ea typeface="+mn-ea"/>
                </a:rPr>
                <a:t>.</a:t>
              </a:r>
            </a:p>
            <a:p>
              <a:r>
                <a:rPr lang="ko-KR" altLang="en-US" sz="900" dirty="0" smtClean="0">
                  <a:latin typeface="+mn-ea"/>
                  <a:ea typeface="+mn-ea"/>
                </a:rPr>
                <a:t>이전월 </a:t>
              </a:r>
              <a:r>
                <a:rPr lang="ko-KR" altLang="en-US" sz="900" dirty="0">
                  <a:latin typeface="+mn-ea"/>
                  <a:ea typeface="+mn-ea"/>
                </a:rPr>
                <a:t>이월된 주문과 </a:t>
              </a:r>
              <a:r>
                <a:rPr lang="ko-KR" altLang="en-US" sz="900" dirty="0" err="1">
                  <a:latin typeface="+mn-ea"/>
                  <a:ea typeface="+mn-ea"/>
                </a:rPr>
                <a:t>미매칭된</a:t>
              </a:r>
              <a:r>
                <a:rPr lang="ko-KR" altLang="en-US" sz="900" dirty="0">
                  <a:latin typeface="+mn-ea"/>
                  <a:ea typeface="+mn-ea"/>
                </a:rPr>
                <a:t> 주문의 정산금액을 </a:t>
              </a:r>
              <a:r>
                <a:rPr lang="ko-KR" altLang="en-US" sz="900" dirty="0" err="1">
                  <a:latin typeface="+mn-ea"/>
                  <a:ea typeface="+mn-ea"/>
                </a:rPr>
                <a:t>가품번으로</a:t>
              </a:r>
              <a:r>
                <a:rPr lang="ko-KR" altLang="en-US" sz="900" dirty="0">
                  <a:latin typeface="+mn-ea"/>
                  <a:ea typeface="+mn-ea"/>
                </a:rPr>
                <a:t> 판매수불 생성</a:t>
              </a:r>
              <a:r>
                <a:rPr lang="en-US" altLang="ko-KR" sz="900" dirty="0">
                  <a:latin typeface="+mn-ea"/>
                  <a:ea typeface="+mn-ea"/>
                </a:rPr>
                <a:t>.</a:t>
              </a:r>
            </a:p>
            <a:p>
              <a:r>
                <a:rPr lang="en-US" altLang="ko-KR" sz="900" b="1" dirty="0">
                  <a:latin typeface="+mn-ea"/>
                  <a:ea typeface="+mn-ea"/>
                </a:rPr>
                <a:t>STLM4 : </a:t>
              </a:r>
              <a:r>
                <a:rPr lang="ko-KR" altLang="en-US" sz="900" b="1" dirty="0">
                  <a:latin typeface="+mn-ea"/>
                  <a:ea typeface="+mn-ea"/>
                </a:rPr>
                <a:t>정산</a:t>
              </a:r>
              <a:r>
                <a:rPr lang="en-US" altLang="ko-KR" sz="900" b="1" dirty="0">
                  <a:latin typeface="+mn-ea"/>
                  <a:ea typeface="+mn-ea"/>
                </a:rPr>
                <a:t>4</a:t>
              </a:r>
            </a:p>
            <a:p>
              <a:r>
                <a:rPr lang="en-US" altLang="ko-KR" sz="900" dirty="0" smtClean="0">
                  <a:latin typeface="+mn-ea"/>
                  <a:ea typeface="+mn-ea"/>
                </a:rPr>
                <a:t>BO</a:t>
              </a:r>
              <a:r>
                <a:rPr lang="ko-KR" altLang="en-US" sz="900" dirty="0">
                  <a:latin typeface="+mn-ea"/>
                  <a:ea typeface="+mn-ea"/>
                </a:rPr>
                <a:t>에 없는 주문</a:t>
              </a:r>
              <a:r>
                <a:rPr lang="en-US" altLang="ko-KR" sz="900" dirty="0">
                  <a:latin typeface="+mn-ea"/>
                  <a:ea typeface="+mn-ea"/>
                </a:rPr>
                <a:t>, </a:t>
              </a:r>
              <a:r>
                <a:rPr lang="ko-KR" altLang="en-US" sz="900" dirty="0" err="1">
                  <a:latin typeface="+mn-ea"/>
                  <a:ea typeface="+mn-ea"/>
                </a:rPr>
                <a:t>정산서에만</a:t>
              </a:r>
              <a:r>
                <a:rPr lang="ko-KR" altLang="en-US" sz="900" dirty="0">
                  <a:latin typeface="+mn-ea"/>
                  <a:ea typeface="+mn-ea"/>
                </a:rPr>
                <a:t> 포함된 주문인 경우 정산금액을 </a:t>
              </a:r>
              <a:r>
                <a:rPr lang="ko-KR" altLang="en-US" sz="900" dirty="0" err="1">
                  <a:latin typeface="+mn-ea"/>
                  <a:ea typeface="+mn-ea"/>
                </a:rPr>
                <a:t>가품번으로</a:t>
              </a:r>
              <a:r>
                <a:rPr lang="ko-KR" altLang="en-US" sz="900" dirty="0">
                  <a:latin typeface="+mn-ea"/>
                  <a:ea typeface="+mn-ea"/>
                </a:rPr>
                <a:t> 판매수불 생성</a:t>
              </a:r>
              <a:r>
                <a:rPr lang="en-US" altLang="ko-KR" sz="900" dirty="0">
                  <a:latin typeface="+mn-ea"/>
                  <a:ea typeface="+mn-ea"/>
                </a:rPr>
                <a:t>.</a:t>
              </a:r>
            </a:p>
            <a:p>
              <a:endParaRPr lang="en-US" altLang="ko-KR" sz="900" b="1" dirty="0">
                <a:latin typeface="+mn-ea"/>
                <a:ea typeface="+mn-ea"/>
              </a:endParaRPr>
            </a:p>
            <a:p>
              <a:r>
                <a:rPr lang="ko-KR" altLang="en-US" sz="900" b="1" dirty="0" err="1">
                  <a:latin typeface="+mn-ea"/>
                  <a:ea typeface="+mn-ea"/>
                </a:rPr>
                <a:t>외부몰</a:t>
              </a:r>
              <a:r>
                <a:rPr lang="ko-KR" altLang="en-US" sz="900" b="1" dirty="0">
                  <a:latin typeface="+mn-ea"/>
                  <a:ea typeface="+mn-ea"/>
                </a:rPr>
                <a:t> 정산 시 </a:t>
              </a:r>
              <a:r>
                <a:rPr lang="en-US" altLang="ko-KR" sz="900" b="1" dirty="0">
                  <a:latin typeface="+mn-ea"/>
                  <a:ea typeface="+mn-ea"/>
                </a:rPr>
                <a:t>T_SHOP_RNDS_BASE</a:t>
              </a:r>
              <a:r>
                <a:rPr lang="ko-KR" altLang="en-US" sz="900" b="1" dirty="0">
                  <a:latin typeface="+mn-ea"/>
                  <a:ea typeface="+mn-ea"/>
                </a:rPr>
                <a:t>의 </a:t>
              </a:r>
              <a:r>
                <a:rPr lang="en-US" altLang="ko-KR" sz="900" b="1" dirty="0">
                  <a:latin typeface="+mn-ea"/>
                  <a:ea typeface="+mn-ea"/>
                </a:rPr>
                <a:t>STOCK_STAT = C20922 </a:t>
              </a:r>
              <a:r>
                <a:rPr lang="ko-KR" altLang="en-US" sz="900" b="1" dirty="0">
                  <a:latin typeface="+mn-ea"/>
                  <a:ea typeface="+mn-ea"/>
                </a:rPr>
                <a:t>인 판매 값만 조정됨</a:t>
              </a:r>
              <a:r>
                <a:rPr lang="en-US" altLang="ko-KR" sz="900" b="1" dirty="0">
                  <a:latin typeface="+mn-ea"/>
                  <a:ea typeface="+mn-ea"/>
                </a:rPr>
                <a:t>.</a:t>
              </a:r>
            </a:p>
            <a:p>
              <a:r>
                <a:rPr lang="en-US" altLang="ko-KR" sz="900" b="1" dirty="0">
                  <a:latin typeface="+mn-ea"/>
                  <a:ea typeface="+mn-ea"/>
                </a:rPr>
                <a:t>(</a:t>
              </a:r>
              <a:r>
                <a:rPr lang="ko-KR" altLang="en-US" sz="900" b="1" dirty="0">
                  <a:latin typeface="+mn-ea"/>
                  <a:ea typeface="+mn-ea"/>
                </a:rPr>
                <a:t>출고</a:t>
              </a:r>
              <a:r>
                <a:rPr lang="en-US" altLang="ko-KR" sz="900" b="1" dirty="0">
                  <a:latin typeface="+mn-ea"/>
                  <a:ea typeface="+mn-ea"/>
                </a:rPr>
                <a:t>, </a:t>
              </a:r>
              <a:r>
                <a:rPr lang="ko-KR" altLang="en-US" sz="900" b="1" dirty="0">
                  <a:latin typeface="+mn-ea"/>
                  <a:ea typeface="+mn-ea"/>
                </a:rPr>
                <a:t>출고반품은 처리되지 않아 각 판매점코드에 </a:t>
              </a:r>
              <a:r>
                <a:rPr lang="ko-KR" altLang="en-US" sz="900" b="1" dirty="0" err="1">
                  <a:latin typeface="+mn-ea"/>
                  <a:ea typeface="+mn-ea"/>
                </a:rPr>
                <a:t>미정산</a:t>
              </a:r>
              <a:r>
                <a:rPr lang="ko-KR" altLang="en-US" sz="900" b="1" dirty="0">
                  <a:latin typeface="+mn-ea"/>
                  <a:ea typeface="+mn-ea"/>
                </a:rPr>
                <a:t> 재고가 </a:t>
              </a:r>
              <a:r>
                <a:rPr lang="ko-KR" altLang="en-US" sz="900" b="1" dirty="0" err="1">
                  <a:latin typeface="+mn-ea"/>
                  <a:ea typeface="+mn-ea"/>
                </a:rPr>
                <a:t>남게됨</a:t>
              </a:r>
              <a:r>
                <a:rPr lang="en-US" altLang="ko-KR" sz="900" b="1" dirty="0">
                  <a:latin typeface="+mn-ea"/>
                  <a:ea typeface="+mn-ea"/>
                </a:rPr>
                <a:t>)</a:t>
              </a:r>
              <a:endParaRPr lang="ko-KR" altLang="en-US" sz="900" b="1" dirty="0">
                <a:latin typeface="+mn-ea"/>
                <a:ea typeface="+mn-ea"/>
              </a:endParaRPr>
            </a:p>
            <a:p>
              <a:pPr lvl="0" eaLnBrk="0" latinLnBrk="0" hangingPunct="0">
                <a:lnSpc>
                  <a:spcPct val="140000"/>
                </a:lnSpc>
                <a:buClr>
                  <a:srgbClr val="1F497D"/>
                </a:buClr>
                <a:buSzPct val="75000"/>
              </a:pPr>
              <a:endParaRPr kumimoji="0" lang="ko-KR" altLang="en-US" sz="900" dirty="0">
                <a:solidFill>
                  <a:prstClr val="black"/>
                </a:solidFill>
                <a:latin typeface="+mn-ea"/>
                <a:ea typeface="+mn-ea"/>
              </a:endParaRPr>
            </a:p>
          </p:txBody>
        </p:sp>
      </p:grpSp>
      <p:sp>
        <p:nvSpPr>
          <p:cNvPr id="89" name="TextBox 94"/>
          <p:cNvSpPr txBox="1">
            <a:spLocks noChangeArrowheads="1"/>
          </p:cNvSpPr>
          <p:nvPr/>
        </p:nvSpPr>
        <p:spPr bwMode="auto">
          <a:xfrm>
            <a:off x="992560" y="1313336"/>
            <a:ext cx="141688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SP_ONLINE_STLM_BASE</a:t>
            </a:r>
            <a:endParaRPr lang="ko-KR" altLang="en-US" sz="800" b="1" dirty="0">
              <a:latin typeface="+mn-ea"/>
              <a:ea typeface="+mn-ea"/>
            </a:endParaRPr>
          </a:p>
        </p:txBody>
      </p:sp>
      <p:cxnSp>
        <p:nvCxnSpPr>
          <p:cNvPr id="60" name="AutoShape 67"/>
          <p:cNvCxnSpPr>
            <a:cxnSpLocks noChangeShapeType="1"/>
            <a:endCxn id="18" idx="1"/>
          </p:cNvCxnSpPr>
          <p:nvPr/>
        </p:nvCxnSpPr>
        <p:spPr bwMode="gray">
          <a:xfrm>
            <a:off x="722530" y="1808820"/>
            <a:ext cx="580471" cy="4125"/>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순서도: 페이지 연결자 17"/>
          <p:cNvSpPr/>
          <p:nvPr/>
        </p:nvSpPr>
        <p:spPr>
          <a:xfrm>
            <a:off x="1303001" y="1528780"/>
            <a:ext cx="679669" cy="568329"/>
          </a:xfrm>
          <a:prstGeom prst="flowChartOffpageConnector">
            <a:avLst/>
          </a:prstGeom>
          <a:solidFill>
            <a:schemeClr val="accent1">
              <a:lumMod val="40000"/>
              <a:lumOff val="60000"/>
            </a:schemeClr>
          </a:solidFill>
          <a:ln>
            <a:solidFill>
              <a:schemeClr val="accent1"/>
            </a:solidFill>
          </a:ln>
        </p:spPr>
        <p:txBody>
          <a:bodyPr wrap="square" rtlCol="0" anchor="ctr">
            <a:noAutofit/>
          </a:bodyPr>
          <a:lstStyle/>
          <a:p>
            <a:pPr marL="268288" indent="-215900">
              <a:spcBef>
                <a:spcPct val="20000"/>
              </a:spcBef>
              <a:buClr>
                <a:srgbClr val="FFD200"/>
              </a:buClr>
              <a:buSzPct val="75000"/>
            </a:pPr>
            <a:r>
              <a:rPr lang="ko-KR" altLang="en-US" sz="800" b="1" kern="0" dirty="0" smtClean="0">
                <a:latin typeface="+mn-ea"/>
                <a:ea typeface="+mn-ea"/>
              </a:rPr>
              <a:t>작업구분</a:t>
            </a:r>
            <a:endParaRPr lang="en-US" altLang="ko-KR" sz="800" b="1" kern="0" dirty="0" smtClean="0">
              <a:latin typeface="+mn-ea"/>
              <a:ea typeface="+mn-ea"/>
            </a:endParaRPr>
          </a:p>
          <a:p>
            <a:pPr marL="268288" indent="-215900" algn="ctr">
              <a:spcBef>
                <a:spcPct val="20000"/>
              </a:spcBef>
              <a:buClr>
                <a:srgbClr val="FFD200"/>
              </a:buClr>
              <a:buSzPct val="75000"/>
            </a:pPr>
            <a:r>
              <a:rPr lang="en-US" altLang="ko-KR" sz="800" b="1" kern="0" dirty="0" smtClean="0">
                <a:latin typeface="+mn-ea"/>
                <a:ea typeface="+mn-ea"/>
              </a:rPr>
              <a:t>MAPP3</a:t>
            </a:r>
          </a:p>
          <a:p>
            <a:pPr marL="268288" indent="-215900" algn="ctr">
              <a:spcBef>
                <a:spcPct val="20000"/>
              </a:spcBef>
              <a:buClr>
                <a:srgbClr val="FFD200"/>
              </a:buClr>
              <a:buSzPct val="75000"/>
            </a:pPr>
            <a:r>
              <a:rPr lang="ko-KR" altLang="en-US" sz="800" b="1" kern="0" dirty="0" smtClean="0">
                <a:latin typeface="+mn-ea"/>
                <a:ea typeface="+mn-ea"/>
              </a:rPr>
              <a:t>시작</a:t>
            </a:r>
          </a:p>
        </p:txBody>
      </p:sp>
      <p:sp>
        <p:nvSpPr>
          <p:cNvPr id="151" name="TextBox 94"/>
          <p:cNvSpPr txBox="1">
            <a:spLocks noChangeArrowheads="1"/>
          </p:cNvSpPr>
          <p:nvPr/>
        </p:nvSpPr>
        <p:spPr bwMode="auto">
          <a:xfrm>
            <a:off x="362490" y="1313336"/>
            <a:ext cx="661182" cy="510909"/>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sym typeface="Wingdings" panose="05000000000000000000" pitchFamily="2" charset="2"/>
              </a:rPr>
              <a:t>작업구분</a:t>
            </a:r>
            <a:endParaRPr lang="en-US" altLang="ko-KR" sz="800" dirty="0" smtClean="0">
              <a:latin typeface="+mn-ea"/>
              <a:ea typeface="+mn-ea"/>
              <a:sym typeface="Wingdings" panose="05000000000000000000" pitchFamily="2" charset="2"/>
            </a:endParaRPr>
          </a:p>
          <a:p>
            <a:pPr algn="ctr">
              <a:spcBef>
                <a:spcPct val="20000"/>
              </a:spcBef>
              <a:buClr>
                <a:srgbClr val="003366"/>
              </a:buClr>
            </a:pPr>
            <a:r>
              <a:rPr lang="en-US" altLang="ko-KR" sz="800" dirty="0" smtClean="0">
                <a:latin typeface="+mn-ea"/>
                <a:ea typeface="+mn-ea"/>
                <a:sym typeface="Wingdings" panose="05000000000000000000" pitchFamily="2" charset="2"/>
              </a:rPr>
              <a:t>MAPP3</a:t>
            </a:r>
          </a:p>
          <a:p>
            <a:pPr algn="ctr">
              <a:spcBef>
                <a:spcPct val="20000"/>
              </a:spcBef>
              <a:buClr>
                <a:srgbClr val="003366"/>
              </a:buClr>
            </a:pPr>
            <a:r>
              <a:rPr lang="ko-KR" altLang="en-US" sz="800" dirty="0" smtClean="0">
                <a:latin typeface="+mn-ea"/>
                <a:ea typeface="+mn-ea"/>
                <a:sym typeface="Wingdings" panose="05000000000000000000" pitchFamily="2" charset="2"/>
              </a:rPr>
              <a:t>처리</a:t>
            </a:r>
            <a:endParaRPr lang="en-US" altLang="ko-KR" sz="800" dirty="0" smtClean="0">
              <a:latin typeface="+mn-ea"/>
              <a:ea typeface="+mn-ea"/>
              <a:sym typeface="Wingdings" panose="05000000000000000000" pitchFamily="2" charset="2"/>
            </a:endParaRPr>
          </a:p>
        </p:txBody>
      </p:sp>
      <p:sp>
        <p:nvSpPr>
          <p:cNvPr id="162" name="AutoShape 86"/>
          <p:cNvSpPr>
            <a:spLocks noChangeArrowheads="1"/>
          </p:cNvSpPr>
          <p:nvPr/>
        </p:nvSpPr>
        <p:spPr bwMode="auto">
          <a:xfrm>
            <a:off x="408712" y="246502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600" b="1" dirty="0">
                <a:latin typeface="+mn-ea"/>
                <a:ea typeface="+mn-ea"/>
              </a:rPr>
              <a:t>EC</a:t>
            </a:r>
          </a:p>
          <a:p>
            <a:pPr algn="ctr"/>
            <a:r>
              <a:rPr lang="en-US" altLang="ko-KR" sz="600" b="1" dirty="0">
                <a:latin typeface="+mn-ea"/>
                <a:ea typeface="+mn-ea"/>
              </a:rPr>
              <a:t>(</a:t>
            </a:r>
            <a:r>
              <a:rPr lang="ko-KR" altLang="en-US" sz="600" b="1" dirty="0" err="1">
                <a:latin typeface="+mn-ea"/>
                <a:ea typeface="+mn-ea"/>
              </a:rPr>
              <a:t>온라인구시스템</a:t>
            </a:r>
            <a:r>
              <a:rPr lang="en-US" altLang="ko-KR" sz="600" b="1" dirty="0" smtClean="0">
                <a:latin typeface="+mn-ea"/>
                <a:ea typeface="+mn-ea"/>
              </a:rPr>
              <a:t>)</a:t>
            </a:r>
            <a:endParaRPr lang="en-US" altLang="ko-KR" sz="600" b="1" dirty="0" smtClean="0">
              <a:latin typeface="+mn-ea"/>
              <a:ea typeface="+mn-ea"/>
            </a:endParaRPr>
          </a:p>
          <a:p>
            <a:pPr algn="ctr"/>
            <a:r>
              <a:rPr lang="en-US" altLang="ko-KR" sz="600" b="1" dirty="0" smtClean="0">
                <a:latin typeface="+mn-ea"/>
                <a:ea typeface="+mn-ea"/>
              </a:rPr>
              <a:t>TEMP_INS</a:t>
            </a:r>
            <a:endParaRPr lang="ko-KR" altLang="en-US" sz="600" b="1" dirty="0">
              <a:latin typeface="+mn-ea"/>
              <a:ea typeface="+mn-ea"/>
            </a:endParaRPr>
          </a:p>
        </p:txBody>
      </p:sp>
      <p:sp>
        <p:nvSpPr>
          <p:cNvPr id="163" name="AutoShape 73"/>
          <p:cNvSpPr>
            <a:spLocks noChangeArrowheads="1"/>
          </p:cNvSpPr>
          <p:nvPr/>
        </p:nvSpPr>
        <p:spPr bwMode="auto">
          <a:xfrm>
            <a:off x="2530662" y="2839001"/>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조회 건수 </a:t>
            </a:r>
            <a:r>
              <a:rPr lang="en-US" altLang="ko-KR" sz="800" dirty="0" smtClean="0">
                <a:latin typeface="+mn-ea"/>
                <a:ea typeface="+mn-ea"/>
              </a:rPr>
              <a:t>!= 0</a:t>
            </a:r>
          </a:p>
        </p:txBody>
      </p:sp>
      <p:cxnSp>
        <p:nvCxnSpPr>
          <p:cNvPr id="164" name="AutoShape 67"/>
          <p:cNvCxnSpPr>
            <a:cxnSpLocks noChangeShapeType="1"/>
            <a:stCxn id="18" idx="2"/>
            <a:endCxn id="175" idx="0"/>
          </p:cNvCxnSpPr>
          <p:nvPr/>
        </p:nvCxnSpPr>
        <p:spPr bwMode="gray">
          <a:xfrm rot="5400000">
            <a:off x="1291141" y="2031822"/>
            <a:ext cx="286408" cy="416983"/>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TextBox 94"/>
          <p:cNvSpPr txBox="1">
            <a:spLocks noChangeArrowheads="1"/>
          </p:cNvSpPr>
          <p:nvPr/>
        </p:nvSpPr>
        <p:spPr bwMode="auto">
          <a:xfrm>
            <a:off x="1139055" y="2058599"/>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66" name="TextBox 94"/>
          <p:cNvSpPr txBox="1">
            <a:spLocks noChangeArrowheads="1"/>
          </p:cNvSpPr>
          <p:nvPr/>
        </p:nvSpPr>
        <p:spPr bwMode="auto">
          <a:xfrm>
            <a:off x="317485" y="3008101"/>
            <a:ext cx="2199327"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검색조건 </a:t>
            </a:r>
            <a:r>
              <a:rPr lang="en-US" altLang="ko-KR" sz="800" dirty="0" smtClean="0">
                <a:latin typeface="+mn-ea"/>
                <a:ea typeface="+mn-ea"/>
              </a:rPr>
              <a:t>: </a:t>
            </a:r>
            <a:r>
              <a:rPr lang="ko-KR" altLang="en-US" sz="800" dirty="0" err="1" smtClean="0">
                <a:latin typeface="+mn-ea"/>
                <a:ea typeface="+mn-ea"/>
              </a:rPr>
              <a:t>정산년월</a:t>
            </a:r>
            <a:r>
              <a:rPr lang="en-US" altLang="ko-KR" sz="800" dirty="0" smtClean="0">
                <a:latin typeface="+mn-ea"/>
                <a:ea typeface="+mn-ea"/>
              </a:rPr>
              <a:t>, </a:t>
            </a:r>
            <a:r>
              <a:rPr lang="ko-KR" altLang="en-US" sz="800" dirty="0" smtClean="0">
                <a:latin typeface="+mn-ea"/>
                <a:ea typeface="+mn-ea"/>
              </a:rPr>
              <a:t>상위브랜드</a:t>
            </a:r>
            <a:endParaRPr lang="en-US" altLang="ko-KR" sz="800" dirty="0" smtClean="0">
              <a:latin typeface="+mn-ea"/>
              <a:ea typeface="+mn-ea"/>
            </a:endParaRPr>
          </a:p>
          <a:p>
            <a:pPr>
              <a:spcBef>
                <a:spcPct val="20000"/>
              </a:spcBef>
              <a:buClr>
                <a:srgbClr val="003366"/>
              </a:buClr>
            </a:pPr>
            <a:r>
              <a:rPr lang="en-US" altLang="ko-KR" sz="800" dirty="0" smtClean="0">
                <a:latin typeface="+mn-ea"/>
                <a:ea typeface="+mn-ea"/>
              </a:rPr>
              <a:t>MALL_ID, </a:t>
            </a:r>
            <a:r>
              <a:rPr lang="ko-KR" altLang="en-US" sz="800" dirty="0" smtClean="0">
                <a:latin typeface="+mn-ea"/>
                <a:ea typeface="+mn-ea"/>
              </a:rPr>
              <a:t>정산매장</a:t>
            </a:r>
            <a:r>
              <a:rPr lang="en-US" altLang="ko-KR" sz="800" dirty="0" smtClean="0">
                <a:latin typeface="+mn-ea"/>
                <a:ea typeface="+mn-ea"/>
              </a:rPr>
              <a:t>, DEL_DAY IS NULL</a:t>
            </a:r>
          </a:p>
          <a:p>
            <a:pPr>
              <a:spcBef>
                <a:spcPct val="20000"/>
              </a:spcBef>
              <a:buClr>
                <a:srgbClr val="003366"/>
              </a:buClr>
            </a:pPr>
            <a:r>
              <a:rPr lang="en-US" altLang="ko-KR" sz="800" dirty="0" smtClean="0">
                <a:latin typeface="+mn-ea"/>
                <a:ea typeface="+mn-ea"/>
              </a:rPr>
              <a:t>WORK_CLSBY = ‘C59705’(</a:t>
            </a:r>
            <a:r>
              <a:rPr lang="ko-KR" altLang="en-US" sz="800" dirty="0" err="1" smtClean="0">
                <a:latin typeface="+mn-ea"/>
                <a:ea typeface="+mn-ea"/>
              </a:rPr>
              <a:t>미정산주문판매</a:t>
            </a:r>
            <a:r>
              <a:rPr lang="en-US" altLang="ko-KR" sz="800" dirty="0" smtClean="0">
                <a:latin typeface="+mn-ea"/>
                <a:ea typeface="+mn-ea"/>
              </a:rPr>
              <a:t>)</a:t>
            </a:r>
            <a:endParaRPr lang="ko-KR" altLang="en-US" sz="800" dirty="0">
              <a:latin typeface="+mn-ea"/>
              <a:ea typeface="+mn-ea"/>
            </a:endParaRPr>
          </a:p>
        </p:txBody>
      </p:sp>
      <p:sp>
        <p:nvSpPr>
          <p:cNvPr id="168" name="Text Box 82"/>
          <p:cNvSpPr txBox="1">
            <a:spLocks noChangeArrowheads="1"/>
          </p:cNvSpPr>
          <p:nvPr/>
        </p:nvSpPr>
        <p:spPr bwMode="gray">
          <a:xfrm>
            <a:off x="3044687" y="2690824"/>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69" name="타원 168"/>
          <p:cNvSpPr/>
          <p:nvPr/>
        </p:nvSpPr>
        <p:spPr>
          <a:xfrm>
            <a:off x="2362977" y="1719864"/>
            <a:ext cx="352849" cy="338735"/>
          </a:xfrm>
          <a:prstGeom prst="ellipse">
            <a:avLst/>
          </a:prstGeom>
          <a:noFill/>
          <a:ln>
            <a:solidFill>
              <a:schemeClr val="tx1"/>
            </a:solidFill>
          </a:ln>
        </p:spPr>
        <p:txBody>
          <a:bodyPr wrap="none" lIns="0" rIns="0" rtlCol="0" anchor="ctr">
            <a:noAutofit/>
          </a:bodyPr>
          <a:lstStyle/>
          <a:p>
            <a:pPr marL="268288" indent="-215900" algn="ctr">
              <a:spcBef>
                <a:spcPct val="20000"/>
              </a:spcBef>
              <a:buClr>
                <a:srgbClr val="FFD200"/>
              </a:buClr>
              <a:buSzPct val="75000"/>
            </a:pPr>
            <a:r>
              <a:rPr lang="ko-KR" altLang="en-US" sz="800" kern="0" dirty="0" smtClean="0">
                <a:latin typeface="+mn-ea"/>
                <a:ea typeface="+mn-ea"/>
              </a:rPr>
              <a:t>종료</a:t>
            </a:r>
          </a:p>
        </p:txBody>
      </p:sp>
      <p:cxnSp>
        <p:nvCxnSpPr>
          <p:cNvPr id="170" name="AutoShape 67"/>
          <p:cNvCxnSpPr>
            <a:cxnSpLocks noChangeShapeType="1"/>
            <a:stCxn id="163" idx="0"/>
            <a:endCxn id="169" idx="4"/>
          </p:cNvCxnSpPr>
          <p:nvPr/>
        </p:nvCxnSpPr>
        <p:spPr bwMode="gray">
          <a:xfrm rot="16200000" flipV="1">
            <a:off x="2425518" y="2172483"/>
            <a:ext cx="780402" cy="552634"/>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1" name="Text Box 82"/>
          <p:cNvSpPr txBox="1">
            <a:spLocks noChangeArrowheads="1"/>
          </p:cNvSpPr>
          <p:nvPr/>
        </p:nvSpPr>
        <p:spPr bwMode="gray">
          <a:xfrm>
            <a:off x="2747755" y="3269468"/>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172" name="AutoShape 86"/>
          <p:cNvSpPr>
            <a:spLocks noChangeArrowheads="1"/>
          </p:cNvSpPr>
          <p:nvPr/>
        </p:nvSpPr>
        <p:spPr bwMode="auto">
          <a:xfrm>
            <a:off x="1218802" y="246621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온라인정산진행체크</a:t>
            </a:r>
            <a:endParaRPr lang="en-US" altLang="ko-KR" sz="600" b="1" dirty="0" smtClean="0">
              <a:latin typeface="+mn-ea"/>
              <a:ea typeface="+mn-ea"/>
            </a:endParaRPr>
          </a:p>
          <a:p>
            <a:pPr algn="ctr"/>
            <a:r>
              <a:rPr lang="en-US" altLang="ko-KR" sz="600" b="1" dirty="0" smtClean="0">
                <a:latin typeface="+mn-ea"/>
                <a:ea typeface="+mn-ea"/>
              </a:rPr>
              <a:t>T_ONLINE_STLM_CHECK</a:t>
            </a:r>
            <a:endParaRPr lang="ko-KR" altLang="en-US" sz="600" b="1" dirty="0">
              <a:latin typeface="+mn-ea"/>
              <a:ea typeface="+mn-ea"/>
            </a:endParaRPr>
          </a:p>
        </p:txBody>
      </p:sp>
      <p:cxnSp>
        <p:nvCxnSpPr>
          <p:cNvPr id="178" name="AutoShape 67"/>
          <p:cNvCxnSpPr>
            <a:cxnSpLocks noChangeShapeType="1"/>
            <a:stCxn id="175" idx="3"/>
            <a:endCxn id="163" idx="1"/>
          </p:cNvCxnSpPr>
          <p:nvPr/>
        </p:nvCxnSpPr>
        <p:spPr bwMode="gray">
          <a:xfrm>
            <a:off x="2118295" y="2712649"/>
            <a:ext cx="412367" cy="363683"/>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Rectangle 49"/>
          <p:cNvSpPr>
            <a:spLocks noChangeArrowheads="1"/>
          </p:cNvSpPr>
          <p:nvPr/>
        </p:nvSpPr>
        <p:spPr bwMode="gray">
          <a:xfrm>
            <a:off x="722530" y="4059070"/>
            <a:ext cx="1099946"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스마트스토어 제외</a:t>
            </a:r>
            <a:endParaRPr lang="en-US" altLang="ko-KR" sz="800" b="1" dirty="0" smtClean="0">
              <a:latin typeface="+mn-ea"/>
              <a:ea typeface="+mn-ea"/>
            </a:endParaRPr>
          </a:p>
          <a:p>
            <a:pPr algn="ctr"/>
            <a:r>
              <a:rPr lang="ko-KR" altLang="en-US" sz="800" b="1" dirty="0" smtClean="0">
                <a:latin typeface="+mn-ea"/>
                <a:ea typeface="+mn-ea"/>
              </a:rPr>
              <a:t>조회</a:t>
            </a:r>
            <a:endParaRPr lang="ko-KR" altLang="en-US" sz="800" b="1" dirty="0">
              <a:latin typeface="+mn-ea"/>
              <a:ea typeface="+mn-ea"/>
            </a:endParaRPr>
          </a:p>
        </p:txBody>
      </p:sp>
      <p:sp>
        <p:nvSpPr>
          <p:cNvPr id="201" name="Rectangle 49"/>
          <p:cNvSpPr>
            <a:spLocks noChangeArrowheads="1"/>
          </p:cNvSpPr>
          <p:nvPr/>
        </p:nvSpPr>
        <p:spPr bwMode="gray">
          <a:xfrm>
            <a:off x="2027677" y="4059070"/>
            <a:ext cx="1099946"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err="1" smtClean="0">
                <a:latin typeface="+mn-ea"/>
                <a:ea typeface="+mn-ea"/>
              </a:rPr>
              <a:t>이월건</a:t>
            </a:r>
            <a:r>
              <a:rPr lang="ko-KR" altLang="en-US" sz="800" b="1" dirty="0" smtClean="0">
                <a:latin typeface="+mn-ea"/>
                <a:ea typeface="+mn-ea"/>
              </a:rPr>
              <a:t> 조회</a:t>
            </a:r>
            <a:endParaRPr lang="en-US" altLang="ko-KR" sz="800" b="1" dirty="0" smtClean="0">
              <a:latin typeface="+mn-ea"/>
              <a:ea typeface="+mn-ea"/>
            </a:endParaRPr>
          </a:p>
          <a:p>
            <a:pPr algn="ctr"/>
            <a:r>
              <a:rPr lang="en-US" altLang="ko-KR" sz="800" b="1" dirty="0" smtClean="0">
                <a:latin typeface="+mn-ea"/>
                <a:ea typeface="+mn-ea"/>
              </a:rPr>
              <a:t>(</a:t>
            </a:r>
            <a:r>
              <a:rPr lang="ko-KR" altLang="en-US" sz="800" b="1" dirty="0" err="1" smtClean="0">
                <a:latin typeface="+mn-ea"/>
                <a:ea typeface="+mn-ea"/>
              </a:rPr>
              <a:t>확정데이터포함건</a:t>
            </a:r>
            <a:r>
              <a:rPr lang="en-US" altLang="ko-KR" sz="800" b="1" dirty="0" smtClean="0">
                <a:latin typeface="+mn-ea"/>
                <a:ea typeface="+mn-ea"/>
              </a:rPr>
              <a:t>)</a:t>
            </a:r>
          </a:p>
        </p:txBody>
      </p:sp>
      <p:sp>
        <p:nvSpPr>
          <p:cNvPr id="121" name="Rectangle 49"/>
          <p:cNvSpPr>
            <a:spLocks noChangeArrowheads="1"/>
          </p:cNvSpPr>
          <p:nvPr/>
        </p:nvSpPr>
        <p:spPr bwMode="gray">
          <a:xfrm>
            <a:off x="3332822" y="4060243"/>
            <a:ext cx="1099946"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err="1" smtClean="0">
                <a:latin typeface="+mn-ea"/>
                <a:ea typeface="+mn-ea"/>
              </a:rPr>
              <a:t>이월건</a:t>
            </a:r>
            <a:r>
              <a:rPr lang="ko-KR" altLang="en-US" sz="800" b="1" dirty="0" smtClean="0">
                <a:latin typeface="+mn-ea"/>
                <a:ea typeface="+mn-ea"/>
              </a:rPr>
              <a:t> 조회</a:t>
            </a:r>
            <a:endParaRPr lang="en-US" altLang="ko-KR" sz="800" b="1" dirty="0" smtClean="0">
              <a:latin typeface="+mn-ea"/>
              <a:ea typeface="+mn-ea"/>
            </a:endParaRPr>
          </a:p>
          <a:p>
            <a:pPr algn="ctr"/>
            <a:r>
              <a:rPr lang="en-US" altLang="ko-KR" sz="800" b="1" dirty="0" smtClean="0">
                <a:latin typeface="+mn-ea"/>
                <a:ea typeface="+mn-ea"/>
              </a:rPr>
              <a:t>(MISS</a:t>
            </a:r>
            <a:r>
              <a:rPr lang="ko-KR" altLang="en-US" sz="800" b="1" dirty="0" err="1" smtClean="0">
                <a:latin typeface="+mn-ea"/>
                <a:ea typeface="+mn-ea"/>
              </a:rPr>
              <a:t>데이터포함건</a:t>
            </a:r>
            <a:r>
              <a:rPr lang="en-US" altLang="ko-KR" sz="800" b="1" dirty="0" smtClean="0">
                <a:latin typeface="+mn-ea"/>
                <a:ea typeface="+mn-ea"/>
              </a:rPr>
              <a:t>)</a:t>
            </a:r>
          </a:p>
        </p:txBody>
      </p:sp>
      <p:cxnSp>
        <p:nvCxnSpPr>
          <p:cNvPr id="173" name="AutoShape 67"/>
          <p:cNvCxnSpPr>
            <a:cxnSpLocks noChangeShapeType="1"/>
            <a:stCxn id="163" idx="2"/>
            <a:endCxn id="185" idx="0"/>
          </p:cNvCxnSpPr>
          <p:nvPr/>
        </p:nvCxnSpPr>
        <p:spPr bwMode="gray">
          <a:xfrm rot="5400000">
            <a:off x="1809567" y="2776600"/>
            <a:ext cx="745407" cy="1819533"/>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AutoShape 67"/>
          <p:cNvCxnSpPr>
            <a:cxnSpLocks noChangeShapeType="1"/>
            <a:stCxn id="163" idx="2"/>
            <a:endCxn id="201" idx="0"/>
          </p:cNvCxnSpPr>
          <p:nvPr/>
        </p:nvCxnSpPr>
        <p:spPr bwMode="gray">
          <a:xfrm rot="5400000">
            <a:off x="2462140" y="3429173"/>
            <a:ext cx="745407" cy="514386"/>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AutoShape 67"/>
          <p:cNvCxnSpPr>
            <a:cxnSpLocks noChangeShapeType="1"/>
            <a:stCxn id="163" idx="2"/>
            <a:endCxn id="121" idx="0"/>
          </p:cNvCxnSpPr>
          <p:nvPr/>
        </p:nvCxnSpPr>
        <p:spPr bwMode="gray">
          <a:xfrm rot="16200000" flipH="1">
            <a:off x="3114125" y="3291573"/>
            <a:ext cx="746580" cy="790759"/>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3" name="AutoShape 86"/>
          <p:cNvSpPr>
            <a:spLocks noChangeArrowheads="1"/>
          </p:cNvSpPr>
          <p:nvPr/>
        </p:nvSpPr>
        <p:spPr bwMode="auto">
          <a:xfrm>
            <a:off x="895335" y="5731552"/>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sp>
        <p:nvSpPr>
          <p:cNvPr id="194" name="TextBox 94"/>
          <p:cNvSpPr txBox="1">
            <a:spLocks noChangeArrowheads="1"/>
          </p:cNvSpPr>
          <p:nvPr/>
        </p:nvSpPr>
        <p:spPr bwMode="auto">
          <a:xfrm>
            <a:off x="437001" y="6264315"/>
            <a:ext cx="2770949"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b="1" dirty="0" smtClean="0">
                <a:latin typeface="+mn-ea"/>
                <a:ea typeface="+mn-ea"/>
              </a:rPr>
              <a:t>공통 테이블 </a:t>
            </a:r>
            <a:r>
              <a:rPr lang="en-US" altLang="ko-KR" sz="800" b="1" dirty="0" smtClean="0">
                <a:latin typeface="+mn-ea"/>
                <a:ea typeface="+mn-ea"/>
              </a:rPr>
              <a:t>: </a:t>
            </a:r>
            <a:r>
              <a:rPr lang="ko-KR" altLang="en-US" sz="800" b="1" dirty="0" smtClean="0">
                <a:latin typeface="+mn-ea"/>
                <a:ea typeface="+mn-ea"/>
              </a:rPr>
              <a:t>제품정보</a:t>
            </a:r>
            <a:r>
              <a:rPr lang="en-US" altLang="ko-KR" sz="800" b="1" dirty="0" smtClean="0">
                <a:latin typeface="+mn-ea"/>
                <a:ea typeface="+mn-ea"/>
              </a:rPr>
              <a:t>, </a:t>
            </a:r>
            <a:r>
              <a:rPr lang="ko-KR" altLang="en-US" sz="800" b="1" dirty="0" smtClean="0">
                <a:latin typeface="+mn-ea"/>
                <a:ea typeface="+mn-ea"/>
              </a:rPr>
              <a:t>매장정보</a:t>
            </a:r>
            <a:r>
              <a:rPr lang="en-US" altLang="ko-KR" sz="800" b="1" dirty="0" smtClean="0">
                <a:latin typeface="+mn-ea"/>
                <a:ea typeface="+mn-ea"/>
              </a:rPr>
              <a:t>,</a:t>
            </a:r>
            <a:r>
              <a:rPr lang="ko-KR" altLang="en-US" sz="800" b="1" dirty="0" smtClean="0">
                <a:latin typeface="+mn-ea"/>
                <a:ea typeface="+mn-ea"/>
              </a:rPr>
              <a:t>매장브랜드</a:t>
            </a:r>
            <a:r>
              <a:rPr lang="en-US" altLang="ko-KR" sz="800" b="1" dirty="0" smtClean="0">
                <a:latin typeface="+mn-ea"/>
                <a:ea typeface="+mn-ea"/>
              </a:rPr>
              <a:t>, </a:t>
            </a:r>
            <a:r>
              <a:rPr lang="ko-KR" altLang="en-US" sz="800" b="1" dirty="0" smtClean="0">
                <a:latin typeface="+mn-ea"/>
                <a:ea typeface="+mn-ea"/>
              </a:rPr>
              <a:t>브랜드</a:t>
            </a:r>
            <a:endParaRPr lang="ko-KR" altLang="en-US" sz="800" b="1" dirty="0">
              <a:latin typeface="+mn-ea"/>
              <a:ea typeface="+mn-ea"/>
            </a:endParaRPr>
          </a:p>
        </p:txBody>
      </p:sp>
      <p:cxnSp>
        <p:nvCxnSpPr>
          <p:cNvPr id="195" name="AutoShape 67"/>
          <p:cNvCxnSpPr>
            <a:cxnSpLocks noChangeShapeType="1"/>
            <a:stCxn id="185" idx="1"/>
            <a:endCxn id="233" idx="2"/>
          </p:cNvCxnSpPr>
          <p:nvPr/>
        </p:nvCxnSpPr>
        <p:spPr bwMode="gray">
          <a:xfrm rot="10800000" flipH="1" flipV="1">
            <a:off x="722529" y="4229438"/>
            <a:ext cx="172805" cy="523864"/>
          </a:xfrm>
          <a:prstGeom prst="bentConnector3">
            <a:avLst>
              <a:gd name="adj1" fmla="val -72384"/>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3" name="AutoShape 67"/>
          <p:cNvCxnSpPr>
            <a:cxnSpLocks noChangeShapeType="1"/>
            <a:stCxn id="185" idx="1"/>
            <a:endCxn id="239" idx="2"/>
          </p:cNvCxnSpPr>
          <p:nvPr/>
        </p:nvCxnSpPr>
        <p:spPr bwMode="gray">
          <a:xfrm rot="10800000" flipH="1" flipV="1">
            <a:off x="722529" y="4229438"/>
            <a:ext cx="172803" cy="1038510"/>
          </a:xfrm>
          <a:prstGeom prst="bentConnector3">
            <a:avLst>
              <a:gd name="adj1" fmla="val -72384"/>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3" name="AutoShape 86"/>
          <p:cNvSpPr>
            <a:spLocks noChangeArrowheads="1"/>
          </p:cNvSpPr>
          <p:nvPr/>
        </p:nvSpPr>
        <p:spPr bwMode="auto">
          <a:xfrm>
            <a:off x="895335" y="450942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239" name="AutoShape 86"/>
          <p:cNvSpPr>
            <a:spLocks noChangeArrowheads="1"/>
          </p:cNvSpPr>
          <p:nvPr/>
        </p:nvSpPr>
        <p:spPr bwMode="auto">
          <a:xfrm>
            <a:off x="895333" y="5024069"/>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미배칭</a:t>
            </a:r>
            <a:r>
              <a:rPr lang="ko-KR" altLang="en-US" sz="600" b="1" dirty="0" smtClean="0">
                <a:latin typeface="+mn-ea"/>
                <a:ea typeface="+mn-ea"/>
              </a:rPr>
              <a:t> 주문</a:t>
            </a:r>
            <a:r>
              <a:rPr lang="en-US" altLang="ko-KR" sz="600" b="1" dirty="0" smtClean="0">
                <a:latin typeface="+mn-ea"/>
                <a:ea typeface="+mn-ea"/>
              </a:rPr>
              <a:t>I/F</a:t>
            </a:r>
            <a:endParaRPr lang="en-US" altLang="ko-KR" sz="600" b="1" dirty="0" smtClean="0">
              <a:latin typeface="+mn-ea"/>
              <a:ea typeface="+mn-ea"/>
            </a:endParaRPr>
          </a:p>
          <a:p>
            <a:pPr algn="ctr"/>
            <a:r>
              <a:rPr lang="en-US" altLang="ko-KR" sz="600" b="1" dirty="0">
                <a:latin typeface="+mn-ea"/>
                <a:ea typeface="+mn-ea"/>
              </a:rPr>
              <a:t>T_GWM_IF_STLM_BASE_MISS</a:t>
            </a:r>
            <a:endParaRPr lang="ko-KR" altLang="en-US" sz="600" b="1" dirty="0">
              <a:latin typeface="+mn-ea"/>
              <a:ea typeface="+mn-ea"/>
            </a:endParaRPr>
          </a:p>
        </p:txBody>
      </p:sp>
      <p:cxnSp>
        <p:nvCxnSpPr>
          <p:cNvPr id="251" name="AutoShape 67"/>
          <p:cNvCxnSpPr>
            <a:cxnSpLocks noChangeShapeType="1"/>
            <a:stCxn id="185" idx="1"/>
            <a:endCxn id="193" idx="2"/>
          </p:cNvCxnSpPr>
          <p:nvPr/>
        </p:nvCxnSpPr>
        <p:spPr bwMode="gray">
          <a:xfrm rot="10800000" flipH="1" flipV="1">
            <a:off x="722529" y="4229437"/>
            <a:ext cx="172805" cy="1745993"/>
          </a:xfrm>
          <a:prstGeom prst="bentConnector3">
            <a:avLst>
              <a:gd name="adj1" fmla="val -72384"/>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4" name="AutoShape 86"/>
          <p:cNvSpPr>
            <a:spLocks noChangeArrowheads="1"/>
          </p:cNvSpPr>
          <p:nvPr/>
        </p:nvSpPr>
        <p:spPr bwMode="auto">
          <a:xfrm>
            <a:off x="2324478" y="502455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인터페이스정산기분</a:t>
            </a:r>
            <a:endParaRPr lang="en-US" altLang="ko-KR" sz="600" b="1" dirty="0" smtClean="0">
              <a:latin typeface="+mn-ea"/>
              <a:ea typeface="+mn-ea"/>
            </a:endParaRPr>
          </a:p>
          <a:p>
            <a:pPr algn="ctr"/>
            <a:r>
              <a:rPr lang="en-US" altLang="ko-KR" sz="600" b="1" dirty="0">
                <a:latin typeface="+mn-ea"/>
                <a:ea typeface="+mn-ea"/>
              </a:rPr>
              <a:t>T_GWM_IF_STLM_BASE</a:t>
            </a:r>
            <a:endParaRPr lang="ko-KR" altLang="en-US" sz="600" b="1" dirty="0">
              <a:latin typeface="+mn-ea"/>
              <a:ea typeface="+mn-ea"/>
            </a:endParaRPr>
          </a:p>
        </p:txBody>
      </p:sp>
      <p:sp>
        <p:nvSpPr>
          <p:cNvPr id="261" name="AutoShape 86"/>
          <p:cNvSpPr>
            <a:spLocks noChangeArrowheads="1"/>
          </p:cNvSpPr>
          <p:nvPr/>
        </p:nvSpPr>
        <p:spPr bwMode="auto">
          <a:xfrm>
            <a:off x="2324478" y="5545612"/>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sp>
        <p:nvSpPr>
          <p:cNvPr id="262" name="AutoShape 86"/>
          <p:cNvSpPr>
            <a:spLocks noChangeArrowheads="1"/>
          </p:cNvSpPr>
          <p:nvPr/>
        </p:nvSpPr>
        <p:spPr bwMode="auto">
          <a:xfrm>
            <a:off x="2324478" y="450350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cxnSp>
        <p:nvCxnSpPr>
          <p:cNvPr id="263" name="AutoShape 67"/>
          <p:cNvCxnSpPr>
            <a:cxnSpLocks noChangeShapeType="1"/>
            <a:stCxn id="201" idx="1"/>
            <a:endCxn id="262" idx="2"/>
          </p:cNvCxnSpPr>
          <p:nvPr/>
        </p:nvCxnSpPr>
        <p:spPr bwMode="gray">
          <a:xfrm rot="10800000" flipH="1" flipV="1">
            <a:off x="2027676" y="4229438"/>
            <a:ext cx="296801" cy="517944"/>
          </a:xfrm>
          <a:prstGeom prst="bentConnector3">
            <a:avLst>
              <a:gd name="adj1" fmla="val -33424"/>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 name="AutoShape 67"/>
          <p:cNvCxnSpPr>
            <a:cxnSpLocks noChangeShapeType="1"/>
            <a:stCxn id="201" idx="1"/>
            <a:endCxn id="254" idx="2"/>
          </p:cNvCxnSpPr>
          <p:nvPr/>
        </p:nvCxnSpPr>
        <p:spPr bwMode="gray">
          <a:xfrm rot="10800000" flipH="1" flipV="1">
            <a:off x="2027676" y="4229438"/>
            <a:ext cx="296801" cy="1038998"/>
          </a:xfrm>
          <a:prstGeom prst="bentConnector3">
            <a:avLst>
              <a:gd name="adj1" fmla="val -33424"/>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 name="AutoShape 67"/>
          <p:cNvCxnSpPr>
            <a:cxnSpLocks noChangeShapeType="1"/>
            <a:stCxn id="201" idx="1"/>
            <a:endCxn id="261" idx="2"/>
          </p:cNvCxnSpPr>
          <p:nvPr/>
        </p:nvCxnSpPr>
        <p:spPr bwMode="gray">
          <a:xfrm rot="10800000" flipH="1" flipV="1">
            <a:off x="2027676" y="4229437"/>
            <a:ext cx="296801" cy="1560053"/>
          </a:xfrm>
          <a:prstGeom prst="bentConnector3">
            <a:avLst>
              <a:gd name="adj1" fmla="val -33424"/>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3" name="AutoShape 86"/>
          <p:cNvSpPr>
            <a:spLocks noChangeArrowheads="1"/>
          </p:cNvSpPr>
          <p:nvPr/>
        </p:nvSpPr>
        <p:spPr bwMode="auto">
          <a:xfrm>
            <a:off x="3675312" y="496007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인터페이스정산기분</a:t>
            </a:r>
            <a:endParaRPr lang="en-US" altLang="ko-KR" sz="600" b="1" dirty="0" smtClean="0">
              <a:latin typeface="+mn-ea"/>
              <a:ea typeface="+mn-ea"/>
            </a:endParaRPr>
          </a:p>
          <a:p>
            <a:pPr algn="ctr"/>
            <a:r>
              <a:rPr lang="en-US" altLang="ko-KR" sz="600" b="1" dirty="0">
                <a:latin typeface="+mn-ea"/>
                <a:ea typeface="+mn-ea"/>
              </a:rPr>
              <a:t>T_GWM_IF_STLM_BASE</a:t>
            </a:r>
            <a:endParaRPr lang="ko-KR" altLang="en-US" sz="600" b="1" dirty="0">
              <a:latin typeface="+mn-ea"/>
              <a:ea typeface="+mn-ea"/>
            </a:endParaRPr>
          </a:p>
        </p:txBody>
      </p:sp>
      <p:sp>
        <p:nvSpPr>
          <p:cNvPr id="275" name="AutoShape 86"/>
          <p:cNvSpPr>
            <a:spLocks noChangeArrowheads="1"/>
          </p:cNvSpPr>
          <p:nvPr/>
        </p:nvSpPr>
        <p:spPr bwMode="auto">
          <a:xfrm>
            <a:off x="3667683" y="450702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cxnSp>
        <p:nvCxnSpPr>
          <p:cNvPr id="277" name="AutoShape 67"/>
          <p:cNvCxnSpPr>
            <a:cxnSpLocks noChangeShapeType="1"/>
            <a:stCxn id="121" idx="1"/>
            <a:endCxn id="275" idx="2"/>
          </p:cNvCxnSpPr>
          <p:nvPr/>
        </p:nvCxnSpPr>
        <p:spPr bwMode="gray">
          <a:xfrm rot="10800000" flipH="1" flipV="1">
            <a:off x="3332821" y="4230610"/>
            <a:ext cx="334861" cy="520291"/>
          </a:xfrm>
          <a:prstGeom prst="bentConnector3">
            <a:avLst>
              <a:gd name="adj1" fmla="val -3993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0" name="AutoShape 67"/>
          <p:cNvCxnSpPr>
            <a:cxnSpLocks noChangeShapeType="1"/>
            <a:stCxn id="121" idx="1"/>
            <a:endCxn id="273" idx="2"/>
          </p:cNvCxnSpPr>
          <p:nvPr/>
        </p:nvCxnSpPr>
        <p:spPr bwMode="gray">
          <a:xfrm rot="10800000" flipH="1" flipV="1">
            <a:off x="3332822" y="4230611"/>
            <a:ext cx="342490" cy="973338"/>
          </a:xfrm>
          <a:prstGeom prst="bentConnector3">
            <a:avLst>
              <a:gd name="adj1" fmla="val -3904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3" name="AutoShape 67"/>
          <p:cNvCxnSpPr>
            <a:cxnSpLocks noChangeShapeType="1"/>
            <a:stCxn id="121" idx="1"/>
            <a:endCxn id="276" idx="2"/>
          </p:cNvCxnSpPr>
          <p:nvPr/>
        </p:nvCxnSpPr>
        <p:spPr bwMode="gray">
          <a:xfrm rot="10800000" flipH="1" flipV="1">
            <a:off x="3332821" y="4230610"/>
            <a:ext cx="334861" cy="1411987"/>
          </a:xfrm>
          <a:prstGeom prst="bentConnector3">
            <a:avLst>
              <a:gd name="adj1" fmla="val -3993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 name="AutoShape 67"/>
          <p:cNvCxnSpPr>
            <a:cxnSpLocks noChangeShapeType="1"/>
            <a:stCxn id="121" idx="1"/>
            <a:endCxn id="274" idx="2"/>
          </p:cNvCxnSpPr>
          <p:nvPr/>
        </p:nvCxnSpPr>
        <p:spPr bwMode="gray">
          <a:xfrm rot="10800000" flipH="1" flipV="1">
            <a:off x="3332822" y="4230611"/>
            <a:ext cx="342490" cy="1865034"/>
          </a:xfrm>
          <a:prstGeom prst="bentConnector3">
            <a:avLst>
              <a:gd name="adj1" fmla="val -3904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 name="Rectangle 49"/>
          <p:cNvSpPr>
            <a:spLocks noChangeArrowheads="1"/>
          </p:cNvSpPr>
          <p:nvPr/>
        </p:nvSpPr>
        <p:spPr bwMode="gray">
          <a:xfrm>
            <a:off x="4637967" y="4066470"/>
            <a:ext cx="109994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기타건 조회</a:t>
            </a:r>
            <a:endParaRPr lang="en-US" altLang="ko-KR" sz="800" b="1" dirty="0" smtClean="0">
              <a:latin typeface="+mn-ea"/>
              <a:ea typeface="+mn-ea"/>
            </a:endParaRPr>
          </a:p>
        </p:txBody>
      </p:sp>
      <p:cxnSp>
        <p:nvCxnSpPr>
          <p:cNvPr id="290" name="AutoShape 67"/>
          <p:cNvCxnSpPr>
            <a:cxnSpLocks noChangeShapeType="1"/>
            <a:stCxn id="163" idx="2"/>
            <a:endCxn id="289" idx="0"/>
          </p:cNvCxnSpPr>
          <p:nvPr/>
        </p:nvCxnSpPr>
        <p:spPr bwMode="gray">
          <a:xfrm rot="16200000" flipH="1">
            <a:off x="3763585" y="2642114"/>
            <a:ext cx="752807" cy="2095904"/>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9" name="AutoShape 86"/>
          <p:cNvSpPr>
            <a:spLocks noChangeArrowheads="1"/>
          </p:cNvSpPr>
          <p:nvPr/>
        </p:nvSpPr>
        <p:spPr bwMode="auto">
          <a:xfrm>
            <a:off x="4977384" y="502685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ea typeface="+mn-ea"/>
              </a:rPr>
              <a:t>온라인 구 시스템 </a:t>
            </a:r>
            <a:endParaRPr lang="en-US" altLang="ko-KR" sz="600" b="1" dirty="0" smtClean="0">
              <a:latin typeface="+mn-ea"/>
              <a:ea typeface="+mn-ea"/>
            </a:endParaRPr>
          </a:p>
          <a:p>
            <a:pPr algn="ctr"/>
            <a:r>
              <a:rPr lang="en-US" altLang="ko-KR" sz="600" b="1" dirty="0" smtClean="0">
                <a:latin typeface="+mn-ea"/>
                <a:ea typeface="+mn-ea"/>
              </a:rPr>
              <a:t>OM_ORDER@EDW_EC</a:t>
            </a:r>
            <a:endParaRPr lang="ko-KR" altLang="en-US" sz="600" b="1" dirty="0">
              <a:latin typeface="+mn-ea"/>
              <a:ea typeface="+mn-ea"/>
            </a:endParaRPr>
          </a:p>
        </p:txBody>
      </p:sp>
      <p:sp>
        <p:nvSpPr>
          <p:cNvPr id="300" name="AutoShape 86"/>
          <p:cNvSpPr>
            <a:spLocks noChangeArrowheads="1"/>
          </p:cNvSpPr>
          <p:nvPr/>
        </p:nvSpPr>
        <p:spPr bwMode="auto">
          <a:xfrm>
            <a:off x="4977384" y="5911572"/>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sp>
        <p:nvSpPr>
          <p:cNvPr id="301" name="AutoShape 86"/>
          <p:cNvSpPr>
            <a:spLocks noChangeArrowheads="1"/>
          </p:cNvSpPr>
          <p:nvPr/>
        </p:nvSpPr>
        <p:spPr bwMode="auto">
          <a:xfrm>
            <a:off x="4977384" y="450580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cxnSp>
        <p:nvCxnSpPr>
          <p:cNvPr id="302" name="AutoShape 67"/>
          <p:cNvCxnSpPr>
            <a:cxnSpLocks noChangeShapeType="1"/>
            <a:stCxn id="289" idx="1"/>
            <a:endCxn id="299" idx="2"/>
          </p:cNvCxnSpPr>
          <p:nvPr/>
        </p:nvCxnSpPr>
        <p:spPr bwMode="gray">
          <a:xfrm rot="10800000" flipH="1" flipV="1">
            <a:off x="4637966" y="4175282"/>
            <a:ext cx="339417" cy="1095453"/>
          </a:xfrm>
          <a:prstGeom prst="bentConnector3">
            <a:avLst>
              <a:gd name="adj1" fmla="val -36853"/>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3" name="AutoShape 67"/>
          <p:cNvCxnSpPr>
            <a:cxnSpLocks noChangeShapeType="1"/>
            <a:stCxn id="289" idx="1"/>
            <a:endCxn id="301" idx="2"/>
          </p:cNvCxnSpPr>
          <p:nvPr/>
        </p:nvCxnSpPr>
        <p:spPr bwMode="gray">
          <a:xfrm rot="10800000" flipH="1" flipV="1">
            <a:off x="4637966" y="4175282"/>
            <a:ext cx="339417" cy="574399"/>
          </a:xfrm>
          <a:prstGeom prst="bentConnector3">
            <a:avLst>
              <a:gd name="adj1" fmla="val -36853"/>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6" name="AutoShape 67"/>
          <p:cNvCxnSpPr>
            <a:cxnSpLocks noChangeShapeType="1"/>
            <a:stCxn id="289" idx="1"/>
            <a:endCxn id="300" idx="2"/>
          </p:cNvCxnSpPr>
          <p:nvPr/>
        </p:nvCxnSpPr>
        <p:spPr bwMode="gray">
          <a:xfrm rot="10800000" flipH="1" flipV="1">
            <a:off x="4637966" y="4175283"/>
            <a:ext cx="339417" cy="1980168"/>
          </a:xfrm>
          <a:prstGeom prst="bentConnector3">
            <a:avLst>
              <a:gd name="adj1" fmla="val -36853"/>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4" name="Rectangle 49"/>
          <p:cNvSpPr>
            <a:spLocks noChangeArrowheads="1"/>
          </p:cNvSpPr>
          <p:nvPr/>
        </p:nvSpPr>
        <p:spPr bwMode="gray">
          <a:xfrm>
            <a:off x="6236707" y="4011812"/>
            <a:ext cx="109994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데이터 </a:t>
            </a:r>
            <a:r>
              <a:rPr lang="en-US" altLang="ko-KR" sz="800" b="1" dirty="0" smtClean="0">
                <a:latin typeface="+mn-ea"/>
                <a:ea typeface="+mn-ea"/>
              </a:rPr>
              <a:t>INSERT</a:t>
            </a:r>
            <a:endParaRPr lang="ko-KR" altLang="en-US" sz="800" b="1" dirty="0">
              <a:latin typeface="+mn-ea"/>
              <a:ea typeface="+mn-ea"/>
            </a:endParaRPr>
          </a:p>
        </p:txBody>
      </p:sp>
      <p:cxnSp>
        <p:nvCxnSpPr>
          <p:cNvPr id="375" name="AutoShape 67"/>
          <p:cNvCxnSpPr>
            <a:cxnSpLocks noChangeShapeType="1"/>
            <a:stCxn id="188" idx="3"/>
            <a:endCxn id="374" idx="2"/>
          </p:cNvCxnSpPr>
          <p:nvPr/>
        </p:nvCxnSpPr>
        <p:spPr bwMode="gray">
          <a:xfrm flipV="1">
            <a:off x="5988115" y="4229437"/>
            <a:ext cx="798565" cy="1223287"/>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8" name="AutoShape 86"/>
          <p:cNvSpPr>
            <a:spLocks noChangeArrowheads="1"/>
          </p:cNvSpPr>
          <p:nvPr/>
        </p:nvSpPr>
        <p:spPr bwMode="auto">
          <a:xfrm>
            <a:off x="6503311" y="31661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cxnSp>
        <p:nvCxnSpPr>
          <p:cNvPr id="379" name="AutoShape 67"/>
          <p:cNvCxnSpPr>
            <a:cxnSpLocks noChangeShapeType="1"/>
            <a:stCxn id="374" idx="0"/>
            <a:endCxn id="378" idx="3"/>
          </p:cNvCxnSpPr>
          <p:nvPr/>
        </p:nvCxnSpPr>
        <p:spPr bwMode="gray">
          <a:xfrm flipV="1">
            <a:off x="6786680" y="3653901"/>
            <a:ext cx="0" cy="357911"/>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2" name="TextBox 94"/>
          <p:cNvSpPr txBox="1">
            <a:spLocks noChangeArrowheads="1"/>
          </p:cNvSpPr>
          <p:nvPr/>
        </p:nvSpPr>
        <p:spPr bwMode="auto">
          <a:xfrm>
            <a:off x="3659262" y="2573905"/>
            <a:ext cx="3093938" cy="1077218"/>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검색조건 </a:t>
            </a:r>
            <a:r>
              <a:rPr lang="en-US" altLang="ko-KR" sz="800" dirty="0" smtClean="0">
                <a:latin typeface="+mn-ea"/>
                <a:ea typeface="+mn-ea"/>
              </a:rPr>
              <a:t>: </a:t>
            </a:r>
            <a:r>
              <a:rPr lang="ko-KR" altLang="en-US" sz="800" dirty="0" err="1" smtClean="0">
                <a:latin typeface="+mn-ea"/>
                <a:ea typeface="+mn-ea"/>
              </a:rPr>
              <a:t>정산년월</a:t>
            </a:r>
            <a:r>
              <a:rPr lang="en-US" altLang="ko-KR" sz="800" dirty="0" smtClean="0">
                <a:latin typeface="+mn-ea"/>
                <a:ea typeface="+mn-ea"/>
              </a:rPr>
              <a:t>, </a:t>
            </a:r>
            <a:r>
              <a:rPr lang="ko-KR" altLang="en-US" sz="800" dirty="0" smtClean="0">
                <a:latin typeface="+mn-ea"/>
                <a:ea typeface="+mn-ea"/>
              </a:rPr>
              <a:t>상위브랜드</a:t>
            </a:r>
            <a:r>
              <a:rPr lang="en-US" altLang="ko-KR" sz="800" dirty="0" smtClean="0">
                <a:latin typeface="+mn-ea"/>
                <a:ea typeface="+mn-ea"/>
              </a:rPr>
              <a:t>, MALL_ID, </a:t>
            </a:r>
            <a:r>
              <a:rPr lang="ko-KR" altLang="en-US" sz="800" dirty="0" smtClean="0">
                <a:latin typeface="+mn-ea"/>
                <a:ea typeface="+mn-ea"/>
              </a:rPr>
              <a:t>정산매장</a:t>
            </a:r>
            <a:endParaRPr lang="en-US" altLang="ko-KR" sz="800" dirty="0" smtClean="0">
              <a:latin typeface="+mn-ea"/>
              <a:ea typeface="+mn-ea"/>
            </a:endParaRPr>
          </a:p>
          <a:p>
            <a:pPr>
              <a:spcBef>
                <a:spcPct val="20000"/>
              </a:spcBef>
              <a:buClr>
                <a:srgbClr val="003366"/>
              </a:buClr>
            </a:pPr>
            <a:r>
              <a:rPr lang="ko-KR" altLang="en-US" sz="800" b="1" dirty="0" smtClean="0">
                <a:latin typeface="+mn-ea"/>
                <a:ea typeface="+mn-ea"/>
              </a:rPr>
              <a:t>매장수불</a:t>
            </a:r>
            <a:r>
              <a:rPr lang="en-US" altLang="ko-KR" sz="800" b="1" dirty="0" smtClean="0">
                <a:latin typeface="+mn-ea"/>
                <a:ea typeface="+mn-ea"/>
                <a:sym typeface="Wingdings" panose="05000000000000000000" pitchFamily="2" charset="2"/>
              </a:rPr>
              <a:t> </a:t>
            </a:r>
            <a:r>
              <a:rPr lang="ko-KR" altLang="en-US" sz="800" dirty="0" smtClean="0">
                <a:latin typeface="+mn-ea"/>
                <a:ea typeface="+mn-ea"/>
                <a:sym typeface="Wingdings" panose="05000000000000000000" pitchFamily="2" charset="2"/>
              </a:rPr>
              <a:t>판매</a:t>
            </a:r>
            <a:r>
              <a:rPr lang="en-US" altLang="ko-KR" sz="800" b="1" dirty="0" smtClean="0">
                <a:latin typeface="+mn-ea"/>
                <a:ea typeface="+mn-ea"/>
                <a:sym typeface="Wingdings" panose="05000000000000000000" pitchFamily="2" charset="2"/>
              </a:rPr>
              <a:t>, </a:t>
            </a:r>
            <a:r>
              <a:rPr lang="en-US" altLang="ko-KR" sz="800" dirty="0" smtClean="0">
                <a:latin typeface="+mn-ea"/>
                <a:ea typeface="+mn-ea"/>
              </a:rPr>
              <a:t>ATTR13 ( </a:t>
            </a:r>
            <a:r>
              <a:rPr lang="en-US" altLang="ko-KR" sz="800" dirty="0">
                <a:latin typeface="+mn-ea"/>
                <a:ea typeface="+mn-ea"/>
              </a:rPr>
              <a:t>'GWM_RNDS_OUTB' ,'GWM_RNDS_REFUND</a:t>
            </a:r>
            <a:r>
              <a:rPr lang="en-US" altLang="ko-KR" sz="800" dirty="0" smtClean="0">
                <a:latin typeface="+mn-ea"/>
                <a:ea typeface="+mn-ea"/>
              </a:rPr>
              <a:t>')</a:t>
            </a:r>
          </a:p>
          <a:p>
            <a:pPr>
              <a:spcBef>
                <a:spcPct val="20000"/>
              </a:spcBef>
              <a:buClr>
                <a:srgbClr val="003366"/>
              </a:buClr>
            </a:pPr>
            <a:r>
              <a:rPr lang="en-US" altLang="ko-KR" sz="800" b="1" dirty="0" smtClean="0">
                <a:latin typeface="+mn-ea"/>
                <a:ea typeface="+mn-ea"/>
              </a:rPr>
              <a:t>T_GWM_IF_STLM_BASE_MISS </a:t>
            </a:r>
            <a:r>
              <a:rPr lang="en-US" altLang="ko-KR" sz="800" b="1" dirty="0" smtClean="0">
                <a:latin typeface="+mn-ea"/>
                <a:ea typeface="+mn-ea"/>
                <a:sym typeface="Wingdings" panose="05000000000000000000" pitchFamily="2" charset="2"/>
              </a:rPr>
              <a:t> </a:t>
            </a:r>
            <a:r>
              <a:rPr lang="ko-KR" altLang="en-US" sz="800" b="1" dirty="0" smtClean="0">
                <a:latin typeface="+mn-ea"/>
                <a:ea typeface="+mn-ea"/>
              </a:rPr>
              <a:t>최종정산차수</a:t>
            </a:r>
            <a:endParaRPr lang="en-US" altLang="ko-KR" sz="800" b="1" dirty="0" smtClean="0">
              <a:latin typeface="+mn-ea"/>
              <a:ea typeface="+mn-ea"/>
            </a:endParaRPr>
          </a:p>
          <a:p>
            <a:pPr>
              <a:spcBef>
                <a:spcPct val="20000"/>
              </a:spcBef>
              <a:buClr>
                <a:srgbClr val="003366"/>
              </a:buClr>
            </a:pPr>
            <a:r>
              <a:rPr lang="en-US" altLang="ko-KR" sz="800" b="1" dirty="0" smtClean="0">
                <a:latin typeface="+mn-ea"/>
                <a:ea typeface="+mn-ea"/>
              </a:rPr>
              <a:t>T_GWM_IF_STLM_BASE </a:t>
            </a:r>
            <a:r>
              <a:rPr lang="en-US" altLang="ko-KR" sz="800" b="1" dirty="0">
                <a:latin typeface="+mn-ea"/>
                <a:ea typeface="+mn-ea"/>
                <a:sym typeface="Wingdings" panose="05000000000000000000" pitchFamily="2" charset="2"/>
              </a:rPr>
              <a:t> </a:t>
            </a:r>
            <a:r>
              <a:rPr lang="ko-KR" altLang="en-US" sz="800" b="1" dirty="0" smtClean="0">
                <a:latin typeface="+mn-ea"/>
                <a:ea typeface="+mn-ea"/>
              </a:rPr>
              <a:t>최종정산차수</a:t>
            </a:r>
            <a:endParaRPr lang="en-US" altLang="ko-KR" sz="800" b="1" dirty="0" smtClean="0">
              <a:latin typeface="+mn-ea"/>
              <a:ea typeface="+mn-ea"/>
            </a:endParaRPr>
          </a:p>
          <a:p>
            <a:pPr>
              <a:spcBef>
                <a:spcPct val="20000"/>
              </a:spcBef>
              <a:buClr>
                <a:srgbClr val="003366"/>
              </a:buClr>
            </a:pPr>
            <a:r>
              <a:rPr lang="ko-KR" altLang="en-US" sz="800" b="1" dirty="0" smtClean="0">
                <a:latin typeface="+mn-ea"/>
                <a:ea typeface="+mn-ea"/>
              </a:rPr>
              <a:t>기타건 조회</a:t>
            </a:r>
            <a:endParaRPr lang="en-US" altLang="ko-KR" sz="800" b="1" dirty="0" smtClean="0">
              <a:latin typeface="+mn-ea"/>
              <a:ea typeface="+mn-ea"/>
            </a:endParaRPr>
          </a:p>
          <a:p>
            <a:pPr>
              <a:spcBef>
                <a:spcPct val="20000"/>
              </a:spcBef>
              <a:buClr>
                <a:srgbClr val="003366"/>
              </a:buClr>
            </a:pPr>
            <a:r>
              <a:rPr lang="ko-KR" altLang="en-US" sz="800" b="1" dirty="0" smtClean="0">
                <a:latin typeface="+mn-ea"/>
                <a:ea typeface="+mn-ea"/>
              </a:rPr>
              <a:t>매장수불 </a:t>
            </a:r>
            <a:r>
              <a:rPr lang="en-US" altLang="ko-KR" sz="800" b="1" dirty="0" smtClean="0">
                <a:latin typeface="+mn-ea"/>
                <a:ea typeface="+mn-ea"/>
                <a:sym typeface="Wingdings" panose="05000000000000000000" pitchFamily="2" charset="2"/>
              </a:rPr>
              <a:t> </a:t>
            </a:r>
            <a:r>
              <a:rPr lang="ko-KR" altLang="en-US" sz="800" dirty="0" smtClean="0">
                <a:latin typeface="+mn-ea"/>
                <a:ea typeface="+mn-ea"/>
                <a:sym typeface="Wingdings" panose="05000000000000000000" pitchFamily="2" charset="2"/>
              </a:rPr>
              <a:t>판매</a:t>
            </a:r>
            <a:r>
              <a:rPr lang="en-US" altLang="ko-KR" sz="800" dirty="0" smtClean="0">
                <a:latin typeface="+mn-ea"/>
                <a:ea typeface="+mn-ea"/>
                <a:sym typeface="Wingdings" panose="05000000000000000000" pitchFamily="2" charset="2"/>
              </a:rPr>
              <a:t>, ATTR1(EDIS_AUTO%)</a:t>
            </a:r>
            <a:r>
              <a:rPr lang="ko-KR" altLang="en-US" sz="800" dirty="0" smtClean="0">
                <a:latin typeface="+mn-ea"/>
                <a:ea typeface="+mn-ea"/>
              </a:rPr>
              <a:t> </a:t>
            </a:r>
            <a:endParaRPr lang="ko-KR" altLang="en-US" sz="800" dirty="0">
              <a:latin typeface="+mn-ea"/>
              <a:ea typeface="+mn-ea"/>
            </a:endParaRPr>
          </a:p>
        </p:txBody>
      </p:sp>
      <p:sp>
        <p:nvSpPr>
          <p:cNvPr id="67" name="TextBox 94"/>
          <p:cNvSpPr txBox="1">
            <a:spLocks noChangeArrowheads="1"/>
          </p:cNvSpPr>
          <p:nvPr/>
        </p:nvSpPr>
        <p:spPr bwMode="auto">
          <a:xfrm>
            <a:off x="4640099" y="5546999"/>
            <a:ext cx="1310787"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a:latin typeface="+mn-ea"/>
                <a:ea typeface="+mn-ea"/>
                <a:sym typeface="Wingdings" panose="05000000000000000000" pitchFamily="2" charset="2"/>
              </a:rPr>
              <a:t>서비스 종료로 삭제 예정</a:t>
            </a:r>
            <a:endParaRPr lang="en-US" altLang="ko-KR" sz="800" dirty="0" smtClean="0">
              <a:latin typeface="+mn-ea"/>
              <a:ea typeface="+mn-ea"/>
              <a:sym typeface="Wingdings" panose="05000000000000000000" pitchFamily="2" charset="2"/>
            </a:endParaRPr>
          </a:p>
        </p:txBody>
      </p:sp>
      <p:sp>
        <p:nvSpPr>
          <p:cNvPr id="71" name="TextBox 94"/>
          <p:cNvSpPr txBox="1">
            <a:spLocks noChangeArrowheads="1"/>
          </p:cNvSpPr>
          <p:nvPr/>
        </p:nvSpPr>
        <p:spPr bwMode="auto">
          <a:xfrm>
            <a:off x="556126" y="5502069"/>
            <a:ext cx="1325352" cy="215444"/>
          </a:xfrm>
          <a:prstGeom prst="rect">
            <a:avLst/>
          </a:prstGeom>
          <a:noFill/>
          <a:ln w="9525">
            <a:noFill/>
            <a:miter lim="800000"/>
            <a:headEnd/>
            <a:tailEnd/>
          </a:ln>
        </p:spPr>
        <p:txBody>
          <a:bodyPr wrap="square">
            <a:spAutoFit/>
          </a:bodyPr>
          <a:lstStyle/>
          <a:p>
            <a:pPr algn="ctr">
              <a:spcBef>
                <a:spcPct val="20000"/>
              </a:spcBef>
              <a:buClr>
                <a:srgbClr val="003366"/>
              </a:buClr>
            </a:pPr>
            <a:r>
              <a:rPr lang="en-US" altLang="ko-KR" sz="800" b="1" dirty="0">
                <a:latin typeface="+mn-ea"/>
                <a:ea typeface="+mn-ea"/>
              </a:rPr>
              <a:t>BO </a:t>
            </a:r>
            <a:r>
              <a:rPr lang="ko-KR" altLang="en-US" sz="800" b="1" dirty="0" smtClean="0">
                <a:latin typeface="+mn-ea"/>
                <a:ea typeface="+mn-ea"/>
              </a:rPr>
              <a:t>주문</a:t>
            </a:r>
            <a:r>
              <a:rPr lang="en-US" altLang="ko-KR" sz="800" b="1" dirty="0" smtClean="0">
                <a:latin typeface="+mn-ea"/>
                <a:ea typeface="+mn-ea"/>
              </a:rPr>
              <a:t>(Y) </a:t>
            </a:r>
            <a:r>
              <a:rPr lang="ko-KR" altLang="en-US" sz="800" b="1" dirty="0" smtClean="0">
                <a:latin typeface="+mn-ea"/>
                <a:ea typeface="+mn-ea"/>
              </a:rPr>
              <a:t>정산서</a:t>
            </a:r>
            <a:r>
              <a:rPr lang="en-US" altLang="ko-KR" sz="800" b="1" dirty="0" smtClean="0">
                <a:latin typeface="+mn-ea"/>
                <a:ea typeface="+mn-ea"/>
              </a:rPr>
              <a:t>(N)</a:t>
            </a:r>
            <a:endParaRPr lang="en-US" altLang="ko-KR" sz="800" dirty="0" smtClean="0">
              <a:latin typeface="+mn-ea"/>
              <a:ea typeface="+mn-ea"/>
              <a:sym typeface="Wingdings" panose="05000000000000000000" pitchFamily="2" charset="2"/>
            </a:endParaRPr>
          </a:p>
        </p:txBody>
      </p:sp>
    </p:spTree>
    <p:extLst>
      <p:ext uri="{BB962C8B-B14F-4D97-AF65-F5344CB8AC3E}">
        <p14:creationId xmlns:p14="http://schemas.microsoft.com/office/powerpoint/2010/main" val="42752405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Rectangle 2"/>
          <p:cNvSpPr>
            <a:spLocks noChangeArrowheads="1"/>
          </p:cNvSpPr>
          <p:nvPr/>
        </p:nvSpPr>
        <p:spPr bwMode="gray">
          <a:xfrm>
            <a:off x="272480" y="2195660"/>
            <a:ext cx="1627989" cy="657751"/>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a:latin typeface="+mn-ea"/>
              <a:ea typeface="+mn-ea"/>
            </a:endParaRPr>
          </a:p>
        </p:txBody>
      </p:sp>
      <p:sp>
        <p:nvSpPr>
          <p:cNvPr id="11" name="제목 10"/>
          <p:cNvSpPr>
            <a:spLocks noGrp="1"/>
          </p:cNvSpPr>
          <p:nvPr>
            <p:ph type="title"/>
          </p:nvPr>
        </p:nvSpPr>
        <p:spPr/>
        <p:txBody>
          <a:bodyPr/>
          <a:lstStyle/>
          <a:p>
            <a:r>
              <a:rPr lang="en-US" altLang="ko-KR" dirty="0">
                <a:latin typeface="+mn-ea"/>
                <a:ea typeface="+mn-ea"/>
              </a:rPr>
              <a:t>6</a:t>
            </a:r>
            <a:r>
              <a:rPr lang="en-US" altLang="ko-KR" dirty="0" smtClean="0">
                <a:latin typeface="+mn-ea"/>
                <a:ea typeface="+mn-ea"/>
              </a:rPr>
              <a:t>. </a:t>
            </a:r>
            <a:r>
              <a:rPr lang="ko-KR" altLang="en-US" dirty="0" smtClean="0">
                <a:latin typeface="+mn-ea"/>
                <a:ea typeface="+mn-ea"/>
              </a:rPr>
              <a:t>외부 몰 정산</a:t>
            </a:r>
            <a:endParaRPr lang="ko-KR" altLang="en-US" sz="1400" dirty="0">
              <a:latin typeface="+mn-ea"/>
              <a:ea typeface="+mn-ea"/>
            </a:endParaRPr>
          </a:p>
        </p:txBody>
      </p:sp>
      <p:sp>
        <p:nvSpPr>
          <p:cNvPr id="42" name="TextBox 39"/>
          <p:cNvSpPr txBox="1">
            <a:spLocks noChangeArrowheads="1"/>
          </p:cNvSpPr>
          <p:nvPr/>
        </p:nvSpPr>
        <p:spPr bwMode="auto">
          <a:xfrm>
            <a:off x="218855" y="738114"/>
            <a:ext cx="9594685" cy="304699"/>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a:latin typeface="+mn-ea"/>
                <a:ea typeface="+mn-ea"/>
              </a:rPr>
              <a:t> </a:t>
            </a:r>
            <a:r>
              <a:rPr kumimoji="0" lang="ko-KR" altLang="en-US" sz="1200" b="1" dirty="0">
                <a:solidFill>
                  <a:prstClr val="black"/>
                </a:solidFill>
                <a:latin typeface="+mn-ea"/>
                <a:ea typeface="+mn-ea"/>
              </a:rPr>
              <a:t>외부 몰 판매에 대한 정산 처리</a:t>
            </a:r>
            <a:r>
              <a:rPr kumimoji="0" lang="en-US" altLang="ko-KR" sz="1200" b="1" dirty="0">
                <a:solidFill>
                  <a:prstClr val="black"/>
                </a:solidFill>
                <a:latin typeface="+mn-ea"/>
                <a:ea typeface="+mn-ea"/>
              </a:rPr>
              <a:t>. </a:t>
            </a:r>
            <a:r>
              <a:rPr kumimoji="0" lang="ko-KR" altLang="en-US" sz="1200" b="1" dirty="0">
                <a:solidFill>
                  <a:prstClr val="black"/>
                </a:solidFill>
                <a:latin typeface="+mn-ea"/>
                <a:ea typeface="+mn-ea"/>
              </a:rPr>
              <a:t>외부 몰 정산 </a:t>
            </a:r>
            <a:r>
              <a:rPr kumimoji="0" lang="en-US" altLang="ko-KR" sz="1200" b="1" dirty="0">
                <a:solidFill>
                  <a:prstClr val="black"/>
                </a:solidFill>
                <a:latin typeface="+mn-ea"/>
                <a:ea typeface="+mn-ea"/>
              </a:rPr>
              <a:t>LIST </a:t>
            </a:r>
            <a:r>
              <a:rPr kumimoji="0" lang="ko-KR" altLang="en-US" sz="1200" b="1" dirty="0">
                <a:solidFill>
                  <a:prstClr val="black"/>
                </a:solidFill>
                <a:latin typeface="+mn-ea"/>
                <a:ea typeface="+mn-ea"/>
              </a:rPr>
              <a:t>수취 후 외부 몰 정산 수행</a:t>
            </a:r>
            <a:r>
              <a:rPr kumimoji="0" lang="en-US" altLang="ko-KR" sz="1200" b="1" dirty="0">
                <a:solidFill>
                  <a:prstClr val="black"/>
                </a:solidFill>
                <a:latin typeface="+mn-ea"/>
                <a:ea typeface="+mn-ea"/>
              </a:rPr>
              <a:t>.</a:t>
            </a:r>
            <a:r>
              <a:rPr kumimoji="0" lang="ko-KR" altLang="en-US" sz="1200" b="1" dirty="0" smtClean="0">
                <a:latin typeface="+mn-ea"/>
                <a:ea typeface="+mn-ea"/>
              </a:rPr>
              <a:t> </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mn-ea"/>
                <a:ea typeface="+mn-ea"/>
              </a:endParaRPr>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latinLnBrk="0" hangingPunct="0">
                <a:lnSpc>
                  <a:spcPct val="140000"/>
                </a:lnSpc>
                <a:buClr>
                  <a:schemeClr val="tx2"/>
                </a:buClr>
                <a:buSzPct val="75000"/>
                <a:buFont typeface="Wingdings" panose="05000000000000000000" pitchFamily="2" charset="2"/>
                <a:buChar char="u"/>
              </a:pPr>
              <a:r>
                <a:rPr kumimoji="0" lang="en-US" altLang="ko-KR" sz="900" b="1" dirty="0" smtClean="0">
                  <a:latin typeface="+mn-ea"/>
                  <a:ea typeface="+mn-ea"/>
                </a:rPr>
                <a:t> </a:t>
              </a:r>
              <a:r>
                <a:rPr kumimoji="0" lang="en-US" altLang="ko-KR" sz="900" b="1" dirty="0">
                  <a:solidFill>
                    <a:prstClr val="black"/>
                  </a:solidFill>
                  <a:latin typeface="+mn-ea"/>
                  <a:ea typeface="+mn-ea"/>
                </a:rPr>
                <a:t> </a:t>
              </a:r>
              <a:r>
                <a:rPr kumimoji="0" lang="ko-KR" altLang="en-US" sz="900" b="1" dirty="0">
                  <a:latin typeface="+mn-ea"/>
                  <a:ea typeface="+mn-ea"/>
                </a:rPr>
                <a:t>정의</a:t>
              </a:r>
            </a:p>
            <a:p>
              <a:pPr eaLnBrk="0" latinLnBrk="0" hangingPunct="0">
                <a:lnSpc>
                  <a:spcPct val="140000"/>
                </a:lnSpc>
                <a:buClr>
                  <a:schemeClr val="tx2"/>
                </a:buClr>
                <a:buSzPct val="75000"/>
              </a:pPr>
              <a:r>
                <a:rPr kumimoji="0" lang="ko-KR" altLang="en-US" sz="900" dirty="0">
                  <a:latin typeface="+mn-ea"/>
                  <a:ea typeface="+mn-ea"/>
                </a:rPr>
                <a:t>외부 몰의 판매에 대한 정산 처리</a:t>
              </a:r>
              <a:r>
                <a:rPr kumimoji="0" lang="en-US" altLang="ko-KR" sz="900" dirty="0">
                  <a:latin typeface="+mn-ea"/>
                  <a:ea typeface="+mn-ea"/>
                </a:rPr>
                <a:t>.</a:t>
              </a:r>
            </a:p>
            <a:p>
              <a:pPr eaLnBrk="0" latinLnBrk="0" hangingPunct="0">
                <a:lnSpc>
                  <a:spcPct val="140000"/>
                </a:lnSpc>
                <a:buClr>
                  <a:schemeClr val="tx2"/>
                </a:buClr>
                <a:buSzPct val="75000"/>
              </a:pPr>
              <a:r>
                <a:rPr kumimoji="0" lang="en-US" altLang="ko-KR" sz="900" dirty="0">
                  <a:latin typeface="+mn-ea"/>
                  <a:ea typeface="+mn-ea"/>
                </a:rPr>
                <a:t>  </a:t>
              </a:r>
              <a:endParaRPr kumimoji="0" lang="ko-KR" altLang="en-US" sz="900" b="1" dirty="0">
                <a:solidFill>
                  <a:srgbClr val="FF0000"/>
                </a:solidFill>
                <a:latin typeface="+mn-ea"/>
                <a:ea typeface="+mn-ea"/>
              </a:endParaRPr>
            </a:p>
            <a:p>
              <a:pPr marL="85725" indent="-85725" eaLnBrk="0" latinLnBrk="0" hangingPunct="0">
                <a:lnSpc>
                  <a:spcPct val="140000"/>
                </a:lnSpc>
                <a:buClr>
                  <a:schemeClr val="tx2"/>
                </a:buClr>
                <a:buSzPct val="75000"/>
                <a:buFont typeface="Wingdings" panose="05000000000000000000" pitchFamily="2" charset="2"/>
                <a:buChar char="u"/>
              </a:pPr>
              <a:r>
                <a:rPr kumimoji="0" lang="ko-KR" altLang="en-US" sz="900" b="1" dirty="0">
                  <a:latin typeface="+mn-ea"/>
                  <a:ea typeface="+mn-ea"/>
                </a:rPr>
                <a:t> 선행 프로세스</a:t>
              </a:r>
            </a:p>
            <a:p>
              <a:pPr eaLnBrk="0" latinLnBrk="0" hangingPunct="0">
                <a:lnSpc>
                  <a:spcPct val="140000"/>
                </a:lnSpc>
                <a:buClr>
                  <a:schemeClr val="tx2"/>
                </a:buClr>
                <a:buSzPct val="75000"/>
              </a:pPr>
              <a:r>
                <a:rPr kumimoji="0" lang="en-US" altLang="ko-KR" sz="900" dirty="0">
                  <a:latin typeface="+mn-ea"/>
                  <a:ea typeface="+mn-ea"/>
                </a:rPr>
                <a:t>1. </a:t>
              </a:r>
              <a:r>
                <a:rPr kumimoji="0" lang="ko-KR" altLang="en-US" sz="900" dirty="0">
                  <a:latin typeface="+mn-ea"/>
                  <a:ea typeface="+mn-ea"/>
                </a:rPr>
                <a:t>외부 몰 판매</a:t>
              </a:r>
              <a:r>
                <a:rPr kumimoji="0" lang="en-US" altLang="ko-KR" sz="900" dirty="0">
                  <a:latin typeface="+mn-ea"/>
                  <a:ea typeface="+mn-ea"/>
                </a:rPr>
                <a:t> </a:t>
              </a:r>
              <a:endParaRPr kumimoji="0" lang="en-US" altLang="ko-KR" sz="900" dirty="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a:latin typeface="+mn-ea"/>
                  <a:ea typeface="+mn-ea"/>
                </a:rPr>
                <a:t>2. </a:t>
              </a:r>
              <a:r>
                <a:rPr kumimoji="0" lang="ko-KR" altLang="en-US" sz="900" dirty="0">
                  <a:latin typeface="+mn-ea"/>
                  <a:ea typeface="+mn-ea"/>
                </a:rPr>
                <a:t>외부 몰 정산 </a:t>
              </a:r>
              <a:r>
                <a:rPr kumimoji="0" lang="en-US" altLang="ko-KR" sz="900" dirty="0">
                  <a:latin typeface="+mn-ea"/>
                  <a:ea typeface="+mn-ea"/>
                </a:rPr>
                <a:t>LIST </a:t>
              </a:r>
              <a:r>
                <a:rPr kumimoji="0" lang="ko-KR" altLang="en-US" sz="900" dirty="0">
                  <a:latin typeface="+mn-ea"/>
                  <a:ea typeface="+mn-ea"/>
                </a:rPr>
                <a:t>수취 </a:t>
              </a:r>
              <a:r>
                <a:rPr kumimoji="0" lang="en-US" altLang="ko-KR" sz="900" dirty="0">
                  <a:latin typeface="+mn-ea"/>
                  <a:ea typeface="+mn-ea"/>
                  <a:sym typeface="Wingdings" panose="05000000000000000000" pitchFamily="2" charset="2"/>
                </a:rPr>
                <a:t> </a:t>
              </a:r>
              <a:r>
                <a:rPr kumimoji="0" lang="ko-KR" altLang="en-US" sz="900" dirty="0">
                  <a:latin typeface="+mn-ea"/>
                  <a:ea typeface="+mn-ea"/>
                  <a:sym typeface="Wingdings" panose="05000000000000000000" pitchFamily="2" charset="2"/>
                </a:rPr>
                <a:t>등록</a:t>
              </a:r>
              <a:endParaRPr kumimoji="0" lang="en-US" altLang="ko-KR" sz="900" dirty="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a:latin typeface="+mn-ea"/>
                  <a:ea typeface="+mn-ea"/>
                  <a:sym typeface="Wingdings" panose="05000000000000000000" pitchFamily="2" charset="2"/>
                </a:rPr>
                <a:t>   </a:t>
              </a:r>
              <a:r>
                <a:rPr kumimoji="0" lang="ko-KR" altLang="en-US" sz="900" dirty="0">
                  <a:latin typeface="+mn-ea"/>
                  <a:ea typeface="+mn-ea"/>
                </a:rPr>
                <a:t> </a:t>
              </a:r>
            </a:p>
            <a:p>
              <a:pPr eaLnBrk="0" latinLnBrk="0" hangingPunct="0">
                <a:lnSpc>
                  <a:spcPct val="140000"/>
                </a:lnSpc>
                <a:buClr>
                  <a:schemeClr val="tx2"/>
                </a:buClr>
                <a:buSzPct val="75000"/>
                <a:buFont typeface="Wingdings" panose="05000000000000000000" pitchFamily="2" charset="2"/>
                <a:buChar char="u"/>
              </a:pPr>
              <a:r>
                <a:rPr kumimoji="0" lang="ko-KR" altLang="en-US" sz="900" dirty="0">
                  <a:latin typeface="+mn-ea"/>
                  <a:ea typeface="+mn-ea"/>
                </a:rPr>
                <a:t> </a:t>
              </a:r>
              <a:r>
                <a:rPr kumimoji="0" lang="ko-KR" altLang="en-US" sz="900" b="1" dirty="0">
                  <a:latin typeface="+mn-ea"/>
                  <a:ea typeface="+mn-ea"/>
                </a:rPr>
                <a:t>후행 프로세스</a:t>
              </a:r>
            </a:p>
            <a:p>
              <a:pPr eaLnBrk="0" latinLnBrk="0" hangingPunct="0">
                <a:lnSpc>
                  <a:spcPct val="140000"/>
                </a:lnSpc>
                <a:buClr>
                  <a:schemeClr val="tx2"/>
                </a:buClr>
                <a:buSzPct val="75000"/>
              </a:pPr>
              <a:r>
                <a:rPr kumimoji="0" lang="en-US" altLang="ko-KR" sz="900" dirty="0">
                  <a:latin typeface="+mn-ea"/>
                  <a:ea typeface="+mn-ea"/>
                </a:rPr>
                <a:t>1. </a:t>
              </a:r>
            </a:p>
            <a:p>
              <a:pPr eaLnBrk="0" latinLnBrk="0" hangingPunct="0">
                <a:lnSpc>
                  <a:spcPct val="140000"/>
                </a:lnSpc>
                <a:buClr>
                  <a:schemeClr val="tx2"/>
                </a:buClr>
                <a:buSzPct val="75000"/>
              </a:pPr>
              <a:endParaRPr kumimoji="0" lang="ko-KR" altLang="en-US" sz="900" dirty="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a:latin typeface="+mn-ea"/>
                  <a:ea typeface="+mn-ea"/>
                </a:rPr>
                <a:t> </a:t>
              </a:r>
              <a:r>
                <a:rPr kumimoji="0" lang="ko-KR" altLang="en-US" sz="900" b="1" dirty="0">
                  <a:latin typeface="+mn-ea"/>
                  <a:ea typeface="+mn-ea"/>
                </a:rPr>
                <a:t>비즈니스 업무정책</a:t>
              </a:r>
            </a:p>
            <a:p>
              <a:pPr eaLnBrk="0" latinLnBrk="0" hangingPunct="0">
                <a:lnSpc>
                  <a:spcPct val="140000"/>
                </a:lnSpc>
                <a:buClr>
                  <a:schemeClr val="tx2"/>
                </a:buClr>
                <a:buSzPct val="75000"/>
              </a:pPr>
              <a:r>
                <a:rPr kumimoji="0" lang="en-US" altLang="ko-KR" sz="900" dirty="0">
                  <a:latin typeface="+mn-ea"/>
                  <a:ea typeface="+mn-ea"/>
                </a:rPr>
                <a:t>1. </a:t>
              </a:r>
              <a:r>
                <a:rPr lang="en-US" altLang="ko-KR" sz="900" b="1" dirty="0" smtClean="0">
                  <a:latin typeface="+mn-ea"/>
                  <a:ea typeface="+mn-ea"/>
                </a:rPr>
                <a:t>STLM1 </a:t>
              </a:r>
              <a:r>
                <a:rPr lang="en-US" altLang="ko-KR" sz="900" b="1" dirty="0">
                  <a:latin typeface="+mn-ea"/>
                  <a:ea typeface="+mn-ea"/>
                </a:rPr>
                <a:t>: </a:t>
              </a:r>
              <a:r>
                <a:rPr lang="ko-KR" altLang="en-US" sz="900" b="1" dirty="0">
                  <a:latin typeface="+mn-ea"/>
                  <a:ea typeface="+mn-ea"/>
                </a:rPr>
                <a:t>정산</a:t>
              </a:r>
              <a:r>
                <a:rPr lang="en-US" altLang="ko-KR" sz="900" b="1" dirty="0">
                  <a:latin typeface="+mn-ea"/>
                  <a:ea typeface="+mn-ea"/>
                </a:rPr>
                <a:t>1</a:t>
              </a:r>
            </a:p>
            <a:p>
              <a:r>
                <a:rPr lang="ko-KR" altLang="en-US" sz="900" dirty="0">
                  <a:latin typeface="+mn-ea"/>
                  <a:ea typeface="+mn-ea"/>
                </a:rPr>
                <a:t>당월 정산 건으로 정산서와 당월 매출 차액에 대한 판매수불 생성</a:t>
              </a:r>
              <a:r>
                <a:rPr lang="en-US" altLang="ko-KR" sz="900" dirty="0" smtClean="0">
                  <a:latin typeface="+mn-ea"/>
                  <a:ea typeface="+mn-ea"/>
                </a:rPr>
                <a:t>.</a:t>
              </a:r>
              <a:endParaRPr kumimoji="0" lang="en-US" altLang="ko-KR" sz="900" dirty="0">
                <a:latin typeface="+mn-ea"/>
                <a:ea typeface="+mn-ea"/>
              </a:endParaRPr>
            </a:p>
          </p:txBody>
        </p:sp>
      </p:grpSp>
      <p:sp>
        <p:nvSpPr>
          <p:cNvPr id="89" name="TextBox 94"/>
          <p:cNvSpPr txBox="1">
            <a:spLocks noChangeArrowheads="1"/>
          </p:cNvSpPr>
          <p:nvPr/>
        </p:nvSpPr>
        <p:spPr bwMode="auto">
          <a:xfrm>
            <a:off x="992560" y="1313336"/>
            <a:ext cx="141688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SP_ONLINE_STLM_BASE</a:t>
            </a:r>
            <a:endParaRPr lang="ko-KR" altLang="en-US" sz="800" b="1" dirty="0">
              <a:latin typeface="+mn-ea"/>
              <a:ea typeface="+mn-ea"/>
            </a:endParaRPr>
          </a:p>
        </p:txBody>
      </p:sp>
      <p:cxnSp>
        <p:nvCxnSpPr>
          <p:cNvPr id="60" name="AutoShape 67"/>
          <p:cNvCxnSpPr>
            <a:cxnSpLocks noChangeShapeType="1"/>
            <a:endCxn id="18" idx="1"/>
          </p:cNvCxnSpPr>
          <p:nvPr/>
        </p:nvCxnSpPr>
        <p:spPr bwMode="gray">
          <a:xfrm>
            <a:off x="722530" y="1808820"/>
            <a:ext cx="580471" cy="4125"/>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순서도: 페이지 연결자 17"/>
          <p:cNvSpPr/>
          <p:nvPr/>
        </p:nvSpPr>
        <p:spPr>
          <a:xfrm>
            <a:off x="1303001" y="1528780"/>
            <a:ext cx="679669" cy="568329"/>
          </a:xfrm>
          <a:prstGeom prst="flowChartOffpageConnector">
            <a:avLst/>
          </a:prstGeom>
          <a:solidFill>
            <a:schemeClr val="accent1">
              <a:lumMod val="40000"/>
              <a:lumOff val="60000"/>
            </a:schemeClr>
          </a:solidFill>
          <a:ln>
            <a:solidFill>
              <a:schemeClr val="accent1"/>
            </a:solidFill>
          </a:ln>
        </p:spPr>
        <p:txBody>
          <a:bodyPr wrap="square" rtlCol="0" anchor="ctr">
            <a:noAutofit/>
          </a:bodyPr>
          <a:lstStyle/>
          <a:p>
            <a:pPr marL="268288" indent="-215900">
              <a:spcBef>
                <a:spcPct val="20000"/>
              </a:spcBef>
              <a:buClr>
                <a:srgbClr val="FFD200"/>
              </a:buClr>
              <a:buSzPct val="75000"/>
            </a:pPr>
            <a:r>
              <a:rPr lang="ko-KR" altLang="en-US" sz="800" b="1" kern="0" dirty="0" smtClean="0">
                <a:latin typeface="+mn-ea"/>
                <a:ea typeface="+mn-ea"/>
              </a:rPr>
              <a:t>작업구분</a:t>
            </a:r>
            <a:endParaRPr lang="en-US" altLang="ko-KR" sz="800" b="1" kern="0" dirty="0" smtClean="0">
              <a:latin typeface="+mn-ea"/>
              <a:ea typeface="+mn-ea"/>
            </a:endParaRPr>
          </a:p>
          <a:p>
            <a:pPr marL="268288" indent="-215900" algn="ctr">
              <a:spcBef>
                <a:spcPct val="20000"/>
              </a:spcBef>
              <a:buClr>
                <a:srgbClr val="FFD200"/>
              </a:buClr>
              <a:buSzPct val="75000"/>
            </a:pPr>
            <a:r>
              <a:rPr lang="ko-KR" altLang="en-US" sz="800" b="1" kern="0" dirty="0" smtClean="0">
                <a:latin typeface="+mn-ea"/>
                <a:ea typeface="+mn-ea"/>
              </a:rPr>
              <a:t>정산처리</a:t>
            </a:r>
            <a:endParaRPr lang="en-US" altLang="ko-KR" sz="800" b="1" kern="0" dirty="0" smtClean="0">
              <a:latin typeface="+mn-ea"/>
              <a:ea typeface="+mn-ea"/>
            </a:endParaRPr>
          </a:p>
          <a:p>
            <a:pPr marL="268288" indent="-215900" algn="ctr">
              <a:spcBef>
                <a:spcPct val="20000"/>
              </a:spcBef>
              <a:buClr>
                <a:srgbClr val="FFD200"/>
              </a:buClr>
              <a:buSzPct val="75000"/>
            </a:pPr>
            <a:r>
              <a:rPr lang="ko-KR" altLang="en-US" sz="800" b="1" kern="0" dirty="0" smtClean="0">
                <a:latin typeface="+mn-ea"/>
                <a:ea typeface="+mn-ea"/>
              </a:rPr>
              <a:t>시작</a:t>
            </a:r>
          </a:p>
        </p:txBody>
      </p:sp>
      <p:sp>
        <p:nvSpPr>
          <p:cNvPr id="151" name="TextBox 94"/>
          <p:cNvSpPr txBox="1">
            <a:spLocks noChangeArrowheads="1"/>
          </p:cNvSpPr>
          <p:nvPr/>
        </p:nvSpPr>
        <p:spPr bwMode="auto">
          <a:xfrm>
            <a:off x="362490" y="1313336"/>
            <a:ext cx="661182" cy="510909"/>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sym typeface="Wingdings" panose="05000000000000000000" pitchFamily="2" charset="2"/>
              </a:rPr>
              <a:t>작업구분</a:t>
            </a:r>
            <a:endParaRPr lang="en-US" altLang="ko-KR" sz="800" dirty="0" smtClean="0">
              <a:latin typeface="+mn-ea"/>
              <a:ea typeface="+mn-ea"/>
              <a:sym typeface="Wingdings" panose="05000000000000000000" pitchFamily="2" charset="2"/>
            </a:endParaRPr>
          </a:p>
          <a:p>
            <a:pPr algn="ctr">
              <a:spcBef>
                <a:spcPct val="20000"/>
              </a:spcBef>
              <a:buClr>
                <a:srgbClr val="003366"/>
              </a:buClr>
            </a:pPr>
            <a:r>
              <a:rPr lang="ko-KR" altLang="en-US" sz="800" dirty="0" smtClean="0">
                <a:latin typeface="+mn-ea"/>
                <a:ea typeface="+mn-ea"/>
                <a:sym typeface="Wingdings" panose="05000000000000000000" pitchFamily="2" charset="2"/>
              </a:rPr>
              <a:t>정산처리</a:t>
            </a:r>
            <a:endParaRPr lang="en-US" altLang="ko-KR" sz="800" dirty="0" smtClean="0">
              <a:latin typeface="+mn-ea"/>
              <a:ea typeface="+mn-ea"/>
              <a:sym typeface="Wingdings" panose="05000000000000000000" pitchFamily="2" charset="2"/>
            </a:endParaRPr>
          </a:p>
          <a:p>
            <a:pPr algn="ctr">
              <a:spcBef>
                <a:spcPct val="20000"/>
              </a:spcBef>
              <a:buClr>
                <a:srgbClr val="003366"/>
              </a:buClr>
            </a:pPr>
            <a:r>
              <a:rPr lang="ko-KR" altLang="en-US" sz="800" dirty="0" smtClean="0">
                <a:latin typeface="+mn-ea"/>
                <a:ea typeface="+mn-ea"/>
                <a:sym typeface="Wingdings" panose="05000000000000000000" pitchFamily="2" charset="2"/>
              </a:rPr>
              <a:t>시작</a:t>
            </a:r>
            <a:endParaRPr lang="en-US" altLang="ko-KR" sz="800" dirty="0" smtClean="0">
              <a:latin typeface="+mn-ea"/>
              <a:ea typeface="+mn-ea"/>
              <a:sym typeface="Wingdings" panose="05000000000000000000" pitchFamily="2" charset="2"/>
            </a:endParaRPr>
          </a:p>
        </p:txBody>
      </p:sp>
      <p:cxnSp>
        <p:nvCxnSpPr>
          <p:cNvPr id="164" name="AutoShape 67"/>
          <p:cNvCxnSpPr>
            <a:cxnSpLocks noChangeShapeType="1"/>
            <a:stCxn id="397" idx="4"/>
          </p:cNvCxnSpPr>
          <p:nvPr/>
        </p:nvCxnSpPr>
        <p:spPr bwMode="gray">
          <a:xfrm>
            <a:off x="1757645" y="2529549"/>
            <a:ext cx="1283830" cy="869139"/>
          </a:xfrm>
          <a:prstGeom prst="bentConnector3">
            <a:avLst>
              <a:gd name="adj1" fmla="val 15575"/>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TextBox 94"/>
          <p:cNvSpPr txBox="1">
            <a:spLocks noChangeArrowheads="1"/>
          </p:cNvSpPr>
          <p:nvPr/>
        </p:nvSpPr>
        <p:spPr bwMode="auto">
          <a:xfrm>
            <a:off x="2023447" y="3217767"/>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68" name="Text Box 82"/>
          <p:cNvSpPr txBox="1">
            <a:spLocks noChangeArrowheads="1"/>
          </p:cNvSpPr>
          <p:nvPr/>
        </p:nvSpPr>
        <p:spPr bwMode="gray">
          <a:xfrm>
            <a:off x="2554948" y="1946764"/>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69" name="타원 168"/>
          <p:cNvSpPr/>
          <p:nvPr/>
        </p:nvSpPr>
        <p:spPr>
          <a:xfrm>
            <a:off x="4420131" y="2397563"/>
            <a:ext cx="352849" cy="338735"/>
          </a:xfrm>
          <a:prstGeom prst="ellipse">
            <a:avLst/>
          </a:prstGeom>
          <a:noFill/>
          <a:ln>
            <a:solidFill>
              <a:schemeClr val="tx1"/>
            </a:solidFill>
          </a:ln>
        </p:spPr>
        <p:txBody>
          <a:bodyPr wrap="none" lIns="0" rIns="0" rtlCol="0" anchor="ctr">
            <a:noAutofit/>
          </a:bodyPr>
          <a:lstStyle/>
          <a:p>
            <a:pPr marL="268288" indent="-215900" algn="ctr">
              <a:spcBef>
                <a:spcPct val="20000"/>
              </a:spcBef>
              <a:buClr>
                <a:srgbClr val="FFD200"/>
              </a:buClr>
              <a:buSzPct val="75000"/>
            </a:pPr>
            <a:r>
              <a:rPr lang="ko-KR" altLang="en-US" sz="800" kern="0" dirty="0" smtClean="0">
                <a:latin typeface="+mn-ea"/>
                <a:ea typeface="+mn-ea"/>
              </a:rPr>
              <a:t>종료</a:t>
            </a:r>
          </a:p>
        </p:txBody>
      </p:sp>
      <p:sp>
        <p:nvSpPr>
          <p:cNvPr id="384" name="AutoShape 73"/>
          <p:cNvSpPr>
            <a:spLocks noChangeArrowheads="1"/>
          </p:cNvSpPr>
          <p:nvPr/>
        </p:nvSpPr>
        <p:spPr bwMode="auto">
          <a:xfrm>
            <a:off x="2480102" y="1579824"/>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작업구분</a:t>
            </a:r>
            <a:endParaRPr lang="en-US" altLang="ko-KR" sz="800" dirty="0">
              <a:latin typeface="+mn-ea"/>
              <a:ea typeface="+mn-ea"/>
            </a:endParaRPr>
          </a:p>
          <a:p>
            <a:pPr algn="ctr" eaLnBrk="0" latinLnBrk="0" hangingPunct="0">
              <a:lnSpc>
                <a:spcPct val="40000"/>
              </a:lnSpc>
              <a:spcBef>
                <a:spcPct val="50000"/>
              </a:spcBef>
            </a:pPr>
            <a:r>
              <a:rPr lang="en-US" altLang="ko-KR" sz="800" dirty="0" smtClean="0">
                <a:latin typeface="+mn-ea"/>
                <a:ea typeface="+mn-ea"/>
              </a:rPr>
              <a:t>STLM1</a:t>
            </a: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cxnSp>
        <p:nvCxnSpPr>
          <p:cNvPr id="389" name="AutoShape 67"/>
          <p:cNvCxnSpPr>
            <a:cxnSpLocks noChangeShapeType="1"/>
            <a:stCxn id="18" idx="3"/>
            <a:endCxn id="384" idx="1"/>
          </p:cNvCxnSpPr>
          <p:nvPr/>
        </p:nvCxnSpPr>
        <p:spPr bwMode="gray">
          <a:xfrm>
            <a:off x="1982670" y="1812945"/>
            <a:ext cx="497432" cy="421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0" name="AutoShape 86"/>
          <p:cNvSpPr>
            <a:spLocks noChangeArrowheads="1"/>
          </p:cNvSpPr>
          <p:nvPr/>
        </p:nvSpPr>
        <p:spPr bwMode="auto">
          <a:xfrm>
            <a:off x="317485" y="228567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600" b="1" dirty="0">
                <a:latin typeface="+mn-ea"/>
                <a:ea typeface="+mn-ea"/>
              </a:rPr>
              <a:t>EC</a:t>
            </a:r>
          </a:p>
          <a:p>
            <a:pPr algn="ctr"/>
            <a:r>
              <a:rPr lang="en-US" altLang="ko-KR" sz="600" b="1" dirty="0">
                <a:latin typeface="+mn-ea"/>
                <a:ea typeface="+mn-ea"/>
              </a:rPr>
              <a:t>(</a:t>
            </a:r>
            <a:r>
              <a:rPr lang="ko-KR" altLang="en-US" sz="600" b="1" dirty="0" err="1" smtClean="0">
                <a:latin typeface="+mn-ea"/>
                <a:ea typeface="+mn-ea"/>
              </a:rPr>
              <a:t>온라인구시스템</a:t>
            </a:r>
            <a:r>
              <a:rPr lang="en-US" altLang="ko-KR" sz="600" b="1" dirty="0" smtClean="0">
                <a:latin typeface="+mn-ea"/>
                <a:ea typeface="+mn-ea"/>
              </a:rPr>
              <a:t>)</a:t>
            </a:r>
            <a:endParaRPr lang="en-US" altLang="ko-KR" sz="600" b="1" dirty="0" smtClean="0">
              <a:latin typeface="+mn-ea"/>
              <a:ea typeface="+mn-ea"/>
            </a:endParaRPr>
          </a:p>
          <a:p>
            <a:pPr algn="ctr"/>
            <a:r>
              <a:rPr lang="en-US" altLang="ko-KR" sz="600" b="1" dirty="0" smtClean="0">
                <a:latin typeface="+mn-ea"/>
                <a:ea typeface="+mn-ea"/>
              </a:rPr>
              <a:t>TEMP_INS</a:t>
            </a:r>
            <a:endParaRPr lang="ko-KR" altLang="en-US" sz="600" b="1" dirty="0">
              <a:latin typeface="+mn-ea"/>
              <a:ea typeface="+mn-ea"/>
            </a:endParaRPr>
          </a:p>
        </p:txBody>
      </p:sp>
      <p:cxnSp>
        <p:nvCxnSpPr>
          <p:cNvPr id="391" name="AutoShape 67"/>
          <p:cNvCxnSpPr>
            <a:cxnSpLocks noChangeShapeType="1"/>
            <a:stCxn id="384" idx="2"/>
            <a:endCxn id="395" idx="0"/>
          </p:cNvCxnSpPr>
          <p:nvPr/>
        </p:nvCxnSpPr>
        <p:spPr bwMode="gray">
          <a:xfrm>
            <a:off x="3041476" y="2054486"/>
            <a:ext cx="0" cy="781203"/>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2" name="AutoShape 67"/>
          <p:cNvCxnSpPr>
            <a:cxnSpLocks noChangeShapeType="1"/>
            <a:stCxn id="396" idx="3"/>
          </p:cNvCxnSpPr>
          <p:nvPr/>
        </p:nvCxnSpPr>
        <p:spPr bwMode="gray">
          <a:xfrm>
            <a:off x="1900469" y="2524536"/>
            <a:ext cx="1141007"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3" name="TextBox 94"/>
          <p:cNvSpPr txBox="1">
            <a:spLocks noChangeArrowheads="1"/>
          </p:cNvSpPr>
          <p:nvPr/>
        </p:nvSpPr>
        <p:spPr bwMode="auto">
          <a:xfrm>
            <a:off x="3091906" y="2333706"/>
            <a:ext cx="1443685" cy="606320"/>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rPr>
              <a:t>조회조건 </a:t>
            </a:r>
            <a:r>
              <a:rPr lang="en-US" altLang="ko-KR" sz="700" dirty="0" smtClean="0">
                <a:latin typeface="+mn-ea"/>
                <a:ea typeface="+mn-ea"/>
              </a:rPr>
              <a:t>: </a:t>
            </a:r>
            <a:r>
              <a:rPr lang="ko-KR" altLang="en-US" sz="700" dirty="0" err="1" smtClean="0">
                <a:latin typeface="+mn-ea"/>
                <a:ea typeface="+mn-ea"/>
              </a:rPr>
              <a:t>정산년월</a:t>
            </a:r>
            <a:r>
              <a:rPr lang="en-US" altLang="ko-KR" sz="700" dirty="0">
                <a:latin typeface="+mn-ea"/>
                <a:ea typeface="+mn-ea"/>
              </a:rPr>
              <a:t>, </a:t>
            </a:r>
            <a:r>
              <a:rPr lang="ko-KR" altLang="en-US" sz="700" dirty="0" smtClean="0">
                <a:latin typeface="+mn-ea"/>
                <a:ea typeface="+mn-ea"/>
              </a:rPr>
              <a:t>정산매장</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상위브랜드</a:t>
            </a:r>
            <a:r>
              <a:rPr lang="en-US" altLang="ko-KR" sz="700" dirty="0" smtClean="0">
                <a:latin typeface="+mn-ea"/>
                <a:ea typeface="+mn-ea"/>
              </a:rPr>
              <a:t>, MALL_ID</a:t>
            </a:r>
          </a:p>
          <a:p>
            <a:pPr>
              <a:spcBef>
                <a:spcPct val="20000"/>
              </a:spcBef>
              <a:buClr>
                <a:srgbClr val="003366"/>
              </a:buClr>
            </a:pPr>
            <a:r>
              <a:rPr lang="en-US" altLang="ko-KR" sz="700" dirty="0" smtClean="0">
                <a:latin typeface="+mn-ea"/>
                <a:ea typeface="+mn-ea"/>
              </a:rPr>
              <a:t>WORK_CLSBY</a:t>
            </a:r>
          </a:p>
          <a:p>
            <a:pPr>
              <a:spcBef>
                <a:spcPct val="20000"/>
              </a:spcBef>
              <a:buClr>
                <a:srgbClr val="003366"/>
              </a:buClr>
            </a:pPr>
            <a:r>
              <a:rPr lang="en-US" altLang="ko-KR" sz="700" dirty="0" smtClean="0">
                <a:latin typeface="+mn-ea"/>
                <a:ea typeface="+mn-ea"/>
                <a:sym typeface="Wingdings" panose="05000000000000000000" pitchFamily="2" charset="2"/>
              </a:rPr>
              <a:t> </a:t>
            </a:r>
            <a:r>
              <a:rPr lang="en-US" altLang="ko-KR" sz="700" dirty="0" smtClean="0">
                <a:latin typeface="+mn-ea"/>
                <a:ea typeface="+mn-ea"/>
              </a:rPr>
              <a:t>C59704(</a:t>
            </a:r>
            <a:r>
              <a:rPr lang="ko-KR" altLang="en-US" sz="700" dirty="0" smtClean="0">
                <a:latin typeface="+mn-ea"/>
                <a:ea typeface="+mn-ea"/>
              </a:rPr>
              <a:t>정산처리</a:t>
            </a:r>
            <a:r>
              <a:rPr lang="en-US" altLang="ko-KR" sz="700" dirty="0" smtClean="0">
                <a:latin typeface="+mn-ea"/>
                <a:ea typeface="+mn-ea"/>
              </a:rPr>
              <a:t>1)</a:t>
            </a:r>
            <a:endParaRPr lang="ko-KR" altLang="en-US" sz="700" dirty="0">
              <a:latin typeface="+mn-ea"/>
              <a:ea typeface="+mn-ea"/>
            </a:endParaRPr>
          </a:p>
        </p:txBody>
      </p:sp>
      <p:sp>
        <p:nvSpPr>
          <p:cNvPr id="394" name="TextBox 94"/>
          <p:cNvSpPr txBox="1">
            <a:spLocks noChangeArrowheads="1"/>
          </p:cNvSpPr>
          <p:nvPr/>
        </p:nvSpPr>
        <p:spPr bwMode="auto">
          <a:xfrm>
            <a:off x="2104850" y="2347947"/>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395" name="AutoShape 73"/>
          <p:cNvSpPr>
            <a:spLocks noChangeArrowheads="1"/>
          </p:cNvSpPr>
          <p:nvPr/>
        </p:nvSpPr>
        <p:spPr bwMode="auto">
          <a:xfrm>
            <a:off x="2480102" y="2835689"/>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조회 건수 </a:t>
            </a:r>
            <a:r>
              <a:rPr lang="en-US" altLang="ko-KR" sz="800" dirty="0" smtClean="0">
                <a:latin typeface="+mn-ea"/>
                <a:ea typeface="+mn-ea"/>
              </a:rPr>
              <a:t>!= 0</a:t>
            </a:r>
          </a:p>
        </p:txBody>
      </p:sp>
      <p:sp>
        <p:nvSpPr>
          <p:cNvPr id="397" name="AutoShape 86"/>
          <p:cNvSpPr>
            <a:spLocks noChangeArrowheads="1"/>
          </p:cNvSpPr>
          <p:nvPr/>
        </p:nvSpPr>
        <p:spPr bwMode="auto">
          <a:xfrm>
            <a:off x="1190907" y="228567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온라인정산진행체크</a:t>
            </a:r>
            <a:endParaRPr lang="en-US" altLang="ko-KR" sz="600" b="1" dirty="0" smtClean="0">
              <a:latin typeface="+mn-ea"/>
              <a:ea typeface="+mn-ea"/>
            </a:endParaRPr>
          </a:p>
          <a:p>
            <a:pPr algn="ctr"/>
            <a:r>
              <a:rPr lang="en-US" altLang="ko-KR" sz="600" b="1" dirty="0" smtClean="0">
                <a:latin typeface="+mn-ea"/>
                <a:ea typeface="+mn-ea"/>
              </a:rPr>
              <a:t>T_ONLINE_STLM_CHECK</a:t>
            </a:r>
            <a:endParaRPr lang="ko-KR" altLang="en-US" sz="600" b="1" dirty="0">
              <a:latin typeface="+mn-ea"/>
              <a:ea typeface="+mn-ea"/>
            </a:endParaRPr>
          </a:p>
        </p:txBody>
      </p:sp>
      <p:sp>
        <p:nvSpPr>
          <p:cNvPr id="398" name="Text Box 82"/>
          <p:cNvSpPr txBox="1">
            <a:spLocks noChangeArrowheads="1"/>
          </p:cNvSpPr>
          <p:nvPr/>
        </p:nvSpPr>
        <p:spPr bwMode="gray">
          <a:xfrm>
            <a:off x="3467835" y="3068960"/>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399" name="AutoShape 67"/>
          <p:cNvCxnSpPr>
            <a:cxnSpLocks noChangeShapeType="1"/>
            <a:stCxn id="395" idx="3"/>
            <a:endCxn id="169" idx="4"/>
          </p:cNvCxnSpPr>
          <p:nvPr/>
        </p:nvCxnSpPr>
        <p:spPr bwMode="gray">
          <a:xfrm flipV="1">
            <a:off x="3602850" y="2736298"/>
            <a:ext cx="993706" cy="336722"/>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0" name="AutoShape 73"/>
          <p:cNvSpPr>
            <a:spLocks noChangeArrowheads="1"/>
          </p:cNvSpPr>
          <p:nvPr/>
        </p:nvSpPr>
        <p:spPr bwMode="auto">
          <a:xfrm>
            <a:off x="2481185" y="3566778"/>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조회 건수 </a:t>
            </a:r>
            <a:r>
              <a:rPr lang="en-US" altLang="ko-KR" sz="800" dirty="0" smtClean="0">
                <a:latin typeface="+mn-ea"/>
                <a:ea typeface="+mn-ea"/>
              </a:rPr>
              <a:t>&lt; 3</a:t>
            </a:r>
          </a:p>
        </p:txBody>
      </p:sp>
      <p:sp>
        <p:nvSpPr>
          <p:cNvPr id="401" name="Text Box 82"/>
          <p:cNvSpPr txBox="1">
            <a:spLocks noChangeArrowheads="1"/>
          </p:cNvSpPr>
          <p:nvPr/>
        </p:nvSpPr>
        <p:spPr bwMode="gray">
          <a:xfrm>
            <a:off x="2993372" y="3262997"/>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402" name="AutoShape 67"/>
          <p:cNvCxnSpPr>
            <a:cxnSpLocks noChangeShapeType="1"/>
            <a:stCxn id="395" idx="2"/>
            <a:endCxn id="400" idx="0"/>
          </p:cNvCxnSpPr>
          <p:nvPr/>
        </p:nvCxnSpPr>
        <p:spPr bwMode="gray">
          <a:xfrm>
            <a:off x="3041476" y="3310351"/>
            <a:ext cx="1083" cy="256427"/>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3" name="TextBox 94"/>
          <p:cNvSpPr txBox="1">
            <a:spLocks noChangeArrowheads="1"/>
          </p:cNvSpPr>
          <p:nvPr/>
        </p:nvSpPr>
        <p:spPr bwMode="auto">
          <a:xfrm>
            <a:off x="1025662" y="3053426"/>
            <a:ext cx="1726351" cy="71711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rPr>
              <a:t>조회조건 </a:t>
            </a:r>
            <a:r>
              <a:rPr lang="en-US" altLang="ko-KR" sz="700" dirty="0" smtClean="0">
                <a:latin typeface="+mn-ea"/>
                <a:ea typeface="+mn-ea"/>
              </a:rPr>
              <a:t>: </a:t>
            </a:r>
            <a:r>
              <a:rPr lang="ko-KR" altLang="en-US" sz="700" dirty="0" err="1" smtClean="0">
                <a:latin typeface="+mn-ea"/>
                <a:ea typeface="+mn-ea"/>
              </a:rPr>
              <a:t>정산년월</a:t>
            </a:r>
            <a:r>
              <a:rPr lang="en-US" altLang="ko-KR" sz="700" dirty="0">
                <a:latin typeface="+mn-ea"/>
                <a:ea typeface="+mn-ea"/>
              </a:rPr>
              <a:t>, </a:t>
            </a:r>
            <a:r>
              <a:rPr lang="ko-KR" altLang="en-US" sz="700" dirty="0" smtClean="0">
                <a:latin typeface="+mn-ea"/>
                <a:ea typeface="+mn-ea"/>
              </a:rPr>
              <a:t>정산매장</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상위브랜드</a:t>
            </a:r>
            <a:r>
              <a:rPr lang="en-US" altLang="ko-KR" sz="700" dirty="0" smtClean="0">
                <a:latin typeface="+mn-ea"/>
                <a:ea typeface="+mn-ea"/>
              </a:rPr>
              <a:t>, MALL_ID</a:t>
            </a:r>
          </a:p>
          <a:p>
            <a:pPr>
              <a:spcBef>
                <a:spcPct val="20000"/>
              </a:spcBef>
              <a:buClr>
                <a:srgbClr val="003366"/>
              </a:buClr>
            </a:pPr>
            <a:r>
              <a:rPr lang="en-US" altLang="ko-KR" sz="700" dirty="0" smtClean="0">
                <a:latin typeface="+mn-ea"/>
                <a:ea typeface="+mn-ea"/>
              </a:rPr>
              <a:t>WORK_CLSBY </a:t>
            </a:r>
          </a:p>
          <a:p>
            <a:pPr marL="171450" indent="-171450">
              <a:spcBef>
                <a:spcPct val="20000"/>
              </a:spcBef>
              <a:buClr>
                <a:srgbClr val="003366"/>
              </a:buClr>
              <a:buFont typeface="Wingdings" panose="05000000000000000000" pitchFamily="2" charset="2"/>
              <a:buChar char="è"/>
            </a:pPr>
            <a:r>
              <a:rPr lang="en-US" altLang="ko-KR" sz="700" dirty="0" smtClean="0">
                <a:latin typeface="+mn-ea"/>
                <a:ea typeface="+mn-ea"/>
                <a:sym typeface="Wingdings" panose="05000000000000000000" pitchFamily="2" charset="2"/>
              </a:rPr>
              <a:t>(</a:t>
            </a:r>
            <a:r>
              <a:rPr lang="en-US" altLang="ko-KR" sz="700" dirty="0">
                <a:latin typeface="+mn-ea"/>
                <a:ea typeface="+mn-ea"/>
                <a:sym typeface="Wingdings" panose="05000000000000000000" pitchFamily="2" charset="2"/>
              </a:rPr>
              <a:t>'C59701', 'C59702', 'C59703</a:t>
            </a:r>
            <a:r>
              <a:rPr lang="en-US" altLang="ko-KR" sz="700" dirty="0" smtClean="0">
                <a:latin typeface="+mn-ea"/>
                <a:ea typeface="+mn-ea"/>
                <a:sym typeface="Wingdings" panose="05000000000000000000" pitchFamily="2" charset="2"/>
              </a:rPr>
              <a:t>')</a:t>
            </a:r>
          </a:p>
          <a:p>
            <a:pPr>
              <a:spcBef>
                <a:spcPct val="20000"/>
              </a:spcBef>
              <a:buClr>
                <a:srgbClr val="003366"/>
              </a:buClr>
            </a:pPr>
            <a:r>
              <a:rPr lang="en-US" altLang="ko-KR" sz="700" dirty="0">
                <a:latin typeface="+mn-ea"/>
                <a:ea typeface="+mn-ea"/>
                <a:sym typeface="Wingdings" panose="05000000000000000000" pitchFamily="2" charset="2"/>
              </a:rPr>
              <a:t> </a:t>
            </a:r>
            <a:r>
              <a:rPr lang="en-US" altLang="ko-KR" sz="700" dirty="0" smtClean="0">
                <a:latin typeface="+mn-ea"/>
                <a:ea typeface="+mn-ea"/>
                <a:sym typeface="Wingdings" panose="05000000000000000000" pitchFamily="2" charset="2"/>
              </a:rPr>
              <a:t> </a:t>
            </a:r>
            <a:r>
              <a:rPr lang="ko-KR" altLang="en-US" sz="700" dirty="0" smtClean="0">
                <a:latin typeface="+mn-ea"/>
                <a:ea typeface="+mn-ea"/>
                <a:sym typeface="Wingdings" panose="05000000000000000000" pitchFamily="2" charset="2"/>
              </a:rPr>
              <a:t>정산업로드</a:t>
            </a:r>
            <a:r>
              <a:rPr lang="en-US" altLang="ko-KR" sz="700" dirty="0" smtClean="0">
                <a:latin typeface="+mn-ea"/>
                <a:ea typeface="+mn-ea"/>
                <a:sym typeface="Wingdings" panose="05000000000000000000" pitchFamily="2" charset="2"/>
              </a:rPr>
              <a:t>/</a:t>
            </a:r>
            <a:r>
              <a:rPr lang="ko-KR" altLang="en-US" sz="700" dirty="0" err="1" smtClean="0">
                <a:latin typeface="+mn-ea"/>
                <a:ea typeface="+mn-ea"/>
                <a:sym typeface="Wingdings" panose="05000000000000000000" pitchFamily="2" charset="2"/>
              </a:rPr>
              <a:t>품번매칭</a:t>
            </a:r>
            <a:r>
              <a:rPr lang="en-US" altLang="ko-KR" sz="700" dirty="0" smtClean="0">
                <a:latin typeface="+mn-ea"/>
                <a:ea typeface="+mn-ea"/>
                <a:sym typeface="Wingdings" panose="05000000000000000000" pitchFamily="2" charset="2"/>
              </a:rPr>
              <a:t>/</a:t>
            </a:r>
            <a:r>
              <a:rPr lang="ko-KR" altLang="en-US" sz="700" dirty="0" err="1" smtClean="0">
                <a:latin typeface="+mn-ea"/>
                <a:ea typeface="+mn-ea"/>
                <a:sym typeface="Wingdings" panose="05000000000000000000" pitchFamily="2" charset="2"/>
              </a:rPr>
              <a:t>판매매칭</a:t>
            </a:r>
            <a:endParaRPr lang="ko-KR" altLang="en-US" sz="700" dirty="0">
              <a:latin typeface="+mn-ea"/>
              <a:ea typeface="+mn-ea"/>
            </a:endParaRPr>
          </a:p>
        </p:txBody>
      </p:sp>
      <p:cxnSp>
        <p:nvCxnSpPr>
          <p:cNvPr id="404" name="AutoShape 67"/>
          <p:cNvCxnSpPr>
            <a:cxnSpLocks noChangeShapeType="1"/>
            <a:stCxn id="400" idx="3"/>
            <a:endCxn id="169" idx="4"/>
          </p:cNvCxnSpPr>
          <p:nvPr/>
        </p:nvCxnSpPr>
        <p:spPr bwMode="gray">
          <a:xfrm flipV="1">
            <a:off x="3603933" y="2736298"/>
            <a:ext cx="992623" cy="1067811"/>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5" name="Text Box 82"/>
          <p:cNvSpPr txBox="1">
            <a:spLocks noChangeArrowheads="1"/>
          </p:cNvSpPr>
          <p:nvPr/>
        </p:nvSpPr>
        <p:spPr bwMode="gray">
          <a:xfrm>
            <a:off x="3366087" y="3562583"/>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406" name="AutoShape 73"/>
          <p:cNvSpPr>
            <a:spLocks noChangeArrowheads="1"/>
          </p:cNvSpPr>
          <p:nvPr/>
        </p:nvSpPr>
        <p:spPr bwMode="auto">
          <a:xfrm>
            <a:off x="2477768" y="4491537"/>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en-US" altLang="ko-KR" sz="800" dirty="0" smtClean="0">
                <a:latin typeface="+mn-ea"/>
                <a:ea typeface="+mn-ea"/>
              </a:rPr>
              <a:t>(</a:t>
            </a:r>
            <a:r>
              <a:rPr lang="ko-KR" altLang="en-US" sz="800" dirty="0" smtClean="0">
                <a:latin typeface="+mn-ea"/>
                <a:ea typeface="+mn-ea"/>
              </a:rPr>
              <a:t>정산금액 </a:t>
            </a:r>
            <a:r>
              <a:rPr lang="en-US" altLang="ko-KR" sz="800" dirty="0" smtClean="0">
                <a:latin typeface="+mn-ea"/>
                <a:ea typeface="+mn-ea"/>
              </a:rPr>
              <a:t>- </a:t>
            </a:r>
            <a:r>
              <a:rPr lang="ko-KR" altLang="en-US" sz="800" dirty="0" smtClean="0">
                <a:latin typeface="+mn-ea"/>
                <a:ea typeface="+mn-ea"/>
              </a:rPr>
              <a:t>판매금액</a:t>
            </a:r>
            <a:r>
              <a:rPr lang="en-US" altLang="ko-KR" sz="800" dirty="0" smtClean="0">
                <a:latin typeface="+mn-ea"/>
                <a:ea typeface="+mn-ea"/>
              </a:rPr>
              <a:t>)</a:t>
            </a:r>
          </a:p>
          <a:p>
            <a:pPr algn="ctr" eaLnBrk="0" latinLnBrk="0" hangingPunct="0">
              <a:lnSpc>
                <a:spcPct val="40000"/>
              </a:lnSpc>
              <a:spcBef>
                <a:spcPct val="50000"/>
              </a:spcBef>
            </a:pPr>
            <a:r>
              <a:rPr lang="en-US" altLang="ko-KR" sz="800" dirty="0" smtClean="0">
                <a:latin typeface="+mn-ea"/>
                <a:ea typeface="+mn-ea"/>
              </a:rPr>
              <a:t>!= 0</a:t>
            </a:r>
          </a:p>
        </p:txBody>
      </p:sp>
      <p:cxnSp>
        <p:nvCxnSpPr>
          <p:cNvPr id="407" name="AutoShape 67"/>
          <p:cNvCxnSpPr>
            <a:cxnSpLocks noChangeShapeType="1"/>
            <a:stCxn id="400" idx="2"/>
            <a:endCxn id="406" idx="0"/>
          </p:cNvCxnSpPr>
          <p:nvPr/>
        </p:nvCxnSpPr>
        <p:spPr bwMode="gray">
          <a:xfrm flipH="1">
            <a:off x="3039142" y="4041440"/>
            <a:ext cx="3417" cy="450097"/>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8" name="Text Box 82"/>
          <p:cNvSpPr txBox="1">
            <a:spLocks noChangeArrowheads="1"/>
          </p:cNvSpPr>
          <p:nvPr/>
        </p:nvSpPr>
        <p:spPr bwMode="gray">
          <a:xfrm>
            <a:off x="3124471" y="4003083"/>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409" name="Text Box 82"/>
          <p:cNvSpPr txBox="1">
            <a:spLocks noChangeArrowheads="1"/>
          </p:cNvSpPr>
          <p:nvPr/>
        </p:nvSpPr>
        <p:spPr bwMode="gray">
          <a:xfrm>
            <a:off x="3028636" y="4889858"/>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410" name="AutoShape 67"/>
          <p:cNvCxnSpPr>
            <a:cxnSpLocks noChangeShapeType="1"/>
            <a:stCxn id="406" idx="1"/>
            <a:endCxn id="452" idx="0"/>
          </p:cNvCxnSpPr>
          <p:nvPr/>
        </p:nvCxnSpPr>
        <p:spPr bwMode="gray">
          <a:xfrm rot="10800000" flipV="1">
            <a:off x="1898288" y="4728868"/>
            <a:ext cx="579480" cy="867772"/>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1" name="AutoShape 73"/>
          <p:cNvSpPr>
            <a:spLocks noChangeArrowheads="1"/>
          </p:cNvSpPr>
          <p:nvPr/>
        </p:nvSpPr>
        <p:spPr bwMode="auto">
          <a:xfrm>
            <a:off x="2477768" y="5211988"/>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cxnSp>
        <p:nvCxnSpPr>
          <p:cNvPr id="412" name="AutoShape 67"/>
          <p:cNvCxnSpPr>
            <a:cxnSpLocks noChangeShapeType="1"/>
            <a:stCxn id="406" idx="2"/>
            <a:endCxn id="411" idx="0"/>
          </p:cNvCxnSpPr>
          <p:nvPr/>
        </p:nvCxnSpPr>
        <p:spPr bwMode="gray">
          <a:xfrm>
            <a:off x="3039142" y="4966199"/>
            <a:ext cx="0" cy="245789"/>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3" name="TextBox 94"/>
          <p:cNvSpPr txBox="1">
            <a:spLocks noChangeArrowheads="1"/>
          </p:cNvSpPr>
          <p:nvPr/>
        </p:nvSpPr>
        <p:spPr bwMode="auto">
          <a:xfrm>
            <a:off x="1952787" y="5159855"/>
            <a:ext cx="956644"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매장할인마진율</a:t>
            </a:r>
            <a:endParaRPr lang="en-US" altLang="ko-KR" sz="800" dirty="0" smtClean="0">
              <a:latin typeface="+mn-ea"/>
              <a:ea typeface="+mn-ea"/>
            </a:endParaRPr>
          </a:p>
        </p:txBody>
      </p:sp>
      <p:sp>
        <p:nvSpPr>
          <p:cNvPr id="414" name="Text Box 82"/>
          <p:cNvSpPr txBox="1">
            <a:spLocks noChangeArrowheads="1"/>
          </p:cNvSpPr>
          <p:nvPr/>
        </p:nvSpPr>
        <p:spPr bwMode="gray">
          <a:xfrm>
            <a:off x="2252700" y="4518701"/>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415" name="Text Box 82"/>
          <p:cNvSpPr txBox="1">
            <a:spLocks noChangeArrowheads="1"/>
          </p:cNvSpPr>
          <p:nvPr/>
        </p:nvSpPr>
        <p:spPr bwMode="gray">
          <a:xfrm>
            <a:off x="3439506" y="5238781"/>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416" name="AutoShape 67"/>
          <p:cNvCxnSpPr>
            <a:cxnSpLocks noChangeShapeType="1"/>
            <a:stCxn id="411" idx="3"/>
            <a:endCxn id="169" idx="4"/>
          </p:cNvCxnSpPr>
          <p:nvPr/>
        </p:nvCxnSpPr>
        <p:spPr bwMode="gray">
          <a:xfrm flipV="1">
            <a:off x="3600516" y="2736298"/>
            <a:ext cx="996040" cy="2713021"/>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7" name="Rectangle 49"/>
          <p:cNvSpPr>
            <a:spLocks noChangeArrowheads="1"/>
          </p:cNvSpPr>
          <p:nvPr/>
        </p:nvSpPr>
        <p:spPr bwMode="gray">
          <a:xfrm>
            <a:off x="3792560" y="5741236"/>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공급가계산</a:t>
            </a:r>
            <a:endParaRPr lang="ko-KR" altLang="en-US" sz="800" b="1" dirty="0">
              <a:latin typeface="+mn-ea"/>
              <a:ea typeface="+mn-ea"/>
            </a:endParaRPr>
          </a:p>
        </p:txBody>
      </p:sp>
      <p:sp>
        <p:nvSpPr>
          <p:cNvPr id="418" name="TextBox 94"/>
          <p:cNvSpPr txBox="1">
            <a:spLocks noChangeArrowheads="1"/>
          </p:cNvSpPr>
          <p:nvPr/>
        </p:nvSpPr>
        <p:spPr bwMode="auto">
          <a:xfrm>
            <a:off x="3728790" y="5958861"/>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SP_CAL_SALE_SPPR_MNG</a:t>
            </a:r>
            <a:endParaRPr lang="ko-KR" altLang="en-US" sz="800" b="1" dirty="0">
              <a:latin typeface="+mn-ea"/>
              <a:ea typeface="+mn-ea"/>
            </a:endParaRPr>
          </a:p>
        </p:txBody>
      </p:sp>
      <p:cxnSp>
        <p:nvCxnSpPr>
          <p:cNvPr id="419" name="AutoShape 67"/>
          <p:cNvCxnSpPr>
            <a:cxnSpLocks noChangeShapeType="1"/>
            <a:stCxn id="411" idx="2"/>
            <a:endCxn id="417" idx="1"/>
          </p:cNvCxnSpPr>
          <p:nvPr/>
        </p:nvCxnSpPr>
        <p:spPr bwMode="gray">
          <a:xfrm rot="16200000" flipH="1">
            <a:off x="3334152" y="5391640"/>
            <a:ext cx="163399" cy="753418"/>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0" name="Oval 108"/>
          <p:cNvSpPr>
            <a:spLocks noChangeArrowheads="1"/>
          </p:cNvSpPr>
          <p:nvPr/>
        </p:nvSpPr>
        <p:spPr bwMode="gray">
          <a:xfrm>
            <a:off x="5319721" y="5036137"/>
            <a:ext cx="627665"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판매</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421" name="Text Box 121"/>
          <p:cNvSpPr txBox="1">
            <a:spLocks noChangeArrowheads="1"/>
          </p:cNvSpPr>
          <p:nvPr/>
        </p:nvSpPr>
        <p:spPr bwMode="gray">
          <a:xfrm>
            <a:off x="4592960" y="5172580"/>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pPr algn="ctr"/>
            <a:r>
              <a:rPr lang="en-US" altLang="ko-KR" sz="800" dirty="0" smtClean="0">
                <a:latin typeface="+mn-ea"/>
                <a:ea typeface="+mn-ea"/>
              </a:rPr>
              <a:t>SHOP_RNDS_ID</a:t>
            </a:r>
          </a:p>
          <a:p>
            <a:pPr algn="ctr"/>
            <a:r>
              <a:rPr lang="en-US" altLang="ko-KR" sz="800" dirty="0" smtClean="0">
                <a:latin typeface="+mn-ea"/>
                <a:ea typeface="+mn-ea"/>
              </a:rPr>
              <a:t>REG_NO</a:t>
            </a:r>
          </a:p>
        </p:txBody>
      </p:sp>
      <p:sp>
        <p:nvSpPr>
          <p:cNvPr id="422" name="Text Box 82"/>
          <p:cNvSpPr txBox="1">
            <a:spLocks noChangeArrowheads="1"/>
          </p:cNvSpPr>
          <p:nvPr/>
        </p:nvSpPr>
        <p:spPr bwMode="gray">
          <a:xfrm>
            <a:off x="3046133" y="5598821"/>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423" name="AutoShape 67"/>
          <p:cNvCxnSpPr>
            <a:cxnSpLocks noChangeShapeType="1"/>
            <a:stCxn id="417" idx="3"/>
            <a:endCxn id="420" idx="4"/>
          </p:cNvCxnSpPr>
          <p:nvPr/>
        </p:nvCxnSpPr>
        <p:spPr bwMode="gray">
          <a:xfrm flipV="1">
            <a:off x="5118123" y="5388562"/>
            <a:ext cx="515431" cy="461487"/>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4" name="AutoShape 86"/>
          <p:cNvSpPr>
            <a:spLocks noChangeArrowheads="1"/>
          </p:cNvSpPr>
          <p:nvPr/>
        </p:nvSpPr>
        <p:spPr bwMode="auto">
          <a:xfrm>
            <a:off x="5765534" y="37238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425" name="AutoShape 86"/>
          <p:cNvSpPr>
            <a:spLocks noChangeArrowheads="1"/>
          </p:cNvSpPr>
          <p:nvPr/>
        </p:nvSpPr>
        <p:spPr bwMode="auto">
          <a:xfrm>
            <a:off x="4978288" y="37238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a:t>
            </a:r>
            <a:endParaRPr lang="en-US" altLang="ko-KR" sz="600" b="1" dirty="0" smtClean="0">
              <a:latin typeface="+mn-ea"/>
              <a:ea typeface="+mn-ea"/>
            </a:endParaRPr>
          </a:p>
          <a:p>
            <a:pPr algn="ctr"/>
            <a:r>
              <a:rPr lang="en-US" altLang="ko-KR" sz="600" b="1" dirty="0" smtClean="0">
                <a:latin typeface="+mn-ea"/>
                <a:ea typeface="+mn-ea"/>
              </a:rPr>
              <a:t>T_SALE</a:t>
            </a:r>
            <a:endParaRPr lang="ko-KR" altLang="en-US" sz="600" b="1" dirty="0">
              <a:latin typeface="+mn-ea"/>
              <a:ea typeface="+mn-ea"/>
            </a:endParaRPr>
          </a:p>
        </p:txBody>
      </p:sp>
      <p:sp>
        <p:nvSpPr>
          <p:cNvPr id="427" name="AutoShape 86"/>
          <p:cNvSpPr>
            <a:spLocks noChangeArrowheads="1"/>
          </p:cNvSpPr>
          <p:nvPr/>
        </p:nvSpPr>
        <p:spPr bwMode="auto">
          <a:xfrm>
            <a:off x="6460289" y="414908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온라인정산이력</a:t>
            </a:r>
            <a:endParaRPr lang="en-US" altLang="ko-KR" sz="600" b="1" dirty="0" smtClean="0">
              <a:latin typeface="+mn-ea"/>
              <a:ea typeface="+mn-ea"/>
            </a:endParaRPr>
          </a:p>
          <a:p>
            <a:pPr algn="ctr"/>
            <a:r>
              <a:rPr lang="en-US" altLang="ko-KR" sz="600" b="1" dirty="0">
                <a:latin typeface="+mn-ea"/>
                <a:ea typeface="+mn-ea"/>
              </a:rPr>
              <a:t>T_ONLINE_STLM_PRCS_BASE</a:t>
            </a:r>
            <a:endParaRPr lang="ko-KR" altLang="en-US" sz="600" b="1" dirty="0">
              <a:latin typeface="+mn-ea"/>
              <a:ea typeface="+mn-ea"/>
            </a:endParaRPr>
          </a:p>
        </p:txBody>
      </p:sp>
      <p:cxnSp>
        <p:nvCxnSpPr>
          <p:cNvPr id="428" name="AutoShape 67"/>
          <p:cNvCxnSpPr>
            <a:cxnSpLocks noChangeShapeType="1"/>
            <a:stCxn id="420" idx="0"/>
            <a:endCxn id="424" idx="3"/>
          </p:cNvCxnSpPr>
          <p:nvPr/>
        </p:nvCxnSpPr>
        <p:spPr bwMode="gray">
          <a:xfrm rot="5400000" flipH="1" flipV="1">
            <a:off x="5428960" y="4416195"/>
            <a:ext cx="824536" cy="415349"/>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0" name="AutoShape 67"/>
          <p:cNvCxnSpPr>
            <a:cxnSpLocks noChangeShapeType="1"/>
            <a:stCxn id="420" idx="0"/>
            <a:endCxn id="425" idx="3"/>
          </p:cNvCxnSpPr>
          <p:nvPr/>
        </p:nvCxnSpPr>
        <p:spPr bwMode="gray">
          <a:xfrm rot="16200000" flipV="1">
            <a:off x="5035338" y="4437920"/>
            <a:ext cx="824536" cy="371897"/>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4" name="AutoShape 67"/>
          <p:cNvCxnSpPr>
            <a:cxnSpLocks noChangeShapeType="1"/>
            <a:stCxn id="420" idx="6"/>
            <a:endCxn id="427" idx="3"/>
          </p:cNvCxnSpPr>
          <p:nvPr/>
        </p:nvCxnSpPr>
        <p:spPr bwMode="gray">
          <a:xfrm flipV="1">
            <a:off x="5947386" y="4636838"/>
            <a:ext cx="796272" cy="575512"/>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7" name="Rectangle 49"/>
          <p:cNvSpPr>
            <a:spLocks noChangeArrowheads="1"/>
          </p:cNvSpPr>
          <p:nvPr/>
        </p:nvSpPr>
        <p:spPr bwMode="gray">
          <a:xfrm>
            <a:off x="6285638" y="5499230"/>
            <a:ext cx="91135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판매수불</a:t>
            </a:r>
            <a:r>
              <a:rPr lang="en-US" altLang="ko-KR" sz="800" b="1" dirty="0" smtClean="0">
                <a:latin typeface="+mn-ea"/>
                <a:ea typeface="+mn-ea"/>
              </a:rPr>
              <a:t>ID</a:t>
            </a:r>
            <a:r>
              <a:rPr lang="ko-KR" altLang="en-US" sz="800" b="1" dirty="0" smtClean="0">
                <a:latin typeface="+mn-ea"/>
                <a:ea typeface="+mn-ea"/>
              </a:rPr>
              <a:t>갱신</a:t>
            </a:r>
            <a:endParaRPr lang="ko-KR" altLang="en-US" sz="800" b="1" dirty="0">
              <a:latin typeface="+mn-ea"/>
              <a:ea typeface="+mn-ea"/>
            </a:endParaRPr>
          </a:p>
        </p:txBody>
      </p:sp>
      <p:cxnSp>
        <p:nvCxnSpPr>
          <p:cNvPr id="438" name="AutoShape 67"/>
          <p:cNvCxnSpPr>
            <a:cxnSpLocks noChangeShapeType="1"/>
            <a:stCxn id="420" idx="6"/>
            <a:endCxn id="437" idx="0"/>
          </p:cNvCxnSpPr>
          <p:nvPr/>
        </p:nvCxnSpPr>
        <p:spPr bwMode="gray">
          <a:xfrm>
            <a:off x="5947386" y="5212350"/>
            <a:ext cx="793930" cy="286880"/>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3" name="AutoShape 86"/>
          <p:cNvSpPr>
            <a:spLocks noChangeArrowheads="1"/>
          </p:cNvSpPr>
          <p:nvPr/>
        </p:nvSpPr>
        <p:spPr bwMode="auto">
          <a:xfrm>
            <a:off x="5283390" y="595657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cxnSp>
        <p:nvCxnSpPr>
          <p:cNvPr id="444" name="AutoShape 67"/>
          <p:cNvCxnSpPr>
            <a:cxnSpLocks noChangeShapeType="1"/>
            <a:stCxn id="437" idx="1"/>
            <a:endCxn id="443" idx="4"/>
          </p:cNvCxnSpPr>
          <p:nvPr/>
        </p:nvCxnSpPr>
        <p:spPr bwMode="gray">
          <a:xfrm rot="10800000" flipV="1">
            <a:off x="5850128" y="5608042"/>
            <a:ext cx="435510" cy="592413"/>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0" name="TextBox 94"/>
          <p:cNvSpPr txBox="1">
            <a:spLocks noChangeArrowheads="1"/>
          </p:cNvSpPr>
          <p:nvPr/>
        </p:nvSpPr>
        <p:spPr bwMode="auto">
          <a:xfrm>
            <a:off x="6161098" y="5724255"/>
            <a:ext cx="1177167" cy="587853"/>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700" dirty="0" smtClean="0">
                <a:latin typeface="+mn-ea"/>
                <a:ea typeface="+mn-ea"/>
              </a:rPr>
              <a:t>STLM_SALE_RNDS_ID</a:t>
            </a:r>
          </a:p>
          <a:p>
            <a:pPr>
              <a:spcBef>
                <a:spcPct val="20000"/>
              </a:spcBef>
              <a:buClr>
                <a:srgbClr val="003366"/>
              </a:buClr>
            </a:pPr>
            <a:r>
              <a:rPr lang="en-US" altLang="ko-KR" sz="700" dirty="0" smtClean="0">
                <a:latin typeface="+mn-ea"/>
                <a:ea typeface="+mn-ea"/>
              </a:rPr>
              <a:t>STLM_PRCS_YN </a:t>
            </a:r>
            <a:r>
              <a:rPr lang="en-US" altLang="ko-KR" sz="700" dirty="0" smtClean="0">
                <a:latin typeface="+mn-ea"/>
                <a:ea typeface="+mn-ea"/>
                <a:sym typeface="Wingdings" panose="05000000000000000000" pitchFamily="2" charset="2"/>
              </a:rPr>
              <a:t></a:t>
            </a:r>
            <a:r>
              <a:rPr lang="en-US" altLang="ko-KR" sz="700" dirty="0" smtClean="0">
                <a:latin typeface="+mn-ea"/>
                <a:ea typeface="+mn-ea"/>
              </a:rPr>
              <a:t> ‘Y’</a:t>
            </a:r>
          </a:p>
          <a:p>
            <a:pPr>
              <a:spcBef>
                <a:spcPct val="20000"/>
              </a:spcBef>
              <a:buClr>
                <a:srgbClr val="003366"/>
              </a:buClr>
            </a:pPr>
            <a:r>
              <a:rPr lang="en-US" altLang="ko-KR" sz="700" dirty="0" smtClean="0">
                <a:latin typeface="+mn-ea"/>
                <a:ea typeface="+mn-ea"/>
              </a:rPr>
              <a:t>END_YN </a:t>
            </a:r>
            <a:r>
              <a:rPr lang="en-US" altLang="ko-KR" sz="700" dirty="0" smtClean="0">
                <a:latin typeface="+mn-ea"/>
                <a:ea typeface="+mn-ea"/>
                <a:sym typeface="Wingdings" panose="05000000000000000000" pitchFamily="2" charset="2"/>
              </a:rPr>
              <a:t></a:t>
            </a:r>
            <a:r>
              <a:rPr lang="en-US" altLang="ko-KR" sz="700" dirty="0" smtClean="0">
                <a:latin typeface="+mn-ea"/>
                <a:ea typeface="+mn-ea"/>
              </a:rPr>
              <a:t> ‘Y’</a:t>
            </a:r>
          </a:p>
          <a:p>
            <a:pPr>
              <a:spcBef>
                <a:spcPct val="20000"/>
              </a:spcBef>
              <a:buClr>
                <a:srgbClr val="003366"/>
              </a:buClr>
            </a:pPr>
            <a:r>
              <a:rPr lang="en-US" altLang="ko-KR" sz="700" dirty="0" smtClean="0">
                <a:latin typeface="+mn-ea"/>
                <a:ea typeface="+mn-ea"/>
              </a:rPr>
              <a:t>END_YYMM </a:t>
            </a:r>
            <a:r>
              <a:rPr lang="en-US" altLang="ko-KR" sz="700" dirty="0" smtClean="0">
                <a:latin typeface="+mn-ea"/>
                <a:ea typeface="+mn-ea"/>
                <a:sym typeface="Wingdings" panose="05000000000000000000" pitchFamily="2" charset="2"/>
              </a:rPr>
              <a:t></a:t>
            </a:r>
            <a:r>
              <a:rPr lang="en-US" altLang="ko-KR" sz="700" dirty="0" smtClean="0">
                <a:latin typeface="+mn-ea"/>
                <a:ea typeface="+mn-ea"/>
              </a:rPr>
              <a:t> </a:t>
            </a:r>
            <a:r>
              <a:rPr lang="ko-KR" altLang="en-US" sz="700" dirty="0" err="1" smtClean="0">
                <a:latin typeface="+mn-ea"/>
                <a:ea typeface="+mn-ea"/>
              </a:rPr>
              <a:t>정산년월</a:t>
            </a:r>
            <a:endParaRPr lang="ko-KR" altLang="en-US" sz="700" dirty="0">
              <a:latin typeface="+mn-ea"/>
              <a:ea typeface="+mn-ea"/>
            </a:endParaRPr>
          </a:p>
        </p:txBody>
      </p:sp>
      <p:sp>
        <p:nvSpPr>
          <p:cNvPr id="452" name="Rectangle 49"/>
          <p:cNvSpPr>
            <a:spLocks noChangeArrowheads="1"/>
          </p:cNvSpPr>
          <p:nvPr/>
        </p:nvSpPr>
        <p:spPr bwMode="gray">
          <a:xfrm>
            <a:off x="1442610" y="5596640"/>
            <a:ext cx="91135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en-US" altLang="ko-KR" sz="800" b="1" dirty="0" smtClean="0">
                <a:latin typeface="+mn-ea"/>
                <a:ea typeface="+mn-ea"/>
              </a:rPr>
              <a:t>UPDATE </a:t>
            </a:r>
            <a:r>
              <a:rPr lang="ko-KR" altLang="en-US" sz="800" b="1" dirty="0" smtClean="0">
                <a:latin typeface="+mn-ea"/>
                <a:ea typeface="+mn-ea"/>
              </a:rPr>
              <a:t>처리</a:t>
            </a:r>
            <a:endParaRPr lang="ko-KR" altLang="en-US" sz="800" b="1" dirty="0">
              <a:latin typeface="+mn-ea"/>
              <a:ea typeface="+mn-ea"/>
            </a:endParaRPr>
          </a:p>
        </p:txBody>
      </p:sp>
      <p:cxnSp>
        <p:nvCxnSpPr>
          <p:cNvPr id="454" name="AutoShape 67"/>
          <p:cNvCxnSpPr>
            <a:cxnSpLocks noChangeShapeType="1"/>
            <a:stCxn id="452" idx="2"/>
            <a:endCxn id="443" idx="2"/>
          </p:cNvCxnSpPr>
          <p:nvPr/>
        </p:nvCxnSpPr>
        <p:spPr bwMode="gray">
          <a:xfrm rot="16200000" flipH="1">
            <a:off x="3397744" y="4314809"/>
            <a:ext cx="386191" cy="3385102"/>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7" name="TextBox 94"/>
          <p:cNvSpPr txBox="1">
            <a:spLocks noChangeArrowheads="1"/>
          </p:cNvSpPr>
          <p:nvPr/>
        </p:nvSpPr>
        <p:spPr bwMode="auto">
          <a:xfrm>
            <a:off x="1847655" y="5844984"/>
            <a:ext cx="1231606" cy="329321"/>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700" dirty="0" smtClean="0">
                <a:latin typeface="+mn-ea"/>
                <a:ea typeface="+mn-ea"/>
              </a:rPr>
              <a:t>END_YN </a:t>
            </a:r>
            <a:r>
              <a:rPr lang="en-US" altLang="ko-KR" sz="700" dirty="0" smtClean="0">
                <a:latin typeface="+mn-ea"/>
                <a:ea typeface="+mn-ea"/>
                <a:sym typeface="Wingdings" panose="05000000000000000000" pitchFamily="2" charset="2"/>
              </a:rPr>
              <a:t></a:t>
            </a:r>
            <a:r>
              <a:rPr lang="en-US" altLang="ko-KR" sz="700" dirty="0" smtClean="0">
                <a:latin typeface="+mn-ea"/>
                <a:ea typeface="+mn-ea"/>
              </a:rPr>
              <a:t> ‘Y’</a:t>
            </a:r>
          </a:p>
          <a:p>
            <a:pPr>
              <a:spcBef>
                <a:spcPct val="20000"/>
              </a:spcBef>
              <a:buClr>
                <a:srgbClr val="003366"/>
              </a:buClr>
            </a:pPr>
            <a:r>
              <a:rPr lang="en-US" altLang="ko-KR" sz="700" dirty="0" smtClean="0">
                <a:latin typeface="+mn-ea"/>
                <a:ea typeface="+mn-ea"/>
              </a:rPr>
              <a:t>END_YYMM </a:t>
            </a:r>
            <a:r>
              <a:rPr lang="en-US" altLang="ko-KR" sz="700" dirty="0" smtClean="0">
                <a:latin typeface="+mn-ea"/>
                <a:ea typeface="+mn-ea"/>
                <a:sym typeface="Wingdings" panose="05000000000000000000" pitchFamily="2" charset="2"/>
              </a:rPr>
              <a:t></a:t>
            </a:r>
            <a:r>
              <a:rPr lang="en-US" altLang="ko-KR" sz="700" dirty="0" smtClean="0">
                <a:latin typeface="+mn-ea"/>
                <a:ea typeface="+mn-ea"/>
              </a:rPr>
              <a:t> </a:t>
            </a:r>
            <a:r>
              <a:rPr lang="ko-KR" altLang="en-US" sz="700" dirty="0" err="1" smtClean="0">
                <a:latin typeface="+mn-ea"/>
                <a:ea typeface="+mn-ea"/>
              </a:rPr>
              <a:t>정산년월</a:t>
            </a:r>
            <a:endParaRPr lang="ko-KR" altLang="en-US" sz="700" dirty="0">
              <a:latin typeface="+mn-ea"/>
              <a:ea typeface="+mn-ea"/>
            </a:endParaRPr>
          </a:p>
        </p:txBody>
      </p:sp>
      <p:sp>
        <p:nvSpPr>
          <p:cNvPr id="458" name="AutoShape 86"/>
          <p:cNvSpPr>
            <a:spLocks noChangeArrowheads="1"/>
          </p:cNvSpPr>
          <p:nvPr/>
        </p:nvSpPr>
        <p:spPr bwMode="auto">
          <a:xfrm>
            <a:off x="664579" y="396906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cxnSp>
        <p:nvCxnSpPr>
          <p:cNvPr id="459" name="AutoShape 67"/>
          <p:cNvCxnSpPr>
            <a:cxnSpLocks noChangeShapeType="1"/>
            <a:stCxn id="458" idx="4"/>
          </p:cNvCxnSpPr>
          <p:nvPr/>
        </p:nvCxnSpPr>
        <p:spPr bwMode="gray">
          <a:xfrm>
            <a:off x="1231317" y="4212939"/>
            <a:ext cx="1811242" cy="8573"/>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4" name="TextBox 94"/>
          <p:cNvSpPr txBox="1">
            <a:spLocks noChangeArrowheads="1"/>
          </p:cNvSpPr>
          <p:nvPr/>
        </p:nvSpPr>
        <p:spPr bwMode="auto">
          <a:xfrm>
            <a:off x="1451489" y="4038349"/>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465" name="TextBox 94"/>
          <p:cNvSpPr txBox="1">
            <a:spLocks noChangeArrowheads="1"/>
          </p:cNvSpPr>
          <p:nvPr/>
        </p:nvSpPr>
        <p:spPr bwMode="auto">
          <a:xfrm>
            <a:off x="317485" y="4478684"/>
            <a:ext cx="1726351" cy="71711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rPr>
              <a:t>검색항목 </a:t>
            </a:r>
            <a:r>
              <a:rPr lang="en-US" altLang="ko-KR" sz="700" dirty="0" smtClean="0">
                <a:latin typeface="+mn-ea"/>
                <a:ea typeface="+mn-ea"/>
              </a:rPr>
              <a:t>: </a:t>
            </a:r>
            <a:r>
              <a:rPr lang="ko-KR" altLang="en-US" sz="700" dirty="0" smtClean="0">
                <a:latin typeface="+mn-ea"/>
                <a:ea typeface="+mn-ea"/>
              </a:rPr>
              <a:t>온라인정산일련번호</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정산금액</a:t>
            </a:r>
            <a:r>
              <a:rPr lang="en-US" altLang="ko-KR" sz="700" dirty="0" smtClean="0">
                <a:latin typeface="+mn-ea"/>
                <a:ea typeface="+mn-ea"/>
              </a:rPr>
              <a:t>, </a:t>
            </a:r>
            <a:r>
              <a:rPr lang="ko-KR" altLang="en-US" sz="700" dirty="0" smtClean="0">
                <a:latin typeface="+mn-ea"/>
                <a:ea typeface="+mn-ea"/>
              </a:rPr>
              <a:t>판매금액</a:t>
            </a:r>
            <a:r>
              <a:rPr lang="en-US" altLang="ko-KR" sz="700" dirty="0" smtClean="0">
                <a:latin typeface="+mn-ea"/>
                <a:ea typeface="+mn-ea"/>
              </a:rPr>
              <a:t>, </a:t>
            </a:r>
            <a:r>
              <a:rPr lang="ko-KR" altLang="en-US" sz="700" dirty="0" smtClean="0">
                <a:latin typeface="+mn-ea"/>
                <a:ea typeface="+mn-ea"/>
              </a:rPr>
              <a:t>제품코드</a:t>
            </a:r>
            <a:r>
              <a:rPr lang="en-US" altLang="ko-KR" sz="700" dirty="0" smtClean="0">
                <a:latin typeface="+mn-ea"/>
                <a:ea typeface="+mn-ea"/>
              </a:rPr>
              <a:t>, </a:t>
            </a:r>
            <a:r>
              <a:rPr lang="ko-KR" altLang="en-US" sz="700" dirty="0" smtClean="0">
                <a:latin typeface="+mn-ea"/>
                <a:ea typeface="+mn-ea"/>
              </a:rPr>
              <a:t>칼라</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사이즈</a:t>
            </a:r>
            <a:r>
              <a:rPr lang="en-US" altLang="ko-KR" sz="700" dirty="0" smtClean="0">
                <a:latin typeface="+mn-ea"/>
                <a:ea typeface="+mn-ea"/>
              </a:rPr>
              <a:t>, </a:t>
            </a:r>
            <a:r>
              <a:rPr lang="ko-KR" altLang="en-US" sz="700" dirty="0" smtClean="0">
                <a:latin typeface="+mn-ea"/>
                <a:ea typeface="+mn-ea"/>
              </a:rPr>
              <a:t>수량</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조회 조건 </a:t>
            </a:r>
            <a:r>
              <a:rPr lang="en-US" altLang="ko-KR" sz="700" dirty="0" smtClean="0">
                <a:latin typeface="+mn-ea"/>
                <a:ea typeface="+mn-ea"/>
              </a:rPr>
              <a:t>: </a:t>
            </a:r>
            <a:r>
              <a:rPr lang="ko-KR" altLang="en-US" sz="700" dirty="0" smtClean="0">
                <a:latin typeface="+mn-ea"/>
                <a:ea typeface="+mn-ea"/>
              </a:rPr>
              <a:t>정산여부 </a:t>
            </a:r>
            <a:r>
              <a:rPr lang="en-US" altLang="ko-KR" sz="700" dirty="0" smtClean="0">
                <a:latin typeface="+mn-ea"/>
                <a:ea typeface="+mn-ea"/>
                <a:sym typeface="Wingdings" panose="05000000000000000000" pitchFamily="2" charset="2"/>
              </a:rPr>
              <a:t> N</a:t>
            </a:r>
          </a:p>
          <a:p>
            <a:pPr>
              <a:spcBef>
                <a:spcPct val="20000"/>
              </a:spcBef>
              <a:buClr>
                <a:srgbClr val="003366"/>
              </a:buClr>
            </a:pPr>
            <a:r>
              <a:rPr lang="en-US" altLang="ko-KR" sz="700" dirty="0" smtClean="0">
                <a:latin typeface="+mn-ea"/>
                <a:ea typeface="+mn-ea"/>
              </a:rPr>
              <a:t>COVR_ON_STLM_BASE_ID </a:t>
            </a:r>
            <a:r>
              <a:rPr lang="en-US" altLang="ko-KR" sz="700" dirty="0" smtClean="0">
                <a:latin typeface="+mn-ea"/>
                <a:ea typeface="+mn-ea"/>
                <a:sym typeface="Wingdings" panose="05000000000000000000" pitchFamily="2" charset="2"/>
              </a:rPr>
              <a:t> NULL</a:t>
            </a:r>
            <a:endParaRPr lang="ko-KR" altLang="en-US" sz="700" dirty="0">
              <a:latin typeface="+mn-ea"/>
              <a:ea typeface="+mn-ea"/>
            </a:endParaRPr>
          </a:p>
        </p:txBody>
      </p:sp>
      <p:sp>
        <p:nvSpPr>
          <p:cNvPr id="466" name="직사각형 465"/>
          <p:cNvSpPr/>
          <p:nvPr/>
        </p:nvSpPr>
        <p:spPr>
          <a:xfrm>
            <a:off x="4960038" y="1645887"/>
            <a:ext cx="1896511" cy="1039891"/>
          </a:xfrm>
          <a:prstGeom prst="rect">
            <a:avLst/>
          </a:prstGeom>
          <a:solidFill>
            <a:schemeClr val="accent1">
              <a:lumMod val="20000"/>
              <a:lumOff val="8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1200" b="1" kern="0" dirty="0" smtClean="0">
              <a:solidFill>
                <a:schemeClr val="bg1"/>
              </a:solidFill>
              <a:latin typeface="+mn-ea"/>
              <a:ea typeface="+mn-ea"/>
            </a:endParaRPr>
          </a:p>
        </p:txBody>
      </p:sp>
      <p:sp>
        <p:nvSpPr>
          <p:cNvPr id="467" name="AutoShape 86"/>
          <p:cNvSpPr>
            <a:spLocks noChangeArrowheads="1"/>
          </p:cNvSpPr>
          <p:nvPr/>
        </p:nvSpPr>
        <p:spPr bwMode="auto">
          <a:xfrm>
            <a:off x="5141443"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매장재고</a:t>
            </a:r>
            <a:endParaRPr lang="en-US" altLang="ko-KR" sz="600" b="1" dirty="0" smtClean="0">
              <a:latin typeface="+mn-ea"/>
              <a:ea typeface="+mn-ea"/>
            </a:endParaRPr>
          </a:p>
          <a:p>
            <a:pPr algn="ctr"/>
            <a:r>
              <a:rPr lang="en-US" altLang="ko-KR" sz="600" b="1" dirty="0" smtClean="0">
                <a:latin typeface="+mn-ea"/>
                <a:ea typeface="+mn-ea"/>
              </a:rPr>
              <a:t>T_SHOP_STOCK</a:t>
            </a:r>
            <a:endParaRPr lang="ko-KR" altLang="en-US" sz="600" b="1" dirty="0">
              <a:latin typeface="+mn-ea"/>
              <a:ea typeface="+mn-ea"/>
            </a:endParaRPr>
          </a:p>
        </p:txBody>
      </p:sp>
      <p:sp>
        <p:nvSpPr>
          <p:cNvPr id="468" name="AutoShape 86"/>
          <p:cNvSpPr>
            <a:spLocks noChangeArrowheads="1"/>
          </p:cNvSpPr>
          <p:nvPr/>
        </p:nvSpPr>
        <p:spPr bwMode="auto">
          <a:xfrm>
            <a:off x="6132628"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제품월수불</a:t>
            </a:r>
            <a:endParaRPr lang="en-US" altLang="ko-KR" sz="600" b="1" dirty="0" smtClean="0">
              <a:latin typeface="+mn-ea"/>
              <a:ea typeface="+mn-ea"/>
            </a:endParaRPr>
          </a:p>
          <a:p>
            <a:pPr algn="ctr"/>
            <a:r>
              <a:rPr lang="en-US" altLang="ko-KR" sz="600" b="1" dirty="0" smtClean="0">
                <a:latin typeface="+mn-ea"/>
                <a:ea typeface="+mn-ea"/>
              </a:rPr>
              <a:t>T_M_RNDS</a:t>
            </a:r>
            <a:endParaRPr lang="ko-KR" altLang="en-US" sz="600" b="1" dirty="0">
              <a:latin typeface="+mn-ea"/>
              <a:ea typeface="+mn-ea"/>
            </a:endParaRPr>
          </a:p>
        </p:txBody>
      </p:sp>
      <p:sp>
        <p:nvSpPr>
          <p:cNvPr id="469" name="TextBox 94"/>
          <p:cNvSpPr txBox="1">
            <a:spLocks noChangeArrowheads="1"/>
          </p:cNvSpPr>
          <p:nvPr/>
        </p:nvSpPr>
        <p:spPr bwMode="auto">
          <a:xfrm>
            <a:off x="5219799" y="1746821"/>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b="1" dirty="0" smtClean="0">
                <a:latin typeface="+mn-ea"/>
                <a:ea typeface="+mn-ea"/>
              </a:rPr>
              <a:t>패션</a:t>
            </a:r>
            <a:r>
              <a:rPr lang="en-US" altLang="ko-KR" sz="800" b="1" dirty="0" smtClean="0">
                <a:latin typeface="+mn-ea"/>
                <a:ea typeface="+mn-ea"/>
              </a:rPr>
              <a:t>ERP </a:t>
            </a:r>
            <a:r>
              <a:rPr lang="ko-KR" altLang="en-US" sz="800" b="1" dirty="0" smtClean="0">
                <a:latin typeface="+mn-ea"/>
                <a:ea typeface="+mn-ea"/>
              </a:rPr>
              <a:t>야간배치 갱신</a:t>
            </a:r>
            <a:endParaRPr lang="ko-KR" altLang="en-US" sz="800" b="1" dirty="0">
              <a:latin typeface="+mn-ea"/>
              <a:ea typeface="+mn-ea"/>
            </a:endParaRPr>
          </a:p>
        </p:txBody>
      </p:sp>
      <p:cxnSp>
        <p:nvCxnSpPr>
          <p:cNvPr id="470" name="AutoShape 67"/>
          <p:cNvCxnSpPr>
            <a:cxnSpLocks noChangeShapeType="1"/>
            <a:stCxn id="424" idx="1"/>
            <a:endCxn id="468" idx="3"/>
          </p:cNvCxnSpPr>
          <p:nvPr/>
        </p:nvCxnSpPr>
        <p:spPr bwMode="gray">
          <a:xfrm rot="5400000" flipH="1" flipV="1">
            <a:off x="5631330" y="2939176"/>
            <a:ext cx="1202240" cy="367094"/>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3" name="AutoShape 67"/>
          <p:cNvCxnSpPr>
            <a:cxnSpLocks noChangeShapeType="1"/>
            <a:stCxn id="424" idx="1"/>
            <a:endCxn id="467" idx="3"/>
          </p:cNvCxnSpPr>
          <p:nvPr/>
        </p:nvCxnSpPr>
        <p:spPr bwMode="gray">
          <a:xfrm rot="16200000" flipV="1">
            <a:off x="5135738" y="2810677"/>
            <a:ext cx="1202240" cy="624091"/>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7" name="TextBox 94"/>
          <p:cNvSpPr txBox="1">
            <a:spLocks noChangeArrowheads="1"/>
          </p:cNvSpPr>
          <p:nvPr/>
        </p:nvSpPr>
        <p:spPr bwMode="auto">
          <a:xfrm>
            <a:off x="244376" y="3135864"/>
            <a:ext cx="710120"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sym typeface="Wingdings" panose="05000000000000000000" pitchFamily="2" charset="2"/>
              </a:rPr>
              <a:t>엑셀업로드</a:t>
            </a:r>
            <a:endParaRPr lang="en-US" altLang="ko-KR" sz="800" dirty="0" smtClean="0">
              <a:latin typeface="+mn-ea"/>
              <a:ea typeface="+mn-ea"/>
              <a:sym typeface="Wingdings" panose="05000000000000000000" pitchFamily="2" charset="2"/>
            </a:endParaRPr>
          </a:p>
        </p:txBody>
      </p:sp>
      <p:cxnSp>
        <p:nvCxnSpPr>
          <p:cNvPr id="478" name="AutoShape 67"/>
          <p:cNvCxnSpPr>
            <a:cxnSpLocks noChangeShapeType="1"/>
            <a:stCxn id="477" idx="0"/>
            <a:endCxn id="390" idx="3"/>
          </p:cNvCxnSpPr>
          <p:nvPr/>
        </p:nvCxnSpPr>
        <p:spPr bwMode="gray">
          <a:xfrm flipV="1">
            <a:off x="599436" y="2773428"/>
            <a:ext cx="1418" cy="362436"/>
          </a:xfrm>
          <a:prstGeom prst="straightConnector1">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TextBox 94"/>
          <p:cNvSpPr txBox="1">
            <a:spLocks noChangeArrowheads="1"/>
          </p:cNvSpPr>
          <p:nvPr/>
        </p:nvSpPr>
        <p:spPr bwMode="auto">
          <a:xfrm>
            <a:off x="5935504" y="4685200"/>
            <a:ext cx="1443685" cy="415498"/>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a:latin typeface="+mn-ea"/>
                <a:ea typeface="+mn-ea"/>
              </a:rPr>
              <a:t>정산 처리 유형 </a:t>
            </a:r>
            <a:r>
              <a:rPr lang="en-US" altLang="ko-KR" sz="700" dirty="0">
                <a:latin typeface="+mn-ea"/>
                <a:ea typeface="+mn-ea"/>
              </a:rPr>
              <a:t>/ </a:t>
            </a:r>
            <a:r>
              <a:rPr lang="ko-KR" altLang="en-US" sz="700" dirty="0">
                <a:latin typeface="+mn-ea"/>
                <a:ea typeface="+mn-ea"/>
              </a:rPr>
              <a:t>정산 완료 여부 </a:t>
            </a:r>
            <a:r>
              <a:rPr lang="en-US" altLang="ko-KR" sz="700" dirty="0">
                <a:latin typeface="+mn-ea"/>
                <a:ea typeface="+mn-ea"/>
              </a:rPr>
              <a:t>/ </a:t>
            </a:r>
            <a:r>
              <a:rPr lang="ko-KR" altLang="en-US" sz="700" dirty="0">
                <a:latin typeface="+mn-ea"/>
                <a:ea typeface="+mn-ea"/>
              </a:rPr>
              <a:t>정산으로 발생한 수불번호 등 처리 </a:t>
            </a:r>
            <a:r>
              <a:rPr lang="ko-KR" altLang="en-US" sz="700" dirty="0" smtClean="0">
                <a:latin typeface="+mn-ea"/>
                <a:ea typeface="+mn-ea"/>
              </a:rPr>
              <a:t>이력 관리</a:t>
            </a:r>
            <a:endParaRPr lang="ko-KR" altLang="en-US" sz="700" dirty="0">
              <a:latin typeface="+mn-ea"/>
              <a:ea typeface="+mn-ea"/>
            </a:endParaRPr>
          </a:p>
        </p:txBody>
      </p:sp>
    </p:spTree>
    <p:extLst>
      <p:ext uri="{BB962C8B-B14F-4D97-AF65-F5344CB8AC3E}">
        <p14:creationId xmlns:p14="http://schemas.microsoft.com/office/powerpoint/2010/main" val="30648673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2"/>
          <p:cNvSpPr>
            <a:spLocks noChangeArrowheads="1"/>
          </p:cNvSpPr>
          <p:nvPr/>
        </p:nvSpPr>
        <p:spPr bwMode="gray">
          <a:xfrm>
            <a:off x="371046" y="3771819"/>
            <a:ext cx="1186900" cy="1260237"/>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a:latin typeface="+mn-ea"/>
              <a:ea typeface="+mn-ea"/>
            </a:endParaRPr>
          </a:p>
        </p:txBody>
      </p:sp>
      <p:sp>
        <p:nvSpPr>
          <p:cNvPr id="396" name="Rectangle 2"/>
          <p:cNvSpPr>
            <a:spLocks noChangeArrowheads="1"/>
          </p:cNvSpPr>
          <p:nvPr/>
        </p:nvSpPr>
        <p:spPr bwMode="gray">
          <a:xfrm>
            <a:off x="272480" y="2195660"/>
            <a:ext cx="1627989" cy="657751"/>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a:latin typeface="+mn-ea"/>
              <a:ea typeface="+mn-ea"/>
            </a:endParaRPr>
          </a:p>
        </p:txBody>
      </p:sp>
      <p:sp>
        <p:nvSpPr>
          <p:cNvPr id="11" name="제목 10"/>
          <p:cNvSpPr>
            <a:spLocks noGrp="1"/>
          </p:cNvSpPr>
          <p:nvPr>
            <p:ph type="title"/>
          </p:nvPr>
        </p:nvSpPr>
        <p:spPr/>
        <p:txBody>
          <a:bodyPr/>
          <a:lstStyle/>
          <a:p>
            <a:r>
              <a:rPr lang="en-US" altLang="ko-KR" dirty="0">
                <a:latin typeface="+mn-ea"/>
                <a:ea typeface="+mn-ea"/>
              </a:rPr>
              <a:t>6</a:t>
            </a:r>
            <a:r>
              <a:rPr lang="en-US" altLang="ko-KR" dirty="0" smtClean="0">
                <a:latin typeface="+mn-ea"/>
                <a:ea typeface="+mn-ea"/>
              </a:rPr>
              <a:t>. </a:t>
            </a:r>
            <a:r>
              <a:rPr lang="ko-KR" altLang="en-US" dirty="0" smtClean="0">
                <a:latin typeface="+mn-ea"/>
                <a:ea typeface="+mn-ea"/>
              </a:rPr>
              <a:t>외부 몰 정산</a:t>
            </a:r>
            <a:endParaRPr lang="ko-KR" altLang="en-US" sz="1400" dirty="0">
              <a:latin typeface="+mn-ea"/>
              <a:ea typeface="+mn-ea"/>
            </a:endParaRPr>
          </a:p>
        </p:txBody>
      </p:sp>
      <p:sp>
        <p:nvSpPr>
          <p:cNvPr id="42" name="TextBox 39"/>
          <p:cNvSpPr txBox="1">
            <a:spLocks noChangeArrowheads="1"/>
          </p:cNvSpPr>
          <p:nvPr/>
        </p:nvSpPr>
        <p:spPr bwMode="auto">
          <a:xfrm>
            <a:off x="218855" y="738114"/>
            <a:ext cx="9594685" cy="304699"/>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a:latin typeface="+mn-ea"/>
                <a:ea typeface="+mn-ea"/>
              </a:rPr>
              <a:t> </a:t>
            </a:r>
            <a:r>
              <a:rPr kumimoji="0" lang="ko-KR" altLang="en-US" sz="1200" b="1" dirty="0">
                <a:solidFill>
                  <a:prstClr val="black"/>
                </a:solidFill>
                <a:latin typeface="+mn-ea"/>
                <a:ea typeface="+mn-ea"/>
              </a:rPr>
              <a:t>외부 몰 판매에 대한 정산 처리</a:t>
            </a:r>
            <a:r>
              <a:rPr kumimoji="0" lang="en-US" altLang="ko-KR" sz="1200" b="1" dirty="0">
                <a:solidFill>
                  <a:prstClr val="black"/>
                </a:solidFill>
                <a:latin typeface="+mn-ea"/>
                <a:ea typeface="+mn-ea"/>
              </a:rPr>
              <a:t>. </a:t>
            </a:r>
            <a:r>
              <a:rPr kumimoji="0" lang="ko-KR" altLang="en-US" sz="1200" b="1" dirty="0">
                <a:solidFill>
                  <a:prstClr val="black"/>
                </a:solidFill>
                <a:latin typeface="+mn-ea"/>
                <a:ea typeface="+mn-ea"/>
              </a:rPr>
              <a:t>외부 몰 정산 </a:t>
            </a:r>
            <a:r>
              <a:rPr kumimoji="0" lang="en-US" altLang="ko-KR" sz="1200" b="1" dirty="0">
                <a:solidFill>
                  <a:prstClr val="black"/>
                </a:solidFill>
                <a:latin typeface="+mn-ea"/>
                <a:ea typeface="+mn-ea"/>
              </a:rPr>
              <a:t>LIST </a:t>
            </a:r>
            <a:r>
              <a:rPr kumimoji="0" lang="ko-KR" altLang="en-US" sz="1200" b="1" dirty="0">
                <a:solidFill>
                  <a:prstClr val="black"/>
                </a:solidFill>
                <a:latin typeface="+mn-ea"/>
                <a:ea typeface="+mn-ea"/>
              </a:rPr>
              <a:t>수취 후 외부 몰 정산 수행</a:t>
            </a:r>
            <a:r>
              <a:rPr kumimoji="0" lang="en-US" altLang="ko-KR" sz="1200" b="1" dirty="0">
                <a:solidFill>
                  <a:prstClr val="black"/>
                </a:solidFill>
                <a:latin typeface="+mn-ea"/>
                <a:ea typeface="+mn-ea"/>
              </a:rPr>
              <a:t>.</a:t>
            </a:r>
            <a:r>
              <a:rPr kumimoji="0" lang="ko-KR" altLang="en-US" sz="1200" b="1" dirty="0" smtClean="0">
                <a:latin typeface="+mn-ea"/>
                <a:ea typeface="+mn-ea"/>
              </a:rPr>
              <a:t> </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mn-ea"/>
                <a:ea typeface="+mn-ea"/>
              </a:endParaRPr>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latinLnBrk="0" hangingPunct="0">
                <a:lnSpc>
                  <a:spcPct val="140000"/>
                </a:lnSpc>
                <a:buClr>
                  <a:schemeClr val="tx2"/>
                </a:buClr>
                <a:buSzPct val="75000"/>
                <a:buFont typeface="Wingdings" panose="05000000000000000000" pitchFamily="2" charset="2"/>
                <a:buChar char="u"/>
              </a:pPr>
              <a:r>
                <a:rPr kumimoji="0" lang="ko-KR" altLang="en-US" sz="900" b="1" dirty="0" smtClean="0">
                  <a:latin typeface="+mn-ea"/>
                  <a:ea typeface="+mn-ea"/>
                </a:rPr>
                <a:t> 정의</a:t>
              </a:r>
              <a:endParaRPr kumimoji="0" lang="ko-KR" altLang="en-US" sz="900" b="1" dirty="0">
                <a:latin typeface="+mn-ea"/>
                <a:ea typeface="+mn-ea"/>
              </a:endParaRPr>
            </a:p>
            <a:p>
              <a:pPr eaLnBrk="0" latinLnBrk="0" hangingPunct="0">
                <a:lnSpc>
                  <a:spcPct val="140000"/>
                </a:lnSpc>
                <a:buClr>
                  <a:schemeClr val="tx2"/>
                </a:buClr>
                <a:buSzPct val="75000"/>
              </a:pPr>
              <a:r>
                <a:rPr kumimoji="0" lang="ko-KR" altLang="en-US" sz="900" dirty="0">
                  <a:latin typeface="+mn-ea"/>
                  <a:ea typeface="+mn-ea"/>
                </a:rPr>
                <a:t>외부 몰의 판매에 대한 정산 처리</a:t>
              </a:r>
              <a:r>
                <a:rPr kumimoji="0" lang="en-US" altLang="ko-KR" sz="900" dirty="0">
                  <a:latin typeface="+mn-ea"/>
                  <a:ea typeface="+mn-ea"/>
                </a:rPr>
                <a:t>.</a:t>
              </a:r>
            </a:p>
            <a:p>
              <a:pPr eaLnBrk="0" latinLnBrk="0" hangingPunct="0">
                <a:lnSpc>
                  <a:spcPct val="140000"/>
                </a:lnSpc>
                <a:buClr>
                  <a:schemeClr val="tx2"/>
                </a:buClr>
                <a:buSzPct val="75000"/>
              </a:pPr>
              <a:r>
                <a:rPr kumimoji="0" lang="en-US" altLang="ko-KR" sz="900" dirty="0">
                  <a:latin typeface="+mn-ea"/>
                  <a:ea typeface="+mn-ea"/>
                </a:rPr>
                <a:t>  </a:t>
              </a:r>
              <a:endParaRPr kumimoji="0" lang="ko-KR" altLang="en-US" sz="900" b="1" dirty="0">
                <a:solidFill>
                  <a:srgbClr val="FF0000"/>
                </a:solidFill>
                <a:latin typeface="+mn-ea"/>
                <a:ea typeface="+mn-ea"/>
              </a:endParaRPr>
            </a:p>
            <a:p>
              <a:pPr marL="85725" indent="-85725" eaLnBrk="0" latinLnBrk="0" hangingPunct="0">
                <a:lnSpc>
                  <a:spcPct val="140000"/>
                </a:lnSpc>
                <a:buClr>
                  <a:schemeClr val="tx2"/>
                </a:buClr>
                <a:buSzPct val="75000"/>
                <a:buFont typeface="Wingdings" panose="05000000000000000000" pitchFamily="2" charset="2"/>
                <a:buChar char="u"/>
              </a:pPr>
              <a:r>
                <a:rPr kumimoji="0" lang="ko-KR" altLang="en-US" sz="900" b="1" dirty="0">
                  <a:latin typeface="+mn-ea"/>
                  <a:ea typeface="+mn-ea"/>
                </a:rPr>
                <a:t> 선행 프로세스</a:t>
              </a:r>
            </a:p>
            <a:p>
              <a:pPr eaLnBrk="0" latinLnBrk="0" hangingPunct="0">
                <a:lnSpc>
                  <a:spcPct val="140000"/>
                </a:lnSpc>
                <a:buClr>
                  <a:schemeClr val="tx2"/>
                </a:buClr>
                <a:buSzPct val="75000"/>
              </a:pPr>
              <a:r>
                <a:rPr kumimoji="0" lang="en-US" altLang="ko-KR" sz="900" dirty="0">
                  <a:latin typeface="+mn-ea"/>
                  <a:ea typeface="+mn-ea"/>
                </a:rPr>
                <a:t>1. </a:t>
              </a:r>
              <a:r>
                <a:rPr kumimoji="0" lang="ko-KR" altLang="en-US" sz="900" dirty="0">
                  <a:latin typeface="+mn-ea"/>
                  <a:ea typeface="+mn-ea"/>
                </a:rPr>
                <a:t>외부 몰 판매</a:t>
              </a:r>
              <a:r>
                <a:rPr kumimoji="0" lang="en-US" altLang="ko-KR" sz="900" dirty="0">
                  <a:latin typeface="+mn-ea"/>
                  <a:ea typeface="+mn-ea"/>
                </a:rPr>
                <a:t> </a:t>
              </a:r>
              <a:endParaRPr kumimoji="0" lang="en-US" altLang="ko-KR" sz="900" dirty="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a:latin typeface="+mn-ea"/>
                  <a:ea typeface="+mn-ea"/>
                </a:rPr>
                <a:t>2. </a:t>
              </a:r>
              <a:r>
                <a:rPr kumimoji="0" lang="ko-KR" altLang="en-US" sz="900" dirty="0">
                  <a:latin typeface="+mn-ea"/>
                  <a:ea typeface="+mn-ea"/>
                </a:rPr>
                <a:t>외부 몰 정산 </a:t>
              </a:r>
              <a:r>
                <a:rPr kumimoji="0" lang="en-US" altLang="ko-KR" sz="900" dirty="0">
                  <a:latin typeface="+mn-ea"/>
                  <a:ea typeface="+mn-ea"/>
                </a:rPr>
                <a:t>LIST </a:t>
              </a:r>
              <a:r>
                <a:rPr kumimoji="0" lang="ko-KR" altLang="en-US" sz="900" dirty="0">
                  <a:latin typeface="+mn-ea"/>
                  <a:ea typeface="+mn-ea"/>
                </a:rPr>
                <a:t>수취 </a:t>
              </a:r>
              <a:r>
                <a:rPr kumimoji="0" lang="en-US" altLang="ko-KR" sz="900" dirty="0">
                  <a:latin typeface="+mn-ea"/>
                  <a:ea typeface="+mn-ea"/>
                  <a:sym typeface="Wingdings" panose="05000000000000000000" pitchFamily="2" charset="2"/>
                </a:rPr>
                <a:t> </a:t>
              </a:r>
              <a:r>
                <a:rPr kumimoji="0" lang="ko-KR" altLang="en-US" sz="900" dirty="0">
                  <a:latin typeface="+mn-ea"/>
                  <a:ea typeface="+mn-ea"/>
                  <a:sym typeface="Wingdings" panose="05000000000000000000" pitchFamily="2" charset="2"/>
                </a:rPr>
                <a:t>등록</a:t>
              </a:r>
              <a:endParaRPr kumimoji="0" lang="en-US" altLang="ko-KR" sz="900" dirty="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a:latin typeface="+mn-ea"/>
                  <a:ea typeface="+mn-ea"/>
                  <a:sym typeface="Wingdings" panose="05000000000000000000" pitchFamily="2" charset="2"/>
                </a:rPr>
                <a:t>   </a:t>
              </a:r>
              <a:r>
                <a:rPr kumimoji="0" lang="ko-KR" altLang="en-US" sz="900" dirty="0">
                  <a:latin typeface="+mn-ea"/>
                  <a:ea typeface="+mn-ea"/>
                </a:rPr>
                <a:t> </a:t>
              </a:r>
            </a:p>
            <a:p>
              <a:pPr eaLnBrk="0" latinLnBrk="0" hangingPunct="0">
                <a:lnSpc>
                  <a:spcPct val="140000"/>
                </a:lnSpc>
                <a:buClr>
                  <a:schemeClr val="tx2"/>
                </a:buClr>
                <a:buSzPct val="75000"/>
                <a:buFont typeface="Wingdings" panose="05000000000000000000" pitchFamily="2" charset="2"/>
                <a:buChar char="u"/>
              </a:pPr>
              <a:r>
                <a:rPr kumimoji="0" lang="ko-KR" altLang="en-US" sz="900" dirty="0">
                  <a:latin typeface="+mn-ea"/>
                  <a:ea typeface="+mn-ea"/>
                </a:rPr>
                <a:t> </a:t>
              </a:r>
              <a:r>
                <a:rPr kumimoji="0" lang="ko-KR" altLang="en-US" sz="900" b="1" dirty="0">
                  <a:latin typeface="+mn-ea"/>
                  <a:ea typeface="+mn-ea"/>
                </a:rPr>
                <a:t>후행 프로세스</a:t>
              </a:r>
            </a:p>
            <a:p>
              <a:pPr eaLnBrk="0" latinLnBrk="0" hangingPunct="0">
                <a:lnSpc>
                  <a:spcPct val="140000"/>
                </a:lnSpc>
                <a:buClr>
                  <a:schemeClr val="tx2"/>
                </a:buClr>
                <a:buSzPct val="75000"/>
              </a:pPr>
              <a:r>
                <a:rPr kumimoji="0" lang="en-US" altLang="ko-KR" sz="900" dirty="0">
                  <a:latin typeface="+mn-ea"/>
                  <a:ea typeface="+mn-ea"/>
                </a:rPr>
                <a:t>1. </a:t>
              </a:r>
            </a:p>
            <a:p>
              <a:pPr eaLnBrk="0" latinLnBrk="0" hangingPunct="0">
                <a:lnSpc>
                  <a:spcPct val="140000"/>
                </a:lnSpc>
                <a:buClr>
                  <a:schemeClr val="tx2"/>
                </a:buClr>
                <a:buSzPct val="75000"/>
              </a:pPr>
              <a:endParaRPr kumimoji="0" lang="ko-KR" altLang="en-US" sz="900" dirty="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a:latin typeface="+mn-ea"/>
                  <a:ea typeface="+mn-ea"/>
                </a:rPr>
                <a:t> </a:t>
              </a:r>
              <a:r>
                <a:rPr kumimoji="0" lang="ko-KR" altLang="en-US" sz="900" b="1" dirty="0">
                  <a:latin typeface="+mn-ea"/>
                  <a:ea typeface="+mn-ea"/>
                </a:rPr>
                <a:t>비즈니스 업무정책</a:t>
              </a:r>
            </a:p>
            <a:p>
              <a:pPr eaLnBrk="0" latinLnBrk="0" hangingPunct="0">
                <a:lnSpc>
                  <a:spcPct val="140000"/>
                </a:lnSpc>
                <a:buClr>
                  <a:schemeClr val="tx2"/>
                </a:buClr>
                <a:buSzPct val="75000"/>
              </a:pPr>
              <a:r>
                <a:rPr kumimoji="0" lang="en-US" altLang="ko-KR" sz="900" dirty="0" smtClean="0">
                  <a:latin typeface="+mn-ea"/>
                  <a:ea typeface="+mn-ea"/>
                </a:rPr>
                <a:t>1. </a:t>
              </a:r>
              <a:r>
                <a:rPr lang="en-US" altLang="ko-KR" sz="900" b="1" dirty="0" smtClean="0">
                  <a:latin typeface="+mn-ea"/>
                  <a:ea typeface="+mn-ea"/>
                </a:rPr>
                <a:t>MAPP2 : </a:t>
              </a:r>
              <a:r>
                <a:rPr lang="ko-KR" altLang="en-US" sz="900" b="1" dirty="0" err="1" smtClean="0">
                  <a:latin typeface="+mn-ea"/>
                  <a:ea typeface="+mn-ea"/>
                </a:rPr>
                <a:t>판매매칭</a:t>
              </a:r>
              <a:endParaRPr lang="en-US" altLang="ko-KR" sz="900" b="1" dirty="0" smtClean="0">
                <a:latin typeface="+mn-ea"/>
                <a:ea typeface="+mn-ea"/>
              </a:endParaRPr>
            </a:p>
            <a:p>
              <a:r>
                <a:rPr lang="en-US" altLang="ko-KR" sz="900" b="1" dirty="0" smtClean="0">
                  <a:latin typeface="+mn-ea"/>
                  <a:ea typeface="+mn-ea"/>
                </a:rPr>
                <a:t> </a:t>
              </a:r>
              <a:r>
                <a:rPr lang="ko-KR" altLang="en-US" sz="900" dirty="0" smtClean="0">
                  <a:latin typeface="+mn-ea"/>
                  <a:ea typeface="+mn-ea"/>
                </a:rPr>
                <a:t>정산 테이블과 매장수불 테이블을 이용해 당월 판매수불 정보를 정산 테이블에 저장</a:t>
              </a:r>
              <a:endParaRPr kumimoji="0" lang="en-US" altLang="ko-KR" sz="900" dirty="0">
                <a:latin typeface="+mn-ea"/>
                <a:ea typeface="+mn-ea"/>
              </a:endParaRPr>
            </a:p>
          </p:txBody>
        </p:sp>
      </p:grpSp>
      <p:sp>
        <p:nvSpPr>
          <p:cNvPr id="89" name="TextBox 94"/>
          <p:cNvSpPr txBox="1">
            <a:spLocks noChangeArrowheads="1"/>
          </p:cNvSpPr>
          <p:nvPr/>
        </p:nvSpPr>
        <p:spPr bwMode="auto">
          <a:xfrm>
            <a:off x="992560" y="1313336"/>
            <a:ext cx="141688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SP_ONLINE_STLM_BASE</a:t>
            </a:r>
            <a:endParaRPr lang="ko-KR" altLang="en-US" sz="800" b="1" dirty="0">
              <a:latin typeface="+mn-ea"/>
              <a:ea typeface="+mn-ea"/>
            </a:endParaRPr>
          </a:p>
        </p:txBody>
      </p:sp>
      <p:cxnSp>
        <p:nvCxnSpPr>
          <p:cNvPr id="60" name="AutoShape 67"/>
          <p:cNvCxnSpPr>
            <a:cxnSpLocks noChangeShapeType="1"/>
            <a:endCxn id="18" idx="1"/>
          </p:cNvCxnSpPr>
          <p:nvPr/>
        </p:nvCxnSpPr>
        <p:spPr bwMode="gray">
          <a:xfrm>
            <a:off x="722530" y="1808820"/>
            <a:ext cx="580471" cy="4125"/>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순서도: 페이지 연결자 17"/>
          <p:cNvSpPr/>
          <p:nvPr/>
        </p:nvSpPr>
        <p:spPr>
          <a:xfrm>
            <a:off x="1303001" y="1528780"/>
            <a:ext cx="679669" cy="568329"/>
          </a:xfrm>
          <a:prstGeom prst="flowChartOffpageConnector">
            <a:avLst/>
          </a:prstGeom>
          <a:solidFill>
            <a:schemeClr val="accent1">
              <a:lumMod val="40000"/>
              <a:lumOff val="60000"/>
            </a:schemeClr>
          </a:solidFill>
          <a:ln>
            <a:solidFill>
              <a:schemeClr val="accent1"/>
            </a:solidFill>
          </a:ln>
        </p:spPr>
        <p:txBody>
          <a:bodyPr wrap="square" rtlCol="0" anchor="ctr">
            <a:noAutofit/>
          </a:bodyPr>
          <a:lstStyle/>
          <a:p>
            <a:pPr marL="268288" indent="-215900">
              <a:spcBef>
                <a:spcPct val="20000"/>
              </a:spcBef>
              <a:buClr>
                <a:srgbClr val="FFD200"/>
              </a:buClr>
              <a:buSzPct val="75000"/>
            </a:pPr>
            <a:r>
              <a:rPr lang="ko-KR" altLang="en-US" sz="800" b="1" kern="0" dirty="0" smtClean="0">
                <a:latin typeface="+mn-ea"/>
                <a:ea typeface="+mn-ea"/>
              </a:rPr>
              <a:t>작업구분</a:t>
            </a:r>
            <a:endParaRPr lang="en-US" altLang="ko-KR" sz="800" b="1" kern="0" dirty="0" smtClean="0">
              <a:latin typeface="+mn-ea"/>
              <a:ea typeface="+mn-ea"/>
            </a:endParaRPr>
          </a:p>
          <a:p>
            <a:pPr marL="268288" indent="-215900" algn="ctr">
              <a:spcBef>
                <a:spcPct val="20000"/>
              </a:spcBef>
              <a:buClr>
                <a:srgbClr val="FFD200"/>
              </a:buClr>
              <a:buSzPct val="75000"/>
            </a:pPr>
            <a:r>
              <a:rPr lang="ko-KR" altLang="en-US" sz="800" b="1" kern="0" dirty="0" smtClean="0">
                <a:latin typeface="+mn-ea"/>
                <a:ea typeface="+mn-ea"/>
              </a:rPr>
              <a:t>정산처리</a:t>
            </a:r>
            <a:endParaRPr lang="en-US" altLang="ko-KR" sz="800" b="1" kern="0" dirty="0" smtClean="0">
              <a:latin typeface="+mn-ea"/>
              <a:ea typeface="+mn-ea"/>
            </a:endParaRPr>
          </a:p>
          <a:p>
            <a:pPr marL="268288" indent="-215900" algn="ctr">
              <a:spcBef>
                <a:spcPct val="20000"/>
              </a:spcBef>
              <a:buClr>
                <a:srgbClr val="FFD200"/>
              </a:buClr>
              <a:buSzPct val="75000"/>
            </a:pPr>
            <a:r>
              <a:rPr lang="ko-KR" altLang="en-US" sz="800" b="1" kern="0" dirty="0" smtClean="0">
                <a:latin typeface="+mn-ea"/>
                <a:ea typeface="+mn-ea"/>
              </a:rPr>
              <a:t>시작</a:t>
            </a:r>
          </a:p>
        </p:txBody>
      </p:sp>
      <p:sp>
        <p:nvSpPr>
          <p:cNvPr id="151" name="TextBox 94"/>
          <p:cNvSpPr txBox="1">
            <a:spLocks noChangeArrowheads="1"/>
          </p:cNvSpPr>
          <p:nvPr/>
        </p:nvSpPr>
        <p:spPr bwMode="auto">
          <a:xfrm>
            <a:off x="362490" y="1313336"/>
            <a:ext cx="661182" cy="510909"/>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sym typeface="Wingdings" panose="05000000000000000000" pitchFamily="2" charset="2"/>
              </a:rPr>
              <a:t>작업구분</a:t>
            </a:r>
            <a:endParaRPr lang="en-US" altLang="ko-KR" sz="800" dirty="0" smtClean="0">
              <a:latin typeface="+mn-ea"/>
              <a:ea typeface="+mn-ea"/>
              <a:sym typeface="Wingdings" panose="05000000000000000000" pitchFamily="2" charset="2"/>
            </a:endParaRPr>
          </a:p>
          <a:p>
            <a:pPr algn="ctr">
              <a:spcBef>
                <a:spcPct val="20000"/>
              </a:spcBef>
              <a:buClr>
                <a:srgbClr val="003366"/>
              </a:buClr>
            </a:pPr>
            <a:r>
              <a:rPr lang="ko-KR" altLang="en-US" sz="800" dirty="0" smtClean="0">
                <a:latin typeface="+mn-ea"/>
                <a:ea typeface="+mn-ea"/>
                <a:sym typeface="Wingdings" panose="05000000000000000000" pitchFamily="2" charset="2"/>
              </a:rPr>
              <a:t>정산처리</a:t>
            </a:r>
            <a:endParaRPr lang="en-US" altLang="ko-KR" sz="800" dirty="0" smtClean="0">
              <a:latin typeface="+mn-ea"/>
              <a:ea typeface="+mn-ea"/>
              <a:sym typeface="Wingdings" panose="05000000000000000000" pitchFamily="2" charset="2"/>
            </a:endParaRPr>
          </a:p>
          <a:p>
            <a:pPr algn="ctr">
              <a:spcBef>
                <a:spcPct val="20000"/>
              </a:spcBef>
              <a:buClr>
                <a:srgbClr val="003366"/>
              </a:buClr>
            </a:pPr>
            <a:r>
              <a:rPr lang="ko-KR" altLang="en-US" sz="800" dirty="0" smtClean="0">
                <a:latin typeface="+mn-ea"/>
                <a:ea typeface="+mn-ea"/>
                <a:sym typeface="Wingdings" panose="05000000000000000000" pitchFamily="2" charset="2"/>
              </a:rPr>
              <a:t>시작</a:t>
            </a:r>
            <a:endParaRPr lang="en-US" altLang="ko-KR" sz="800" dirty="0" smtClean="0">
              <a:latin typeface="+mn-ea"/>
              <a:ea typeface="+mn-ea"/>
              <a:sym typeface="Wingdings" panose="05000000000000000000" pitchFamily="2" charset="2"/>
            </a:endParaRPr>
          </a:p>
        </p:txBody>
      </p:sp>
      <p:cxnSp>
        <p:nvCxnSpPr>
          <p:cNvPr id="164" name="AutoShape 67"/>
          <p:cNvCxnSpPr>
            <a:cxnSpLocks noChangeShapeType="1"/>
            <a:stCxn id="397" idx="4"/>
          </p:cNvCxnSpPr>
          <p:nvPr/>
        </p:nvCxnSpPr>
        <p:spPr bwMode="gray">
          <a:xfrm>
            <a:off x="1757645" y="2529549"/>
            <a:ext cx="1283830" cy="869139"/>
          </a:xfrm>
          <a:prstGeom prst="bentConnector3">
            <a:avLst>
              <a:gd name="adj1" fmla="val 15575"/>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TextBox 94"/>
          <p:cNvSpPr txBox="1">
            <a:spLocks noChangeArrowheads="1"/>
          </p:cNvSpPr>
          <p:nvPr/>
        </p:nvSpPr>
        <p:spPr bwMode="auto">
          <a:xfrm>
            <a:off x="2023447" y="3217767"/>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68" name="Text Box 82"/>
          <p:cNvSpPr txBox="1">
            <a:spLocks noChangeArrowheads="1"/>
          </p:cNvSpPr>
          <p:nvPr/>
        </p:nvSpPr>
        <p:spPr bwMode="gray">
          <a:xfrm>
            <a:off x="2554948" y="1946764"/>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69" name="타원 168"/>
          <p:cNvSpPr/>
          <p:nvPr/>
        </p:nvSpPr>
        <p:spPr>
          <a:xfrm>
            <a:off x="4367935" y="2397563"/>
            <a:ext cx="352849" cy="338735"/>
          </a:xfrm>
          <a:prstGeom prst="ellipse">
            <a:avLst/>
          </a:prstGeom>
          <a:noFill/>
          <a:ln>
            <a:solidFill>
              <a:schemeClr val="tx1"/>
            </a:solidFill>
          </a:ln>
        </p:spPr>
        <p:txBody>
          <a:bodyPr wrap="none" lIns="0" rIns="0" rtlCol="0" anchor="ctr">
            <a:noAutofit/>
          </a:bodyPr>
          <a:lstStyle/>
          <a:p>
            <a:pPr marL="268288" indent="-215900" algn="ctr">
              <a:spcBef>
                <a:spcPct val="20000"/>
              </a:spcBef>
              <a:buClr>
                <a:srgbClr val="FFD200"/>
              </a:buClr>
              <a:buSzPct val="75000"/>
            </a:pPr>
            <a:r>
              <a:rPr lang="ko-KR" altLang="en-US" sz="800" kern="0" dirty="0" smtClean="0">
                <a:latin typeface="+mn-ea"/>
                <a:ea typeface="+mn-ea"/>
              </a:rPr>
              <a:t>종료</a:t>
            </a:r>
          </a:p>
        </p:txBody>
      </p:sp>
      <p:sp>
        <p:nvSpPr>
          <p:cNvPr id="384" name="AutoShape 73"/>
          <p:cNvSpPr>
            <a:spLocks noChangeArrowheads="1"/>
          </p:cNvSpPr>
          <p:nvPr/>
        </p:nvSpPr>
        <p:spPr bwMode="auto">
          <a:xfrm>
            <a:off x="2480102" y="1579824"/>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작업구분</a:t>
            </a:r>
            <a:endParaRPr lang="en-US" altLang="ko-KR" sz="800" dirty="0">
              <a:latin typeface="+mn-ea"/>
              <a:ea typeface="+mn-ea"/>
            </a:endParaRPr>
          </a:p>
          <a:p>
            <a:pPr algn="ctr" eaLnBrk="0" latinLnBrk="0" hangingPunct="0">
              <a:lnSpc>
                <a:spcPct val="40000"/>
              </a:lnSpc>
              <a:spcBef>
                <a:spcPct val="50000"/>
              </a:spcBef>
            </a:pPr>
            <a:r>
              <a:rPr lang="en-US" altLang="ko-KR" sz="800" dirty="0" smtClean="0">
                <a:latin typeface="+mn-ea"/>
                <a:ea typeface="+mn-ea"/>
              </a:rPr>
              <a:t>STLM2</a:t>
            </a: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cxnSp>
        <p:nvCxnSpPr>
          <p:cNvPr id="389" name="AutoShape 67"/>
          <p:cNvCxnSpPr>
            <a:cxnSpLocks noChangeShapeType="1"/>
            <a:stCxn id="18" idx="3"/>
            <a:endCxn id="384" idx="1"/>
          </p:cNvCxnSpPr>
          <p:nvPr/>
        </p:nvCxnSpPr>
        <p:spPr bwMode="gray">
          <a:xfrm>
            <a:off x="1982670" y="1812945"/>
            <a:ext cx="497432" cy="421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0" name="AutoShape 86"/>
          <p:cNvSpPr>
            <a:spLocks noChangeArrowheads="1"/>
          </p:cNvSpPr>
          <p:nvPr/>
        </p:nvSpPr>
        <p:spPr bwMode="auto">
          <a:xfrm>
            <a:off x="317485" y="228567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600" b="1" dirty="0">
                <a:latin typeface="+mn-ea"/>
                <a:ea typeface="+mn-ea"/>
              </a:rPr>
              <a:t>EC</a:t>
            </a:r>
          </a:p>
          <a:p>
            <a:pPr algn="ctr"/>
            <a:r>
              <a:rPr lang="en-US" altLang="ko-KR" sz="600" b="1" dirty="0">
                <a:latin typeface="+mn-ea"/>
                <a:ea typeface="+mn-ea"/>
              </a:rPr>
              <a:t>(</a:t>
            </a:r>
            <a:r>
              <a:rPr lang="ko-KR" altLang="en-US" sz="600" b="1" dirty="0" err="1" smtClean="0">
                <a:latin typeface="+mn-ea"/>
                <a:ea typeface="+mn-ea"/>
              </a:rPr>
              <a:t>온라인구시스템</a:t>
            </a:r>
            <a:r>
              <a:rPr lang="en-US" altLang="ko-KR" sz="600" b="1" dirty="0" smtClean="0">
                <a:latin typeface="+mn-ea"/>
                <a:ea typeface="+mn-ea"/>
              </a:rPr>
              <a:t>)</a:t>
            </a:r>
            <a:endParaRPr lang="en-US" altLang="ko-KR" sz="600" b="1" dirty="0" smtClean="0">
              <a:latin typeface="+mn-ea"/>
              <a:ea typeface="+mn-ea"/>
            </a:endParaRPr>
          </a:p>
          <a:p>
            <a:pPr algn="ctr"/>
            <a:r>
              <a:rPr lang="en-US" altLang="ko-KR" sz="600" b="1" dirty="0" smtClean="0">
                <a:latin typeface="+mn-ea"/>
                <a:ea typeface="+mn-ea"/>
              </a:rPr>
              <a:t>TEMP_INS</a:t>
            </a:r>
            <a:endParaRPr lang="ko-KR" altLang="en-US" sz="600" b="1" dirty="0">
              <a:latin typeface="+mn-ea"/>
              <a:ea typeface="+mn-ea"/>
            </a:endParaRPr>
          </a:p>
        </p:txBody>
      </p:sp>
      <p:cxnSp>
        <p:nvCxnSpPr>
          <p:cNvPr id="391" name="AutoShape 67"/>
          <p:cNvCxnSpPr>
            <a:cxnSpLocks noChangeShapeType="1"/>
            <a:stCxn id="384" idx="2"/>
            <a:endCxn id="395" idx="0"/>
          </p:cNvCxnSpPr>
          <p:nvPr/>
        </p:nvCxnSpPr>
        <p:spPr bwMode="gray">
          <a:xfrm>
            <a:off x="3041476" y="2054486"/>
            <a:ext cx="0" cy="781203"/>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2" name="AutoShape 67"/>
          <p:cNvCxnSpPr>
            <a:cxnSpLocks noChangeShapeType="1"/>
            <a:stCxn id="396" idx="3"/>
          </p:cNvCxnSpPr>
          <p:nvPr/>
        </p:nvCxnSpPr>
        <p:spPr bwMode="gray">
          <a:xfrm>
            <a:off x="1900469" y="2524536"/>
            <a:ext cx="1141007"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3" name="TextBox 94"/>
          <p:cNvSpPr txBox="1">
            <a:spLocks noChangeArrowheads="1"/>
          </p:cNvSpPr>
          <p:nvPr/>
        </p:nvSpPr>
        <p:spPr bwMode="auto">
          <a:xfrm>
            <a:off x="3036758" y="2334080"/>
            <a:ext cx="1445465" cy="606320"/>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rPr>
              <a:t>조회조건 </a:t>
            </a:r>
            <a:r>
              <a:rPr lang="en-US" altLang="ko-KR" sz="700" dirty="0" smtClean="0">
                <a:latin typeface="+mn-ea"/>
                <a:ea typeface="+mn-ea"/>
              </a:rPr>
              <a:t>: </a:t>
            </a:r>
            <a:r>
              <a:rPr lang="ko-KR" altLang="en-US" sz="700" dirty="0" err="1" smtClean="0">
                <a:latin typeface="+mn-ea"/>
                <a:ea typeface="+mn-ea"/>
              </a:rPr>
              <a:t>정산년월</a:t>
            </a:r>
            <a:r>
              <a:rPr lang="en-US" altLang="ko-KR" sz="700" dirty="0">
                <a:latin typeface="+mn-ea"/>
                <a:ea typeface="+mn-ea"/>
              </a:rPr>
              <a:t>, </a:t>
            </a:r>
            <a:r>
              <a:rPr lang="ko-KR" altLang="en-US" sz="700" dirty="0" smtClean="0">
                <a:latin typeface="+mn-ea"/>
                <a:ea typeface="+mn-ea"/>
              </a:rPr>
              <a:t>정산매장</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상위브랜드</a:t>
            </a:r>
            <a:r>
              <a:rPr lang="en-US" altLang="ko-KR" sz="700" dirty="0" smtClean="0">
                <a:latin typeface="+mn-ea"/>
                <a:ea typeface="+mn-ea"/>
              </a:rPr>
              <a:t>, MALL_ID</a:t>
            </a:r>
          </a:p>
          <a:p>
            <a:pPr>
              <a:spcBef>
                <a:spcPct val="20000"/>
              </a:spcBef>
              <a:buClr>
                <a:srgbClr val="003366"/>
              </a:buClr>
            </a:pPr>
            <a:r>
              <a:rPr lang="en-US" altLang="ko-KR" sz="700" dirty="0" smtClean="0">
                <a:latin typeface="+mn-ea"/>
                <a:ea typeface="+mn-ea"/>
              </a:rPr>
              <a:t>WORK_CLSBY</a:t>
            </a:r>
          </a:p>
          <a:p>
            <a:pPr>
              <a:spcBef>
                <a:spcPct val="20000"/>
              </a:spcBef>
              <a:buClr>
                <a:srgbClr val="003366"/>
              </a:buClr>
            </a:pPr>
            <a:r>
              <a:rPr lang="en-US" altLang="ko-KR" sz="700" dirty="0" smtClean="0">
                <a:latin typeface="+mn-ea"/>
                <a:ea typeface="+mn-ea"/>
                <a:sym typeface="Wingdings" panose="05000000000000000000" pitchFamily="2" charset="2"/>
              </a:rPr>
              <a:t> </a:t>
            </a:r>
            <a:r>
              <a:rPr lang="en-US" altLang="ko-KR" sz="700" dirty="0" smtClean="0">
                <a:latin typeface="+mn-ea"/>
                <a:ea typeface="+mn-ea"/>
              </a:rPr>
              <a:t>C59706(</a:t>
            </a:r>
            <a:r>
              <a:rPr lang="ko-KR" altLang="en-US" sz="700" dirty="0" smtClean="0">
                <a:latin typeface="+mn-ea"/>
                <a:ea typeface="+mn-ea"/>
              </a:rPr>
              <a:t>정산처리</a:t>
            </a:r>
            <a:r>
              <a:rPr lang="en-US" altLang="ko-KR" sz="700" dirty="0" smtClean="0">
                <a:latin typeface="+mn-ea"/>
                <a:ea typeface="+mn-ea"/>
              </a:rPr>
              <a:t>2)</a:t>
            </a:r>
            <a:endParaRPr lang="ko-KR" altLang="en-US" sz="700" dirty="0">
              <a:latin typeface="+mn-ea"/>
              <a:ea typeface="+mn-ea"/>
            </a:endParaRPr>
          </a:p>
        </p:txBody>
      </p:sp>
      <p:sp>
        <p:nvSpPr>
          <p:cNvPr id="394" name="TextBox 94"/>
          <p:cNvSpPr txBox="1">
            <a:spLocks noChangeArrowheads="1"/>
          </p:cNvSpPr>
          <p:nvPr/>
        </p:nvSpPr>
        <p:spPr bwMode="auto">
          <a:xfrm>
            <a:off x="2104850" y="2347947"/>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395" name="AutoShape 73"/>
          <p:cNvSpPr>
            <a:spLocks noChangeArrowheads="1"/>
          </p:cNvSpPr>
          <p:nvPr/>
        </p:nvSpPr>
        <p:spPr bwMode="auto">
          <a:xfrm>
            <a:off x="2480102" y="2835689"/>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조회 건수 </a:t>
            </a:r>
            <a:r>
              <a:rPr lang="en-US" altLang="ko-KR" sz="800" dirty="0" smtClean="0">
                <a:latin typeface="+mn-ea"/>
                <a:ea typeface="+mn-ea"/>
              </a:rPr>
              <a:t>!= 0</a:t>
            </a:r>
          </a:p>
        </p:txBody>
      </p:sp>
      <p:sp>
        <p:nvSpPr>
          <p:cNvPr id="397" name="AutoShape 86"/>
          <p:cNvSpPr>
            <a:spLocks noChangeArrowheads="1"/>
          </p:cNvSpPr>
          <p:nvPr/>
        </p:nvSpPr>
        <p:spPr bwMode="auto">
          <a:xfrm>
            <a:off x="1190907" y="228567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온라인정산진행체크</a:t>
            </a:r>
            <a:endParaRPr lang="en-US" altLang="ko-KR" sz="600" b="1" dirty="0" smtClean="0">
              <a:latin typeface="+mn-ea"/>
              <a:ea typeface="+mn-ea"/>
            </a:endParaRPr>
          </a:p>
          <a:p>
            <a:pPr algn="ctr"/>
            <a:r>
              <a:rPr lang="en-US" altLang="ko-KR" sz="600" b="1" dirty="0" smtClean="0">
                <a:latin typeface="+mn-ea"/>
                <a:ea typeface="+mn-ea"/>
              </a:rPr>
              <a:t>T_ONLINE_STLM_CHECK</a:t>
            </a:r>
            <a:endParaRPr lang="ko-KR" altLang="en-US" sz="600" b="1" dirty="0">
              <a:latin typeface="+mn-ea"/>
              <a:ea typeface="+mn-ea"/>
            </a:endParaRPr>
          </a:p>
        </p:txBody>
      </p:sp>
      <p:sp>
        <p:nvSpPr>
          <p:cNvPr id="398" name="Text Box 82"/>
          <p:cNvSpPr txBox="1">
            <a:spLocks noChangeArrowheads="1"/>
          </p:cNvSpPr>
          <p:nvPr/>
        </p:nvSpPr>
        <p:spPr bwMode="gray">
          <a:xfrm>
            <a:off x="3377825" y="3213556"/>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399" name="AutoShape 67"/>
          <p:cNvCxnSpPr>
            <a:cxnSpLocks noChangeShapeType="1"/>
            <a:stCxn id="395" idx="3"/>
            <a:endCxn id="169" idx="4"/>
          </p:cNvCxnSpPr>
          <p:nvPr/>
        </p:nvCxnSpPr>
        <p:spPr bwMode="gray">
          <a:xfrm flipV="1">
            <a:off x="3602850" y="2736298"/>
            <a:ext cx="941510" cy="336722"/>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0" name="AutoShape 73"/>
          <p:cNvSpPr>
            <a:spLocks noChangeArrowheads="1"/>
          </p:cNvSpPr>
          <p:nvPr/>
        </p:nvSpPr>
        <p:spPr bwMode="auto">
          <a:xfrm>
            <a:off x="2481185" y="3566778"/>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조회 건수 </a:t>
            </a:r>
            <a:r>
              <a:rPr lang="en-US" altLang="ko-KR" sz="800" dirty="0" smtClean="0">
                <a:latin typeface="+mn-ea"/>
                <a:ea typeface="+mn-ea"/>
              </a:rPr>
              <a:t>&lt; 1</a:t>
            </a:r>
          </a:p>
        </p:txBody>
      </p:sp>
      <p:sp>
        <p:nvSpPr>
          <p:cNvPr id="401" name="Text Box 82"/>
          <p:cNvSpPr txBox="1">
            <a:spLocks noChangeArrowheads="1"/>
          </p:cNvSpPr>
          <p:nvPr/>
        </p:nvSpPr>
        <p:spPr bwMode="gray">
          <a:xfrm>
            <a:off x="2993372" y="3262997"/>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402" name="AutoShape 67"/>
          <p:cNvCxnSpPr>
            <a:cxnSpLocks noChangeShapeType="1"/>
            <a:stCxn id="395" idx="2"/>
            <a:endCxn id="400" idx="0"/>
          </p:cNvCxnSpPr>
          <p:nvPr/>
        </p:nvCxnSpPr>
        <p:spPr bwMode="gray">
          <a:xfrm>
            <a:off x="3041476" y="3310351"/>
            <a:ext cx="1083" cy="256427"/>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3" name="TextBox 94"/>
          <p:cNvSpPr txBox="1">
            <a:spLocks noChangeArrowheads="1"/>
          </p:cNvSpPr>
          <p:nvPr/>
        </p:nvSpPr>
        <p:spPr bwMode="auto">
          <a:xfrm>
            <a:off x="931394" y="3021167"/>
            <a:ext cx="1726351" cy="587853"/>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rPr>
              <a:t>조회조건 </a:t>
            </a:r>
            <a:r>
              <a:rPr lang="en-US" altLang="ko-KR" sz="700" dirty="0" smtClean="0">
                <a:latin typeface="+mn-ea"/>
                <a:ea typeface="+mn-ea"/>
              </a:rPr>
              <a:t>: </a:t>
            </a:r>
            <a:r>
              <a:rPr lang="ko-KR" altLang="en-US" sz="700" dirty="0" err="1" smtClean="0">
                <a:latin typeface="+mn-ea"/>
                <a:ea typeface="+mn-ea"/>
              </a:rPr>
              <a:t>정산년월</a:t>
            </a:r>
            <a:r>
              <a:rPr lang="en-US" altLang="ko-KR" sz="700" dirty="0">
                <a:latin typeface="+mn-ea"/>
                <a:ea typeface="+mn-ea"/>
              </a:rPr>
              <a:t>, </a:t>
            </a:r>
            <a:r>
              <a:rPr lang="ko-KR" altLang="en-US" sz="700" dirty="0" smtClean="0">
                <a:latin typeface="+mn-ea"/>
                <a:ea typeface="+mn-ea"/>
              </a:rPr>
              <a:t>정산매장</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상위브랜드</a:t>
            </a:r>
            <a:r>
              <a:rPr lang="en-US" altLang="ko-KR" sz="700" dirty="0" smtClean="0">
                <a:latin typeface="+mn-ea"/>
                <a:ea typeface="+mn-ea"/>
              </a:rPr>
              <a:t>, MALL_ID</a:t>
            </a:r>
          </a:p>
          <a:p>
            <a:pPr>
              <a:spcBef>
                <a:spcPct val="20000"/>
              </a:spcBef>
              <a:buClr>
                <a:srgbClr val="003366"/>
              </a:buClr>
            </a:pPr>
            <a:r>
              <a:rPr lang="en-US" altLang="ko-KR" sz="700" dirty="0" smtClean="0">
                <a:latin typeface="+mn-ea"/>
                <a:ea typeface="+mn-ea"/>
              </a:rPr>
              <a:t>WORK_CLSBY </a:t>
            </a:r>
          </a:p>
          <a:p>
            <a:pPr marL="171450" indent="-171450">
              <a:spcBef>
                <a:spcPct val="20000"/>
              </a:spcBef>
              <a:buClr>
                <a:srgbClr val="003366"/>
              </a:buClr>
              <a:buFont typeface="Wingdings" panose="05000000000000000000" pitchFamily="2" charset="2"/>
              <a:buChar char="è"/>
            </a:pPr>
            <a:r>
              <a:rPr lang="en-US" altLang="ko-KR" sz="700" dirty="0" smtClean="0">
                <a:latin typeface="+mn-ea"/>
                <a:ea typeface="+mn-ea"/>
                <a:sym typeface="Wingdings" panose="05000000000000000000" pitchFamily="2" charset="2"/>
              </a:rPr>
              <a:t>C59705(</a:t>
            </a:r>
            <a:r>
              <a:rPr lang="ko-KR" altLang="en-US" sz="700" dirty="0" err="1" smtClean="0">
                <a:latin typeface="+mn-ea"/>
                <a:ea typeface="+mn-ea"/>
              </a:rPr>
              <a:t>미정산주문판매</a:t>
            </a:r>
            <a:r>
              <a:rPr lang="en-US" altLang="ko-KR" sz="700" dirty="0" smtClean="0">
                <a:latin typeface="+mn-ea"/>
                <a:ea typeface="+mn-ea"/>
              </a:rPr>
              <a:t>)</a:t>
            </a:r>
            <a:endParaRPr lang="ko-KR" altLang="en-US" sz="700" dirty="0">
              <a:latin typeface="+mn-ea"/>
              <a:ea typeface="+mn-ea"/>
            </a:endParaRPr>
          </a:p>
        </p:txBody>
      </p:sp>
      <p:cxnSp>
        <p:nvCxnSpPr>
          <p:cNvPr id="404" name="AutoShape 67"/>
          <p:cNvCxnSpPr>
            <a:cxnSpLocks noChangeShapeType="1"/>
            <a:stCxn id="400" idx="3"/>
            <a:endCxn id="169" idx="4"/>
          </p:cNvCxnSpPr>
          <p:nvPr/>
        </p:nvCxnSpPr>
        <p:spPr bwMode="gray">
          <a:xfrm flipV="1">
            <a:off x="3603933" y="2736298"/>
            <a:ext cx="940427" cy="1067811"/>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5" name="Text Box 82"/>
          <p:cNvSpPr txBox="1">
            <a:spLocks noChangeArrowheads="1"/>
          </p:cNvSpPr>
          <p:nvPr/>
        </p:nvSpPr>
        <p:spPr bwMode="gray">
          <a:xfrm>
            <a:off x="3366087" y="3562583"/>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407" name="AutoShape 67"/>
          <p:cNvCxnSpPr>
            <a:cxnSpLocks noChangeShapeType="1"/>
            <a:stCxn id="400" idx="2"/>
            <a:endCxn id="417" idx="0"/>
          </p:cNvCxnSpPr>
          <p:nvPr/>
        </p:nvCxnSpPr>
        <p:spPr bwMode="gray">
          <a:xfrm>
            <a:off x="3042559" y="4041440"/>
            <a:ext cx="318" cy="597365"/>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8" name="Text Box 82"/>
          <p:cNvSpPr txBox="1">
            <a:spLocks noChangeArrowheads="1"/>
          </p:cNvSpPr>
          <p:nvPr/>
        </p:nvSpPr>
        <p:spPr bwMode="gray">
          <a:xfrm>
            <a:off x="3017785" y="4003083"/>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417" name="Rectangle 49"/>
          <p:cNvSpPr>
            <a:spLocks noChangeArrowheads="1"/>
          </p:cNvSpPr>
          <p:nvPr/>
        </p:nvSpPr>
        <p:spPr bwMode="gray">
          <a:xfrm>
            <a:off x="2380095" y="4638805"/>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공급가계산</a:t>
            </a:r>
            <a:endParaRPr lang="ko-KR" altLang="en-US" sz="800" b="1" dirty="0">
              <a:latin typeface="+mn-ea"/>
              <a:ea typeface="+mn-ea"/>
            </a:endParaRPr>
          </a:p>
        </p:txBody>
      </p:sp>
      <p:sp>
        <p:nvSpPr>
          <p:cNvPr id="418" name="TextBox 94"/>
          <p:cNvSpPr txBox="1">
            <a:spLocks noChangeArrowheads="1"/>
          </p:cNvSpPr>
          <p:nvPr/>
        </p:nvSpPr>
        <p:spPr bwMode="auto">
          <a:xfrm>
            <a:off x="2344534" y="4876136"/>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SP_CAL_SALE_SPPR_MNG</a:t>
            </a:r>
            <a:endParaRPr lang="ko-KR" altLang="en-US" sz="800" b="1" dirty="0">
              <a:latin typeface="+mn-ea"/>
              <a:ea typeface="+mn-ea"/>
            </a:endParaRPr>
          </a:p>
        </p:txBody>
      </p:sp>
      <p:sp>
        <p:nvSpPr>
          <p:cNvPr id="420" name="Oval 108"/>
          <p:cNvSpPr>
            <a:spLocks noChangeArrowheads="1"/>
          </p:cNvSpPr>
          <p:nvPr/>
        </p:nvSpPr>
        <p:spPr bwMode="gray">
          <a:xfrm>
            <a:off x="4055305" y="4869160"/>
            <a:ext cx="627665"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판매</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421" name="Text Box 121"/>
          <p:cNvSpPr txBox="1">
            <a:spLocks noChangeArrowheads="1"/>
          </p:cNvSpPr>
          <p:nvPr/>
        </p:nvSpPr>
        <p:spPr bwMode="gray">
          <a:xfrm>
            <a:off x="3905310" y="5239625"/>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pPr algn="ctr"/>
            <a:r>
              <a:rPr lang="en-US" altLang="ko-KR" sz="800" dirty="0" smtClean="0">
                <a:latin typeface="+mn-ea"/>
                <a:ea typeface="+mn-ea"/>
              </a:rPr>
              <a:t>SHOP_RNDS_ID</a:t>
            </a:r>
          </a:p>
          <a:p>
            <a:pPr algn="ctr"/>
            <a:r>
              <a:rPr lang="en-US" altLang="ko-KR" sz="800" dirty="0" smtClean="0">
                <a:latin typeface="+mn-ea"/>
                <a:ea typeface="+mn-ea"/>
              </a:rPr>
              <a:t>REG_NO</a:t>
            </a:r>
          </a:p>
        </p:txBody>
      </p:sp>
      <p:cxnSp>
        <p:nvCxnSpPr>
          <p:cNvPr id="423" name="AutoShape 67"/>
          <p:cNvCxnSpPr>
            <a:cxnSpLocks noChangeShapeType="1"/>
            <a:stCxn id="417" idx="3"/>
            <a:endCxn id="420" idx="2"/>
          </p:cNvCxnSpPr>
          <p:nvPr/>
        </p:nvCxnSpPr>
        <p:spPr bwMode="gray">
          <a:xfrm>
            <a:off x="3705658" y="4747618"/>
            <a:ext cx="349647" cy="297755"/>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4" name="AutoShape 86"/>
          <p:cNvSpPr>
            <a:spLocks noChangeArrowheads="1"/>
          </p:cNvSpPr>
          <p:nvPr/>
        </p:nvSpPr>
        <p:spPr bwMode="auto">
          <a:xfrm>
            <a:off x="5538065" y="37238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425" name="AutoShape 86"/>
          <p:cNvSpPr>
            <a:spLocks noChangeArrowheads="1"/>
          </p:cNvSpPr>
          <p:nvPr/>
        </p:nvSpPr>
        <p:spPr bwMode="auto">
          <a:xfrm>
            <a:off x="4727975" y="37238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a:t>
            </a:r>
            <a:endParaRPr lang="en-US" altLang="ko-KR" sz="600" b="1" dirty="0" smtClean="0">
              <a:latin typeface="+mn-ea"/>
              <a:ea typeface="+mn-ea"/>
            </a:endParaRPr>
          </a:p>
          <a:p>
            <a:pPr algn="ctr"/>
            <a:r>
              <a:rPr lang="en-US" altLang="ko-KR" sz="600" b="1" dirty="0" smtClean="0">
                <a:latin typeface="+mn-ea"/>
                <a:ea typeface="+mn-ea"/>
              </a:rPr>
              <a:t>T_SALE</a:t>
            </a:r>
            <a:endParaRPr lang="ko-KR" altLang="en-US" sz="600" b="1" dirty="0">
              <a:latin typeface="+mn-ea"/>
              <a:ea typeface="+mn-ea"/>
            </a:endParaRPr>
          </a:p>
        </p:txBody>
      </p:sp>
      <p:sp>
        <p:nvSpPr>
          <p:cNvPr id="427" name="AutoShape 86"/>
          <p:cNvSpPr>
            <a:spLocks noChangeArrowheads="1"/>
          </p:cNvSpPr>
          <p:nvPr/>
        </p:nvSpPr>
        <p:spPr bwMode="auto">
          <a:xfrm>
            <a:off x="6460289" y="378904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ea typeface="+mn-ea"/>
              </a:rPr>
              <a:t>온라인정산이력</a:t>
            </a:r>
            <a:endParaRPr lang="en-US" altLang="ko-KR" sz="600" b="1" dirty="0" smtClean="0">
              <a:latin typeface="+mn-ea"/>
              <a:ea typeface="+mn-ea"/>
            </a:endParaRPr>
          </a:p>
          <a:p>
            <a:pPr algn="ctr"/>
            <a:r>
              <a:rPr lang="en-US" altLang="ko-KR" sz="600" b="1" dirty="0">
                <a:latin typeface="+mn-ea"/>
                <a:ea typeface="+mn-ea"/>
              </a:rPr>
              <a:t>T_ONLINE_STLM_PRCS_BASE</a:t>
            </a:r>
            <a:endParaRPr lang="ko-KR" altLang="en-US" sz="600" b="1" dirty="0">
              <a:latin typeface="+mn-ea"/>
              <a:ea typeface="+mn-ea"/>
            </a:endParaRPr>
          </a:p>
        </p:txBody>
      </p:sp>
      <p:cxnSp>
        <p:nvCxnSpPr>
          <p:cNvPr id="428" name="AutoShape 67"/>
          <p:cNvCxnSpPr>
            <a:cxnSpLocks noChangeShapeType="1"/>
            <a:stCxn id="420" idx="0"/>
            <a:endCxn id="424" idx="3"/>
          </p:cNvCxnSpPr>
          <p:nvPr/>
        </p:nvCxnSpPr>
        <p:spPr bwMode="gray">
          <a:xfrm rot="5400000" flipH="1" flipV="1">
            <a:off x="4766507" y="3814233"/>
            <a:ext cx="657559" cy="1452296"/>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0" name="AutoShape 67"/>
          <p:cNvCxnSpPr>
            <a:cxnSpLocks noChangeShapeType="1"/>
            <a:stCxn id="420" idx="0"/>
            <a:endCxn id="425" idx="3"/>
          </p:cNvCxnSpPr>
          <p:nvPr/>
        </p:nvCxnSpPr>
        <p:spPr bwMode="gray">
          <a:xfrm rot="5400000" flipH="1" flipV="1">
            <a:off x="4361462" y="4219278"/>
            <a:ext cx="657559" cy="642206"/>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4" name="AutoShape 67"/>
          <p:cNvCxnSpPr>
            <a:cxnSpLocks noChangeShapeType="1"/>
            <a:stCxn id="420" idx="6"/>
            <a:endCxn id="427" idx="3"/>
          </p:cNvCxnSpPr>
          <p:nvPr/>
        </p:nvCxnSpPr>
        <p:spPr bwMode="gray">
          <a:xfrm flipV="1">
            <a:off x="4682970" y="4276798"/>
            <a:ext cx="2060688" cy="768575"/>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7" name="Rectangle 49"/>
          <p:cNvSpPr>
            <a:spLocks noChangeArrowheads="1"/>
          </p:cNvSpPr>
          <p:nvPr/>
        </p:nvSpPr>
        <p:spPr bwMode="gray">
          <a:xfrm>
            <a:off x="6285638" y="5499230"/>
            <a:ext cx="91135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판매수불</a:t>
            </a:r>
            <a:r>
              <a:rPr lang="en-US" altLang="ko-KR" sz="800" b="1" dirty="0" smtClean="0">
                <a:latin typeface="+mn-ea"/>
                <a:ea typeface="+mn-ea"/>
              </a:rPr>
              <a:t>ID</a:t>
            </a:r>
            <a:r>
              <a:rPr lang="ko-KR" altLang="en-US" sz="800" b="1" dirty="0" smtClean="0">
                <a:latin typeface="+mn-ea"/>
                <a:ea typeface="+mn-ea"/>
              </a:rPr>
              <a:t>갱신</a:t>
            </a:r>
            <a:endParaRPr lang="ko-KR" altLang="en-US" sz="800" b="1" dirty="0">
              <a:latin typeface="+mn-ea"/>
              <a:ea typeface="+mn-ea"/>
            </a:endParaRPr>
          </a:p>
        </p:txBody>
      </p:sp>
      <p:cxnSp>
        <p:nvCxnSpPr>
          <p:cNvPr id="438" name="AutoShape 67"/>
          <p:cNvCxnSpPr>
            <a:cxnSpLocks noChangeShapeType="1"/>
            <a:stCxn id="420" idx="6"/>
            <a:endCxn id="437" idx="0"/>
          </p:cNvCxnSpPr>
          <p:nvPr/>
        </p:nvCxnSpPr>
        <p:spPr bwMode="gray">
          <a:xfrm>
            <a:off x="4682970" y="5045373"/>
            <a:ext cx="2058346" cy="453857"/>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3" name="AutoShape 86"/>
          <p:cNvSpPr>
            <a:spLocks noChangeArrowheads="1"/>
          </p:cNvSpPr>
          <p:nvPr/>
        </p:nvSpPr>
        <p:spPr bwMode="auto">
          <a:xfrm>
            <a:off x="5088015" y="545422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cxnSp>
        <p:nvCxnSpPr>
          <p:cNvPr id="444" name="AutoShape 67"/>
          <p:cNvCxnSpPr>
            <a:cxnSpLocks noChangeShapeType="1"/>
            <a:stCxn id="437" idx="1"/>
            <a:endCxn id="443" idx="4"/>
          </p:cNvCxnSpPr>
          <p:nvPr/>
        </p:nvCxnSpPr>
        <p:spPr bwMode="gray">
          <a:xfrm rot="10800000" flipV="1">
            <a:off x="5654754" y="5608042"/>
            <a:ext cx="630885" cy="90061"/>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0" name="TextBox 94"/>
          <p:cNvSpPr txBox="1">
            <a:spLocks noChangeArrowheads="1"/>
          </p:cNvSpPr>
          <p:nvPr/>
        </p:nvSpPr>
        <p:spPr bwMode="auto">
          <a:xfrm>
            <a:off x="6206103" y="5724255"/>
            <a:ext cx="1177167" cy="458587"/>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700" dirty="0" smtClean="0">
                <a:latin typeface="+mn-ea"/>
                <a:ea typeface="+mn-ea"/>
              </a:rPr>
              <a:t>STLM_SALE_RNDS_ID</a:t>
            </a:r>
          </a:p>
          <a:p>
            <a:pPr>
              <a:spcBef>
                <a:spcPct val="20000"/>
              </a:spcBef>
              <a:buClr>
                <a:srgbClr val="003366"/>
              </a:buClr>
            </a:pPr>
            <a:r>
              <a:rPr lang="en-US" altLang="ko-KR" sz="700" dirty="0" smtClean="0">
                <a:latin typeface="+mn-ea"/>
                <a:ea typeface="+mn-ea"/>
              </a:rPr>
              <a:t>STLM_PRCS_YN </a:t>
            </a:r>
            <a:r>
              <a:rPr lang="en-US" altLang="ko-KR" sz="700" dirty="0" smtClean="0">
                <a:latin typeface="+mn-ea"/>
                <a:ea typeface="+mn-ea"/>
                <a:sym typeface="Wingdings" panose="05000000000000000000" pitchFamily="2" charset="2"/>
              </a:rPr>
              <a:t></a:t>
            </a:r>
            <a:r>
              <a:rPr lang="en-US" altLang="ko-KR" sz="700" dirty="0" smtClean="0">
                <a:latin typeface="+mn-ea"/>
                <a:ea typeface="+mn-ea"/>
              </a:rPr>
              <a:t> Y</a:t>
            </a:r>
          </a:p>
          <a:p>
            <a:pPr>
              <a:spcBef>
                <a:spcPct val="20000"/>
              </a:spcBef>
              <a:buClr>
                <a:srgbClr val="003366"/>
              </a:buClr>
            </a:pPr>
            <a:r>
              <a:rPr lang="en-US" altLang="ko-KR" sz="700" dirty="0" smtClean="0">
                <a:latin typeface="+mn-ea"/>
                <a:ea typeface="+mn-ea"/>
              </a:rPr>
              <a:t>END_YN </a:t>
            </a:r>
            <a:r>
              <a:rPr lang="en-US" altLang="ko-KR" sz="700" dirty="0" smtClean="0">
                <a:latin typeface="+mn-ea"/>
                <a:ea typeface="+mn-ea"/>
                <a:sym typeface="Wingdings" panose="05000000000000000000" pitchFamily="2" charset="2"/>
              </a:rPr>
              <a:t></a:t>
            </a:r>
            <a:r>
              <a:rPr lang="en-US" altLang="ko-KR" sz="700" dirty="0" smtClean="0">
                <a:latin typeface="+mn-ea"/>
                <a:ea typeface="+mn-ea"/>
              </a:rPr>
              <a:t> N</a:t>
            </a:r>
            <a:endParaRPr lang="ko-KR" altLang="en-US" sz="700" dirty="0">
              <a:latin typeface="+mn-ea"/>
              <a:ea typeface="+mn-ea"/>
            </a:endParaRPr>
          </a:p>
        </p:txBody>
      </p:sp>
      <p:sp>
        <p:nvSpPr>
          <p:cNvPr id="458" name="AutoShape 86"/>
          <p:cNvSpPr>
            <a:spLocks noChangeArrowheads="1"/>
          </p:cNvSpPr>
          <p:nvPr/>
        </p:nvSpPr>
        <p:spPr bwMode="auto">
          <a:xfrm>
            <a:off x="664579" y="3921151"/>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cxnSp>
        <p:nvCxnSpPr>
          <p:cNvPr id="459" name="AutoShape 67"/>
          <p:cNvCxnSpPr>
            <a:cxnSpLocks noChangeShapeType="1"/>
          </p:cNvCxnSpPr>
          <p:nvPr/>
        </p:nvCxnSpPr>
        <p:spPr bwMode="gray">
          <a:xfrm>
            <a:off x="1557946" y="4173603"/>
            <a:ext cx="1484613"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4" name="TextBox 94"/>
          <p:cNvSpPr txBox="1">
            <a:spLocks noChangeArrowheads="1"/>
          </p:cNvSpPr>
          <p:nvPr/>
        </p:nvSpPr>
        <p:spPr bwMode="auto">
          <a:xfrm>
            <a:off x="1547115" y="3969060"/>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466" name="직사각형 465"/>
          <p:cNvSpPr/>
          <p:nvPr/>
        </p:nvSpPr>
        <p:spPr>
          <a:xfrm>
            <a:off x="4960038" y="1645887"/>
            <a:ext cx="1896511" cy="1039891"/>
          </a:xfrm>
          <a:prstGeom prst="rect">
            <a:avLst/>
          </a:prstGeom>
          <a:solidFill>
            <a:schemeClr val="accent1">
              <a:lumMod val="20000"/>
              <a:lumOff val="8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1200" b="1" kern="0" dirty="0" smtClean="0">
              <a:solidFill>
                <a:schemeClr val="bg1"/>
              </a:solidFill>
              <a:latin typeface="+mn-ea"/>
              <a:ea typeface="+mn-ea"/>
            </a:endParaRPr>
          </a:p>
        </p:txBody>
      </p:sp>
      <p:sp>
        <p:nvSpPr>
          <p:cNvPr id="467" name="AutoShape 86"/>
          <p:cNvSpPr>
            <a:spLocks noChangeArrowheads="1"/>
          </p:cNvSpPr>
          <p:nvPr/>
        </p:nvSpPr>
        <p:spPr bwMode="auto">
          <a:xfrm>
            <a:off x="5141443"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매장재고</a:t>
            </a:r>
            <a:endParaRPr lang="en-US" altLang="ko-KR" sz="600" b="1" dirty="0" smtClean="0">
              <a:latin typeface="+mn-ea"/>
              <a:ea typeface="+mn-ea"/>
            </a:endParaRPr>
          </a:p>
          <a:p>
            <a:pPr algn="ctr"/>
            <a:r>
              <a:rPr lang="en-US" altLang="ko-KR" sz="600" b="1" dirty="0" smtClean="0">
                <a:latin typeface="+mn-ea"/>
                <a:ea typeface="+mn-ea"/>
              </a:rPr>
              <a:t>T_SHOP_STOCK</a:t>
            </a:r>
            <a:endParaRPr lang="ko-KR" altLang="en-US" sz="600" b="1" dirty="0">
              <a:latin typeface="+mn-ea"/>
              <a:ea typeface="+mn-ea"/>
            </a:endParaRPr>
          </a:p>
        </p:txBody>
      </p:sp>
      <p:sp>
        <p:nvSpPr>
          <p:cNvPr id="468" name="AutoShape 86"/>
          <p:cNvSpPr>
            <a:spLocks noChangeArrowheads="1"/>
          </p:cNvSpPr>
          <p:nvPr/>
        </p:nvSpPr>
        <p:spPr bwMode="auto">
          <a:xfrm>
            <a:off x="6132628"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제품월수불</a:t>
            </a:r>
            <a:endParaRPr lang="en-US" altLang="ko-KR" sz="600" b="1" dirty="0" smtClean="0">
              <a:latin typeface="+mn-ea"/>
              <a:ea typeface="+mn-ea"/>
            </a:endParaRPr>
          </a:p>
          <a:p>
            <a:pPr algn="ctr"/>
            <a:r>
              <a:rPr lang="en-US" altLang="ko-KR" sz="600" b="1" dirty="0" smtClean="0">
                <a:latin typeface="+mn-ea"/>
                <a:ea typeface="+mn-ea"/>
              </a:rPr>
              <a:t>T_M_RNDS</a:t>
            </a:r>
            <a:endParaRPr lang="ko-KR" altLang="en-US" sz="600" b="1" dirty="0">
              <a:latin typeface="+mn-ea"/>
              <a:ea typeface="+mn-ea"/>
            </a:endParaRPr>
          </a:p>
        </p:txBody>
      </p:sp>
      <p:sp>
        <p:nvSpPr>
          <p:cNvPr id="469" name="TextBox 94"/>
          <p:cNvSpPr txBox="1">
            <a:spLocks noChangeArrowheads="1"/>
          </p:cNvSpPr>
          <p:nvPr/>
        </p:nvSpPr>
        <p:spPr bwMode="auto">
          <a:xfrm>
            <a:off x="5219799" y="1746821"/>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b="1" dirty="0" smtClean="0">
                <a:latin typeface="+mn-ea"/>
                <a:ea typeface="+mn-ea"/>
              </a:rPr>
              <a:t>패션</a:t>
            </a:r>
            <a:r>
              <a:rPr lang="en-US" altLang="ko-KR" sz="800" b="1" dirty="0" smtClean="0">
                <a:latin typeface="+mn-ea"/>
                <a:ea typeface="+mn-ea"/>
              </a:rPr>
              <a:t>ERP </a:t>
            </a:r>
            <a:r>
              <a:rPr lang="ko-KR" altLang="en-US" sz="800" b="1" dirty="0" smtClean="0">
                <a:latin typeface="+mn-ea"/>
                <a:ea typeface="+mn-ea"/>
              </a:rPr>
              <a:t>야간배치 갱신</a:t>
            </a:r>
            <a:endParaRPr lang="ko-KR" altLang="en-US" sz="800" b="1" dirty="0">
              <a:latin typeface="+mn-ea"/>
              <a:ea typeface="+mn-ea"/>
            </a:endParaRPr>
          </a:p>
        </p:txBody>
      </p:sp>
      <p:cxnSp>
        <p:nvCxnSpPr>
          <p:cNvPr id="470" name="AutoShape 67"/>
          <p:cNvCxnSpPr>
            <a:cxnSpLocks noChangeShapeType="1"/>
            <a:stCxn id="424" idx="1"/>
            <a:endCxn id="468" idx="3"/>
          </p:cNvCxnSpPr>
          <p:nvPr/>
        </p:nvCxnSpPr>
        <p:spPr bwMode="gray">
          <a:xfrm rot="5400000" flipH="1" flipV="1">
            <a:off x="5517595" y="2825442"/>
            <a:ext cx="1202240" cy="594563"/>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3" name="AutoShape 67"/>
          <p:cNvCxnSpPr>
            <a:cxnSpLocks noChangeShapeType="1"/>
            <a:stCxn id="424" idx="1"/>
            <a:endCxn id="467" idx="3"/>
          </p:cNvCxnSpPr>
          <p:nvPr/>
        </p:nvCxnSpPr>
        <p:spPr bwMode="gray">
          <a:xfrm rot="16200000" flipV="1">
            <a:off x="5022003" y="2924412"/>
            <a:ext cx="1202240" cy="396622"/>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7" name="TextBox 94"/>
          <p:cNvSpPr txBox="1">
            <a:spLocks noChangeArrowheads="1"/>
          </p:cNvSpPr>
          <p:nvPr/>
        </p:nvSpPr>
        <p:spPr bwMode="auto">
          <a:xfrm>
            <a:off x="244376" y="3135864"/>
            <a:ext cx="710120"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sym typeface="Wingdings" panose="05000000000000000000" pitchFamily="2" charset="2"/>
              </a:rPr>
              <a:t>엑셀업로드</a:t>
            </a:r>
            <a:endParaRPr lang="en-US" altLang="ko-KR" sz="800" dirty="0" smtClean="0">
              <a:latin typeface="+mn-ea"/>
              <a:ea typeface="+mn-ea"/>
              <a:sym typeface="Wingdings" panose="05000000000000000000" pitchFamily="2" charset="2"/>
            </a:endParaRPr>
          </a:p>
        </p:txBody>
      </p:sp>
      <p:cxnSp>
        <p:nvCxnSpPr>
          <p:cNvPr id="478" name="AutoShape 67"/>
          <p:cNvCxnSpPr>
            <a:cxnSpLocks noChangeShapeType="1"/>
            <a:stCxn id="477" idx="0"/>
            <a:endCxn id="390" idx="3"/>
          </p:cNvCxnSpPr>
          <p:nvPr/>
        </p:nvCxnSpPr>
        <p:spPr bwMode="gray">
          <a:xfrm flipV="1">
            <a:off x="599436" y="2773428"/>
            <a:ext cx="1418" cy="362436"/>
          </a:xfrm>
          <a:prstGeom prst="straightConnector1">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AutoShape 86"/>
          <p:cNvSpPr>
            <a:spLocks noChangeArrowheads="1"/>
          </p:cNvSpPr>
          <p:nvPr/>
        </p:nvSpPr>
        <p:spPr bwMode="auto">
          <a:xfrm>
            <a:off x="656916" y="4460289"/>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83" name="TextBox 94"/>
          <p:cNvSpPr txBox="1">
            <a:spLocks noChangeArrowheads="1"/>
          </p:cNvSpPr>
          <p:nvPr/>
        </p:nvSpPr>
        <p:spPr bwMode="auto">
          <a:xfrm>
            <a:off x="286881" y="5058359"/>
            <a:ext cx="1438844" cy="71711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rPr>
              <a:t>검색항목 </a:t>
            </a:r>
            <a:r>
              <a:rPr lang="en-US" altLang="ko-KR" sz="700" dirty="0" smtClean="0">
                <a:latin typeface="+mn-ea"/>
                <a:ea typeface="+mn-ea"/>
              </a:rPr>
              <a:t>: </a:t>
            </a:r>
            <a:r>
              <a:rPr lang="ko-KR" altLang="en-US" sz="700" dirty="0" smtClean="0">
                <a:latin typeface="+mn-ea"/>
                <a:ea typeface="+mn-ea"/>
              </a:rPr>
              <a:t>온라인정산일련번호</a:t>
            </a:r>
            <a:endParaRPr lang="en-US" altLang="ko-KR" sz="700" dirty="0" smtClean="0">
              <a:latin typeface="+mn-ea"/>
              <a:ea typeface="+mn-ea"/>
            </a:endParaRPr>
          </a:p>
          <a:p>
            <a:pPr>
              <a:spcBef>
                <a:spcPct val="20000"/>
              </a:spcBef>
              <a:buClr>
                <a:srgbClr val="003366"/>
              </a:buClr>
            </a:pPr>
            <a:r>
              <a:rPr lang="ko-KR" altLang="en-US" sz="700" dirty="0" err="1">
                <a:latin typeface="+mn-ea"/>
                <a:ea typeface="+mn-ea"/>
              </a:rPr>
              <a:t>실</a:t>
            </a:r>
            <a:r>
              <a:rPr lang="ko-KR" altLang="en-US" sz="700" dirty="0" err="1" smtClean="0">
                <a:latin typeface="+mn-ea"/>
                <a:ea typeface="+mn-ea"/>
              </a:rPr>
              <a:t>판매금액</a:t>
            </a:r>
            <a:r>
              <a:rPr lang="en-US" altLang="ko-KR" sz="700" dirty="0" smtClean="0">
                <a:latin typeface="+mn-ea"/>
                <a:ea typeface="+mn-ea"/>
              </a:rPr>
              <a:t>, </a:t>
            </a:r>
            <a:r>
              <a:rPr lang="ko-KR" altLang="en-US" sz="700" dirty="0" smtClean="0">
                <a:latin typeface="+mn-ea"/>
                <a:ea typeface="+mn-ea"/>
              </a:rPr>
              <a:t>제품코드</a:t>
            </a:r>
            <a:r>
              <a:rPr lang="en-US" altLang="ko-KR" sz="700" dirty="0" smtClean="0">
                <a:latin typeface="+mn-ea"/>
                <a:ea typeface="+mn-ea"/>
              </a:rPr>
              <a:t>, </a:t>
            </a:r>
            <a:r>
              <a:rPr lang="ko-KR" altLang="en-US" sz="700" dirty="0" smtClean="0">
                <a:latin typeface="+mn-ea"/>
                <a:ea typeface="+mn-ea"/>
              </a:rPr>
              <a:t>칼라</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사이즈</a:t>
            </a:r>
            <a:r>
              <a:rPr lang="en-US" altLang="ko-KR" sz="700" dirty="0" smtClean="0">
                <a:latin typeface="+mn-ea"/>
                <a:ea typeface="+mn-ea"/>
              </a:rPr>
              <a:t>, </a:t>
            </a:r>
            <a:r>
              <a:rPr lang="ko-KR" altLang="en-US" sz="700" dirty="0" smtClean="0">
                <a:latin typeface="+mn-ea"/>
                <a:ea typeface="+mn-ea"/>
              </a:rPr>
              <a:t>수량</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조회 조건 </a:t>
            </a:r>
            <a:r>
              <a:rPr lang="en-US" altLang="ko-KR" sz="700" dirty="0" smtClean="0">
                <a:latin typeface="+mn-ea"/>
                <a:ea typeface="+mn-ea"/>
              </a:rPr>
              <a:t>: </a:t>
            </a:r>
            <a:r>
              <a:rPr lang="ko-KR" altLang="en-US" sz="700" dirty="0" smtClean="0">
                <a:latin typeface="+mn-ea"/>
                <a:ea typeface="+mn-ea"/>
              </a:rPr>
              <a:t>정산여부 </a:t>
            </a:r>
            <a:r>
              <a:rPr lang="en-US" altLang="ko-KR" sz="700" dirty="0" smtClean="0">
                <a:latin typeface="+mn-ea"/>
                <a:ea typeface="+mn-ea"/>
                <a:sym typeface="Wingdings" panose="05000000000000000000" pitchFamily="2" charset="2"/>
              </a:rPr>
              <a:t> N</a:t>
            </a:r>
          </a:p>
          <a:p>
            <a:pPr>
              <a:spcBef>
                <a:spcPct val="20000"/>
              </a:spcBef>
              <a:buClr>
                <a:srgbClr val="003366"/>
              </a:buClr>
            </a:pPr>
            <a:r>
              <a:rPr lang="en-US" altLang="ko-KR" sz="700" dirty="0" smtClean="0">
                <a:latin typeface="+mn-ea"/>
                <a:ea typeface="+mn-ea"/>
              </a:rPr>
              <a:t>STLM_PRCS_YN  </a:t>
            </a:r>
            <a:r>
              <a:rPr lang="en-US" altLang="ko-KR" sz="700" dirty="0" smtClean="0">
                <a:latin typeface="+mn-ea"/>
                <a:ea typeface="+mn-ea"/>
                <a:sym typeface="Wingdings" panose="05000000000000000000" pitchFamily="2" charset="2"/>
              </a:rPr>
              <a:t> N</a:t>
            </a:r>
            <a:endParaRPr lang="ko-KR" altLang="en-US" sz="700" dirty="0">
              <a:latin typeface="+mn-ea"/>
              <a:ea typeface="+mn-ea"/>
            </a:endParaRPr>
          </a:p>
        </p:txBody>
      </p:sp>
      <p:sp>
        <p:nvSpPr>
          <p:cNvPr id="68" name="TextBox 94"/>
          <p:cNvSpPr txBox="1">
            <a:spLocks noChangeArrowheads="1"/>
          </p:cNvSpPr>
          <p:nvPr/>
        </p:nvSpPr>
        <p:spPr bwMode="auto">
          <a:xfrm>
            <a:off x="5984590" y="4374105"/>
            <a:ext cx="1443685" cy="415498"/>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a:latin typeface="+mn-ea"/>
                <a:ea typeface="+mn-ea"/>
              </a:rPr>
              <a:t>정산 처리 유형 </a:t>
            </a:r>
            <a:r>
              <a:rPr lang="en-US" altLang="ko-KR" sz="700" dirty="0">
                <a:latin typeface="+mn-ea"/>
                <a:ea typeface="+mn-ea"/>
              </a:rPr>
              <a:t>/ </a:t>
            </a:r>
            <a:r>
              <a:rPr lang="ko-KR" altLang="en-US" sz="700" dirty="0">
                <a:latin typeface="+mn-ea"/>
                <a:ea typeface="+mn-ea"/>
              </a:rPr>
              <a:t>정산 완료 여부 </a:t>
            </a:r>
            <a:r>
              <a:rPr lang="en-US" altLang="ko-KR" sz="700" dirty="0">
                <a:latin typeface="+mn-ea"/>
                <a:ea typeface="+mn-ea"/>
              </a:rPr>
              <a:t>/ </a:t>
            </a:r>
            <a:r>
              <a:rPr lang="ko-KR" altLang="en-US" sz="700" dirty="0">
                <a:latin typeface="+mn-ea"/>
                <a:ea typeface="+mn-ea"/>
              </a:rPr>
              <a:t>정산으로 발생한 수불번호 등 처리 </a:t>
            </a:r>
            <a:r>
              <a:rPr lang="ko-KR" altLang="en-US" sz="700" dirty="0" smtClean="0">
                <a:latin typeface="+mn-ea"/>
                <a:ea typeface="+mn-ea"/>
              </a:rPr>
              <a:t>이력 관리</a:t>
            </a:r>
            <a:endParaRPr lang="ko-KR" altLang="en-US" sz="700" dirty="0">
              <a:latin typeface="+mn-ea"/>
              <a:ea typeface="+mn-ea"/>
            </a:endParaRPr>
          </a:p>
        </p:txBody>
      </p:sp>
    </p:spTree>
    <p:extLst>
      <p:ext uri="{BB962C8B-B14F-4D97-AF65-F5344CB8AC3E}">
        <p14:creationId xmlns:p14="http://schemas.microsoft.com/office/powerpoint/2010/main" val="27557690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2"/>
          <p:cNvSpPr>
            <a:spLocks noChangeArrowheads="1"/>
          </p:cNvSpPr>
          <p:nvPr/>
        </p:nvSpPr>
        <p:spPr bwMode="gray">
          <a:xfrm>
            <a:off x="301032" y="5172581"/>
            <a:ext cx="2580172" cy="949686"/>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a:latin typeface="+mn-ea"/>
              <a:ea typeface="+mn-ea"/>
            </a:endParaRPr>
          </a:p>
        </p:txBody>
      </p:sp>
      <p:sp>
        <p:nvSpPr>
          <p:cNvPr id="396" name="Rectangle 2"/>
          <p:cNvSpPr>
            <a:spLocks noChangeArrowheads="1"/>
          </p:cNvSpPr>
          <p:nvPr/>
        </p:nvSpPr>
        <p:spPr bwMode="gray">
          <a:xfrm>
            <a:off x="272480" y="2195660"/>
            <a:ext cx="1627989" cy="657751"/>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a:latin typeface="+mn-ea"/>
              <a:ea typeface="+mn-ea"/>
            </a:endParaRPr>
          </a:p>
        </p:txBody>
      </p:sp>
      <p:sp>
        <p:nvSpPr>
          <p:cNvPr id="11" name="제목 10"/>
          <p:cNvSpPr>
            <a:spLocks noGrp="1"/>
          </p:cNvSpPr>
          <p:nvPr>
            <p:ph type="title"/>
          </p:nvPr>
        </p:nvSpPr>
        <p:spPr/>
        <p:txBody>
          <a:bodyPr/>
          <a:lstStyle/>
          <a:p>
            <a:r>
              <a:rPr lang="en-US" altLang="ko-KR" dirty="0">
                <a:latin typeface="+mn-ea"/>
                <a:ea typeface="+mn-ea"/>
              </a:rPr>
              <a:t>6</a:t>
            </a:r>
            <a:r>
              <a:rPr lang="en-US" altLang="ko-KR" dirty="0" smtClean="0">
                <a:latin typeface="+mn-ea"/>
                <a:ea typeface="+mn-ea"/>
              </a:rPr>
              <a:t>. </a:t>
            </a:r>
            <a:r>
              <a:rPr lang="ko-KR" altLang="en-US" dirty="0" smtClean="0">
                <a:latin typeface="+mn-ea"/>
                <a:ea typeface="+mn-ea"/>
              </a:rPr>
              <a:t>외부 몰 정산</a:t>
            </a:r>
            <a:endParaRPr lang="ko-KR" altLang="en-US" sz="1400" dirty="0">
              <a:latin typeface="+mn-ea"/>
              <a:ea typeface="+mn-ea"/>
            </a:endParaRPr>
          </a:p>
        </p:txBody>
      </p:sp>
      <p:sp>
        <p:nvSpPr>
          <p:cNvPr id="42" name="TextBox 39"/>
          <p:cNvSpPr txBox="1">
            <a:spLocks noChangeArrowheads="1"/>
          </p:cNvSpPr>
          <p:nvPr/>
        </p:nvSpPr>
        <p:spPr bwMode="auto">
          <a:xfrm>
            <a:off x="218855" y="738114"/>
            <a:ext cx="9594685" cy="304699"/>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a:latin typeface="+mn-ea"/>
                <a:ea typeface="+mn-ea"/>
              </a:rPr>
              <a:t> </a:t>
            </a:r>
            <a:r>
              <a:rPr kumimoji="0" lang="ko-KR" altLang="en-US" sz="1200" b="1" dirty="0">
                <a:solidFill>
                  <a:prstClr val="black"/>
                </a:solidFill>
                <a:latin typeface="+mn-ea"/>
                <a:ea typeface="+mn-ea"/>
              </a:rPr>
              <a:t>외부 몰 판매에 대한 정산 처리</a:t>
            </a:r>
            <a:r>
              <a:rPr kumimoji="0" lang="en-US" altLang="ko-KR" sz="1200" b="1" dirty="0">
                <a:solidFill>
                  <a:prstClr val="black"/>
                </a:solidFill>
                <a:latin typeface="+mn-ea"/>
                <a:ea typeface="+mn-ea"/>
              </a:rPr>
              <a:t>. </a:t>
            </a:r>
            <a:r>
              <a:rPr kumimoji="0" lang="ko-KR" altLang="en-US" sz="1200" b="1" dirty="0">
                <a:solidFill>
                  <a:prstClr val="black"/>
                </a:solidFill>
                <a:latin typeface="+mn-ea"/>
                <a:ea typeface="+mn-ea"/>
              </a:rPr>
              <a:t>외부 몰 정산 </a:t>
            </a:r>
            <a:r>
              <a:rPr kumimoji="0" lang="en-US" altLang="ko-KR" sz="1200" b="1" dirty="0">
                <a:solidFill>
                  <a:prstClr val="black"/>
                </a:solidFill>
                <a:latin typeface="+mn-ea"/>
                <a:ea typeface="+mn-ea"/>
              </a:rPr>
              <a:t>LIST </a:t>
            </a:r>
            <a:r>
              <a:rPr kumimoji="0" lang="ko-KR" altLang="en-US" sz="1200" b="1" dirty="0">
                <a:solidFill>
                  <a:prstClr val="black"/>
                </a:solidFill>
                <a:latin typeface="+mn-ea"/>
                <a:ea typeface="+mn-ea"/>
              </a:rPr>
              <a:t>수취 후 외부 몰 정산 수행</a:t>
            </a:r>
            <a:r>
              <a:rPr kumimoji="0" lang="en-US" altLang="ko-KR" sz="1200" b="1" dirty="0">
                <a:solidFill>
                  <a:prstClr val="black"/>
                </a:solidFill>
                <a:latin typeface="+mn-ea"/>
                <a:ea typeface="+mn-ea"/>
              </a:rPr>
              <a:t>.</a:t>
            </a:r>
            <a:r>
              <a:rPr kumimoji="0" lang="ko-KR" altLang="en-US" sz="1200" b="1" dirty="0" smtClean="0">
                <a:latin typeface="+mn-ea"/>
                <a:ea typeface="+mn-ea"/>
              </a:rPr>
              <a:t> </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mn-ea"/>
                <a:ea typeface="+mn-ea"/>
              </a:endParaRPr>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vl="0" eaLnBrk="0" latinLnBrk="0" hangingPunct="0">
                <a:lnSpc>
                  <a:spcPct val="140000"/>
                </a:lnSpc>
                <a:buClr>
                  <a:srgbClr val="1F497D"/>
                </a:buClr>
                <a:buSzPct val="75000"/>
                <a:buFont typeface="Wingdings" panose="05000000000000000000" pitchFamily="2" charset="2"/>
                <a:buChar char="u"/>
              </a:pPr>
              <a:r>
                <a:rPr kumimoji="0" lang="ko-KR" altLang="en-US" sz="900" b="1" dirty="0" smtClean="0">
                  <a:solidFill>
                    <a:prstClr val="black"/>
                  </a:solidFill>
                  <a:latin typeface="+mn-ea"/>
                  <a:ea typeface="+mn-ea"/>
                </a:rPr>
                <a:t> 정의</a:t>
              </a:r>
              <a:endParaRPr kumimoji="0" lang="ko-KR" altLang="en-US" sz="900" b="1" dirty="0">
                <a:solidFill>
                  <a:prstClr val="black"/>
                </a:solidFill>
                <a:latin typeface="+mn-ea"/>
                <a:ea typeface="+mn-ea"/>
              </a:endParaRPr>
            </a:p>
            <a:p>
              <a:pPr lvl="0" eaLnBrk="0" latinLnBrk="0" hangingPunct="0">
                <a:lnSpc>
                  <a:spcPct val="140000"/>
                </a:lnSpc>
                <a:buClr>
                  <a:srgbClr val="1F497D"/>
                </a:buClr>
                <a:buSzPct val="75000"/>
              </a:pPr>
              <a:r>
                <a:rPr kumimoji="0" lang="ko-KR" altLang="en-US" sz="900" dirty="0">
                  <a:solidFill>
                    <a:prstClr val="black"/>
                  </a:solidFill>
                  <a:latin typeface="+mn-ea"/>
                  <a:ea typeface="+mn-ea"/>
                </a:rPr>
                <a:t>외부 몰의 판매에 대한 정산 </a:t>
              </a:r>
              <a:r>
                <a:rPr kumimoji="0" lang="ko-KR" altLang="en-US" sz="900" dirty="0" smtClean="0">
                  <a:solidFill>
                    <a:prstClr val="black"/>
                  </a:solidFill>
                  <a:latin typeface="+mn-ea"/>
                  <a:ea typeface="+mn-ea"/>
                </a:rPr>
                <a:t>처리</a:t>
              </a:r>
              <a:endParaRPr kumimoji="0" lang="en-US" altLang="ko-KR" sz="900" dirty="0" smtClean="0">
                <a:solidFill>
                  <a:prstClr val="black"/>
                </a:solidFill>
                <a:latin typeface="+mn-ea"/>
                <a:ea typeface="+mn-ea"/>
              </a:endParaRPr>
            </a:p>
            <a:p>
              <a:pPr lvl="0" eaLnBrk="0" latinLnBrk="0" hangingPunct="0">
                <a:lnSpc>
                  <a:spcPct val="140000"/>
                </a:lnSpc>
                <a:buClr>
                  <a:srgbClr val="1F497D"/>
                </a:buClr>
                <a:buSzPct val="75000"/>
              </a:pPr>
              <a:endParaRPr kumimoji="0" lang="en-US" altLang="ko-KR" sz="900" b="1" dirty="0">
                <a:solidFill>
                  <a:prstClr val="black"/>
                </a:solidFill>
                <a:latin typeface="+mn-ea"/>
                <a:ea typeface="+mn-ea"/>
              </a:endParaRPr>
            </a:p>
            <a:p>
              <a:pPr lvl="0" eaLnBrk="0" latinLnBrk="0" hangingPunct="0">
                <a:lnSpc>
                  <a:spcPct val="140000"/>
                </a:lnSpc>
                <a:buClr>
                  <a:srgbClr val="1F497D"/>
                </a:buClr>
                <a:buSzPct val="75000"/>
              </a:pPr>
              <a:endParaRPr kumimoji="0" lang="en-US" altLang="ko-KR" sz="900" dirty="0">
                <a:solidFill>
                  <a:prstClr val="black"/>
                </a:solidFill>
                <a:latin typeface="+mn-ea"/>
                <a:ea typeface="+mn-ea"/>
              </a:endParaRPr>
            </a:p>
            <a:p>
              <a:pPr lvl="0" eaLnBrk="0" latinLnBrk="0" hangingPunct="0">
                <a:lnSpc>
                  <a:spcPct val="140000"/>
                </a:lnSpc>
                <a:buClr>
                  <a:srgbClr val="1F497D"/>
                </a:buClr>
                <a:buSzPct val="75000"/>
              </a:pPr>
              <a:r>
                <a:rPr kumimoji="0" lang="en-US" altLang="ko-KR" sz="900" dirty="0">
                  <a:solidFill>
                    <a:prstClr val="black"/>
                  </a:solidFill>
                  <a:latin typeface="+mn-ea"/>
                  <a:ea typeface="+mn-ea"/>
                </a:rPr>
                <a:t>  </a:t>
              </a:r>
              <a:endParaRPr kumimoji="0" lang="ko-KR" altLang="en-US" sz="900" b="1" dirty="0">
                <a:solidFill>
                  <a:srgbClr val="FF0000"/>
                </a:solidFill>
                <a:latin typeface="+mn-ea"/>
                <a:ea typeface="+mn-ea"/>
              </a:endParaRPr>
            </a:p>
            <a:p>
              <a:pPr marL="85725" lvl="0" indent="-85725" eaLnBrk="0" latinLnBrk="0" hangingPunct="0">
                <a:lnSpc>
                  <a:spcPct val="140000"/>
                </a:lnSpc>
                <a:buClr>
                  <a:srgbClr val="1F497D"/>
                </a:buClr>
                <a:buSzPct val="75000"/>
                <a:buFont typeface="Wingdings" panose="05000000000000000000" pitchFamily="2" charset="2"/>
                <a:buChar char="u"/>
              </a:pPr>
              <a:r>
                <a:rPr kumimoji="0" lang="ko-KR" altLang="en-US" sz="900" b="1" dirty="0">
                  <a:solidFill>
                    <a:prstClr val="black"/>
                  </a:solidFill>
                  <a:latin typeface="+mn-ea"/>
                  <a:ea typeface="+mn-ea"/>
                </a:rPr>
                <a:t> 선행 프로세스</a:t>
              </a:r>
            </a:p>
            <a:p>
              <a:pPr lvl="0" eaLnBrk="0" latinLnBrk="0" hangingPunct="0">
                <a:lnSpc>
                  <a:spcPct val="140000"/>
                </a:lnSpc>
                <a:buClr>
                  <a:srgbClr val="1F497D"/>
                </a:buClr>
                <a:buSzPct val="75000"/>
              </a:pPr>
              <a:r>
                <a:rPr kumimoji="0" lang="en-US" altLang="ko-KR" sz="900" dirty="0">
                  <a:solidFill>
                    <a:prstClr val="black"/>
                  </a:solidFill>
                  <a:latin typeface="+mn-ea"/>
                  <a:ea typeface="+mn-ea"/>
                </a:rPr>
                <a:t>1. </a:t>
              </a:r>
              <a:r>
                <a:rPr kumimoji="0" lang="ko-KR" altLang="en-US" sz="900" dirty="0">
                  <a:solidFill>
                    <a:prstClr val="black"/>
                  </a:solidFill>
                  <a:latin typeface="+mn-ea"/>
                  <a:ea typeface="+mn-ea"/>
                </a:rPr>
                <a:t>외부 몰 판매</a:t>
              </a:r>
              <a:r>
                <a:rPr kumimoji="0" lang="en-US" altLang="ko-KR" sz="900" dirty="0">
                  <a:solidFill>
                    <a:prstClr val="black"/>
                  </a:solidFill>
                  <a:latin typeface="+mn-ea"/>
                  <a:ea typeface="+mn-ea"/>
                </a:rPr>
                <a:t> </a:t>
              </a:r>
              <a:endParaRPr kumimoji="0" lang="en-US" altLang="ko-KR" sz="900" dirty="0">
                <a:solidFill>
                  <a:prstClr val="black"/>
                </a:solidFill>
                <a:latin typeface="+mn-ea"/>
                <a:ea typeface="+mn-ea"/>
                <a:sym typeface="Wingdings" panose="05000000000000000000" pitchFamily="2" charset="2"/>
              </a:endParaRPr>
            </a:p>
            <a:p>
              <a:pPr lvl="0" eaLnBrk="0" latinLnBrk="0" hangingPunct="0">
                <a:lnSpc>
                  <a:spcPct val="140000"/>
                </a:lnSpc>
                <a:buClr>
                  <a:srgbClr val="1F497D"/>
                </a:buClr>
                <a:buSzPct val="75000"/>
              </a:pPr>
              <a:r>
                <a:rPr kumimoji="0" lang="en-US" altLang="ko-KR" sz="900" dirty="0">
                  <a:solidFill>
                    <a:prstClr val="black"/>
                  </a:solidFill>
                  <a:latin typeface="+mn-ea"/>
                  <a:ea typeface="+mn-ea"/>
                </a:rPr>
                <a:t>2. </a:t>
              </a:r>
              <a:r>
                <a:rPr kumimoji="0" lang="ko-KR" altLang="en-US" sz="900" dirty="0">
                  <a:solidFill>
                    <a:prstClr val="black"/>
                  </a:solidFill>
                  <a:latin typeface="+mn-ea"/>
                  <a:ea typeface="+mn-ea"/>
                </a:rPr>
                <a:t>외부 몰 정산 </a:t>
              </a:r>
              <a:r>
                <a:rPr kumimoji="0" lang="en-US" altLang="ko-KR" sz="900" dirty="0">
                  <a:solidFill>
                    <a:prstClr val="black"/>
                  </a:solidFill>
                  <a:latin typeface="+mn-ea"/>
                  <a:ea typeface="+mn-ea"/>
                </a:rPr>
                <a:t>LIST </a:t>
              </a:r>
              <a:r>
                <a:rPr kumimoji="0" lang="ko-KR" altLang="en-US" sz="900" dirty="0">
                  <a:solidFill>
                    <a:prstClr val="black"/>
                  </a:solidFill>
                  <a:latin typeface="+mn-ea"/>
                  <a:ea typeface="+mn-ea"/>
                </a:rPr>
                <a:t>수취 </a:t>
              </a:r>
              <a:r>
                <a:rPr kumimoji="0" lang="en-US" altLang="ko-KR" sz="900" dirty="0">
                  <a:solidFill>
                    <a:prstClr val="black"/>
                  </a:solidFill>
                  <a:latin typeface="+mn-ea"/>
                  <a:ea typeface="+mn-ea"/>
                  <a:sym typeface="Wingdings" panose="05000000000000000000" pitchFamily="2" charset="2"/>
                </a:rPr>
                <a:t> </a:t>
              </a:r>
              <a:r>
                <a:rPr kumimoji="0" lang="ko-KR" altLang="en-US" sz="900" dirty="0">
                  <a:solidFill>
                    <a:prstClr val="black"/>
                  </a:solidFill>
                  <a:latin typeface="+mn-ea"/>
                  <a:ea typeface="+mn-ea"/>
                  <a:sym typeface="Wingdings" panose="05000000000000000000" pitchFamily="2" charset="2"/>
                </a:rPr>
                <a:t>등록</a:t>
              </a:r>
              <a:endParaRPr kumimoji="0" lang="en-US" altLang="ko-KR" sz="900" dirty="0">
                <a:solidFill>
                  <a:prstClr val="black"/>
                </a:solidFill>
                <a:latin typeface="+mn-ea"/>
                <a:ea typeface="+mn-ea"/>
                <a:sym typeface="Wingdings" panose="05000000000000000000" pitchFamily="2" charset="2"/>
              </a:endParaRPr>
            </a:p>
            <a:p>
              <a:pPr lvl="0" eaLnBrk="0" latinLnBrk="0" hangingPunct="0">
                <a:lnSpc>
                  <a:spcPct val="140000"/>
                </a:lnSpc>
                <a:buClr>
                  <a:srgbClr val="1F497D"/>
                </a:buClr>
                <a:buSzPct val="75000"/>
              </a:pPr>
              <a:r>
                <a:rPr kumimoji="0" lang="en-US" altLang="ko-KR" sz="900" dirty="0">
                  <a:solidFill>
                    <a:prstClr val="black"/>
                  </a:solidFill>
                  <a:latin typeface="+mn-ea"/>
                  <a:ea typeface="+mn-ea"/>
                  <a:sym typeface="Wingdings" panose="05000000000000000000" pitchFamily="2" charset="2"/>
                </a:rPr>
                <a:t>   </a:t>
              </a:r>
              <a:r>
                <a:rPr kumimoji="0" lang="ko-KR" altLang="en-US" sz="900" dirty="0">
                  <a:solidFill>
                    <a:prstClr val="black"/>
                  </a:solidFill>
                  <a:latin typeface="+mn-ea"/>
                  <a:ea typeface="+mn-ea"/>
                </a:rPr>
                <a:t> </a:t>
              </a:r>
            </a:p>
            <a:p>
              <a:pPr lvl="0" eaLnBrk="0" latinLnBrk="0" hangingPunct="0">
                <a:lnSpc>
                  <a:spcPct val="140000"/>
                </a:lnSpc>
                <a:buClr>
                  <a:srgbClr val="1F497D"/>
                </a:buClr>
                <a:buSzPct val="75000"/>
                <a:buFont typeface="Wingdings" panose="05000000000000000000" pitchFamily="2" charset="2"/>
                <a:buChar char="u"/>
              </a:pPr>
              <a:r>
                <a:rPr kumimoji="0" lang="ko-KR" altLang="en-US" sz="900" dirty="0">
                  <a:solidFill>
                    <a:prstClr val="black"/>
                  </a:solidFill>
                  <a:latin typeface="+mn-ea"/>
                  <a:ea typeface="+mn-ea"/>
                </a:rPr>
                <a:t> </a:t>
              </a:r>
              <a:r>
                <a:rPr kumimoji="0" lang="ko-KR" altLang="en-US" sz="900" b="1" dirty="0">
                  <a:solidFill>
                    <a:prstClr val="black"/>
                  </a:solidFill>
                  <a:latin typeface="+mn-ea"/>
                  <a:ea typeface="+mn-ea"/>
                </a:rPr>
                <a:t>후행 프로세스</a:t>
              </a:r>
            </a:p>
            <a:p>
              <a:pPr lvl="0" eaLnBrk="0" latinLnBrk="0" hangingPunct="0">
                <a:lnSpc>
                  <a:spcPct val="140000"/>
                </a:lnSpc>
                <a:buClr>
                  <a:srgbClr val="1F497D"/>
                </a:buClr>
                <a:buSzPct val="75000"/>
              </a:pPr>
              <a:r>
                <a:rPr kumimoji="0" lang="en-US" altLang="ko-KR" sz="900" dirty="0">
                  <a:solidFill>
                    <a:prstClr val="black"/>
                  </a:solidFill>
                  <a:latin typeface="+mn-ea"/>
                  <a:ea typeface="+mn-ea"/>
                </a:rPr>
                <a:t>1. </a:t>
              </a:r>
            </a:p>
            <a:p>
              <a:pPr lvl="0" eaLnBrk="0" latinLnBrk="0" hangingPunct="0">
                <a:lnSpc>
                  <a:spcPct val="140000"/>
                </a:lnSpc>
                <a:buClr>
                  <a:srgbClr val="1F497D"/>
                </a:buClr>
                <a:buSzPct val="75000"/>
              </a:pPr>
              <a:endParaRPr kumimoji="0" lang="ko-KR" altLang="en-US" sz="900" dirty="0">
                <a:solidFill>
                  <a:prstClr val="black"/>
                </a:solidFill>
                <a:latin typeface="+mn-ea"/>
                <a:ea typeface="+mn-ea"/>
              </a:endParaRPr>
            </a:p>
            <a:p>
              <a:pPr lvl="0" eaLnBrk="0" latinLnBrk="0" hangingPunct="0">
                <a:lnSpc>
                  <a:spcPct val="140000"/>
                </a:lnSpc>
                <a:buClr>
                  <a:srgbClr val="1F497D"/>
                </a:buClr>
                <a:buSzPct val="75000"/>
                <a:buFont typeface="Wingdings" panose="05000000000000000000" pitchFamily="2" charset="2"/>
                <a:buChar char="u"/>
              </a:pPr>
              <a:r>
                <a:rPr kumimoji="0" lang="ko-KR" altLang="en-US" sz="900" dirty="0">
                  <a:solidFill>
                    <a:prstClr val="black"/>
                  </a:solidFill>
                  <a:latin typeface="+mn-ea"/>
                  <a:ea typeface="+mn-ea"/>
                </a:rPr>
                <a:t> </a:t>
              </a:r>
              <a:r>
                <a:rPr kumimoji="0" lang="ko-KR" altLang="en-US" sz="900" b="1" dirty="0">
                  <a:solidFill>
                    <a:prstClr val="black"/>
                  </a:solidFill>
                  <a:latin typeface="+mn-ea"/>
                  <a:ea typeface="+mn-ea"/>
                </a:rPr>
                <a:t>비즈니스 업무정책</a:t>
              </a:r>
            </a:p>
            <a:p>
              <a:pPr lvl="0" eaLnBrk="0" latinLnBrk="0" hangingPunct="0">
                <a:lnSpc>
                  <a:spcPct val="140000"/>
                </a:lnSpc>
                <a:buClr>
                  <a:srgbClr val="1F497D"/>
                </a:buClr>
                <a:buSzPct val="75000"/>
              </a:pPr>
              <a:r>
                <a:rPr kumimoji="0" lang="en-US" altLang="ko-KR" sz="900" dirty="0">
                  <a:solidFill>
                    <a:prstClr val="black"/>
                  </a:solidFill>
                  <a:latin typeface="+mn-ea"/>
                  <a:ea typeface="+mn-ea"/>
                </a:rPr>
                <a:t>1. </a:t>
              </a:r>
              <a:r>
                <a:rPr lang="en-US" altLang="ko-KR" sz="900" b="1" dirty="0" smtClean="0">
                  <a:latin typeface="+mn-ea"/>
                  <a:ea typeface="+mn-ea"/>
                </a:rPr>
                <a:t>STLM3 </a:t>
              </a:r>
              <a:r>
                <a:rPr lang="en-US" altLang="ko-KR" sz="900" b="1" dirty="0">
                  <a:latin typeface="+mn-ea"/>
                  <a:ea typeface="+mn-ea"/>
                </a:rPr>
                <a:t>: </a:t>
              </a:r>
              <a:r>
                <a:rPr lang="ko-KR" altLang="en-US" sz="900" b="1" dirty="0">
                  <a:latin typeface="+mn-ea"/>
                  <a:ea typeface="+mn-ea"/>
                </a:rPr>
                <a:t>정산</a:t>
              </a:r>
              <a:r>
                <a:rPr lang="en-US" altLang="ko-KR" sz="900" b="1" dirty="0">
                  <a:latin typeface="+mn-ea"/>
                  <a:ea typeface="+mn-ea"/>
                </a:rPr>
                <a:t>3</a:t>
              </a:r>
            </a:p>
            <a:p>
              <a:r>
                <a:rPr lang="ko-KR" altLang="en-US" sz="900" dirty="0">
                  <a:latin typeface="+mn-ea"/>
                  <a:ea typeface="+mn-ea"/>
                </a:rPr>
                <a:t>이전월 이월된 주문이 정산이 된 경우 정산금액으로 판매수불 생성</a:t>
              </a:r>
              <a:r>
                <a:rPr lang="en-US" altLang="ko-KR" sz="900" dirty="0">
                  <a:latin typeface="+mn-ea"/>
                  <a:ea typeface="+mn-ea"/>
                </a:rPr>
                <a:t>.</a:t>
              </a:r>
            </a:p>
            <a:p>
              <a:r>
                <a:rPr lang="ko-KR" altLang="en-US" sz="900" dirty="0">
                  <a:latin typeface="+mn-ea"/>
                  <a:ea typeface="+mn-ea"/>
                </a:rPr>
                <a:t>이전월 이월된 주문과 </a:t>
              </a:r>
              <a:r>
                <a:rPr lang="ko-KR" altLang="en-US" sz="900" dirty="0" smtClean="0">
                  <a:latin typeface="+mn-ea"/>
                  <a:ea typeface="+mn-ea"/>
                </a:rPr>
                <a:t>미 매칭된 </a:t>
              </a:r>
              <a:r>
                <a:rPr lang="ko-KR" altLang="en-US" sz="900" dirty="0">
                  <a:latin typeface="+mn-ea"/>
                  <a:ea typeface="+mn-ea"/>
                </a:rPr>
                <a:t>주문의 정산금액을 </a:t>
              </a:r>
              <a:r>
                <a:rPr lang="ko-KR" altLang="en-US" sz="900" dirty="0" err="1">
                  <a:latin typeface="+mn-ea"/>
                  <a:ea typeface="+mn-ea"/>
                </a:rPr>
                <a:t>가품번으로</a:t>
              </a:r>
              <a:r>
                <a:rPr lang="ko-KR" altLang="en-US" sz="900" dirty="0">
                  <a:latin typeface="+mn-ea"/>
                  <a:ea typeface="+mn-ea"/>
                </a:rPr>
                <a:t> 판매수불 생성</a:t>
              </a:r>
              <a:r>
                <a:rPr lang="en-US" altLang="ko-KR" sz="900" dirty="0" smtClean="0">
                  <a:latin typeface="+mn-ea"/>
                  <a:ea typeface="+mn-ea"/>
                </a:rPr>
                <a:t>.</a:t>
              </a:r>
              <a:endParaRPr lang="en-US" altLang="ko-KR" sz="900" dirty="0">
                <a:latin typeface="+mn-ea"/>
                <a:ea typeface="+mn-ea"/>
              </a:endParaRPr>
            </a:p>
          </p:txBody>
        </p:sp>
      </p:grpSp>
      <p:sp>
        <p:nvSpPr>
          <p:cNvPr id="89" name="TextBox 94"/>
          <p:cNvSpPr txBox="1">
            <a:spLocks noChangeArrowheads="1"/>
          </p:cNvSpPr>
          <p:nvPr/>
        </p:nvSpPr>
        <p:spPr bwMode="auto">
          <a:xfrm>
            <a:off x="992560" y="1313336"/>
            <a:ext cx="141688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SP_ONLINE_STLM_BASE</a:t>
            </a:r>
            <a:endParaRPr lang="ko-KR" altLang="en-US" sz="800" b="1" dirty="0">
              <a:latin typeface="+mn-ea"/>
              <a:ea typeface="+mn-ea"/>
            </a:endParaRPr>
          </a:p>
        </p:txBody>
      </p:sp>
      <p:cxnSp>
        <p:nvCxnSpPr>
          <p:cNvPr id="60" name="AutoShape 67"/>
          <p:cNvCxnSpPr>
            <a:cxnSpLocks noChangeShapeType="1"/>
            <a:endCxn id="18" idx="1"/>
          </p:cNvCxnSpPr>
          <p:nvPr/>
        </p:nvCxnSpPr>
        <p:spPr bwMode="gray">
          <a:xfrm>
            <a:off x="722530" y="1808820"/>
            <a:ext cx="580471" cy="4125"/>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순서도: 페이지 연결자 17"/>
          <p:cNvSpPr/>
          <p:nvPr/>
        </p:nvSpPr>
        <p:spPr>
          <a:xfrm>
            <a:off x="1303001" y="1528780"/>
            <a:ext cx="679669" cy="568329"/>
          </a:xfrm>
          <a:prstGeom prst="flowChartOffpageConnector">
            <a:avLst/>
          </a:prstGeom>
          <a:solidFill>
            <a:schemeClr val="accent1">
              <a:lumMod val="40000"/>
              <a:lumOff val="60000"/>
            </a:schemeClr>
          </a:solidFill>
          <a:ln>
            <a:solidFill>
              <a:schemeClr val="accent1"/>
            </a:solidFill>
          </a:ln>
        </p:spPr>
        <p:txBody>
          <a:bodyPr wrap="square" rtlCol="0" anchor="ctr">
            <a:noAutofit/>
          </a:bodyPr>
          <a:lstStyle/>
          <a:p>
            <a:pPr marL="268288" indent="-215900">
              <a:spcBef>
                <a:spcPct val="20000"/>
              </a:spcBef>
              <a:buClr>
                <a:srgbClr val="FFD200"/>
              </a:buClr>
              <a:buSzPct val="75000"/>
            </a:pPr>
            <a:r>
              <a:rPr lang="ko-KR" altLang="en-US" sz="800" b="1" kern="0" dirty="0" smtClean="0">
                <a:latin typeface="+mn-ea"/>
                <a:ea typeface="+mn-ea"/>
              </a:rPr>
              <a:t>작업구분</a:t>
            </a:r>
            <a:endParaRPr lang="en-US" altLang="ko-KR" sz="800" b="1" kern="0" dirty="0" smtClean="0">
              <a:latin typeface="+mn-ea"/>
              <a:ea typeface="+mn-ea"/>
            </a:endParaRPr>
          </a:p>
          <a:p>
            <a:pPr marL="268288" indent="-215900" algn="ctr">
              <a:spcBef>
                <a:spcPct val="20000"/>
              </a:spcBef>
              <a:buClr>
                <a:srgbClr val="FFD200"/>
              </a:buClr>
              <a:buSzPct val="75000"/>
            </a:pPr>
            <a:r>
              <a:rPr lang="ko-KR" altLang="en-US" sz="800" b="1" kern="0" dirty="0" smtClean="0">
                <a:latin typeface="+mn-ea"/>
                <a:ea typeface="+mn-ea"/>
              </a:rPr>
              <a:t>정산처리</a:t>
            </a:r>
            <a:endParaRPr lang="en-US" altLang="ko-KR" sz="800" b="1" kern="0" dirty="0" smtClean="0">
              <a:latin typeface="+mn-ea"/>
              <a:ea typeface="+mn-ea"/>
            </a:endParaRPr>
          </a:p>
          <a:p>
            <a:pPr marL="268288" indent="-215900" algn="ctr">
              <a:spcBef>
                <a:spcPct val="20000"/>
              </a:spcBef>
              <a:buClr>
                <a:srgbClr val="FFD200"/>
              </a:buClr>
              <a:buSzPct val="75000"/>
            </a:pPr>
            <a:r>
              <a:rPr lang="ko-KR" altLang="en-US" sz="800" b="1" kern="0" dirty="0" smtClean="0">
                <a:latin typeface="+mn-ea"/>
                <a:ea typeface="+mn-ea"/>
              </a:rPr>
              <a:t>시작</a:t>
            </a:r>
          </a:p>
        </p:txBody>
      </p:sp>
      <p:sp>
        <p:nvSpPr>
          <p:cNvPr id="151" name="TextBox 94"/>
          <p:cNvSpPr txBox="1">
            <a:spLocks noChangeArrowheads="1"/>
          </p:cNvSpPr>
          <p:nvPr/>
        </p:nvSpPr>
        <p:spPr bwMode="auto">
          <a:xfrm>
            <a:off x="362490" y="1313336"/>
            <a:ext cx="661182" cy="510909"/>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sym typeface="Wingdings" panose="05000000000000000000" pitchFamily="2" charset="2"/>
              </a:rPr>
              <a:t>작업구분</a:t>
            </a:r>
            <a:endParaRPr lang="en-US" altLang="ko-KR" sz="800" dirty="0" smtClean="0">
              <a:latin typeface="+mn-ea"/>
              <a:ea typeface="+mn-ea"/>
              <a:sym typeface="Wingdings" panose="05000000000000000000" pitchFamily="2" charset="2"/>
            </a:endParaRPr>
          </a:p>
          <a:p>
            <a:pPr algn="ctr">
              <a:spcBef>
                <a:spcPct val="20000"/>
              </a:spcBef>
              <a:buClr>
                <a:srgbClr val="003366"/>
              </a:buClr>
            </a:pPr>
            <a:r>
              <a:rPr lang="ko-KR" altLang="en-US" sz="800" dirty="0" smtClean="0">
                <a:latin typeface="+mn-ea"/>
                <a:ea typeface="+mn-ea"/>
                <a:sym typeface="Wingdings" panose="05000000000000000000" pitchFamily="2" charset="2"/>
              </a:rPr>
              <a:t>정산처리</a:t>
            </a:r>
            <a:endParaRPr lang="en-US" altLang="ko-KR" sz="800" dirty="0" smtClean="0">
              <a:latin typeface="+mn-ea"/>
              <a:ea typeface="+mn-ea"/>
              <a:sym typeface="Wingdings" panose="05000000000000000000" pitchFamily="2" charset="2"/>
            </a:endParaRPr>
          </a:p>
          <a:p>
            <a:pPr algn="ctr">
              <a:spcBef>
                <a:spcPct val="20000"/>
              </a:spcBef>
              <a:buClr>
                <a:srgbClr val="003366"/>
              </a:buClr>
            </a:pPr>
            <a:r>
              <a:rPr lang="ko-KR" altLang="en-US" sz="800" dirty="0" smtClean="0">
                <a:latin typeface="+mn-ea"/>
                <a:ea typeface="+mn-ea"/>
                <a:sym typeface="Wingdings" panose="05000000000000000000" pitchFamily="2" charset="2"/>
              </a:rPr>
              <a:t>시작</a:t>
            </a:r>
            <a:endParaRPr lang="en-US" altLang="ko-KR" sz="800" dirty="0" smtClean="0">
              <a:latin typeface="+mn-ea"/>
              <a:ea typeface="+mn-ea"/>
              <a:sym typeface="Wingdings" panose="05000000000000000000" pitchFamily="2" charset="2"/>
            </a:endParaRPr>
          </a:p>
        </p:txBody>
      </p:sp>
      <p:cxnSp>
        <p:nvCxnSpPr>
          <p:cNvPr id="164" name="AutoShape 67"/>
          <p:cNvCxnSpPr>
            <a:cxnSpLocks noChangeShapeType="1"/>
            <a:stCxn id="397" idx="4"/>
          </p:cNvCxnSpPr>
          <p:nvPr/>
        </p:nvCxnSpPr>
        <p:spPr bwMode="gray">
          <a:xfrm>
            <a:off x="1757645" y="2529549"/>
            <a:ext cx="1283830" cy="869139"/>
          </a:xfrm>
          <a:prstGeom prst="bentConnector3">
            <a:avLst>
              <a:gd name="adj1" fmla="val 15575"/>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TextBox 94"/>
          <p:cNvSpPr txBox="1">
            <a:spLocks noChangeArrowheads="1"/>
          </p:cNvSpPr>
          <p:nvPr/>
        </p:nvSpPr>
        <p:spPr bwMode="auto">
          <a:xfrm>
            <a:off x="2023447" y="3217767"/>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68" name="Text Box 82"/>
          <p:cNvSpPr txBox="1">
            <a:spLocks noChangeArrowheads="1"/>
          </p:cNvSpPr>
          <p:nvPr/>
        </p:nvSpPr>
        <p:spPr bwMode="gray">
          <a:xfrm>
            <a:off x="2554948" y="1946764"/>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69" name="타원 168"/>
          <p:cNvSpPr/>
          <p:nvPr/>
        </p:nvSpPr>
        <p:spPr>
          <a:xfrm>
            <a:off x="4420131" y="2397563"/>
            <a:ext cx="352849" cy="338735"/>
          </a:xfrm>
          <a:prstGeom prst="ellipse">
            <a:avLst/>
          </a:prstGeom>
          <a:noFill/>
          <a:ln>
            <a:solidFill>
              <a:schemeClr val="tx1"/>
            </a:solidFill>
          </a:ln>
        </p:spPr>
        <p:txBody>
          <a:bodyPr wrap="none" lIns="0" rIns="0" rtlCol="0" anchor="ctr">
            <a:noAutofit/>
          </a:bodyPr>
          <a:lstStyle/>
          <a:p>
            <a:pPr marL="268288" indent="-215900" algn="ctr">
              <a:spcBef>
                <a:spcPct val="20000"/>
              </a:spcBef>
              <a:buClr>
                <a:srgbClr val="FFD200"/>
              </a:buClr>
              <a:buSzPct val="75000"/>
            </a:pPr>
            <a:r>
              <a:rPr lang="ko-KR" altLang="en-US" sz="800" kern="0" dirty="0" smtClean="0">
                <a:latin typeface="+mn-ea"/>
                <a:ea typeface="+mn-ea"/>
              </a:rPr>
              <a:t>종료</a:t>
            </a:r>
          </a:p>
        </p:txBody>
      </p:sp>
      <p:sp>
        <p:nvSpPr>
          <p:cNvPr id="384" name="AutoShape 73"/>
          <p:cNvSpPr>
            <a:spLocks noChangeArrowheads="1"/>
          </p:cNvSpPr>
          <p:nvPr/>
        </p:nvSpPr>
        <p:spPr bwMode="auto">
          <a:xfrm>
            <a:off x="2480102" y="1579824"/>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작업구분</a:t>
            </a:r>
            <a:endParaRPr lang="en-US" altLang="ko-KR" sz="800" dirty="0">
              <a:latin typeface="+mn-ea"/>
              <a:ea typeface="+mn-ea"/>
            </a:endParaRPr>
          </a:p>
          <a:p>
            <a:pPr algn="ctr" eaLnBrk="0" latinLnBrk="0" hangingPunct="0">
              <a:lnSpc>
                <a:spcPct val="40000"/>
              </a:lnSpc>
              <a:spcBef>
                <a:spcPct val="50000"/>
              </a:spcBef>
            </a:pPr>
            <a:r>
              <a:rPr lang="en-US" altLang="ko-KR" sz="800" dirty="0" smtClean="0">
                <a:latin typeface="+mn-ea"/>
                <a:ea typeface="+mn-ea"/>
              </a:rPr>
              <a:t>STLM3</a:t>
            </a: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cxnSp>
        <p:nvCxnSpPr>
          <p:cNvPr id="389" name="AutoShape 67"/>
          <p:cNvCxnSpPr>
            <a:cxnSpLocks noChangeShapeType="1"/>
            <a:stCxn id="18" idx="3"/>
            <a:endCxn id="384" idx="1"/>
          </p:cNvCxnSpPr>
          <p:nvPr/>
        </p:nvCxnSpPr>
        <p:spPr bwMode="gray">
          <a:xfrm>
            <a:off x="1982670" y="1812945"/>
            <a:ext cx="497432" cy="421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0" name="AutoShape 86"/>
          <p:cNvSpPr>
            <a:spLocks noChangeArrowheads="1"/>
          </p:cNvSpPr>
          <p:nvPr/>
        </p:nvSpPr>
        <p:spPr bwMode="auto">
          <a:xfrm>
            <a:off x="317485" y="228567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600" b="1" dirty="0">
                <a:latin typeface="+mn-ea"/>
                <a:ea typeface="+mn-ea"/>
              </a:rPr>
              <a:t>EC</a:t>
            </a:r>
          </a:p>
          <a:p>
            <a:pPr algn="ctr"/>
            <a:r>
              <a:rPr lang="en-US" altLang="ko-KR" sz="600" b="1" dirty="0">
                <a:latin typeface="+mn-ea"/>
                <a:ea typeface="+mn-ea"/>
              </a:rPr>
              <a:t>(</a:t>
            </a:r>
            <a:r>
              <a:rPr lang="ko-KR" altLang="en-US" sz="600" b="1" dirty="0" err="1">
                <a:latin typeface="+mn-ea"/>
                <a:ea typeface="+mn-ea"/>
              </a:rPr>
              <a:t>온라인구시스템</a:t>
            </a:r>
            <a:r>
              <a:rPr lang="en-US" altLang="ko-KR" sz="600" b="1" dirty="0">
                <a:latin typeface="+mn-ea"/>
                <a:ea typeface="+mn-ea"/>
              </a:rPr>
              <a:t>)</a:t>
            </a:r>
            <a:endParaRPr lang="en-US" altLang="ko-KR" sz="600" b="1" dirty="0" smtClean="0">
              <a:latin typeface="+mn-ea"/>
              <a:ea typeface="+mn-ea"/>
            </a:endParaRPr>
          </a:p>
          <a:p>
            <a:pPr algn="ctr"/>
            <a:r>
              <a:rPr lang="en-US" altLang="ko-KR" sz="600" b="1" dirty="0" smtClean="0">
                <a:latin typeface="+mn-ea"/>
                <a:ea typeface="+mn-ea"/>
              </a:rPr>
              <a:t>TEMP_INS</a:t>
            </a:r>
            <a:endParaRPr lang="ko-KR" altLang="en-US" sz="600" b="1" dirty="0">
              <a:latin typeface="+mn-ea"/>
              <a:ea typeface="+mn-ea"/>
            </a:endParaRPr>
          </a:p>
        </p:txBody>
      </p:sp>
      <p:cxnSp>
        <p:nvCxnSpPr>
          <p:cNvPr id="391" name="AutoShape 67"/>
          <p:cNvCxnSpPr>
            <a:cxnSpLocks noChangeShapeType="1"/>
            <a:stCxn id="384" idx="2"/>
            <a:endCxn id="395" idx="0"/>
          </p:cNvCxnSpPr>
          <p:nvPr/>
        </p:nvCxnSpPr>
        <p:spPr bwMode="gray">
          <a:xfrm>
            <a:off x="3041476" y="2054486"/>
            <a:ext cx="0" cy="781203"/>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2" name="AutoShape 67"/>
          <p:cNvCxnSpPr>
            <a:cxnSpLocks noChangeShapeType="1"/>
            <a:stCxn id="396" idx="3"/>
          </p:cNvCxnSpPr>
          <p:nvPr/>
        </p:nvCxnSpPr>
        <p:spPr bwMode="gray">
          <a:xfrm>
            <a:off x="1900469" y="2524536"/>
            <a:ext cx="1141007"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3" name="TextBox 94"/>
          <p:cNvSpPr txBox="1">
            <a:spLocks noChangeArrowheads="1"/>
          </p:cNvSpPr>
          <p:nvPr/>
        </p:nvSpPr>
        <p:spPr bwMode="auto">
          <a:xfrm>
            <a:off x="3091906" y="2333706"/>
            <a:ext cx="1443685" cy="606320"/>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rPr>
              <a:t>조회조건 </a:t>
            </a:r>
            <a:r>
              <a:rPr lang="en-US" altLang="ko-KR" sz="700" dirty="0" smtClean="0">
                <a:latin typeface="+mn-ea"/>
                <a:ea typeface="+mn-ea"/>
              </a:rPr>
              <a:t>: </a:t>
            </a:r>
            <a:r>
              <a:rPr lang="ko-KR" altLang="en-US" sz="700" dirty="0" err="1" smtClean="0">
                <a:latin typeface="+mn-ea"/>
                <a:ea typeface="+mn-ea"/>
              </a:rPr>
              <a:t>정산년월</a:t>
            </a:r>
            <a:r>
              <a:rPr lang="en-US" altLang="ko-KR" sz="700" dirty="0">
                <a:latin typeface="+mn-ea"/>
                <a:ea typeface="+mn-ea"/>
              </a:rPr>
              <a:t>, </a:t>
            </a:r>
            <a:r>
              <a:rPr lang="ko-KR" altLang="en-US" sz="700" dirty="0" smtClean="0">
                <a:latin typeface="+mn-ea"/>
                <a:ea typeface="+mn-ea"/>
              </a:rPr>
              <a:t>정산매장</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상위브랜드</a:t>
            </a:r>
            <a:r>
              <a:rPr lang="en-US" altLang="ko-KR" sz="700" dirty="0" smtClean="0">
                <a:latin typeface="+mn-ea"/>
                <a:ea typeface="+mn-ea"/>
              </a:rPr>
              <a:t>, MALL_ID</a:t>
            </a:r>
          </a:p>
          <a:p>
            <a:pPr>
              <a:spcBef>
                <a:spcPct val="20000"/>
              </a:spcBef>
              <a:buClr>
                <a:srgbClr val="003366"/>
              </a:buClr>
            </a:pPr>
            <a:r>
              <a:rPr lang="en-US" altLang="ko-KR" sz="700" dirty="0" smtClean="0">
                <a:latin typeface="+mn-ea"/>
                <a:ea typeface="+mn-ea"/>
              </a:rPr>
              <a:t>WORK_CLSBY</a:t>
            </a:r>
          </a:p>
          <a:p>
            <a:pPr>
              <a:spcBef>
                <a:spcPct val="20000"/>
              </a:spcBef>
              <a:buClr>
                <a:srgbClr val="003366"/>
              </a:buClr>
            </a:pPr>
            <a:r>
              <a:rPr lang="en-US" altLang="ko-KR" sz="700" dirty="0" smtClean="0">
                <a:latin typeface="+mn-ea"/>
                <a:ea typeface="+mn-ea"/>
                <a:sym typeface="Wingdings" panose="05000000000000000000" pitchFamily="2" charset="2"/>
              </a:rPr>
              <a:t> </a:t>
            </a:r>
            <a:r>
              <a:rPr lang="en-US" altLang="ko-KR" sz="700" dirty="0" smtClean="0">
                <a:latin typeface="+mn-ea"/>
                <a:ea typeface="+mn-ea"/>
              </a:rPr>
              <a:t>C59708(</a:t>
            </a:r>
            <a:r>
              <a:rPr lang="ko-KR" altLang="en-US" sz="700" dirty="0" smtClean="0">
                <a:latin typeface="+mn-ea"/>
                <a:ea typeface="+mn-ea"/>
              </a:rPr>
              <a:t>정산처리</a:t>
            </a:r>
            <a:r>
              <a:rPr lang="en-US" altLang="ko-KR" sz="700" dirty="0" smtClean="0">
                <a:latin typeface="+mn-ea"/>
                <a:ea typeface="+mn-ea"/>
              </a:rPr>
              <a:t>3)</a:t>
            </a:r>
            <a:endParaRPr lang="ko-KR" altLang="en-US" sz="700" dirty="0">
              <a:latin typeface="+mn-ea"/>
              <a:ea typeface="+mn-ea"/>
            </a:endParaRPr>
          </a:p>
        </p:txBody>
      </p:sp>
      <p:sp>
        <p:nvSpPr>
          <p:cNvPr id="394" name="TextBox 94"/>
          <p:cNvSpPr txBox="1">
            <a:spLocks noChangeArrowheads="1"/>
          </p:cNvSpPr>
          <p:nvPr/>
        </p:nvSpPr>
        <p:spPr bwMode="auto">
          <a:xfrm>
            <a:off x="2104850" y="2347947"/>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395" name="AutoShape 73"/>
          <p:cNvSpPr>
            <a:spLocks noChangeArrowheads="1"/>
          </p:cNvSpPr>
          <p:nvPr/>
        </p:nvSpPr>
        <p:spPr bwMode="auto">
          <a:xfrm>
            <a:off x="2480102" y="2835689"/>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조회 건수 </a:t>
            </a:r>
            <a:r>
              <a:rPr lang="en-US" altLang="ko-KR" sz="800" dirty="0" smtClean="0">
                <a:latin typeface="+mn-ea"/>
                <a:ea typeface="+mn-ea"/>
              </a:rPr>
              <a:t>!= 0</a:t>
            </a:r>
          </a:p>
        </p:txBody>
      </p:sp>
      <p:sp>
        <p:nvSpPr>
          <p:cNvPr id="397" name="AutoShape 86"/>
          <p:cNvSpPr>
            <a:spLocks noChangeArrowheads="1"/>
          </p:cNvSpPr>
          <p:nvPr/>
        </p:nvSpPr>
        <p:spPr bwMode="auto">
          <a:xfrm>
            <a:off x="1190907" y="228567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온라인정산진행체크</a:t>
            </a:r>
            <a:endParaRPr lang="en-US" altLang="ko-KR" sz="600" b="1" dirty="0" smtClean="0">
              <a:latin typeface="+mn-ea"/>
              <a:ea typeface="+mn-ea"/>
            </a:endParaRPr>
          </a:p>
          <a:p>
            <a:pPr algn="ctr"/>
            <a:r>
              <a:rPr lang="en-US" altLang="ko-KR" sz="600" b="1" dirty="0" smtClean="0">
                <a:latin typeface="+mn-ea"/>
                <a:ea typeface="+mn-ea"/>
              </a:rPr>
              <a:t>T_ONLINE_STLM_CHECK</a:t>
            </a:r>
            <a:endParaRPr lang="ko-KR" altLang="en-US" sz="600" b="1" dirty="0">
              <a:latin typeface="+mn-ea"/>
              <a:ea typeface="+mn-ea"/>
            </a:endParaRPr>
          </a:p>
        </p:txBody>
      </p:sp>
      <p:sp>
        <p:nvSpPr>
          <p:cNvPr id="398" name="Text Box 82"/>
          <p:cNvSpPr txBox="1">
            <a:spLocks noChangeArrowheads="1"/>
          </p:cNvSpPr>
          <p:nvPr/>
        </p:nvSpPr>
        <p:spPr bwMode="gray">
          <a:xfrm>
            <a:off x="3467835" y="3068960"/>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399" name="AutoShape 67"/>
          <p:cNvCxnSpPr>
            <a:cxnSpLocks noChangeShapeType="1"/>
            <a:stCxn id="395" idx="3"/>
            <a:endCxn id="169" idx="4"/>
          </p:cNvCxnSpPr>
          <p:nvPr/>
        </p:nvCxnSpPr>
        <p:spPr bwMode="gray">
          <a:xfrm flipV="1">
            <a:off x="3602850" y="2736298"/>
            <a:ext cx="993706" cy="336722"/>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0" name="AutoShape 73"/>
          <p:cNvSpPr>
            <a:spLocks noChangeArrowheads="1"/>
          </p:cNvSpPr>
          <p:nvPr/>
        </p:nvSpPr>
        <p:spPr bwMode="auto">
          <a:xfrm>
            <a:off x="2481185" y="3566778"/>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조회 건수 </a:t>
            </a:r>
            <a:r>
              <a:rPr lang="en-US" altLang="ko-KR" sz="800" dirty="0" smtClean="0">
                <a:latin typeface="+mn-ea"/>
                <a:ea typeface="+mn-ea"/>
              </a:rPr>
              <a:t>&lt; 3</a:t>
            </a:r>
          </a:p>
        </p:txBody>
      </p:sp>
      <p:sp>
        <p:nvSpPr>
          <p:cNvPr id="401" name="Text Box 82"/>
          <p:cNvSpPr txBox="1">
            <a:spLocks noChangeArrowheads="1"/>
          </p:cNvSpPr>
          <p:nvPr/>
        </p:nvSpPr>
        <p:spPr bwMode="gray">
          <a:xfrm>
            <a:off x="2993372" y="3262997"/>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402" name="AutoShape 67"/>
          <p:cNvCxnSpPr>
            <a:cxnSpLocks noChangeShapeType="1"/>
            <a:stCxn id="395" idx="2"/>
            <a:endCxn id="400" idx="0"/>
          </p:cNvCxnSpPr>
          <p:nvPr/>
        </p:nvCxnSpPr>
        <p:spPr bwMode="gray">
          <a:xfrm>
            <a:off x="3041476" y="3310351"/>
            <a:ext cx="1083" cy="256427"/>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3" name="TextBox 94"/>
          <p:cNvSpPr txBox="1">
            <a:spLocks noChangeArrowheads="1"/>
          </p:cNvSpPr>
          <p:nvPr/>
        </p:nvSpPr>
        <p:spPr bwMode="auto">
          <a:xfrm>
            <a:off x="1025662" y="3053426"/>
            <a:ext cx="1726351" cy="71711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rPr>
              <a:t>조회조건 </a:t>
            </a:r>
            <a:r>
              <a:rPr lang="en-US" altLang="ko-KR" sz="700" dirty="0" smtClean="0">
                <a:latin typeface="+mn-ea"/>
                <a:ea typeface="+mn-ea"/>
              </a:rPr>
              <a:t>: </a:t>
            </a:r>
            <a:r>
              <a:rPr lang="ko-KR" altLang="en-US" sz="700" dirty="0" err="1" smtClean="0">
                <a:latin typeface="+mn-ea"/>
                <a:ea typeface="+mn-ea"/>
              </a:rPr>
              <a:t>정산년월</a:t>
            </a:r>
            <a:r>
              <a:rPr lang="en-US" altLang="ko-KR" sz="700" dirty="0">
                <a:latin typeface="+mn-ea"/>
                <a:ea typeface="+mn-ea"/>
              </a:rPr>
              <a:t>, </a:t>
            </a:r>
            <a:r>
              <a:rPr lang="ko-KR" altLang="en-US" sz="700" dirty="0" smtClean="0">
                <a:latin typeface="+mn-ea"/>
                <a:ea typeface="+mn-ea"/>
              </a:rPr>
              <a:t>정산매장</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상위브랜드</a:t>
            </a:r>
            <a:r>
              <a:rPr lang="en-US" altLang="ko-KR" sz="700" dirty="0" smtClean="0">
                <a:latin typeface="+mn-ea"/>
                <a:ea typeface="+mn-ea"/>
              </a:rPr>
              <a:t>, MALL_ID</a:t>
            </a:r>
          </a:p>
          <a:p>
            <a:pPr>
              <a:spcBef>
                <a:spcPct val="20000"/>
              </a:spcBef>
              <a:buClr>
                <a:srgbClr val="003366"/>
              </a:buClr>
            </a:pPr>
            <a:r>
              <a:rPr lang="en-US" altLang="ko-KR" sz="700" dirty="0" smtClean="0">
                <a:latin typeface="+mn-ea"/>
                <a:ea typeface="+mn-ea"/>
              </a:rPr>
              <a:t>WORK_CLSBY </a:t>
            </a:r>
          </a:p>
          <a:p>
            <a:pPr marL="171450" indent="-171450">
              <a:spcBef>
                <a:spcPct val="20000"/>
              </a:spcBef>
              <a:buClr>
                <a:srgbClr val="003366"/>
              </a:buClr>
              <a:buFont typeface="Wingdings" panose="05000000000000000000" pitchFamily="2" charset="2"/>
              <a:buChar char="è"/>
            </a:pPr>
            <a:r>
              <a:rPr lang="en-US" altLang="ko-KR" sz="700" dirty="0" smtClean="0">
                <a:latin typeface="+mn-ea"/>
                <a:ea typeface="+mn-ea"/>
                <a:sym typeface="Wingdings" panose="05000000000000000000" pitchFamily="2" charset="2"/>
              </a:rPr>
              <a:t>(</a:t>
            </a:r>
            <a:r>
              <a:rPr lang="en-US" altLang="ko-KR" sz="700" dirty="0">
                <a:latin typeface="+mn-ea"/>
                <a:ea typeface="+mn-ea"/>
                <a:sym typeface="Wingdings" panose="05000000000000000000" pitchFamily="2" charset="2"/>
              </a:rPr>
              <a:t>'C59701', 'C59702', 'C59703</a:t>
            </a:r>
            <a:r>
              <a:rPr lang="en-US" altLang="ko-KR" sz="700" dirty="0" smtClean="0">
                <a:latin typeface="+mn-ea"/>
                <a:ea typeface="+mn-ea"/>
                <a:sym typeface="Wingdings" panose="05000000000000000000" pitchFamily="2" charset="2"/>
              </a:rPr>
              <a:t>')</a:t>
            </a:r>
          </a:p>
          <a:p>
            <a:pPr>
              <a:spcBef>
                <a:spcPct val="20000"/>
              </a:spcBef>
              <a:buClr>
                <a:srgbClr val="003366"/>
              </a:buClr>
            </a:pPr>
            <a:r>
              <a:rPr lang="en-US" altLang="ko-KR" sz="700" dirty="0">
                <a:latin typeface="+mn-ea"/>
                <a:ea typeface="+mn-ea"/>
                <a:sym typeface="Wingdings" panose="05000000000000000000" pitchFamily="2" charset="2"/>
              </a:rPr>
              <a:t> </a:t>
            </a:r>
            <a:r>
              <a:rPr lang="en-US" altLang="ko-KR" sz="700" dirty="0" smtClean="0">
                <a:latin typeface="+mn-ea"/>
                <a:ea typeface="+mn-ea"/>
                <a:sym typeface="Wingdings" panose="05000000000000000000" pitchFamily="2" charset="2"/>
              </a:rPr>
              <a:t> </a:t>
            </a:r>
            <a:r>
              <a:rPr lang="ko-KR" altLang="en-US" sz="700" dirty="0" smtClean="0">
                <a:latin typeface="+mn-ea"/>
                <a:ea typeface="+mn-ea"/>
                <a:sym typeface="Wingdings" panose="05000000000000000000" pitchFamily="2" charset="2"/>
              </a:rPr>
              <a:t>정산업로드</a:t>
            </a:r>
            <a:r>
              <a:rPr lang="en-US" altLang="ko-KR" sz="700" dirty="0" smtClean="0">
                <a:latin typeface="+mn-ea"/>
                <a:ea typeface="+mn-ea"/>
                <a:sym typeface="Wingdings" panose="05000000000000000000" pitchFamily="2" charset="2"/>
              </a:rPr>
              <a:t>/</a:t>
            </a:r>
            <a:r>
              <a:rPr lang="ko-KR" altLang="en-US" sz="700" dirty="0" err="1" smtClean="0">
                <a:latin typeface="+mn-ea"/>
                <a:ea typeface="+mn-ea"/>
                <a:sym typeface="Wingdings" panose="05000000000000000000" pitchFamily="2" charset="2"/>
              </a:rPr>
              <a:t>품번매칭</a:t>
            </a:r>
            <a:r>
              <a:rPr lang="en-US" altLang="ko-KR" sz="700" dirty="0" smtClean="0">
                <a:latin typeface="+mn-ea"/>
                <a:ea typeface="+mn-ea"/>
                <a:sym typeface="Wingdings" panose="05000000000000000000" pitchFamily="2" charset="2"/>
              </a:rPr>
              <a:t>/</a:t>
            </a:r>
            <a:r>
              <a:rPr lang="ko-KR" altLang="en-US" sz="700" dirty="0" err="1" smtClean="0">
                <a:latin typeface="+mn-ea"/>
                <a:ea typeface="+mn-ea"/>
                <a:sym typeface="Wingdings" panose="05000000000000000000" pitchFamily="2" charset="2"/>
              </a:rPr>
              <a:t>판매매칭</a:t>
            </a:r>
            <a:endParaRPr lang="ko-KR" altLang="en-US" sz="700" dirty="0">
              <a:latin typeface="+mn-ea"/>
              <a:ea typeface="+mn-ea"/>
            </a:endParaRPr>
          </a:p>
        </p:txBody>
      </p:sp>
      <p:cxnSp>
        <p:nvCxnSpPr>
          <p:cNvPr id="404" name="AutoShape 67"/>
          <p:cNvCxnSpPr>
            <a:cxnSpLocks noChangeShapeType="1"/>
            <a:stCxn id="400" idx="3"/>
            <a:endCxn id="169" idx="4"/>
          </p:cNvCxnSpPr>
          <p:nvPr/>
        </p:nvCxnSpPr>
        <p:spPr bwMode="gray">
          <a:xfrm flipV="1">
            <a:off x="3603933" y="2736298"/>
            <a:ext cx="992623" cy="1067811"/>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5" name="Text Box 82"/>
          <p:cNvSpPr txBox="1">
            <a:spLocks noChangeArrowheads="1"/>
          </p:cNvSpPr>
          <p:nvPr/>
        </p:nvSpPr>
        <p:spPr bwMode="gray">
          <a:xfrm>
            <a:off x="3366087" y="3562583"/>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407" name="AutoShape 67"/>
          <p:cNvCxnSpPr>
            <a:cxnSpLocks noChangeShapeType="1"/>
            <a:stCxn id="400" idx="2"/>
            <a:endCxn id="452" idx="0"/>
          </p:cNvCxnSpPr>
          <p:nvPr/>
        </p:nvCxnSpPr>
        <p:spPr bwMode="gray">
          <a:xfrm>
            <a:off x="3042559" y="4041440"/>
            <a:ext cx="6384" cy="493512"/>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8" name="Text Box 82"/>
          <p:cNvSpPr txBox="1">
            <a:spLocks noChangeArrowheads="1"/>
          </p:cNvSpPr>
          <p:nvPr/>
        </p:nvSpPr>
        <p:spPr bwMode="gray">
          <a:xfrm>
            <a:off x="3124471" y="4003083"/>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417" name="Rectangle 49"/>
          <p:cNvSpPr>
            <a:spLocks noChangeArrowheads="1"/>
          </p:cNvSpPr>
          <p:nvPr/>
        </p:nvSpPr>
        <p:spPr bwMode="gray">
          <a:xfrm>
            <a:off x="3792560" y="5741236"/>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공급가계산</a:t>
            </a:r>
            <a:endParaRPr lang="ko-KR" altLang="en-US" sz="800" b="1" dirty="0">
              <a:latin typeface="+mn-ea"/>
              <a:ea typeface="+mn-ea"/>
            </a:endParaRPr>
          </a:p>
        </p:txBody>
      </p:sp>
      <p:sp>
        <p:nvSpPr>
          <p:cNvPr id="418" name="TextBox 94"/>
          <p:cNvSpPr txBox="1">
            <a:spLocks noChangeArrowheads="1"/>
          </p:cNvSpPr>
          <p:nvPr/>
        </p:nvSpPr>
        <p:spPr bwMode="auto">
          <a:xfrm>
            <a:off x="3728790" y="5958861"/>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SP_CAL_SALE_SPPR_MNG</a:t>
            </a:r>
            <a:endParaRPr lang="ko-KR" altLang="en-US" sz="800" b="1" dirty="0">
              <a:latin typeface="+mn-ea"/>
              <a:ea typeface="+mn-ea"/>
            </a:endParaRPr>
          </a:p>
        </p:txBody>
      </p:sp>
      <p:sp>
        <p:nvSpPr>
          <p:cNvPr id="420" name="Oval 108"/>
          <p:cNvSpPr>
            <a:spLocks noChangeArrowheads="1"/>
          </p:cNvSpPr>
          <p:nvPr/>
        </p:nvSpPr>
        <p:spPr bwMode="gray">
          <a:xfrm>
            <a:off x="5319721" y="5036137"/>
            <a:ext cx="627665"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판매</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421" name="Text Box 121"/>
          <p:cNvSpPr txBox="1">
            <a:spLocks noChangeArrowheads="1"/>
          </p:cNvSpPr>
          <p:nvPr/>
        </p:nvSpPr>
        <p:spPr bwMode="gray">
          <a:xfrm>
            <a:off x="4592960" y="5172580"/>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pPr algn="ctr"/>
            <a:r>
              <a:rPr lang="en-US" altLang="ko-KR" sz="800" dirty="0" smtClean="0">
                <a:latin typeface="+mn-ea"/>
                <a:ea typeface="+mn-ea"/>
              </a:rPr>
              <a:t>SHOP_RNDS_ID</a:t>
            </a:r>
          </a:p>
          <a:p>
            <a:pPr algn="ctr"/>
            <a:r>
              <a:rPr lang="en-US" altLang="ko-KR" sz="800" dirty="0" smtClean="0">
                <a:latin typeface="+mn-ea"/>
                <a:ea typeface="+mn-ea"/>
              </a:rPr>
              <a:t>REG_NO</a:t>
            </a:r>
          </a:p>
        </p:txBody>
      </p:sp>
      <p:cxnSp>
        <p:nvCxnSpPr>
          <p:cNvPr id="423" name="AutoShape 67"/>
          <p:cNvCxnSpPr>
            <a:cxnSpLocks noChangeShapeType="1"/>
            <a:stCxn id="417" idx="3"/>
            <a:endCxn id="420" idx="4"/>
          </p:cNvCxnSpPr>
          <p:nvPr/>
        </p:nvCxnSpPr>
        <p:spPr bwMode="gray">
          <a:xfrm flipV="1">
            <a:off x="5118123" y="5388562"/>
            <a:ext cx="515431" cy="461487"/>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4" name="AutoShape 86"/>
          <p:cNvSpPr>
            <a:spLocks noChangeArrowheads="1"/>
          </p:cNvSpPr>
          <p:nvPr/>
        </p:nvSpPr>
        <p:spPr bwMode="auto">
          <a:xfrm>
            <a:off x="5765534" y="37238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425" name="AutoShape 86"/>
          <p:cNvSpPr>
            <a:spLocks noChangeArrowheads="1"/>
          </p:cNvSpPr>
          <p:nvPr/>
        </p:nvSpPr>
        <p:spPr bwMode="auto">
          <a:xfrm>
            <a:off x="4978288" y="37238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a:t>
            </a:r>
            <a:endParaRPr lang="en-US" altLang="ko-KR" sz="600" b="1" dirty="0" smtClean="0">
              <a:latin typeface="+mn-ea"/>
              <a:ea typeface="+mn-ea"/>
            </a:endParaRPr>
          </a:p>
          <a:p>
            <a:pPr algn="ctr"/>
            <a:r>
              <a:rPr lang="en-US" altLang="ko-KR" sz="600" b="1" dirty="0" smtClean="0">
                <a:latin typeface="+mn-ea"/>
                <a:ea typeface="+mn-ea"/>
              </a:rPr>
              <a:t>T_SALE</a:t>
            </a:r>
            <a:endParaRPr lang="ko-KR" altLang="en-US" sz="600" b="1" dirty="0">
              <a:latin typeface="+mn-ea"/>
              <a:ea typeface="+mn-ea"/>
            </a:endParaRPr>
          </a:p>
        </p:txBody>
      </p:sp>
      <p:sp>
        <p:nvSpPr>
          <p:cNvPr id="427" name="AutoShape 86"/>
          <p:cNvSpPr>
            <a:spLocks noChangeArrowheads="1"/>
          </p:cNvSpPr>
          <p:nvPr/>
        </p:nvSpPr>
        <p:spPr bwMode="auto">
          <a:xfrm>
            <a:off x="6460289" y="414908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ea typeface="+mn-ea"/>
              </a:rPr>
              <a:t>온라인정산이력</a:t>
            </a:r>
            <a:endParaRPr lang="en-US" altLang="ko-KR" sz="600" b="1" dirty="0" smtClean="0">
              <a:latin typeface="+mn-ea"/>
              <a:ea typeface="+mn-ea"/>
            </a:endParaRPr>
          </a:p>
          <a:p>
            <a:pPr algn="ctr"/>
            <a:r>
              <a:rPr lang="en-US" altLang="ko-KR" sz="600" b="1" dirty="0">
                <a:latin typeface="+mn-ea"/>
                <a:ea typeface="+mn-ea"/>
              </a:rPr>
              <a:t>T_ONLINE_STLM_PRCS_BASE</a:t>
            </a:r>
            <a:endParaRPr lang="ko-KR" altLang="en-US" sz="600" b="1" dirty="0">
              <a:latin typeface="+mn-ea"/>
              <a:ea typeface="+mn-ea"/>
            </a:endParaRPr>
          </a:p>
        </p:txBody>
      </p:sp>
      <p:cxnSp>
        <p:nvCxnSpPr>
          <p:cNvPr id="428" name="AutoShape 67"/>
          <p:cNvCxnSpPr>
            <a:cxnSpLocks noChangeShapeType="1"/>
            <a:stCxn id="420" idx="0"/>
            <a:endCxn id="424" idx="3"/>
          </p:cNvCxnSpPr>
          <p:nvPr/>
        </p:nvCxnSpPr>
        <p:spPr bwMode="gray">
          <a:xfrm rot="5400000" flipH="1" flipV="1">
            <a:off x="5428960" y="4416195"/>
            <a:ext cx="824536" cy="415349"/>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0" name="AutoShape 67"/>
          <p:cNvCxnSpPr>
            <a:cxnSpLocks noChangeShapeType="1"/>
            <a:stCxn id="420" idx="0"/>
            <a:endCxn id="425" idx="3"/>
          </p:cNvCxnSpPr>
          <p:nvPr/>
        </p:nvCxnSpPr>
        <p:spPr bwMode="gray">
          <a:xfrm rot="16200000" flipV="1">
            <a:off x="5035338" y="4437920"/>
            <a:ext cx="824536" cy="371897"/>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4" name="AutoShape 67"/>
          <p:cNvCxnSpPr>
            <a:cxnSpLocks noChangeShapeType="1"/>
            <a:stCxn id="420" idx="6"/>
            <a:endCxn id="427" idx="3"/>
          </p:cNvCxnSpPr>
          <p:nvPr/>
        </p:nvCxnSpPr>
        <p:spPr bwMode="gray">
          <a:xfrm flipV="1">
            <a:off x="5947386" y="4636838"/>
            <a:ext cx="796272" cy="575512"/>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7" name="Rectangle 49"/>
          <p:cNvSpPr>
            <a:spLocks noChangeArrowheads="1"/>
          </p:cNvSpPr>
          <p:nvPr/>
        </p:nvSpPr>
        <p:spPr bwMode="gray">
          <a:xfrm>
            <a:off x="6285638" y="5499230"/>
            <a:ext cx="91135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판매수불</a:t>
            </a:r>
            <a:r>
              <a:rPr lang="en-US" altLang="ko-KR" sz="800" b="1" dirty="0" smtClean="0">
                <a:latin typeface="+mn-ea"/>
                <a:ea typeface="+mn-ea"/>
              </a:rPr>
              <a:t>ID</a:t>
            </a:r>
            <a:r>
              <a:rPr lang="ko-KR" altLang="en-US" sz="800" b="1" dirty="0" smtClean="0">
                <a:latin typeface="+mn-ea"/>
                <a:ea typeface="+mn-ea"/>
              </a:rPr>
              <a:t>갱신</a:t>
            </a:r>
            <a:endParaRPr lang="ko-KR" altLang="en-US" sz="800" b="1" dirty="0">
              <a:latin typeface="+mn-ea"/>
              <a:ea typeface="+mn-ea"/>
            </a:endParaRPr>
          </a:p>
        </p:txBody>
      </p:sp>
      <p:cxnSp>
        <p:nvCxnSpPr>
          <p:cNvPr id="438" name="AutoShape 67"/>
          <p:cNvCxnSpPr>
            <a:cxnSpLocks noChangeShapeType="1"/>
            <a:stCxn id="420" idx="6"/>
            <a:endCxn id="437" idx="0"/>
          </p:cNvCxnSpPr>
          <p:nvPr/>
        </p:nvCxnSpPr>
        <p:spPr bwMode="gray">
          <a:xfrm>
            <a:off x="5947386" y="5212350"/>
            <a:ext cx="793930" cy="286880"/>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3" name="AutoShape 86"/>
          <p:cNvSpPr>
            <a:spLocks noChangeArrowheads="1"/>
          </p:cNvSpPr>
          <p:nvPr/>
        </p:nvSpPr>
        <p:spPr bwMode="auto">
          <a:xfrm>
            <a:off x="5283390" y="595657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cxnSp>
        <p:nvCxnSpPr>
          <p:cNvPr id="444" name="AutoShape 67"/>
          <p:cNvCxnSpPr>
            <a:cxnSpLocks noChangeShapeType="1"/>
            <a:stCxn id="437" idx="1"/>
            <a:endCxn id="443" idx="4"/>
          </p:cNvCxnSpPr>
          <p:nvPr/>
        </p:nvCxnSpPr>
        <p:spPr bwMode="gray">
          <a:xfrm rot="10800000" flipV="1">
            <a:off x="5850128" y="5608042"/>
            <a:ext cx="435510" cy="592413"/>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0" name="TextBox 94"/>
          <p:cNvSpPr txBox="1">
            <a:spLocks noChangeArrowheads="1"/>
          </p:cNvSpPr>
          <p:nvPr/>
        </p:nvSpPr>
        <p:spPr bwMode="auto">
          <a:xfrm>
            <a:off x="6161098" y="5724255"/>
            <a:ext cx="1177167" cy="587853"/>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700" dirty="0" smtClean="0">
                <a:latin typeface="+mn-ea"/>
                <a:ea typeface="+mn-ea"/>
              </a:rPr>
              <a:t>STLM_SALE_RNDS_ID</a:t>
            </a:r>
          </a:p>
          <a:p>
            <a:pPr>
              <a:spcBef>
                <a:spcPct val="20000"/>
              </a:spcBef>
              <a:buClr>
                <a:srgbClr val="003366"/>
              </a:buClr>
            </a:pPr>
            <a:r>
              <a:rPr lang="ko-KR" altLang="en-US" sz="700" dirty="0" smtClean="0">
                <a:latin typeface="+mn-ea"/>
                <a:ea typeface="+mn-ea"/>
              </a:rPr>
              <a:t>매장</a:t>
            </a:r>
            <a:r>
              <a:rPr lang="en-US" altLang="ko-KR" sz="700" dirty="0" smtClean="0">
                <a:latin typeface="+mn-ea"/>
                <a:ea typeface="+mn-ea"/>
              </a:rPr>
              <a:t>, </a:t>
            </a:r>
            <a:r>
              <a:rPr lang="ko-KR" altLang="en-US" sz="700" dirty="0" smtClean="0">
                <a:latin typeface="+mn-ea"/>
                <a:ea typeface="+mn-ea"/>
              </a:rPr>
              <a:t>판매금액</a:t>
            </a:r>
            <a:r>
              <a:rPr lang="en-US" altLang="ko-KR" sz="700" dirty="0" smtClean="0">
                <a:latin typeface="+mn-ea"/>
                <a:ea typeface="+mn-ea"/>
              </a:rPr>
              <a:t>, </a:t>
            </a:r>
            <a:r>
              <a:rPr lang="ko-KR" altLang="en-US" sz="700" dirty="0" smtClean="0">
                <a:latin typeface="+mn-ea"/>
                <a:ea typeface="+mn-ea"/>
              </a:rPr>
              <a:t>판매수량</a:t>
            </a:r>
            <a:endParaRPr lang="en-US" altLang="ko-KR" sz="700" dirty="0" smtClean="0">
              <a:latin typeface="+mn-ea"/>
              <a:ea typeface="+mn-ea"/>
            </a:endParaRPr>
          </a:p>
          <a:p>
            <a:pPr>
              <a:spcBef>
                <a:spcPct val="20000"/>
              </a:spcBef>
              <a:buClr>
                <a:srgbClr val="003366"/>
              </a:buClr>
            </a:pPr>
            <a:r>
              <a:rPr lang="en-US" altLang="ko-KR" sz="700" dirty="0" smtClean="0">
                <a:latin typeface="+mn-ea"/>
                <a:ea typeface="+mn-ea"/>
              </a:rPr>
              <a:t>END_YN </a:t>
            </a:r>
            <a:r>
              <a:rPr lang="en-US" altLang="ko-KR" sz="700" dirty="0" smtClean="0">
                <a:latin typeface="+mn-ea"/>
                <a:ea typeface="+mn-ea"/>
                <a:sym typeface="Wingdings" panose="05000000000000000000" pitchFamily="2" charset="2"/>
              </a:rPr>
              <a:t></a:t>
            </a:r>
            <a:r>
              <a:rPr lang="en-US" altLang="ko-KR" sz="700" dirty="0" smtClean="0">
                <a:latin typeface="+mn-ea"/>
                <a:ea typeface="+mn-ea"/>
              </a:rPr>
              <a:t> ‘Y’</a:t>
            </a:r>
          </a:p>
          <a:p>
            <a:pPr>
              <a:spcBef>
                <a:spcPct val="20000"/>
              </a:spcBef>
              <a:buClr>
                <a:srgbClr val="003366"/>
              </a:buClr>
            </a:pPr>
            <a:r>
              <a:rPr lang="en-US" altLang="ko-KR" sz="700" dirty="0" smtClean="0">
                <a:latin typeface="+mn-ea"/>
                <a:ea typeface="+mn-ea"/>
              </a:rPr>
              <a:t>END_YYMM </a:t>
            </a:r>
            <a:r>
              <a:rPr lang="en-US" altLang="ko-KR" sz="700" dirty="0" smtClean="0">
                <a:latin typeface="+mn-ea"/>
                <a:ea typeface="+mn-ea"/>
                <a:sym typeface="Wingdings" panose="05000000000000000000" pitchFamily="2" charset="2"/>
              </a:rPr>
              <a:t></a:t>
            </a:r>
            <a:r>
              <a:rPr lang="en-US" altLang="ko-KR" sz="700" dirty="0" smtClean="0">
                <a:latin typeface="+mn-ea"/>
                <a:ea typeface="+mn-ea"/>
              </a:rPr>
              <a:t> </a:t>
            </a:r>
            <a:r>
              <a:rPr lang="ko-KR" altLang="en-US" sz="700" dirty="0" err="1" smtClean="0">
                <a:latin typeface="+mn-ea"/>
                <a:ea typeface="+mn-ea"/>
              </a:rPr>
              <a:t>정산년월</a:t>
            </a:r>
            <a:endParaRPr lang="ko-KR" altLang="en-US" sz="700" dirty="0">
              <a:latin typeface="+mn-ea"/>
              <a:ea typeface="+mn-ea"/>
            </a:endParaRPr>
          </a:p>
        </p:txBody>
      </p:sp>
      <p:sp>
        <p:nvSpPr>
          <p:cNvPr id="452" name="Rectangle 49"/>
          <p:cNvSpPr>
            <a:spLocks noChangeArrowheads="1"/>
          </p:cNvSpPr>
          <p:nvPr/>
        </p:nvSpPr>
        <p:spPr bwMode="gray">
          <a:xfrm>
            <a:off x="2447960" y="4534952"/>
            <a:ext cx="1201965"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smtClean="0">
                <a:latin typeface="+mn-ea"/>
                <a:ea typeface="+mn-ea"/>
              </a:rPr>
              <a:t>이월주문정산일련번호</a:t>
            </a:r>
            <a:endParaRPr lang="en-US" altLang="ko-KR" sz="800" b="1" dirty="0" smtClean="0">
              <a:latin typeface="+mn-ea"/>
              <a:ea typeface="+mn-ea"/>
            </a:endParaRPr>
          </a:p>
          <a:p>
            <a:pPr algn="ctr"/>
            <a:r>
              <a:rPr lang="en-US" altLang="ko-KR" sz="800" b="1" dirty="0" smtClean="0">
                <a:latin typeface="+mn-ea"/>
                <a:ea typeface="+mn-ea"/>
              </a:rPr>
              <a:t>UPDATE </a:t>
            </a:r>
            <a:r>
              <a:rPr lang="ko-KR" altLang="en-US" sz="800" b="1" dirty="0" smtClean="0">
                <a:latin typeface="+mn-ea"/>
                <a:ea typeface="+mn-ea"/>
              </a:rPr>
              <a:t>처리</a:t>
            </a:r>
            <a:endParaRPr lang="ko-KR" altLang="en-US" sz="800" b="1" dirty="0">
              <a:latin typeface="+mn-ea"/>
              <a:ea typeface="+mn-ea"/>
            </a:endParaRPr>
          </a:p>
        </p:txBody>
      </p:sp>
      <p:sp>
        <p:nvSpPr>
          <p:cNvPr id="466" name="직사각형 465"/>
          <p:cNvSpPr/>
          <p:nvPr/>
        </p:nvSpPr>
        <p:spPr>
          <a:xfrm>
            <a:off x="5118123" y="1645887"/>
            <a:ext cx="1738426" cy="1039891"/>
          </a:xfrm>
          <a:prstGeom prst="rect">
            <a:avLst/>
          </a:prstGeom>
          <a:solidFill>
            <a:schemeClr val="accent1">
              <a:lumMod val="20000"/>
              <a:lumOff val="8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1200" b="1" kern="0" dirty="0" smtClean="0">
              <a:solidFill>
                <a:schemeClr val="bg1"/>
              </a:solidFill>
              <a:latin typeface="+mn-ea"/>
              <a:ea typeface="+mn-ea"/>
            </a:endParaRPr>
          </a:p>
        </p:txBody>
      </p:sp>
      <p:sp>
        <p:nvSpPr>
          <p:cNvPr id="467" name="AutoShape 86"/>
          <p:cNvSpPr>
            <a:spLocks noChangeArrowheads="1"/>
          </p:cNvSpPr>
          <p:nvPr/>
        </p:nvSpPr>
        <p:spPr bwMode="auto">
          <a:xfrm>
            <a:off x="5376372"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매장재고</a:t>
            </a:r>
            <a:endParaRPr lang="en-US" altLang="ko-KR" sz="600" b="1" dirty="0" smtClean="0">
              <a:latin typeface="+mn-ea"/>
              <a:ea typeface="+mn-ea"/>
            </a:endParaRPr>
          </a:p>
          <a:p>
            <a:pPr algn="ctr"/>
            <a:r>
              <a:rPr lang="en-US" altLang="ko-KR" sz="600" b="1" dirty="0" smtClean="0">
                <a:latin typeface="+mn-ea"/>
                <a:ea typeface="+mn-ea"/>
              </a:rPr>
              <a:t>T_SHOP_STOCK</a:t>
            </a:r>
            <a:endParaRPr lang="ko-KR" altLang="en-US" sz="600" b="1" dirty="0">
              <a:latin typeface="+mn-ea"/>
              <a:ea typeface="+mn-ea"/>
            </a:endParaRPr>
          </a:p>
        </p:txBody>
      </p:sp>
      <p:sp>
        <p:nvSpPr>
          <p:cNvPr id="468" name="AutoShape 86"/>
          <p:cNvSpPr>
            <a:spLocks noChangeArrowheads="1"/>
          </p:cNvSpPr>
          <p:nvPr/>
        </p:nvSpPr>
        <p:spPr bwMode="auto">
          <a:xfrm>
            <a:off x="6078125"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제품월수불</a:t>
            </a:r>
            <a:endParaRPr lang="en-US" altLang="ko-KR" sz="600" b="1" dirty="0" smtClean="0">
              <a:latin typeface="+mn-ea"/>
              <a:ea typeface="+mn-ea"/>
            </a:endParaRPr>
          </a:p>
          <a:p>
            <a:pPr algn="ctr"/>
            <a:r>
              <a:rPr lang="en-US" altLang="ko-KR" sz="600" b="1" dirty="0" smtClean="0">
                <a:latin typeface="+mn-ea"/>
                <a:ea typeface="+mn-ea"/>
              </a:rPr>
              <a:t>T_M_RNDS</a:t>
            </a:r>
            <a:endParaRPr lang="ko-KR" altLang="en-US" sz="600" b="1" dirty="0">
              <a:latin typeface="+mn-ea"/>
              <a:ea typeface="+mn-ea"/>
            </a:endParaRPr>
          </a:p>
        </p:txBody>
      </p:sp>
      <p:sp>
        <p:nvSpPr>
          <p:cNvPr id="469" name="TextBox 94"/>
          <p:cNvSpPr txBox="1">
            <a:spLocks noChangeArrowheads="1"/>
          </p:cNvSpPr>
          <p:nvPr/>
        </p:nvSpPr>
        <p:spPr bwMode="auto">
          <a:xfrm>
            <a:off x="5265640" y="1744961"/>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b="1" dirty="0" smtClean="0">
                <a:latin typeface="+mn-ea"/>
                <a:ea typeface="+mn-ea"/>
              </a:rPr>
              <a:t>패션</a:t>
            </a:r>
            <a:r>
              <a:rPr lang="en-US" altLang="ko-KR" sz="800" b="1" dirty="0" smtClean="0">
                <a:latin typeface="+mn-ea"/>
                <a:ea typeface="+mn-ea"/>
              </a:rPr>
              <a:t>ERP </a:t>
            </a:r>
            <a:r>
              <a:rPr lang="ko-KR" altLang="en-US" sz="800" b="1" dirty="0" smtClean="0">
                <a:latin typeface="+mn-ea"/>
                <a:ea typeface="+mn-ea"/>
              </a:rPr>
              <a:t>야간배치 갱신</a:t>
            </a:r>
            <a:endParaRPr lang="ko-KR" altLang="en-US" sz="800" b="1" dirty="0">
              <a:latin typeface="+mn-ea"/>
              <a:ea typeface="+mn-ea"/>
            </a:endParaRPr>
          </a:p>
        </p:txBody>
      </p:sp>
      <p:cxnSp>
        <p:nvCxnSpPr>
          <p:cNvPr id="470" name="AutoShape 67"/>
          <p:cNvCxnSpPr>
            <a:cxnSpLocks noChangeShapeType="1"/>
            <a:stCxn id="424" idx="1"/>
            <a:endCxn id="468" idx="3"/>
          </p:cNvCxnSpPr>
          <p:nvPr/>
        </p:nvCxnSpPr>
        <p:spPr bwMode="gray">
          <a:xfrm rot="5400000" flipH="1" flipV="1">
            <a:off x="5604078" y="2966428"/>
            <a:ext cx="1202240" cy="312591"/>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3" name="AutoShape 67"/>
          <p:cNvCxnSpPr>
            <a:cxnSpLocks noChangeShapeType="1"/>
            <a:stCxn id="424" idx="1"/>
            <a:endCxn id="467" idx="3"/>
          </p:cNvCxnSpPr>
          <p:nvPr/>
        </p:nvCxnSpPr>
        <p:spPr bwMode="gray">
          <a:xfrm rot="16200000" flipV="1">
            <a:off x="5253202" y="2928142"/>
            <a:ext cx="1202240" cy="389162"/>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7" name="TextBox 94"/>
          <p:cNvSpPr txBox="1">
            <a:spLocks noChangeArrowheads="1"/>
          </p:cNvSpPr>
          <p:nvPr/>
        </p:nvSpPr>
        <p:spPr bwMode="auto">
          <a:xfrm>
            <a:off x="244376" y="3135864"/>
            <a:ext cx="710120"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sym typeface="Wingdings" panose="05000000000000000000" pitchFamily="2" charset="2"/>
              </a:rPr>
              <a:t>엑셀업로드</a:t>
            </a:r>
            <a:endParaRPr lang="en-US" altLang="ko-KR" sz="800" dirty="0" smtClean="0">
              <a:latin typeface="+mn-ea"/>
              <a:ea typeface="+mn-ea"/>
              <a:sym typeface="Wingdings" panose="05000000000000000000" pitchFamily="2" charset="2"/>
            </a:endParaRPr>
          </a:p>
        </p:txBody>
      </p:sp>
      <p:cxnSp>
        <p:nvCxnSpPr>
          <p:cNvPr id="478" name="AutoShape 67"/>
          <p:cNvCxnSpPr>
            <a:cxnSpLocks noChangeShapeType="1"/>
            <a:stCxn id="477" idx="0"/>
            <a:endCxn id="390" idx="3"/>
          </p:cNvCxnSpPr>
          <p:nvPr/>
        </p:nvCxnSpPr>
        <p:spPr bwMode="gray">
          <a:xfrm flipV="1">
            <a:off x="599436" y="2773428"/>
            <a:ext cx="1418" cy="362436"/>
          </a:xfrm>
          <a:prstGeom prst="straightConnector1">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AutoShape 67"/>
          <p:cNvCxnSpPr>
            <a:cxnSpLocks noChangeShapeType="1"/>
            <a:stCxn id="90" idx="4"/>
          </p:cNvCxnSpPr>
          <p:nvPr/>
        </p:nvCxnSpPr>
        <p:spPr bwMode="gray">
          <a:xfrm>
            <a:off x="1231039" y="4125655"/>
            <a:ext cx="1815488"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TextBox 94"/>
          <p:cNvSpPr txBox="1">
            <a:spLocks noChangeArrowheads="1"/>
          </p:cNvSpPr>
          <p:nvPr/>
        </p:nvSpPr>
        <p:spPr bwMode="auto">
          <a:xfrm>
            <a:off x="1554500" y="3919161"/>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90" name="AutoShape 86"/>
          <p:cNvSpPr>
            <a:spLocks noChangeArrowheads="1"/>
          </p:cNvSpPr>
          <p:nvPr/>
        </p:nvSpPr>
        <p:spPr bwMode="auto">
          <a:xfrm>
            <a:off x="664301" y="3881776"/>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ea typeface="+mn-ea"/>
              </a:rPr>
              <a:t>온라인정산이력</a:t>
            </a:r>
            <a:endParaRPr lang="en-US" altLang="ko-KR" sz="600" b="1" dirty="0" smtClean="0">
              <a:latin typeface="+mn-ea"/>
              <a:ea typeface="+mn-ea"/>
            </a:endParaRPr>
          </a:p>
          <a:p>
            <a:pPr algn="ctr"/>
            <a:r>
              <a:rPr lang="en-US" altLang="ko-KR" sz="600" b="1" dirty="0" smtClean="0">
                <a:latin typeface="+mn-ea"/>
                <a:ea typeface="+mn-ea"/>
              </a:rPr>
              <a:t>T_ONLINE_STLM_PRCS_BASE</a:t>
            </a:r>
            <a:endParaRPr lang="ko-KR" altLang="en-US" sz="600" b="1" dirty="0">
              <a:latin typeface="+mn-ea"/>
              <a:ea typeface="+mn-ea"/>
            </a:endParaRPr>
          </a:p>
        </p:txBody>
      </p:sp>
      <p:sp>
        <p:nvSpPr>
          <p:cNvPr id="91" name="TextBox 94"/>
          <p:cNvSpPr txBox="1">
            <a:spLocks noChangeArrowheads="1"/>
          </p:cNvSpPr>
          <p:nvPr/>
        </p:nvSpPr>
        <p:spPr bwMode="auto">
          <a:xfrm>
            <a:off x="318001" y="4424394"/>
            <a:ext cx="2249734" cy="624786"/>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sym typeface="Wingdings" panose="05000000000000000000" pitchFamily="2" charset="2"/>
              </a:rPr>
              <a:t>조회 항목 </a:t>
            </a:r>
            <a:r>
              <a:rPr lang="en-US" altLang="ko-KR" sz="700" dirty="0">
                <a:latin typeface="+mn-ea"/>
                <a:ea typeface="+mn-ea"/>
                <a:sym typeface="Wingdings" panose="05000000000000000000" pitchFamily="2" charset="2"/>
              </a:rPr>
              <a:t>: </a:t>
            </a:r>
            <a:r>
              <a:rPr lang="en-US" altLang="ko-KR" sz="700" dirty="0" smtClean="0">
                <a:latin typeface="+mn-ea"/>
                <a:ea typeface="+mn-ea"/>
                <a:sym typeface="Wingdings" panose="05000000000000000000" pitchFamily="2" charset="2"/>
              </a:rPr>
              <a:t>ON_STLM_BASE_ID</a:t>
            </a:r>
          </a:p>
          <a:p>
            <a:pPr>
              <a:spcBef>
                <a:spcPct val="20000"/>
              </a:spcBef>
              <a:buClr>
                <a:srgbClr val="003366"/>
              </a:buClr>
            </a:pPr>
            <a:r>
              <a:rPr lang="ko-KR" altLang="en-US" sz="700" dirty="0" smtClean="0">
                <a:latin typeface="+mn-ea"/>
                <a:ea typeface="+mn-ea"/>
                <a:sym typeface="Wingdings" panose="05000000000000000000" pitchFamily="2" charset="2"/>
              </a:rPr>
              <a:t>조회조건 </a:t>
            </a:r>
            <a:r>
              <a:rPr lang="en-US" altLang="ko-KR" sz="700" dirty="0" smtClean="0">
                <a:latin typeface="+mn-ea"/>
                <a:ea typeface="+mn-ea"/>
                <a:sym typeface="Wingdings" panose="05000000000000000000" pitchFamily="2" charset="2"/>
              </a:rPr>
              <a:t>: STLM_CLSBY  </a:t>
            </a:r>
            <a:r>
              <a:rPr lang="en-US" altLang="ko-KR" sz="800" dirty="0" smtClean="0">
                <a:latin typeface="+mn-ea"/>
                <a:ea typeface="+mn-ea"/>
              </a:rPr>
              <a:t>C59502(</a:t>
            </a:r>
            <a:r>
              <a:rPr lang="ko-KR" altLang="en-US" sz="800" dirty="0" smtClean="0">
                <a:latin typeface="+mn-ea"/>
                <a:ea typeface="+mn-ea"/>
              </a:rPr>
              <a:t>주문</a:t>
            </a:r>
            <a:r>
              <a:rPr lang="en-US" altLang="ko-KR" sz="800" dirty="0" smtClean="0">
                <a:latin typeface="+mn-ea"/>
                <a:ea typeface="+mn-ea"/>
              </a:rPr>
              <a:t>/</a:t>
            </a:r>
            <a:r>
              <a:rPr lang="ko-KR" altLang="en-US" sz="800" dirty="0" smtClean="0">
                <a:latin typeface="+mn-ea"/>
                <a:ea typeface="+mn-ea"/>
              </a:rPr>
              <a:t>판매</a:t>
            </a:r>
            <a:r>
              <a:rPr lang="en-US" altLang="ko-KR" sz="800" dirty="0" smtClean="0">
                <a:latin typeface="+mn-ea"/>
                <a:ea typeface="+mn-ea"/>
              </a:rPr>
              <a:t>)</a:t>
            </a:r>
          </a:p>
          <a:p>
            <a:pPr>
              <a:spcBef>
                <a:spcPct val="20000"/>
              </a:spcBef>
              <a:buClr>
                <a:srgbClr val="003366"/>
              </a:buClr>
            </a:pPr>
            <a:r>
              <a:rPr lang="en-US" altLang="ko-KR" sz="800" dirty="0" smtClean="0">
                <a:latin typeface="+mn-ea"/>
                <a:ea typeface="+mn-ea"/>
              </a:rPr>
              <a:t>STLM_CMPL_CLSBY </a:t>
            </a:r>
            <a:r>
              <a:rPr lang="en-US" altLang="ko-KR" sz="800" dirty="0">
                <a:latin typeface="+mn-ea"/>
                <a:ea typeface="+mn-ea"/>
                <a:sym typeface="Wingdings" panose="05000000000000000000" pitchFamily="2" charset="2"/>
              </a:rPr>
              <a:t> </a:t>
            </a:r>
            <a:r>
              <a:rPr lang="en-US" altLang="ko-KR" sz="800" dirty="0" smtClean="0">
                <a:latin typeface="+mn-ea"/>
                <a:ea typeface="+mn-ea"/>
                <a:sym typeface="Wingdings" panose="05000000000000000000" pitchFamily="2" charset="2"/>
              </a:rPr>
              <a:t>C59602(</a:t>
            </a:r>
            <a:r>
              <a:rPr lang="ko-KR" altLang="en-US" sz="800" dirty="0" err="1" smtClean="0">
                <a:latin typeface="+mn-ea"/>
                <a:ea typeface="+mn-ea"/>
                <a:sym typeface="Wingdings" panose="05000000000000000000" pitchFamily="2" charset="2"/>
              </a:rPr>
              <a:t>미정산</a:t>
            </a:r>
            <a:r>
              <a:rPr lang="en-US" altLang="ko-KR" sz="800" dirty="0" smtClean="0">
                <a:latin typeface="+mn-ea"/>
                <a:ea typeface="+mn-ea"/>
                <a:sym typeface="Wingdings" panose="05000000000000000000" pitchFamily="2" charset="2"/>
              </a:rPr>
              <a:t>)</a:t>
            </a:r>
          </a:p>
          <a:p>
            <a:pPr>
              <a:spcBef>
                <a:spcPct val="20000"/>
              </a:spcBef>
              <a:buClr>
                <a:srgbClr val="003366"/>
              </a:buClr>
            </a:pPr>
            <a:r>
              <a:rPr lang="en-US" altLang="ko-KR" sz="700" dirty="0" smtClean="0">
                <a:latin typeface="+mn-ea"/>
                <a:ea typeface="+mn-ea"/>
              </a:rPr>
              <a:t>STLM_CLSBY1 </a:t>
            </a:r>
            <a:r>
              <a:rPr lang="en-US" altLang="ko-KR" sz="700" dirty="0" smtClean="0">
                <a:latin typeface="+mn-ea"/>
                <a:ea typeface="+mn-ea"/>
                <a:sym typeface="Wingdings" panose="05000000000000000000" pitchFamily="2" charset="2"/>
              </a:rPr>
              <a:t> </a:t>
            </a:r>
            <a:r>
              <a:rPr lang="ko-KR" altLang="en-US" sz="700" dirty="0" smtClean="0">
                <a:latin typeface="+mn-ea"/>
                <a:ea typeface="+mn-ea"/>
                <a:sym typeface="Wingdings" panose="05000000000000000000" pitchFamily="2" charset="2"/>
              </a:rPr>
              <a:t>구매확정</a:t>
            </a:r>
            <a:r>
              <a:rPr lang="en-US" altLang="ko-KR" sz="700" dirty="0" smtClean="0">
                <a:latin typeface="+mn-ea"/>
                <a:ea typeface="+mn-ea"/>
                <a:sym typeface="Wingdings" panose="05000000000000000000" pitchFamily="2" charset="2"/>
              </a:rPr>
              <a:t>, </a:t>
            </a:r>
            <a:r>
              <a:rPr lang="ko-KR" altLang="en-US" sz="700" dirty="0" smtClean="0">
                <a:latin typeface="+mn-ea"/>
                <a:ea typeface="+mn-ea"/>
                <a:sym typeface="Wingdings" panose="05000000000000000000" pitchFamily="2" charset="2"/>
              </a:rPr>
              <a:t>교환</a:t>
            </a:r>
            <a:r>
              <a:rPr lang="en-US" altLang="ko-KR" sz="700" dirty="0" smtClean="0">
                <a:latin typeface="+mn-ea"/>
                <a:ea typeface="+mn-ea"/>
                <a:sym typeface="Wingdings" panose="05000000000000000000" pitchFamily="2" charset="2"/>
              </a:rPr>
              <a:t>, </a:t>
            </a:r>
            <a:r>
              <a:rPr lang="ko-KR" altLang="en-US" sz="700" dirty="0" smtClean="0">
                <a:latin typeface="+mn-ea"/>
                <a:ea typeface="+mn-ea"/>
                <a:sym typeface="Wingdings" panose="05000000000000000000" pitchFamily="2" charset="2"/>
              </a:rPr>
              <a:t>취소</a:t>
            </a:r>
            <a:r>
              <a:rPr lang="en-US" altLang="ko-KR" sz="700" dirty="0" smtClean="0">
                <a:latin typeface="+mn-ea"/>
                <a:ea typeface="+mn-ea"/>
                <a:sym typeface="Wingdings" panose="05000000000000000000" pitchFamily="2" charset="2"/>
              </a:rPr>
              <a:t>, </a:t>
            </a:r>
            <a:r>
              <a:rPr lang="ko-KR" altLang="en-US" sz="700" dirty="0" err="1" smtClean="0">
                <a:latin typeface="+mn-ea"/>
                <a:ea typeface="+mn-ea"/>
                <a:sym typeface="Wingdings" panose="05000000000000000000" pitchFamily="2" charset="2"/>
              </a:rPr>
              <a:t>배송비제외</a:t>
            </a:r>
            <a:endParaRPr lang="ko-KR" altLang="en-US" sz="700" dirty="0">
              <a:latin typeface="+mn-ea"/>
              <a:ea typeface="+mn-ea"/>
            </a:endParaRPr>
          </a:p>
        </p:txBody>
      </p:sp>
      <p:sp>
        <p:nvSpPr>
          <p:cNvPr id="96" name="AutoShape 86"/>
          <p:cNvSpPr>
            <a:spLocks noChangeArrowheads="1"/>
          </p:cNvSpPr>
          <p:nvPr/>
        </p:nvSpPr>
        <p:spPr bwMode="auto">
          <a:xfrm>
            <a:off x="452500" y="531921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cxnSp>
        <p:nvCxnSpPr>
          <p:cNvPr id="97" name="AutoShape 67"/>
          <p:cNvCxnSpPr>
            <a:cxnSpLocks noChangeShapeType="1"/>
            <a:stCxn id="452" idx="2"/>
            <a:endCxn id="96" idx="1"/>
          </p:cNvCxnSpPr>
          <p:nvPr/>
        </p:nvCxnSpPr>
        <p:spPr bwMode="gray">
          <a:xfrm rot="5400000">
            <a:off x="1670645" y="3940911"/>
            <a:ext cx="443523" cy="2313074"/>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AutoShape 86"/>
          <p:cNvSpPr>
            <a:spLocks noChangeArrowheads="1"/>
          </p:cNvSpPr>
          <p:nvPr/>
        </p:nvSpPr>
        <p:spPr bwMode="auto">
          <a:xfrm>
            <a:off x="1262590" y="5322331"/>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103" name="AutoShape 86"/>
          <p:cNvSpPr>
            <a:spLocks noChangeArrowheads="1"/>
          </p:cNvSpPr>
          <p:nvPr/>
        </p:nvSpPr>
        <p:spPr bwMode="auto">
          <a:xfrm>
            <a:off x="2027675" y="5565994"/>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ea typeface="+mn-ea"/>
              </a:rPr>
              <a:t>온라인정산이력</a:t>
            </a:r>
            <a:endParaRPr lang="en-US" altLang="ko-KR" sz="600" b="1" dirty="0" smtClean="0">
              <a:latin typeface="+mn-ea"/>
              <a:ea typeface="+mn-ea"/>
            </a:endParaRPr>
          </a:p>
          <a:p>
            <a:pPr algn="ctr"/>
            <a:r>
              <a:rPr lang="en-US" altLang="ko-KR" sz="600" b="1" dirty="0" smtClean="0">
                <a:latin typeface="+mn-ea"/>
                <a:ea typeface="+mn-ea"/>
              </a:rPr>
              <a:t>T_ONLINE_STLM_PRCS_BASE</a:t>
            </a:r>
            <a:endParaRPr lang="ko-KR" altLang="en-US" sz="600" b="1" dirty="0">
              <a:latin typeface="+mn-ea"/>
              <a:ea typeface="+mn-ea"/>
            </a:endParaRPr>
          </a:p>
        </p:txBody>
      </p:sp>
      <p:sp>
        <p:nvSpPr>
          <p:cNvPr id="106" name="AutoShape 73"/>
          <p:cNvSpPr>
            <a:spLocks noChangeArrowheads="1"/>
          </p:cNvSpPr>
          <p:nvPr/>
        </p:nvSpPr>
        <p:spPr bwMode="auto">
          <a:xfrm>
            <a:off x="3555219" y="5081879"/>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cxnSp>
        <p:nvCxnSpPr>
          <p:cNvPr id="107" name="AutoShape 67"/>
          <p:cNvCxnSpPr>
            <a:cxnSpLocks noChangeShapeType="1"/>
            <a:stCxn id="105" idx="3"/>
            <a:endCxn id="106" idx="1"/>
          </p:cNvCxnSpPr>
          <p:nvPr/>
        </p:nvCxnSpPr>
        <p:spPr bwMode="gray">
          <a:xfrm flipV="1">
            <a:off x="2881204" y="5319210"/>
            <a:ext cx="674015" cy="328214"/>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TextBox 94"/>
          <p:cNvSpPr txBox="1">
            <a:spLocks noChangeArrowheads="1"/>
          </p:cNvSpPr>
          <p:nvPr/>
        </p:nvSpPr>
        <p:spPr bwMode="auto">
          <a:xfrm>
            <a:off x="2857497" y="5655011"/>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11" name="TextBox 94"/>
          <p:cNvSpPr txBox="1">
            <a:spLocks noChangeArrowheads="1"/>
          </p:cNvSpPr>
          <p:nvPr/>
        </p:nvSpPr>
        <p:spPr bwMode="auto">
          <a:xfrm>
            <a:off x="3080583" y="4959571"/>
            <a:ext cx="956644"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매장할인마진율</a:t>
            </a:r>
            <a:endParaRPr lang="en-US" altLang="ko-KR" sz="800" dirty="0" smtClean="0">
              <a:latin typeface="+mn-ea"/>
              <a:ea typeface="+mn-ea"/>
            </a:endParaRPr>
          </a:p>
        </p:txBody>
      </p:sp>
      <p:sp>
        <p:nvSpPr>
          <p:cNvPr id="112" name="Text Box 82"/>
          <p:cNvSpPr txBox="1">
            <a:spLocks noChangeArrowheads="1"/>
          </p:cNvSpPr>
          <p:nvPr/>
        </p:nvSpPr>
        <p:spPr bwMode="gray">
          <a:xfrm>
            <a:off x="4131829" y="4860409"/>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113" name="AutoShape 67"/>
          <p:cNvCxnSpPr>
            <a:cxnSpLocks noChangeShapeType="1"/>
            <a:stCxn id="106" idx="0"/>
            <a:endCxn id="169" idx="4"/>
          </p:cNvCxnSpPr>
          <p:nvPr/>
        </p:nvCxnSpPr>
        <p:spPr bwMode="gray">
          <a:xfrm rot="5400000" flipH="1" flipV="1">
            <a:off x="3183784" y="3669108"/>
            <a:ext cx="2345581" cy="479963"/>
          </a:xfrm>
          <a:prstGeom prst="bentConnector3">
            <a:avLst>
              <a:gd name="adj1" fmla="val 54548"/>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 name="AutoShape 67"/>
          <p:cNvCxnSpPr>
            <a:cxnSpLocks noChangeShapeType="1"/>
            <a:stCxn id="106" idx="2"/>
            <a:endCxn id="417" idx="0"/>
          </p:cNvCxnSpPr>
          <p:nvPr/>
        </p:nvCxnSpPr>
        <p:spPr bwMode="gray">
          <a:xfrm rot="16200000" flipH="1">
            <a:off x="4193620" y="5479513"/>
            <a:ext cx="184695" cy="338749"/>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 name="Text Box 82"/>
          <p:cNvSpPr txBox="1">
            <a:spLocks noChangeArrowheads="1"/>
          </p:cNvSpPr>
          <p:nvPr/>
        </p:nvSpPr>
        <p:spPr bwMode="gray">
          <a:xfrm>
            <a:off x="3753524" y="5487671"/>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22" name="순서도: 페이지 연결자 121"/>
          <p:cNvSpPr/>
          <p:nvPr/>
        </p:nvSpPr>
        <p:spPr>
          <a:xfrm>
            <a:off x="6558261" y="3113965"/>
            <a:ext cx="679669" cy="568329"/>
          </a:xfrm>
          <a:prstGeom prst="flowChartOffpageConnector">
            <a:avLst/>
          </a:prstGeom>
          <a:solidFill>
            <a:schemeClr val="accent1">
              <a:lumMod val="40000"/>
              <a:lumOff val="6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r>
              <a:rPr lang="ko-KR" altLang="en-US" sz="800" b="1" kern="0" dirty="0">
                <a:latin typeface="+mn-ea"/>
                <a:ea typeface="+mn-ea"/>
              </a:rPr>
              <a:t>판매 미 </a:t>
            </a:r>
            <a:endParaRPr lang="en-US" altLang="ko-KR" sz="800" b="1" kern="0" dirty="0">
              <a:latin typeface="+mn-ea"/>
              <a:ea typeface="+mn-ea"/>
            </a:endParaRPr>
          </a:p>
          <a:p>
            <a:pPr marL="268288" indent="-215900" algn="ctr">
              <a:spcBef>
                <a:spcPct val="20000"/>
              </a:spcBef>
              <a:buClr>
                <a:srgbClr val="FFD200"/>
              </a:buClr>
              <a:buSzPct val="75000"/>
            </a:pPr>
            <a:r>
              <a:rPr lang="ko-KR" altLang="en-US" sz="800" b="1" kern="0" dirty="0" err="1">
                <a:latin typeface="+mn-ea"/>
                <a:ea typeface="+mn-ea"/>
              </a:rPr>
              <a:t>매칭시작</a:t>
            </a:r>
            <a:endParaRPr lang="ko-KR" altLang="en-US" sz="800" b="1" kern="0" dirty="0">
              <a:latin typeface="+mn-ea"/>
              <a:ea typeface="+mn-ea"/>
            </a:endParaRPr>
          </a:p>
        </p:txBody>
      </p:sp>
      <p:cxnSp>
        <p:nvCxnSpPr>
          <p:cNvPr id="123" name="AutoShape 67"/>
          <p:cNvCxnSpPr>
            <a:cxnSpLocks noChangeShapeType="1"/>
            <a:stCxn id="427" idx="1"/>
            <a:endCxn id="122" idx="2"/>
          </p:cNvCxnSpPr>
          <p:nvPr/>
        </p:nvCxnSpPr>
        <p:spPr bwMode="gray">
          <a:xfrm rot="5400000" flipH="1" flipV="1">
            <a:off x="6587484" y="3838468"/>
            <a:ext cx="466786" cy="154438"/>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Box 94"/>
          <p:cNvSpPr txBox="1">
            <a:spLocks noChangeArrowheads="1"/>
          </p:cNvSpPr>
          <p:nvPr/>
        </p:nvSpPr>
        <p:spPr bwMode="auto">
          <a:xfrm>
            <a:off x="5984590" y="4689140"/>
            <a:ext cx="1443685" cy="415498"/>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a:latin typeface="+mn-ea"/>
                <a:ea typeface="+mn-ea"/>
              </a:rPr>
              <a:t>정산 처리 유형 </a:t>
            </a:r>
            <a:r>
              <a:rPr lang="en-US" altLang="ko-KR" sz="700" dirty="0">
                <a:latin typeface="+mn-ea"/>
                <a:ea typeface="+mn-ea"/>
              </a:rPr>
              <a:t>/ </a:t>
            </a:r>
            <a:r>
              <a:rPr lang="ko-KR" altLang="en-US" sz="700" dirty="0">
                <a:latin typeface="+mn-ea"/>
                <a:ea typeface="+mn-ea"/>
              </a:rPr>
              <a:t>정산 완료 여부 </a:t>
            </a:r>
            <a:r>
              <a:rPr lang="en-US" altLang="ko-KR" sz="700" dirty="0">
                <a:latin typeface="+mn-ea"/>
                <a:ea typeface="+mn-ea"/>
              </a:rPr>
              <a:t>/ </a:t>
            </a:r>
            <a:r>
              <a:rPr lang="ko-KR" altLang="en-US" sz="700" dirty="0">
                <a:latin typeface="+mn-ea"/>
                <a:ea typeface="+mn-ea"/>
              </a:rPr>
              <a:t>정산으로 발생한 수불번호 등 처리 </a:t>
            </a:r>
            <a:r>
              <a:rPr lang="ko-KR" altLang="en-US" sz="700" dirty="0" smtClean="0">
                <a:latin typeface="+mn-ea"/>
                <a:ea typeface="+mn-ea"/>
              </a:rPr>
              <a:t>이력 관리</a:t>
            </a:r>
            <a:endParaRPr lang="ko-KR" altLang="en-US" sz="700" dirty="0">
              <a:latin typeface="+mn-ea"/>
              <a:ea typeface="+mn-ea"/>
            </a:endParaRPr>
          </a:p>
        </p:txBody>
      </p:sp>
      <p:sp>
        <p:nvSpPr>
          <p:cNvPr id="85" name="TextBox 94"/>
          <p:cNvSpPr txBox="1">
            <a:spLocks noChangeArrowheads="1"/>
          </p:cNvSpPr>
          <p:nvPr/>
        </p:nvSpPr>
        <p:spPr bwMode="auto">
          <a:xfrm>
            <a:off x="1623287" y="6087854"/>
            <a:ext cx="1443685" cy="415498"/>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a:latin typeface="+mn-ea"/>
                <a:ea typeface="+mn-ea"/>
              </a:rPr>
              <a:t>정산 처리 유형 </a:t>
            </a:r>
            <a:r>
              <a:rPr lang="en-US" altLang="ko-KR" sz="700" dirty="0">
                <a:latin typeface="+mn-ea"/>
                <a:ea typeface="+mn-ea"/>
              </a:rPr>
              <a:t>/ </a:t>
            </a:r>
            <a:r>
              <a:rPr lang="ko-KR" altLang="en-US" sz="700" dirty="0">
                <a:latin typeface="+mn-ea"/>
                <a:ea typeface="+mn-ea"/>
              </a:rPr>
              <a:t>정산 완료 여부 </a:t>
            </a:r>
            <a:r>
              <a:rPr lang="en-US" altLang="ko-KR" sz="700" dirty="0">
                <a:latin typeface="+mn-ea"/>
                <a:ea typeface="+mn-ea"/>
              </a:rPr>
              <a:t>/ </a:t>
            </a:r>
            <a:r>
              <a:rPr lang="ko-KR" altLang="en-US" sz="700" dirty="0">
                <a:latin typeface="+mn-ea"/>
                <a:ea typeface="+mn-ea"/>
              </a:rPr>
              <a:t>정산으로 발생한 수불번호 등 처리 </a:t>
            </a:r>
            <a:r>
              <a:rPr lang="ko-KR" altLang="en-US" sz="700" dirty="0" smtClean="0">
                <a:latin typeface="+mn-ea"/>
                <a:ea typeface="+mn-ea"/>
              </a:rPr>
              <a:t>이력 관리</a:t>
            </a:r>
            <a:endParaRPr lang="ko-KR" altLang="en-US" sz="700" dirty="0">
              <a:latin typeface="+mn-ea"/>
              <a:ea typeface="+mn-ea"/>
            </a:endParaRPr>
          </a:p>
        </p:txBody>
      </p:sp>
    </p:spTree>
    <p:extLst>
      <p:ext uri="{BB962C8B-B14F-4D97-AF65-F5344CB8AC3E}">
        <p14:creationId xmlns:p14="http://schemas.microsoft.com/office/powerpoint/2010/main" val="3798434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직사각형 137"/>
          <p:cNvSpPr/>
          <p:nvPr/>
        </p:nvSpPr>
        <p:spPr>
          <a:xfrm>
            <a:off x="4960039" y="1645887"/>
            <a:ext cx="1618820" cy="1039891"/>
          </a:xfrm>
          <a:prstGeom prst="rect">
            <a:avLst/>
          </a:prstGeom>
          <a:solidFill>
            <a:schemeClr val="accent1">
              <a:lumMod val="20000"/>
              <a:lumOff val="8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1200" b="1" kern="0" dirty="0" smtClean="0">
              <a:solidFill>
                <a:schemeClr val="bg1"/>
              </a:solidFill>
              <a:latin typeface="+mn-ea"/>
              <a:ea typeface="+mn-ea"/>
            </a:endParaRPr>
          </a:p>
        </p:txBody>
      </p:sp>
      <p:sp>
        <p:nvSpPr>
          <p:cNvPr id="396" name="Rectangle 2"/>
          <p:cNvSpPr>
            <a:spLocks noChangeArrowheads="1"/>
          </p:cNvSpPr>
          <p:nvPr/>
        </p:nvSpPr>
        <p:spPr bwMode="gray">
          <a:xfrm>
            <a:off x="358201" y="2393885"/>
            <a:ext cx="1839618" cy="657751"/>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a:latin typeface="+mn-ea"/>
              <a:ea typeface="+mn-ea"/>
            </a:endParaRPr>
          </a:p>
        </p:txBody>
      </p:sp>
      <p:sp>
        <p:nvSpPr>
          <p:cNvPr id="11" name="제목 10"/>
          <p:cNvSpPr>
            <a:spLocks noGrp="1"/>
          </p:cNvSpPr>
          <p:nvPr>
            <p:ph type="title"/>
          </p:nvPr>
        </p:nvSpPr>
        <p:spPr/>
        <p:txBody>
          <a:bodyPr/>
          <a:lstStyle/>
          <a:p>
            <a:r>
              <a:rPr lang="en-US" altLang="ko-KR" dirty="0">
                <a:latin typeface="+mn-ea"/>
                <a:ea typeface="+mn-ea"/>
              </a:rPr>
              <a:t>6</a:t>
            </a:r>
            <a:r>
              <a:rPr lang="en-US" altLang="ko-KR" dirty="0" smtClean="0">
                <a:latin typeface="+mn-ea"/>
                <a:ea typeface="+mn-ea"/>
              </a:rPr>
              <a:t>. </a:t>
            </a:r>
            <a:r>
              <a:rPr lang="ko-KR" altLang="en-US" dirty="0" smtClean="0">
                <a:latin typeface="+mn-ea"/>
                <a:ea typeface="+mn-ea"/>
              </a:rPr>
              <a:t>외부 몰 정산</a:t>
            </a:r>
            <a:endParaRPr lang="ko-KR" altLang="en-US" sz="1400" dirty="0">
              <a:latin typeface="+mn-ea"/>
              <a:ea typeface="+mn-ea"/>
            </a:endParaRPr>
          </a:p>
        </p:txBody>
      </p:sp>
      <p:sp>
        <p:nvSpPr>
          <p:cNvPr id="42" name="TextBox 39"/>
          <p:cNvSpPr txBox="1">
            <a:spLocks noChangeArrowheads="1"/>
          </p:cNvSpPr>
          <p:nvPr/>
        </p:nvSpPr>
        <p:spPr bwMode="auto">
          <a:xfrm>
            <a:off x="218855" y="738114"/>
            <a:ext cx="9594685" cy="304699"/>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a:latin typeface="+mn-ea"/>
                <a:ea typeface="+mn-ea"/>
              </a:rPr>
              <a:t> </a:t>
            </a:r>
            <a:r>
              <a:rPr kumimoji="0" lang="ko-KR" altLang="en-US" sz="1200" b="1" dirty="0">
                <a:solidFill>
                  <a:prstClr val="black"/>
                </a:solidFill>
                <a:latin typeface="+mn-ea"/>
                <a:ea typeface="+mn-ea"/>
              </a:rPr>
              <a:t>외부 몰 판매에 대한 정산 처리</a:t>
            </a:r>
            <a:r>
              <a:rPr kumimoji="0" lang="en-US" altLang="ko-KR" sz="1200" b="1" dirty="0">
                <a:solidFill>
                  <a:prstClr val="black"/>
                </a:solidFill>
                <a:latin typeface="+mn-ea"/>
                <a:ea typeface="+mn-ea"/>
              </a:rPr>
              <a:t>. </a:t>
            </a:r>
            <a:r>
              <a:rPr kumimoji="0" lang="ko-KR" altLang="en-US" sz="1200" b="1" dirty="0">
                <a:solidFill>
                  <a:prstClr val="black"/>
                </a:solidFill>
                <a:latin typeface="+mn-ea"/>
                <a:ea typeface="+mn-ea"/>
              </a:rPr>
              <a:t>외부 몰 정산 </a:t>
            </a:r>
            <a:r>
              <a:rPr kumimoji="0" lang="en-US" altLang="ko-KR" sz="1200" b="1" dirty="0">
                <a:solidFill>
                  <a:prstClr val="black"/>
                </a:solidFill>
                <a:latin typeface="+mn-ea"/>
                <a:ea typeface="+mn-ea"/>
              </a:rPr>
              <a:t>LIST </a:t>
            </a:r>
            <a:r>
              <a:rPr kumimoji="0" lang="ko-KR" altLang="en-US" sz="1200" b="1" dirty="0">
                <a:solidFill>
                  <a:prstClr val="black"/>
                </a:solidFill>
                <a:latin typeface="+mn-ea"/>
                <a:ea typeface="+mn-ea"/>
              </a:rPr>
              <a:t>수취 후 외부 몰 정산 수행</a:t>
            </a:r>
            <a:r>
              <a:rPr kumimoji="0" lang="en-US" altLang="ko-KR" sz="1200" b="1" dirty="0">
                <a:solidFill>
                  <a:prstClr val="black"/>
                </a:solidFill>
                <a:latin typeface="+mn-ea"/>
                <a:ea typeface="+mn-ea"/>
              </a:rPr>
              <a:t>.</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mn-ea"/>
                <a:ea typeface="+mn-ea"/>
              </a:endParaRPr>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vl="0" eaLnBrk="0" latinLnBrk="0" hangingPunct="0">
                <a:lnSpc>
                  <a:spcPct val="140000"/>
                </a:lnSpc>
                <a:buClr>
                  <a:srgbClr val="1F497D"/>
                </a:buClr>
                <a:buSzPct val="75000"/>
                <a:buFont typeface="Wingdings" panose="05000000000000000000" pitchFamily="2" charset="2"/>
                <a:buChar char="u"/>
              </a:pPr>
              <a:r>
                <a:rPr kumimoji="0" lang="en-US" altLang="ko-KR" sz="900" b="1" dirty="0" smtClean="0">
                  <a:latin typeface="+mn-ea"/>
                  <a:ea typeface="+mn-ea"/>
                </a:rPr>
                <a:t> </a:t>
              </a:r>
              <a:r>
                <a:rPr kumimoji="0" lang="ko-KR" altLang="en-US" sz="900" b="1" dirty="0">
                  <a:solidFill>
                    <a:prstClr val="black"/>
                  </a:solidFill>
                  <a:latin typeface="+mn-ea"/>
                  <a:ea typeface="+mn-ea"/>
                </a:rPr>
                <a:t>정의</a:t>
              </a:r>
            </a:p>
            <a:p>
              <a:pPr lvl="0" eaLnBrk="0" latinLnBrk="0" hangingPunct="0">
                <a:lnSpc>
                  <a:spcPct val="140000"/>
                </a:lnSpc>
                <a:buClr>
                  <a:srgbClr val="1F497D"/>
                </a:buClr>
                <a:buSzPct val="75000"/>
              </a:pPr>
              <a:r>
                <a:rPr kumimoji="0" lang="ko-KR" altLang="en-US" sz="900" dirty="0">
                  <a:solidFill>
                    <a:prstClr val="black"/>
                  </a:solidFill>
                  <a:latin typeface="+mn-ea"/>
                  <a:ea typeface="+mn-ea"/>
                </a:rPr>
                <a:t>외부 몰의 판매에 대한 정산 처리</a:t>
              </a:r>
              <a:r>
                <a:rPr kumimoji="0" lang="en-US" altLang="ko-KR" sz="900" dirty="0">
                  <a:solidFill>
                    <a:prstClr val="black"/>
                  </a:solidFill>
                  <a:latin typeface="+mn-ea"/>
                  <a:ea typeface="+mn-ea"/>
                </a:rPr>
                <a:t>.</a:t>
              </a:r>
            </a:p>
            <a:p>
              <a:pPr lvl="0" eaLnBrk="0" latinLnBrk="0" hangingPunct="0">
                <a:lnSpc>
                  <a:spcPct val="140000"/>
                </a:lnSpc>
                <a:buClr>
                  <a:srgbClr val="1F497D"/>
                </a:buClr>
                <a:buSzPct val="75000"/>
              </a:pPr>
              <a:r>
                <a:rPr kumimoji="0" lang="en-US" altLang="ko-KR" sz="900" dirty="0">
                  <a:solidFill>
                    <a:prstClr val="black"/>
                  </a:solidFill>
                  <a:latin typeface="+mn-ea"/>
                  <a:ea typeface="+mn-ea"/>
                </a:rPr>
                <a:t>  </a:t>
              </a:r>
              <a:endParaRPr kumimoji="0" lang="ko-KR" altLang="en-US" sz="900" b="1" dirty="0">
                <a:solidFill>
                  <a:srgbClr val="FF0000"/>
                </a:solidFill>
                <a:latin typeface="+mn-ea"/>
                <a:ea typeface="+mn-ea"/>
              </a:endParaRPr>
            </a:p>
            <a:p>
              <a:pPr marL="85725" lvl="0" indent="-85725" eaLnBrk="0" latinLnBrk="0" hangingPunct="0">
                <a:lnSpc>
                  <a:spcPct val="140000"/>
                </a:lnSpc>
                <a:buClr>
                  <a:srgbClr val="1F497D"/>
                </a:buClr>
                <a:buSzPct val="75000"/>
                <a:buFont typeface="Wingdings" panose="05000000000000000000" pitchFamily="2" charset="2"/>
                <a:buChar char="u"/>
              </a:pPr>
              <a:r>
                <a:rPr kumimoji="0" lang="ko-KR" altLang="en-US" sz="900" b="1" dirty="0">
                  <a:solidFill>
                    <a:prstClr val="black"/>
                  </a:solidFill>
                  <a:latin typeface="+mn-ea"/>
                  <a:ea typeface="+mn-ea"/>
                </a:rPr>
                <a:t> 선행 프로세스</a:t>
              </a:r>
            </a:p>
            <a:p>
              <a:pPr lvl="0" eaLnBrk="0" latinLnBrk="0" hangingPunct="0">
                <a:lnSpc>
                  <a:spcPct val="140000"/>
                </a:lnSpc>
                <a:buClr>
                  <a:srgbClr val="1F497D"/>
                </a:buClr>
                <a:buSzPct val="75000"/>
              </a:pPr>
              <a:r>
                <a:rPr kumimoji="0" lang="en-US" altLang="ko-KR" sz="900" dirty="0">
                  <a:solidFill>
                    <a:prstClr val="black"/>
                  </a:solidFill>
                  <a:latin typeface="+mn-ea"/>
                  <a:ea typeface="+mn-ea"/>
                </a:rPr>
                <a:t>1. </a:t>
              </a:r>
              <a:r>
                <a:rPr kumimoji="0" lang="ko-KR" altLang="en-US" sz="900" dirty="0">
                  <a:solidFill>
                    <a:prstClr val="black"/>
                  </a:solidFill>
                  <a:latin typeface="+mn-ea"/>
                  <a:ea typeface="+mn-ea"/>
                </a:rPr>
                <a:t>외부 몰 판매</a:t>
              </a:r>
              <a:r>
                <a:rPr kumimoji="0" lang="en-US" altLang="ko-KR" sz="900" dirty="0">
                  <a:solidFill>
                    <a:prstClr val="black"/>
                  </a:solidFill>
                  <a:latin typeface="+mn-ea"/>
                  <a:ea typeface="+mn-ea"/>
                </a:rPr>
                <a:t> </a:t>
              </a:r>
              <a:endParaRPr kumimoji="0" lang="en-US" altLang="ko-KR" sz="900" dirty="0">
                <a:solidFill>
                  <a:prstClr val="black"/>
                </a:solidFill>
                <a:latin typeface="+mn-ea"/>
                <a:ea typeface="+mn-ea"/>
                <a:sym typeface="Wingdings" panose="05000000000000000000" pitchFamily="2" charset="2"/>
              </a:endParaRPr>
            </a:p>
            <a:p>
              <a:pPr lvl="0" eaLnBrk="0" latinLnBrk="0" hangingPunct="0">
                <a:lnSpc>
                  <a:spcPct val="140000"/>
                </a:lnSpc>
                <a:buClr>
                  <a:srgbClr val="1F497D"/>
                </a:buClr>
                <a:buSzPct val="75000"/>
              </a:pPr>
              <a:r>
                <a:rPr kumimoji="0" lang="en-US" altLang="ko-KR" sz="900" dirty="0">
                  <a:solidFill>
                    <a:prstClr val="black"/>
                  </a:solidFill>
                  <a:latin typeface="+mn-ea"/>
                  <a:ea typeface="+mn-ea"/>
                </a:rPr>
                <a:t>2. </a:t>
              </a:r>
              <a:r>
                <a:rPr kumimoji="0" lang="ko-KR" altLang="en-US" sz="900" dirty="0">
                  <a:solidFill>
                    <a:prstClr val="black"/>
                  </a:solidFill>
                  <a:latin typeface="+mn-ea"/>
                  <a:ea typeface="+mn-ea"/>
                </a:rPr>
                <a:t>외부 몰 정산 </a:t>
              </a:r>
              <a:r>
                <a:rPr kumimoji="0" lang="en-US" altLang="ko-KR" sz="900" dirty="0">
                  <a:solidFill>
                    <a:prstClr val="black"/>
                  </a:solidFill>
                  <a:latin typeface="+mn-ea"/>
                  <a:ea typeface="+mn-ea"/>
                </a:rPr>
                <a:t>LIST </a:t>
              </a:r>
              <a:r>
                <a:rPr kumimoji="0" lang="ko-KR" altLang="en-US" sz="900" dirty="0">
                  <a:solidFill>
                    <a:prstClr val="black"/>
                  </a:solidFill>
                  <a:latin typeface="+mn-ea"/>
                  <a:ea typeface="+mn-ea"/>
                </a:rPr>
                <a:t>수취 </a:t>
              </a:r>
              <a:r>
                <a:rPr kumimoji="0" lang="en-US" altLang="ko-KR" sz="900" dirty="0">
                  <a:solidFill>
                    <a:prstClr val="black"/>
                  </a:solidFill>
                  <a:latin typeface="+mn-ea"/>
                  <a:ea typeface="+mn-ea"/>
                  <a:sym typeface="Wingdings" panose="05000000000000000000" pitchFamily="2" charset="2"/>
                </a:rPr>
                <a:t> </a:t>
              </a:r>
              <a:r>
                <a:rPr kumimoji="0" lang="ko-KR" altLang="en-US" sz="900" dirty="0">
                  <a:solidFill>
                    <a:prstClr val="black"/>
                  </a:solidFill>
                  <a:latin typeface="+mn-ea"/>
                  <a:ea typeface="+mn-ea"/>
                  <a:sym typeface="Wingdings" panose="05000000000000000000" pitchFamily="2" charset="2"/>
                </a:rPr>
                <a:t>등록</a:t>
              </a:r>
              <a:endParaRPr kumimoji="0" lang="en-US" altLang="ko-KR" sz="900" dirty="0">
                <a:solidFill>
                  <a:prstClr val="black"/>
                </a:solidFill>
                <a:latin typeface="+mn-ea"/>
                <a:ea typeface="+mn-ea"/>
                <a:sym typeface="Wingdings" panose="05000000000000000000" pitchFamily="2" charset="2"/>
              </a:endParaRPr>
            </a:p>
            <a:p>
              <a:pPr lvl="0" eaLnBrk="0" latinLnBrk="0" hangingPunct="0">
                <a:lnSpc>
                  <a:spcPct val="140000"/>
                </a:lnSpc>
                <a:buClr>
                  <a:srgbClr val="1F497D"/>
                </a:buClr>
                <a:buSzPct val="75000"/>
              </a:pPr>
              <a:r>
                <a:rPr kumimoji="0" lang="en-US" altLang="ko-KR" sz="900" dirty="0">
                  <a:solidFill>
                    <a:prstClr val="black"/>
                  </a:solidFill>
                  <a:latin typeface="+mn-ea"/>
                  <a:ea typeface="+mn-ea"/>
                  <a:sym typeface="Wingdings" panose="05000000000000000000" pitchFamily="2" charset="2"/>
                </a:rPr>
                <a:t>   </a:t>
              </a:r>
              <a:r>
                <a:rPr kumimoji="0" lang="ko-KR" altLang="en-US" sz="900" dirty="0">
                  <a:solidFill>
                    <a:prstClr val="black"/>
                  </a:solidFill>
                  <a:latin typeface="+mn-ea"/>
                  <a:ea typeface="+mn-ea"/>
                </a:rPr>
                <a:t> </a:t>
              </a:r>
            </a:p>
            <a:p>
              <a:pPr lvl="0" eaLnBrk="0" latinLnBrk="0" hangingPunct="0">
                <a:lnSpc>
                  <a:spcPct val="140000"/>
                </a:lnSpc>
                <a:buClr>
                  <a:srgbClr val="1F497D"/>
                </a:buClr>
                <a:buSzPct val="75000"/>
                <a:buFont typeface="Wingdings" panose="05000000000000000000" pitchFamily="2" charset="2"/>
                <a:buChar char="u"/>
              </a:pPr>
              <a:r>
                <a:rPr kumimoji="0" lang="ko-KR" altLang="en-US" sz="900" dirty="0">
                  <a:solidFill>
                    <a:prstClr val="black"/>
                  </a:solidFill>
                  <a:latin typeface="+mn-ea"/>
                  <a:ea typeface="+mn-ea"/>
                </a:rPr>
                <a:t> </a:t>
              </a:r>
              <a:r>
                <a:rPr kumimoji="0" lang="ko-KR" altLang="en-US" sz="900" b="1" dirty="0">
                  <a:solidFill>
                    <a:prstClr val="black"/>
                  </a:solidFill>
                  <a:latin typeface="+mn-ea"/>
                  <a:ea typeface="+mn-ea"/>
                </a:rPr>
                <a:t>후행 프로세스</a:t>
              </a:r>
            </a:p>
            <a:p>
              <a:pPr lvl="0" eaLnBrk="0" latinLnBrk="0" hangingPunct="0">
                <a:lnSpc>
                  <a:spcPct val="140000"/>
                </a:lnSpc>
                <a:buClr>
                  <a:srgbClr val="1F497D"/>
                </a:buClr>
                <a:buSzPct val="75000"/>
              </a:pPr>
              <a:r>
                <a:rPr kumimoji="0" lang="en-US" altLang="ko-KR" sz="900" dirty="0">
                  <a:solidFill>
                    <a:prstClr val="black"/>
                  </a:solidFill>
                  <a:latin typeface="+mn-ea"/>
                  <a:ea typeface="+mn-ea"/>
                </a:rPr>
                <a:t>1. </a:t>
              </a:r>
            </a:p>
            <a:p>
              <a:pPr lvl="0" eaLnBrk="0" latinLnBrk="0" hangingPunct="0">
                <a:lnSpc>
                  <a:spcPct val="140000"/>
                </a:lnSpc>
                <a:buClr>
                  <a:srgbClr val="1F497D"/>
                </a:buClr>
                <a:buSzPct val="75000"/>
              </a:pPr>
              <a:endParaRPr kumimoji="0" lang="ko-KR" altLang="en-US" sz="900" dirty="0">
                <a:solidFill>
                  <a:prstClr val="black"/>
                </a:solidFill>
                <a:latin typeface="+mn-ea"/>
                <a:ea typeface="+mn-ea"/>
              </a:endParaRPr>
            </a:p>
            <a:p>
              <a:pPr lvl="0" eaLnBrk="0" latinLnBrk="0" hangingPunct="0">
                <a:lnSpc>
                  <a:spcPct val="140000"/>
                </a:lnSpc>
                <a:buClr>
                  <a:srgbClr val="1F497D"/>
                </a:buClr>
                <a:buSzPct val="75000"/>
                <a:buFont typeface="Wingdings" panose="05000000000000000000" pitchFamily="2" charset="2"/>
                <a:buChar char="u"/>
              </a:pPr>
              <a:r>
                <a:rPr kumimoji="0" lang="ko-KR" altLang="en-US" sz="900" dirty="0">
                  <a:solidFill>
                    <a:prstClr val="black"/>
                  </a:solidFill>
                  <a:latin typeface="+mn-ea"/>
                  <a:ea typeface="+mn-ea"/>
                </a:rPr>
                <a:t> </a:t>
              </a:r>
              <a:r>
                <a:rPr kumimoji="0" lang="ko-KR" altLang="en-US" sz="900" b="1" dirty="0">
                  <a:solidFill>
                    <a:prstClr val="black"/>
                  </a:solidFill>
                  <a:latin typeface="+mn-ea"/>
                  <a:ea typeface="+mn-ea"/>
                </a:rPr>
                <a:t>비즈니스 업무정책</a:t>
              </a:r>
            </a:p>
            <a:p>
              <a:pPr lvl="0" eaLnBrk="0" latinLnBrk="0" hangingPunct="0">
                <a:lnSpc>
                  <a:spcPct val="140000"/>
                </a:lnSpc>
                <a:buClr>
                  <a:srgbClr val="1F497D"/>
                </a:buClr>
                <a:buSzPct val="75000"/>
              </a:pPr>
              <a:r>
                <a:rPr kumimoji="0" lang="en-US" altLang="ko-KR" sz="900" dirty="0">
                  <a:solidFill>
                    <a:prstClr val="black"/>
                  </a:solidFill>
                  <a:latin typeface="+mn-ea"/>
                  <a:ea typeface="+mn-ea"/>
                </a:rPr>
                <a:t>1. </a:t>
              </a:r>
              <a:r>
                <a:rPr kumimoji="0" lang="ko-KR" altLang="en-US" sz="900" dirty="0">
                  <a:solidFill>
                    <a:prstClr val="black"/>
                  </a:solidFill>
                  <a:latin typeface="+mn-ea"/>
                  <a:ea typeface="+mn-ea"/>
                </a:rPr>
                <a:t>외부 몰 정산은 정산서 업로드 </a:t>
              </a:r>
              <a:r>
                <a:rPr kumimoji="0" lang="en-US" altLang="ko-KR" sz="900" dirty="0">
                  <a:solidFill>
                    <a:prstClr val="black"/>
                  </a:solidFill>
                  <a:latin typeface="+mn-ea"/>
                  <a:ea typeface="+mn-ea"/>
                  <a:sym typeface="Wingdings" panose="05000000000000000000" pitchFamily="2" charset="2"/>
                </a:rPr>
                <a:t> </a:t>
              </a:r>
              <a:r>
                <a:rPr kumimoji="0" lang="ko-KR" altLang="en-US" sz="900" dirty="0">
                  <a:solidFill>
                    <a:prstClr val="black"/>
                  </a:solidFill>
                  <a:latin typeface="+mn-ea"/>
                  <a:ea typeface="+mn-ea"/>
                  <a:sym typeface="Wingdings" panose="05000000000000000000" pitchFamily="2" charset="2"/>
                </a:rPr>
                <a:t>주문번호 </a:t>
              </a:r>
              <a:r>
                <a:rPr kumimoji="0" lang="ko-KR" altLang="en-US" sz="900" dirty="0" err="1">
                  <a:solidFill>
                    <a:prstClr val="black"/>
                  </a:solidFill>
                  <a:latin typeface="+mn-ea"/>
                  <a:ea typeface="+mn-ea"/>
                  <a:sym typeface="Wingdings" panose="05000000000000000000" pitchFamily="2" charset="2"/>
                </a:rPr>
                <a:t>매칭</a:t>
              </a:r>
              <a:r>
                <a:rPr kumimoji="0" lang="ko-KR" altLang="en-US" sz="900" dirty="0">
                  <a:solidFill>
                    <a:prstClr val="black"/>
                  </a:solidFill>
                  <a:latin typeface="+mn-ea"/>
                  <a:ea typeface="+mn-ea"/>
                  <a:sym typeface="Wingdings" panose="05000000000000000000" pitchFamily="2" charset="2"/>
                </a:rPr>
                <a:t> </a:t>
              </a:r>
              <a:r>
                <a:rPr kumimoji="0" lang="en-US" altLang="ko-KR" sz="900" dirty="0">
                  <a:solidFill>
                    <a:prstClr val="black"/>
                  </a:solidFill>
                  <a:latin typeface="+mn-ea"/>
                  <a:ea typeface="+mn-ea"/>
                  <a:sym typeface="Wingdings" panose="05000000000000000000" pitchFamily="2" charset="2"/>
                </a:rPr>
                <a:t> </a:t>
              </a:r>
              <a:r>
                <a:rPr kumimoji="0" lang="ko-KR" altLang="en-US" sz="900" dirty="0">
                  <a:solidFill>
                    <a:prstClr val="black"/>
                  </a:solidFill>
                  <a:latin typeface="+mn-ea"/>
                  <a:ea typeface="+mn-ea"/>
                  <a:sym typeface="Wingdings" panose="05000000000000000000" pitchFamily="2" charset="2"/>
                </a:rPr>
                <a:t>정산서 없는 판매 </a:t>
              </a:r>
              <a:r>
                <a:rPr kumimoji="0" lang="ko-KR" altLang="en-US" sz="900" dirty="0" err="1">
                  <a:solidFill>
                    <a:prstClr val="black"/>
                  </a:solidFill>
                  <a:latin typeface="+mn-ea"/>
                  <a:ea typeface="+mn-ea"/>
                  <a:sym typeface="Wingdings" panose="05000000000000000000" pitchFamily="2" charset="2"/>
                </a:rPr>
                <a:t>매칭</a:t>
              </a:r>
              <a:endParaRPr kumimoji="0" lang="en-US" altLang="ko-KR" sz="900" dirty="0">
                <a:solidFill>
                  <a:prstClr val="black"/>
                </a:solidFill>
                <a:latin typeface="+mn-ea"/>
                <a:ea typeface="+mn-ea"/>
                <a:sym typeface="Wingdings" panose="05000000000000000000" pitchFamily="2" charset="2"/>
              </a:endParaRPr>
            </a:p>
            <a:p>
              <a:pPr lvl="0" eaLnBrk="0" latinLnBrk="0" hangingPunct="0">
                <a:lnSpc>
                  <a:spcPct val="140000"/>
                </a:lnSpc>
                <a:buClr>
                  <a:srgbClr val="1F497D"/>
                </a:buClr>
                <a:buSzPct val="75000"/>
              </a:pPr>
              <a:r>
                <a:rPr kumimoji="0" lang="en-US" altLang="ko-KR" sz="900" dirty="0">
                  <a:solidFill>
                    <a:prstClr val="black"/>
                  </a:solidFill>
                  <a:latin typeface="+mn-ea"/>
                  <a:ea typeface="+mn-ea"/>
                  <a:sym typeface="Wingdings" panose="05000000000000000000" pitchFamily="2" charset="2"/>
                </a:rPr>
                <a:t> </a:t>
              </a:r>
              <a:r>
                <a:rPr kumimoji="0" lang="ko-KR" altLang="en-US" sz="900" dirty="0">
                  <a:solidFill>
                    <a:prstClr val="black"/>
                  </a:solidFill>
                  <a:latin typeface="+mn-ea"/>
                  <a:ea typeface="+mn-ea"/>
                  <a:sym typeface="Wingdings" panose="05000000000000000000" pitchFamily="2" charset="2"/>
                </a:rPr>
                <a:t>이월 판매 </a:t>
              </a:r>
              <a:r>
                <a:rPr kumimoji="0" lang="ko-KR" altLang="en-US" sz="900" dirty="0" err="1">
                  <a:solidFill>
                    <a:prstClr val="black"/>
                  </a:solidFill>
                  <a:latin typeface="+mn-ea"/>
                  <a:ea typeface="+mn-ea"/>
                  <a:sym typeface="Wingdings" panose="05000000000000000000" pitchFamily="2" charset="2"/>
                </a:rPr>
                <a:t>매칭</a:t>
              </a:r>
              <a:r>
                <a:rPr kumimoji="0" lang="ko-KR" altLang="en-US" sz="900" dirty="0">
                  <a:solidFill>
                    <a:prstClr val="black"/>
                  </a:solidFill>
                  <a:latin typeface="+mn-ea"/>
                  <a:ea typeface="+mn-ea"/>
                  <a:sym typeface="Wingdings" panose="05000000000000000000" pitchFamily="2" charset="2"/>
                </a:rPr>
                <a:t> 처리</a:t>
              </a:r>
              <a:endParaRPr kumimoji="0" lang="en-US" altLang="ko-KR" sz="900" dirty="0">
                <a:solidFill>
                  <a:prstClr val="black"/>
                </a:solidFill>
                <a:latin typeface="+mn-ea"/>
                <a:ea typeface="+mn-ea"/>
                <a:sym typeface="Wingdings" panose="05000000000000000000" pitchFamily="2" charset="2"/>
              </a:endParaRPr>
            </a:p>
            <a:p>
              <a:pPr lvl="0" eaLnBrk="0" latinLnBrk="0" hangingPunct="0">
                <a:lnSpc>
                  <a:spcPct val="140000"/>
                </a:lnSpc>
                <a:buClr>
                  <a:srgbClr val="1F497D"/>
                </a:buClr>
                <a:buSzPct val="75000"/>
              </a:pPr>
              <a:r>
                <a:rPr kumimoji="0" lang="en-US" altLang="ko-KR" sz="900" dirty="0">
                  <a:solidFill>
                    <a:prstClr val="black"/>
                  </a:solidFill>
                  <a:latin typeface="+mn-ea"/>
                  <a:ea typeface="+mn-ea"/>
                </a:rPr>
                <a:t>2</a:t>
              </a:r>
              <a:r>
                <a:rPr kumimoji="0" lang="en-US" altLang="ko-KR" sz="900" dirty="0">
                  <a:solidFill>
                    <a:prstClr val="black"/>
                  </a:solidFill>
                  <a:latin typeface="+mn-ea"/>
                  <a:ea typeface="+mn-ea"/>
                  <a:sym typeface="Wingdings" panose="05000000000000000000" pitchFamily="2" charset="2"/>
                </a:rPr>
                <a:t>.  </a:t>
              </a:r>
              <a:r>
                <a:rPr kumimoji="0" lang="ko-KR" altLang="en-US" sz="900" dirty="0">
                  <a:solidFill>
                    <a:prstClr val="black"/>
                  </a:solidFill>
                  <a:latin typeface="+mn-ea"/>
                  <a:ea typeface="+mn-ea"/>
                  <a:sym typeface="Wingdings" panose="05000000000000000000" pitchFamily="2" charset="2"/>
                </a:rPr>
                <a:t>정산서와 주문</a:t>
              </a:r>
              <a:r>
                <a:rPr kumimoji="0" lang="en-US" altLang="ko-KR" sz="900" dirty="0">
                  <a:solidFill>
                    <a:prstClr val="black"/>
                  </a:solidFill>
                  <a:latin typeface="+mn-ea"/>
                  <a:ea typeface="+mn-ea"/>
                  <a:sym typeface="Wingdings" panose="05000000000000000000" pitchFamily="2" charset="2"/>
                </a:rPr>
                <a:t>(</a:t>
              </a:r>
              <a:r>
                <a:rPr kumimoji="0" lang="ko-KR" altLang="en-US" sz="900" dirty="0">
                  <a:solidFill>
                    <a:prstClr val="black"/>
                  </a:solidFill>
                  <a:latin typeface="+mn-ea"/>
                  <a:ea typeface="+mn-ea"/>
                  <a:sym typeface="Wingdings" panose="05000000000000000000" pitchFamily="2" charset="2"/>
                </a:rPr>
                <a:t>판매</a:t>
              </a:r>
              <a:r>
                <a:rPr kumimoji="0" lang="en-US" altLang="ko-KR" sz="900" dirty="0">
                  <a:solidFill>
                    <a:prstClr val="black"/>
                  </a:solidFill>
                  <a:latin typeface="+mn-ea"/>
                  <a:ea typeface="+mn-ea"/>
                  <a:sym typeface="Wingdings" panose="05000000000000000000" pitchFamily="2" charset="2"/>
                </a:rPr>
                <a:t>)</a:t>
              </a:r>
              <a:r>
                <a:rPr kumimoji="0" lang="ko-KR" altLang="en-US" sz="900" dirty="0">
                  <a:solidFill>
                    <a:prstClr val="black"/>
                  </a:solidFill>
                  <a:latin typeface="+mn-ea"/>
                  <a:ea typeface="+mn-ea"/>
                  <a:sym typeface="Wingdings" panose="05000000000000000000" pitchFamily="2" charset="2"/>
                </a:rPr>
                <a:t>과 </a:t>
              </a:r>
              <a:r>
                <a:rPr kumimoji="0" lang="ko-KR" altLang="en-US" sz="900" dirty="0" err="1">
                  <a:solidFill>
                    <a:prstClr val="black"/>
                  </a:solidFill>
                  <a:latin typeface="+mn-ea"/>
                  <a:ea typeface="+mn-ea"/>
                  <a:sym typeface="Wingdings" panose="05000000000000000000" pitchFamily="2" charset="2"/>
                </a:rPr>
                <a:t>매칭시</a:t>
              </a:r>
              <a:r>
                <a:rPr kumimoji="0" lang="ko-KR" altLang="en-US" sz="900" dirty="0">
                  <a:solidFill>
                    <a:prstClr val="black"/>
                  </a:solidFill>
                  <a:latin typeface="+mn-ea"/>
                  <a:ea typeface="+mn-ea"/>
                  <a:sym typeface="Wingdings" panose="05000000000000000000" pitchFamily="2" charset="2"/>
                </a:rPr>
                <a:t> 판매금액이 </a:t>
              </a:r>
              <a:r>
                <a:rPr kumimoji="0" lang="ko-KR" altLang="en-US" sz="900" dirty="0" err="1">
                  <a:solidFill>
                    <a:prstClr val="black"/>
                  </a:solidFill>
                  <a:latin typeface="+mn-ea"/>
                  <a:ea typeface="+mn-ea"/>
                  <a:sym typeface="Wingdings" panose="05000000000000000000" pitchFamily="2" charset="2"/>
                </a:rPr>
                <a:t>차이시</a:t>
              </a:r>
              <a:r>
                <a:rPr kumimoji="0" lang="ko-KR" altLang="en-US" sz="900" dirty="0">
                  <a:solidFill>
                    <a:prstClr val="black"/>
                  </a:solidFill>
                  <a:latin typeface="+mn-ea"/>
                  <a:ea typeface="+mn-ea"/>
                  <a:sym typeface="Wingdings" panose="05000000000000000000" pitchFamily="2" charset="2"/>
                </a:rPr>
                <a:t> 차이 금액을 패션</a:t>
              </a:r>
              <a:r>
                <a:rPr kumimoji="0" lang="en-US" altLang="ko-KR" sz="900" dirty="0">
                  <a:solidFill>
                    <a:prstClr val="black"/>
                  </a:solidFill>
                  <a:latin typeface="+mn-ea"/>
                  <a:ea typeface="+mn-ea"/>
                  <a:sym typeface="Wingdings" panose="05000000000000000000" pitchFamily="2" charset="2"/>
                </a:rPr>
                <a:t>EPR</a:t>
              </a:r>
            </a:p>
            <a:p>
              <a:pPr lvl="0" eaLnBrk="0" latinLnBrk="0" hangingPunct="0">
                <a:lnSpc>
                  <a:spcPct val="140000"/>
                </a:lnSpc>
                <a:buClr>
                  <a:srgbClr val="1F497D"/>
                </a:buClr>
                <a:buSzPct val="75000"/>
              </a:pPr>
              <a:r>
                <a:rPr kumimoji="0" lang="ko-KR" altLang="en-US" sz="900" dirty="0">
                  <a:solidFill>
                    <a:prstClr val="black"/>
                  </a:solidFill>
                  <a:latin typeface="+mn-ea"/>
                  <a:ea typeface="+mn-ea"/>
                  <a:sym typeface="Wingdings" panose="05000000000000000000" pitchFamily="2" charset="2"/>
                </a:rPr>
                <a:t>실적으로 생성 </a:t>
              </a:r>
              <a:endParaRPr kumimoji="0" lang="en-US" altLang="ko-KR" sz="900" dirty="0">
                <a:solidFill>
                  <a:prstClr val="black"/>
                </a:solidFill>
                <a:latin typeface="+mn-ea"/>
                <a:ea typeface="+mn-ea"/>
                <a:sym typeface="Wingdings" panose="05000000000000000000" pitchFamily="2" charset="2"/>
              </a:endParaRPr>
            </a:p>
            <a:p>
              <a:pPr lvl="0" eaLnBrk="0" latinLnBrk="0" hangingPunct="0">
                <a:lnSpc>
                  <a:spcPct val="140000"/>
                </a:lnSpc>
                <a:buClr>
                  <a:srgbClr val="1F497D"/>
                </a:buClr>
                <a:buSzPct val="75000"/>
              </a:pPr>
              <a:r>
                <a:rPr kumimoji="0" lang="en-US" altLang="ko-KR" sz="900" dirty="0">
                  <a:solidFill>
                    <a:prstClr val="black"/>
                  </a:solidFill>
                  <a:latin typeface="+mn-ea"/>
                  <a:ea typeface="+mn-ea"/>
                  <a:sym typeface="Wingdings" panose="05000000000000000000" pitchFamily="2" charset="2"/>
                </a:rPr>
                <a:t>3. </a:t>
              </a:r>
              <a:r>
                <a:rPr kumimoji="0" lang="ko-KR" altLang="en-US" sz="900" dirty="0">
                  <a:solidFill>
                    <a:prstClr val="black"/>
                  </a:solidFill>
                  <a:latin typeface="+mn-ea"/>
                  <a:ea typeface="+mn-ea"/>
                  <a:sym typeface="Wingdings" panose="05000000000000000000" pitchFamily="2" charset="2"/>
                </a:rPr>
                <a:t>정산서가 없는 주문</a:t>
              </a:r>
              <a:r>
                <a:rPr kumimoji="0" lang="en-US" altLang="ko-KR" sz="900" dirty="0">
                  <a:solidFill>
                    <a:prstClr val="black"/>
                  </a:solidFill>
                  <a:latin typeface="+mn-ea"/>
                  <a:ea typeface="+mn-ea"/>
                  <a:sym typeface="Wingdings" panose="05000000000000000000" pitchFamily="2" charset="2"/>
                </a:rPr>
                <a:t>(</a:t>
              </a:r>
              <a:r>
                <a:rPr kumimoji="0" lang="ko-KR" altLang="en-US" sz="900" dirty="0">
                  <a:solidFill>
                    <a:prstClr val="black"/>
                  </a:solidFill>
                  <a:latin typeface="+mn-ea"/>
                  <a:ea typeface="+mn-ea"/>
                  <a:sym typeface="Wingdings" panose="05000000000000000000" pitchFamily="2" charset="2"/>
                </a:rPr>
                <a:t>판매</a:t>
              </a:r>
              <a:r>
                <a:rPr kumimoji="0" lang="en-US" altLang="ko-KR" sz="900" dirty="0">
                  <a:solidFill>
                    <a:prstClr val="black"/>
                  </a:solidFill>
                  <a:latin typeface="+mn-ea"/>
                  <a:ea typeface="+mn-ea"/>
                  <a:sym typeface="Wingdings" panose="05000000000000000000" pitchFamily="2" charset="2"/>
                </a:rPr>
                <a:t>)</a:t>
              </a:r>
              <a:r>
                <a:rPr kumimoji="0" lang="ko-KR" altLang="en-US" sz="900" dirty="0">
                  <a:solidFill>
                    <a:prstClr val="black"/>
                  </a:solidFill>
                  <a:latin typeface="+mn-ea"/>
                  <a:ea typeface="+mn-ea"/>
                  <a:sym typeface="Wingdings" panose="05000000000000000000" pitchFamily="2" charset="2"/>
                </a:rPr>
                <a:t>는 판매점 </a:t>
              </a:r>
              <a:r>
                <a:rPr kumimoji="0" lang="en-US" altLang="ko-KR" sz="900" dirty="0">
                  <a:solidFill>
                    <a:prstClr val="black"/>
                  </a:solidFill>
                  <a:latin typeface="+mn-ea"/>
                  <a:ea typeface="+mn-ea"/>
                  <a:sym typeface="Wingdings" panose="05000000000000000000" pitchFamily="2" charset="2"/>
                </a:rPr>
                <a:t> </a:t>
              </a:r>
              <a:r>
                <a:rPr kumimoji="0" lang="ko-KR" altLang="en-US" sz="900" dirty="0">
                  <a:solidFill>
                    <a:prstClr val="black"/>
                  </a:solidFill>
                  <a:latin typeface="+mn-ea"/>
                  <a:ea typeface="+mn-ea"/>
                  <a:sym typeface="Wingdings" panose="05000000000000000000" pitchFamily="2" charset="2"/>
                </a:rPr>
                <a:t>판매반품</a:t>
              </a:r>
              <a:endParaRPr kumimoji="0" lang="en-US" altLang="ko-KR" sz="900" dirty="0">
                <a:solidFill>
                  <a:prstClr val="black"/>
                </a:solidFill>
                <a:latin typeface="+mn-ea"/>
                <a:ea typeface="+mn-ea"/>
                <a:sym typeface="Wingdings" panose="05000000000000000000" pitchFamily="2" charset="2"/>
              </a:endParaRPr>
            </a:p>
            <a:p>
              <a:pPr lvl="0" eaLnBrk="0" latinLnBrk="0" hangingPunct="0">
                <a:lnSpc>
                  <a:spcPct val="140000"/>
                </a:lnSpc>
                <a:buClr>
                  <a:srgbClr val="1F497D"/>
                </a:buClr>
                <a:buSzPct val="75000"/>
              </a:pPr>
              <a:r>
                <a:rPr kumimoji="0" lang="en-US" altLang="ko-KR" sz="900" dirty="0">
                  <a:solidFill>
                    <a:prstClr val="black"/>
                  </a:solidFill>
                  <a:latin typeface="+mn-ea"/>
                  <a:ea typeface="+mn-ea"/>
                  <a:sym typeface="Wingdings" panose="05000000000000000000" pitchFamily="2" charset="2"/>
                </a:rPr>
                <a:t>4. </a:t>
              </a:r>
              <a:r>
                <a:rPr kumimoji="0" lang="ko-KR" altLang="en-US" sz="900" dirty="0">
                  <a:solidFill>
                    <a:prstClr val="black"/>
                  </a:solidFill>
                  <a:latin typeface="+mn-ea"/>
                  <a:ea typeface="+mn-ea"/>
                  <a:sym typeface="Wingdings" panose="05000000000000000000" pitchFamily="2" charset="2"/>
                </a:rPr>
                <a:t>정산서와 이월 판매 </a:t>
              </a:r>
              <a:r>
                <a:rPr kumimoji="0" lang="ko-KR" altLang="en-US" sz="900" dirty="0" err="1">
                  <a:solidFill>
                    <a:prstClr val="black"/>
                  </a:solidFill>
                  <a:latin typeface="+mn-ea"/>
                  <a:ea typeface="+mn-ea"/>
                  <a:sym typeface="Wingdings" panose="05000000000000000000" pitchFamily="2" charset="2"/>
                </a:rPr>
                <a:t>매칭은</a:t>
              </a:r>
              <a:r>
                <a:rPr kumimoji="0" lang="ko-KR" altLang="en-US" sz="900" dirty="0">
                  <a:solidFill>
                    <a:prstClr val="black"/>
                  </a:solidFill>
                  <a:latin typeface="+mn-ea"/>
                  <a:ea typeface="+mn-ea"/>
                  <a:sym typeface="Wingdings" panose="05000000000000000000" pitchFamily="2" charset="2"/>
                </a:rPr>
                <a:t> 판매점 </a:t>
              </a:r>
              <a:r>
                <a:rPr kumimoji="0" lang="en-US" altLang="ko-KR" sz="900" dirty="0">
                  <a:solidFill>
                    <a:prstClr val="black"/>
                  </a:solidFill>
                  <a:latin typeface="+mn-ea"/>
                  <a:ea typeface="+mn-ea"/>
                  <a:sym typeface="Wingdings" panose="05000000000000000000" pitchFamily="2" charset="2"/>
                </a:rPr>
                <a:t> </a:t>
              </a:r>
              <a:r>
                <a:rPr kumimoji="0" lang="ko-KR" altLang="en-US" sz="900" dirty="0">
                  <a:solidFill>
                    <a:prstClr val="black"/>
                  </a:solidFill>
                  <a:latin typeface="+mn-ea"/>
                  <a:ea typeface="+mn-ea"/>
                  <a:sym typeface="Wingdings" panose="05000000000000000000" pitchFamily="2" charset="2"/>
                </a:rPr>
                <a:t>판매 실적 생성</a:t>
              </a:r>
              <a:endParaRPr kumimoji="0" lang="en-US" altLang="ko-KR" sz="900" dirty="0">
                <a:solidFill>
                  <a:prstClr val="black"/>
                </a:solidFill>
                <a:latin typeface="+mn-ea"/>
                <a:ea typeface="+mn-ea"/>
                <a:sym typeface="Wingdings" panose="05000000000000000000" pitchFamily="2" charset="2"/>
              </a:endParaRPr>
            </a:p>
            <a:p>
              <a:pPr lvl="0" eaLnBrk="0" latinLnBrk="0" hangingPunct="0">
                <a:lnSpc>
                  <a:spcPct val="140000"/>
                </a:lnSpc>
                <a:buClr>
                  <a:srgbClr val="1F497D"/>
                </a:buClr>
                <a:buSzPct val="75000"/>
              </a:pPr>
              <a:r>
                <a:rPr kumimoji="0" lang="en-US" altLang="ko-KR" sz="900" dirty="0">
                  <a:solidFill>
                    <a:prstClr val="black"/>
                  </a:solidFill>
                  <a:latin typeface="+mn-ea"/>
                  <a:ea typeface="+mn-ea"/>
                  <a:sym typeface="Wingdings" panose="05000000000000000000" pitchFamily="2" charset="2"/>
                </a:rPr>
                <a:t>5. </a:t>
              </a:r>
              <a:r>
                <a:rPr kumimoji="0" lang="ko-KR" altLang="en-US" sz="900" dirty="0">
                  <a:solidFill>
                    <a:prstClr val="black"/>
                  </a:solidFill>
                  <a:latin typeface="+mn-ea"/>
                  <a:ea typeface="+mn-ea"/>
                  <a:sym typeface="Wingdings" panose="05000000000000000000" pitchFamily="2" charset="2"/>
                </a:rPr>
                <a:t>주문</a:t>
              </a:r>
              <a:r>
                <a:rPr kumimoji="0" lang="en-US" altLang="ko-KR" sz="900" dirty="0">
                  <a:solidFill>
                    <a:prstClr val="black"/>
                  </a:solidFill>
                  <a:latin typeface="+mn-ea"/>
                  <a:ea typeface="+mn-ea"/>
                  <a:sym typeface="Wingdings" panose="05000000000000000000" pitchFamily="2" charset="2"/>
                </a:rPr>
                <a:t>(</a:t>
              </a:r>
              <a:r>
                <a:rPr kumimoji="0" lang="ko-KR" altLang="en-US" sz="900" dirty="0">
                  <a:solidFill>
                    <a:prstClr val="black"/>
                  </a:solidFill>
                  <a:latin typeface="+mn-ea"/>
                  <a:ea typeface="+mn-ea"/>
                  <a:sym typeface="Wingdings" panose="05000000000000000000" pitchFamily="2" charset="2"/>
                </a:rPr>
                <a:t>판매</a:t>
              </a:r>
              <a:r>
                <a:rPr kumimoji="0" lang="en-US" altLang="ko-KR" sz="900" dirty="0">
                  <a:solidFill>
                    <a:prstClr val="black"/>
                  </a:solidFill>
                  <a:latin typeface="+mn-ea"/>
                  <a:ea typeface="+mn-ea"/>
                  <a:sym typeface="Wingdings" panose="05000000000000000000" pitchFamily="2" charset="2"/>
                </a:rPr>
                <a:t>)</a:t>
              </a:r>
              <a:r>
                <a:rPr kumimoji="0" lang="ko-KR" altLang="en-US" sz="900" dirty="0">
                  <a:solidFill>
                    <a:prstClr val="black"/>
                  </a:solidFill>
                  <a:latin typeface="+mn-ea"/>
                  <a:ea typeface="+mn-ea"/>
                  <a:sym typeface="Wingdings" panose="05000000000000000000" pitchFamily="2" charset="2"/>
                </a:rPr>
                <a:t> 미 </a:t>
              </a:r>
              <a:r>
                <a:rPr kumimoji="0" lang="ko-KR" altLang="en-US" sz="900" dirty="0" err="1">
                  <a:solidFill>
                    <a:prstClr val="black"/>
                  </a:solidFill>
                  <a:latin typeface="+mn-ea"/>
                  <a:ea typeface="+mn-ea"/>
                  <a:sym typeface="Wingdings" panose="05000000000000000000" pitchFamily="2" charset="2"/>
                </a:rPr>
                <a:t>매칭</a:t>
              </a:r>
              <a:r>
                <a:rPr kumimoji="0" lang="en-US" altLang="ko-KR" sz="900" dirty="0">
                  <a:solidFill>
                    <a:prstClr val="black"/>
                  </a:solidFill>
                  <a:latin typeface="+mn-ea"/>
                  <a:ea typeface="+mn-ea"/>
                  <a:sym typeface="Wingdings" panose="05000000000000000000" pitchFamily="2" charset="2"/>
                </a:rPr>
                <a:t>, </a:t>
              </a:r>
              <a:r>
                <a:rPr kumimoji="0" lang="ko-KR" altLang="en-US" sz="900" dirty="0">
                  <a:solidFill>
                    <a:prstClr val="black"/>
                  </a:solidFill>
                  <a:latin typeface="+mn-ea"/>
                  <a:ea typeface="+mn-ea"/>
                  <a:sym typeface="Wingdings" panose="05000000000000000000" pitchFamily="2" charset="2"/>
                </a:rPr>
                <a:t>정산서 포함 </a:t>
              </a:r>
              <a:endParaRPr kumimoji="0" lang="en-US" altLang="ko-KR" sz="900" dirty="0">
                <a:solidFill>
                  <a:prstClr val="black"/>
                </a:solidFill>
                <a:latin typeface="+mn-ea"/>
                <a:ea typeface="+mn-ea"/>
                <a:sym typeface="Wingdings" panose="05000000000000000000" pitchFamily="2" charset="2"/>
              </a:endParaRPr>
            </a:p>
            <a:p>
              <a:pPr lvl="0" eaLnBrk="0" latinLnBrk="0" hangingPunct="0">
                <a:lnSpc>
                  <a:spcPct val="140000"/>
                </a:lnSpc>
                <a:buClr>
                  <a:srgbClr val="1F497D"/>
                </a:buClr>
                <a:buSzPct val="75000"/>
              </a:pPr>
              <a:r>
                <a:rPr kumimoji="0" lang="en-US" altLang="ko-KR" sz="900" dirty="0">
                  <a:solidFill>
                    <a:prstClr val="black"/>
                  </a:solidFill>
                  <a:latin typeface="+mn-ea"/>
                  <a:ea typeface="+mn-ea"/>
                  <a:sym typeface="Wingdings" panose="05000000000000000000" pitchFamily="2" charset="2"/>
                </a:rPr>
                <a:t>   </a:t>
              </a:r>
              <a:r>
                <a:rPr kumimoji="0" lang="ko-KR" altLang="en-US" sz="900" dirty="0">
                  <a:solidFill>
                    <a:prstClr val="black"/>
                  </a:solidFill>
                  <a:latin typeface="+mn-ea"/>
                  <a:ea typeface="+mn-ea"/>
                  <a:sym typeface="Wingdings" panose="05000000000000000000" pitchFamily="2" charset="2"/>
                </a:rPr>
                <a:t>판매점 </a:t>
              </a:r>
              <a:r>
                <a:rPr kumimoji="0" lang="en-US" altLang="ko-KR" sz="900" dirty="0">
                  <a:solidFill>
                    <a:prstClr val="black"/>
                  </a:solidFill>
                  <a:latin typeface="+mn-ea"/>
                  <a:ea typeface="+mn-ea"/>
                  <a:sym typeface="Wingdings" panose="05000000000000000000" pitchFamily="2" charset="2"/>
                </a:rPr>
                <a:t> </a:t>
              </a:r>
              <a:r>
                <a:rPr kumimoji="0" lang="ko-KR" altLang="en-US" sz="900" dirty="0" err="1">
                  <a:solidFill>
                    <a:prstClr val="black"/>
                  </a:solidFill>
                  <a:latin typeface="+mn-ea"/>
                  <a:ea typeface="+mn-ea"/>
                  <a:sym typeface="Wingdings" panose="05000000000000000000" pitchFamily="2" charset="2"/>
                </a:rPr>
                <a:t>가품번</a:t>
              </a:r>
              <a:r>
                <a:rPr kumimoji="0" lang="ko-KR" altLang="en-US" sz="900" dirty="0">
                  <a:solidFill>
                    <a:prstClr val="black"/>
                  </a:solidFill>
                  <a:latin typeface="+mn-ea"/>
                  <a:ea typeface="+mn-ea"/>
                  <a:sym typeface="Wingdings" panose="05000000000000000000" pitchFamily="2" charset="2"/>
                </a:rPr>
                <a:t> 판매 실적 생성</a:t>
              </a:r>
              <a:endParaRPr kumimoji="0" lang="ko-KR" altLang="en-US" sz="900" dirty="0">
                <a:solidFill>
                  <a:prstClr val="black"/>
                </a:solidFill>
                <a:latin typeface="+mn-ea"/>
                <a:ea typeface="+mn-ea"/>
              </a:endParaRPr>
            </a:p>
          </p:txBody>
        </p:sp>
      </p:grpSp>
      <p:sp>
        <p:nvSpPr>
          <p:cNvPr id="89" name="TextBox 94"/>
          <p:cNvSpPr txBox="1">
            <a:spLocks noChangeArrowheads="1"/>
          </p:cNvSpPr>
          <p:nvPr/>
        </p:nvSpPr>
        <p:spPr bwMode="auto">
          <a:xfrm>
            <a:off x="992560" y="1313336"/>
            <a:ext cx="141688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SP_ONLINE_STLM_BASE</a:t>
            </a:r>
            <a:endParaRPr lang="ko-KR" altLang="en-US" sz="800" b="1" dirty="0">
              <a:latin typeface="+mn-ea"/>
              <a:ea typeface="+mn-ea"/>
            </a:endParaRPr>
          </a:p>
        </p:txBody>
      </p:sp>
      <p:cxnSp>
        <p:nvCxnSpPr>
          <p:cNvPr id="60" name="AutoShape 67"/>
          <p:cNvCxnSpPr>
            <a:cxnSpLocks noChangeShapeType="1"/>
            <a:endCxn id="18" idx="1"/>
          </p:cNvCxnSpPr>
          <p:nvPr/>
        </p:nvCxnSpPr>
        <p:spPr bwMode="gray">
          <a:xfrm>
            <a:off x="722530" y="1808820"/>
            <a:ext cx="580471" cy="4125"/>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순서도: 페이지 연결자 17"/>
          <p:cNvSpPr/>
          <p:nvPr/>
        </p:nvSpPr>
        <p:spPr>
          <a:xfrm>
            <a:off x="1303001" y="1528780"/>
            <a:ext cx="679669" cy="568329"/>
          </a:xfrm>
          <a:prstGeom prst="flowChartOffpageConnector">
            <a:avLst/>
          </a:prstGeom>
          <a:solidFill>
            <a:schemeClr val="accent1">
              <a:lumMod val="40000"/>
              <a:lumOff val="6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r>
              <a:rPr lang="ko-KR" altLang="en-US" sz="800" b="1" kern="0" dirty="0">
                <a:latin typeface="+mn-ea"/>
                <a:ea typeface="+mn-ea"/>
              </a:rPr>
              <a:t>판매 미 </a:t>
            </a:r>
            <a:endParaRPr lang="en-US" altLang="ko-KR" sz="800" b="1" kern="0" dirty="0">
              <a:latin typeface="+mn-ea"/>
              <a:ea typeface="+mn-ea"/>
            </a:endParaRPr>
          </a:p>
          <a:p>
            <a:pPr marL="268288" indent="-215900" algn="ctr">
              <a:spcBef>
                <a:spcPct val="20000"/>
              </a:spcBef>
              <a:buClr>
                <a:srgbClr val="FFD200"/>
              </a:buClr>
              <a:buSzPct val="75000"/>
            </a:pPr>
            <a:r>
              <a:rPr lang="ko-KR" altLang="en-US" sz="800" b="1" kern="0" dirty="0" err="1">
                <a:latin typeface="+mn-ea"/>
                <a:ea typeface="+mn-ea"/>
              </a:rPr>
              <a:t>매칭시작</a:t>
            </a:r>
            <a:endParaRPr lang="ko-KR" altLang="en-US" sz="800" b="1" kern="0" dirty="0">
              <a:latin typeface="+mn-ea"/>
              <a:ea typeface="+mn-ea"/>
            </a:endParaRPr>
          </a:p>
        </p:txBody>
      </p:sp>
      <p:sp>
        <p:nvSpPr>
          <p:cNvPr id="151" name="TextBox 94"/>
          <p:cNvSpPr txBox="1">
            <a:spLocks noChangeArrowheads="1"/>
          </p:cNvSpPr>
          <p:nvPr/>
        </p:nvSpPr>
        <p:spPr bwMode="auto">
          <a:xfrm>
            <a:off x="362490" y="1403775"/>
            <a:ext cx="661182" cy="363176"/>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sym typeface="Wingdings" panose="05000000000000000000" pitchFamily="2" charset="2"/>
              </a:rPr>
              <a:t>판매 미</a:t>
            </a:r>
            <a:endParaRPr lang="en-US" altLang="ko-KR" sz="800" dirty="0" smtClean="0">
              <a:latin typeface="+mn-ea"/>
              <a:ea typeface="+mn-ea"/>
              <a:sym typeface="Wingdings" panose="05000000000000000000" pitchFamily="2" charset="2"/>
            </a:endParaRPr>
          </a:p>
          <a:p>
            <a:pPr algn="ctr">
              <a:spcBef>
                <a:spcPct val="20000"/>
              </a:spcBef>
              <a:buClr>
                <a:srgbClr val="003366"/>
              </a:buClr>
            </a:pPr>
            <a:r>
              <a:rPr lang="ko-KR" altLang="en-US" sz="800" dirty="0" err="1" smtClean="0">
                <a:latin typeface="+mn-ea"/>
                <a:ea typeface="+mn-ea"/>
                <a:sym typeface="Wingdings" panose="05000000000000000000" pitchFamily="2" charset="2"/>
              </a:rPr>
              <a:t>매칭</a:t>
            </a:r>
            <a:r>
              <a:rPr lang="ko-KR" altLang="en-US" sz="800" dirty="0" smtClean="0">
                <a:latin typeface="+mn-ea"/>
                <a:ea typeface="+mn-ea"/>
                <a:sym typeface="Wingdings" panose="05000000000000000000" pitchFamily="2" charset="2"/>
              </a:rPr>
              <a:t> 시작</a:t>
            </a:r>
            <a:endParaRPr lang="en-US" altLang="ko-KR" sz="800" dirty="0" smtClean="0">
              <a:latin typeface="+mn-ea"/>
              <a:ea typeface="+mn-ea"/>
              <a:sym typeface="Wingdings" panose="05000000000000000000" pitchFamily="2" charset="2"/>
            </a:endParaRPr>
          </a:p>
        </p:txBody>
      </p:sp>
      <p:sp>
        <p:nvSpPr>
          <p:cNvPr id="390" name="AutoShape 86"/>
          <p:cNvSpPr>
            <a:spLocks noChangeArrowheads="1"/>
          </p:cNvSpPr>
          <p:nvPr/>
        </p:nvSpPr>
        <p:spPr bwMode="auto">
          <a:xfrm>
            <a:off x="473814" y="248418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a:latin typeface="+mn-ea"/>
                <a:ea typeface="+mn-ea"/>
              </a:rPr>
              <a:t>온라인구시스템</a:t>
            </a:r>
            <a:r>
              <a:rPr lang="en-US" altLang="ko-KR" sz="600" b="1" dirty="0">
                <a:latin typeface="+mn-ea"/>
                <a:ea typeface="+mn-ea"/>
              </a:rPr>
              <a:t>)</a:t>
            </a:r>
            <a:endParaRPr lang="en-US" altLang="ko-KR" sz="600" b="1" dirty="0" smtClean="0">
              <a:latin typeface="+mn-ea"/>
              <a:ea typeface="+mn-ea"/>
            </a:endParaRPr>
          </a:p>
          <a:p>
            <a:pPr algn="ctr"/>
            <a:r>
              <a:rPr lang="en-US" altLang="ko-KR" sz="600" b="1" dirty="0" smtClean="0">
                <a:latin typeface="+mn-ea"/>
                <a:ea typeface="+mn-ea"/>
              </a:rPr>
              <a:t>TEMP_INS</a:t>
            </a:r>
            <a:endParaRPr lang="ko-KR" altLang="en-US" sz="600" b="1" dirty="0">
              <a:latin typeface="+mn-ea"/>
              <a:ea typeface="+mn-ea"/>
            </a:endParaRPr>
          </a:p>
        </p:txBody>
      </p:sp>
      <p:cxnSp>
        <p:nvCxnSpPr>
          <p:cNvPr id="392" name="AutoShape 67"/>
          <p:cNvCxnSpPr>
            <a:cxnSpLocks noChangeShapeType="1"/>
            <a:stCxn id="396" idx="3"/>
            <a:endCxn id="85" idx="1"/>
          </p:cNvCxnSpPr>
          <p:nvPr/>
        </p:nvCxnSpPr>
        <p:spPr bwMode="gray">
          <a:xfrm flipV="1">
            <a:off x="2197819" y="2721516"/>
            <a:ext cx="631885" cy="1245"/>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4" name="TextBox 94"/>
          <p:cNvSpPr txBox="1">
            <a:spLocks noChangeArrowheads="1"/>
          </p:cNvSpPr>
          <p:nvPr/>
        </p:nvSpPr>
        <p:spPr bwMode="auto">
          <a:xfrm>
            <a:off x="2261179" y="2546462"/>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397" name="AutoShape 86"/>
          <p:cNvSpPr>
            <a:spLocks noChangeArrowheads="1"/>
          </p:cNvSpPr>
          <p:nvPr/>
        </p:nvSpPr>
        <p:spPr bwMode="auto">
          <a:xfrm>
            <a:off x="1347236" y="248418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sp>
        <p:nvSpPr>
          <p:cNvPr id="403" name="TextBox 94"/>
          <p:cNvSpPr txBox="1">
            <a:spLocks noChangeArrowheads="1"/>
          </p:cNvSpPr>
          <p:nvPr/>
        </p:nvSpPr>
        <p:spPr bwMode="auto">
          <a:xfrm>
            <a:off x="1078633" y="3130767"/>
            <a:ext cx="1726351" cy="846386"/>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rPr>
              <a:t>조회조건 </a:t>
            </a:r>
            <a:r>
              <a:rPr lang="en-US" altLang="ko-KR" sz="700" dirty="0" smtClean="0">
                <a:latin typeface="+mn-ea"/>
                <a:ea typeface="+mn-ea"/>
              </a:rPr>
              <a:t>: </a:t>
            </a:r>
            <a:r>
              <a:rPr lang="ko-KR" altLang="en-US" sz="700" dirty="0" err="1" smtClean="0">
                <a:latin typeface="+mn-ea"/>
                <a:ea typeface="+mn-ea"/>
              </a:rPr>
              <a:t>정산년월</a:t>
            </a:r>
            <a:r>
              <a:rPr lang="en-US" altLang="ko-KR" sz="700" dirty="0">
                <a:latin typeface="+mn-ea"/>
                <a:ea typeface="+mn-ea"/>
              </a:rPr>
              <a:t>, </a:t>
            </a:r>
            <a:r>
              <a:rPr lang="ko-KR" altLang="en-US" sz="700" dirty="0" smtClean="0">
                <a:latin typeface="+mn-ea"/>
                <a:ea typeface="+mn-ea"/>
              </a:rPr>
              <a:t>정산매장</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상위브랜드</a:t>
            </a:r>
            <a:r>
              <a:rPr lang="en-US" altLang="ko-KR" sz="700" dirty="0" smtClean="0">
                <a:latin typeface="+mn-ea"/>
                <a:ea typeface="+mn-ea"/>
              </a:rPr>
              <a:t>, MALL_ID,</a:t>
            </a:r>
          </a:p>
          <a:p>
            <a:pPr>
              <a:spcBef>
                <a:spcPct val="20000"/>
              </a:spcBef>
              <a:buClr>
                <a:srgbClr val="003366"/>
              </a:buClr>
            </a:pPr>
            <a:r>
              <a:rPr lang="ko-KR" altLang="en-US" sz="700" dirty="0" smtClean="0">
                <a:latin typeface="+mn-ea"/>
                <a:ea typeface="+mn-ea"/>
              </a:rPr>
              <a:t>판매수불</a:t>
            </a:r>
            <a:r>
              <a:rPr lang="en-US" altLang="ko-KR" sz="700" dirty="0" smtClean="0">
                <a:latin typeface="+mn-ea"/>
                <a:ea typeface="+mn-ea"/>
              </a:rPr>
              <a:t>ID </a:t>
            </a:r>
            <a:r>
              <a:rPr lang="en-US" altLang="ko-KR" sz="700" dirty="0" smtClean="0">
                <a:latin typeface="+mn-ea"/>
                <a:ea typeface="+mn-ea"/>
                <a:sym typeface="Wingdings" panose="05000000000000000000" pitchFamily="2" charset="2"/>
              </a:rPr>
              <a:t> NULL</a:t>
            </a:r>
          </a:p>
          <a:p>
            <a:pPr>
              <a:spcBef>
                <a:spcPct val="20000"/>
              </a:spcBef>
              <a:buClr>
                <a:srgbClr val="003366"/>
              </a:buClr>
            </a:pPr>
            <a:r>
              <a:rPr lang="ko-KR" altLang="en-US" sz="700" dirty="0" smtClean="0">
                <a:latin typeface="+mn-ea"/>
                <a:ea typeface="+mn-ea"/>
                <a:sym typeface="Wingdings" panose="05000000000000000000" pitchFamily="2" charset="2"/>
              </a:rPr>
              <a:t>상품별주문번호 </a:t>
            </a:r>
            <a:r>
              <a:rPr lang="en-US" altLang="ko-KR" sz="700" dirty="0" smtClean="0">
                <a:latin typeface="+mn-ea"/>
                <a:ea typeface="+mn-ea"/>
                <a:sym typeface="Wingdings" panose="05000000000000000000" pitchFamily="2" charset="2"/>
              </a:rPr>
              <a:t> NOT NULL</a:t>
            </a:r>
          </a:p>
          <a:p>
            <a:pPr>
              <a:spcBef>
                <a:spcPct val="20000"/>
              </a:spcBef>
              <a:buClr>
                <a:srgbClr val="003366"/>
              </a:buClr>
            </a:pPr>
            <a:r>
              <a:rPr lang="ko-KR" altLang="en-US" sz="700" dirty="0" smtClean="0">
                <a:latin typeface="+mn-ea"/>
                <a:ea typeface="+mn-ea"/>
                <a:sym typeface="Wingdings" panose="05000000000000000000" pitchFamily="2" charset="2"/>
              </a:rPr>
              <a:t>정산시업로드여부 </a:t>
            </a:r>
            <a:r>
              <a:rPr lang="en-US" altLang="ko-KR" sz="700" dirty="0" smtClean="0">
                <a:latin typeface="+mn-ea"/>
                <a:ea typeface="+mn-ea"/>
                <a:sym typeface="Wingdings" panose="05000000000000000000" pitchFamily="2" charset="2"/>
              </a:rPr>
              <a:t> N</a:t>
            </a:r>
          </a:p>
          <a:p>
            <a:pPr>
              <a:spcBef>
                <a:spcPct val="20000"/>
              </a:spcBef>
              <a:buClr>
                <a:srgbClr val="003366"/>
              </a:buClr>
            </a:pPr>
            <a:r>
              <a:rPr lang="ko-KR" altLang="en-US" sz="700" dirty="0" smtClean="0">
                <a:latin typeface="+mn-ea"/>
                <a:ea typeface="+mn-ea"/>
                <a:sym typeface="Wingdings" panose="05000000000000000000" pitchFamily="2" charset="2"/>
              </a:rPr>
              <a:t>정산처리여부 </a:t>
            </a:r>
            <a:r>
              <a:rPr lang="en-US" altLang="ko-KR" sz="700" dirty="0" smtClean="0">
                <a:latin typeface="+mn-ea"/>
                <a:ea typeface="+mn-ea"/>
                <a:sym typeface="Wingdings" panose="05000000000000000000" pitchFamily="2" charset="2"/>
              </a:rPr>
              <a:t> N</a:t>
            </a:r>
            <a:endParaRPr lang="ko-KR" altLang="en-US" sz="700" dirty="0">
              <a:latin typeface="+mn-ea"/>
              <a:ea typeface="+mn-ea"/>
            </a:endParaRPr>
          </a:p>
        </p:txBody>
      </p:sp>
      <p:sp>
        <p:nvSpPr>
          <p:cNvPr id="477" name="TextBox 94"/>
          <p:cNvSpPr txBox="1">
            <a:spLocks noChangeArrowheads="1"/>
          </p:cNvSpPr>
          <p:nvPr/>
        </p:nvSpPr>
        <p:spPr bwMode="auto">
          <a:xfrm>
            <a:off x="407495" y="3334089"/>
            <a:ext cx="710120"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sym typeface="Wingdings" panose="05000000000000000000" pitchFamily="2" charset="2"/>
              </a:rPr>
              <a:t>엑셀업로드</a:t>
            </a:r>
            <a:endParaRPr lang="en-US" altLang="ko-KR" sz="800" dirty="0" smtClean="0">
              <a:latin typeface="+mn-ea"/>
              <a:ea typeface="+mn-ea"/>
              <a:sym typeface="Wingdings" panose="05000000000000000000" pitchFamily="2" charset="2"/>
            </a:endParaRPr>
          </a:p>
        </p:txBody>
      </p:sp>
      <p:cxnSp>
        <p:nvCxnSpPr>
          <p:cNvPr id="478" name="AutoShape 67"/>
          <p:cNvCxnSpPr>
            <a:cxnSpLocks noChangeShapeType="1"/>
            <a:stCxn id="477" idx="0"/>
            <a:endCxn id="390" idx="3"/>
          </p:cNvCxnSpPr>
          <p:nvPr/>
        </p:nvCxnSpPr>
        <p:spPr bwMode="gray">
          <a:xfrm flipH="1" flipV="1">
            <a:off x="757183" y="2971943"/>
            <a:ext cx="5372" cy="362146"/>
          </a:xfrm>
          <a:prstGeom prst="straightConnector1">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AutoShape 67"/>
          <p:cNvCxnSpPr>
            <a:cxnSpLocks noChangeShapeType="1"/>
            <a:stCxn id="18" idx="2"/>
            <a:endCxn id="396" idx="0"/>
          </p:cNvCxnSpPr>
          <p:nvPr/>
        </p:nvCxnSpPr>
        <p:spPr bwMode="gray">
          <a:xfrm rot="5400000">
            <a:off x="1312035" y="2063084"/>
            <a:ext cx="296776" cy="364826"/>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AutoShape 73"/>
          <p:cNvSpPr>
            <a:spLocks noChangeArrowheads="1"/>
          </p:cNvSpPr>
          <p:nvPr/>
        </p:nvSpPr>
        <p:spPr bwMode="auto">
          <a:xfrm>
            <a:off x="2829704" y="2484185"/>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sp>
        <p:nvSpPr>
          <p:cNvPr id="86" name="TextBox 94"/>
          <p:cNvSpPr txBox="1">
            <a:spLocks noChangeArrowheads="1"/>
          </p:cNvSpPr>
          <p:nvPr/>
        </p:nvSpPr>
        <p:spPr bwMode="auto">
          <a:xfrm>
            <a:off x="2387715" y="2332223"/>
            <a:ext cx="956644"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매장할인마진율</a:t>
            </a:r>
            <a:endParaRPr lang="en-US" altLang="ko-KR" sz="800" dirty="0" smtClean="0">
              <a:latin typeface="+mn-ea"/>
              <a:ea typeface="+mn-ea"/>
            </a:endParaRPr>
          </a:p>
        </p:txBody>
      </p:sp>
      <p:sp>
        <p:nvSpPr>
          <p:cNvPr id="92" name="타원 91"/>
          <p:cNvSpPr/>
          <p:nvPr/>
        </p:nvSpPr>
        <p:spPr>
          <a:xfrm>
            <a:off x="4045192" y="2097109"/>
            <a:ext cx="352849" cy="338735"/>
          </a:xfrm>
          <a:prstGeom prst="ellipse">
            <a:avLst/>
          </a:prstGeom>
          <a:noFill/>
          <a:ln>
            <a:solidFill>
              <a:schemeClr val="tx1"/>
            </a:solidFill>
          </a:ln>
        </p:spPr>
        <p:txBody>
          <a:bodyPr wrap="none" lIns="0" rIns="0" rtlCol="0" anchor="ctr">
            <a:noAutofit/>
          </a:bodyPr>
          <a:lstStyle/>
          <a:p>
            <a:pPr marL="268288" indent="-215900" algn="ctr">
              <a:spcBef>
                <a:spcPct val="20000"/>
              </a:spcBef>
              <a:buClr>
                <a:srgbClr val="FFD200"/>
              </a:buClr>
              <a:buSzPct val="75000"/>
            </a:pPr>
            <a:r>
              <a:rPr lang="ko-KR" altLang="en-US" sz="800" kern="0" dirty="0" smtClean="0">
                <a:latin typeface="+mn-ea"/>
                <a:ea typeface="+mn-ea"/>
              </a:rPr>
              <a:t>종료</a:t>
            </a:r>
          </a:p>
        </p:txBody>
      </p:sp>
      <p:sp>
        <p:nvSpPr>
          <p:cNvPr id="93" name="Text Box 82"/>
          <p:cNvSpPr txBox="1">
            <a:spLocks noChangeArrowheads="1"/>
          </p:cNvSpPr>
          <p:nvPr/>
        </p:nvSpPr>
        <p:spPr bwMode="gray">
          <a:xfrm>
            <a:off x="2910433" y="2878738"/>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94" name="Text Box 82"/>
          <p:cNvSpPr txBox="1">
            <a:spLocks noChangeArrowheads="1"/>
          </p:cNvSpPr>
          <p:nvPr/>
        </p:nvSpPr>
        <p:spPr bwMode="gray">
          <a:xfrm>
            <a:off x="3736283" y="2480084"/>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95" name="AutoShape 67"/>
          <p:cNvCxnSpPr>
            <a:cxnSpLocks noChangeShapeType="1"/>
            <a:stCxn id="85" idx="3"/>
            <a:endCxn id="92" idx="4"/>
          </p:cNvCxnSpPr>
          <p:nvPr/>
        </p:nvCxnSpPr>
        <p:spPr bwMode="gray">
          <a:xfrm flipV="1">
            <a:off x="3952452" y="2435844"/>
            <a:ext cx="269165" cy="285672"/>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Rectangle 49"/>
          <p:cNvSpPr>
            <a:spLocks noChangeArrowheads="1"/>
          </p:cNvSpPr>
          <p:nvPr/>
        </p:nvSpPr>
        <p:spPr bwMode="gray">
          <a:xfrm>
            <a:off x="2732515" y="3293985"/>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공급가계산</a:t>
            </a:r>
            <a:endParaRPr lang="ko-KR" altLang="en-US" sz="800" b="1" dirty="0">
              <a:latin typeface="+mn-ea"/>
              <a:ea typeface="+mn-ea"/>
            </a:endParaRPr>
          </a:p>
        </p:txBody>
      </p:sp>
      <p:sp>
        <p:nvSpPr>
          <p:cNvPr id="99" name="TextBox 94"/>
          <p:cNvSpPr txBox="1">
            <a:spLocks noChangeArrowheads="1"/>
          </p:cNvSpPr>
          <p:nvPr/>
        </p:nvSpPr>
        <p:spPr bwMode="auto">
          <a:xfrm>
            <a:off x="3391078" y="3070704"/>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SP_CAL_SALE_SPPR_MNG</a:t>
            </a:r>
            <a:endParaRPr lang="ko-KR" altLang="en-US" sz="800" b="1" dirty="0">
              <a:latin typeface="+mn-ea"/>
              <a:ea typeface="+mn-ea"/>
            </a:endParaRPr>
          </a:p>
        </p:txBody>
      </p:sp>
      <p:sp>
        <p:nvSpPr>
          <p:cNvPr id="100" name="Oval 108"/>
          <p:cNvSpPr>
            <a:spLocks noChangeArrowheads="1"/>
          </p:cNvSpPr>
          <p:nvPr/>
        </p:nvSpPr>
        <p:spPr bwMode="gray">
          <a:xfrm>
            <a:off x="3084504" y="3866454"/>
            <a:ext cx="627665"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판매</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101" name="Text Box 121"/>
          <p:cNvSpPr txBox="1">
            <a:spLocks noChangeArrowheads="1"/>
          </p:cNvSpPr>
          <p:nvPr/>
        </p:nvSpPr>
        <p:spPr bwMode="gray">
          <a:xfrm>
            <a:off x="2197819" y="3822430"/>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pPr algn="ctr"/>
            <a:r>
              <a:rPr lang="en-US" altLang="ko-KR" sz="800" dirty="0" smtClean="0">
                <a:latin typeface="+mn-ea"/>
                <a:ea typeface="+mn-ea"/>
              </a:rPr>
              <a:t>SHOP_RNDS_ID</a:t>
            </a:r>
          </a:p>
          <a:p>
            <a:pPr algn="ctr"/>
            <a:r>
              <a:rPr lang="en-US" altLang="ko-KR" sz="800" dirty="0" smtClean="0">
                <a:latin typeface="+mn-ea"/>
                <a:ea typeface="+mn-ea"/>
              </a:rPr>
              <a:t>REG_NO</a:t>
            </a:r>
          </a:p>
        </p:txBody>
      </p:sp>
      <p:cxnSp>
        <p:nvCxnSpPr>
          <p:cNvPr id="104" name="AutoShape 67"/>
          <p:cNvCxnSpPr>
            <a:cxnSpLocks noChangeShapeType="1"/>
            <a:stCxn id="100" idx="4"/>
            <a:endCxn id="109" idx="3"/>
          </p:cNvCxnSpPr>
          <p:nvPr/>
        </p:nvCxnSpPr>
        <p:spPr bwMode="gray">
          <a:xfrm rot="5400000" flipH="1" flipV="1">
            <a:off x="4049168" y="3234931"/>
            <a:ext cx="333116" cy="1634779"/>
          </a:xfrm>
          <a:prstGeom prst="bentConnector3">
            <a:avLst>
              <a:gd name="adj1" fmla="val -68625"/>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AutoShape 86"/>
          <p:cNvSpPr>
            <a:spLocks noChangeArrowheads="1"/>
          </p:cNvSpPr>
          <p:nvPr/>
        </p:nvSpPr>
        <p:spPr bwMode="auto">
          <a:xfrm>
            <a:off x="5536993" y="339800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109" name="AutoShape 86"/>
          <p:cNvSpPr>
            <a:spLocks noChangeArrowheads="1"/>
          </p:cNvSpPr>
          <p:nvPr/>
        </p:nvSpPr>
        <p:spPr bwMode="auto">
          <a:xfrm>
            <a:off x="4749747" y="339800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a:t>
            </a:r>
            <a:endParaRPr lang="en-US" altLang="ko-KR" sz="600" b="1" dirty="0" smtClean="0">
              <a:latin typeface="+mn-ea"/>
              <a:ea typeface="+mn-ea"/>
            </a:endParaRPr>
          </a:p>
          <a:p>
            <a:pPr algn="ctr"/>
            <a:r>
              <a:rPr lang="en-US" altLang="ko-KR" sz="600" b="1" dirty="0" smtClean="0">
                <a:latin typeface="+mn-ea"/>
                <a:ea typeface="+mn-ea"/>
              </a:rPr>
              <a:t>T_SALE</a:t>
            </a:r>
            <a:endParaRPr lang="ko-KR" altLang="en-US" sz="600" b="1" dirty="0">
              <a:latin typeface="+mn-ea"/>
              <a:ea typeface="+mn-ea"/>
            </a:endParaRPr>
          </a:p>
        </p:txBody>
      </p:sp>
      <p:cxnSp>
        <p:nvCxnSpPr>
          <p:cNvPr id="114" name="AutoShape 67"/>
          <p:cNvCxnSpPr>
            <a:cxnSpLocks noChangeShapeType="1"/>
            <a:stCxn id="100" idx="4"/>
            <a:endCxn id="108" idx="3"/>
          </p:cNvCxnSpPr>
          <p:nvPr/>
        </p:nvCxnSpPr>
        <p:spPr bwMode="gray">
          <a:xfrm rot="5400000" flipH="1" flipV="1">
            <a:off x="4442791" y="2841308"/>
            <a:ext cx="333116" cy="2422025"/>
          </a:xfrm>
          <a:prstGeom prst="bentConnector3">
            <a:avLst>
              <a:gd name="adj1" fmla="val -68625"/>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AutoShape 67"/>
          <p:cNvCxnSpPr>
            <a:cxnSpLocks noChangeShapeType="1"/>
            <a:stCxn id="100" idx="4"/>
            <a:endCxn id="121" idx="3"/>
          </p:cNvCxnSpPr>
          <p:nvPr/>
        </p:nvCxnSpPr>
        <p:spPr bwMode="gray">
          <a:xfrm rot="5400000" flipH="1" flipV="1">
            <a:off x="4961663" y="2578456"/>
            <a:ext cx="77096" cy="3203749"/>
          </a:xfrm>
          <a:prstGeom prst="bentConnector3">
            <a:avLst>
              <a:gd name="adj1" fmla="val -296513"/>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AutoShape 67"/>
          <p:cNvCxnSpPr>
            <a:cxnSpLocks noChangeShapeType="1"/>
            <a:stCxn id="85" idx="2"/>
            <a:endCxn id="98" idx="0"/>
          </p:cNvCxnSpPr>
          <p:nvPr/>
        </p:nvCxnSpPr>
        <p:spPr bwMode="gray">
          <a:xfrm>
            <a:off x="3391078" y="2958847"/>
            <a:ext cx="4219" cy="335138"/>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 name="AutoShape 67"/>
          <p:cNvCxnSpPr>
            <a:cxnSpLocks noChangeShapeType="1"/>
            <a:stCxn id="98" idx="2"/>
            <a:endCxn id="100" idx="0"/>
          </p:cNvCxnSpPr>
          <p:nvPr/>
        </p:nvCxnSpPr>
        <p:spPr bwMode="gray">
          <a:xfrm>
            <a:off x="3395297" y="3511610"/>
            <a:ext cx="3040" cy="354844"/>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AutoShape 86"/>
          <p:cNvSpPr>
            <a:spLocks noChangeArrowheads="1"/>
          </p:cNvSpPr>
          <p:nvPr/>
        </p:nvSpPr>
        <p:spPr bwMode="auto">
          <a:xfrm>
            <a:off x="6318717" y="365402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ea typeface="+mn-ea"/>
              </a:rPr>
              <a:t>온라인정산이력</a:t>
            </a:r>
            <a:endParaRPr lang="en-US" altLang="ko-KR" sz="600" b="1" dirty="0" smtClean="0">
              <a:latin typeface="+mn-ea"/>
              <a:ea typeface="+mn-ea"/>
            </a:endParaRPr>
          </a:p>
          <a:p>
            <a:pPr algn="ctr"/>
            <a:r>
              <a:rPr lang="en-US" altLang="ko-KR" sz="600" b="1" dirty="0">
                <a:latin typeface="+mn-ea"/>
                <a:ea typeface="+mn-ea"/>
              </a:rPr>
              <a:t>T_ONLINE_STLM_PRCS_BASE</a:t>
            </a:r>
            <a:endParaRPr lang="ko-KR" altLang="en-US" sz="600" b="1" dirty="0">
              <a:latin typeface="+mn-ea"/>
              <a:ea typeface="+mn-ea"/>
            </a:endParaRPr>
          </a:p>
        </p:txBody>
      </p:sp>
      <p:cxnSp>
        <p:nvCxnSpPr>
          <p:cNvPr id="124" name="AutoShape 67"/>
          <p:cNvCxnSpPr>
            <a:cxnSpLocks noChangeShapeType="1"/>
            <a:stCxn id="125" idx="3"/>
            <a:endCxn id="127" idx="1"/>
          </p:cNvCxnSpPr>
          <p:nvPr/>
        </p:nvCxnSpPr>
        <p:spPr bwMode="gray">
          <a:xfrm>
            <a:off x="3398336" y="4782713"/>
            <a:ext cx="866250" cy="160819"/>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5" name="Rectangle 49"/>
          <p:cNvSpPr>
            <a:spLocks noChangeArrowheads="1"/>
          </p:cNvSpPr>
          <p:nvPr/>
        </p:nvSpPr>
        <p:spPr bwMode="gray">
          <a:xfrm>
            <a:off x="2486980" y="4673900"/>
            <a:ext cx="91135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판매수불</a:t>
            </a:r>
            <a:r>
              <a:rPr lang="en-US" altLang="ko-KR" sz="800" b="1" dirty="0" smtClean="0">
                <a:latin typeface="+mn-ea"/>
                <a:ea typeface="+mn-ea"/>
              </a:rPr>
              <a:t>ID</a:t>
            </a:r>
            <a:r>
              <a:rPr lang="ko-KR" altLang="en-US" sz="800" b="1" dirty="0" smtClean="0">
                <a:latin typeface="+mn-ea"/>
                <a:ea typeface="+mn-ea"/>
              </a:rPr>
              <a:t>갱신</a:t>
            </a:r>
            <a:endParaRPr lang="ko-KR" altLang="en-US" sz="800" b="1" dirty="0">
              <a:latin typeface="+mn-ea"/>
              <a:ea typeface="+mn-ea"/>
            </a:endParaRPr>
          </a:p>
        </p:txBody>
      </p:sp>
      <p:cxnSp>
        <p:nvCxnSpPr>
          <p:cNvPr id="126" name="AutoShape 67"/>
          <p:cNvCxnSpPr>
            <a:cxnSpLocks noChangeShapeType="1"/>
            <a:stCxn id="100" idx="4"/>
            <a:endCxn id="125" idx="0"/>
          </p:cNvCxnSpPr>
          <p:nvPr/>
        </p:nvCxnSpPr>
        <p:spPr bwMode="gray">
          <a:xfrm rot="5400000">
            <a:off x="2942988" y="4218550"/>
            <a:ext cx="455021" cy="455679"/>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AutoShape 86"/>
          <p:cNvSpPr>
            <a:spLocks noChangeArrowheads="1"/>
          </p:cNvSpPr>
          <p:nvPr/>
        </p:nvSpPr>
        <p:spPr bwMode="auto">
          <a:xfrm>
            <a:off x="3981217" y="4943532"/>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sp>
        <p:nvSpPr>
          <p:cNvPr id="129" name="TextBox 94"/>
          <p:cNvSpPr txBox="1">
            <a:spLocks noChangeArrowheads="1"/>
          </p:cNvSpPr>
          <p:nvPr/>
        </p:nvSpPr>
        <p:spPr bwMode="auto">
          <a:xfrm>
            <a:off x="2450707" y="4954533"/>
            <a:ext cx="1177167" cy="587853"/>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700" dirty="0" smtClean="0">
                <a:latin typeface="+mn-ea"/>
                <a:ea typeface="+mn-ea"/>
              </a:rPr>
              <a:t>STLM_SALE_RNDS_ID</a:t>
            </a:r>
          </a:p>
          <a:p>
            <a:pPr>
              <a:spcBef>
                <a:spcPct val="20000"/>
              </a:spcBef>
              <a:buClr>
                <a:srgbClr val="003366"/>
              </a:buClr>
            </a:pPr>
            <a:r>
              <a:rPr lang="en-US" altLang="ko-KR" sz="700" dirty="0" smtClean="0">
                <a:latin typeface="+mn-ea"/>
                <a:ea typeface="+mn-ea"/>
              </a:rPr>
              <a:t>STLM_PRCS_YN </a:t>
            </a:r>
            <a:r>
              <a:rPr lang="en-US" altLang="ko-KR" sz="700" dirty="0" smtClean="0">
                <a:latin typeface="+mn-ea"/>
                <a:ea typeface="+mn-ea"/>
                <a:sym typeface="Wingdings" panose="05000000000000000000" pitchFamily="2" charset="2"/>
              </a:rPr>
              <a:t></a:t>
            </a:r>
            <a:r>
              <a:rPr lang="en-US" altLang="ko-KR" sz="700" dirty="0" smtClean="0">
                <a:latin typeface="+mn-ea"/>
                <a:ea typeface="+mn-ea"/>
              </a:rPr>
              <a:t> Y</a:t>
            </a:r>
          </a:p>
          <a:p>
            <a:pPr>
              <a:spcBef>
                <a:spcPct val="20000"/>
              </a:spcBef>
              <a:buClr>
                <a:srgbClr val="003366"/>
              </a:buClr>
            </a:pPr>
            <a:r>
              <a:rPr lang="en-US" altLang="ko-KR" sz="700" dirty="0" smtClean="0">
                <a:latin typeface="+mn-ea"/>
                <a:ea typeface="+mn-ea"/>
              </a:rPr>
              <a:t>END_YYMM </a:t>
            </a:r>
            <a:r>
              <a:rPr lang="en-US" altLang="ko-KR" sz="700" dirty="0" smtClean="0">
                <a:latin typeface="+mn-ea"/>
                <a:ea typeface="+mn-ea"/>
                <a:sym typeface="Wingdings" panose="05000000000000000000" pitchFamily="2" charset="2"/>
              </a:rPr>
              <a:t> </a:t>
            </a:r>
            <a:r>
              <a:rPr lang="ko-KR" altLang="en-US" sz="700" dirty="0" err="1" smtClean="0">
                <a:latin typeface="+mn-ea"/>
                <a:ea typeface="+mn-ea"/>
                <a:sym typeface="Wingdings" panose="05000000000000000000" pitchFamily="2" charset="2"/>
              </a:rPr>
              <a:t>정산년월</a:t>
            </a:r>
            <a:endParaRPr lang="en-US" altLang="ko-KR" sz="700" dirty="0" smtClean="0">
              <a:latin typeface="+mn-ea"/>
              <a:ea typeface="+mn-ea"/>
            </a:endParaRPr>
          </a:p>
          <a:p>
            <a:pPr>
              <a:spcBef>
                <a:spcPct val="20000"/>
              </a:spcBef>
              <a:buClr>
                <a:srgbClr val="003366"/>
              </a:buClr>
            </a:pPr>
            <a:r>
              <a:rPr lang="en-US" altLang="ko-KR" sz="700" dirty="0" smtClean="0">
                <a:latin typeface="+mn-ea"/>
                <a:ea typeface="+mn-ea"/>
              </a:rPr>
              <a:t>END_YN </a:t>
            </a:r>
            <a:r>
              <a:rPr lang="en-US" altLang="ko-KR" sz="700" dirty="0" smtClean="0">
                <a:latin typeface="+mn-ea"/>
                <a:ea typeface="+mn-ea"/>
                <a:sym typeface="Wingdings" panose="05000000000000000000" pitchFamily="2" charset="2"/>
              </a:rPr>
              <a:t></a:t>
            </a:r>
            <a:r>
              <a:rPr lang="en-US" altLang="ko-KR" sz="700" dirty="0" smtClean="0">
                <a:latin typeface="+mn-ea"/>
                <a:ea typeface="+mn-ea"/>
              </a:rPr>
              <a:t> N</a:t>
            </a:r>
            <a:endParaRPr lang="ko-KR" altLang="en-US" sz="700" dirty="0">
              <a:latin typeface="+mn-ea"/>
              <a:ea typeface="+mn-ea"/>
            </a:endParaRPr>
          </a:p>
        </p:txBody>
      </p:sp>
      <p:sp>
        <p:nvSpPr>
          <p:cNvPr id="130" name="AutoShape 86"/>
          <p:cNvSpPr>
            <a:spLocks noChangeArrowheads="1"/>
          </p:cNvSpPr>
          <p:nvPr/>
        </p:nvSpPr>
        <p:spPr bwMode="auto">
          <a:xfrm>
            <a:off x="5141443" y="1915824"/>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매장재고</a:t>
            </a:r>
            <a:endParaRPr lang="en-US" altLang="ko-KR" sz="600" b="1" dirty="0" smtClean="0">
              <a:latin typeface="+mn-ea"/>
              <a:ea typeface="+mn-ea"/>
            </a:endParaRPr>
          </a:p>
          <a:p>
            <a:pPr algn="ctr"/>
            <a:r>
              <a:rPr lang="en-US" altLang="ko-KR" sz="600" b="1" dirty="0" smtClean="0">
                <a:latin typeface="+mn-ea"/>
                <a:ea typeface="+mn-ea"/>
              </a:rPr>
              <a:t>T_SHOP_STOCK</a:t>
            </a:r>
            <a:endParaRPr lang="ko-KR" altLang="en-US" sz="600" b="1" dirty="0">
              <a:latin typeface="+mn-ea"/>
              <a:ea typeface="+mn-ea"/>
            </a:endParaRPr>
          </a:p>
        </p:txBody>
      </p:sp>
      <p:sp>
        <p:nvSpPr>
          <p:cNvPr id="131" name="AutoShape 86"/>
          <p:cNvSpPr>
            <a:spLocks noChangeArrowheads="1"/>
          </p:cNvSpPr>
          <p:nvPr/>
        </p:nvSpPr>
        <p:spPr bwMode="auto">
          <a:xfrm>
            <a:off x="5853100" y="1915824"/>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제품월수불</a:t>
            </a:r>
            <a:endParaRPr lang="en-US" altLang="ko-KR" sz="600" b="1" dirty="0" smtClean="0">
              <a:latin typeface="+mn-ea"/>
              <a:ea typeface="+mn-ea"/>
            </a:endParaRPr>
          </a:p>
          <a:p>
            <a:pPr algn="ctr"/>
            <a:r>
              <a:rPr lang="en-US" altLang="ko-KR" sz="600" b="1" dirty="0" smtClean="0">
                <a:latin typeface="+mn-ea"/>
                <a:ea typeface="+mn-ea"/>
              </a:rPr>
              <a:t>T_M_RNDS</a:t>
            </a:r>
            <a:endParaRPr lang="ko-KR" altLang="en-US" sz="600" b="1" dirty="0">
              <a:latin typeface="+mn-ea"/>
              <a:ea typeface="+mn-ea"/>
            </a:endParaRPr>
          </a:p>
        </p:txBody>
      </p:sp>
      <p:sp>
        <p:nvSpPr>
          <p:cNvPr id="132" name="TextBox 94"/>
          <p:cNvSpPr txBox="1">
            <a:spLocks noChangeArrowheads="1"/>
          </p:cNvSpPr>
          <p:nvPr/>
        </p:nvSpPr>
        <p:spPr bwMode="auto">
          <a:xfrm>
            <a:off x="5098093" y="1659229"/>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b="1" dirty="0" smtClean="0">
                <a:latin typeface="+mn-ea"/>
                <a:ea typeface="+mn-ea"/>
              </a:rPr>
              <a:t>패션</a:t>
            </a:r>
            <a:r>
              <a:rPr lang="en-US" altLang="ko-KR" sz="800" b="1" dirty="0" smtClean="0">
                <a:latin typeface="+mn-ea"/>
                <a:ea typeface="+mn-ea"/>
              </a:rPr>
              <a:t>ERP </a:t>
            </a:r>
            <a:r>
              <a:rPr lang="ko-KR" altLang="en-US" sz="800" b="1" dirty="0" smtClean="0">
                <a:latin typeface="+mn-ea"/>
                <a:ea typeface="+mn-ea"/>
              </a:rPr>
              <a:t>야간배치 갱신</a:t>
            </a:r>
            <a:endParaRPr lang="ko-KR" altLang="en-US" sz="800" b="1" dirty="0">
              <a:latin typeface="+mn-ea"/>
              <a:ea typeface="+mn-ea"/>
            </a:endParaRPr>
          </a:p>
        </p:txBody>
      </p:sp>
      <p:cxnSp>
        <p:nvCxnSpPr>
          <p:cNvPr id="133" name="AutoShape 67"/>
          <p:cNvCxnSpPr>
            <a:cxnSpLocks noChangeShapeType="1"/>
            <a:stCxn id="108" idx="1"/>
            <a:endCxn id="131" idx="3"/>
          </p:cNvCxnSpPr>
          <p:nvPr/>
        </p:nvCxnSpPr>
        <p:spPr bwMode="gray">
          <a:xfrm rot="5400000" flipH="1" flipV="1">
            <a:off x="5481204" y="2742741"/>
            <a:ext cx="994423" cy="316107"/>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AutoShape 67"/>
          <p:cNvCxnSpPr>
            <a:cxnSpLocks noChangeShapeType="1"/>
            <a:stCxn id="108" idx="1"/>
            <a:endCxn id="130" idx="3"/>
          </p:cNvCxnSpPr>
          <p:nvPr/>
        </p:nvCxnSpPr>
        <p:spPr bwMode="gray">
          <a:xfrm rot="16200000" flipV="1">
            <a:off x="5125376" y="2703019"/>
            <a:ext cx="994423" cy="395550"/>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TextBox 94"/>
          <p:cNvSpPr txBox="1">
            <a:spLocks noChangeArrowheads="1"/>
          </p:cNvSpPr>
          <p:nvPr/>
        </p:nvSpPr>
        <p:spPr bwMode="auto">
          <a:xfrm>
            <a:off x="5924099" y="4474898"/>
            <a:ext cx="1443685" cy="415498"/>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a:latin typeface="+mn-ea"/>
                <a:ea typeface="+mn-ea"/>
              </a:rPr>
              <a:t>정산 처리 유형 </a:t>
            </a:r>
            <a:r>
              <a:rPr lang="en-US" altLang="ko-KR" sz="700" dirty="0">
                <a:latin typeface="+mn-ea"/>
                <a:ea typeface="+mn-ea"/>
              </a:rPr>
              <a:t>/ </a:t>
            </a:r>
            <a:r>
              <a:rPr lang="ko-KR" altLang="en-US" sz="700" dirty="0">
                <a:latin typeface="+mn-ea"/>
                <a:ea typeface="+mn-ea"/>
              </a:rPr>
              <a:t>정산 완료 여부 </a:t>
            </a:r>
            <a:r>
              <a:rPr lang="en-US" altLang="ko-KR" sz="700" dirty="0">
                <a:latin typeface="+mn-ea"/>
                <a:ea typeface="+mn-ea"/>
              </a:rPr>
              <a:t>/ </a:t>
            </a:r>
            <a:r>
              <a:rPr lang="ko-KR" altLang="en-US" sz="700" dirty="0">
                <a:latin typeface="+mn-ea"/>
                <a:ea typeface="+mn-ea"/>
              </a:rPr>
              <a:t>정산으로 발생한 수불번호 등 처리 </a:t>
            </a:r>
            <a:r>
              <a:rPr lang="ko-KR" altLang="en-US" sz="700" dirty="0" smtClean="0">
                <a:latin typeface="+mn-ea"/>
                <a:ea typeface="+mn-ea"/>
              </a:rPr>
              <a:t>이력 관리</a:t>
            </a:r>
            <a:endParaRPr lang="ko-KR" altLang="en-US" sz="700" dirty="0">
              <a:latin typeface="+mn-ea"/>
              <a:ea typeface="+mn-ea"/>
            </a:endParaRPr>
          </a:p>
        </p:txBody>
      </p:sp>
    </p:spTree>
    <p:extLst>
      <p:ext uri="{BB962C8B-B14F-4D97-AF65-F5344CB8AC3E}">
        <p14:creationId xmlns:p14="http://schemas.microsoft.com/office/powerpoint/2010/main" val="11007752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Rectangle 2"/>
          <p:cNvSpPr>
            <a:spLocks noChangeArrowheads="1"/>
          </p:cNvSpPr>
          <p:nvPr/>
        </p:nvSpPr>
        <p:spPr bwMode="gray">
          <a:xfrm>
            <a:off x="272480" y="2195660"/>
            <a:ext cx="1627989" cy="657751"/>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a:latin typeface="+mn-ea"/>
              <a:ea typeface="+mn-ea"/>
            </a:endParaRPr>
          </a:p>
        </p:txBody>
      </p:sp>
      <p:sp>
        <p:nvSpPr>
          <p:cNvPr id="11" name="제목 10"/>
          <p:cNvSpPr>
            <a:spLocks noGrp="1"/>
          </p:cNvSpPr>
          <p:nvPr>
            <p:ph type="title"/>
          </p:nvPr>
        </p:nvSpPr>
        <p:spPr/>
        <p:txBody>
          <a:bodyPr/>
          <a:lstStyle/>
          <a:p>
            <a:r>
              <a:rPr lang="en-US" altLang="ko-KR" dirty="0">
                <a:latin typeface="+mn-ea"/>
                <a:ea typeface="+mn-ea"/>
              </a:rPr>
              <a:t>6</a:t>
            </a:r>
            <a:r>
              <a:rPr lang="en-US" altLang="ko-KR" dirty="0" smtClean="0">
                <a:latin typeface="+mn-ea"/>
                <a:ea typeface="+mn-ea"/>
              </a:rPr>
              <a:t>. </a:t>
            </a:r>
            <a:r>
              <a:rPr lang="ko-KR" altLang="en-US" dirty="0" smtClean="0">
                <a:latin typeface="+mn-ea"/>
                <a:ea typeface="+mn-ea"/>
              </a:rPr>
              <a:t>외부 몰 정산</a:t>
            </a:r>
            <a:endParaRPr lang="ko-KR" altLang="en-US" sz="1400" dirty="0">
              <a:latin typeface="+mn-ea"/>
              <a:ea typeface="+mn-ea"/>
            </a:endParaRPr>
          </a:p>
        </p:txBody>
      </p:sp>
      <p:sp>
        <p:nvSpPr>
          <p:cNvPr id="42" name="TextBox 39"/>
          <p:cNvSpPr txBox="1">
            <a:spLocks noChangeArrowheads="1"/>
          </p:cNvSpPr>
          <p:nvPr/>
        </p:nvSpPr>
        <p:spPr bwMode="auto">
          <a:xfrm>
            <a:off x="218855" y="738114"/>
            <a:ext cx="9594685" cy="304699"/>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a:latin typeface="+mn-ea"/>
                <a:ea typeface="+mn-ea"/>
              </a:rPr>
              <a:t> </a:t>
            </a:r>
            <a:r>
              <a:rPr kumimoji="0" lang="ko-KR" altLang="en-US" sz="1200" b="1" dirty="0">
                <a:solidFill>
                  <a:prstClr val="black"/>
                </a:solidFill>
                <a:latin typeface="+mn-ea"/>
                <a:ea typeface="+mn-ea"/>
              </a:rPr>
              <a:t>외부 몰 판매에 대한 정산 처리</a:t>
            </a:r>
            <a:r>
              <a:rPr kumimoji="0" lang="en-US" altLang="ko-KR" sz="1200" b="1" dirty="0">
                <a:solidFill>
                  <a:prstClr val="black"/>
                </a:solidFill>
                <a:latin typeface="+mn-ea"/>
                <a:ea typeface="+mn-ea"/>
              </a:rPr>
              <a:t>. </a:t>
            </a:r>
            <a:r>
              <a:rPr kumimoji="0" lang="ko-KR" altLang="en-US" sz="1200" b="1" dirty="0">
                <a:solidFill>
                  <a:prstClr val="black"/>
                </a:solidFill>
                <a:latin typeface="+mn-ea"/>
                <a:ea typeface="+mn-ea"/>
              </a:rPr>
              <a:t>외부 몰 정산 </a:t>
            </a:r>
            <a:r>
              <a:rPr kumimoji="0" lang="en-US" altLang="ko-KR" sz="1200" b="1" dirty="0">
                <a:solidFill>
                  <a:prstClr val="black"/>
                </a:solidFill>
                <a:latin typeface="+mn-ea"/>
                <a:ea typeface="+mn-ea"/>
              </a:rPr>
              <a:t>LIST </a:t>
            </a:r>
            <a:r>
              <a:rPr kumimoji="0" lang="ko-KR" altLang="en-US" sz="1200" b="1" dirty="0">
                <a:solidFill>
                  <a:prstClr val="black"/>
                </a:solidFill>
                <a:latin typeface="+mn-ea"/>
                <a:ea typeface="+mn-ea"/>
              </a:rPr>
              <a:t>수취 후 외부 몰 정산 수행</a:t>
            </a:r>
            <a:r>
              <a:rPr kumimoji="0" lang="en-US" altLang="ko-KR" sz="1200" b="1" dirty="0">
                <a:solidFill>
                  <a:prstClr val="black"/>
                </a:solidFill>
                <a:latin typeface="+mn-ea"/>
                <a:ea typeface="+mn-ea"/>
              </a:rPr>
              <a:t>.</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mn-ea"/>
                <a:ea typeface="+mn-ea"/>
              </a:endParaRPr>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latinLnBrk="0" hangingPunct="0">
                <a:lnSpc>
                  <a:spcPct val="140000"/>
                </a:lnSpc>
                <a:buClr>
                  <a:schemeClr val="tx2"/>
                </a:buClr>
                <a:buSzPct val="75000"/>
                <a:buFont typeface="Wingdings" panose="05000000000000000000" pitchFamily="2" charset="2"/>
                <a:buChar char="u"/>
              </a:pPr>
              <a:r>
                <a:rPr kumimoji="0" lang="en-US" altLang="ko-KR" sz="900" b="1" dirty="0" smtClean="0">
                  <a:latin typeface="+mn-ea"/>
                  <a:ea typeface="+mn-ea"/>
                </a:rPr>
                <a:t> </a:t>
              </a:r>
              <a:r>
                <a:rPr kumimoji="0" lang="ko-KR" altLang="en-US" sz="900" b="1" dirty="0">
                  <a:latin typeface="+mn-ea"/>
                  <a:ea typeface="+mn-ea"/>
                </a:rPr>
                <a:t>정의</a:t>
              </a:r>
            </a:p>
            <a:p>
              <a:pPr eaLnBrk="0" latinLnBrk="0" hangingPunct="0">
                <a:lnSpc>
                  <a:spcPct val="140000"/>
                </a:lnSpc>
                <a:buClr>
                  <a:schemeClr val="tx2"/>
                </a:buClr>
                <a:buSzPct val="75000"/>
              </a:pPr>
              <a:r>
                <a:rPr kumimoji="0" lang="ko-KR" altLang="en-US" sz="900" dirty="0" smtClean="0">
                  <a:latin typeface="+mn-ea"/>
                  <a:ea typeface="+mn-ea"/>
                </a:rPr>
                <a:t>자사</a:t>
              </a:r>
              <a:r>
                <a:rPr kumimoji="0" lang="en-US" altLang="ko-KR" sz="900" dirty="0" smtClean="0">
                  <a:latin typeface="+mn-ea"/>
                  <a:ea typeface="+mn-ea"/>
                </a:rPr>
                <a:t>/</a:t>
              </a:r>
              <a:r>
                <a:rPr kumimoji="0" lang="ko-KR" altLang="en-US" sz="900" dirty="0" err="1" smtClean="0">
                  <a:latin typeface="+mn-ea"/>
                  <a:ea typeface="+mn-ea"/>
                </a:rPr>
                <a:t>외부몰</a:t>
              </a:r>
              <a:r>
                <a:rPr kumimoji="0" lang="ko-KR" altLang="en-US" sz="900" dirty="0" smtClean="0">
                  <a:latin typeface="+mn-ea"/>
                  <a:ea typeface="+mn-ea"/>
                </a:rPr>
                <a:t> 출고 반품 등록을 한다</a:t>
              </a:r>
              <a:r>
                <a:rPr kumimoji="0" lang="en-US" altLang="ko-KR" sz="900" dirty="0" smtClean="0">
                  <a:latin typeface="+mn-ea"/>
                  <a:ea typeface="+mn-ea"/>
                </a:rPr>
                <a:t>.</a:t>
              </a:r>
            </a:p>
            <a:p>
              <a:pPr eaLnBrk="0" latinLnBrk="0" hangingPunct="0">
                <a:lnSpc>
                  <a:spcPct val="140000"/>
                </a:lnSpc>
                <a:buClr>
                  <a:schemeClr val="tx2"/>
                </a:buClr>
                <a:buSzPct val="75000"/>
              </a:pPr>
              <a:r>
                <a:rPr kumimoji="0" lang="en-US" altLang="ko-KR" sz="900" dirty="0" smtClean="0">
                  <a:latin typeface="+mn-ea"/>
                  <a:ea typeface="+mn-ea"/>
                </a:rPr>
                <a:t>  </a:t>
              </a:r>
              <a:r>
                <a:rPr kumimoji="0" lang="en-US" altLang="ko-KR" sz="900" dirty="0" smtClean="0">
                  <a:latin typeface="+mn-ea"/>
                  <a:ea typeface="+mn-ea"/>
                  <a:sym typeface="Wingdings" panose="05000000000000000000" pitchFamily="2" charset="2"/>
                </a:rPr>
                <a:t> </a:t>
              </a:r>
              <a:r>
                <a:rPr kumimoji="0" lang="ko-KR" altLang="en-US" sz="900" dirty="0" err="1">
                  <a:latin typeface="+mn-ea"/>
                  <a:ea typeface="+mn-ea"/>
                  <a:sym typeface="Wingdings" panose="05000000000000000000" pitchFamily="2" charset="2"/>
                </a:rPr>
                <a:t>외부몰</a:t>
              </a:r>
              <a:r>
                <a:rPr kumimoji="0" lang="ko-KR" altLang="en-US" sz="900" dirty="0">
                  <a:latin typeface="+mn-ea"/>
                  <a:ea typeface="+mn-ea"/>
                  <a:sym typeface="Wingdings" panose="05000000000000000000" pitchFamily="2" charset="2"/>
                </a:rPr>
                <a:t> 정산 기능으로 </a:t>
              </a:r>
              <a:r>
                <a:rPr kumimoji="0" lang="ko-KR" altLang="en-US" sz="900" dirty="0" err="1">
                  <a:latin typeface="+mn-ea"/>
                  <a:ea typeface="+mn-ea"/>
                  <a:sym typeface="Wingdings" panose="05000000000000000000" pitchFamily="2" charset="2"/>
                </a:rPr>
                <a:t>외부몰에</a:t>
              </a:r>
              <a:r>
                <a:rPr kumimoji="0" lang="ko-KR" altLang="en-US" sz="900" dirty="0">
                  <a:latin typeface="+mn-ea"/>
                  <a:ea typeface="+mn-ea"/>
                  <a:sym typeface="Wingdings" panose="05000000000000000000" pitchFamily="2" charset="2"/>
                </a:rPr>
                <a:t> 대한 판매 수불만 컨트롤 함</a:t>
              </a:r>
              <a:r>
                <a:rPr kumimoji="0" lang="en-US" altLang="ko-KR" sz="900" dirty="0">
                  <a:latin typeface="+mn-ea"/>
                  <a:ea typeface="+mn-ea"/>
                  <a:sym typeface="Wingdings" panose="05000000000000000000" pitchFamily="2" charset="2"/>
                </a:rPr>
                <a:t>.</a:t>
              </a:r>
            </a:p>
            <a:p>
              <a:pPr eaLnBrk="0" latinLnBrk="0" hangingPunct="0">
                <a:lnSpc>
                  <a:spcPct val="140000"/>
                </a:lnSpc>
                <a:buClr>
                  <a:schemeClr val="tx2"/>
                </a:buClr>
                <a:buSzPct val="75000"/>
              </a:pPr>
              <a:r>
                <a:rPr kumimoji="0" lang="en-US" altLang="ko-KR" sz="900" dirty="0">
                  <a:latin typeface="+mn-ea"/>
                  <a:ea typeface="+mn-ea"/>
                  <a:sym typeface="Wingdings" panose="05000000000000000000" pitchFamily="2" charset="2"/>
                </a:rPr>
                <a:t>STOCK_STAT = </a:t>
              </a:r>
              <a:r>
                <a:rPr kumimoji="0" lang="en-US" altLang="ko-KR" sz="900" dirty="0" smtClean="0">
                  <a:latin typeface="+mn-ea"/>
                  <a:ea typeface="+mn-ea"/>
                  <a:sym typeface="Wingdings" panose="05000000000000000000" pitchFamily="2" charset="2"/>
                </a:rPr>
                <a:t>‘C20921</a:t>
              </a:r>
              <a:r>
                <a:rPr kumimoji="0" lang="en-US" altLang="ko-KR" sz="900" dirty="0">
                  <a:latin typeface="+mn-ea"/>
                  <a:ea typeface="+mn-ea"/>
                  <a:sym typeface="Wingdings" panose="05000000000000000000" pitchFamily="2" charset="2"/>
                </a:rPr>
                <a:t>’</a:t>
              </a:r>
              <a:r>
                <a:rPr kumimoji="0" lang="ko-KR" altLang="en-US" sz="900" dirty="0">
                  <a:latin typeface="+mn-ea"/>
                  <a:ea typeface="+mn-ea"/>
                  <a:sym typeface="Wingdings" panose="05000000000000000000" pitchFamily="2" charset="2"/>
                </a:rPr>
                <a:t>은 </a:t>
              </a:r>
              <a:r>
                <a:rPr kumimoji="0" lang="ko-KR" altLang="en-US" sz="900" dirty="0" err="1">
                  <a:latin typeface="+mn-ea"/>
                  <a:ea typeface="+mn-ea"/>
                  <a:sym typeface="Wingdings" panose="05000000000000000000" pitchFamily="2" charset="2"/>
                </a:rPr>
                <a:t>외부몰</a:t>
              </a:r>
              <a:r>
                <a:rPr kumimoji="0" lang="ko-KR" altLang="en-US" sz="900" dirty="0">
                  <a:latin typeface="+mn-ea"/>
                  <a:ea typeface="+mn-ea"/>
                  <a:sym typeface="Wingdings" panose="05000000000000000000" pitchFamily="2" charset="2"/>
                </a:rPr>
                <a:t> 정산으로 생성되지 </a:t>
              </a:r>
              <a:r>
                <a:rPr kumimoji="0" lang="ko-KR" altLang="en-US" sz="900" dirty="0" smtClean="0">
                  <a:latin typeface="+mn-ea"/>
                  <a:ea typeface="+mn-ea"/>
                  <a:sym typeface="Wingdings" panose="05000000000000000000" pitchFamily="2" charset="2"/>
                </a:rPr>
                <a:t>않음</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endParaRPr kumimoji="0" lang="ko-KR" altLang="en-US" sz="900" dirty="0" smtClean="0">
                <a:latin typeface="+mn-ea"/>
                <a:ea typeface="+mn-ea"/>
              </a:endParaRPr>
            </a:p>
            <a:p>
              <a:pPr marL="85725" indent="-85725" eaLnBrk="0" latinLnBrk="0" hangingPunct="0">
                <a:lnSpc>
                  <a:spcPct val="140000"/>
                </a:lnSpc>
                <a:buClr>
                  <a:schemeClr val="tx2"/>
                </a:buClr>
                <a:buSzPct val="75000"/>
                <a:buFont typeface="Wingdings" panose="05000000000000000000" pitchFamily="2" charset="2"/>
                <a:buChar char="u"/>
              </a:pPr>
              <a:r>
                <a:rPr kumimoji="0" lang="ko-KR" altLang="en-US" sz="900" b="1" dirty="0" smtClean="0">
                  <a:latin typeface="+mn-ea"/>
                  <a:ea typeface="+mn-ea"/>
                </a:rPr>
                <a:t> 선행 프로세스</a:t>
              </a:r>
            </a:p>
            <a:p>
              <a:pPr eaLnBrk="0" latinLnBrk="0" hangingPunct="0">
                <a:lnSpc>
                  <a:spcPct val="140000"/>
                </a:lnSpc>
                <a:buClr>
                  <a:schemeClr val="tx2"/>
                </a:buClr>
                <a:buSzPct val="75000"/>
              </a:pPr>
              <a:r>
                <a:rPr kumimoji="0" lang="en-US" altLang="ko-KR" sz="900" dirty="0" smtClean="0">
                  <a:latin typeface="+mn-ea"/>
                  <a:ea typeface="+mn-ea"/>
                </a:rPr>
                <a:t>1</a:t>
              </a:r>
              <a:r>
                <a:rPr kumimoji="0" lang="en-US" altLang="ko-KR" sz="900" dirty="0" smtClean="0">
                  <a:latin typeface="+mn-ea"/>
                  <a:ea typeface="+mn-ea"/>
                </a:rPr>
                <a:t>. </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smtClean="0">
                  <a:latin typeface="+mn-ea"/>
                  <a:ea typeface="+mn-ea"/>
                </a:rPr>
                <a:t>2. </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a:latin typeface="+mn-ea"/>
                  <a:ea typeface="+mn-ea"/>
                  <a:sym typeface="Wingdings" panose="05000000000000000000" pitchFamily="2" charset="2"/>
                </a:rPr>
                <a:t> </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rPr>
                <a:t> </a:t>
              </a:r>
              <a:endParaRPr kumimoji="0" lang="ko-KR" altLang="en-US" sz="900" dirty="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a:latin typeface="+mn-ea"/>
                  <a:ea typeface="+mn-ea"/>
                </a:rPr>
                <a:t> </a:t>
              </a:r>
              <a:r>
                <a:rPr kumimoji="0" lang="ko-KR" altLang="en-US" sz="900" b="1" dirty="0">
                  <a:latin typeface="+mn-ea"/>
                  <a:ea typeface="+mn-ea"/>
                </a:rPr>
                <a:t>후행 프로세스</a:t>
              </a:r>
            </a:p>
            <a:p>
              <a:pPr eaLnBrk="0" latinLnBrk="0" hangingPunct="0">
                <a:lnSpc>
                  <a:spcPct val="140000"/>
                </a:lnSpc>
                <a:buClr>
                  <a:schemeClr val="tx2"/>
                </a:buClr>
                <a:buSzPct val="75000"/>
              </a:pPr>
              <a:r>
                <a:rPr kumimoji="0" lang="en-US" altLang="ko-KR" sz="900" dirty="0" smtClean="0">
                  <a:latin typeface="+mn-ea"/>
                  <a:ea typeface="+mn-ea"/>
                </a:rPr>
                <a:t>1. </a:t>
              </a:r>
              <a:endParaRPr kumimoji="0" lang="ko-KR" altLang="en-US" sz="900" dirty="0" smtClean="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smtClean="0">
                  <a:latin typeface="+mn-ea"/>
                  <a:ea typeface="+mn-ea"/>
                </a:rPr>
                <a:t> </a:t>
              </a:r>
              <a:r>
                <a:rPr kumimoji="0" lang="ko-KR" altLang="en-US" sz="900" b="1" dirty="0" smtClean="0">
                  <a:latin typeface="+mn-ea"/>
                  <a:ea typeface="+mn-ea"/>
                </a:rPr>
                <a:t>비즈니스 업무정책</a:t>
              </a:r>
            </a:p>
            <a:p>
              <a:r>
                <a:rPr kumimoji="0" lang="en-US" altLang="ko-KR" sz="900" dirty="0" smtClean="0">
                  <a:latin typeface="+mn-ea"/>
                  <a:ea typeface="+mn-ea"/>
                </a:rPr>
                <a:t>1. </a:t>
              </a:r>
              <a:r>
                <a:rPr lang="en-US" altLang="ko-KR" sz="900" b="1" dirty="0">
                  <a:latin typeface="+mn-ea"/>
                  <a:ea typeface="+mn-ea"/>
                </a:rPr>
                <a:t>STLM4 : </a:t>
              </a:r>
              <a:r>
                <a:rPr lang="ko-KR" altLang="en-US" sz="900" b="1" dirty="0">
                  <a:latin typeface="+mn-ea"/>
                  <a:ea typeface="+mn-ea"/>
                </a:rPr>
                <a:t>정산</a:t>
              </a:r>
              <a:r>
                <a:rPr lang="en-US" altLang="ko-KR" sz="900" b="1" dirty="0">
                  <a:latin typeface="+mn-ea"/>
                  <a:ea typeface="+mn-ea"/>
                </a:rPr>
                <a:t>4</a:t>
              </a:r>
            </a:p>
            <a:p>
              <a:r>
                <a:rPr lang="en-US" altLang="ko-KR" sz="900" dirty="0">
                  <a:latin typeface="+mn-ea"/>
                  <a:ea typeface="+mn-ea"/>
                </a:rPr>
                <a:t>BO</a:t>
              </a:r>
              <a:r>
                <a:rPr lang="ko-KR" altLang="en-US" sz="900" dirty="0">
                  <a:latin typeface="+mn-ea"/>
                  <a:ea typeface="+mn-ea"/>
                </a:rPr>
                <a:t>에 없는 주문</a:t>
              </a:r>
              <a:r>
                <a:rPr lang="en-US" altLang="ko-KR" sz="900" dirty="0">
                  <a:latin typeface="+mn-ea"/>
                  <a:ea typeface="+mn-ea"/>
                </a:rPr>
                <a:t>, </a:t>
              </a:r>
              <a:r>
                <a:rPr lang="ko-KR" altLang="en-US" sz="900" dirty="0" err="1">
                  <a:latin typeface="+mn-ea"/>
                  <a:ea typeface="+mn-ea"/>
                </a:rPr>
                <a:t>정산서에만</a:t>
              </a:r>
              <a:r>
                <a:rPr lang="ko-KR" altLang="en-US" sz="900" dirty="0">
                  <a:latin typeface="+mn-ea"/>
                  <a:ea typeface="+mn-ea"/>
                </a:rPr>
                <a:t> 포함된 주문인 경우 정산금액을 </a:t>
              </a:r>
              <a:r>
                <a:rPr lang="ko-KR" altLang="en-US" sz="900" dirty="0" err="1">
                  <a:latin typeface="+mn-ea"/>
                  <a:ea typeface="+mn-ea"/>
                </a:rPr>
                <a:t>가품번으로</a:t>
              </a:r>
              <a:r>
                <a:rPr lang="ko-KR" altLang="en-US" sz="900" dirty="0">
                  <a:latin typeface="+mn-ea"/>
                  <a:ea typeface="+mn-ea"/>
                </a:rPr>
                <a:t> 판매수불 생성</a:t>
              </a:r>
              <a:endParaRPr kumimoji="0" lang="en-US" altLang="ko-KR" sz="900" dirty="0">
                <a:latin typeface="+mn-ea"/>
                <a:ea typeface="+mn-ea"/>
              </a:endParaRPr>
            </a:p>
          </p:txBody>
        </p:sp>
      </p:grpSp>
      <p:sp>
        <p:nvSpPr>
          <p:cNvPr id="89" name="TextBox 94"/>
          <p:cNvSpPr txBox="1">
            <a:spLocks noChangeArrowheads="1"/>
          </p:cNvSpPr>
          <p:nvPr/>
        </p:nvSpPr>
        <p:spPr bwMode="auto">
          <a:xfrm>
            <a:off x="992560" y="1313336"/>
            <a:ext cx="141688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SP_ONLINE_STLM_BASE</a:t>
            </a:r>
            <a:endParaRPr lang="ko-KR" altLang="en-US" sz="800" b="1" dirty="0">
              <a:latin typeface="+mn-ea"/>
              <a:ea typeface="+mn-ea"/>
            </a:endParaRPr>
          </a:p>
        </p:txBody>
      </p:sp>
      <p:cxnSp>
        <p:nvCxnSpPr>
          <p:cNvPr id="60" name="AutoShape 67"/>
          <p:cNvCxnSpPr>
            <a:cxnSpLocks noChangeShapeType="1"/>
            <a:endCxn id="18" idx="1"/>
          </p:cNvCxnSpPr>
          <p:nvPr/>
        </p:nvCxnSpPr>
        <p:spPr bwMode="gray">
          <a:xfrm>
            <a:off x="722530" y="1808820"/>
            <a:ext cx="580471" cy="4125"/>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순서도: 페이지 연결자 17"/>
          <p:cNvSpPr/>
          <p:nvPr/>
        </p:nvSpPr>
        <p:spPr>
          <a:xfrm>
            <a:off x="1303001" y="1528780"/>
            <a:ext cx="679669" cy="568329"/>
          </a:xfrm>
          <a:prstGeom prst="flowChartOffpageConnector">
            <a:avLst/>
          </a:prstGeom>
          <a:solidFill>
            <a:schemeClr val="accent1">
              <a:lumMod val="40000"/>
              <a:lumOff val="60000"/>
            </a:schemeClr>
          </a:solidFill>
          <a:ln>
            <a:solidFill>
              <a:schemeClr val="accent1"/>
            </a:solidFill>
          </a:ln>
        </p:spPr>
        <p:txBody>
          <a:bodyPr wrap="square" rtlCol="0" anchor="ctr">
            <a:noAutofit/>
          </a:bodyPr>
          <a:lstStyle/>
          <a:p>
            <a:pPr marL="268288" indent="-215900">
              <a:spcBef>
                <a:spcPct val="20000"/>
              </a:spcBef>
              <a:buClr>
                <a:srgbClr val="FFD200"/>
              </a:buClr>
              <a:buSzPct val="75000"/>
            </a:pPr>
            <a:r>
              <a:rPr lang="ko-KR" altLang="en-US" sz="800" b="1" kern="0" dirty="0" smtClean="0">
                <a:latin typeface="+mn-ea"/>
                <a:ea typeface="+mn-ea"/>
              </a:rPr>
              <a:t>작업구분</a:t>
            </a:r>
            <a:endParaRPr lang="en-US" altLang="ko-KR" sz="800" b="1" kern="0" dirty="0" smtClean="0">
              <a:latin typeface="+mn-ea"/>
              <a:ea typeface="+mn-ea"/>
            </a:endParaRPr>
          </a:p>
          <a:p>
            <a:pPr marL="268288" indent="-215900" algn="ctr">
              <a:spcBef>
                <a:spcPct val="20000"/>
              </a:spcBef>
              <a:buClr>
                <a:srgbClr val="FFD200"/>
              </a:buClr>
              <a:buSzPct val="75000"/>
            </a:pPr>
            <a:r>
              <a:rPr lang="ko-KR" altLang="en-US" sz="800" b="1" kern="0" dirty="0" smtClean="0">
                <a:latin typeface="+mn-ea"/>
                <a:ea typeface="+mn-ea"/>
              </a:rPr>
              <a:t>정산처리</a:t>
            </a:r>
            <a:endParaRPr lang="en-US" altLang="ko-KR" sz="800" b="1" kern="0" dirty="0" smtClean="0">
              <a:latin typeface="+mn-ea"/>
              <a:ea typeface="+mn-ea"/>
            </a:endParaRPr>
          </a:p>
          <a:p>
            <a:pPr marL="268288" indent="-215900" algn="ctr">
              <a:spcBef>
                <a:spcPct val="20000"/>
              </a:spcBef>
              <a:buClr>
                <a:srgbClr val="FFD200"/>
              </a:buClr>
              <a:buSzPct val="75000"/>
            </a:pPr>
            <a:r>
              <a:rPr lang="ko-KR" altLang="en-US" sz="800" b="1" kern="0" dirty="0" smtClean="0">
                <a:latin typeface="+mn-ea"/>
                <a:ea typeface="+mn-ea"/>
              </a:rPr>
              <a:t>시작</a:t>
            </a:r>
          </a:p>
        </p:txBody>
      </p:sp>
      <p:sp>
        <p:nvSpPr>
          <p:cNvPr id="151" name="TextBox 94"/>
          <p:cNvSpPr txBox="1">
            <a:spLocks noChangeArrowheads="1"/>
          </p:cNvSpPr>
          <p:nvPr/>
        </p:nvSpPr>
        <p:spPr bwMode="auto">
          <a:xfrm>
            <a:off x="362490" y="1313336"/>
            <a:ext cx="661182" cy="510909"/>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sym typeface="Wingdings" panose="05000000000000000000" pitchFamily="2" charset="2"/>
              </a:rPr>
              <a:t>작업구분</a:t>
            </a:r>
            <a:endParaRPr lang="en-US" altLang="ko-KR" sz="800" dirty="0" smtClean="0">
              <a:latin typeface="+mn-ea"/>
              <a:ea typeface="+mn-ea"/>
              <a:sym typeface="Wingdings" panose="05000000000000000000" pitchFamily="2" charset="2"/>
            </a:endParaRPr>
          </a:p>
          <a:p>
            <a:pPr algn="ctr">
              <a:spcBef>
                <a:spcPct val="20000"/>
              </a:spcBef>
              <a:buClr>
                <a:srgbClr val="003366"/>
              </a:buClr>
            </a:pPr>
            <a:r>
              <a:rPr lang="ko-KR" altLang="en-US" sz="800" dirty="0" smtClean="0">
                <a:latin typeface="+mn-ea"/>
                <a:ea typeface="+mn-ea"/>
                <a:sym typeface="Wingdings" panose="05000000000000000000" pitchFamily="2" charset="2"/>
              </a:rPr>
              <a:t>정산처리</a:t>
            </a:r>
            <a:endParaRPr lang="en-US" altLang="ko-KR" sz="800" dirty="0" smtClean="0">
              <a:latin typeface="+mn-ea"/>
              <a:ea typeface="+mn-ea"/>
              <a:sym typeface="Wingdings" panose="05000000000000000000" pitchFamily="2" charset="2"/>
            </a:endParaRPr>
          </a:p>
          <a:p>
            <a:pPr algn="ctr">
              <a:spcBef>
                <a:spcPct val="20000"/>
              </a:spcBef>
              <a:buClr>
                <a:srgbClr val="003366"/>
              </a:buClr>
            </a:pPr>
            <a:r>
              <a:rPr lang="ko-KR" altLang="en-US" sz="800" dirty="0" smtClean="0">
                <a:latin typeface="+mn-ea"/>
                <a:ea typeface="+mn-ea"/>
                <a:sym typeface="Wingdings" panose="05000000000000000000" pitchFamily="2" charset="2"/>
              </a:rPr>
              <a:t>시작</a:t>
            </a:r>
            <a:endParaRPr lang="en-US" altLang="ko-KR" sz="800" dirty="0" smtClean="0">
              <a:latin typeface="+mn-ea"/>
              <a:ea typeface="+mn-ea"/>
              <a:sym typeface="Wingdings" panose="05000000000000000000" pitchFamily="2" charset="2"/>
            </a:endParaRPr>
          </a:p>
        </p:txBody>
      </p:sp>
      <p:cxnSp>
        <p:nvCxnSpPr>
          <p:cNvPr id="164" name="AutoShape 67"/>
          <p:cNvCxnSpPr>
            <a:cxnSpLocks noChangeShapeType="1"/>
            <a:stCxn id="397" idx="4"/>
          </p:cNvCxnSpPr>
          <p:nvPr/>
        </p:nvCxnSpPr>
        <p:spPr bwMode="gray">
          <a:xfrm>
            <a:off x="1757645" y="2529549"/>
            <a:ext cx="1283830" cy="869139"/>
          </a:xfrm>
          <a:prstGeom prst="bentConnector3">
            <a:avLst>
              <a:gd name="adj1" fmla="val 15575"/>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TextBox 94"/>
          <p:cNvSpPr txBox="1">
            <a:spLocks noChangeArrowheads="1"/>
          </p:cNvSpPr>
          <p:nvPr/>
        </p:nvSpPr>
        <p:spPr bwMode="auto">
          <a:xfrm>
            <a:off x="2023447" y="3217767"/>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68" name="Text Box 82"/>
          <p:cNvSpPr txBox="1">
            <a:spLocks noChangeArrowheads="1"/>
          </p:cNvSpPr>
          <p:nvPr/>
        </p:nvSpPr>
        <p:spPr bwMode="gray">
          <a:xfrm>
            <a:off x="2554948" y="1946764"/>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69" name="타원 168"/>
          <p:cNvSpPr/>
          <p:nvPr/>
        </p:nvSpPr>
        <p:spPr>
          <a:xfrm>
            <a:off x="4022967" y="3248980"/>
            <a:ext cx="352849" cy="338735"/>
          </a:xfrm>
          <a:prstGeom prst="ellipse">
            <a:avLst/>
          </a:prstGeom>
          <a:noFill/>
          <a:ln>
            <a:solidFill>
              <a:schemeClr val="tx1"/>
            </a:solidFill>
          </a:ln>
        </p:spPr>
        <p:txBody>
          <a:bodyPr wrap="none" lIns="0" rIns="0" rtlCol="0" anchor="ctr">
            <a:noAutofit/>
          </a:bodyPr>
          <a:lstStyle/>
          <a:p>
            <a:pPr marL="268288" indent="-215900" algn="ctr">
              <a:spcBef>
                <a:spcPct val="20000"/>
              </a:spcBef>
              <a:buClr>
                <a:srgbClr val="FFD200"/>
              </a:buClr>
              <a:buSzPct val="75000"/>
            </a:pPr>
            <a:r>
              <a:rPr lang="ko-KR" altLang="en-US" sz="800" kern="0" dirty="0" smtClean="0">
                <a:latin typeface="+mn-ea"/>
                <a:ea typeface="+mn-ea"/>
              </a:rPr>
              <a:t>종료</a:t>
            </a:r>
          </a:p>
        </p:txBody>
      </p:sp>
      <p:sp>
        <p:nvSpPr>
          <p:cNvPr id="384" name="AutoShape 73"/>
          <p:cNvSpPr>
            <a:spLocks noChangeArrowheads="1"/>
          </p:cNvSpPr>
          <p:nvPr/>
        </p:nvSpPr>
        <p:spPr bwMode="auto">
          <a:xfrm>
            <a:off x="2480102" y="1579824"/>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작업구분</a:t>
            </a:r>
            <a:endParaRPr lang="en-US" altLang="ko-KR" sz="800" dirty="0">
              <a:latin typeface="+mn-ea"/>
              <a:ea typeface="+mn-ea"/>
            </a:endParaRPr>
          </a:p>
          <a:p>
            <a:pPr algn="ctr" eaLnBrk="0" latinLnBrk="0" hangingPunct="0">
              <a:lnSpc>
                <a:spcPct val="40000"/>
              </a:lnSpc>
              <a:spcBef>
                <a:spcPct val="50000"/>
              </a:spcBef>
            </a:pPr>
            <a:r>
              <a:rPr lang="en-US" altLang="ko-KR" sz="800" dirty="0" smtClean="0">
                <a:latin typeface="+mn-ea"/>
                <a:ea typeface="+mn-ea"/>
              </a:rPr>
              <a:t>STLM4</a:t>
            </a: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cxnSp>
        <p:nvCxnSpPr>
          <p:cNvPr id="389" name="AutoShape 67"/>
          <p:cNvCxnSpPr>
            <a:cxnSpLocks noChangeShapeType="1"/>
            <a:stCxn id="18" idx="3"/>
            <a:endCxn id="384" idx="1"/>
          </p:cNvCxnSpPr>
          <p:nvPr/>
        </p:nvCxnSpPr>
        <p:spPr bwMode="gray">
          <a:xfrm>
            <a:off x="1982670" y="1812945"/>
            <a:ext cx="497432" cy="421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0" name="AutoShape 86"/>
          <p:cNvSpPr>
            <a:spLocks noChangeArrowheads="1"/>
          </p:cNvSpPr>
          <p:nvPr/>
        </p:nvSpPr>
        <p:spPr bwMode="auto">
          <a:xfrm>
            <a:off x="317485" y="228567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a:latin typeface="+mn-ea"/>
                <a:ea typeface="+mn-ea"/>
              </a:rPr>
              <a:t>온라인구시스템</a:t>
            </a:r>
            <a:r>
              <a:rPr lang="en-US" altLang="ko-KR" sz="600" b="1" dirty="0">
                <a:latin typeface="+mn-ea"/>
                <a:ea typeface="+mn-ea"/>
              </a:rPr>
              <a:t>)</a:t>
            </a:r>
            <a:endParaRPr lang="en-US" altLang="ko-KR" sz="600" b="1" dirty="0" smtClean="0">
              <a:latin typeface="+mn-ea"/>
              <a:ea typeface="+mn-ea"/>
            </a:endParaRPr>
          </a:p>
          <a:p>
            <a:pPr algn="ctr"/>
            <a:r>
              <a:rPr lang="en-US" altLang="ko-KR" sz="600" b="1" dirty="0" smtClean="0">
                <a:latin typeface="+mn-ea"/>
                <a:ea typeface="+mn-ea"/>
              </a:rPr>
              <a:t>TEMP_INS</a:t>
            </a:r>
            <a:endParaRPr lang="ko-KR" altLang="en-US" sz="600" b="1" dirty="0">
              <a:latin typeface="+mn-ea"/>
              <a:ea typeface="+mn-ea"/>
            </a:endParaRPr>
          </a:p>
        </p:txBody>
      </p:sp>
      <p:cxnSp>
        <p:nvCxnSpPr>
          <p:cNvPr id="391" name="AutoShape 67"/>
          <p:cNvCxnSpPr>
            <a:cxnSpLocks noChangeShapeType="1"/>
            <a:stCxn id="384" idx="2"/>
            <a:endCxn id="395" idx="0"/>
          </p:cNvCxnSpPr>
          <p:nvPr/>
        </p:nvCxnSpPr>
        <p:spPr bwMode="gray">
          <a:xfrm>
            <a:off x="3041476" y="2054486"/>
            <a:ext cx="0" cy="781203"/>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2" name="AutoShape 67"/>
          <p:cNvCxnSpPr>
            <a:cxnSpLocks noChangeShapeType="1"/>
            <a:stCxn id="396" idx="3"/>
          </p:cNvCxnSpPr>
          <p:nvPr/>
        </p:nvCxnSpPr>
        <p:spPr bwMode="gray">
          <a:xfrm>
            <a:off x="1900469" y="2524536"/>
            <a:ext cx="1141007"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3" name="TextBox 94"/>
          <p:cNvSpPr txBox="1">
            <a:spLocks noChangeArrowheads="1"/>
          </p:cNvSpPr>
          <p:nvPr/>
        </p:nvSpPr>
        <p:spPr bwMode="auto">
          <a:xfrm>
            <a:off x="3091906" y="2333706"/>
            <a:ext cx="1443685" cy="606320"/>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rPr>
              <a:t>조회조건 </a:t>
            </a:r>
            <a:r>
              <a:rPr lang="en-US" altLang="ko-KR" sz="700" dirty="0" smtClean="0">
                <a:latin typeface="+mn-ea"/>
                <a:ea typeface="+mn-ea"/>
              </a:rPr>
              <a:t>: </a:t>
            </a:r>
            <a:r>
              <a:rPr lang="ko-KR" altLang="en-US" sz="700" dirty="0" err="1" smtClean="0">
                <a:latin typeface="+mn-ea"/>
                <a:ea typeface="+mn-ea"/>
              </a:rPr>
              <a:t>정산년월</a:t>
            </a:r>
            <a:r>
              <a:rPr lang="en-US" altLang="ko-KR" sz="700" dirty="0">
                <a:latin typeface="+mn-ea"/>
                <a:ea typeface="+mn-ea"/>
              </a:rPr>
              <a:t>, </a:t>
            </a:r>
            <a:r>
              <a:rPr lang="ko-KR" altLang="en-US" sz="700" dirty="0" smtClean="0">
                <a:latin typeface="+mn-ea"/>
                <a:ea typeface="+mn-ea"/>
              </a:rPr>
              <a:t>정산매장</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상위브랜드</a:t>
            </a:r>
            <a:r>
              <a:rPr lang="en-US" altLang="ko-KR" sz="700" dirty="0" smtClean="0">
                <a:latin typeface="+mn-ea"/>
                <a:ea typeface="+mn-ea"/>
              </a:rPr>
              <a:t>, MALL_ID</a:t>
            </a:r>
          </a:p>
          <a:p>
            <a:pPr>
              <a:spcBef>
                <a:spcPct val="20000"/>
              </a:spcBef>
              <a:buClr>
                <a:srgbClr val="003366"/>
              </a:buClr>
            </a:pPr>
            <a:r>
              <a:rPr lang="en-US" altLang="ko-KR" sz="700" dirty="0" smtClean="0">
                <a:latin typeface="+mn-ea"/>
                <a:ea typeface="+mn-ea"/>
              </a:rPr>
              <a:t>WORK_CLSBY</a:t>
            </a:r>
          </a:p>
          <a:p>
            <a:pPr>
              <a:spcBef>
                <a:spcPct val="20000"/>
              </a:spcBef>
              <a:buClr>
                <a:srgbClr val="003366"/>
              </a:buClr>
            </a:pPr>
            <a:r>
              <a:rPr lang="en-US" altLang="ko-KR" sz="700" dirty="0" smtClean="0">
                <a:latin typeface="+mn-ea"/>
                <a:ea typeface="+mn-ea"/>
                <a:sym typeface="Wingdings" panose="05000000000000000000" pitchFamily="2" charset="2"/>
              </a:rPr>
              <a:t> </a:t>
            </a:r>
            <a:r>
              <a:rPr lang="en-US" altLang="ko-KR" sz="700" dirty="0" smtClean="0">
                <a:latin typeface="+mn-ea"/>
                <a:ea typeface="+mn-ea"/>
              </a:rPr>
              <a:t>C59709(</a:t>
            </a:r>
            <a:r>
              <a:rPr lang="ko-KR" altLang="en-US" sz="700" dirty="0" smtClean="0">
                <a:latin typeface="+mn-ea"/>
                <a:ea typeface="+mn-ea"/>
              </a:rPr>
              <a:t>정산처리</a:t>
            </a:r>
            <a:r>
              <a:rPr lang="en-US" altLang="ko-KR" sz="700" dirty="0" smtClean="0">
                <a:latin typeface="+mn-ea"/>
                <a:ea typeface="+mn-ea"/>
              </a:rPr>
              <a:t>4)</a:t>
            </a:r>
            <a:endParaRPr lang="ko-KR" altLang="en-US" sz="700" dirty="0">
              <a:latin typeface="+mn-ea"/>
              <a:ea typeface="+mn-ea"/>
            </a:endParaRPr>
          </a:p>
        </p:txBody>
      </p:sp>
      <p:sp>
        <p:nvSpPr>
          <p:cNvPr id="394" name="TextBox 94"/>
          <p:cNvSpPr txBox="1">
            <a:spLocks noChangeArrowheads="1"/>
          </p:cNvSpPr>
          <p:nvPr/>
        </p:nvSpPr>
        <p:spPr bwMode="auto">
          <a:xfrm>
            <a:off x="2104850" y="2347947"/>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395" name="AutoShape 73"/>
          <p:cNvSpPr>
            <a:spLocks noChangeArrowheads="1"/>
          </p:cNvSpPr>
          <p:nvPr/>
        </p:nvSpPr>
        <p:spPr bwMode="auto">
          <a:xfrm>
            <a:off x="2480102" y="2835689"/>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조회 건수 </a:t>
            </a:r>
            <a:r>
              <a:rPr lang="en-US" altLang="ko-KR" sz="800" dirty="0" smtClean="0">
                <a:latin typeface="+mn-ea"/>
                <a:ea typeface="+mn-ea"/>
              </a:rPr>
              <a:t>!= 0</a:t>
            </a:r>
          </a:p>
        </p:txBody>
      </p:sp>
      <p:sp>
        <p:nvSpPr>
          <p:cNvPr id="397" name="AutoShape 86"/>
          <p:cNvSpPr>
            <a:spLocks noChangeArrowheads="1"/>
          </p:cNvSpPr>
          <p:nvPr/>
        </p:nvSpPr>
        <p:spPr bwMode="auto">
          <a:xfrm>
            <a:off x="1190907" y="228567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온라인정산진행체크</a:t>
            </a:r>
            <a:endParaRPr lang="en-US" altLang="ko-KR" sz="600" b="1" dirty="0" smtClean="0">
              <a:latin typeface="+mn-ea"/>
              <a:ea typeface="+mn-ea"/>
            </a:endParaRPr>
          </a:p>
          <a:p>
            <a:pPr algn="ctr"/>
            <a:r>
              <a:rPr lang="en-US" altLang="ko-KR" sz="600" b="1" dirty="0" smtClean="0">
                <a:latin typeface="+mn-ea"/>
                <a:ea typeface="+mn-ea"/>
              </a:rPr>
              <a:t>T_ONLINE_STLM_CHECK</a:t>
            </a:r>
            <a:endParaRPr lang="ko-KR" altLang="en-US" sz="600" b="1" dirty="0">
              <a:latin typeface="+mn-ea"/>
              <a:ea typeface="+mn-ea"/>
            </a:endParaRPr>
          </a:p>
        </p:txBody>
      </p:sp>
      <p:sp>
        <p:nvSpPr>
          <p:cNvPr id="398" name="Text Box 82"/>
          <p:cNvSpPr txBox="1">
            <a:spLocks noChangeArrowheads="1"/>
          </p:cNvSpPr>
          <p:nvPr/>
        </p:nvSpPr>
        <p:spPr bwMode="gray">
          <a:xfrm>
            <a:off x="3467835" y="3068960"/>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399" name="AutoShape 67"/>
          <p:cNvCxnSpPr>
            <a:cxnSpLocks noChangeShapeType="1"/>
            <a:stCxn id="395" idx="3"/>
            <a:endCxn id="169" idx="0"/>
          </p:cNvCxnSpPr>
          <p:nvPr/>
        </p:nvCxnSpPr>
        <p:spPr bwMode="gray">
          <a:xfrm>
            <a:off x="3602850" y="3073020"/>
            <a:ext cx="596542" cy="175960"/>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0" name="AutoShape 73"/>
          <p:cNvSpPr>
            <a:spLocks noChangeArrowheads="1"/>
          </p:cNvSpPr>
          <p:nvPr/>
        </p:nvSpPr>
        <p:spPr bwMode="auto">
          <a:xfrm>
            <a:off x="2481185" y="3566778"/>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ctr" anchorCtr="1"/>
          <a:lstStyle/>
          <a:p>
            <a:pPr algn="ctr" eaLnBrk="0" latinLnBrk="0" hangingPunct="0">
              <a:lnSpc>
                <a:spcPct val="40000"/>
              </a:lnSpc>
              <a:spcBef>
                <a:spcPct val="50000"/>
              </a:spcBef>
            </a:pPr>
            <a:r>
              <a:rPr lang="ko-KR" altLang="en-US" sz="800" dirty="0" smtClean="0">
                <a:latin typeface="+mn-ea"/>
                <a:ea typeface="+mn-ea"/>
              </a:rPr>
              <a:t>조회 건수 </a:t>
            </a:r>
            <a:r>
              <a:rPr lang="en-US" altLang="ko-KR" sz="800" dirty="0" smtClean="0">
                <a:latin typeface="+mn-ea"/>
                <a:ea typeface="+mn-ea"/>
              </a:rPr>
              <a:t>&lt; 3</a:t>
            </a:r>
          </a:p>
        </p:txBody>
      </p:sp>
      <p:sp>
        <p:nvSpPr>
          <p:cNvPr id="401" name="Text Box 82"/>
          <p:cNvSpPr txBox="1">
            <a:spLocks noChangeArrowheads="1"/>
          </p:cNvSpPr>
          <p:nvPr/>
        </p:nvSpPr>
        <p:spPr bwMode="gray">
          <a:xfrm>
            <a:off x="2993372" y="3262997"/>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402" name="AutoShape 67"/>
          <p:cNvCxnSpPr>
            <a:cxnSpLocks noChangeShapeType="1"/>
            <a:stCxn id="395" idx="2"/>
            <a:endCxn id="400" idx="0"/>
          </p:cNvCxnSpPr>
          <p:nvPr/>
        </p:nvCxnSpPr>
        <p:spPr bwMode="gray">
          <a:xfrm>
            <a:off x="3041476" y="3310351"/>
            <a:ext cx="1083" cy="256427"/>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3" name="TextBox 94"/>
          <p:cNvSpPr txBox="1">
            <a:spLocks noChangeArrowheads="1"/>
          </p:cNvSpPr>
          <p:nvPr/>
        </p:nvSpPr>
        <p:spPr bwMode="auto">
          <a:xfrm>
            <a:off x="1025662" y="3053426"/>
            <a:ext cx="1726351" cy="71711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rPr>
              <a:t>조회조건 </a:t>
            </a:r>
            <a:r>
              <a:rPr lang="en-US" altLang="ko-KR" sz="700" dirty="0" smtClean="0">
                <a:latin typeface="+mn-ea"/>
                <a:ea typeface="+mn-ea"/>
              </a:rPr>
              <a:t>: </a:t>
            </a:r>
            <a:r>
              <a:rPr lang="ko-KR" altLang="en-US" sz="700" dirty="0" err="1" smtClean="0">
                <a:latin typeface="+mn-ea"/>
                <a:ea typeface="+mn-ea"/>
              </a:rPr>
              <a:t>정산년월</a:t>
            </a:r>
            <a:r>
              <a:rPr lang="en-US" altLang="ko-KR" sz="700" dirty="0">
                <a:latin typeface="+mn-ea"/>
                <a:ea typeface="+mn-ea"/>
              </a:rPr>
              <a:t>, </a:t>
            </a:r>
            <a:r>
              <a:rPr lang="ko-KR" altLang="en-US" sz="700" dirty="0" smtClean="0">
                <a:latin typeface="+mn-ea"/>
                <a:ea typeface="+mn-ea"/>
              </a:rPr>
              <a:t>정산매장</a:t>
            </a:r>
            <a:endParaRPr lang="en-US" altLang="ko-KR" sz="700" dirty="0" smtClean="0">
              <a:latin typeface="+mn-ea"/>
              <a:ea typeface="+mn-ea"/>
            </a:endParaRPr>
          </a:p>
          <a:p>
            <a:pPr>
              <a:spcBef>
                <a:spcPct val="20000"/>
              </a:spcBef>
              <a:buClr>
                <a:srgbClr val="003366"/>
              </a:buClr>
            </a:pPr>
            <a:r>
              <a:rPr lang="ko-KR" altLang="en-US" sz="700" dirty="0" smtClean="0">
                <a:latin typeface="+mn-ea"/>
                <a:ea typeface="+mn-ea"/>
              </a:rPr>
              <a:t>상위브랜드</a:t>
            </a:r>
            <a:r>
              <a:rPr lang="en-US" altLang="ko-KR" sz="700" dirty="0" smtClean="0">
                <a:latin typeface="+mn-ea"/>
                <a:ea typeface="+mn-ea"/>
              </a:rPr>
              <a:t>, MALL_ID</a:t>
            </a:r>
          </a:p>
          <a:p>
            <a:pPr>
              <a:spcBef>
                <a:spcPct val="20000"/>
              </a:spcBef>
              <a:buClr>
                <a:srgbClr val="003366"/>
              </a:buClr>
            </a:pPr>
            <a:r>
              <a:rPr lang="en-US" altLang="ko-KR" sz="700" dirty="0" smtClean="0">
                <a:latin typeface="+mn-ea"/>
                <a:ea typeface="+mn-ea"/>
              </a:rPr>
              <a:t>WORK_CLSBY </a:t>
            </a:r>
          </a:p>
          <a:p>
            <a:pPr marL="171450" indent="-171450">
              <a:spcBef>
                <a:spcPct val="20000"/>
              </a:spcBef>
              <a:buClr>
                <a:srgbClr val="003366"/>
              </a:buClr>
              <a:buFont typeface="Wingdings" panose="05000000000000000000" pitchFamily="2" charset="2"/>
              <a:buChar char="è"/>
            </a:pPr>
            <a:r>
              <a:rPr lang="en-US" altLang="ko-KR" sz="700" dirty="0" smtClean="0">
                <a:latin typeface="+mn-ea"/>
                <a:ea typeface="+mn-ea"/>
                <a:sym typeface="Wingdings" panose="05000000000000000000" pitchFamily="2" charset="2"/>
              </a:rPr>
              <a:t>(</a:t>
            </a:r>
            <a:r>
              <a:rPr lang="en-US" altLang="ko-KR" sz="700" dirty="0">
                <a:latin typeface="+mn-ea"/>
                <a:ea typeface="+mn-ea"/>
                <a:sym typeface="Wingdings" panose="05000000000000000000" pitchFamily="2" charset="2"/>
              </a:rPr>
              <a:t>'C59701', 'C59702', 'C59703</a:t>
            </a:r>
            <a:r>
              <a:rPr lang="en-US" altLang="ko-KR" sz="700" dirty="0" smtClean="0">
                <a:latin typeface="+mn-ea"/>
                <a:ea typeface="+mn-ea"/>
                <a:sym typeface="Wingdings" panose="05000000000000000000" pitchFamily="2" charset="2"/>
              </a:rPr>
              <a:t>')</a:t>
            </a:r>
          </a:p>
          <a:p>
            <a:pPr>
              <a:spcBef>
                <a:spcPct val="20000"/>
              </a:spcBef>
              <a:buClr>
                <a:srgbClr val="003366"/>
              </a:buClr>
            </a:pPr>
            <a:r>
              <a:rPr lang="en-US" altLang="ko-KR" sz="700" dirty="0">
                <a:latin typeface="+mn-ea"/>
                <a:ea typeface="+mn-ea"/>
                <a:sym typeface="Wingdings" panose="05000000000000000000" pitchFamily="2" charset="2"/>
              </a:rPr>
              <a:t> </a:t>
            </a:r>
            <a:r>
              <a:rPr lang="en-US" altLang="ko-KR" sz="700" dirty="0" smtClean="0">
                <a:latin typeface="+mn-ea"/>
                <a:ea typeface="+mn-ea"/>
                <a:sym typeface="Wingdings" panose="05000000000000000000" pitchFamily="2" charset="2"/>
              </a:rPr>
              <a:t> </a:t>
            </a:r>
            <a:r>
              <a:rPr lang="ko-KR" altLang="en-US" sz="700" dirty="0" smtClean="0">
                <a:latin typeface="+mn-ea"/>
                <a:ea typeface="+mn-ea"/>
                <a:sym typeface="Wingdings" panose="05000000000000000000" pitchFamily="2" charset="2"/>
              </a:rPr>
              <a:t>정산업로드</a:t>
            </a:r>
            <a:r>
              <a:rPr lang="en-US" altLang="ko-KR" sz="700" dirty="0" smtClean="0">
                <a:latin typeface="+mn-ea"/>
                <a:ea typeface="+mn-ea"/>
                <a:sym typeface="Wingdings" panose="05000000000000000000" pitchFamily="2" charset="2"/>
              </a:rPr>
              <a:t>/</a:t>
            </a:r>
            <a:r>
              <a:rPr lang="ko-KR" altLang="en-US" sz="700" dirty="0" err="1" smtClean="0">
                <a:latin typeface="+mn-ea"/>
                <a:ea typeface="+mn-ea"/>
                <a:sym typeface="Wingdings" panose="05000000000000000000" pitchFamily="2" charset="2"/>
              </a:rPr>
              <a:t>품번매칭</a:t>
            </a:r>
            <a:r>
              <a:rPr lang="en-US" altLang="ko-KR" sz="700" dirty="0" smtClean="0">
                <a:latin typeface="+mn-ea"/>
                <a:ea typeface="+mn-ea"/>
                <a:sym typeface="Wingdings" panose="05000000000000000000" pitchFamily="2" charset="2"/>
              </a:rPr>
              <a:t>/</a:t>
            </a:r>
            <a:r>
              <a:rPr lang="ko-KR" altLang="en-US" sz="700" dirty="0" err="1" smtClean="0">
                <a:latin typeface="+mn-ea"/>
                <a:ea typeface="+mn-ea"/>
                <a:sym typeface="Wingdings" panose="05000000000000000000" pitchFamily="2" charset="2"/>
              </a:rPr>
              <a:t>판매매칭</a:t>
            </a:r>
            <a:endParaRPr lang="ko-KR" altLang="en-US" sz="700" dirty="0">
              <a:latin typeface="+mn-ea"/>
              <a:ea typeface="+mn-ea"/>
            </a:endParaRPr>
          </a:p>
        </p:txBody>
      </p:sp>
      <p:cxnSp>
        <p:nvCxnSpPr>
          <p:cNvPr id="404" name="AutoShape 67"/>
          <p:cNvCxnSpPr>
            <a:cxnSpLocks noChangeShapeType="1"/>
            <a:stCxn id="400" idx="3"/>
            <a:endCxn id="169" idx="4"/>
          </p:cNvCxnSpPr>
          <p:nvPr/>
        </p:nvCxnSpPr>
        <p:spPr bwMode="gray">
          <a:xfrm flipV="1">
            <a:off x="3603933" y="3587715"/>
            <a:ext cx="595459" cy="216394"/>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5" name="Text Box 82"/>
          <p:cNvSpPr txBox="1">
            <a:spLocks noChangeArrowheads="1"/>
          </p:cNvSpPr>
          <p:nvPr/>
        </p:nvSpPr>
        <p:spPr bwMode="gray">
          <a:xfrm>
            <a:off x="3366087" y="3562583"/>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407" name="AutoShape 67"/>
          <p:cNvCxnSpPr>
            <a:cxnSpLocks noChangeShapeType="1"/>
            <a:stCxn id="400" idx="2"/>
            <a:endCxn id="452" idx="0"/>
          </p:cNvCxnSpPr>
          <p:nvPr/>
        </p:nvCxnSpPr>
        <p:spPr bwMode="gray">
          <a:xfrm>
            <a:off x="3042559" y="4041440"/>
            <a:ext cx="6384" cy="332665"/>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8" name="Text Box 82"/>
          <p:cNvSpPr txBox="1">
            <a:spLocks noChangeArrowheads="1"/>
          </p:cNvSpPr>
          <p:nvPr/>
        </p:nvSpPr>
        <p:spPr bwMode="gray">
          <a:xfrm>
            <a:off x="3124471" y="4003083"/>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417" name="Rectangle 49"/>
          <p:cNvSpPr>
            <a:spLocks noChangeArrowheads="1"/>
          </p:cNvSpPr>
          <p:nvPr/>
        </p:nvSpPr>
        <p:spPr bwMode="gray">
          <a:xfrm>
            <a:off x="1253302" y="5724255"/>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공급가계산</a:t>
            </a:r>
            <a:endParaRPr lang="ko-KR" altLang="en-US" sz="800" b="1" dirty="0">
              <a:latin typeface="+mn-ea"/>
              <a:ea typeface="+mn-ea"/>
            </a:endParaRPr>
          </a:p>
        </p:txBody>
      </p:sp>
      <p:sp>
        <p:nvSpPr>
          <p:cNvPr id="418" name="TextBox 94"/>
          <p:cNvSpPr txBox="1">
            <a:spLocks noChangeArrowheads="1"/>
          </p:cNvSpPr>
          <p:nvPr/>
        </p:nvSpPr>
        <p:spPr bwMode="auto">
          <a:xfrm>
            <a:off x="1174292" y="5994285"/>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a:latin typeface="+mn-ea"/>
                <a:ea typeface="+mn-ea"/>
              </a:rPr>
              <a:t>SP_CAL_SALE_SPPR_MNG</a:t>
            </a:r>
            <a:endParaRPr lang="ko-KR" altLang="en-US" sz="800" b="1" dirty="0">
              <a:latin typeface="+mn-ea"/>
              <a:ea typeface="+mn-ea"/>
            </a:endParaRPr>
          </a:p>
        </p:txBody>
      </p:sp>
      <p:sp>
        <p:nvSpPr>
          <p:cNvPr id="420" name="Oval 108"/>
          <p:cNvSpPr>
            <a:spLocks noChangeArrowheads="1"/>
          </p:cNvSpPr>
          <p:nvPr/>
        </p:nvSpPr>
        <p:spPr bwMode="gray">
          <a:xfrm>
            <a:off x="5319721" y="5036137"/>
            <a:ext cx="627665"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smtClean="0">
                <a:ln>
                  <a:noFill/>
                </a:ln>
                <a:solidFill>
                  <a:srgbClr val="000000"/>
                </a:solidFill>
                <a:effectLst/>
                <a:uLnTx/>
                <a:uFillTx/>
                <a:latin typeface="+mn-ea"/>
                <a:ea typeface="+mn-ea"/>
              </a:rPr>
              <a:t>판매</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421" name="Text Box 121"/>
          <p:cNvSpPr txBox="1">
            <a:spLocks noChangeArrowheads="1"/>
          </p:cNvSpPr>
          <p:nvPr/>
        </p:nvSpPr>
        <p:spPr bwMode="gray">
          <a:xfrm>
            <a:off x="4738364" y="4696279"/>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pPr algn="ctr"/>
            <a:r>
              <a:rPr lang="en-US" altLang="ko-KR" sz="800" dirty="0" smtClean="0">
                <a:latin typeface="+mn-ea"/>
                <a:ea typeface="+mn-ea"/>
              </a:rPr>
              <a:t>SHOP_RNDS_ID</a:t>
            </a:r>
          </a:p>
          <a:p>
            <a:pPr algn="ctr"/>
            <a:r>
              <a:rPr lang="en-US" altLang="ko-KR" sz="800" dirty="0" smtClean="0">
                <a:latin typeface="+mn-ea"/>
                <a:ea typeface="+mn-ea"/>
              </a:rPr>
              <a:t>REG_NO</a:t>
            </a:r>
          </a:p>
        </p:txBody>
      </p:sp>
      <p:cxnSp>
        <p:nvCxnSpPr>
          <p:cNvPr id="423" name="AutoShape 67"/>
          <p:cNvCxnSpPr>
            <a:cxnSpLocks noChangeShapeType="1"/>
            <a:stCxn id="417" idx="3"/>
            <a:endCxn id="420" idx="4"/>
          </p:cNvCxnSpPr>
          <p:nvPr/>
        </p:nvCxnSpPr>
        <p:spPr bwMode="gray">
          <a:xfrm flipV="1">
            <a:off x="2578865" y="5388562"/>
            <a:ext cx="3054689" cy="444506"/>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4" name="AutoShape 86"/>
          <p:cNvSpPr>
            <a:spLocks noChangeArrowheads="1"/>
          </p:cNvSpPr>
          <p:nvPr/>
        </p:nvSpPr>
        <p:spPr bwMode="auto">
          <a:xfrm>
            <a:off x="5354227" y="37238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425" name="AutoShape 86"/>
          <p:cNvSpPr>
            <a:spLocks noChangeArrowheads="1"/>
          </p:cNvSpPr>
          <p:nvPr/>
        </p:nvSpPr>
        <p:spPr bwMode="auto">
          <a:xfrm>
            <a:off x="4525810" y="3723843"/>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a:t>
            </a:r>
            <a:endParaRPr lang="en-US" altLang="ko-KR" sz="600" b="1" dirty="0" smtClean="0">
              <a:latin typeface="+mn-ea"/>
              <a:ea typeface="+mn-ea"/>
            </a:endParaRPr>
          </a:p>
          <a:p>
            <a:pPr algn="ctr"/>
            <a:r>
              <a:rPr lang="en-US" altLang="ko-KR" sz="600" b="1" dirty="0" smtClean="0">
                <a:latin typeface="+mn-ea"/>
                <a:ea typeface="+mn-ea"/>
              </a:rPr>
              <a:t>T_SALE</a:t>
            </a:r>
            <a:endParaRPr lang="ko-KR" altLang="en-US" sz="600" b="1" dirty="0">
              <a:latin typeface="+mn-ea"/>
              <a:ea typeface="+mn-ea"/>
            </a:endParaRPr>
          </a:p>
        </p:txBody>
      </p:sp>
      <p:sp>
        <p:nvSpPr>
          <p:cNvPr id="427" name="AutoShape 86"/>
          <p:cNvSpPr>
            <a:spLocks noChangeArrowheads="1"/>
          </p:cNvSpPr>
          <p:nvPr/>
        </p:nvSpPr>
        <p:spPr bwMode="auto">
          <a:xfrm>
            <a:off x="4370479" y="511196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600" b="1" dirty="0" smtClean="0">
                <a:latin typeface="+mn-ea"/>
                <a:ea typeface="+mn-ea"/>
              </a:rPr>
              <a:t>??</a:t>
            </a:r>
          </a:p>
          <a:p>
            <a:pPr algn="ctr"/>
            <a:r>
              <a:rPr lang="en-US" altLang="ko-KR" sz="600" b="1" dirty="0">
                <a:latin typeface="+mn-ea"/>
                <a:ea typeface="+mn-ea"/>
              </a:rPr>
              <a:t>T_ONLINE_STLM_PRCS_BASE</a:t>
            </a:r>
            <a:endParaRPr lang="ko-KR" altLang="en-US" sz="600" b="1" dirty="0">
              <a:latin typeface="+mn-ea"/>
              <a:ea typeface="+mn-ea"/>
            </a:endParaRPr>
          </a:p>
        </p:txBody>
      </p:sp>
      <p:cxnSp>
        <p:nvCxnSpPr>
          <p:cNvPr id="428" name="AutoShape 67"/>
          <p:cNvCxnSpPr>
            <a:cxnSpLocks noChangeShapeType="1"/>
            <a:stCxn id="420" idx="0"/>
            <a:endCxn id="424" idx="3"/>
          </p:cNvCxnSpPr>
          <p:nvPr/>
        </p:nvCxnSpPr>
        <p:spPr bwMode="gray">
          <a:xfrm rot="5400000" flipH="1" flipV="1">
            <a:off x="5223307" y="4621848"/>
            <a:ext cx="824536" cy="4042"/>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0" name="AutoShape 67"/>
          <p:cNvCxnSpPr>
            <a:cxnSpLocks noChangeShapeType="1"/>
            <a:stCxn id="420" idx="0"/>
            <a:endCxn id="425" idx="3"/>
          </p:cNvCxnSpPr>
          <p:nvPr/>
        </p:nvCxnSpPr>
        <p:spPr bwMode="gray">
          <a:xfrm rot="16200000" flipV="1">
            <a:off x="4809099" y="4211681"/>
            <a:ext cx="824536" cy="824375"/>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4" name="AutoShape 67"/>
          <p:cNvCxnSpPr>
            <a:cxnSpLocks noChangeShapeType="1"/>
            <a:stCxn id="420" idx="2"/>
            <a:endCxn id="427" idx="4"/>
          </p:cNvCxnSpPr>
          <p:nvPr/>
        </p:nvCxnSpPr>
        <p:spPr bwMode="gray">
          <a:xfrm rot="10800000" flipV="1">
            <a:off x="4937217" y="5212350"/>
            <a:ext cx="382504" cy="143496"/>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7" name="Rectangle 49"/>
          <p:cNvSpPr>
            <a:spLocks noChangeArrowheads="1"/>
          </p:cNvSpPr>
          <p:nvPr/>
        </p:nvSpPr>
        <p:spPr bwMode="gray">
          <a:xfrm>
            <a:off x="6285638" y="5499230"/>
            <a:ext cx="91135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판매수불</a:t>
            </a:r>
            <a:r>
              <a:rPr lang="en-US" altLang="ko-KR" sz="800" b="1" dirty="0" smtClean="0">
                <a:latin typeface="+mn-ea"/>
                <a:ea typeface="+mn-ea"/>
              </a:rPr>
              <a:t>ID</a:t>
            </a:r>
            <a:r>
              <a:rPr lang="ko-KR" altLang="en-US" sz="800" b="1" dirty="0" smtClean="0">
                <a:latin typeface="+mn-ea"/>
                <a:ea typeface="+mn-ea"/>
              </a:rPr>
              <a:t>갱신</a:t>
            </a:r>
            <a:endParaRPr lang="ko-KR" altLang="en-US" sz="800" b="1" dirty="0">
              <a:latin typeface="+mn-ea"/>
              <a:ea typeface="+mn-ea"/>
            </a:endParaRPr>
          </a:p>
        </p:txBody>
      </p:sp>
      <p:cxnSp>
        <p:nvCxnSpPr>
          <p:cNvPr id="438" name="AutoShape 67"/>
          <p:cNvCxnSpPr>
            <a:cxnSpLocks noChangeShapeType="1"/>
            <a:stCxn id="420" idx="6"/>
            <a:endCxn id="437" idx="0"/>
          </p:cNvCxnSpPr>
          <p:nvPr/>
        </p:nvCxnSpPr>
        <p:spPr bwMode="gray">
          <a:xfrm>
            <a:off x="5947386" y="5212350"/>
            <a:ext cx="793930" cy="286880"/>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3" name="AutoShape 86"/>
          <p:cNvSpPr>
            <a:spLocks noChangeArrowheads="1"/>
          </p:cNvSpPr>
          <p:nvPr/>
        </p:nvSpPr>
        <p:spPr bwMode="auto">
          <a:xfrm>
            <a:off x="4682970" y="595657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cxnSp>
        <p:nvCxnSpPr>
          <p:cNvPr id="444" name="AutoShape 67"/>
          <p:cNvCxnSpPr>
            <a:cxnSpLocks noChangeShapeType="1"/>
            <a:stCxn id="437" idx="1"/>
            <a:endCxn id="443" idx="4"/>
          </p:cNvCxnSpPr>
          <p:nvPr/>
        </p:nvCxnSpPr>
        <p:spPr bwMode="gray">
          <a:xfrm rot="10800000" flipV="1">
            <a:off x="5249708" y="5608042"/>
            <a:ext cx="1035930" cy="592413"/>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0" name="TextBox 94"/>
          <p:cNvSpPr txBox="1">
            <a:spLocks noChangeArrowheads="1"/>
          </p:cNvSpPr>
          <p:nvPr/>
        </p:nvSpPr>
        <p:spPr bwMode="auto">
          <a:xfrm>
            <a:off x="6161098" y="5724255"/>
            <a:ext cx="1177167" cy="587853"/>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700" dirty="0" smtClean="0">
                <a:latin typeface="+mn-ea"/>
                <a:ea typeface="+mn-ea"/>
              </a:rPr>
              <a:t>STLM_SALE_RNDS_ID</a:t>
            </a:r>
          </a:p>
          <a:p>
            <a:pPr>
              <a:spcBef>
                <a:spcPct val="20000"/>
              </a:spcBef>
              <a:buClr>
                <a:srgbClr val="003366"/>
              </a:buClr>
            </a:pPr>
            <a:r>
              <a:rPr lang="en-US" altLang="ko-KR" sz="700" dirty="0" smtClean="0">
                <a:latin typeface="+mn-ea"/>
                <a:ea typeface="+mn-ea"/>
              </a:rPr>
              <a:t>STLM_PRCS_YN </a:t>
            </a:r>
            <a:r>
              <a:rPr lang="en-US" altLang="ko-KR" sz="700" dirty="0" smtClean="0">
                <a:latin typeface="+mn-ea"/>
                <a:ea typeface="+mn-ea"/>
                <a:sym typeface="Wingdings" panose="05000000000000000000" pitchFamily="2" charset="2"/>
              </a:rPr>
              <a:t> Y</a:t>
            </a:r>
            <a:endParaRPr lang="en-US" altLang="ko-KR" sz="700" dirty="0" smtClean="0">
              <a:latin typeface="+mn-ea"/>
              <a:ea typeface="+mn-ea"/>
            </a:endParaRPr>
          </a:p>
          <a:p>
            <a:pPr>
              <a:spcBef>
                <a:spcPct val="20000"/>
              </a:spcBef>
              <a:buClr>
                <a:srgbClr val="003366"/>
              </a:buClr>
            </a:pPr>
            <a:r>
              <a:rPr lang="en-US" altLang="ko-KR" sz="700" dirty="0" smtClean="0">
                <a:latin typeface="+mn-ea"/>
                <a:ea typeface="+mn-ea"/>
              </a:rPr>
              <a:t>END_YN </a:t>
            </a:r>
            <a:r>
              <a:rPr lang="en-US" altLang="ko-KR" sz="700" dirty="0" smtClean="0">
                <a:latin typeface="+mn-ea"/>
                <a:ea typeface="+mn-ea"/>
                <a:sym typeface="Wingdings" panose="05000000000000000000" pitchFamily="2" charset="2"/>
              </a:rPr>
              <a:t></a:t>
            </a:r>
            <a:r>
              <a:rPr lang="en-US" altLang="ko-KR" sz="700" dirty="0" smtClean="0">
                <a:latin typeface="+mn-ea"/>
                <a:ea typeface="+mn-ea"/>
              </a:rPr>
              <a:t> Y</a:t>
            </a:r>
          </a:p>
          <a:p>
            <a:pPr>
              <a:spcBef>
                <a:spcPct val="20000"/>
              </a:spcBef>
              <a:buClr>
                <a:srgbClr val="003366"/>
              </a:buClr>
            </a:pPr>
            <a:r>
              <a:rPr lang="en-US" altLang="ko-KR" sz="700" dirty="0" smtClean="0">
                <a:latin typeface="+mn-ea"/>
                <a:ea typeface="+mn-ea"/>
              </a:rPr>
              <a:t>END_YYMM </a:t>
            </a:r>
            <a:r>
              <a:rPr lang="en-US" altLang="ko-KR" sz="700" dirty="0" smtClean="0">
                <a:latin typeface="+mn-ea"/>
                <a:ea typeface="+mn-ea"/>
                <a:sym typeface="Wingdings" panose="05000000000000000000" pitchFamily="2" charset="2"/>
              </a:rPr>
              <a:t></a:t>
            </a:r>
            <a:r>
              <a:rPr lang="en-US" altLang="ko-KR" sz="700" dirty="0" smtClean="0">
                <a:latin typeface="+mn-ea"/>
                <a:ea typeface="+mn-ea"/>
              </a:rPr>
              <a:t> </a:t>
            </a:r>
            <a:r>
              <a:rPr lang="ko-KR" altLang="en-US" sz="700" dirty="0" err="1" smtClean="0">
                <a:latin typeface="+mn-ea"/>
                <a:ea typeface="+mn-ea"/>
              </a:rPr>
              <a:t>정산년월</a:t>
            </a:r>
            <a:endParaRPr lang="ko-KR" altLang="en-US" sz="700" dirty="0">
              <a:latin typeface="+mn-ea"/>
              <a:ea typeface="+mn-ea"/>
            </a:endParaRPr>
          </a:p>
        </p:txBody>
      </p:sp>
      <p:sp>
        <p:nvSpPr>
          <p:cNvPr id="452" name="Rectangle 49"/>
          <p:cNvSpPr>
            <a:spLocks noChangeArrowheads="1"/>
          </p:cNvSpPr>
          <p:nvPr/>
        </p:nvSpPr>
        <p:spPr bwMode="gray">
          <a:xfrm>
            <a:off x="2447960" y="4374105"/>
            <a:ext cx="1201965"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smtClean="0">
                <a:latin typeface="+mn-ea"/>
                <a:ea typeface="+mn-ea"/>
              </a:rPr>
              <a:t>이월주문정산일련번호</a:t>
            </a:r>
            <a:endParaRPr lang="en-US" altLang="ko-KR" sz="800" b="1" dirty="0" smtClean="0">
              <a:latin typeface="+mn-ea"/>
              <a:ea typeface="+mn-ea"/>
            </a:endParaRPr>
          </a:p>
          <a:p>
            <a:pPr algn="ctr"/>
            <a:r>
              <a:rPr lang="en-US" altLang="ko-KR" sz="800" b="1" dirty="0" smtClean="0">
                <a:latin typeface="+mn-ea"/>
                <a:ea typeface="+mn-ea"/>
              </a:rPr>
              <a:t>UPDATE </a:t>
            </a:r>
            <a:r>
              <a:rPr lang="ko-KR" altLang="en-US" sz="800" b="1" dirty="0" smtClean="0">
                <a:latin typeface="+mn-ea"/>
                <a:ea typeface="+mn-ea"/>
              </a:rPr>
              <a:t>처리</a:t>
            </a:r>
            <a:endParaRPr lang="ko-KR" altLang="en-US" sz="800" b="1" dirty="0">
              <a:latin typeface="+mn-ea"/>
              <a:ea typeface="+mn-ea"/>
            </a:endParaRPr>
          </a:p>
        </p:txBody>
      </p:sp>
      <p:sp>
        <p:nvSpPr>
          <p:cNvPr id="466" name="직사각형 465"/>
          <p:cNvSpPr/>
          <p:nvPr/>
        </p:nvSpPr>
        <p:spPr>
          <a:xfrm>
            <a:off x="4960039" y="1645887"/>
            <a:ext cx="1591484" cy="1039891"/>
          </a:xfrm>
          <a:prstGeom prst="rect">
            <a:avLst/>
          </a:prstGeom>
          <a:solidFill>
            <a:schemeClr val="accent1">
              <a:lumMod val="20000"/>
              <a:lumOff val="8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1200" b="1" kern="0" dirty="0" smtClean="0">
              <a:solidFill>
                <a:schemeClr val="bg1"/>
              </a:solidFill>
              <a:latin typeface="+mn-ea"/>
              <a:ea typeface="+mn-ea"/>
            </a:endParaRPr>
          </a:p>
        </p:txBody>
      </p:sp>
      <p:sp>
        <p:nvSpPr>
          <p:cNvPr id="467" name="AutoShape 86"/>
          <p:cNvSpPr>
            <a:spLocks noChangeArrowheads="1"/>
          </p:cNvSpPr>
          <p:nvPr/>
        </p:nvSpPr>
        <p:spPr bwMode="auto">
          <a:xfrm>
            <a:off x="5141443"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매장재고</a:t>
            </a:r>
            <a:endParaRPr lang="en-US" altLang="ko-KR" sz="600" b="1" dirty="0" smtClean="0">
              <a:latin typeface="+mn-ea"/>
              <a:ea typeface="+mn-ea"/>
            </a:endParaRPr>
          </a:p>
          <a:p>
            <a:pPr algn="ctr"/>
            <a:r>
              <a:rPr lang="en-US" altLang="ko-KR" sz="600" b="1" dirty="0" smtClean="0">
                <a:latin typeface="+mn-ea"/>
                <a:ea typeface="+mn-ea"/>
              </a:rPr>
              <a:t>T_SHOP_STOCK</a:t>
            </a:r>
            <a:endParaRPr lang="ko-KR" altLang="en-US" sz="600" b="1" dirty="0">
              <a:latin typeface="+mn-ea"/>
              <a:ea typeface="+mn-ea"/>
            </a:endParaRPr>
          </a:p>
        </p:txBody>
      </p:sp>
      <p:sp>
        <p:nvSpPr>
          <p:cNvPr id="468" name="AutoShape 86"/>
          <p:cNvSpPr>
            <a:spLocks noChangeArrowheads="1"/>
          </p:cNvSpPr>
          <p:nvPr/>
        </p:nvSpPr>
        <p:spPr bwMode="auto">
          <a:xfrm>
            <a:off x="5853100" y="203384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제품월수불</a:t>
            </a:r>
            <a:endParaRPr lang="en-US" altLang="ko-KR" sz="600" b="1" dirty="0" smtClean="0">
              <a:latin typeface="+mn-ea"/>
              <a:ea typeface="+mn-ea"/>
            </a:endParaRPr>
          </a:p>
          <a:p>
            <a:pPr algn="ctr"/>
            <a:r>
              <a:rPr lang="en-US" altLang="ko-KR" sz="600" b="1" dirty="0" smtClean="0">
                <a:latin typeface="+mn-ea"/>
                <a:ea typeface="+mn-ea"/>
              </a:rPr>
              <a:t>T_M_RNDS</a:t>
            </a:r>
            <a:endParaRPr lang="ko-KR" altLang="en-US" sz="600" b="1" dirty="0">
              <a:latin typeface="+mn-ea"/>
              <a:ea typeface="+mn-ea"/>
            </a:endParaRPr>
          </a:p>
        </p:txBody>
      </p:sp>
      <p:sp>
        <p:nvSpPr>
          <p:cNvPr id="469" name="TextBox 94"/>
          <p:cNvSpPr txBox="1">
            <a:spLocks noChangeArrowheads="1"/>
          </p:cNvSpPr>
          <p:nvPr/>
        </p:nvSpPr>
        <p:spPr bwMode="auto">
          <a:xfrm>
            <a:off x="5219799" y="1746821"/>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b="1" dirty="0" smtClean="0">
                <a:latin typeface="+mn-ea"/>
                <a:ea typeface="+mn-ea"/>
              </a:rPr>
              <a:t>패션</a:t>
            </a:r>
            <a:r>
              <a:rPr lang="en-US" altLang="ko-KR" sz="800" b="1" dirty="0" smtClean="0">
                <a:latin typeface="+mn-ea"/>
                <a:ea typeface="+mn-ea"/>
              </a:rPr>
              <a:t>ERP </a:t>
            </a:r>
            <a:r>
              <a:rPr lang="ko-KR" altLang="en-US" sz="800" b="1" dirty="0" smtClean="0">
                <a:latin typeface="+mn-ea"/>
                <a:ea typeface="+mn-ea"/>
              </a:rPr>
              <a:t>야간배치 갱신</a:t>
            </a:r>
            <a:endParaRPr lang="ko-KR" altLang="en-US" sz="800" b="1" dirty="0">
              <a:latin typeface="+mn-ea"/>
              <a:ea typeface="+mn-ea"/>
            </a:endParaRPr>
          </a:p>
        </p:txBody>
      </p:sp>
      <p:cxnSp>
        <p:nvCxnSpPr>
          <p:cNvPr id="470" name="AutoShape 67"/>
          <p:cNvCxnSpPr>
            <a:cxnSpLocks noChangeShapeType="1"/>
            <a:stCxn id="424" idx="1"/>
            <a:endCxn id="468" idx="3"/>
          </p:cNvCxnSpPr>
          <p:nvPr/>
        </p:nvCxnSpPr>
        <p:spPr bwMode="gray">
          <a:xfrm rot="5400000" flipH="1" flipV="1">
            <a:off x="5285912" y="2873287"/>
            <a:ext cx="1202240" cy="498873"/>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3" name="AutoShape 67"/>
          <p:cNvCxnSpPr>
            <a:cxnSpLocks noChangeShapeType="1"/>
            <a:stCxn id="424" idx="1"/>
            <a:endCxn id="467" idx="3"/>
          </p:cNvCxnSpPr>
          <p:nvPr/>
        </p:nvCxnSpPr>
        <p:spPr bwMode="gray">
          <a:xfrm rot="16200000" flipV="1">
            <a:off x="4930084" y="3016331"/>
            <a:ext cx="1202240" cy="212784"/>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7" name="TextBox 94"/>
          <p:cNvSpPr txBox="1">
            <a:spLocks noChangeArrowheads="1"/>
          </p:cNvSpPr>
          <p:nvPr/>
        </p:nvSpPr>
        <p:spPr bwMode="auto">
          <a:xfrm>
            <a:off x="244376" y="3135864"/>
            <a:ext cx="710120"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sym typeface="Wingdings" panose="05000000000000000000" pitchFamily="2" charset="2"/>
              </a:rPr>
              <a:t>엑셀업로드</a:t>
            </a:r>
            <a:endParaRPr lang="en-US" altLang="ko-KR" sz="800" dirty="0" smtClean="0">
              <a:latin typeface="+mn-ea"/>
              <a:ea typeface="+mn-ea"/>
              <a:sym typeface="Wingdings" panose="05000000000000000000" pitchFamily="2" charset="2"/>
            </a:endParaRPr>
          </a:p>
        </p:txBody>
      </p:sp>
      <p:cxnSp>
        <p:nvCxnSpPr>
          <p:cNvPr id="478" name="AutoShape 67"/>
          <p:cNvCxnSpPr>
            <a:cxnSpLocks noChangeShapeType="1"/>
            <a:stCxn id="477" idx="0"/>
            <a:endCxn id="390" idx="3"/>
          </p:cNvCxnSpPr>
          <p:nvPr/>
        </p:nvCxnSpPr>
        <p:spPr bwMode="gray">
          <a:xfrm flipV="1">
            <a:off x="599436" y="2773428"/>
            <a:ext cx="1418" cy="362436"/>
          </a:xfrm>
          <a:prstGeom prst="straightConnector1">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AutoShape 67"/>
          <p:cNvCxnSpPr>
            <a:cxnSpLocks noChangeShapeType="1"/>
            <a:stCxn id="81" idx="4"/>
          </p:cNvCxnSpPr>
          <p:nvPr/>
        </p:nvCxnSpPr>
        <p:spPr bwMode="gray">
          <a:xfrm>
            <a:off x="1307595" y="4119705"/>
            <a:ext cx="1723068"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TextBox 94"/>
          <p:cNvSpPr txBox="1">
            <a:spLocks noChangeArrowheads="1"/>
          </p:cNvSpPr>
          <p:nvPr/>
        </p:nvSpPr>
        <p:spPr bwMode="auto">
          <a:xfrm>
            <a:off x="1554500" y="3919161"/>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91" name="TextBox 94"/>
          <p:cNvSpPr txBox="1">
            <a:spLocks noChangeArrowheads="1"/>
          </p:cNvSpPr>
          <p:nvPr/>
        </p:nvSpPr>
        <p:spPr bwMode="auto">
          <a:xfrm>
            <a:off x="318001" y="4340132"/>
            <a:ext cx="2249734" cy="754053"/>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700" dirty="0" smtClean="0">
                <a:latin typeface="+mn-ea"/>
                <a:ea typeface="+mn-ea"/>
                <a:sym typeface="Wingdings" panose="05000000000000000000" pitchFamily="2" charset="2"/>
              </a:rPr>
              <a:t>조회 항목 </a:t>
            </a:r>
            <a:r>
              <a:rPr lang="en-US" altLang="ko-KR" sz="700" dirty="0">
                <a:latin typeface="+mn-ea"/>
                <a:ea typeface="+mn-ea"/>
                <a:sym typeface="Wingdings" panose="05000000000000000000" pitchFamily="2" charset="2"/>
              </a:rPr>
              <a:t>: </a:t>
            </a:r>
            <a:r>
              <a:rPr lang="ko-KR" altLang="en-US" sz="700" dirty="0" smtClean="0">
                <a:latin typeface="+mn-ea"/>
                <a:ea typeface="+mn-ea"/>
                <a:sym typeface="Wingdings" panose="05000000000000000000" pitchFamily="2" charset="2"/>
              </a:rPr>
              <a:t>온라인정산일련번호</a:t>
            </a:r>
            <a:r>
              <a:rPr lang="en-US" altLang="ko-KR" sz="700" dirty="0" smtClean="0">
                <a:latin typeface="+mn-ea"/>
                <a:ea typeface="+mn-ea"/>
                <a:sym typeface="Wingdings" panose="05000000000000000000" pitchFamily="2" charset="2"/>
              </a:rPr>
              <a:t>, </a:t>
            </a:r>
            <a:r>
              <a:rPr lang="ko-KR" altLang="en-US" sz="700" dirty="0" smtClean="0">
                <a:latin typeface="+mn-ea"/>
                <a:ea typeface="+mn-ea"/>
                <a:sym typeface="Wingdings" panose="05000000000000000000" pitchFamily="2" charset="2"/>
              </a:rPr>
              <a:t>정산</a:t>
            </a:r>
            <a:r>
              <a:rPr lang="en-US" altLang="ko-KR" sz="700" dirty="0" smtClean="0">
                <a:latin typeface="+mn-ea"/>
                <a:ea typeface="+mn-ea"/>
                <a:sym typeface="Wingdings" panose="05000000000000000000" pitchFamily="2" charset="2"/>
              </a:rPr>
              <a:t>/</a:t>
            </a:r>
            <a:r>
              <a:rPr lang="ko-KR" altLang="en-US" sz="700" dirty="0" smtClean="0">
                <a:latin typeface="+mn-ea"/>
                <a:ea typeface="+mn-ea"/>
                <a:sym typeface="Wingdings" panose="05000000000000000000" pitchFamily="2" charset="2"/>
              </a:rPr>
              <a:t>판매금액</a:t>
            </a:r>
            <a:endParaRPr lang="en-US" altLang="ko-KR" sz="700" dirty="0" smtClean="0">
              <a:latin typeface="+mn-ea"/>
              <a:ea typeface="+mn-ea"/>
              <a:sym typeface="Wingdings" panose="05000000000000000000" pitchFamily="2" charset="2"/>
            </a:endParaRPr>
          </a:p>
          <a:p>
            <a:pPr>
              <a:spcBef>
                <a:spcPct val="20000"/>
              </a:spcBef>
              <a:buClr>
                <a:srgbClr val="003366"/>
              </a:buClr>
            </a:pPr>
            <a:r>
              <a:rPr lang="ko-KR" altLang="en-US" sz="700" dirty="0" smtClean="0">
                <a:latin typeface="+mn-ea"/>
                <a:ea typeface="+mn-ea"/>
                <a:sym typeface="Wingdings" panose="05000000000000000000" pitchFamily="2" charset="2"/>
              </a:rPr>
              <a:t>제품</a:t>
            </a:r>
            <a:r>
              <a:rPr lang="en-US" altLang="ko-KR" sz="700" dirty="0" smtClean="0">
                <a:latin typeface="+mn-ea"/>
                <a:ea typeface="+mn-ea"/>
                <a:sym typeface="Wingdings" panose="05000000000000000000" pitchFamily="2" charset="2"/>
              </a:rPr>
              <a:t>, </a:t>
            </a:r>
            <a:r>
              <a:rPr lang="ko-KR" altLang="en-US" sz="700" dirty="0" smtClean="0">
                <a:latin typeface="+mn-ea"/>
                <a:ea typeface="+mn-ea"/>
                <a:sym typeface="Wingdings" panose="05000000000000000000" pitchFamily="2" charset="2"/>
              </a:rPr>
              <a:t>칼라</a:t>
            </a:r>
            <a:r>
              <a:rPr lang="en-US" altLang="ko-KR" sz="700" dirty="0" smtClean="0">
                <a:latin typeface="+mn-ea"/>
                <a:ea typeface="+mn-ea"/>
                <a:sym typeface="Wingdings" panose="05000000000000000000" pitchFamily="2" charset="2"/>
              </a:rPr>
              <a:t>, </a:t>
            </a:r>
            <a:r>
              <a:rPr lang="ko-KR" altLang="en-US" sz="700" dirty="0" smtClean="0">
                <a:latin typeface="+mn-ea"/>
                <a:ea typeface="+mn-ea"/>
                <a:sym typeface="Wingdings" panose="05000000000000000000" pitchFamily="2" charset="2"/>
              </a:rPr>
              <a:t>사이즈</a:t>
            </a:r>
            <a:r>
              <a:rPr lang="en-US" altLang="ko-KR" sz="700" dirty="0" smtClean="0">
                <a:latin typeface="+mn-ea"/>
                <a:ea typeface="+mn-ea"/>
                <a:sym typeface="Wingdings" panose="05000000000000000000" pitchFamily="2" charset="2"/>
              </a:rPr>
              <a:t>, </a:t>
            </a:r>
            <a:r>
              <a:rPr lang="ko-KR" altLang="en-US" sz="700" dirty="0" smtClean="0">
                <a:latin typeface="+mn-ea"/>
                <a:ea typeface="+mn-ea"/>
                <a:sym typeface="Wingdings" panose="05000000000000000000" pitchFamily="2" charset="2"/>
              </a:rPr>
              <a:t>수량</a:t>
            </a:r>
            <a:endParaRPr lang="en-US" altLang="ko-KR" sz="700" dirty="0" smtClean="0">
              <a:latin typeface="+mn-ea"/>
              <a:ea typeface="+mn-ea"/>
              <a:sym typeface="Wingdings" panose="05000000000000000000" pitchFamily="2" charset="2"/>
            </a:endParaRPr>
          </a:p>
          <a:p>
            <a:pPr>
              <a:spcBef>
                <a:spcPct val="20000"/>
              </a:spcBef>
              <a:buClr>
                <a:srgbClr val="003366"/>
              </a:buClr>
            </a:pPr>
            <a:r>
              <a:rPr lang="ko-KR" altLang="en-US" sz="700" dirty="0" smtClean="0">
                <a:latin typeface="+mn-ea"/>
                <a:ea typeface="+mn-ea"/>
                <a:sym typeface="Wingdings" panose="05000000000000000000" pitchFamily="2" charset="2"/>
              </a:rPr>
              <a:t>조회조건 </a:t>
            </a:r>
            <a:r>
              <a:rPr lang="en-US" altLang="ko-KR" sz="700" dirty="0" smtClean="0">
                <a:latin typeface="+mn-ea"/>
                <a:ea typeface="+mn-ea"/>
                <a:sym typeface="Wingdings" panose="05000000000000000000" pitchFamily="2" charset="2"/>
              </a:rPr>
              <a:t>: STLM_YN  Y</a:t>
            </a:r>
            <a:endParaRPr lang="en-US" altLang="ko-KR" sz="800" dirty="0" smtClean="0">
              <a:latin typeface="+mn-ea"/>
              <a:ea typeface="+mn-ea"/>
            </a:endParaRPr>
          </a:p>
          <a:p>
            <a:pPr>
              <a:spcBef>
                <a:spcPct val="20000"/>
              </a:spcBef>
              <a:buClr>
                <a:srgbClr val="003366"/>
              </a:buClr>
            </a:pPr>
            <a:r>
              <a:rPr lang="en-US" altLang="ko-KR" sz="800" dirty="0" smtClean="0">
                <a:latin typeface="+mn-ea"/>
                <a:ea typeface="+mn-ea"/>
              </a:rPr>
              <a:t>STLM_PRCS_YN </a:t>
            </a:r>
            <a:r>
              <a:rPr lang="en-US" altLang="ko-KR" sz="800" dirty="0" smtClean="0">
                <a:latin typeface="+mn-ea"/>
                <a:ea typeface="+mn-ea"/>
                <a:sym typeface="Wingdings" panose="05000000000000000000" pitchFamily="2" charset="2"/>
              </a:rPr>
              <a:t> N</a:t>
            </a:r>
            <a:endParaRPr lang="en-US" altLang="ko-KR" sz="800" dirty="0" smtClean="0">
              <a:latin typeface="+mn-ea"/>
              <a:ea typeface="+mn-ea"/>
            </a:endParaRPr>
          </a:p>
          <a:p>
            <a:pPr>
              <a:spcBef>
                <a:spcPct val="20000"/>
              </a:spcBef>
              <a:buClr>
                <a:srgbClr val="003366"/>
              </a:buClr>
            </a:pPr>
            <a:r>
              <a:rPr lang="en-US" altLang="ko-KR" sz="800" dirty="0" smtClean="0">
                <a:latin typeface="+mn-ea"/>
                <a:ea typeface="+mn-ea"/>
              </a:rPr>
              <a:t>SALE_SHOP_RNDS_ID </a:t>
            </a:r>
            <a:r>
              <a:rPr lang="en-US" altLang="ko-KR" sz="800" dirty="0" smtClean="0">
                <a:latin typeface="+mn-ea"/>
                <a:ea typeface="+mn-ea"/>
                <a:sym typeface="Wingdings" panose="05000000000000000000" pitchFamily="2" charset="2"/>
              </a:rPr>
              <a:t> NULL</a:t>
            </a:r>
            <a:endParaRPr lang="ko-KR" altLang="en-US" sz="700" dirty="0">
              <a:latin typeface="+mn-ea"/>
              <a:ea typeface="+mn-ea"/>
            </a:endParaRPr>
          </a:p>
        </p:txBody>
      </p:sp>
      <p:sp>
        <p:nvSpPr>
          <p:cNvPr id="106" name="AutoShape 73"/>
          <p:cNvSpPr>
            <a:spLocks noChangeArrowheads="1"/>
          </p:cNvSpPr>
          <p:nvPr/>
        </p:nvSpPr>
        <p:spPr bwMode="auto">
          <a:xfrm>
            <a:off x="1760022" y="5049180"/>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cxnSp>
        <p:nvCxnSpPr>
          <p:cNvPr id="107" name="AutoShape 67"/>
          <p:cNvCxnSpPr>
            <a:cxnSpLocks noChangeShapeType="1"/>
            <a:stCxn id="452" idx="2"/>
            <a:endCxn id="106" idx="0"/>
          </p:cNvCxnSpPr>
          <p:nvPr/>
        </p:nvCxnSpPr>
        <p:spPr bwMode="gray">
          <a:xfrm rot="5400000">
            <a:off x="2518000" y="4518237"/>
            <a:ext cx="334340" cy="727547"/>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TextBox 94"/>
          <p:cNvSpPr txBox="1">
            <a:spLocks noChangeArrowheads="1"/>
          </p:cNvSpPr>
          <p:nvPr/>
        </p:nvSpPr>
        <p:spPr bwMode="auto">
          <a:xfrm>
            <a:off x="1068624" y="5333005"/>
            <a:ext cx="956644"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매장할인마진율</a:t>
            </a:r>
            <a:endParaRPr lang="en-US" altLang="ko-KR" sz="800" dirty="0" smtClean="0">
              <a:latin typeface="+mn-ea"/>
              <a:ea typeface="+mn-ea"/>
            </a:endParaRPr>
          </a:p>
        </p:txBody>
      </p:sp>
      <p:sp>
        <p:nvSpPr>
          <p:cNvPr id="112" name="Text Box 82"/>
          <p:cNvSpPr txBox="1">
            <a:spLocks noChangeArrowheads="1"/>
          </p:cNvSpPr>
          <p:nvPr/>
        </p:nvSpPr>
        <p:spPr bwMode="gray">
          <a:xfrm>
            <a:off x="2662318" y="5048983"/>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ko-KR" sz="800" dirty="0" smtClean="0">
                <a:latin typeface="+mn-ea"/>
                <a:ea typeface="+mn-ea"/>
              </a:rPr>
              <a:t>NO</a:t>
            </a:r>
            <a:endParaRPr lang="en-US" altLang="ko-KR" sz="800" dirty="0">
              <a:latin typeface="+mn-ea"/>
              <a:ea typeface="+mn-ea"/>
            </a:endParaRPr>
          </a:p>
        </p:txBody>
      </p:sp>
      <p:cxnSp>
        <p:nvCxnSpPr>
          <p:cNvPr id="113" name="AutoShape 67"/>
          <p:cNvCxnSpPr>
            <a:cxnSpLocks noChangeShapeType="1"/>
            <a:stCxn id="106" idx="3"/>
            <a:endCxn id="169" idx="4"/>
          </p:cNvCxnSpPr>
          <p:nvPr/>
        </p:nvCxnSpPr>
        <p:spPr bwMode="gray">
          <a:xfrm flipV="1">
            <a:off x="2882770" y="3587715"/>
            <a:ext cx="1316622" cy="1698796"/>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 name="AutoShape 67"/>
          <p:cNvCxnSpPr>
            <a:cxnSpLocks noChangeShapeType="1"/>
            <a:stCxn id="106" idx="2"/>
            <a:endCxn id="417" idx="0"/>
          </p:cNvCxnSpPr>
          <p:nvPr/>
        </p:nvCxnSpPr>
        <p:spPr bwMode="gray">
          <a:xfrm rot="5400000">
            <a:off x="2018534" y="5421392"/>
            <a:ext cx="200413" cy="405312"/>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 name="Text Box 82"/>
          <p:cNvSpPr txBox="1">
            <a:spLocks noChangeArrowheads="1"/>
          </p:cNvSpPr>
          <p:nvPr/>
        </p:nvSpPr>
        <p:spPr bwMode="gray">
          <a:xfrm>
            <a:off x="2328406" y="5469236"/>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81" name="AutoShape 86"/>
          <p:cNvSpPr>
            <a:spLocks noChangeArrowheads="1"/>
          </p:cNvSpPr>
          <p:nvPr/>
        </p:nvSpPr>
        <p:spPr bwMode="auto">
          <a:xfrm>
            <a:off x="740857" y="3875826"/>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온라인정산기본</a:t>
            </a:r>
            <a:endParaRPr lang="en-US" altLang="ko-KR" sz="600" b="1" dirty="0" smtClean="0">
              <a:latin typeface="+mn-ea"/>
              <a:ea typeface="+mn-ea"/>
            </a:endParaRPr>
          </a:p>
          <a:p>
            <a:pPr algn="ctr"/>
            <a:r>
              <a:rPr lang="en-US" altLang="ko-KR" sz="600" b="1" dirty="0" smtClean="0">
                <a:latin typeface="+mn-ea"/>
                <a:ea typeface="+mn-ea"/>
              </a:rPr>
              <a:t>T_ONLINE_STLM_BASE</a:t>
            </a:r>
            <a:endParaRPr lang="ko-KR" altLang="en-US" sz="600" b="1" dirty="0">
              <a:latin typeface="+mn-ea"/>
              <a:ea typeface="+mn-ea"/>
            </a:endParaRPr>
          </a:p>
        </p:txBody>
      </p:sp>
      <p:sp>
        <p:nvSpPr>
          <p:cNvPr id="92" name="AutoShape 86"/>
          <p:cNvSpPr>
            <a:spLocks noChangeArrowheads="1"/>
          </p:cNvSpPr>
          <p:nvPr/>
        </p:nvSpPr>
        <p:spPr bwMode="auto">
          <a:xfrm>
            <a:off x="6393160" y="306896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온라인정산진행체크</a:t>
            </a:r>
            <a:endParaRPr lang="en-US" altLang="ko-KR" sz="600" b="1" dirty="0" smtClean="0">
              <a:latin typeface="+mn-ea"/>
              <a:ea typeface="+mn-ea"/>
            </a:endParaRPr>
          </a:p>
          <a:p>
            <a:pPr algn="ctr"/>
            <a:r>
              <a:rPr lang="en-US" altLang="ko-KR" sz="600" b="1" dirty="0" smtClean="0">
                <a:latin typeface="+mn-ea"/>
                <a:ea typeface="+mn-ea"/>
              </a:rPr>
              <a:t>T_ONLINE_STLM_CHECK</a:t>
            </a:r>
            <a:endParaRPr lang="ko-KR" altLang="en-US" sz="600" b="1" dirty="0">
              <a:latin typeface="+mn-ea"/>
              <a:ea typeface="+mn-ea"/>
            </a:endParaRPr>
          </a:p>
        </p:txBody>
      </p:sp>
      <p:sp>
        <p:nvSpPr>
          <p:cNvPr id="114" name="AutoShape 86"/>
          <p:cNvSpPr>
            <a:spLocks noChangeArrowheads="1"/>
          </p:cNvSpPr>
          <p:nvPr/>
        </p:nvSpPr>
        <p:spPr bwMode="auto">
          <a:xfrm>
            <a:off x="5928961" y="4293559"/>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공통코드</a:t>
            </a:r>
            <a:endParaRPr lang="en-US" altLang="ko-KR" sz="600" b="1" dirty="0" smtClean="0">
              <a:latin typeface="+mn-ea"/>
              <a:ea typeface="+mn-ea"/>
            </a:endParaRPr>
          </a:p>
          <a:p>
            <a:pPr algn="ctr"/>
            <a:r>
              <a:rPr lang="en-US" altLang="ko-KR" sz="600" b="1" dirty="0" smtClean="0">
                <a:latin typeface="+mn-ea"/>
                <a:ea typeface="+mn-ea"/>
              </a:rPr>
              <a:t>T_COMN_CD</a:t>
            </a:r>
            <a:endParaRPr lang="ko-KR" altLang="en-US" sz="600" b="1" dirty="0">
              <a:latin typeface="+mn-ea"/>
              <a:ea typeface="+mn-ea"/>
            </a:endParaRPr>
          </a:p>
        </p:txBody>
      </p:sp>
      <p:sp>
        <p:nvSpPr>
          <p:cNvPr id="115" name="TextBox 94"/>
          <p:cNvSpPr txBox="1">
            <a:spLocks noChangeArrowheads="1"/>
          </p:cNvSpPr>
          <p:nvPr/>
        </p:nvSpPr>
        <p:spPr bwMode="auto">
          <a:xfrm>
            <a:off x="5853100" y="4779150"/>
            <a:ext cx="1115507" cy="33855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dirty="0" smtClean="0">
                <a:latin typeface="+mn-ea"/>
                <a:ea typeface="+mn-ea"/>
                <a:sym typeface="Wingdings" panose="05000000000000000000" pitchFamily="2" charset="2"/>
              </a:rPr>
              <a:t>ATTR1  STLM4 (C59709 </a:t>
            </a:r>
            <a:r>
              <a:rPr lang="ko-KR" altLang="en-US" sz="800" dirty="0" smtClean="0">
                <a:latin typeface="+mn-ea"/>
                <a:ea typeface="+mn-ea"/>
                <a:sym typeface="Wingdings" panose="05000000000000000000" pitchFamily="2" charset="2"/>
              </a:rPr>
              <a:t>미 </a:t>
            </a:r>
            <a:r>
              <a:rPr lang="ko-KR" altLang="en-US" sz="800" dirty="0" err="1" smtClean="0">
                <a:latin typeface="+mn-ea"/>
                <a:ea typeface="+mn-ea"/>
                <a:sym typeface="Wingdings" panose="05000000000000000000" pitchFamily="2" charset="2"/>
              </a:rPr>
              <a:t>매칭</a:t>
            </a:r>
            <a:r>
              <a:rPr lang="en-US" altLang="ko-KR" sz="800" dirty="0" smtClean="0">
                <a:latin typeface="+mn-ea"/>
                <a:ea typeface="+mn-ea"/>
                <a:sym typeface="Wingdings" panose="05000000000000000000" pitchFamily="2" charset="2"/>
              </a:rPr>
              <a:t>)</a:t>
            </a:r>
          </a:p>
        </p:txBody>
      </p:sp>
      <p:sp>
        <p:nvSpPr>
          <p:cNvPr id="116" name="Rectangle 49"/>
          <p:cNvSpPr>
            <a:spLocks noChangeArrowheads="1"/>
          </p:cNvSpPr>
          <p:nvPr/>
        </p:nvSpPr>
        <p:spPr bwMode="gray">
          <a:xfrm>
            <a:off x="6396477" y="3870187"/>
            <a:ext cx="911356"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ko-KR" altLang="en-US" sz="800" b="1" dirty="0" smtClean="0">
                <a:latin typeface="+mn-ea"/>
                <a:ea typeface="+mn-ea"/>
              </a:rPr>
              <a:t>데이터 </a:t>
            </a:r>
            <a:r>
              <a:rPr lang="en-US" altLang="ko-KR" sz="800" b="1" dirty="0" smtClean="0">
                <a:latin typeface="+mn-ea"/>
                <a:ea typeface="+mn-ea"/>
              </a:rPr>
              <a:t>MERGE</a:t>
            </a:r>
            <a:endParaRPr lang="ko-KR" altLang="en-US" sz="800" b="1" dirty="0">
              <a:latin typeface="+mn-ea"/>
              <a:ea typeface="+mn-ea"/>
            </a:endParaRPr>
          </a:p>
        </p:txBody>
      </p:sp>
      <p:cxnSp>
        <p:nvCxnSpPr>
          <p:cNvPr id="118" name="AutoShape 67"/>
          <p:cNvCxnSpPr>
            <a:cxnSpLocks noChangeShapeType="1"/>
            <a:stCxn id="437" idx="3"/>
            <a:endCxn id="116" idx="2"/>
          </p:cNvCxnSpPr>
          <p:nvPr/>
        </p:nvCxnSpPr>
        <p:spPr bwMode="gray">
          <a:xfrm flipH="1" flipV="1">
            <a:off x="6852155" y="4087812"/>
            <a:ext cx="344839" cy="1520231"/>
          </a:xfrm>
          <a:prstGeom prst="bentConnector4">
            <a:avLst>
              <a:gd name="adj1" fmla="val -24307"/>
              <a:gd name="adj2" fmla="val 53579"/>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AutoShape 67"/>
          <p:cNvCxnSpPr>
            <a:cxnSpLocks noChangeShapeType="1"/>
            <a:stCxn id="114" idx="4"/>
          </p:cNvCxnSpPr>
          <p:nvPr/>
        </p:nvCxnSpPr>
        <p:spPr bwMode="gray">
          <a:xfrm>
            <a:off x="6495699" y="4537438"/>
            <a:ext cx="352415" cy="13306"/>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TextBox 94"/>
          <p:cNvSpPr txBox="1">
            <a:spLocks noChangeArrowheads="1"/>
          </p:cNvSpPr>
          <p:nvPr/>
        </p:nvSpPr>
        <p:spPr bwMode="auto">
          <a:xfrm>
            <a:off x="6407769" y="4329391"/>
            <a:ext cx="480560"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cxnSp>
        <p:nvCxnSpPr>
          <p:cNvPr id="129" name="AutoShape 67"/>
          <p:cNvCxnSpPr>
            <a:cxnSpLocks noChangeShapeType="1"/>
            <a:stCxn id="116" idx="0"/>
            <a:endCxn id="92" idx="3"/>
          </p:cNvCxnSpPr>
          <p:nvPr/>
        </p:nvCxnSpPr>
        <p:spPr bwMode="gray">
          <a:xfrm rot="16200000" flipV="1">
            <a:off x="6607608" y="3625640"/>
            <a:ext cx="313469" cy="175626"/>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2107105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제목 10"/>
          <p:cNvSpPr>
            <a:spLocks noGrp="1"/>
          </p:cNvSpPr>
          <p:nvPr>
            <p:ph type="title"/>
          </p:nvPr>
        </p:nvSpPr>
        <p:spPr/>
        <p:txBody>
          <a:bodyPr/>
          <a:lstStyle/>
          <a:p>
            <a:r>
              <a:rPr lang="en-US" altLang="ko-KR" dirty="0">
                <a:latin typeface="+mn-ea"/>
                <a:ea typeface="+mn-ea"/>
              </a:rPr>
              <a:t>7</a:t>
            </a:r>
            <a:r>
              <a:rPr lang="en-US" altLang="ko-KR" dirty="0" smtClean="0">
                <a:latin typeface="+mn-ea"/>
                <a:ea typeface="+mn-ea"/>
              </a:rPr>
              <a:t>. </a:t>
            </a:r>
            <a:r>
              <a:rPr lang="en-US" altLang="ko-KR" dirty="0" smtClean="0">
                <a:latin typeface="+mn-ea"/>
                <a:ea typeface="+mn-ea"/>
              </a:rPr>
              <a:t>LOSS</a:t>
            </a:r>
            <a:r>
              <a:rPr lang="ko-KR" altLang="en-US" dirty="0" smtClean="0">
                <a:latin typeface="+mn-ea"/>
                <a:ea typeface="+mn-ea"/>
              </a:rPr>
              <a:t> 처리</a:t>
            </a:r>
            <a:endParaRPr lang="ko-KR" altLang="en-US" sz="1400" dirty="0">
              <a:latin typeface="+mn-ea"/>
              <a:ea typeface="+mn-ea"/>
            </a:endParaRPr>
          </a:p>
        </p:txBody>
      </p:sp>
      <p:sp>
        <p:nvSpPr>
          <p:cNvPr id="42" name="TextBox 39"/>
          <p:cNvSpPr txBox="1">
            <a:spLocks noChangeArrowheads="1"/>
          </p:cNvSpPr>
          <p:nvPr/>
        </p:nvSpPr>
        <p:spPr bwMode="auto">
          <a:xfrm>
            <a:off x="218855" y="738114"/>
            <a:ext cx="9594685" cy="304699"/>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a:latin typeface="+mn-ea"/>
                <a:ea typeface="+mn-ea"/>
              </a:rPr>
              <a:t> </a:t>
            </a:r>
            <a:r>
              <a:rPr kumimoji="0" lang="en-US" altLang="ko-KR" sz="1200" b="1" dirty="0" smtClean="0">
                <a:latin typeface="+mn-ea"/>
                <a:ea typeface="+mn-ea"/>
              </a:rPr>
              <a:t>EC </a:t>
            </a:r>
            <a:r>
              <a:rPr kumimoji="0" lang="ko-KR" altLang="en-US" sz="1200" b="1" dirty="0" smtClean="0">
                <a:latin typeface="+mn-ea"/>
                <a:ea typeface="+mn-ea"/>
              </a:rPr>
              <a:t>연동 비활성화 재고 </a:t>
            </a:r>
            <a:r>
              <a:rPr kumimoji="0" lang="en-US" altLang="ko-KR" sz="1200" b="1" dirty="0" smtClean="0">
                <a:latin typeface="+mn-ea"/>
                <a:ea typeface="+mn-ea"/>
              </a:rPr>
              <a:t>LOSS </a:t>
            </a:r>
            <a:r>
              <a:rPr kumimoji="0" lang="ko-KR" altLang="en-US" sz="1200" b="1" dirty="0" smtClean="0">
                <a:latin typeface="+mn-ea"/>
                <a:ea typeface="+mn-ea"/>
              </a:rPr>
              <a:t>처리</a:t>
            </a:r>
            <a:r>
              <a:rPr kumimoji="0" lang="en-US" altLang="ko-KR" sz="1200" b="1" dirty="0" smtClean="0">
                <a:latin typeface="+mn-ea"/>
                <a:ea typeface="+mn-ea"/>
              </a:rPr>
              <a:t>(</a:t>
            </a:r>
            <a:r>
              <a:rPr kumimoji="0" lang="ko-KR" altLang="en-US" sz="1200" b="1" dirty="0" smtClean="0">
                <a:latin typeface="+mn-ea"/>
                <a:ea typeface="+mn-ea"/>
              </a:rPr>
              <a:t>온라인 구 시스템</a:t>
            </a:r>
            <a:r>
              <a:rPr kumimoji="0" lang="en-US" altLang="ko-KR" sz="1200" b="1" dirty="0" smtClean="0">
                <a:latin typeface="+mn-ea"/>
                <a:ea typeface="+mn-ea"/>
              </a:rPr>
              <a:t>(EC) </a:t>
            </a:r>
            <a:r>
              <a:rPr kumimoji="0" lang="ko-KR" altLang="en-US" sz="1200" b="1" dirty="0" smtClean="0">
                <a:latin typeface="+mn-ea"/>
                <a:ea typeface="+mn-ea"/>
              </a:rPr>
              <a:t>서비스 종료 후 삭제 예정</a:t>
            </a:r>
            <a:r>
              <a:rPr kumimoji="0" lang="en-US" altLang="ko-KR" sz="1200" b="1" dirty="0" smtClean="0">
                <a:latin typeface="+mn-ea"/>
                <a:ea typeface="+mn-ea"/>
              </a:rPr>
              <a:t>).</a:t>
            </a:r>
            <a:r>
              <a:rPr kumimoji="0" lang="ko-KR" altLang="en-US" sz="1200" b="1" dirty="0" smtClean="0">
                <a:latin typeface="+mn-ea"/>
                <a:ea typeface="+mn-ea"/>
              </a:rPr>
              <a:t> </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mn-ea"/>
                <a:ea typeface="+mn-ea"/>
              </a:endParaRPr>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latinLnBrk="0" hangingPunct="0">
                <a:lnSpc>
                  <a:spcPct val="140000"/>
                </a:lnSpc>
                <a:buClr>
                  <a:schemeClr val="tx2"/>
                </a:buClr>
                <a:buSzPct val="75000"/>
                <a:buFont typeface="Wingdings" panose="05000000000000000000" pitchFamily="2" charset="2"/>
                <a:buChar char="u"/>
              </a:pPr>
              <a:r>
                <a:rPr kumimoji="0" lang="en-US" altLang="ko-KR" sz="900" b="1" dirty="0" smtClean="0">
                  <a:latin typeface="+mn-ea"/>
                  <a:ea typeface="+mn-ea"/>
                </a:rPr>
                <a:t> </a:t>
              </a:r>
              <a:r>
                <a:rPr kumimoji="0" lang="ko-KR" altLang="en-US" sz="900" b="1" dirty="0">
                  <a:latin typeface="+mn-ea"/>
                  <a:ea typeface="+mn-ea"/>
                </a:rPr>
                <a:t>정의</a:t>
              </a:r>
            </a:p>
            <a:p>
              <a:pPr eaLnBrk="0" latinLnBrk="0" hangingPunct="0">
                <a:lnSpc>
                  <a:spcPct val="140000"/>
                </a:lnSpc>
                <a:buClr>
                  <a:schemeClr val="tx2"/>
                </a:buClr>
                <a:buSzPct val="75000"/>
              </a:pPr>
              <a:endParaRPr kumimoji="0" lang="ko-KR" altLang="en-US" sz="900" b="1" dirty="0" smtClean="0">
                <a:solidFill>
                  <a:srgbClr val="FF0000"/>
                </a:solidFill>
                <a:latin typeface="+mn-ea"/>
                <a:ea typeface="+mn-ea"/>
              </a:endParaRPr>
            </a:p>
            <a:p>
              <a:pPr marL="85725" indent="-85725" eaLnBrk="0" latinLnBrk="0" hangingPunct="0">
                <a:lnSpc>
                  <a:spcPct val="140000"/>
                </a:lnSpc>
                <a:buClr>
                  <a:schemeClr val="tx2"/>
                </a:buClr>
                <a:buSzPct val="75000"/>
                <a:buFont typeface="Wingdings" panose="05000000000000000000" pitchFamily="2" charset="2"/>
                <a:buChar char="u"/>
              </a:pPr>
              <a:r>
                <a:rPr kumimoji="0" lang="ko-KR" altLang="en-US" sz="900" b="1" dirty="0" smtClean="0">
                  <a:latin typeface="+mn-ea"/>
                  <a:ea typeface="+mn-ea"/>
                </a:rPr>
                <a:t> 선행 프로세스</a:t>
              </a:r>
            </a:p>
            <a:p>
              <a:pPr eaLnBrk="0" latinLnBrk="0" hangingPunct="0">
                <a:lnSpc>
                  <a:spcPct val="140000"/>
                </a:lnSpc>
                <a:buClr>
                  <a:schemeClr val="tx2"/>
                </a:buClr>
                <a:buSzPct val="75000"/>
              </a:pPr>
              <a:r>
                <a:rPr kumimoji="0" lang="en-US" altLang="ko-KR" sz="900" dirty="0" smtClean="0">
                  <a:latin typeface="+mn-ea"/>
                  <a:ea typeface="+mn-ea"/>
                </a:rPr>
                <a:t>1. </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smtClean="0">
                  <a:latin typeface="+mn-ea"/>
                  <a:ea typeface="+mn-ea"/>
                </a:rPr>
                <a:t>2. </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a:latin typeface="+mn-ea"/>
                  <a:ea typeface="+mn-ea"/>
                  <a:sym typeface="Wingdings" panose="05000000000000000000" pitchFamily="2" charset="2"/>
                </a:rPr>
                <a:t> </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rPr>
                <a:t> </a:t>
              </a:r>
              <a:endParaRPr kumimoji="0" lang="ko-KR" altLang="en-US" sz="900" dirty="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a:latin typeface="+mn-ea"/>
                  <a:ea typeface="+mn-ea"/>
                </a:rPr>
                <a:t> </a:t>
              </a:r>
              <a:r>
                <a:rPr kumimoji="0" lang="ko-KR" altLang="en-US" sz="900" b="1" dirty="0">
                  <a:latin typeface="+mn-ea"/>
                  <a:ea typeface="+mn-ea"/>
                </a:rPr>
                <a:t>후행 프로세스</a:t>
              </a:r>
            </a:p>
            <a:p>
              <a:pPr eaLnBrk="0" latinLnBrk="0" hangingPunct="0">
                <a:lnSpc>
                  <a:spcPct val="140000"/>
                </a:lnSpc>
                <a:buClr>
                  <a:schemeClr val="tx2"/>
                </a:buClr>
                <a:buSzPct val="75000"/>
              </a:pPr>
              <a:r>
                <a:rPr kumimoji="0" lang="en-US" altLang="ko-KR" sz="900" dirty="0" smtClean="0">
                  <a:latin typeface="+mn-ea"/>
                  <a:ea typeface="+mn-ea"/>
                </a:rPr>
                <a:t>1. </a:t>
              </a:r>
              <a:endParaRPr kumimoji="0" lang="ko-KR" altLang="en-US" sz="900" dirty="0" smtClean="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smtClean="0">
                  <a:latin typeface="+mn-ea"/>
                  <a:ea typeface="+mn-ea"/>
                </a:rPr>
                <a:t> </a:t>
              </a:r>
              <a:r>
                <a:rPr kumimoji="0" lang="ko-KR" altLang="en-US" sz="900" b="1" dirty="0" smtClean="0">
                  <a:latin typeface="+mn-ea"/>
                  <a:ea typeface="+mn-ea"/>
                </a:rPr>
                <a:t>비즈니스 업무정책</a:t>
              </a:r>
            </a:p>
            <a:p>
              <a:pPr eaLnBrk="0" latinLnBrk="0" hangingPunct="0">
                <a:lnSpc>
                  <a:spcPct val="140000"/>
                </a:lnSpc>
                <a:buClr>
                  <a:schemeClr val="tx2"/>
                </a:buClr>
                <a:buSzPct val="75000"/>
              </a:pPr>
              <a:r>
                <a:rPr kumimoji="0" lang="en-US" altLang="ko-KR" sz="900" dirty="0" smtClean="0">
                  <a:latin typeface="+mn-ea"/>
                  <a:ea typeface="+mn-ea"/>
                </a:rPr>
                <a:t>1. </a:t>
              </a:r>
              <a:endParaRPr kumimoji="0" lang="en-US" altLang="ko-KR" sz="900" dirty="0">
                <a:latin typeface="+mn-ea"/>
                <a:ea typeface="+mn-ea"/>
              </a:endParaRPr>
            </a:p>
          </p:txBody>
        </p:sp>
      </p:grpSp>
      <p:sp>
        <p:nvSpPr>
          <p:cNvPr id="82" name="Line 50"/>
          <p:cNvSpPr>
            <a:spLocks noChangeShapeType="1"/>
          </p:cNvSpPr>
          <p:nvPr/>
        </p:nvSpPr>
        <p:spPr bwMode="gray">
          <a:xfrm>
            <a:off x="1543589" y="1709725"/>
            <a:ext cx="1468839" cy="0"/>
          </a:xfrm>
          <a:prstGeom prst="line">
            <a:avLst/>
          </a:prstGeom>
          <a:noFill/>
          <a:ln w="9525">
            <a:solidFill>
              <a:srgbClr val="C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sz="800">
              <a:latin typeface="+mn-ea"/>
              <a:ea typeface="+mn-ea"/>
            </a:endParaRPr>
          </a:p>
        </p:txBody>
      </p:sp>
      <p:sp>
        <p:nvSpPr>
          <p:cNvPr id="83" name="Rectangle 51"/>
          <p:cNvSpPr>
            <a:spLocks noChangeArrowheads="1"/>
          </p:cNvSpPr>
          <p:nvPr/>
        </p:nvSpPr>
        <p:spPr bwMode="gray">
          <a:xfrm>
            <a:off x="465897" y="1583450"/>
            <a:ext cx="1201738"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en-US" altLang="ko-KR" sz="800" b="1" i="1" dirty="0" smtClean="0">
                <a:latin typeface="+mn-ea"/>
                <a:ea typeface="+mn-ea"/>
              </a:rPr>
              <a:t>LOSS </a:t>
            </a:r>
            <a:r>
              <a:rPr lang="ko-KR" altLang="en-US" sz="800" b="1" i="1" dirty="0" smtClean="0">
                <a:latin typeface="+mn-ea"/>
                <a:ea typeface="+mn-ea"/>
              </a:rPr>
              <a:t>처리</a:t>
            </a:r>
            <a:endParaRPr lang="ko-KR" altLang="en-US" sz="800" b="1" i="1" dirty="0">
              <a:latin typeface="+mn-ea"/>
              <a:ea typeface="+mn-ea"/>
            </a:endParaRPr>
          </a:p>
        </p:txBody>
      </p:sp>
      <p:sp>
        <p:nvSpPr>
          <p:cNvPr id="84" name="AutoShape 79"/>
          <p:cNvSpPr>
            <a:spLocks noChangeArrowheads="1"/>
          </p:cNvSpPr>
          <p:nvPr/>
        </p:nvSpPr>
        <p:spPr bwMode="auto">
          <a:xfrm>
            <a:off x="2199665" y="1539069"/>
            <a:ext cx="996950" cy="341312"/>
          </a:xfrm>
          <a:prstGeom prst="flowChartTerminator">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800" dirty="0" smtClean="0">
                <a:latin typeface="+mn-ea"/>
                <a:ea typeface="+mn-ea"/>
              </a:rPr>
              <a:t>LOSS</a:t>
            </a:r>
            <a:r>
              <a:rPr lang="ko-KR" altLang="en-US" sz="800" dirty="0" smtClean="0">
                <a:latin typeface="+mn-ea"/>
                <a:ea typeface="+mn-ea"/>
              </a:rPr>
              <a:t> 시작</a:t>
            </a:r>
            <a:endParaRPr lang="ko-KR" altLang="en-US" sz="800" dirty="0">
              <a:latin typeface="+mn-ea"/>
              <a:ea typeface="+mn-ea"/>
            </a:endParaRPr>
          </a:p>
        </p:txBody>
      </p:sp>
      <p:cxnSp>
        <p:nvCxnSpPr>
          <p:cNvPr id="86" name="AutoShape 67"/>
          <p:cNvCxnSpPr>
            <a:cxnSpLocks noChangeShapeType="1"/>
            <a:stCxn id="84" idx="2"/>
            <a:endCxn id="103" idx="0"/>
          </p:cNvCxnSpPr>
          <p:nvPr/>
        </p:nvCxnSpPr>
        <p:spPr bwMode="gray">
          <a:xfrm flipH="1">
            <a:off x="2694167" y="1880381"/>
            <a:ext cx="3973" cy="243474"/>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 name="TextBox 94"/>
          <p:cNvSpPr txBox="1">
            <a:spLocks noChangeArrowheads="1"/>
          </p:cNvSpPr>
          <p:nvPr/>
        </p:nvSpPr>
        <p:spPr bwMode="auto">
          <a:xfrm>
            <a:off x="1844522" y="2611849"/>
            <a:ext cx="432592"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03" name="AutoShape 73"/>
          <p:cNvSpPr>
            <a:spLocks noChangeArrowheads="1"/>
          </p:cNvSpPr>
          <p:nvPr/>
        </p:nvSpPr>
        <p:spPr bwMode="auto">
          <a:xfrm>
            <a:off x="2132793" y="2123855"/>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sp>
        <p:nvSpPr>
          <p:cNvPr id="104" name="TextBox 94"/>
          <p:cNvSpPr txBox="1">
            <a:spLocks noChangeArrowheads="1"/>
          </p:cNvSpPr>
          <p:nvPr/>
        </p:nvSpPr>
        <p:spPr bwMode="auto">
          <a:xfrm>
            <a:off x="1814898" y="2070897"/>
            <a:ext cx="694487"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브랜드마감</a:t>
            </a:r>
            <a:endParaRPr lang="ko-KR" altLang="en-US" sz="800" dirty="0">
              <a:latin typeface="+mn-ea"/>
              <a:ea typeface="+mn-ea"/>
            </a:endParaRPr>
          </a:p>
        </p:txBody>
      </p:sp>
      <p:sp>
        <p:nvSpPr>
          <p:cNvPr id="108" name="Text Box 82"/>
          <p:cNvSpPr txBox="1">
            <a:spLocks noChangeArrowheads="1"/>
          </p:cNvSpPr>
          <p:nvPr/>
        </p:nvSpPr>
        <p:spPr bwMode="gray">
          <a:xfrm>
            <a:off x="2981565" y="2104082"/>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122" name="Text Box 82"/>
          <p:cNvSpPr txBox="1">
            <a:spLocks noChangeArrowheads="1"/>
          </p:cNvSpPr>
          <p:nvPr/>
        </p:nvSpPr>
        <p:spPr bwMode="gray">
          <a:xfrm>
            <a:off x="2655818" y="2593820"/>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23" name="Oval 108"/>
          <p:cNvSpPr>
            <a:spLocks noChangeArrowheads="1"/>
          </p:cNvSpPr>
          <p:nvPr/>
        </p:nvSpPr>
        <p:spPr bwMode="gray">
          <a:xfrm>
            <a:off x="3154220" y="4433785"/>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kern="0" dirty="0" smtClean="0">
                <a:solidFill>
                  <a:srgbClr val="000000"/>
                </a:solidFill>
                <a:latin typeface="+mn-ea"/>
                <a:ea typeface="+mn-ea"/>
              </a:rPr>
              <a:t>출고</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125" name="Text Box 121"/>
          <p:cNvSpPr txBox="1">
            <a:spLocks noChangeArrowheads="1"/>
          </p:cNvSpPr>
          <p:nvPr/>
        </p:nvSpPr>
        <p:spPr bwMode="gray">
          <a:xfrm>
            <a:off x="3510000" y="4176842"/>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pPr algn="ctr"/>
            <a:r>
              <a:rPr lang="en-US" altLang="ko-KR" sz="800" dirty="0" smtClean="0">
                <a:latin typeface="+mn-ea"/>
                <a:ea typeface="+mn-ea"/>
              </a:rPr>
              <a:t>SHOP_RNDS_IDREG_NO</a:t>
            </a:r>
          </a:p>
        </p:txBody>
      </p:sp>
      <p:sp>
        <p:nvSpPr>
          <p:cNvPr id="126" name="AutoShape 86"/>
          <p:cNvSpPr>
            <a:spLocks noChangeArrowheads="1"/>
          </p:cNvSpPr>
          <p:nvPr/>
        </p:nvSpPr>
        <p:spPr bwMode="auto">
          <a:xfrm>
            <a:off x="4155736" y="545349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127" name="AutoShape 86"/>
          <p:cNvSpPr>
            <a:spLocks noChangeArrowheads="1"/>
          </p:cNvSpPr>
          <p:nvPr/>
        </p:nvSpPr>
        <p:spPr bwMode="auto">
          <a:xfrm>
            <a:off x="611724" y="550652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a:t>
            </a:r>
            <a:endParaRPr lang="en-US" altLang="ko-KR" sz="600" b="1" dirty="0" smtClean="0">
              <a:latin typeface="+mn-ea"/>
              <a:ea typeface="+mn-ea"/>
            </a:endParaRPr>
          </a:p>
          <a:p>
            <a:pPr algn="ctr"/>
            <a:r>
              <a:rPr lang="en-US" altLang="ko-KR" sz="600" b="1" dirty="0" smtClean="0">
                <a:latin typeface="+mn-ea"/>
                <a:ea typeface="+mn-ea"/>
              </a:rPr>
              <a:t>T_SALE</a:t>
            </a:r>
            <a:endParaRPr lang="ko-KR" altLang="en-US" sz="600" b="1" dirty="0">
              <a:latin typeface="+mn-ea"/>
              <a:ea typeface="+mn-ea"/>
            </a:endParaRPr>
          </a:p>
        </p:txBody>
      </p:sp>
      <p:sp>
        <p:nvSpPr>
          <p:cNvPr id="130" name="AutoShape 86"/>
          <p:cNvSpPr>
            <a:spLocks noChangeArrowheads="1"/>
          </p:cNvSpPr>
          <p:nvPr/>
        </p:nvSpPr>
        <p:spPr bwMode="auto">
          <a:xfrm>
            <a:off x="4161950" y="4905399"/>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거래명세</a:t>
            </a:r>
            <a:endParaRPr lang="en-US" altLang="ko-KR" sz="600" b="1" dirty="0" smtClean="0">
              <a:latin typeface="+mn-ea"/>
              <a:ea typeface="+mn-ea"/>
            </a:endParaRPr>
          </a:p>
          <a:p>
            <a:pPr algn="ctr"/>
            <a:r>
              <a:rPr lang="en-US" altLang="ko-KR" sz="600" b="1" dirty="0" smtClean="0">
                <a:latin typeface="+mn-ea"/>
                <a:ea typeface="+mn-ea"/>
              </a:rPr>
              <a:t>T_TRAN_SPEC</a:t>
            </a:r>
            <a:endParaRPr lang="ko-KR" altLang="en-US" sz="600" b="1" dirty="0">
              <a:latin typeface="+mn-ea"/>
              <a:ea typeface="+mn-ea"/>
            </a:endParaRPr>
          </a:p>
        </p:txBody>
      </p:sp>
      <p:sp>
        <p:nvSpPr>
          <p:cNvPr id="135" name="Rectangle 49"/>
          <p:cNvSpPr>
            <a:spLocks noChangeArrowheads="1"/>
          </p:cNvSpPr>
          <p:nvPr/>
        </p:nvSpPr>
        <p:spPr bwMode="gray">
          <a:xfrm>
            <a:off x="4456265" y="4498364"/>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출고수불</a:t>
            </a:r>
            <a:r>
              <a:rPr lang="en-US" altLang="ko-KR" sz="800" b="1" dirty="0" smtClean="0">
                <a:latin typeface="+mn-ea"/>
                <a:ea typeface="+mn-ea"/>
              </a:rPr>
              <a:t>ID</a:t>
            </a:r>
            <a:r>
              <a:rPr lang="ko-KR" altLang="en-US" sz="800" b="1" dirty="0" smtClean="0">
                <a:latin typeface="+mn-ea"/>
                <a:ea typeface="+mn-ea"/>
              </a:rPr>
              <a:t>갱신</a:t>
            </a:r>
            <a:endParaRPr lang="ko-KR" altLang="en-US" sz="800" b="1" dirty="0">
              <a:latin typeface="+mn-ea"/>
              <a:ea typeface="+mn-ea"/>
            </a:endParaRPr>
          </a:p>
        </p:txBody>
      </p:sp>
      <p:sp>
        <p:nvSpPr>
          <p:cNvPr id="140" name="AutoShape 86"/>
          <p:cNvSpPr>
            <a:spLocks noChangeArrowheads="1"/>
          </p:cNvSpPr>
          <p:nvPr/>
        </p:nvSpPr>
        <p:spPr bwMode="auto">
          <a:xfrm>
            <a:off x="5813999" y="5453489"/>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매장재고</a:t>
            </a:r>
            <a:endParaRPr lang="en-US" altLang="ko-KR" sz="600" b="1" dirty="0" smtClean="0">
              <a:latin typeface="+mn-ea"/>
              <a:ea typeface="+mn-ea"/>
            </a:endParaRPr>
          </a:p>
          <a:p>
            <a:pPr algn="ctr"/>
            <a:r>
              <a:rPr lang="en-US" altLang="ko-KR" sz="600" b="1" dirty="0" smtClean="0">
                <a:latin typeface="+mn-ea"/>
                <a:ea typeface="+mn-ea"/>
              </a:rPr>
              <a:t>T_SHOP_STOCK</a:t>
            </a:r>
            <a:endParaRPr lang="ko-KR" altLang="en-US" sz="600" b="1" dirty="0">
              <a:latin typeface="+mn-ea"/>
              <a:ea typeface="+mn-ea"/>
            </a:endParaRPr>
          </a:p>
        </p:txBody>
      </p:sp>
      <p:sp>
        <p:nvSpPr>
          <p:cNvPr id="147" name="TextBox 94"/>
          <p:cNvSpPr txBox="1">
            <a:spLocks noChangeArrowheads="1"/>
          </p:cNvSpPr>
          <p:nvPr/>
        </p:nvSpPr>
        <p:spPr bwMode="auto">
          <a:xfrm>
            <a:off x="2093285" y="1313336"/>
            <a:ext cx="141688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smtClean="0">
                <a:latin typeface="+mn-ea"/>
                <a:ea typeface="+mn-ea"/>
              </a:rPr>
              <a:t>SP_ONLINE_DEACT_LOSS</a:t>
            </a:r>
            <a:endParaRPr lang="ko-KR" altLang="en-US" sz="800" b="1" dirty="0">
              <a:latin typeface="+mn-ea"/>
              <a:ea typeface="+mn-ea"/>
            </a:endParaRPr>
          </a:p>
        </p:txBody>
      </p:sp>
      <p:sp>
        <p:nvSpPr>
          <p:cNvPr id="148" name="TextBox 94"/>
          <p:cNvSpPr txBox="1">
            <a:spLocks noChangeArrowheads="1"/>
          </p:cNvSpPr>
          <p:nvPr/>
        </p:nvSpPr>
        <p:spPr bwMode="auto">
          <a:xfrm>
            <a:off x="3237462" y="1496224"/>
            <a:ext cx="1625528"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sym typeface="Wingdings" panose="05000000000000000000" pitchFamily="2" charset="2"/>
              </a:rPr>
              <a:t>입력 </a:t>
            </a:r>
            <a:r>
              <a:rPr lang="ko-KR" altLang="en-US" sz="800" dirty="0" err="1" smtClean="0">
                <a:latin typeface="+mn-ea"/>
                <a:ea typeface="+mn-ea"/>
                <a:sym typeface="Wingdings" panose="05000000000000000000" pitchFamily="2" charset="2"/>
              </a:rPr>
              <a:t>파리미터</a:t>
            </a:r>
            <a:r>
              <a:rPr lang="ko-KR" altLang="en-US" sz="800" dirty="0" smtClean="0">
                <a:latin typeface="+mn-ea"/>
                <a:ea typeface="+mn-ea"/>
                <a:sym typeface="Wingdings" panose="05000000000000000000" pitchFamily="2" charset="2"/>
              </a:rPr>
              <a:t> </a:t>
            </a:r>
            <a:endParaRPr lang="en-US" altLang="ko-KR" sz="800" dirty="0" smtClean="0">
              <a:latin typeface="+mn-ea"/>
              <a:ea typeface="+mn-ea"/>
              <a:sym typeface="Wingdings" panose="05000000000000000000" pitchFamily="2" charset="2"/>
            </a:endParaRPr>
          </a:p>
          <a:p>
            <a:pPr>
              <a:spcBef>
                <a:spcPct val="20000"/>
              </a:spcBef>
              <a:buClr>
                <a:srgbClr val="003366"/>
              </a:buClr>
            </a:pPr>
            <a:r>
              <a:rPr lang="ko-KR" altLang="en-US" sz="800" dirty="0" smtClean="0">
                <a:latin typeface="+mn-ea"/>
                <a:ea typeface="+mn-ea"/>
                <a:sym typeface="Wingdings" panose="05000000000000000000" pitchFamily="2" charset="2"/>
              </a:rPr>
              <a:t>상위브랜드</a:t>
            </a:r>
            <a:r>
              <a:rPr lang="en-US" altLang="ko-KR" sz="800" dirty="0" smtClean="0">
                <a:latin typeface="+mn-ea"/>
                <a:ea typeface="+mn-ea"/>
                <a:sym typeface="Wingdings" panose="05000000000000000000" pitchFamily="2" charset="2"/>
              </a:rPr>
              <a:t>, </a:t>
            </a:r>
            <a:r>
              <a:rPr lang="ko-KR" altLang="en-US" sz="800" dirty="0" err="1" smtClean="0">
                <a:latin typeface="+mn-ea"/>
                <a:ea typeface="+mn-ea"/>
                <a:sym typeface="Wingdings" panose="05000000000000000000" pitchFamily="2" charset="2"/>
              </a:rPr>
              <a:t>년월</a:t>
            </a:r>
            <a:r>
              <a:rPr lang="en-US" altLang="ko-KR" sz="800" dirty="0" smtClean="0">
                <a:latin typeface="+mn-ea"/>
                <a:ea typeface="+mn-ea"/>
                <a:sym typeface="Wingdings" panose="05000000000000000000" pitchFamily="2" charset="2"/>
              </a:rPr>
              <a:t>, LOSS</a:t>
            </a:r>
            <a:r>
              <a:rPr lang="ko-KR" altLang="en-US" sz="800" dirty="0" smtClean="0">
                <a:latin typeface="+mn-ea"/>
                <a:ea typeface="+mn-ea"/>
                <a:sym typeface="Wingdings" panose="05000000000000000000" pitchFamily="2" charset="2"/>
              </a:rPr>
              <a:t>구분</a:t>
            </a:r>
            <a:endParaRPr lang="en-US" altLang="ko-KR" sz="800" dirty="0">
              <a:latin typeface="+mn-ea"/>
              <a:ea typeface="+mn-ea"/>
              <a:sym typeface="Wingdings" panose="05000000000000000000" pitchFamily="2" charset="2"/>
            </a:endParaRPr>
          </a:p>
          <a:p>
            <a:pPr>
              <a:spcBef>
                <a:spcPct val="20000"/>
              </a:spcBef>
              <a:buClr>
                <a:srgbClr val="003366"/>
              </a:buClr>
            </a:pPr>
            <a:r>
              <a:rPr lang="en-US" altLang="ko-KR" sz="800" dirty="0" smtClean="0">
                <a:latin typeface="+mn-ea"/>
                <a:ea typeface="+mn-ea"/>
                <a:sym typeface="Wingdings" panose="05000000000000000000" pitchFamily="2" charset="2"/>
              </a:rPr>
              <a:t>LOSS</a:t>
            </a:r>
            <a:r>
              <a:rPr lang="ko-KR" altLang="en-US" sz="800" dirty="0" smtClean="0">
                <a:latin typeface="+mn-ea"/>
                <a:ea typeface="+mn-ea"/>
                <a:sym typeface="Wingdings" panose="05000000000000000000" pitchFamily="2" charset="2"/>
              </a:rPr>
              <a:t>일자</a:t>
            </a:r>
            <a:r>
              <a:rPr lang="en-US" altLang="ko-KR" sz="800" dirty="0" smtClean="0">
                <a:latin typeface="+mn-ea"/>
                <a:ea typeface="+mn-ea"/>
                <a:sym typeface="Wingdings" panose="05000000000000000000" pitchFamily="2" charset="2"/>
              </a:rPr>
              <a:t>, </a:t>
            </a:r>
            <a:r>
              <a:rPr lang="ko-KR" altLang="en-US" sz="800" dirty="0" smtClean="0">
                <a:latin typeface="+mn-ea"/>
                <a:ea typeface="+mn-ea"/>
                <a:sym typeface="Wingdings" panose="05000000000000000000" pitchFamily="2" charset="2"/>
              </a:rPr>
              <a:t>사용자</a:t>
            </a:r>
            <a:r>
              <a:rPr lang="en-US" altLang="ko-KR" sz="800" dirty="0" smtClean="0">
                <a:latin typeface="+mn-ea"/>
                <a:ea typeface="+mn-ea"/>
                <a:sym typeface="Wingdings" panose="05000000000000000000" pitchFamily="2" charset="2"/>
              </a:rPr>
              <a:t>ID</a:t>
            </a:r>
          </a:p>
        </p:txBody>
      </p:sp>
      <p:sp>
        <p:nvSpPr>
          <p:cNvPr id="149" name="타원 148"/>
          <p:cNvSpPr/>
          <p:nvPr/>
        </p:nvSpPr>
        <p:spPr>
          <a:xfrm>
            <a:off x="3681226" y="2194757"/>
            <a:ext cx="352849" cy="338735"/>
          </a:xfrm>
          <a:prstGeom prst="ellipse">
            <a:avLst/>
          </a:prstGeom>
          <a:noFill/>
          <a:ln>
            <a:solidFill>
              <a:schemeClr val="tx1"/>
            </a:solidFill>
          </a:ln>
        </p:spPr>
        <p:txBody>
          <a:bodyPr wrap="none" lIns="0" rIns="0" rtlCol="0" anchor="ctr">
            <a:noAutofit/>
          </a:bodyPr>
          <a:lstStyle/>
          <a:p>
            <a:pPr marL="268288" indent="-215900" algn="ctr">
              <a:spcBef>
                <a:spcPct val="20000"/>
              </a:spcBef>
              <a:buClr>
                <a:srgbClr val="FFD200"/>
              </a:buClr>
              <a:buSzPct val="75000"/>
            </a:pPr>
            <a:r>
              <a:rPr lang="ko-KR" altLang="en-US" sz="800" kern="0" dirty="0" smtClean="0">
                <a:latin typeface="+mn-ea"/>
                <a:ea typeface="+mn-ea"/>
              </a:rPr>
              <a:t>종료</a:t>
            </a:r>
          </a:p>
        </p:txBody>
      </p:sp>
      <p:cxnSp>
        <p:nvCxnSpPr>
          <p:cNvPr id="150" name="AutoShape 67"/>
          <p:cNvCxnSpPr>
            <a:cxnSpLocks noChangeShapeType="1"/>
            <a:stCxn id="103" idx="3"/>
            <a:endCxn id="149" idx="2"/>
          </p:cNvCxnSpPr>
          <p:nvPr/>
        </p:nvCxnSpPr>
        <p:spPr bwMode="gray">
          <a:xfrm>
            <a:off x="3255541" y="2361186"/>
            <a:ext cx="425685" cy="2939"/>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 name="그룹 13"/>
          <p:cNvGrpSpPr/>
          <p:nvPr/>
        </p:nvGrpSpPr>
        <p:grpSpPr>
          <a:xfrm>
            <a:off x="452500" y="2387064"/>
            <a:ext cx="2241667" cy="1802488"/>
            <a:chOff x="452500" y="2387064"/>
            <a:chExt cx="2241667" cy="1802488"/>
          </a:xfrm>
        </p:grpSpPr>
        <p:sp>
          <p:nvSpPr>
            <p:cNvPr id="96" name="Rectangle 2"/>
            <p:cNvSpPr>
              <a:spLocks noChangeArrowheads="1"/>
            </p:cNvSpPr>
            <p:nvPr/>
          </p:nvSpPr>
          <p:spPr bwMode="gray">
            <a:xfrm>
              <a:off x="452500" y="2387064"/>
              <a:ext cx="1094751" cy="1802488"/>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b="1">
                <a:latin typeface="+mn-ea"/>
                <a:ea typeface="+mn-ea"/>
              </a:endParaRPr>
            </a:p>
          </p:txBody>
        </p:sp>
        <p:sp>
          <p:nvSpPr>
            <p:cNvPr id="97" name="AutoShape 86"/>
            <p:cNvSpPr>
              <a:spLocks noChangeArrowheads="1"/>
            </p:cNvSpPr>
            <p:nvPr/>
          </p:nvSpPr>
          <p:spPr bwMode="auto">
            <a:xfrm>
              <a:off x="691038" y="2995176"/>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통합주문</a:t>
              </a:r>
              <a:endParaRPr lang="en-US" altLang="ko-KR" sz="600" b="1" dirty="0" smtClean="0">
                <a:latin typeface="+mn-ea"/>
                <a:ea typeface="+mn-ea"/>
              </a:endParaRPr>
            </a:p>
            <a:p>
              <a:pPr algn="ctr"/>
              <a:r>
                <a:rPr lang="en-US" altLang="ko-KR" sz="600" b="1" dirty="0" smtClean="0">
                  <a:latin typeface="+mn-ea"/>
                  <a:ea typeface="+mn-ea"/>
                </a:rPr>
                <a:t>EC.OM_ORDER@EDW_EC</a:t>
              </a:r>
              <a:endParaRPr lang="ko-KR" altLang="en-US" sz="600" b="1" dirty="0">
                <a:latin typeface="+mn-ea"/>
                <a:ea typeface="+mn-ea"/>
              </a:endParaRPr>
            </a:p>
          </p:txBody>
        </p:sp>
        <p:sp>
          <p:nvSpPr>
            <p:cNvPr id="98" name="AutoShape 86"/>
            <p:cNvSpPr>
              <a:spLocks noChangeArrowheads="1"/>
            </p:cNvSpPr>
            <p:nvPr/>
          </p:nvSpPr>
          <p:spPr bwMode="auto">
            <a:xfrm>
              <a:off x="698281" y="2447241"/>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ea typeface="+mn-ea"/>
                </a:rPr>
                <a:t>비활성재고 등록</a:t>
              </a:r>
              <a:endParaRPr lang="en-US" altLang="ko-KR" sz="600" b="1" dirty="0" smtClean="0">
                <a:latin typeface="+mn-ea"/>
                <a:ea typeface="+mn-ea"/>
              </a:endParaRPr>
            </a:p>
            <a:p>
              <a:pPr algn="ctr"/>
              <a:r>
                <a:rPr lang="en-US" altLang="ko-KR" sz="600" b="1" dirty="0" smtClean="0">
                  <a:latin typeface="+mn-ea"/>
                  <a:ea typeface="+mn-ea"/>
                </a:rPr>
                <a:t>EC.WH_STOCK_DEACT@EDW_EC</a:t>
              </a:r>
              <a:endParaRPr lang="ko-KR" altLang="en-US" sz="600" b="1" dirty="0">
                <a:latin typeface="+mn-ea"/>
                <a:ea typeface="+mn-ea"/>
              </a:endParaRPr>
            </a:p>
          </p:txBody>
        </p:sp>
        <p:cxnSp>
          <p:nvCxnSpPr>
            <p:cNvPr id="152" name="AutoShape 67"/>
            <p:cNvCxnSpPr>
              <a:cxnSpLocks noChangeShapeType="1"/>
            </p:cNvCxnSpPr>
            <p:nvPr/>
          </p:nvCxnSpPr>
          <p:spPr bwMode="gray">
            <a:xfrm>
              <a:off x="1543589" y="2798930"/>
              <a:ext cx="1150578"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AutoShape 86"/>
            <p:cNvSpPr>
              <a:spLocks noChangeArrowheads="1"/>
            </p:cNvSpPr>
            <p:nvPr/>
          </p:nvSpPr>
          <p:spPr bwMode="auto">
            <a:xfrm>
              <a:off x="691038" y="3565544"/>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공통테이블</a:t>
              </a:r>
              <a:endParaRPr lang="en-US" altLang="ko-KR" sz="600" b="1" dirty="0" smtClean="0">
                <a:latin typeface="+mn-ea"/>
                <a:ea typeface="+mn-ea"/>
              </a:endParaRPr>
            </a:p>
            <a:p>
              <a:pPr algn="ctr"/>
              <a:r>
                <a:rPr lang="en-US" altLang="ko-KR" sz="600" b="1" dirty="0" smtClean="0">
                  <a:latin typeface="+mn-ea"/>
                  <a:ea typeface="+mn-ea"/>
                </a:rPr>
                <a:t>CO_COMN_CD@EDW_EC</a:t>
              </a:r>
              <a:endParaRPr lang="ko-KR" altLang="en-US" sz="600" b="1" dirty="0">
                <a:latin typeface="+mn-ea"/>
                <a:ea typeface="+mn-ea"/>
              </a:endParaRPr>
            </a:p>
          </p:txBody>
        </p:sp>
      </p:grpSp>
      <p:sp>
        <p:nvSpPr>
          <p:cNvPr id="154" name="TextBox 94"/>
          <p:cNvSpPr txBox="1">
            <a:spLocks noChangeArrowheads="1"/>
          </p:cNvSpPr>
          <p:nvPr/>
        </p:nvSpPr>
        <p:spPr bwMode="auto">
          <a:xfrm>
            <a:off x="1568197" y="3504224"/>
            <a:ext cx="1058298" cy="329321"/>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700" dirty="0" smtClean="0">
                <a:latin typeface="+mn-ea"/>
                <a:ea typeface="+mn-ea"/>
              </a:rPr>
              <a:t>CD_KEY = LOSS</a:t>
            </a:r>
            <a:r>
              <a:rPr lang="ko-KR" altLang="en-US" sz="700" dirty="0" smtClean="0">
                <a:latin typeface="+mn-ea"/>
                <a:ea typeface="+mn-ea"/>
              </a:rPr>
              <a:t>구분</a:t>
            </a:r>
            <a:endParaRPr lang="en-US" altLang="ko-KR" sz="700" dirty="0" smtClean="0">
              <a:latin typeface="+mn-ea"/>
              <a:ea typeface="+mn-ea"/>
            </a:endParaRPr>
          </a:p>
          <a:p>
            <a:pPr>
              <a:spcBef>
                <a:spcPct val="20000"/>
              </a:spcBef>
              <a:buClr>
                <a:srgbClr val="003366"/>
              </a:buClr>
            </a:pPr>
            <a:r>
              <a:rPr lang="en-US" altLang="ko-KR" sz="700" dirty="0" smtClean="0">
                <a:latin typeface="+mn-ea"/>
                <a:ea typeface="+mn-ea"/>
                <a:sym typeface="Wingdings" panose="05000000000000000000" pitchFamily="2" charset="2"/>
              </a:rPr>
              <a:t>ATTR3  LOSS</a:t>
            </a:r>
            <a:endParaRPr lang="ko-KR" altLang="en-US" sz="700" dirty="0">
              <a:latin typeface="+mn-ea"/>
              <a:ea typeface="+mn-ea"/>
            </a:endParaRPr>
          </a:p>
        </p:txBody>
      </p:sp>
      <p:cxnSp>
        <p:nvCxnSpPr>
          <p:cNvPr id="156" name="AutoShape 67"/>
          <p:cNvCxnSpPr>
            <a:cxnSpLocks noChangeShapeType="1"/>
            <a:stCxn id="103" idx="2"/>
            <a:endCxn id="157" idx="0"/>
          </p:cNvCxnSpPr>
          <p:nvPr/>
        </p:nvCxnSpPr>
        <p:spPr bwMode="gray">
          <a:xfrm>
            <a:off x="2694167" y="2598517"/>
            <a:ext cx="4716" cy="335428"/>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 name="AutoShape 73"/>
          <p:cNvSpPr>
            <a:spLocks noChangeArrowheads="1"/>
          </p:cNvSpPr>
          <p:nvPr/>
        </p:nvSpPr>
        <p:spPr bwMode="auto">
          <a:xfrm>
            <a:off x="2137509" y="2933945"/>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sp>
        <p:nvSpPr>
          <p:cNvPr id="159" name="TextBox 94"/>
          <p:cNvSpPr txBox="1">
            <a:spLocks noChangeArrowheads="1"/>
          </p:cNvSpPr>
          <p:nvPr/>
        </p:nvSpPr>
        <p:spPr bwMode="auto">
          <a:xfrm>
            <a:off x="1586652" y="2900026"/>
            <a:ext cx="95914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매장</a:t>
            </a:r>
            <a:r>
              <a:rPr lang="en-US" altLang="ko-KR" sz="800" dirty="0" smtClean="0">
                <a:latin typeface="+mn-ea"/>
                <a:ea typeface="+mn-ea"/>
              </a:rPr>
              <a:t>, </a:t>
            </a:r>
            <a:r>
              <a:rPr lang="ko-KR" altLang="en-US" sz="800" dirty="0" smtClean="0">
                <a:latin typeface="+mn-ea"/>
                <a:ea typeface="+mn-ea"/>
              </a:rPr>
              <a:t>매장브랜드</a:t>
            </a:r>
            <a:endParaRPr lang="ko-KR" altLang="en-US" sz="800" dirty="0">
              <a:latin typeface="+mn-ea"/>
              <a:ea typeface="+mn-ea"/>
            </a:endParaRPr>
          </a:p>
        </p:txBody>
      </p:sp>
      <p:cxnSp>
        <p:nvCxnSpPr>
          <p:cNvPr id="160" name="AutoShape 67"/>
          <p:cNvCxnSpPr>
            <a:cxnSpLocks noChangeShapeType="1"/>
            <a:stCxn id="157" idx="3"/>
            <a:endCxn id="149" idx="4"/>
          </p:cNvCxnSpPr>
          <p:nvPr/>
        </p:nvCxnSpPr>
        <p:spPr bwMode="gray">
          <a:xfrm flipV="1">
            <a:off x="3260257" y="2533492"/>
            <a:ext cx="597394" cy="637784"/>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6" name="Text Box 82"/>
          <p:cNvSpPr txBox="1">
            <a:spLocks noChangeArrowheads="1"/>
          </p:cNvSpPr>
          <p:nvPr/>
        </p:nvSpPr>
        <p:spPr bwMode="gray">
          <a:xfrm>
            <a:off x="3074492" y="2942703"/>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63" name="AutoShape 73"/>
          <p:cNvSpPr>
            <a:spLocks noChangeArrowheads="1"/>
          </p:cNvSpPr>
          <p:nvPr/>
        </p:nvSpPr>
        <p:spPr bwMode="auto">
          <a:xfrm>
            <a:off x="2140545" y="3683865"/>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en-US" altLang="ko-KR" sz="800" dirty="0" smtClean="0">
                <a:latin typeface="+mn-ea"/>
                <a:ea typeface="+mn-ea"/>
              </a:rPr>
              <a:t>LOSS</a:t>
            </a: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cxnSp>
        <p:nvCxnSpPr>
          <p:cNvPr id="69" name="AutoShape 67"/>
          <p:cNvCxnSpPr>
            <a:cxnSpLocks noChangeShapeType="1"/>
            <a:stCxn id="157" idx="2"/>
            <a:endCxn id="63" idx="0"/>
          </p:cNvCxnSpPr>
          <p:nvPr/>
        </p:nvCxnSpPr>
        <p:spPr bwMode="gray">
          <a:xfrm>
            <a:off x="2698883" y="3408607"/>
            <a:ext cx="3036" cy="275258"/>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AutoShape 67"/>
          <p:cNvCxnSpPr>
            <a:cxnSpLocks noChangeShapeType="1"/>
            <a:stCxn id="63" idx="3"/>
            <a:endCxn id="123" idx="0"/>
          </p:cNvCxnSpPr>
          <p:nvPr/>
        </p:nvCxnSpPr>
        <p:spPr bwMode="gray">
          <a:xfrm>
            <a:off x="3263293" y="3921196"/>
            <a:ext cx="205252" cy="512589"/>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Text Box 82"/>
          <p:cNvSpPr txBox="1">
            <a:spLocks noChangeArrowheads="1"/>
          </p:cNvSpPr>
          <p:nvPr/>
        </p:nvSpPr>
        <p:spPr bwMode="gray">
          <a:xfrm>
            <a:off x="2369175" y="3355021"/>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80" name="Text Box 82"/>
          <p:cNvSpPr txBox="1">
            <a:spLocks noChangeArrowheads="1"/>
          </p:cNvSpPr>
          <p:nvPr/>
        </p:nvSpPr>
        <p:spPr bwMode="gray">
          <a:xfrm>
            <a:off x="3083635" y="3674850"/>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93" name="Oval 108"/>
          <p:cNvSpPr>
            <a:spLocks noChangeArrowheads="1"/>
          </p:cNvSpPr>
          <p:nvPr/>
        </p:nvSpPr>
        <p:spPr bwMode="gray">
          <a:xfrm>
            <a:off x="4060285" y="3744825"/>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kern="0" dirty="0" smtClean="0">
                <a:solidFill>
                  <a:srgbClr val="000000"/>
                </a:solidFill>
                <a:latin typeface="+mn-ea"/>
                <a:ea typeface="+mn-ea"/>
              </a:rPr>
              <a:t>자가소모</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95" name="Text Box 121"/>
          <p:cNvSpPr txBox="1">
            <a:spLocks noChangeArrowheads="1"/>
          </p:cNvSpPr>
          <p:nvPr/>
        </p:nvSpPr>
        <p:spPr bwMode="gray">
          <a:xfrm>
            <a:off x="3446208" y="3442998"/>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pPr algn="ctr"/>
            <a:r>
              <a:rPr lang="en-US" altLang="ko-KR" sz="800" dirty="0" smtClean="0">
                <a:latin typeface="+mn-ea"/>
                <a:ea typeface="+mn-ea"/>
              </a:rPr>
              <a:t>WH_RNDS_ID</a:t>
            </a:r>
          </a:p>
          <a:p>
            <a:pPr algn="ctr"/>
            <a:r>
              <a:rPr lang="en-US" altLang="ko-KR" sz="800" dirty="0" smtClean="0">
                <a:latin typeface="+mn-ea"/>
                <a:ea typeface="+mn-ea"/>
              </a:rPr>
              <a:t>REG_NO</a:t>
            </a:r>
          </a:p>
        </p:txBody>
      </p:sp>
      <p:cxnSp>
        <p:nvCxnSpPr>
          <p:cNvPr id="99" name="AutoShape 67"/>
          <p:cNvCxnSpPr>
            <a:cxnSpLocks noChangeShapeType="1"/>
            <a:stCxn id="63" idx="3"/>
            <a:endCxn id="93" idx="2"/>
          </p:cNvCxnSpPr>
          <p:nvPr/>
        </p:nvCxnSpPr>
        <p:spPr bwMode="gray">
          <a:xfrm flipV="1">
            <a:off x="3263293" y="3921038"/>
            <a:ext cx="796992" cy="158"/>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AutoShape 86"/>
          <p:cNvSpPr>
            <a:spLocks noChangeArrowheads="1"/>
          </p:cNvSpPr>
          <p:nvPr/>
        </p:nvSpPr>
        <p:spPr bwMode="auto">
          <a:xfrm>
            <a:off x="5199452" y="306896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창고수불</a:t>
            </a:r>
            <a:endParaRPr lang="en-US" altLang="ko-KR" sz="600" b="1" dirty="0" smtClean="0">
              <a:latin typeface="+mn-ea"/>
              <a:ea typeface="+mn-ea"/>
            </a:endParaRPr>
          </a:p>
          <a:p>
            <a:pPr algn="ctr"/>
            <a:r>
              <a:rPr lang="en-US" altLang="ko-KR" sz="600" b="1" dirty="0" smtClean="0">
                <a:latin typeface="+mn-ea"/>
                <a:ea typeface="+mn-ea"/>
              </a:rPr>
              <a:t>T_WH_RNDS_BASE</a:t>
            </a:r>
            <a:endParaRPr lang="ko-KR" altLang="en-US" sz="600" b="1" dirty="0">
              <a:latin typeface="+mn-ea"/>
              <a:ea typeface="+mn-ea"/>
            </a:endParaRPr>
          </a:p>
        </p:txBody>
      </p:sp>
      <p:sp>
        <p:nvSpPr>
          <p:cNvPr id="102" name="AutoShape 86"/>
          <p:cNvSpPr>
            <a:spLocks noChangeArrowheads="1"/>
          </p:cNvSpPr>
          <p:nvPr/>
        </p:nvSpPr>
        <p:spPr bwMode="auto">
          <a:xfrm>
            <a:off x="5924861" y="306896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자가소모</a:t>
            </a:r>
            <a:endParaRPr lang="en-US" altLang="ko-KR" sz="600" b="1" dirty="0" smtClean="0">
              <a:latin typeface="+mn-ea"/>
              <a:ea typeface="+mn-ea"/>
            </a:endParaRPr>
          </a:p>
          <a:p>
            <a:pPr algn="ctr"/>
            <a:r>
              <a:rPr lang="en-US" altLang="ko-KR" sz="600" b="1" dirty="0" smtClean="0">
                <a:latin typeface="+mn-ea"/>
                <a:ea typeface="+mn-ea"/>
              </a:rPr>
              <a:t>T_SELF_CSUM</a:t>
            </a:r>
            <a:endParaRPr lang="ko-KR" altLang="en-US" sz="600" b="1" dirty="0">
              <a:latin typeface="+mn-ea"/>
              <a:ea typeface="+mn-ea"/>
            </a:endParaRPr>
          </a:p>
        </p:txBody>
      </p:sp>
      <p:cxnSp>
        <p:nvCxnSpPr>
          <p:cNvPr id="105" name="AutoShape 67"/>
          <p:cNvCxnSpPr>
            <a:cxnSpLocks noChangeShapeType="1"/>
            <a:stCxn id="93" idx="6"/>
            <a:endCxn id="100" idx="3"/>
          </p:cNvCxnSpPr>
          <p:nvPr/>
        </p:nvCxnSpPr>
        <p:spPr bwMode="gray">
          <a:xfrm flipV="1">
            <a:off x="4688935" y="3556718"/>
            <a:ext cx="793886" cy="364320"/>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AutoShape 67"/>
          <p:cNvCxnSpPr>
            <a:cxnSpLocks noChangeShapeType="1"/>
            <a:stCxn id="93" idx="6"/>
            <a:endCxn id="102" idx="3"/>
          </p:cNvCxnSpPr>
          <p:nvPr/>
        </p:nvCxnSpPr>
        <p:spPr bwMode="gray">
          <a:xfrm flipV="1">
            <a:off x="4688935" y="3556718"/>
            <a:ext cx="1519295" cy="364320"/>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AutoShape 67"/>
          <p:cNvCxnSpPr>
            <a:cxnSpLocks noChangeShapeType="1"/>
            <a:stCxn id="123" idx="4"/>
            <a:endCxn id="130" idx="2"/>
          </p:cNvCxnSpPr>
          <p:nvPr/>
        </p:nvCxnSpPr>
        <p:spPr bwMode="gray">
          <a:xfrm rot="16200000" flipH="1">
            <a:off x="3633713" y="4621041"/>
            <a:ext cx="363068" cy="693405"/>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AutoShape 67"/>
          <p:cNvCxnSpPr>
            <a:cxnSpLocks noChangeShapeType="1"/>
            <a:stCxn id="123" idx="4"/>
            <a:endCxn id="126" idx="2"/>
          </p:cNvCxnSpPr>
          <p:nvPr/>
        </p:nvCxnSpPr>
        <p:spPr bwMode="gray">
          <a:xfrm rot="16200000" flipH="1">
            <a:off x="3356561" y="4898193"/>
            <a:ext cx="911159" cy="687191"/>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 name="AutoShape 86"/>
          <p:cNvSpPr>
            <a:spLocks noChangeArrowheads="1"/>
          </p:cNvSpPr>
          <p:nvPr/>
        </p:nvSpPr>
        <p:spPr bwMode="auto">
          <a:xfrm>
            <a:off x="6501497" y="4366162"/>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ea typeface="+mn-ea"/>
              </a:rPr>
              <a:t>비활성재고 등록</a:t>
            </a:r>
            <a:endParaRPr lang="en-US" altLang="ko-KR" sz="600" b="1" dirty="0" smtClean="0">
              <a:latin typeface="+mn-ea"/>
              <a:ea typeface="+mn-ea"/>
            </a:endParaRPr>
          </a:p>
          <a:p>
            <a:pPr algn="ctr"/>
            <a:r>
              <a:rPr lang="en-US" altLang="ko-KR" sz="600" b="1" dirty="0" smtClean="0">
                <a:latin typeface="+mn-ea"/>
                <a:ea typeface="+mn-ea"/>
              </a:rPr>
              <a:t>EC.WH_STOCK_DEACT@EDW_EC</a:t>
            </a:r>
            <a:endParaRPr lang="ko-KR" altLang="en-US" sz="600" b="1" dirty="0">
              <a:latin typeface="+mn-ea"/>
              <a:ea typeface="+mn-ea"/>
            </a:endParaRPr>
          </a:p>
        </p:txBody>
      </p:sp>
      <p:cxnSp>
        <p:nvCxnSpPr>
          <p:cNvPr id="113" name="AutoShape 67"/>
          <p:cNvCxnSpPr>
            <a:cxnSpLocks noChangeShapeType="1"/>
            <a:stCxn id="123" idx="6"/>
            <a:endCxn id="135" idx="1"/>
          </p:cNvCxnSpPr>
          <p:nvPr/>
        </p:nvCxnSpPr>
        <p:spPr bwMode="gray">
          <a:xfrm flipV="1">
            <a:off x="3782870" y="4607177"/>
            <a:ext cx="673395" cy="2821"/>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AutoShape 67"/>
          <p:cNvCxnSpPr>
            <a:cxnSpLocks noChangeShapeType="1"/>
            <a:stCxn id="135" idx="3"/>
            <a:endCxn id="112" idx="2"/>
          </p:cNvCxnSpPr>
          <p:nvPr/>
        </p:nvCxnSpPr>
        <p:spPr bwMode="gray">
          <a:xfrm>
            <a:off x="5781828" y="4607177"/>
            <a:ext cx="719669" cy="2864"/>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AutoShape 67"/>
          <p:cNvCxnSpPr>
            <a:cxnSpLocks noChangeShapeType="1"/>
            <a:stCxn id="126" idx="4"/>
            <a:endCxn id="140" idx="2"/>
          </p:cNvCxnSpPr>
          <p:nvPr/>
        </p:nvCxnSpPr>
        <p:spPr bwMode="gray">
          <a:xfrm flipV="1">
            <a:off x="4722474" y="5697368"/>
            <a:ext cx="1091525" cy="1"/>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Text Box 121"/>
          <p:cNvSpPr txBox="1">
            <a:spLocks noChangeArrowheads="1"/>
          </p:cNvSpPr>
          <p:nvPr/>
        </p:nvSpPr>
        <p:spPr bwMode="gray">
          <a:xfrm>
            <a:off x="4817985" y="5217585"/>
            <a:ext cx="1041019" cy="461665"/>
          </a:xfrm>
          <a:prstGeom prst="rect">
            <a:avLst/>
          </a:prstGeom>
          <a:noFill/>
          <a:ln>
            <a:noFill/>
          </a:ln>
          <a:effectLst/>
        </p:spPr>
        <p:txBody>
          <a:bodyPr wrap="square">
            <a:spAutoFit/>
          </a:bodyPr>
          <a:lstStyle/>
          <a:p>
            <a:r>
              <a:rPr lang="en-US" altLang="ko-KR" sz="800" dirty="0" smtClean="0">
                <a:latin typeface="+mn-ea"/>
                <a:ea typeface="+mn-ea"/>
              </a:rPr>
              <a:t>RET_DELV_QTY</a:t>
            </a:r>
          </a:p>
          <a:p>
            <a:r>
              <a:rPr lang="en-US" altLang="ko-KR" sz="800" dirty="0" smtClean="0">
                <a:latin typeface="+mn-ea"/>
                <a:ea typeface="+mn-ea"/>
              </a:rPr>
              <a:t>NMAL_DELV_QTY</a:t>
            </a:r>
          </a:p>
          <a:p>
            <a:r>
              <a:rPr lang="en-US" altLang="ko-KR" sz="800" dirty="0" smtClean="0">
                <a:latin typeface="+mn-ea"/>
                <a:ea typeface="+mn-ea"/>
              </a:rPr>
              <a:t>STOCK_QTY </a:t>
            </a:r>
            <a:r>
              <a:rPr lang="ko-KR" altLang="en-US" sz="800" dirty="0" smtClean="0">
                <a:latin typeface="+mn-ea"/>
                <a:ea typeface="+mn-ea"/>
              </a:rPr>
              <a:t>갱신</a:t>
            </a:r>
            <a:endParaRPr lang="en-US" altLang="ko-KR" sz="800" dirty="0" smtClean="0">
              <a:latin typeface="+mn-ea"/>
              <a:ea typeface="+mn-ea"/>
            </a:endParaRPr>
          </a:p>
        </p:txBody>
      </p:sp>
      <p:sp>
        <p:nvSpPr>
          <p:cNvPr id="61" name="AutoShape 73"/>
          <p:cNvSpPr>
            <a:spLocks noChangeArrowheads="1"/>
          </p:cNvSpPr>
          <p:nvPr/>
        </p:nvSpPr>
        <p:spPr bwMode="auto">
          <a:xfrm>
            <a:off x="1217585" y="4394498"/>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en-US" altLang="ko-KR" sz="800" dirty="0" smtClean="0">
                <a:latin typeface="+mn-ea"/>
                <a:ea typeface="+mn-ea"/>
              </a:rPr>
              <a:t>SALE</a:t>
            </a: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cxnSp>
        <p:nvCxnSpPr>
          <p:cNvPr id="62" name="AutoShape 67"/>
          <p:cNvCxnSpPr>
            <a:cxnSpLocks noChangeShapeType="1"/>
            <a:stCxn id="63" idx="2"/>
            <a:endCxn id="61" idx="0"/>
          </p:cNvCxnSpPr>
          <p:nvPr/>
        </p:nvCxnSpPr>
        <p:spPr bwMode="gray">
          <a:xfrm rot="5400000">
            <a:off x="2122454" y="3815032"/>
            <a:ext cx="235971" cy="922960"/>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Text Box 82"/>
          <p:cNvSpPr txBox="1">
            <a:spLocks noChangeArrowheads="1"/>
          </p:cNvSpPr>
          <p:nvPr/>
        </p:nvSpPr>
        <p:spPr bwMode="gray">
          <a:xfrm>
            <a:off x="2666337" y="4100048"/>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66" name="Oval 108"/>
          <p:cNvSpPr>
            <a:spLocks noChangeArrowheads="1"/>
          </p:cNvSpPr>
          <p:nvPr/>
        </p:nvSpPr>
        <p:spPr bwMode="gray">
          <a:xfrm>
            <a:off x="2072680" y="5252899"/>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kern="0" dirty="0" smtClean="0">
                <a:solidFill>
                  <a:srgbClr val="000000"/>
                </a:solidFill>
                <a:latin typeface="+mn-ea"/>
                <a:ea typeface="+mn-ea"/>
              </a:rPr>
              <a:t>출고반품</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67" name="Oval 108"/>
          <p:cNvSpPr>
            <a:spLocks noChangeArrowheads="1"/>
          </p:cNvSpPr>
          <p:nvPr/>
        </p:nvSpPr>
        <p:spPr bwMode="gray">
          <a:xfrm>
            <a:off x="2054850" y="5734846"/>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kern="0" dirty="0" smtClean="0">
                <a:solidFill>
                  <a:srgbClr val="000000"/>
                </a:solidFill>
                <a:latin typeface="+mn-ea"/>
                <a:ea typeface="+mn-ea"/>
              </a:rPr>
              <a:t>판매</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cxnSp>
        <p:nvCxnSpPr>
          <p:cNvPr id="70" name="AutoShape 67"/>
          <p:cNvCxnSpPr>
            <a:cxnSpLocks noChangeShapeType="1"/>
            <a:stCxn id="61" idx="2"/>
            <a:endCxn id="66" idx="2"/>
          </p:cNvCxnSpPr>
          <p:nvPr/>
        </p:nvCxnSpPr>
        <p:spPr bwMode="gray">
          <a:xfrm rot="16200000" flipH="1">
            <a:off x="1645843" y="5002275"/>
            <a:ext cx="559952" cy="293721"/>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AutoShape 67"/>
          <p:cNvCxnSpPr>
            <a:cxnSpLocks noChangeShapeType="1"/>
            <a:stCxn id="61" idx="2"/>
            <a:endCxn id="67" idx="2"/>
          </p:cNvCxnSpPr>
          <p:nvPr/>
        </p:nvCxnSpPr>
        <p:spPr bwMode="gray">
          <a:xfrm rot="16200000" flipH="1">
            <a:off x="1395955" y="5252163"/>
            <a:ext cx="1041899" cy="275891"/>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Rectangle 49"/>
          <p:cNvSpPr>
            <a:spLocks noChangeArrowheads="1"/>
          </p:cNvSpPr>
          <p:nvPr/>
        </p:nvSpPr>
        <p:spPr bwMode="gray">
          <a:xfrm>
            <a:off x="4599298" y="6044926"/>
            <a:ext cx="1325563"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출고반품</a:t>
            </a:r>
            <a:endParaRPr lang="en-US" altLang="ko-KR" sz="800" b="1" dirty="0" smtClean="0">
              <a:latin typeface="+mn-ea"/>
              <a:ea typeface="+mn-ea"/>
            </a:endParaRPr>
          </a:p>
          <a:p>
            <a:pPr algn="ctr"/>
            <a:r>
              <a:rPr lang="ko-KR" altLang="en-US" sz="800" b="1" dirty="0" smtClean="0">
                <a:latin typeface="+mn-ea"/>
                <a:ea typeface="+mn-ea"/>
              </a:rPr>
              <a:t>판매수불</a:t>
            </a:r>
            <a:r>
              <a:rPr lang="en-US" altLang="ko-KR" sz="800" b="1" dirty="0" smtClean="0">
                <a:latin typeface="+mn-ea"/>
                <a:ea typeface="+mn-ea"/>
              </a:rPr>
              <a:t>ID</a:t>
            </a:r>
            <a:r>
              <a:rPr lang="ko-KR" altLang="en-US" sz="800" b="1" dirty="0" smtClean="0">
                <a:latin typeface="+mn-ea"/>
                <a:ea typeface="+mn-ea"/>
              </a:rPr>
              <a:t>갱신</a:t>
            </a:r>
            <a:endParaRPr lang="ko-KR" altLang="en-US" sz="800" b="1" dirty="0">
              <a:latin typeface="+mn-ea"/>
              <a:ea typeface="+mn-ea"/>
            </a:endParaRPr>
          </a:p>
        </p:txBody>
      </p:sp>
      <p:cxnSp>
        <p:nvCxnSpPr>
          <p:cNvPr id="85" name="AutoShape 67"/>
          <p:cNvCxnSpPr>
            <a:cxnSpLocks noChangeShapeType="1"/>
            <a:stCxn id="61" idx="2"/>
            <a:endCxn id="123" idx="2"/>
          </p:cNvCxnSpPr>
          <p:nvPr/>
        </p:nvCxnSpPr>
        <p:spPr bwMode="gray">
          <a:xfrm rot="5400000" flipH="1" flipV="1">
            <a:off x="2337008" y="4051948"/>
            <a:ext cx="259162" cy="1375261"/>
          </a:xfrm>
          <a:prstGeom prst="bentConnector4">
            <a:avLst>
              <a:gd name="adj1" fmla="val -88207"/>
              <a:gd name="adj2" fmla="val 7041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AutoShape 67"/>
          <p:cNvCxnSpPr>
            <a:cxnSpLocks noChangeShapeType="1"/>
            <a:stCxn id="66" idx="6"/>
            <a:endCxn id="81" idx="1"/>
          </p:cNvCxnSpPr>
          <p:nvPr/>
        </p:nvCxnSpPr>
        <p:spPr bwMode="gray">
          <a:xfrm>
            <a:off x="2701330" y="5429112"/>
            <a:ext cx="1897968" cy="786182"/>
          </a:xfrm>
          <a:prstGeom prst="bentConnector3">
            <a:avLst>
              <a:gd name="adj1" fmla="val 23639"/>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AutoShape 67"/>
          <p:cNvCxnSpPr>
            <a:cxnSpLocks noChangeShapeType="1"/>
            <a:stCxn id="67" idx="6"/>
            <a:endCxn id="81" idx="1"/>
          </p:cNvCxnSpPr>
          <p:nvPr/>
        </p:nvCxnSpPr>
        <p:spPr bwMode="gray">
          <a:xfrm>
            <a:off x="2683500" y="5911059"/>
            <a:ext cx="1915798" cy="304235"/>
          </a:xfrm>
          <a:prstGeom prst="bentConnector3">
            <a:avLst>
              <a:gd name="adj1" fmla="val 23884"/>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67"/>
          <p:cNvCxnSpPr>
            <a:cxnSpLocks noChangeShapeType="1"/>
            <a:stCxn id="81" idx="3"/>
            <a:endCxn id="112" idx="3"/>
          </p:cNvCxnSpPr>
          <p:nvPr/>
        </p:nvCxnSpPr>
        <p:spPr bwMode="gray">
          <a:xfrm flipV="1">
            <a:off x="5924861" y="4853920"/>
            <a:ext cx="860005" cy="1361374"/>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AutoShape 67"/>
          <p:cNvCxnSpPr>
            <a:cxnSpLocks noChangeShapeType="1"/>
            <a:stCxn id="66" idx="6"/>
            <a:endCxn id="126" idx="2"/>
          </p:cNvCxnSpPr>
          <p:nvPr/>
        </p:nvCxnSpPr>
        <p:spPr bwMode="gray">
          <a:xfrm>
            <a:off x="2701330" y="5429112"/>
            <a:ext cx="1454406" cy="268257"/>
          </a:xfrm>
          <a:prstGeom prst="bentConnector3">
            <a:avLst>
              <a:gd name="adj1" fmla="val 30427"/>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AutoShape 67"/>
          <p:cNvCxnSpPr>
            <a:cxnSpLocks noChangeShapeType="1"/>
            <a:stCxn id="66" idx="6"/>
            <a:endCxn id="130" idx="2"/>
          </p:cNvCxnSpPr>
          <p:nvPr/>
        </p:nvCxnSpPr>
        <p:spPr bwMode="gray">
          <a:xfrm flipV="1">
            <a:off x="2701330" y="5149278"/>
            <a:ext cx="1460620" cy="279834"/>
          </a:xfrm>
          <a:prstGeom prst="bentConnector3">
            <a:avLst>
              <a:gd name="adj1" fmla="val 3051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AutoShape 67"/>
          <p:cNvCxnSpPr>
            <a:cxnSpLocks noChangeShapeType="1"/>
            <a:stCxn id="67" idx="6"/>
            <a:endCxn id="126" idx="2"/>
          </p:cNvCxnSpPr>
          <p:nvPr/>
        </p:nvCxnSpPr>
        <p:spPr bwMode="gray">
          <a:xfrm flipV="1">
            <a:off x="2683500" y="5697369"/>
            <a:ext cx="1472236" cy="213690"/>
          </a:xfrm>
          <a:prstGeom prst="bentConnector3">
            <a:avLst>
              <a:gd name="adj1" fmla="val 3125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AutoShape 67"/>
          <p:cNvCxnSpPr>
            <a:cxnSpLocks noChangeShapeType="1"/>
            <a:stCxn id="67" idx="4"/>
            <a:endCxn id="127" idx="3"/>
          </p:cNvCxnSpPr>
          <p:nvPr/>
        </p:nvCxnSpPr>
        <p:spPr bwMode="gray">
          <a:xfrm rot="5400000" flipH="1">
            <a:off x="1585641" y="5303737"/>
            <a:ext cx="92986" cy="1474082"/>
          </a:xfrm>
          <a:prstGeom prst="bentConnector3">
            <a:avLst>
              <a:gd name="adj1" fmla="val -245843"/>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Text Box 82"/>
          <p:cNvSpPr txBox="1">
            <a:spLocks noChangeArrowheads="1"/>
          </p:cNvSpPr>
          <p:nvPr/>
        </p:nvSpPr>
        <p:spPr bwMode="gray">
          <a:xfrm>
            <a:off x="1737135" y="4830987"/>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24" name="AutoShape 86"/>
          <p:cNvSpPr>
            <a:spLocks noChangeArrowheads="1"/>
          </p:cNvSpPr>
          <p:nvPr/>
        </p:nvSpPr>
        <p:spPr bwMode="auto">
          <a:xfrm>
            <a:off x="650847" y="477915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출고</a:t>
            </a:r>
            <a:r>
              <a:rPr lang="en-US" altLang="ko-KR" sz="600" b="1" dirty="0" smtClean="0">
                <a:latin typeface="+mn-ea"/>
                <a:ea typeface="+mn-ea"/>
              </a:rPr>
              <a:t>/</a:t>
            </a:r>
            <a:r>
              <a:rPr lang="ko-KR" altLang="en-US" sz="600" b="1" dirty="0" smtClean="0">
                <a:latin typeface="+mn-ea"/>
                <a:ea typeface="+mn-ea"/>
              </a:rPr>
              <a:t>판매점관리</a:t>
            </a:r>
            <a:endParaRPr lang="en-US" altLang="ko-KR" sz="600" b="1" dirty="0" smtClean="0">
              <a:latin typeface="+mn-ea"/>
              <a:ea typeface="+mn-ea"/>
            </a:endParaRPr>
          </a:p>
          <a:p>
            <a:pPr algn="ctr"/>
            <a:r>
              <a:rPr lang="en-US" altLang="ko-KR" sz="600" b="1" dirty="0" smtClean="0">
                <a:latin typeface="+mn-ea"/>
                <a:ea typeface="+mn-ea"/>
              </a:rPr>
              <a:t>OM_SHOP_MALL@EDW_EC</a:t>
            </a:r>
            <a:endParaRPr lang="ko-KR" altLang="en-US" sz="600" b="1" dirty="0">
              <a:latin typeface="+mn-ea"/>
              <a:ea typeface="+mn-ea"/>
            </a:endParaRPr>
          </a:p>
        </p:txBody>
      </p:sp>
      <p:cxnSp>
        <p:nvCxnSpPr>
          <p:cNvPr id="128" name="AutoShape 67"/>
          <p:cNvCxnSpPr>
            <a:cxnSpLocks noChangeShapeType="1"/>
            <a:stCxn id="124" idx="4"/>
          </p:cNvCxnSpPr>
          <p:nvPr/>
        </p:nvCxnSpPr>
        <p:spPr bwMode="gray">
          <a:xfrm>
            <a:off x="1217585" y="5023029"/>
            <a:ext cx="567891"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 name="Text Box 121"/>
          <p:cNvSpPr txBox="1">
            <a:spLocks noChangeArrowheads="1"/>
          </p:cNvSpPr>
          <p:nvPr/>
        </p:nvSpPr>
        <p:spPr bwMode="gray">
          <a:xfrm>
            <a:off x="1289324" y="5450756"/>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pPr algn="ctr"/>
            <a:r>
              <a:rPr lang="en-US" altLang="ko-KR" sz="800" dirty="0" smtClean="0">
                <a:latin typeface="+mn-ea"/>
                <a:ea typeface="+mn-ea"/>
              </a:rPr>
              <a:t>SHOP_RNDS_IDREG_NO</a:t>
            </a:r>
          </a:p>
        </p:txBody>
      </p:sp>
      <p:sp>
        <p:nvSpPr>
          <p:cNvPr id="138" name="TextBox 94"/>
          <p:cNvSpPr txBox="1">
            <a:spLocks noChangeArrowheads="1"/>
          </p:cNvSpPr>
          <p:nvPr/>
        </p:nvSpPr>
        <p:spPr bwMode="auto">
          <a:xfrm>
            <a:off x="4708269" y="3930417"/>
            <a:ext cx="1182905"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dirty="0" smtClean="0">
                <a:latin typeface="+mn-ea"/>
                <a:ea typeface="+mn-ea"/>
              </a:rPr>
              <a:t>OS </a:t>
            </a:r>
            <a:r>
              <a:rPr lang="ko-KR" altLang="en-US" sz="800" dirty="0" smtClean="0">
                <a:latin typeface="+mn-ea"/>
                <a:ea typeface="+mn-ea"/>
              </a:rPr>
              <a:t>창고 자가소모</a:t>
            </a:r>
            <a:endParaRPr lang="ko-KR" altLang="en-US" sz="800" dirty="0">
              <a:latin typeface="+mn-ea"/>
              <a:ea typeface="+mn-ea"/>
            </a:endParaRPr>
          </a:p>
        </p:txBody>
      </p:sp>
    </p:spTree>
    <p:extLst>
      <p:ext uri="{BB962C8B-B14F-4D97-AF65-F5344CB8AC3E}">
        <p14:creationId xmlns:p14="http://schemas.microsoft.com/office/powerpoint/2010/main" val="12948542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제목 10"/>
          <p:cNvSpPr>
            <a:spLocks noGrp="1"/>
          </p:cNvSpPr>
          <p:nvPr>
            <p:ph type="title"/>
          </p:nvPr>
        </p:nvSpPr>
        <p:spPr/>
        <p:txBody>
          <a:bodyPr/>
          <a:lstStyle/>
          <a:p>
            <a:r>
              <a:rPr lang="en-US" altLang="ko-KR" dirty="0">
                <a:latin typeface="+mn-ea"/>
                <a:ea typeface="+mn-ea"/>
              </a:rPr>
              <a:t>7</a:t>
            </a:r>
            <a:r>
              <a:rPr lang="en-US" altLang="ko-KR" dirty="0" smtClean="0">
                <a:latin typeface="+mn-ea"/>
                <a:ea typeface="+mn-ea"/>
              </a:rPr>
              <a:t>. </a:t>
            </a:r>
            <a:r>
              <a:rPr lang="en-US" altLang="ko-KR" dirty="0" smtClean="0">
                <a:latin typeface="+mn-ea"/>
                <a:ea typeface="+mn-ea"/>
              </a:rPr>
              <a:t>LOSS</a:t>
            </a:r>
            <a:r>
              <a:rPr lang="ko-KR" altLang="en-US" dirty="0" smtClean="0">
                <a:latin typeface="+mn-ea"/>
                <a:ea typeface="+mn-ea"/>
              </a:rPr>
              <a:t> 처리</a:t>
            </a:r>
            <a:endParaRPr lang="ko-KR" altLang="en-US" sz="1400" dirty="0">
              <a:latin typeface="+mn-ea"/>
              <a:ea typeface="+mn-ea"/>
            </a:endParaRPr>
          </a:p>
        </p:txBody>
      </p:sp>
      <p:sp>
        <p:nvSpPr>
          <p:cNvPr id="42" name="TextBox 39"/>
          <p:cNvSpPr txBox="1">
            <a:spLocks noChangeArrowheads="1"/>
          </p:cNvSpPr>
          <p:nvPr/>
        </p:nvSpPr>
        <p:spPr bwMode="auto">
          <a:xfrm>
            <a:off x="218855" y="738114"/>
            <a:ext cx="9594685" cy="304699"/>
          </a:xfrm>
          <a:prstGeom prst="rect">
            <a:avLst/>
          </a:prstGeom>
          <a:noFill/>
          <a:ln w="9525">
            <a:noFill/>
            <a:miter lim="800000"/>
            <a:headEnd/>
            <a:tailEnd/>
          </a:ln>
        </p:spPr>
        <p:txBody>
          <a:bodyPr wrap="square" tIns="0">
            <a:spAutoFit/>
          </a:bodyPr>
          <a:lstStyle/>
          <a:p>
            <a:pPr algn="just" eaLnBrk="0" latinLnBrk="0" hangingPunct="0">
              <a:lnSpc>
                <a:spcPct val="140000"/>
              </a:lnSpc>
              <a:buClr>
                <a:schemeClr val="tx2"/>
              </a:buClr>
              <a:buSzPct val="75000"/>
              <a:buFontTx/>
              <a:buChar char="•"/>
              <a:defRPr/>
            </a:pPr>
            <a:r>
              <a:rPr kumimoji="0" lang="ko-KR" altLang="en-US" sz="1200" b="1" dirty="0">
                <a:latin typeface="+mn-ea"/>
                <a:ea typeface="+mn-ea"/>
              </a:rPr>
              <a:t> </a:t>
            </a:r>
            <a:r>
              <a:rPr kumimoji="0" lang="en-US" altLang="ko-KR" sz="1200" b="1" dirty="0" smtClean="0">
                <a:latin typeface="+mn-ea"/>
                <a:ea typeface="+mn-ea"/>
              </a:rPr>
              <a:t>BO</a:t>
            </a:r>
            <a:r>
              <a:rPr kumimoji="0" lang="ko-KR" altLang="en-US" sz="1200" b="1" dirty="0" smtClean="0">
                <a:latin typeface="+mn-ea"/>
                <a:ea typeface="+mn-ea"/>
              </a:rPr>
              <a:t>연동 비활성화 </a:t>
            </a:r>
            <a:r>
              <a:rPr kumimoji="0" lang="en-US" altLang="ko-KR" sz="1200" b="1" dirty="0" smtClean="0">
                <a:latin typeface="+mn-ea"/>
                <a:ea typeface="+mn-ea"/>
              </a:rPr>
              <a:t>LOSS </a:t>
            </a:r>
            <a:r>
              <a:rPr kumimoji="0" lang="ko-KR" altLang="en-US" sz="1200" b="1" dirty="0" smtClean="0">
                <a:latin typeface="+mn-ea"/>
                <a:ea typeface="+mn-ea"/>
              </a:rPr>
              <a:t>재고 </a:t>
            </a:r>
            <a:r>
              <a:rPr kumimoji="0" lang="ko-KR" altLang="en-US" sz="1200" b="1" dirty="0" smtClean="0">
                <a:latin typeface="+mn-ea"/>
                <a:ea typeface="+mn-ea"/>
              </a:rPr>
              <a:t>처리</a:t>
            </a:r>
            <a:r>
              <a:rPr kumimoji="0" lang="en-US" altLang="ko-KR" sz="1200" b="1" dirty="0" smtClean="0">
                <a:latin typeface="+mn-ea"/>
                <a:ea typeface="+mn-ea"/>
              </a:rPr>
              <a:t>.</a:t>
            </a:r>
            <a:r>
              <a:rPr kumimoji="0" lang="ko-KR" altLang="en-US" sz="1200" b="1" dirty="0" smtClean="0">
                <a:latin typeface="+mn-ea"/>
                <a:ea typeface="+mn-ea"/>
              </a:rPr>
              <a:t> </a:t>
            </a:r>
            <a:endParaRPr kumimoji="0" lang="en-US" altLang="ko-KR" sz="1200" b="1" dirty="0">
              <a:latin typeface="+mn-ea"/>
              <a:ea typeface="+mn-ea"/>
            </a:endParaRPr>
          </a:p>
        </p:txBody>
      </p:sp>
      <p:grpSp>
        <p:nvGrpSpPr>
          <p:cNvPr id="322" name="Group 119"/>
          <p:cNvGrpSpPr>
            <a:grpSpLocks/>
          </p:cNvGrpSpPr>
          <p:nvPr/>
        </p:nvGrpSpPr>
        <p:grpSpPr bwMode="auto">
          <a:xfrm>
            <a:off x="218855" y="1268760"/>
            <a:ext cx="9504675" cy="5220580"/>
            <a:chOff x="84" y="870"/>
            <a:chExt cx="6060" cy="3108"/>
          </a:xfrm>
        </p:grpSpPr>
        <p:sp>
          <p:nvSpPr>
            <p:cNvPr id="323" name="Rectangle 120"/>
            <p:cNvSpPr>
              <a:spLocks noChangeArrowheads="1"/>
            </p:cNvSpPr>
            <p:nvPr/>
          </p:nvSpPr>
          <p:spPr bwMode="gray">
            <a:xfrm>
              <a:off x="84" y="870"/>
              <a:ext cx="4626" cy="31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mn-ea"/>
                <a:ea typeface="+mn-ea"/>
              </a:endParaRPr>
            </a:p>
          </p:txBody>
        </p:sp>
        <p:sp>
          <p:nvSpPr>
            <p:cNvPr id="324" name="Rectangle 121"/>
            <p:cNvSpPr>
              <a:spLocks noChangeArrowheads="1"/>
            </p:cNvSpPr>
            <p:nvPr/>
          </p:nvSpPr>
          <p:spPr bwMode="gray">
            <a:xfrm>
              <a:off x="4704" y="870"/>
              <a:ext cx="1440" cy="3108"/>
            </a:xfrm>
            <a:prstGeom prst="rect">
              <a:avLst/>
            </a:prstGeom>
            <a:no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latinLnBrk="0" hangingPunct="0">
                <a:lnSpc>
                  <a:spcPct val="140000"/>
                </a:lnSpc>
                <a:buClr>
                  <a:schemeClr val="tx2"/>
                </a:buClr>
                <a:buSzPct val="75000"/>
                <a:buFont typeface="Wingdings" panose="05000000000000000000" pitchFamily="2" charset="2"/>
                <a:buChar char="u"/>
              </a:pPr>
              <a:r>
                <a:rPr kumimoji="0" lang="en-US" altLang="ko-KR" sz="900" b="1" dirty="0" smtClean="0">
                  <a:latin typeface="+mn-ea"/>
                  <a:ea typeface="+mn-ea"/>
                </a:rPr>
                <a:t> </a:t>
              </a:r>
              <a:r>
                <a:rPr kumimoji="0" lang="ko-KR" altLang="en-US" sz="900" b="1" dirty="0">
                  <a:latin typeface="+mn-ea"/>
                  <a:ea typeface="+mn-ea"/>
                </a:rPr>
                <a:t>정의</a:t>
              </a:r>
            </a:p>
            <a:p>
              <a:pPr eaLnBrk="0" latinLnBrk="0" hangingPunct="0">
                <a:lnSpc>
                  <a:spcPct val="140000"/>
                </a:lnSpc>
                <a:buClr>
                  <a:schemeClr val="tx2"/>
                </a:buClr>
                <a:buSzPct val="75000"/>
              </a:pPr>
              <a:endParaRPr kumimoji="0" lang="ko-KR" altLang="en-US" sz="900" b="1" dirty="0" smtClean="0">
                <a:solidFill>
                  <a:srgbClr val="FF0000"/>
                </a:solidFill>
                <a:latin typeface="+mn-ea"/>
                <a:ea typeface="+mn-ea"/>
              </a:endParaRPr>
            </a:p>
            <a:p>
              <a:pPr marL="85725" indent="-85725" eaLnBrk="0" latinLnBrk="0" hangingPunct="0">
                <a:lnSpc>
                  <a:spcPct val="140000"/>
                </a:lnSpc>
                <a:buClr>
                  <a:schemeClr val="tx2"/>
                </a:buClr>
                <a:buSzPct val="75000"/>
                <a:buFont typeface="Wingdings" panose="05000000000000000000" pitchFamily="2" charset="2"/>
                <a:buChar char="u"/>
              </a:pPr>
              <a:r>
                <a:rPr kumimoji="0" lang="ko-KR" altLang="en-US" sz="900" b="1" dirty="0" smtClean="0">
                  <a:latin typeface="+mn-ea"/>
                  <a:ea typeface="+mn-ea"/>
                </a:rPr>
                <a:t> 선행 프로세스</a:t>
              </a:r>
            </a:p>
            <a:p>
              <a:pPr eaLnBrk="0" latinLnBrk="0" hangingPunct="0">
                <a:lnSpc>
                  <a:spcPct val="140000"/>
                </a:lnSpc>
                <a:buClr>
                  <a:schemeClr val="tx2"/>
                </a:buClr>
                <a:buSzPct val="75000"/>
              </a:pPr>
              <a:r>
                <a:rPr kumimoji="0" lang="en-US" altLang="ko-KR" sz="900" dirty="0" smtClean="0">
                  <a:latin typeface="+mn-ea"/>
                  <a:ea typeface="+mn-ea"/>
                </a:rPr>
                <a:t>1</a:t>
              </a:r>
              <a:r>
                <a:rPr kumimoji="0" lang="en-US" altLang="ko-KR" sz="900" dirty="0" smtClean="0">
                  <a:latin typeface="+mn-ea"/>
                  <a:ea typeface="+mn-ea"/>
                </a:rPr>
                <a:t>. </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smtClean="0">
                  <a:latin typeface="+mn-ea"/>
                  <a:ea typeface="+mn-ea"/>
                </a:rPr>
                <a:t>2. </a:t>
              </a:r>
              <a:endParaRPr kumimoji="0" lang="en-US" altLang="ko-KR" sz="900" dirty="0" smtClean="0">
                <a:latin typeface="+mn-ea"/>
                <a:ea typeface="+mn-ea"/>
                <a:sym typeface="Wingdings" panose="05000000000000000000" pitchFamily="2" charset="2"/>
              </a:endParaRPr>
            </a:p>
            <a:p>
              <a:pPr eaLnBrk="0" latinLnBrk="0" hangingPunct="0">
                <a:lnSpc>
                  <a:spcPct val="140000"/>
                </a:lnSpc>
                <a:buClr>
                  <a:schemeClr val="tx2"/>
                </a:buClr>
                <a:buSzPct val="75000"/>
              </a:pPr>
              <a:r>
                <a:rPr kumimoji="0" lang="en-US" altLang="ko-KR" sz="900" dirty="0">
                  <a:latin typeface="+mn-ea"/>
                  <a:ea typeface="+mn-ea"/>
                  <a:sym typeface="Wingdings" panose="05000000000000000000" pitchFamily="2" charset="2"/>
                </a:rPr>
                <a:t> </a:t>
              </a:r>
              <a:r>
                <a:rPr kumimoji="0" lang="en-US" altLang="ko-KR" sz="900" dirty="0" smtClean="0">
                  <a:latin typeface="+mn-ea"/>
                  <a:ea typeface="+mn-ea"/>
                  <a:sym typeface="Wingdings" panose="05000000000000000000" pitchFamily="2" charset="2"/>
                </a:rPr>
                <a:t>  </a:t>
              </a:r>
              <a:r>
                <a:rPr kumimoji="0" lang="ko-KR" altLang="en-US" sz="900" dirty="0" smtClean="0">
                  <a:latin typeface="+mn-ea"/>
                  <a:ea typeface="+mn-ea"/>
                </a:rPr>
                <a:t> </a:t>
              </a:r>
              <a:endParaRPr kumimoji="0" lang="ko-KR" altLang="en-US" sz="900" dirty="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a:latin typeface="+mn-ea"/>
                  <a:ea typeface="+mn-ea"/>
                </a:rPr>
                <a:t> </a:t>
              </a:r>
              <a:r>
                <a:rPr kumimoji="0" lang="ko-KR" altLang="en-US" sz="900" b="1" dirty="0">
                  <a:latin typeface="+mn-ea"/>
                  <a:ea typeface="+mn-ea"/>
                </a:rPr>
                <a:t>후행 프로세스</a:t>
              </a:r>
            </a:p>
            <a:p>
              <a:pPr eaLnBrk="0" latinLnBrk="0" hangingPunct="0">
                <a:lnSpc>
                  <a:spcPct val="140000"/>
                </a:lnSpc>
                <a:buClr>
                  <a:schemeClr val="tx2"/>
                </a:buClr>
                <a:buSzPct val="75000"/>
              </a:pPr>
              <a:r>
                <a:rPr kumimoji="0" lang="en-US" altLang="ko-KR" sz="900" dirty="0" smtClean="0">
                  <a:latin typeface="+mn-ea"/>
                  <a:ea typeface="+mn-ea"/>
                </a:rPr>
                <a:t>1. </a:t>
              </a:r>
              <a:endParaRPr kumimoji="0" lang="ko-KR" altLang="en-US" sz="900" dirty="0" smtClean="0">
                <a:latin typeface="+mn-ea"/>
                <a:ea typeface="+mn-ea"/>
              </a:endParaRPr>
            </a:p>
            <a:p>
              <a:pPr eaLnBrk="0" latinLnBrk="0" hangingPunct="0">
                <a:lnSpc>
                  <a:spcPct val="140000"/>
                </a:lnSpc>
                <a:buClr>
                  <a:schemeClr val="tx2"/>
                </a:buClr>
                <a:buSzPct val="75000"/>
                <a:buFont typeface="Wingdings" panose="05000000000000000000" pitchFamily="2" charset="2"/>
                <a:buChar char="u"/>
              </a:pPr>
              <a:r>
                <a:rPr kumimoji="0" lang="ko-KR" altLang="en-US" sz="900" dirty="0" smtClean="0">
                  <a:latin typeface="+mn-ea"/>
                  <a:ea typeface="+mn-ea"/>
                </a:rPr>
                <a:t> </a:t>
              </a:r>
              <a:r>
                <a:rPr kumimoji="0" lang="ko-KR" altLang="en-US" sz="900" b="1" dirty="0" smtClean="0">
                  <a:latin typeface="+mn-ea"/>
                  <a:ea typeface="+mn-ea"/>
                </a:rPr>
                <a:t>비즈니스 업무정책</a:t>
              </a:r>
            </a:p>
            <a:p>
              <a:pPr eaLnBrk="0" latinLnBrk="0" hangingPunct="0">
                <a:lnSpc>
                  <a:spcPct val="140000"/>
                </a:lnSpc>
                <a:buClr>
                  <a:schemeClr val="tx2"/>
                </a:buClr>
                <a:buSzPct val="75000"/>
              </a:pPr>
              <a:r>
                <a:rPr kumimoji="0" lang="en-US" altLang="ko-KR" sz="900" dirty="0" smtClean="0">
                  <a:latin typeface="+mn-ea"/>
                  <a:ea typeface="+mn-ea"/>
                </a:rPr>
                <a:t>1. </a:t>
              </a:r>
              <a:r>
                <a:rPr kumimoji="0" lang="ko-KR" altLang="en-US" sz="900" dirty="0">
                  <a:latin typeface="+mn-ea"/>
                  <a:ea typeface="+mn-ea"/>
                </a:rPr>
                <a:t>비활성 재고 사유에 따라 </a:t>
              </a:r>
              <a:r>
                <a:rPr kumimoji="0" lang="en-US" altLang="ko-KR" sz="900" dirty="0">
                  <a:latin typeface="+mn-ea"/>
                  <a:ea typeface="+mn-ea"/>
                </a:rPr>
                <a:t>SALE/LOSS</a:t>
              </a:r>
            </a:p>
            <a:p>
              <a:pPr eaLnBrk="0" latinLnBrk="0" hangingPunct="0">
                <a:lnSpc>
                  <a:spcPct val="140000"/>
                </a:lnSpc>
                <a:buClr>
                  <a:schemeClr val="tx2"/>
                </a:buClr>
                <a:buSzPct val="75000"/>
              </a:pPr>
              <a:r>
                <a:rPr kumimoji="0" lang="en-US" altLang="ko-KR" sz="900" dirty="0">
                  <a:latin typeface="+mn-ea"/>
                  <a:ea typeface="+mn-ea"/>
                </a:rPr>
                <a:t>   2</a:t>
              </a:r>
              <a:r>
                <a:rPr kumimoji="0" lang="ko-KR" altLang="en-US" sz="900" dirty="0">
                  <a:latin typeface="+mn-ea"/>
                  <a:ea typeface="+mn-ea"/>
                </a:rPr>
                <a:t>가지 케이스로 처리</a:t>
              </a:r>
            </a:p>
            <a:p>
              <a:pPr algn="l" eaLnBrk="0" latinLnBrk="0" hangingPunct="0">
                <a:lnSpc>
                  <a:spcPct val="110000"/>
                </a:lnSpc>
                <a:buClr>
                  <a:schemeClr val="tx2"/>
                </a:buClr>
                <a:buSzPct val="75000"/>
                <a:buFont typeface="Wingdings" panose="05000000000000000000" pitchFamily="2" charset="2"/>
                <a:buNone/>
              </a:pPr>
              <a:r>
                <a:rPr kumimoji="0" lang="en-US" altLang="ko-KR" sz="900" dirty="0" smtClean="0">
                  <a:latin typeface="+mn-ea"/>
                  <a:ea typeface="+mn-ea"/>
                </a:rPr>
                <a:t> </a:t>
              </a:r>
              <a:endParaRPr kumimoji="0" lang="en-US" altLang="ko-KR" sz="900" dirty="0">
                <a:latin typeface="+mn-ea"/>
                <a:ea typeface="+mn-ea"/>
              </a:endParaRPr>
            </a:p>
          </p:txBody>
        </p:sp>
      </p:grpSp>
      <p:sp>
        <p:nvSpPr>
          <p:cNvPr id="82" name="Line 50"/>
          <p:cNvSpPr>
            <a:spLocks noChangeShapeType="1"/>
          </p:cNvSpPr>
          <p:nvPr/>
        </p:nvSpPr>
        <p:spPr bwMode="gray">
          <a:xfrm>
            <a:off x="1543589" y="1709725"/>
            <a:ext cx="1468839" cy="0"/>
          </a:xfrm>
          <a:prstGeom prst="line">
            <a:avLst/>
          </a:prstGeom>
          <a:noFill/>
          <a:ln w="9525">
            <a:solidFill>
              <a:srgbClr val="C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sz="800">
              <a:latin typeface="+mn-ea"/>
              <a:ea typeface="+mn-ea"/>
            </a:endParaRPr>
          </a:p>
        </p:txBody>
      </p:sp>
      <p:sp>
        <p:nvSpPr>
          <p:cNvPr id="83" name="Rectangle 51"/>
          <p:cNvSpPr>
            <a:spLocks noChangeArrowheads="1"/>
          </p:cNvSpPr>
          <p:nvPr/>
        </p:nvSpPr>
        <p:spPr bwMode="gray">
          <a:xfrm>
            <a:off x="465897" y="1583450"/>
            <a:ext cx="1201738"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en-US" altLang="ko-KR" sz="800" b="1" i="1" dirty="0" smtClean="0">
                <a:latin typeface="+mn-ea"/>
                <a:ea typeface="+mn-ea"/>
              </a:rPr>
              <a:t>LOSS </a:t>
            </a:r>
            <a:r>
              <a:rPr lang="ko-KR" altLang="en-US" sz="800" b="1" i="1" dirty="0" smtClean="0">
                <a:latin typeface="+mn-ea"/>
                <a:ea typeface="+mn-ea"/>
              </a:rPr>
              <a:t>처리</a:t>
            </a:r>
            <a:endParaRPr lang="ko-KR" altLang="en-US" sz="800" b="1" i="1" dirty="0">
              <a:latin typeface="+mn-ea"/>
              <a:ea typeface="+mn-ea"/>
            </a:endParaRPr>
          </a:p>
        </p:txBody>
      </p:sp>
      <p:sp>
        <p:nvSpPr>
          <p:cNvPr id="84" name="AutoShape 79"/>
          <p:cNvSpPr>
            <a:spLocks noChangeArrowheads="1"/>
          </p:cNvSpPr>
          <p:nvPr/>
        </p:nvSpPr>
        <p:spPr bwMode="auto">
          <a:xfrm>
            <a:off x="2199665" y="1539069"/>
            <a:ext cx="996950" cy="341312"/>
          </a:xfrm>
          <a:prstGeom prst="flowChartTerminator">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800" dirty="0" smtClean="0">
                <a:latin typeface="+mn-ea"/>
                <a:ea typeface="+mn-ea"/>
              </a:rPr>
              <a:t>비활성재고</a:t>
            </a:r>
            <a:endParaRPr lang="en-US" altLang="ko-KR" sz="800" dirty="0" smtClean="0">
              <a:latin typeface="+mn-ea"/>
              <a:ea typeface="+mn-ea"/>
            </a:endParaRPr>
          </a:p>
          <a:p>
            <a:pPr algn="ctr"/>
            <a:r>
              <a:rPr lang="en-US" altLang="ko-KR" sz="800" dirty="0" smtClean="0">
                <a:latin typeface="+mn-ea"/>
                <a:ea typeface="+mn-ea"/>
              </a:rPr>
              <a:t>LOSS</a:t>
            </a:r>
            <a:r>
              <a:rPr lang="ko-KR" altLang="en-US" sz="800" dirty="0" smtClean="0">
                <a:latin typeface="+mn-ea"/>
                <a:ea typeface="+mn-ea"/>
              </a:rPr>
              <a:t> 시작</a:t>
            </a:r>
            <a:endParaRPr lang="ko-KR" altLang="en-US" sz="800" dirty="0">
              <a:latin typeface="+mn-ea"/>
              <a:ea typeface="+mn-ea"/>
            </a:endParaRPr>
          </a:p>
        </p:txBody>
      </p:sp>
      <p:cxnSp>
        <p:nvCxnSpPr>
          <p:cNvPr id="86" name="AutoShape 67"/>
          <p:cNvCxnSpPr>
            <a:cxnSpLocks noChangeShapeType="1"/>
            <a:stCxn id="84" idx="2"/>
            <a:endCxn id="103" idx="0"/>
          </p:cNvCxnSpPr>
          <p:nvPr/>
        </p:nvCxnSpPr>
        <p:spPr bwMode="gray">
          <a:xfrm flipH="1">
            <a:off x="2694167" y="1880381"/>
            <a:ext cx="3973" cy="243474"/>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 name="TextBox 94"/>
          <p:cNvSpPr txBox="1">
            <a:spLocks noChangeArrowheads="1"/>
          </p:cNvSpPr>
          <p:nvPr/>
        </p:nvSpPr>
        <p:spPr bwMode="auto">
          <a:xfrm>
            <a:off x="1844522" y="2611849"/>
            <a:ext cx="432592" cy="215444"/>
          </a:xfrm>
          <a:prstGeom prst="rect">
            <a:avLst/>
          </a:prstGeom>
          <a:noFill/>
          <a:ln w="9525">
            <a:noFill/>
            <a:miter lim="800000"/>
            <a:headEnd/>
            <a:tailEnd/>
          </a:ln>
        </p:spPr>
        <p:txBody>
          <a:bodyPr wrap="square">
            <a:spAutoFit/>
          </a:bodyPr>
          <a:lstStyle/>
          <a:p>
            <a:pPr algn="ctr">
              <a:spcBef>
                <a:spcPct val="20000"/>
              </a:spcBef>
              <a:buClr>
                <a:srgbClr val="003366"/>
              </a:buClr>
            </a:pPr>
            <a:r>
              <a:rPr lang="ko-KR" altLang="en-US" sz="800" dirty="0" smtClean="0">
                <a:latin typeface="+mn-ea"/>
                <a:ea typeface="+mn-ea"/>
              </a:rPr>
              <a:t>조회</a:t>
            </a:r>
            <a:endParaRPr lang="ko-KR" altLang="en-US" sz="800" dirty="0">
              <a:latin typeface="+mn-ea"/>
              <a:ea typeface="+mn-ea"/>
            </a:endParaRPr>
          </a:p>
        </p:txBody>
      </p:sp>
      <p:sp>
        <p:nvSpPr>
          <p:cNvPr id="103" name="AutoShape 73"/>
          <p:cNvSpPr>
            <a:spLocks noChangeArrowheads="1"/>
          </p:cNvSpPr>
          <p:nvPr/>
        </p:nvSpPr>
        <p:spPr bwMode="auto">
          <a:xfrm>
            <a:off x="2132793" y="2123855"/>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sp>
        <p:nvSpPr>
          <p:cNvPr id="104" name="TextBox 94"/>
          <p:cNvSpPr txBox="1">
            <a:spLocks noChangeArrowheads="1"/>
          </p:cNvSpPr>
          <p:nvPr/>
        </p:nvSpPr>
        <p:spPr bwMode="auto">
          <a:xfrm>
            <a:off x="1814898" y="2070897"/>
            <a:ext cx="694487"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브랜드마감</a:t>
            </a:r>
            <a:endParaRPr lang="ko-KR" altLang="en-US" sz="800" dirty="0">
              <a:latin typeface="+mn-ea"/>
              <a:ea typeface="+mn-ea"/>
            </a:endParaRPr>
          </a:p>
        </p:txBody>
      </p:sp>
      <p:sp>
        <p:nvSpPr>
          <p:cNvPr id="108" name="Text Box 82"/>
          <p:cNvSpPr txBox="1">
            <a:spLocks noChangeArrowheads="1"/>
          </p:cNvSpPr>
          <p:nvPr/>
        </p:nvSpPr>
        <p:spPr bwMode="gray">
          <a:xfrm>
            <a:off x="2981565" y="2104082"/>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122" name="Text Box 82"/>
          <p:cNvSpPr txBox="1">
            <a:spLocks noChangeArrowheads="1"/>
          </p:cNvSpPr>
          <p:nvPr/>
        </p:nvSpPr>
        <p:spPr bwMode="gray">
          <a:xfrm>
            <a:off x="2655818" y="2593820"/>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126" name="AutoShape 86"/>
          <p:cNvSpPr>
            <a:spLocks noChangeArrowheads="1"/>
          </p:cNvSpPr>
          <p:nvPr/>
        </p:nvSpPr>
        <p:spPr bwMode="auto">
          <a:xfrm>
            <a:off x="3943763" y="545349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매장수불</a:t>
            </a:r>
            <a:endParaRPr lang="en-US" altLang="ko-KR" sz="600" b="1" dirty="0" smtClean="0">
              <a:latin typeface="+mn-ea"/>
              <a:ea typeface="+mn-ea"/>
            </a:endParaRPr>
          </a:p>
          <a:p>
            <a:pPr algn="ctr"/>
            <a:r>
              <a:rPr lang="en-US" altLang="ko-KR" sz="600" b="1" dirty="0" smtClean="0">
                <a:latin typeface="+mn-ea"/>
                <a:ea typeface="+mn-ea"/>
              </a:rPr>
              <a:t>T_SHOP_RNDS_BASE</a:t>
            </a:r>
            <a:endParaRPr lang="ko-KR" altLang="en-US" sz="600" b="1" dirty="0">
              <a:latin typeface="+mn-ea"/>
              <a:ea typeface="+mn-ea"/>
            </a:endParaRPr>
          </a:p>
        </p:txBody>
      </p:sp>
      <p:sp>
        <p:nvSpPr>
          <p:cNvPr id="130" name="AutoShape 86"/>
          <p:cNvSpPr>
            <a:spLocks noChangeArrowheads="1"/>
          </p:cNvSpPr>
          <p:nvPr/>
        </p:nvSpPr>
        <p:spPr bwMode="auto">
          <a:xfrm>
            <a:off x="3949977" y="4841407"/>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거래명세</a:t>
            </a:r>
            <a:endParaRPr lang="en-US" altLang="ko-KR" sz="600" b="1" dirty="0" smtClean="0">
              <a:latin typeface="+mn-ea"/>
              <a:ea typeface="+mn-ea"/>
            </a:endParaRPr>
          </a:p>
          <a:p>
            <a:pPr algn="ctr"/>
            <a:r>
              <a:rPr lang="en-US" altLang="ko-KR" sz="600" b="1" dirty="0" smtClean="0">
                <a:latin typeface="+mn-ea"/>
                <a:ea typeface="+mn-ea"/>
              </a:rPr>
              <a:t>T_TRAN_SPEC</a:t>
            </a:r>
            <a:endParaRPr lang="ko-KR" altLang="en-US" sz="600" b="1" dirty="0">
              <a:latin typeface="+mn-ea"/>
              <a:ea typeface="+mn-ea"/>
            </a:endParaRPr>
          </a:p>
        </p:txBody>
      </p:sp>
      <p:sp>
        <p:nvSpPr>
          <p:cNvPr id="135" name="Rectangle 49"/>
          <p:cNvSpPr>
            <a:spLocks noChangeArrowheads="1"/>
          </p:cNvSpPr>
          <p:nvPr/>
        </p:nvSpPr>
        <p:spPr bwMode="gray">
          <a:xfrm>
            <a:off x="5173267" y="2897845"/>
            <a:ext cx="1325563" cy="217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자가소모수불</a:t>
            </a:r>
            <a:r>
              <a:rPr lang="en-US" altLang="ko-KR" sz="800" b="1" dirty="0" smtClean="0">
                <a:latin typeface="+mn-ea"/>
                <a:ea typeface="+mn-ea"/>
              </a:rPr>
              <a:t>ID</a:t>
            </a:r>
            <a:r>
              <a:rPr lang="ko-KR" altLang="en-US" sz="800" b="1" dirty="0" smtClean="0">
                <a:latin typeface="+mn-ea"/>
                <a:ea typeface="+mn-ea"/>
              </a:rPr>
              <a:t>갱신</a:t>
            </a:r>
            <a:endParaRPr lang="ko-KR" altLang="en-US" sz="800" b="1" dirty="0">
              <a:latin typeface="+mn-ea"/>
              <a:ea typeface="+mn-ea"/>
            </a:endParaRPr>
          </a:p>
        </p:txBody>
      </p:sp>
      <p:sp>
        <p:nvSpPr>
          <p:cNvPr id="147" name="TextBox 94"/>
          <p:cNvSpPr txBox="1">
            <a:spLocks noChangeArrowheads="1"/>
          </p:cNvSpPr>
          <p:nvPr/>
        </p:nvSpPr>
        <p:spPr bwMode="auto">
          <a:xfrm>
            <a:off x="2093285" y="1313336"/>
            <a:ext cx="1416881"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b="1" dirty="0" smtClean="0">
                <a:latin typeface="+mn-ea"/>
                <a:ea typeface="+mn-ea"/>
              </a:rPr>
              <a:t>SP_ONLINE_DEACT_LOSS</a:t>
            </a:r>
            <a:endParaRPr lang="ko-KR" altLang="en-US" sz="800" b="1" dirty="0">
              <a:latin typeface="+mn-ea"/>
              <a:ea typeface="+mn-ea"/>
            </a:endParaRPr>
          </a:p>
        </p:txBody>
      </p:sp>
      <p:sp>
        <p:nvSpPr>
          <p:cNvPr id="148" name="TextBox 94"/>
          <p:cNvSpPr txBox="1">
            <a:spLocks noChangeArrowheads="1"/>
          </p:cNvSpPr>
          <p:nvPr/>
        </p:nvSpPr>
        <p:spPr bwMode="auto">
          <a:xfrm>
            <a:off x="3237462" y="1496224"/>
            <a:ext cx="1625528" cy="510909"/>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sym typeface="Wingdings" panose="05000000000000000000" pitchFamily="2" charset="2"/>
              </a:rPr>
              <a:t>입력 </a:t>
            </a:r>
            <a:r>
              <a:rPr lang="ko-KR" altLang="en-US" sz="800" dirty="0" err="1" smtClean="0">
                <a:latin typeface="+mn-ea"/>
                <a:ea typeface="+mn-ea"/>
                <a:sym typeface="Wingdings" panose="05000000000000000000" pitchFamily="2" charset="2"/>
              </a:rPr>
              <a:t>파리미터</a:t>
            </a:r>
            <a:r>
              <a:rPr lang="ko-KR" altLang="en-US" sz="800" dirty="0" smtClean="0">
                <a:latin typeface="+mn-ea"/>
                <a:ea typeface="+mn-ea"/>
                <a:sym typeface="Wingdings" panose="05000000000000000000" pitchFamily="2" charset="2"/>
              </a:rPr>
              <a:t> </a:t>
            </a:r>
            <a:endParaRPr lang="en-US" altLang="ko-KR" sz="800" dirty="0" smtClean="0">
              <a:latin typeface="+mn-ea"/>
              <a:ea typeface="+mn-ea"/>
              <a:sym typeface="Wingdings" panose="05000000000000000000" pitchFamily="2" charset="2"/>
            </a:endParaRPr>
          </a:p>
          <a:p>
            <a:pPr>
              <a:spcBef>
                <a:spcPct val="20000"/>
              </a:spcBef>
              <a:buClr>
                <a:srgbClr val="003366"/>
              </a:buClr>
            </a:pPr>
            <a:r>
              <a:rPr lang="ko-KR" altLang="en-US" sz="800" dirty="0" smtClean="0">
                <a:latin typeface="+mn-ea"/>
                <a:ea typeface="+mn-ea"/>
                <a:sym typeface="Wingdings" panose="05000000000000000000" pitchFamily="2" charset="2"/>
              </a:rPr>
              <a:t>상위브랜드</a:t>
            </a:r>
            <a:r>
              <a:rPr lang="en-US" altLang="ko-KR" sz="800" dirty="0" smtClean="0">
                <a:latin typeface="+mn-ea"/>
                <a:ea typeface="+mn-ea"/>
                <a:sym typeface="Wingdings" panose="05000000000000000000" pitchFamily="2" charset="2"/>
              </a:rPr>
              <a:t>, </a:t>
            </a:r>
            <a:r>
              <a:rPr lang="ko-KR" altLang="en-US" sz="800" dirty="0" err="1" smtClean="0">
                <a:latin typeface="+mn-ea"/>
                <a:ea typeface="+mn-ea"/>
                <a:sym typeface="Wingdings" panose="05000000000000000000" pitchFamily="2" charset="2"/>
              </a:rPr>
              <a:t>년월</a:t>
            </a:r>
            <a:r>
              <a:rPr lang="en-US" altLang="ko-KR" sz="800" dirty="0" smtClean="0">
                <a:latin typeface="+mn-ea"/>
                <a:ea typeface="+mn-ea"/>
                <a:sym typeface="Wingdings" panose="05000000000000000000" pitchFamily="2" charset="2"/>
              </a:rPr>
              <a:t>, LOSS</a:t>
            </a:r>
            <a:r>
              <a:rPr lang="ko-KR" altLang="en-US" sz="800" dirty="0" smtClean="0">
                <a:latin typeface="+mn-ea"/>
                <a:ea typeface="+mn-ea"/>
                <a:sym typeface="Wingdings" panose="05000000000000000000" pitchFamily="2" charset="2"/>
              </a:rPr>
              <a:t>구분</a:t>
            </a:r>
            <a:endParaRPr lang="en-US" altLang="ko-KR" sz="800" dirty="0">
              <a:latin typeface="+mn-ea"/>
              <a:ea typeface="+mn-ea"/>
              <a:sym typeface="Wingdings" panose="05000000000000000000" pitchFamily="2" charset="2"/>
            </a:endParaRPr>
          </a:p>
          <a:p>
            <a:pPr>
              <a:spcBef>
                <a:spcPct val="20000"/>
              </a:spcBef>
              <a:buClr>
                <a:srgbClr val="003366"/>
              </a:buClr>
            </a:pPr>
            <a:r>
              <a:rPr lang="en-US" altLang="ko-KR" sz="800" dirty="0" smtClean="0">
                <a:latin typeface="+mn-ea"/>
                <a:ea typeface="+mn-ea"/>
                <a:sym typeface="Wingdings" panose="05000000000000000000" pitchFamily="2" charset="2"/>
              </a:rPr>
              <a:t>LOSS</a:t>
            </a:r>
            <a:r>
              <a:rPr lang="ko-KR" altLang="en-US" sz="800" dirty="0" smtClean="0">
                <a:latin typeface="+mn-ea"/>
                <a:ea typeface="+mn-ea"/>
                <a:sym typeface="Wingdings" panose="05000000000000000000" pitchFamily="2" charset="2"/>
              </a:rPr>
              <a:t>일자</a:t>
            </a:r>
            <a:r>
              <a:rPr lang="en-US" altLang="ko-KR" sz="800" dirty="0" smtClean="0">
                <a:latin typeface="+mn-ea"/>
                <a:ea typeface="+mn-ea"/>
                <a:sym typeface="Wingdings" panose="05000000000000000000" pitchFamily="2" charset="2"/>
              </a:rPr>
              <a:t>, </a:t>
            </a:r>
            <a:r>
              <a:rPr lang="ko-KR" altLang="en-US" sz="800" dirty="0" smtClean="0">
                <a:latin typeface="+mn-ea"/>
                <a:ea typeface="+mn-ea"/>
                <a:sym typeface="Wingdings" panose="05000000000000000000" pitchFamily="2" charset="2"/>
              </a:rPr>
              <a:t>사용자</a:t>
            </a:r>
            <a:r>
              <a:rPr lang="en-US" altLang="ko-KR" sz="800" dirty="0" smtClean="0">
                <a:latin typeface="+mn-ea"/>
                <a:ea typeface="+mn-ea"/>
                <a:sym typeface="Wingdings" panose="05000000000000000000" pitchFamily="2" charset="2"/>
              </a:rPr>
              <a:t>ID</a:t>
            </a:r>
          </a:p>
        </p:txBody>
      </p:sp>
      <p:sp>
        <p:nvSpPr>
          <p:cNvPr id="149" name="타원 148"/>
          <p:cNvSpPr/>
          <p:nvPr/>
        </p:nvSpPr>
        <p:spPr>
          <a:xfrm>
            <a:off x="3681226" y="2194757"/>
            <a:ext cx="352849" cy="338735"/>
          </a:xfrm>
          <a:prstGeom prst="ellipse">
            <a:avLst/>
          </a:prstGeom>
          <a:noFill/>
          <a:ln>
            <a:solidFill>
              <a:schemeClr val="tx1"/>
            </a:solidFill>
          </a:ln>
        </p:spPr>
        <p:txBody>
          <a:bodyPr wrap="none" lIns="0" rIns="0" rtlCol="0" anchor="ctr">
            <a:noAutofit/>
          </a:bodyPr>
          <a:lstStyle/>
          <a:p>
            <a:pPr marL="268288" indent="-215900" algn="ctr">
              <a:spcBef>
                <a:spcPct val="20000"/>
              </a:spcBef>
              <a:buClr>
                <a:srgbClr val="FFD200"/>
              </a:buClr>
              <a:buSzPct val="75000"/>
            </a:pPr>
            <a:r>
              <a:rPr lang="ko-KR" altLang="en-US" sz="800" kern="0" dirty="0" smtClean="0">
                <a:latin typeface="+mn-ea"/>
                <a:ea typeface="+mn-ea"/>
              </a:rPr>
              <a:t>종료</a:t>
            </a:r>
          </a:p>
        </p:txBody>
      </p:sp>
      <p:cxnSp>
        <p:nvCxnSpPr>
          <p:cNvPr id="150" name="AutoShape 67"/>
          <p:cNvCxnSpPr>
            <a:cxnSpLocks noChangeShapeType="1"/>
            <a:stCxn id="103" idx="3"/>
            <a:endCxn id="149" idx="2"/>
          </p:cNvCxnSpPr>
          <p:nvPr/>
        </p:nvCxnSpPr>
        <p:spPr bwMode="gray">
          <a:xfrm>
            <a:off x="3255541" y="2361186"/>
            <a:ext cx="425685" cy="2939"/>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 name="그룹 1"/>
          <p:cNvGrpSpPr/>
          <p:nvPr/>
        </p:nvGrpSpPr>
        <p:grpSpPr>
          <a:xfrm>
            <a:off x="452500" y="2387064"/>
            <a:ext cx="1094751" cy="1203974"/>
            <a:chOff x="452500" y="2387064"/>
            <a:chExt cx="1094751" cy="1203974"/>
          </a:xfrm>
        </p:grpSpPr>
        <p:sp>
          <p:nvSpPr>
            <p:cNvPr id="96" name="Rectangle 2"/>
            <p:cNvSpPr>
              <a:spLocks noChangeArrowheads="1"/>
            </p:cNvSpPr>
            <p:nvPr/>
          </p:nvSpPr>
          <p:spPr bwMode="gray">
            <a:xfrm>
              <a:off x="452500" y="2387064"/>
              <a:ext cx="1094751" cy="1203974"/>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b="1">
                <a:latin typeface="+mn-ea"/>
                <a:ea typeface="+mn-ea"/>
              </a:endParaRPr>
            </a:p>
          </p:txBody>
        </p:sp>
        <p:sp>
          <p:nvSpPr>
            <p:cNvPr id="97" name="AutoShape 86"/>
            <p:cNvSpPr>
              <a:spLocks noChangeArrowheads="1"/>
            </p:cNvSpPr>
            <p:nvPr/>
          </p:nvSpPr>
          <p:spPr bwMode="auto">
            <a:xfrm>
              <a:off x="691038" y="2995176"/>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제품정보</a:t>
              </a:r>
              <a:endParaRPr lang="en-US" altLang="ko-KR" sz="600" b="1" dirty="0" smtClean="0">
                <a:latin typeface="+mn-ea"/>
                <a:ea typeface="+mn-ea"/>
              </a:endParaRPr>
            </a:p>
            <a:p>
              <a:pPr algn="ctr"/>
              <a:r>
                <a:rPr lang="en-US" altLang="ko-KR" sz="600" b="1" dirty="0" smtClean="0">
                  <a:latin typeface="+mn-ea"/>
                  <a:ea typeface="+mn-ea"/>
                </a:rPr>
                <a:t>T_PRDT_PLAN</a:t>
              </a:r>
              <a:endParaRPr lang="ko-KR" altLang="en-US" sz="600" b="1" dirty="0">
                <a:latin typeface="+mn-ea"/>
                <a:ea typeface="+mn-ea"/>
              </a:endParaRPr>
            </a:p>
          </p:txBody>
        </p:sp>
        <p:sp>
          <p:nvSpPr>
            <p:cNvPr id="98" name="AutoShape 86"/>
            <p:cNvSpPr>
              <a:spLocks noChangeArrowheads="1"/>
            </p:cNvSpPr>
            <p:nvPr/>
          </p:nvSpPr>
          <p:spPr bwMode="auto">
            <a:xfrm>
              <a:off x="698281" y="2447241"/>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600" b="1" dirty="0" smtClean="0">
                  <a:latin typeface="+mn-ea"/>
                  <a:ea typeface="+mn-ea"/>
                </a:rPr>
                <a:t>??</a:t>
              </a:r>
            </a:p>
            <a:p>
              <a:pPr algn="ctr"/>
              <a:r>
                <a:rPr lang="en-US" altLang="ko-KR" sz="600" b="1" dirty="0" smtClean="0">
                  <a:latin typeface="+mn-ea"/>
                  <a:ea typeface="+mn-ea"/>
                </a:rPr>
                <a:t>T_GWM_RNDS_STOCK_DEACT</a:t>
              </a:r>
              <a:endParaRPr lang="ko-KR" altLang="en-US" sz="600" b="1" dirty="0">
                <a:latin typeface="+mn-ea"/>
                <a:ea typeface="+mn-ea"/>
              </a:endParaRPr>
            </a:p>
          </p:txBody>
        </p:sp>
      </p:grpSp>
      <p:cxnSp>
        <p:nvCxnSpPr>
          <p:cNvPr id="152" name="AutoShape 67"/>
          <p:cNvCxnSpPr>
            <a:cxnSpLocks noChangeShapeType="1"/>
          </p:cNvCxnSpPr>
          <p:nvPr/>
        </p:nvCxnSpPr>
        <p:spPr bwMode="gray">
          <a:xfrm>
            <a:off x="1543589" y="2798930"/>
            <a:ext cx="1150578" cy="0"/>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TextBox 94"/>
          <p:cNvSpPr txBox="1">
            <a:spLocks noChangeArrowheads="1"/>
          </p:cNvSpPr>
          <p:nvPr/>
        </p:nvSpPr>
        <p:spPr bwMode="auto">
          <a:xfrm>
            <a:off x="1568197" y="3504224"/>
            <a:ext cx="1058298" cy="329321"/>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700" dirty="0" smtClean="0">
                <a:latin typeface="+mn-ea"/>
                <a:ea typeface="+mn-ea"/>
              </a:rPr>
              <a:t>CD_KEY = LOSS</a:t>
            </a:r>
            <a:r>
              <a:rPr lang="ko-KR" altLang="en-US" sz="700" dirty="0" smtClean="0">
                <a:latin typeface="+mn-ea"/>
                <a:ea typeface="+mn-ea"/>
              </a:rPr>
              <a:t>구분</a:t>
            </a:r>
            <a:endParaRPr lang="en-US" altLang="ko-KR" sz="700" dirty="0" smtClean="0">
              <a:latin typeface="+mn-ea"/>
              <a:ea typeface="+mn-ea"/>
            </a:endParaRPr>
          </a:p>
          <a:p>
            <a:pPr>
              <a:spcBef>
                <a:spcPct val="20000"/>
              </a:spcBef>
              <a:buClr>
                <a:srgbClr val="003366"/>
              </a:buClr>
            </a:pPr>
            <a:r>
              <a:rPr lang="en-US" altLang="ko-KR" sz="700" dirty="0" smtClean="0">
                <a:latin typeface="+mn-ea"/>
                <a:ea typeface="+mn-ea"/>
                <a:sym typeface="Wingdings" panose="05000000000000000000" pitchFamily="2" charset="2"/>
              </a:rPr>
              <a:t>ATTR3  LOSS</a:t>
            </a:r>
            <a:endParaRPr lang="ko-KR" altLang="en-US" sz="700" dirty="0">
              <a:latin typeface="+mn-ea"/>
              <a:ea typeface="+mn-ea"/>
            </a:endParaRPr>
          </a:p>
        </p:txBody>
      </p:sp>
      <p:cxnSp>
        <p:nvCxnSpPr>
          <p:cNvPr id="156" name="AutoShape 67"/>
          <p:cNvCxnSpPr>
            <a:cxnSpLocks noChangeShapeType="1"/>
            <a:stCxn id="103" idx="2"/>
            <a:endCxn id="157" idx="0"/>
          </p:cNvCxnSpPr>
          <p:nvPr/>
        </p:nvCxnSpPr>
        <p:spPr bwMode="gray">
          <a:xfrm>
            <a:off x="2694167" y="2598517"/>
            <a:ext cx="4716" cy="335428"/>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 name="AutoShape 73"/>
          <p:cNvSpPr>
            <a:spLocks noChangeArrowheads="1"/>
          </p:cNvSpPr>
          <p:nvPr/>
        </p:nvSpPr>
        <p:spPr bwMode="auto">
          <a:xfrm>
            <a:off x="2137509" y="2933945"/>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ko-KR" altLang="en-US" sz="800" dirty="0" smtClean="0">
                <a:latin typeface="+mn-ea"/>
                <a:ea typeface="+mn-ea"/>
              </a:rPr>
              <a:t>유효성</a:t>
            </a:r>
            <a:endParaRPr lang="en-US" altLang="ko-KR" sz="800" dirty="0" smtClean="0">
              <a:latin typeface="+mn-ea"/>
              <a:ea typeface="+mn-ea"/>
            </a:endParaRPr>
          </a:p>
          <a:p>
            <a:pPr algn="ctr" eaLnBrk="0" latinLnBrk="0" hangingPunct="0">
              <a:lnSpc>
                <a:spcPct val="40000"/>
              </a:lnSpc>
              <a:spcBef>
                <a:spcPct val="50000"/>
              </a:spcBef>
            </a:pPr>
            <a:r>
              <a:rPr lang="ko-KR" altLang="en-US" sz="800" dirty="0" smtClean="0">
                <a:latin typeface="+mn-ea"/>
                <a:ea typeface="+mn-ea"/>
              </a:rPr>
              <a:t>체크</a:t>
            </a:r>
            <a:endParaRPr lang="en-US" altLang="ko-KR" sz="800" dirty="0" smtClean="0">
              <a:latin typeface="+mn-ea"/>
              <a:ea typeface="+mn-ea"/>
            </a:endParaRPr>
          </a:p>
        </p:txBody>
      </p:sp>
      <p:sp>
        <p:nvSpPr>
          <p:cNvPr id="159" name="TextBox 94"/>
          <p:cNvSpPr txBox="1">
            <a:spLocks noChangeArrowheads="1"/>
          </p:cNvSpPr>
          <p:nvPr/>
        </p:nvSpPr>
        <p:spPr bwMode="auto">
          <a:xfrm>
            <a:off x="1586652" y="2900026"/>
            <a:ext cx="95914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dirty="0" smtClean="0">
                <a:latin typeface="+mn-ea"/>
                <a:ea typeface="+mn-ea"/>
              </a:rPr>
              <a:t>매장</a:t>
            </a:r>
            <a:r>
              <a:rPr lang="en-US" altLang="ko-KR" sz="800" dirty="0" smtClean="0">
                <a:latin typeface="+mn-ea"/>
                <a:ea typeface="+mn-ea"/>
              </a:rPr>
              <a:t>, </a:t>
            </a:r>
            <a:r>
              <a:rPr lang="ko-KR" altLang="en-US" sz="800" dirty="0" smtClean="0">
                <a:latin typeface="+mn-ea"/>
                <a:ea typeface="+mn-ea"/>
              </a:rPr>
              <a:t>매장브랜드</a:t>
            </a:r>
            <a:endParaRPr lang="ko-KR" altLang="en-US" sz="800" dirty="0">
              <a:latin typeface="+mn-ea"/>
              <a:ea typeface="+mn-ea"/>
            </a:endParaRPr>
          </a:p>
        </p:txBody>
      </p:sp>
      <p:cxnSp>
        <p:nvCxnSpPr>
          <p:cNvPr id="160" name="AutoShape 67"/>
          <p:cNvCxnSpPr>
            <a:cxnSpLocks noChangeShapeType="1"/>
            <a:stCxn id="157" idx="3"/>
            <a:endCxn id="149" idx="4"/>
          </p:cNvCxnSpPr>
          <p:nvPr/>
        </p:nvCxnSpPr>
        <p:spPr bwMode="gray">
          <a:xfrm flipV="1">
            <a:off x="3260257" y="2533492"/>
            <a:ext cx="597394" cy="637784"/>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6" name="Text Box 82"/>
          <p:cNvSpPr txBox="1">
            <a:spLocks noChangeArrowheads="1"/>
          </p:cNvSpPr>
          <p:nvPr/>
        </p:nvSpPr>
        <p:spPr bwMode="gray">
          <a:xfrm>
            <a:off x="3074492" y="2942703"/>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63" name="AutoShape 73"/>
          <p:cNvSpPr>
            <a:spLocks noChangeArrowheads="1"/>
          </p:cNvSpPr>
          <p:nvPr/>
        </p:nvSpPr>
        <p:spPr bwMode="auto">
          <a:xfrm>
            <a:off x="2140545" y="3683865"/>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en-US" altLang="ko-KR" sz="800" dirty="0" smtClean="0">
                <a:latin typeface="+mn-ea"/>
                <a:ea typeface="+mn-ea"/>
              </a:rPr>
              <a:t>LOSS</a:t>
            </a: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cxnSp>
        <p:nvCxnSpPr>
          <p:cNvPr id="69" name="AutoShape 67"/>
          <p:cNvCxnSpPr>
            <a:cxnSpLocks noChangeShapeType="1"/>
            <a:stCxn id="157" idx="2"/>
            <a:endCxn id="63" idx="0"/>
          </p:cNvCxnSpPr>
          <p:nvPr/>
        </p:nvCxnSpPr>
        <p:spPr bwMode="gray">
          <a:xfrm>
            <a:off x="2698883" y="3408607"/>
            <a:ext cx="3036" cy="275258"/>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Text Box 82"/>
          <p:cNvSpPr txBox="1">
            <a:spLocks noChangeArrowheads="1"/>
          </p:cNvSpPr>
          <p:nvPr/>
        </p:nvSpPr>
        <p:spPr bwMode="gray">
          <a:xfrm>
            <a:off x="2369175" y="3355021"/>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80" name="Text Box 82"/>
          <p:cNvSpPr txBox="1">
            <a:spLocks noChangeArrowheads="1"/>
          </p:cNvSpPr>
          <p:nvPr/>
        </p:nvSpPr>
        <p:spPr bwMode="gray">
          <a:xfrm>
            <a:off x="3083635" y="3674850"/>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sp>
        <p:nvSpPr>
          <p:cNvPr id="93" name="Oval 108"/>
          <p:cNvSpPr>
            <a:spLocks noChangeArrowheads="1"/>
          </p:cNvSpPr>
          <p:nvPr/>
        </p:nvSpPr>
        <p:spPr bwMode="gray">
          <a:xfrm>
            <a:off x="4060285" y="3744825"/>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kern="0" dirty="0" smtClean="0">
                <a:solidFill>
                  <a:srgbClr val="000000"/>
                </a:solidFill>
                <a:latin typeface="+mn-ea"/>
                <a:ea typeface="+mn-ea"/>
              </a:rPr>
              <a:t>자가소모</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95" name="Text Box 121"/>
          <p:cNvSpPr txBox="1">
            <a:spLocks noChangeArrowheads="1"/>
          </p:cNvSpPr>
          <p:nvPr/>
        </p:nvSpPr>
        <p:spPr bwMode="gray">
          <a:xfrm>
            <a:off x="3446208" y="3442998"/>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pPr algn="ctr"/>
            <a:r>
              <a:rPr lang="en-US" altLang="ko-KR" sz="800" dirty="0" smtClean="0">
                <a:latin typeface="+mn-ea"/>
                <a:ea typeface="+mn-ea"/>
              </a:rPr>
              <a:t>WH_RNDS_ID</a:t>
            </a:r>
          </a:p>
          <a:p>
            <a:pPr algn="ctr"/>
            <a:r>
              <a:rPr lang="en-US" altLang="ko-KR" sz="800" dirty="0" smtClean="0">
                <a:latin typeface="+mn-ea"/>
                <a:ea typeface="+mn-ea"/>
              </a:rPr>
              <a:t>REG_NO</a:t>
            </a:r>
          </a:p>
        </p:txBody>
      </p:sp>
      <p:cxnSp>
        <p:nvCxnSpPr>
          <p:cNvPr id="99" name="AutoShape 67"/>
          <p:cNvCxnSpPr>
            <a:cxnSpLocks noChangeShapeType="1"/>
            <a:stCxn id="63" idx="3"/>
            <a:endCxn id="93" idx="2"/>
          </p:cNvCxnSpPr>
          <p:nvPr/>
        </p:nvCxnSpPr>
        <p:spPr bwMode="gray">
          <a:xfrm flipV="1">
            <a:off x="3263293" y="3921038"/>
            <a:ext cx="796992" cy="158"/>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AutoShape 86"/>
          <p:cNvSpPr>
            <a:spLocks noChangeArrowheads="1"/>
          </p:cNvSpPr>
          <p:nvPr/>
        </p:nvSpPr>
        <p:spPr bwMode="auto">
          <a:xfrm>
            <a:off x="5199452" y="3257661"/>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창고수불</a:t>
            </a:r>
            <a:endParaRPr lang="en-US" altLang="ko-KR" sz="600" b="1" dirty="0" smtClean="0">
              <a:latin typeface="+mn-ea"/>
              <a:ea typeface="+mn-ea"/>
            </a:endParaRPr>
          </a:p>
          <a:p>
            <a:pPr algn="ctr"/>
            <a:r>
              <a:rPr lang="en-US" altLang="ko-KR" sz="600" b="1" dirty="0" smtClean="0">
                <a:latin typeface="+mn-ea"/>
                <a:ea typeface="+mn-ea"/>
              </a:rPr>
              <a:t>T_WH_RNDS_BASE</a:t>
            </a:r>
            <a:endParaRPr lang="ko-KR" altLang="en-US" sz="600" b="1" dirty="0">
              <a:latin typeface="+mn-ea"/>
              <a:ea typeface="+mn-ea"/>
            </a:endParaRPr>
          </a:p>
        </p:txBody>
      </p:sp>
      <p:sp>
        <p:nvSpPr>
          <p:cNvPr id="102" name="AutoShape 86"/>
          <p:cNvSpPr>
            <a:spLocks noChangeArrowheads="1"/>
          </p:cNvSpPr>
          <p:nvPr/>
        </p:nvSpPr>
        <p:spPr bwMode="auto">
          <a:xfrm>
            <a:off x="5924861" y="3257661"/>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자가소모</a:t>
            </a:r>
            <a:endParaRPr lang="en-US" altLang="ko-KR" sz="600" b="1" dirty="0" smtClean="0">
              <a:latin typeface="+mn-ea"/>
              <a:ea typeface="+mn-ea"/>
            </a:endParaRPr>
          </a:p>
          <a:p>
            <a:pPr algn="ctr"/>
            <a:r>
              <a:rPr lang="en-US" altLang="ko-KR" sz="600" b="1" dirty="0" smtClean="0">
                <a:latin typeface="+mn-ea"/>
                <a:ea typeface="+mn-ea"/>
              </a:rPr>
              <a:t>T_SELF_CSUM</a:t>
            </a:r>
            <a:endParaRPr lang="ko-KR" altLang="en-US" sz="600" b="1" dirty="0">
              <a:latin typeface="+mn-ea"/>
              <a:ea typeface="+mn-ea"/>
            </a:endParaRPr>
          </a:p>
        </p:txBody>
      </p:sp>
      <p:cxnSp>
        <p:nvCxnSpPr>
          <p:cNvPr id="105" name="AutoShape 67"/>
          <p:cNvCxnSpPr>
            <a:cxnSpLocks noChangeShapeType="1"/>
            <a:stCxn id="93" idx="6"/>
            <a:endCxn id="100" idx="3"/>
          </p:cNvCxnSpPr>
          <p:nvPr/>
        </p:nvCxnSpPr>
        <p:spPr bwMode="gray">
          <a:xfrm flipV="1">
            <a:off x="4688935" y="3745419"/>
            <a:ext cx="793886" cy="175619"/>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AutoShape 67"/>
          <p:cNvCxnSpPr>
            <a:cxnSpLocks noChangeShapeType="1"/>
            <a:stCxn id="93" idx="6"/>
            <a:endCxn id="102" idx="3"/>
          </p:cNvCxnSpPr>
          <p:nvPr/>
        </p:nvCxnSpPr>
        <p:spPr bwMode="gray">
          <a:xfrm flipV="1">
            <a:off x="4688935" y="3745419"/>
            <a:ext cx="1519295" cy="175619"/>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 name="AutoShape 86"/>
          <p:cNvSpPr>
            <a:spLocks noChangeArrowheads="1"/>
          </p:cNvSpPr>
          <p:nvPr/>
        </p:nvSpPr>
        <p:spPr bwMode="auto">
          <a:xfrm>
            <a:off x="6574860" y="4366162"/>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비활성재고</a:t>
            </a:r>
            <a:endParaRPr lang="en-US" altLang="ko-KR" sz="600" b="1" dirty="0" smtClean="0">
              <a:latin typeface="+mn-ea"/>
              <a:ea typeface="+mn-ea"/>
            </a:endParaRPr>
          </a:p>
          <a:p>
            <a:pPr algn="ctr"/>
            <a:r>
              <a:rPr lang="en-US" altLang="ko-KR" sz="600" b="1" dirty="0">
                <a:latin typeface="+mn-ea"/>
              </a:rPr>
              <a:t>T_GWM_RNDS_STOCK_DEACT</a:t>
            </a:r>
            <a:endParaRPr lang="ko-KR" altLang="en-US" sz="600" b="1" dirty="0">
              <a:latin typeface="+mn-ea"/>
              <a:ea typeface="+mn-ea"/>
            </a:endParaRPr>
          </a:p>
        </p:txBody>
      </p:sp>
      <p:cxnSp>
        <p:nvCxnSpPr>
          <p:cNvPr id="116" name="AutoShape 67"/>
          <p:cNvCxnSpPr>
            <a:cxnSpLocks noChangeShapeType="1"/>
            <a:stCxn id="135" idx="3"/>
            <a:endCxn id="112" idx="1"/>
          </p:cNvCxnSpPr>
          <p:nvPr/>
        </p:nvCxnSpPr>
        <p:spPr bwMode="gray">
          <a:xfrm>
            <a:off x="6498830" y="3006658"/>
            <a:ext cx="359399" cy="1359504"/>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AutoShape 73"/>
          <p:cNvSpPr>
            <a:spLocks noChangeArrowheads="1"/>
          </p:cNvSpPr>
          <p:nvPr/>
        </p:nvSpPr>
        <p:spPr bwMode="auto">
          <a:xfrm>
            <a:off x="1217585" y="4394498"/>
            <a:ext cx="1122748" cy="474662"/>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bIns="0" anchor="b" anchorCtr="1"/>
          <a:lstStyle/>
          <a:p>
            <a:pPr algn="ctr" eaLnBrk="0" latinLnBrk="0" hangingPunct="0">
              <a:lnSpc>
                <a:spcPct val="40000"/>
              </a:lnSpc>
              <a:spcBef>
                <a:spcPct val="50000"/>
              </a:spcBef>
            </a:pPr>
            <a:r>
              <a:rPr lang="en-US" altLang="ko-KR" sz="800" dirty="0" smtClean="0">
                <a:latin typeface="+mn-ea"/>
                <a:ea typeface="+mn-ea"/>
              </a:rPr>
              <a:t>SALE</a:t>
            </a:r>
          </a:p>
          <a:p>
            <a:pPr algn="ctr" eaLnBrk="0" latinLnBrk="0" hangingPunct="0">
              <a:lnSpc>
                <a:spcPct val="40000"/>
              </a:lnSpc>
              <a:spcBef>
                <a:spcPct val="50000"/>
              </a:spcBef>
            </a:pPr>
            <a:r>
              <a:rPr lang="ko-KR" altLang="en-US" sz="800" dirty="0" smtClean="0">
                <a:latin typeface="+mn-ea"/>
                <a:ea typeface="+mn-ea"/>
              </a:rPr>
              <a:t>여부</a:t>
            </a:r>
            <a:endParaRPr lang="en-US" altLang="ko-KR" sz="800" dirty="0" smtClean="0">
              <a:latin typeface="+mn-ea"/>
              <a:ea typeface="+mn-ea"/>
            </a:endParaRPr>
          </a:p>
        </p:txBody>
      </p:sp>
      <p:cxnSp>
        <p:nvCxnSpPr>
          <p:cNvPr id="62" name="AutoShape 67"/>
          <p:cNvCxnSpPr>
            <a:cxnSpLocks noChangeShapeType="1"/>
            <a:stCxn id="63" idx="2"/>
            <a:endCxn id="61" idx="0"/>
          </p:cNvCxnSpPr>
          <p:nvPr/>
        </p:nvCxnSpPr>
        <p:spPr bwMode="gray">
          <a:xfrm rot="5400000">
            <a:off x="2122454" y="3815032"/>
            <a:ext cx="235971" cy="922960"/>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Text Box 82"/>
          <p:cNvSpPr txBox="1">
            <a:spLocks noChangeArrowheads="1"/>
          </p:cNvSpPr>
          <p:nvPr/>
        </p:nvSpPr>
        <p:spPr bwMode="gray">
          <a:xfrm>
            <a:off x="2666337" y="4100048"/>
            <a:ext cx="343364"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NO</a:t>
            </a:r>
            <a:endParaRPr lang="en-US" altLang="ko-KR" sz="800" dirty="0">
              <a:latin typeface="+mn-ea"/>
              <a:ea typeface="+mn-ea"/>
            </a:endParaRPr>
          </a:p>
        </p:txBody>
      </p:sp>
      <p:sp>
        <p:nvSpPr>
          <p:cNvPr id="67" name="Oval 108"/>
          <p:cNvSpPr>
            <a:spLocks noChangeArrowheads="1"/>
          </p:cNvSpPr>
          <p:nvPr/>
        </p:nvSpPr>
        <p:spPr bwMode="gray">
          <a:xfrm>
            <a:off x="2054850" y="5461840"/>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kern="0" dirty="0" smtClean="0">
                <a:solidFill>
                  <a:srgbClr val="000000"/>
                </a:solidFill>
                <a:latin typeface="+mn-ea"/>
                <a:ea typeface="+mn-ea"/>
              </a:rPr>
              <a:t>판매</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cxnSp>
        <p:nvCxnSpPr>
          <p:cNvPr id="74" name="AutoShape 67"/>
          <p:cNvCxnSpPr>
            <a:cxnSpLocks noChangeShapeType="1"/>
            <a:stCxn id="61" idx="2"/>
            <a:endCxn id="67" idx="2"/>
          </p:cNvCxnSpPr>
          <p:nvPr/>
        </p:nvCxnSpPr>
        <p:spPr bwMode="gray">
          <a:xfrm rot="16200000" flipH="1">
            <a:off x="1532458" y="5115660"/>
            <a:ext cx="768893" cy="275891"/>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Rectangle 49"/>
          <p:cNvSpPr>
            <a:spLocks noChangeArrowheads="1"/>
          </p:cNvSpPr>
          <p:nvPr/>
        </p:nvSpPr>
        <p:spPr bwMode="gray">
          <a:xfrm>
            <a:off x="4599298" y="6044926"/>
            <a:ext cx="1325563" cy="3407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ctr"/>
            <a:r>
              <a:rPr lang="ko-KR" altLang="en-US" sz="800" b="1" dirty="0" smtClean="0">
                <a:latin typeface="+mn-ea"/>
                <a:ea typeface="+mn-ea"/>
              </a:rPr>
              <a:t>출고반품</a:t>
            </a:r>
            <a:endParaRPr lang="en-US" altLang="ko-KR" sz="800" b="1" dirty="0" smtClean="0">
              <a:latin typeface="+mn-ea"/>
              <a:ea typeface="+mn-ea"/>
            </a:endParaRPr>
          </a:p>
          <a:p>
            <a:pPr algn="ctr"/>
            <a:r>
              <a:rPr lang="ko-KR" altLang="en-US" sz="800" b="1" dirty="0" smtClean="0">
                <a:latin typeface="+mn-ea"/>
                <a:ea typeface="+mn-ea"/>
              </a:rPr>
              <a:t>판매수불</a:t>
            </a:r>
            <a:r>
              <a:rPr lang="en-US" altLang="ko-KR" sz="800" b="1" dirty="0" smtClean="0">
                <a:latin typeface="+mn-ea"/>
                <a:ea typeface="+mn-ea"/>
              </a:rPr>
              <a:t>ID</a:t>
            </a:r>
            <a:r>
              <a:rPr lang="ko-KR" altLang="en-US" sz="800" b="1" dirty="0" smtClean="0">
                <a:latin typeface="+mn-ea"/>
                <a:ea typeface="+mn-ea"/>
              </a:rPr>
              <a:t>갱신</a:t>
            </a:r>
            <a:endParaRPr lang="ko-KR" altLang="en-US" sz="800" b="1" dirty="0">
              <a:latin typeface="+mn-ea"/>
              <a:ea typeface="+mn-ea"/>
            </a:endParaRPr>
          </a:p>
        </p:txBody>
      </p:sp>
      <p:cxnSp>
        <p:nvCxnSpPr>
          <p:cNvPr id="88" name="AutoShape 67"/>
          <p:cNvCxnSpPr>
            <a:cxnSpLocks noChangeShapeType="1"/>
            <a:stCxn id="67" idx="6"/>
            <a:endCxn id="81" idx="1"/>
          </p:cNvCxnSpPr>
          <p:nvPr/>
        </p:nvCxnSpPr>
        <p:spPr bwMode="gray">
          <a:xfrm>
            <a:off x="2683500" y="5638053"/>
            <a:ext cx="1915798" cy="577241"/>
          </a:xfrm>
          <a:prstGeom prst="bentConnector3">
            <a:avLst>
              <a:gd name="adj1" fmla="val 3289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67"/>
          <p:cNvCxnSpPr>
            <a:cxnSpLocks noChangeShapeType="1"/>
            <a:stCxn id="81" idx="3"/>
            <a:endCxn id="112" idx="3"/>
          </p:cNvCxnSpPr>
          <p:nvPr/>
        </p:nvCxnSpPr>
        <p:spPr bwMode="gray">
          <a:xfrm flipV="1">
            <a:off x="5924861" y="4853920"/>
            <a:ext cx="933368" cy="1361374"/>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Text Box 82"/>
          <p:cNvSpPr txBox="1">
            <a:spLocks noChangeArrowheads="1"/>
          </p:cNvSpPr>
          <p:nvPr/>
        </p:nvSpPr>
        <p:spPr bwMode="gray">
          <a:xfrm>
            <a:off x="1737135" y="4830987"/>
            <a:ext cx="351378"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ko-KR" sz="800" dirty="0" smtClean="0">
                <a:latin typeface="+mn-ea"/>
                <a:ea typeface="+mn-ea"/>
              </a:rPr>
              <a:t>YES</a:t>
            </a:r>
            <a:endParaRPr lang="en-US" altLang="ko-KR" sz="800" dirty="0">
              <a:latin typeface="+mn-ea"/>
              <a:ea typeface="+mn-ea"/>
            </a:endParaRPr>
          </a:p>
        </p:txBody>
      </p:sp>
      <p:cxnSp>
        <p:nvCxnSpPr>
          <p:cNvPr id="128" name="AutoShape 67"/>
          <p:cNvCxnSpPr>
            <a:cxnSpLocks noChangeShapeType="1"/>
          </p:cNvCxnSpPr>
          <p:nvPr/>
        </p:nvCxnSpPr>
        <p:spPr bwMode="gray">
          <a:xfrm flipV="1">
            <a:off x="1379785" y="5023029"/>
            <a:ext cx="405691" cy="2982"/>
          </a:xfrm>
          <a:prstGeom prst="straightConnector1">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 name="Text Box 121"/>
          <p:cNvSpPr txBox="1">
            <a:spLocks noChangeArrowheads="1"/>
          </p:cNvSpPr>
          <p:nvPr/>
        </p:nvSpPr>
        <p:spPr bwMode="gray">
          <a:xfrm>
            <a:off x="2394889" y="5777146"/>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pPr algn="ctr"/>
            <a:r>
              <a:rPr lang="en-US" altLang="ko-KR" sz="800" dirty="0" smtClean="0">
                <a:latin typeface="+mn-ea"/>
                <a:ea typeface="+mn-ea"/>
              </a:rPr>
              <a:t>SHOP_RNDS_IDREG_NO</a:t>
            </a:r>
          </a:p>
        </p:txBody>
      </p:sp>
      <p:cxnSp>
        <p:nvCxnSpPr>
          <p:cNvPr id="89" name="AutoShape 67"/>
          <p:cNvCxnSpPr>
            <a:cxnSpLocks noChangeShapeType="1"/>
            <a:stCxn id="93" idx="0"/>
            <a:endCxn id="135" idx="0"/>
          </p:cNvCxnSpPr>
          <p:nvPr/>
        </p:nvCxnSpPr>
        <p:spPr bwMode="gray">
          <a:xfrm rot="5400000" flipH="1" flipV="1">
            <a:off x="4681839" y="2590616"/>
            <a:ext cx="846980" cy="1461439"/>
          </a:xfrm>
          <a:prstGeom prst="bentConnector3">
            <a:avLst>
              <a:gd name="adj1" fmla="val 12699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1" name="그룹 90"/>
          <p:cNvGrpSpPr/>
          <p:nvPr/>
        </p:nvGrpSpPr>
        <p:grpSpPr>
          <a:xfrm>
            <a:off x="285034" y="4880321"/>
            <a:ext cx="1094751" cy="1203974"/>
            <a:chOff x="452500" y="2387064"/>
            <a:chExt cx="1094751" cy="1203974"/>
          </a:xfrm>
        </p:grpSpPr>
        <p:sp>
          <p:nvSpPr>
            <p:cNvPr id="92" name="Rectangle 2"/>
            <p:cNvSpPr>
              <a:spLocks noChangeArrowheads="1"/>
            </p:cNvSpPr>
            <p:nvPr/>
          </p:nvSpPr>
          <p:spPr bwMode="gray">
            <a:xfrm>
              <a:off x="452500" y="2387064"/>
              <a:ext cx="1094751" cy="1203974"/>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endParaRPr lang="ko-KR" altLang="en-US" sz="800" b="1">
                <a:latin typeface="+mn-ea"/>
                <a:ea typeface="+mn-ea"/>
              </a:endParaRPr>
            </a:p>
          </p:txBody>
        </p:sp>
        <p:sp>
          <p:nvSpPr>
            <p:cNvPr id="117" name="AutoShape 86"/>
            <p:cNvSpPr>
              <a:spLocks noChangeArrowheads="1"/>
            </p:cNvSpPr>
            <p:nvPr/>
          </p:nvSpPr>
          <p:spPr bwMode="auto">
            <a:xfrm>
              <a:off x="691038" y="2995176"/>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rPr>
                <a:t>매장브랜드</a:t>
              </a:r>
              <a:endParaRPr lang="en-US" altLang="ko-KR" sz="600" b="1" dirty="0">
                <a:latin typeface="+mn-ea"/>
              </a:endParaRPr>
            </a:p>
            <a:p>
              <a:pPr algn="ctr"/>
              <a:r>
                <a:rPr lang="en-US" altLang="ko-KR" sz="600" b="1" dirty="0">
                  <a:latin typeface="+mn-ea"/>
                </a:rPr>
                <a:t>T_SHOP_BRD</a:t>
              </a:r>
            </a:p>
          </p:txBody>
        </p:sp>
        <p:sp>
          <p:nvSpPr>
            <p:cNvPr id="119" name="AutoShape 86"/>
            <p:cNvSpPr>
              <a:spLocks noChangeArrowheads="1"/>
            </p:cNvSpPr>
            <p:nvPr/>
          </p:nvSpPr>
          <p:spPr bwMode="auto">
            <a:xfrm>
              <a:off x="698281" y="2447241"/>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a:latin typeface="+mn-ea"/>
                </a:rPr>
                <a:t>매장</a:t>
              </a:r>
              <a:endParaRPr lang="en-US" altLang="ko-KR" sz="600" b="1" dirty="0">
                <a:latin typeface="+mn-ea"/>
              </a:endParaRPr>
            </a:p>
            <a:p>
              <a:pPr algn="ctr"/>
              <a:r>
                <a:rPr lang="en-US" altLang="ko-KR" sz="600" b="1" dirty="0">
                  <a:latin typeface="+mn-ea"/>
                </a:rPr>
                <a:t>T_SHOP</a:t>
              </a:r>
            </a:p>
          </p:txBody>
        </p:sp>
      </p:grpSp>
      <p:sp>
        <p:nvSpPr>
          <p:cNvPr id="120" name="Oval 108"/>
          <p:cNvSpPr>
            <a:spLocks noChangeArrowheads="1"/>
          </p:cNvSpPr>
          <p:nvPr/>
        </p:nvSpPr>
        <p:spPr bwMode="gray">
          <a:xfrm>
            <a:off x="2453159" y="4915701"/>
            <a:ext cx="628650" cy="3524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kern="0" dirty="0" smtClean="0">
                <a:solidFill>
                  <a:srgbClr val="000000"/>
                </a:solidFill>
                <a:latin typeface="+mn-ea"/>
                <a:ea typeface="+mn-ea"/>
              </a:rPr>
              <a:t>출고반품</a:t>
            </a:r>
            <a:endParaRPr kumimoji="0" lang="en-US" altLang="ko-KR" sz="800" b="0" i="0" u="none" strike="noStrike" kern="0" cap="none" spc="0" normalizeH="0" baseline="0" noProof="0" dirty="0" smtClean="0">
              <a:ln>
                <a:noFill/>
              </a:ln>
              <a:solidFill>
                <a:srgbClr val="00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dirty="0" err="1" smtClean="0">
                <a:ln>
                  <a:noFill/>
                </a:ln>
                <a:solidFill>
                  <a:srgbClr val="000000"/>
                </a:solidFill>
                <a:effectLst/>
                <a:uLnTx/>
                <a:uFillTx/>
                <a:latin typeface="+mn-ea"/>
                <a:ea typeface="+mn-ea"/>
              </a:rPr>
              <a:t>채번생성</a:t>
            </a:r>
            <a:endParaRPr kumimoji="0" lang="ko-KR" altLang="en-US" sz="800" b="0" i="0" u="none" strike="noStrike" kern="0" cap="none" spc="0" normalizeH="0" baseline="0" noProof="0" dirty="0" smtClean="0">
              <a:ln>
                <a:noFill/>
              </a:ln>
              <a:solidFill>
                <a:srgbClr val="000000"/>
              </a:solidFill>
              <a:effectLst/>
              <a:uLnTx/>
              <a:uFillTx/>
              <a:latin typeface="+mn-ea"/>
              <a:ea typeface="+mn-ea"/>
            </a:endParaRPr>
          </a:p>
        </p:txBody>
      </p:sp>
      <p:sp>
        <p:nvSpPr>
          <p:cNvPr id="131" name="Text Box 121"/>
          <p:cNvSpPr txBox="1">
            <a:spLocks noChangeArrowheads="1"/>
          </p:cNvSpPr>
          <p:nvPr/>
        </p:nvSpPr>
        <p:spPr bwMode="gray">
          <a:xfrm>
            <a:off x="2564021" y="4477044"/>
            <a:ext cx="935651" cy="461665"/>
          </a:xfrm>
          <a:prstGeom prst="rect">
            <a:avLst/>
          </a:prstGeom>
          <a:noFill/>
          <a:ln>
            <a:noFill/>
          </a:ln>
          <a:effectLst/>
        </p:spPr>
        <p:txBody>
          <a:bodyPr wrap="square">
            <a:spAutoFit/>
          </a:bodyPr>
          <a:lstStyle/>
          <a:p>
            <a:pPr algn="ctr"/>
            <a:r>
              <a:rPr lang="en-US" altLang="ko-KR" sz="800" dirty="0" smtClean="0">
                <a:latin typeface="+mn-ea"/>
                <a:ea typeface="+mn-ea"/>
              </a:rPr>
              <a:t>Oracle </a:t>
            </a:r>
            <a:r>
              <a:rPr lang="ko-KR" altLang="en-US" sz="800" dirty="0" err="1" smtClean="0">
                <a:latin typeface="+mn-ea"/>
                <a:ea typeface="+mn-ea"/>
              </a:rPr>
              <a:t>채번</a:t>
            </a:r>
            <a:endParaRPr lang="en-US" altLang="ko-KR" sz="800" dirty="0" smtClean="0">
              <a:latin typeface="+mn-ea"/>
              <a:ea typeface="+mn-ea"/>
            </a:endParaRPr>
          </a:p>
          <a:p>
            <a:pPr algn="ctr"/>
            <a:r>
              <a:rPr lang="en-US" altLang="ko-KR" sz="800" dirty="0" smtClean="0">
                <a:latin typeface="+mn-ea"/>
                <a:ea typeface="+mn-ea"/>
              </a:rPr>
              <a:t>SHOP_RNDS_IDREG_NO</a:t>
            </a:r>
          </a:p>
        </p:txBody>
      </p:sp>
      <p:cxnSp>
        <p:nvCxnSpPr>
          <p:cNvPr id="132" name="AutoShape 67"/>
          <p:cNvCxnSpPr>
            <a:cxnSpLocks noChangeShapeType="1"/>
            <a:stCxn id="61" idx="2"/>
            <a:endCxn id="120" idx="2"/>
          </p:cNvCxnSpPr>
          <p:nvPr/>
        </p:nvCxnSpPr>
        <p:spPr bwMode="gray">
          <a:xfrm rot="16200000" flipH="1">
            <a:off x="2004682" y="4643437"/>
            <a:ext cx="222754" cy="674200"/>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AutoShape 67"/>
          <p:cNvCxnSpPr>
            <a:cxnSpLocks noChangeShapeType="1"/>
            <a:stCxn id="120" idx="6"/>
            <a:endCxn id="130" idx="2"/>
          </p:cNvCxnSpPr>
          <p:nvPr/>
        </p:nvCxnSpPr>
        <p:spPr bwMode="gray">
          <a:xfrm flipV="1">
            <a:off x="3081809" y="5085286"/>
            <a:ext cx="868168" cy="6628"/>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AutoShape 67"/>
          <p:cNvCxnSpPr>
            <a:cxnSpLocks noChangeShapeType="1"/>
            <a:stCxn id="120" idx="6"/>
            <a:endCxn id="126" idx="2"/>
          </p:cNvCxnSpPr>
          <p:nvPr/>
        </p:nvCxnSpPr>
        <p:spPr bwMode="gray">
          <a:xfrm>
            <a:off x="3081809" y="5091914"/>
            <a:ext cx="861954" cy="605455"/>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AutoShape 86"/>
          <p:cNvSpPr>
            <a:spLocks noChangeArrowheads="1"/>
          </p:cNvSpPr>
          <p:nvPr/>
        </p:nvSpPr>
        <p:spPr bwMode="auto">
          <a:xfrm>
            <a:off x="1469722" y="590692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판매</a:t>
            </a:r>
            <a:endParaRPr lang="en-US" altLang="ko-KR" sz="600" b="1" dirty="0" smtClean="0">
              <a:latin typeface="+mn-ea"/>
              <a:ea typeface="+mn-ea"/>
            </a:endParaRPr>
          </a:p>
          <a:p>
            <a:pPr algn="ctr"/>
            <a:r>
              <a:rPr lang="en-US" altLang="ko-KR" sz="600" b="1" dirty="0" smtClean="0">
                <a:latin typeface="+mn-ea"/>
                <a:ea typeface="+mn-ea"/>
              </a:rPr>
              <a:t>T_SALE</a:t>
            </a:r>
            <a:endParaRPr lang="ko-KR" altLang="en-US" sz="600" b="1" dirty="0">
              <a:latin typeface="+mn-ea"/>
              <a:ea typeface="+mn-ea"/>
            </a:endParaRPr>
          </a:p>
        </p:txBody>
      </p:sp>
      <p:cxnSp>
        <p:nvCxnSpPr>
          <p:cNvPr id="139" name="AutoShape 67"/>
          <p:cNvCxnSpPr>
            <a:cxnSpLocks noChangeShapeType="1"/>
            <a:stCxn id="67" idx="4"/>
            <a:endCxn id="138" idx="4"/>
          </p:cNvCxnSpPr>
          <p:nvPr/>
        </p:nvCxnSpPr>
        <p:spPr bwMode="gray">
          <a:xfrm rot="5400000">
            <a:off x="2034549" y="5816177"/>
            <a:ext cx="336539" cy="332715"/>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AutoShape 67"/>
          <p:cNvCxnSpPr>
            <a:cxnSpLocks noChangeShapeType="1"/>
            <a:stCxn id="67" idx="6"/>
            <a:endCxn id="126" idx="2"/>
          </p:cNvCxnSpPr>
          <p:nvPr/>
        </p:nvCxnSpPr>
        <p:spPr bwMode="gray">
          <a:xfrm>
            <a:off x="2683500" y="5638053"/>
            <a:ext cx="1260263" cy="59316"/>
          </a:xfrm>
          <a:prstGeom prst="bentConnector3">
            <a:avLst>
              <a:gd name="adj1" fmla="val 50000"/>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 name="TextBox 94"/>
          <p:cNvSpPr txBox="1">
            <a:spLocks noChangeArrowheads="1"/>
          </p:cNvSpPr>
          <p:nvPr/>
        </p:nvSpPr>
        <p:spPr bwMode="auto">
          <a:xfrm>
            <a:off x="2796356" y="5235645"/>
            <a:ext cx="983985"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dirty="0" smtClean="0">
                <a:latin typeface="+mn-ea"/>
                <a:ea typeface="+mn-ea"/>
              </a:rPr>
              <a:t>STS027 </a:t>
            </a:r>
            <a:r>
              <a:rPr lang="ko-KR" altLang="en-US" sz="800" dirty="0" smtClean="0">
                <a:latin typeface="+mn-ea"/>
                <a:ea typeface="+mn-ea"/>
              </a:rPr>
              <a:t>반품처리</a:t>
            </a:r>
            <a:endParaRPr lang="ko-KR" altLang="en-US" sz="800" dirty="0">
              <a:latin typeface="+mn-ea"/>
              <a:ea typeface="+mn-ea"/>
            </a:endParaRPr>
          </a:p>
        </p:txBody>
      </p:sp>
      <p:sp>
        <p:nvSpPr>
          <p:cNvPr id="143" name="TextBox 94"/>
          <p:cNvSpPr txBox="1">
            <a:spLocks noChangeArrowheads="1"/>
          </p:cNvSpPr>
          <p:nvPr/>
        </p:nvSpPr>
        <p:spPr bwMode="auto">
          <a:xfrm>
            <a:off x="4708269" y="3930417"/>
            <a:ext cx="1182905"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dirty="0" smtClean="0">
                <a:latin typeface="+mn-ea"/>
                <a:ea typeface="+mn-ea"/>
              </a:rPr>
              <a:t>OA </a:t>
            </a:r>
            <a:r>
              <a:rPr lang="ko-KR" altLang="en-US" sz="800" dirty="0" smtClean="0">
                <a:latin typeface="+mn-ea"/>
                <a:ea typeface="+mn-ea"/>
              </a:rPr>
              <a:t>창고 자가소모</a:t>
            </a:r>
            <a:endParaRPr lang="ko-KR" altLang="en-US" sz="800" dirty="0">
              <a:latin typeface="+mn-ea"/>
              <a:ea typeface="+mn-ea"/>
            </a:endParaRPr>
          </a:p>
        </p:txBody>
      </p:sp>
      <p:sp>
        <p:nvSpPr>
          <p:cNvPr id="144" name="직사각형 143"/>
          <p:cNvSpPr/>
          <p:nvPr/>
        </p:nvSpPr>
        <p:spPr>
          <a:xfrm>
            <a:off x="4830771" y="4241414"/>
            <a:ext cx="1591484" cy="1627300"/>
          </a:xfrm>
          <a:prstGeom prst="rect">
            <a:avLst/>
          </a:prstGeom>
          <a:solidFill>
            <a:schemeClr val="accent1">
              <a:lumMod val="20000"/>
              <a:lumOff val="80000"/>
            </a:schemeClr>
          </a:solidFill>
          <a:ln>
            <a:solidFill>
              <a:schemeClr val="accent1"/>
            </a:solidFill>
          </a:ln>
        </p:spPr>
        <p:txBody>
          <a:bodyPr wrap="square" rtlCol="0" anchor="ctr">
            <a:noAutofit/>
          </a:bodyPr>
          <a:lstStyle/>
          <a:p>
            <a:pPr marL="268288" indent="-215900" algn="ctr">
              <a:spcBef>
                <a:spcPct val="20000"/>
              </a:spcBef>
              <a:buClr>
                <a:srgbClr val="FFD200"/>
              </a:buClr>
              <a:buSzPct val="75000"/>
            </a:pPr>
            <a:endParaRPr lang="ko-KR" altLang="en-US" sz="1200" b="1" kern="0" dirty="0" smtClean="0">
              <a:solidFill>
                <a:schemeClr val="bg1"/>
              </a:solidFill>
              <a:latin typeface="맑은 고딕" pitchFamily="50" charset="-127"/>
              <a:ea typeface="맑은 고딕" pitchFamily="50" charset="-127"/>
            </a:endParaRPr>
          </a:p>
        </p:txBody>
      </p:sp>
      <p:sp>
        <p:nvSpPr>
          <p:cNvPr id="145" name="AutoShape 86"/>
          <p:cNvSpPr>
            <a:spLocks noChangeArrowheads="1"/>
          </p:cNvSpPr>
          <p:nvPr/>
        </p:nvSpPr>
        <p:spPr bwMode="auto">
          <a:xfrm>
            <a:off x="4953000" y="455412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매장재고</a:t>
            </a:r>
            <a:endParaRPr lang="en-US" altLang="ko-KR" sz="600" b="1" dirty="0" smtClean="0">
              <a:latin typeface="+mn-ea"/>
              <a:ea typeface="+mn-ea"/>
            </a:endParaRPr>
          </a:p>
          <a:p>
            <a:pPr algn="ctr"/>
            <a:r>
              <a:rPr lang="en-US" altLang="ko-KR" sz="600" b="1" dirty="0" smtClean="0">
                <a:latin typeface="+mn-ea"/>
                <a:ea typeface="+mn-ea"/>
              </a:rPr>
              <a:t>T_SHOP_STOCK</a:t>
            </a:r>
            <a:endParaRPr lang="ko-KR" altLang="en-US" sz="600" b="1" dirty="0">
              <a:latin typeface="+mn-ea"/>
              <a:ea typeface="+mn-ea"/>
            </a:endParaRPr>
          </a:p>
        </p:txBody>
      </p:sp>
      <p:sp>
        <p:nvSpPr>
          <p:cNvPr id="146" name="AutoShape 86"/>
          <p:cNvSpPr>
            <a:spLocks noChangeArrowheads="1"/>
          </p:cNvSpPr>
          <p:nvPr/>
        </p:nvSpPr>
        <p:spPr bwMode="auto">
          <a:xfrm>
            <a:off x="5723832" y="4554125"/>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err="1" smtClean="0">
                <a:latin typeface="+mn-ea"/>
                <a:ea typeface="+mn-ea"/>
              </a:rPr>
              <a:t>제품월수불</a:t>
            </a:r>
            <a:endParaRPr lang="en-US" altLang="ko-KR" sz="600" b="1" dirty="0" smtClean="0">
              <a:latin typeface="+mn-ea"/>
              <a:ea typeface="+mn-ea"/>
            </a:endParaRPr>
          </a:p>
          <a:p>
            <a:pPr algn="ctr"/>
            <a:r>
              <a:rPr lang="en-US" altLang="ko-KR" sz="600" b="1" dirty="0" smtClean="0">
                <a:latin typeface="+mn-ea"/>
                <a:ea typeface="+mn-ea"/>
              </a:rPr>
              <a:t>T_M_RNDS</a:t>
            </a:r>
            <a:endParaRPr lang="ko-KR" altLang="en-US" sz="600" b="1" dirty="0">
              <a:latin typeface="+mn-ea"/>
              <a:ea typeface="+mn-ea"/>
            </a:endParaRPr>
          </a:p>
        </p:txBody>
      </p:sp>
      <p:sp>
        <p:nvSpPr>
          <p:cNvPr id="151" name="TextBox 94"/>
          <p:cNvSpPr txBox="1">
            <a:spLocks noChangeArrowheads="1"/>
          </p:cNvSpPr>
          <p:nvPr/>
        </p:nvSpPr>
        <p:spPr bwMode="auto">
          <a:xfrm>
            <a:off x="4953000" y="4239090"/>
            <a:ext cx="1443391" cy="215444"/>
          </a:xfrm>
          <a:prstGeom prst="rect">
            <a:avLst/>
          </a:prstGeom>
          <a:noFill/>
          <a:ln w="9525">
            <a:noFill/>
            <a:miter lim="800000"/>
            <a:headEnd/>
            <a:tailEnd/>
          </a:ln>
        </p:spPr>
        <p:txBody>
          <a:bodyPr wrap="square">
            <a:spAutoFit/>
          </a:bodyPr>
          <a:lstStyle/>
          <a:p>
            <a:pPr>
              <a:spcBef>
                <a:spcPct val="20000"/>
              </a:spcBef>
              <a:buClr>
                <a:srgbClr val="003366"/>
              </a:buClr>
            </a:pPr>
            <a:r>
              <a:rPr lang="ko-KR" altLang="en-US" sz="800" b="1" dirty="0" smtClean="0">
                <a:latin typeface="+mn-ea"/>
                <a:ea typeface="+mn-ea"/>
              </a:rPr>
              <a:t>패션</a:t>
            </a:r>
            <a:r>
              <a:rPr lang="en-US" altLang="ko-KR" sz="800" b="1" dirty="0" smtClean="0">
                <a:latin typeface="+mn-ea"/>
                <a:ea typeface="+mn-ea"/>
              </a:rPr>
              <a:t>ERP </a:t>
            </a:r>
            <a:r>
              <a:rPr lang="ko-KR" altLang="en-US" sz="800" b="1" dirty="0" smtClean="0">
                <a:latin typeface="+mn-ea"/>
                <a:ea typeface="+mn-ea"/>
              </a:rPr>
              <a:t>야간배치 갱신</a:t>
            </a:r>
            <a:endParaRPr lang="ko-KR" altLang="en-US" sz="800" b="1" dirty="0">
              <a:latin typeface="+mn-ea"/>
              <a:ea typeface="+mn-ea"/>
            </a:endParaRPr>
          </a:p>
        </p:txBody>
      </p:sp>
      <p:sp>
        <p:nvSpPr>
          <p:cNvPr id="155" name="AutoShape 86"/>
          <p:cNvSpPr>
            <a:spLocks noChangeArrowheads="1"/>
          </p:cNvSpPr>
          <p:nvPr/>
        </p:nvSpPr>
        <p:spPr bwMode="auto">
          <a:xfrm>
            <a:off x="5318097" y="5139190"/>
            <a:ext cx="566738" cy="48775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ko-KR" altLang="en-US" sz="600" b="1" dirty="0" smtClean="0">
                <a:latin typeface="+mn-ea"/>
                <a:ea typeface="+mn-ea"/>
              </a:rPr>
              <a:t>창고재고</a:t>
            </a:r>
            <a:endParaRPr lang="en-US" altLang="ko-KR" sz="600" b="1" dirty="0" smtClean="0">
              <a:latin typeface="+mn-ea"/>
              <a:ea typeface="+mn-ea"/>
            </a:endParaRPr>
          </a:p>
          <a:p>
            <a:pPr algn="ctr"/>
            <a:r>
              <a:rPr lang="en-US" altLang="ko-KR" sz="600" b="1" dirty="0" smtClean="0">
                <a:latin typeface="+mn-ea"/>
                <a:ea typeface="+mn-ea"/>
              </a:rPr>
              <a:t>T_WH_STOCK_PRDT</a:t>
            </a:r>
            <a:endParaRPr lang="ko-KR" altLang="en-US" sz="600" b="1" dirty="0">
              <a:latin typeface="+mn-ea"/>
              <a:ea typeface="+mn-ea"/>
            </a:endParaRPr>
          </a:p>
        </p:txBody>
      </p:sp>
      <p:cxnSp>
        <p:nvCxnSpPr>
          <p:cNvPr id="158" name="AutoShape 67"/>
          <p:cNvCxnSpPr>
            <a:cxnSpLocks noChangeShapeType="1"/>
            <a:stCxn id="100" idx="2"/>
            <a:endCxn id="155" idx="1"/>
          </p:cNvCxnSpPr>
          <p:nvPr/>
        </p:nvCxnSpPr>
        <p:spPr bwMode="gray">
          <a:xfrm rot="10800000" flipH="1" flipV="1">
            <a:off x="5199452" y="3501540"/>
            <a:ext cx="402014" cy="1637650"/>
          </a:xfrm>
          <a:prstGeom prst="bentConnector4">
            <a:avLst>
              <a:gd name="adj1" fmla="val -56864"/>
              <a:gd name="adj2" fmla="val 57446"/>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AutoShape 67"/>
          <p:cNvCxnSpPr>
            <a:cxnSpLocks noChangeShapeType="1"/>
            <a:stCxn id="100" idx="3"/>
            <a:endCxn id="146" idx="1"/>
          </p:cNvCxnSpPr>
          <p:nvPr/>
        </p:nvCxnSpPr>
        <p:spPr bwMode="gray">
          <a:xfrm rot="16200000" flipH="1">
            <a:off x="5340658" y="3887582"/>
            <a:ext cx="808706" cy="524380"/>
          </a:xfrm>
          <a:prstGeom prst="bentConnector3">
            <a:avLst>
              <a:gd name="adj1" fmla="val 50000"/>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AutoShape 67"/>
          <p:cNvCxnSpPr>
            <a:cxnSpLocks noChangeShapeType="1"/>
            <a:stCxn id="126" idx="4"/>
            <a:endCxn id="145" idx="3"/>
          </p:cNvCxnSpPr>
          <p:nvPr/>
        </p:nvCxnSpPr>
        <p:spPr bwMode="gray">
          <a:xfrm flipV="1">
            <a:off x="4510501" y="5041883"/>
            <a:ext cx="725868" cy="655486"/>
          </a:xfrm>
          <a:prstGeom prst="bentConnector2">
            <a:avLst/>
          </a:prstGeom>
          <a:noFill/>
          <a:ln w="9525">
            <a:solidFill>
              <a:srgbClr val="CC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AutoShape 67"/>
          <p:cNvCxnSpPr>
            <a:cxnSpLocks noChangeShapeType="1"/>
            <a:stCxn id="126" idx="4"/>
            <a:endCxn id="146" idx="3"/>
          </p:cNvCxnSpPr>
          <p:nvPr/>
        </p:nvCxnSpPr>
        <p:spPr bwMode="gray">
          <a:xfrm flipV="1">
            <a:off x="4510501" y="5041883"/>
            <a:ext cx="1496700" cy="655486"/>
          </a:xfrm>
          <a:prstGeom prst="bentConnector2">
            <a:avLst/>
          </a:prstGeom>
          <a:noFill/>
          <a:ln w="9525">
            <a:solidFill>
              <a:srgbClr val="CC33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Box 94"/>
          <p:cNvSpPr txBox="1">
            <a:spLocks noChangeArrowheads="1"/>
          </p:cNvSpPr>
          <p:nvPr/>
        </p:nvSpPr>
        <p:spPr bwMode="auto">
          <a:xfrm>
            <a:off x="6777872" y="4883479"/>
            <a:ext cx="749858" cy="215444"/>
          </a:xfrm>
          <a:prstGeom prst="rect">
            <a:avLst/>
          </a:prstGeom>
          <a:noFill/>
          <a:ln w="9525">
            <a:noFill/>
            <a:miter lim="800000"/>
            <a:headEnd/>
            <a:tailEnd/>
          </a:ln>
        </p:spPr>
        <p:txBody>
          <a:bodyPr wrap="square">
            <a:spAutoFit/>
          </a:bodyPr>
          <a:lstStyle/>
          <a:p>
            <a:pPr>
              <a:spcBef>
                <a:spcPct val="20000"/>
              </a:spcBef>
              <a:buClr>
                <a:srgbClr val="003366"/>
              </a:buClr>
            </a:pPr>
            <a:r>
              <a:rPr lang="en-US" altLang="ko-KR" sz="800" smtClean="0">
                <a:latin typeface="+mn-ea"/>
                <a:ea typeface="+mn-ea"/>
                <a:sym typeface="Wingdings" panose="05000000000000000000" pitchFamily="2" charset="2"/>
              </a:rPr>
              <a:t>BO</a:t>
            </a:r>
            <a:r>
              <a:rPr lang="ko-KR" altLang="en-US" sz="800" dirty="0" err="1" smtClean="0">
                <a:latin typeface="+mn-ea"/>
                <a:ea typeface="+mn-ea"/>
                <a:sym typeface="Wingdings" panose="05000000000000000000" pitchFamily="2" charset="2"/>
              </a:rPr>
              <a:t>에서등록</a:t>
            </a:r>
            <a:endParaRPr lang="en-US" altLang="ko-KR" sz="800" dirty="0" smtClean="0">
              <a:latin typeface="+mn-ea"/>
              <a:ea typeface="+mn-ea"/>
              <a:sym typeface="Wingdings" panose="05000000000000000000" pitchFamily="2" charset="2"/>
            </a:endParaRPr>
          </a:p>
        </p:txBody>
      </p:sp>
    </p:spTree>
    <p:extLst>
      <p:ext uri="{BB962C8B-B14F-4D97-AF65-F5344CB8AC3E}">
        <p14:creationId xmlns:p14="http://schemas.microsoft.com/office/powerpoint/2010/main" val="281840966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CN_DEFAULTS_TEXT_BOX_FRAME" val="TXTF_WIDTH$True|TXTF_HEIGHT$True|TXTF_TOP$True|TXTF_LEFT$True|TXTF_FILL_COLOR$True|TXTF_LINE_WEIGHT$False|TXTF_LINE_STYLE$False|TXTF_LINE_COLOR$False|TXTF_MARGIN_TOP$False|TXTF_MARGIN_BOTTOM$False|TXTF_MARGIN_LEFT$False|TXTF_MARGIN_RIGHT$False|TXTF_WORD_WRAP$True|TXTF_FIT_SHAPE$False|TXTF_ROTATION$True|TXTF_ANCHOR_POINT$False"/>
  <p:tag name="ACN_DEFAULTS_TEXT_BOX_TEXTRANGE" val="TXT_BOLD$False|TXT_ITALIC$False|TXT_UNDERLINE$False|TXT_FONT_TYPE$True|TXT_FONT_SIZE$True|TXT_FONT_COLOR$True|TXT_SHADOW$False|TXT_SCRIPT$True"/>
  <p:tag name="ACN_DEFAULTS_TEXT_BOX_PARAGRAPH" val="PARA_ALIGNMENT$False|PARA_LINE_SPACING$False|PARA_BEFORE_PARAGRAPH$False|PARA_AFTER_PARAGRAPH$False"/>
  <p:tag name="ACN_DEFAULTS_TEXT_BOX_INDENTLEVEL" val="IND_PRESERVE$True|IND_False$False|IND_ADD$False"/>
</p:tagLst>
</file>

<file path=ppt/tags/tag2.xml><?xml version="1.0" encoding="utf-8"?>
<p:tagLst xmlns:a="http://schemas.openxmlformats.org/drawingml/2006/main" xmlns:r="http://schemas.openxmlformats.org/officeDocument/2006/relationships" xmlns:p="http://schemas.openxmlformats.org/presentationml/2006/main">
  <p:tag name="STYLE" val="AcnBodyText"/>
  <p:tag name="DATE" val="2012-05-14 오전 10:15:57"/>
</p:tagLst>
</file>

<file path=ppt/theme/theme1.xml><?xml version="1.0" encoding="utf-8"?>
<a:theme xmlns:a="http://schemas.openxmlformats.org/drawingml/2006/main" name="경영정보팀 주간보고서">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맑은 고딕">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50000"/>
          </a:schemeClr>
        </a:solidFill>
        <a:ln>
          <a:solidFill>
            <a:schemeClr val="accent1"/>
          </a:solidFill>
        </a:ln>
      </a:spPr>
      <a:bodyPr wrap="square" rtlCol="0" anchor="ctr">
        <a:noAutofit/>
      </a:bodyPr>
      <a:lstStyle>
        <a:defPPr marL="268288" indent="-215900" algn="ctr">
          <a:spcBef>
            <a:spcPct val="20000"/>
          </a:spcBef>
          <a:buClr>
            <a:srgbClr val="FFD200"/>
          </a:buClr>
          <a:buSzPct val="75000"/>
          <a:defRPr sz="1200" b="1" kern="0" dirty="0" smtClean="0">
            <a:solidFill>
              <a:schemeClr val="bg1"/>
            </a:solidFill>
            <a:latin typeface="맑은 고딕" pitchFamily="50" charset="-127"/>
            <a:ea typeface="맑은 고딕" pitchFamily="50" charset="-127"/>
          </a:defRPr>
        </a:defPPr>
      </a:lstStyle>
    </a:spDef>
    <a:lnDef>
      <a:spPr bwMode="auto">
        <a:solidFill>
          <a:schemeClr val="accent1"/>
        </a:solidFill>
        <a:ln w="9525" cap="flat" cmpd="sng" algn="ctr">
          <a:solidFill>
            <a:schemeClr val="tx1"/>
          </a:solidFill>
          <a:prstDash val="solid"/>
          <a:round/>
          <a:headEnd type="none" w="med" len="med"/>
          <a:tailEnd type="triangle" w="med" len="med"/>
        </a:ln>
        <a:effectLst/>
      </a:spPr>
      <a:bodyPr/>
      <a:lstStyle/>
    </a:lnDef>
    <a:txDef>
      <a:spPr>
        <a:noFill/>
      </a:spPr>
      <a:bodyPr wrap="square" rtlCol="0">
        <a:spAutoFit/>
      </a:bodyPr>
      <a:lstStyle>
        <a:defPPr marL="268288" indent="-215900">
          <a:spcBef>
            <a:spcPct val="20000"/>
          </a:spcBef>
          <a:buClr>
            <a:srgbClr val="FFD200"/>
          </a:buClr>
          <a:buSzPct val="75000"/>
          <a:buFont typeface="Arial" charset="0"/>
          <a:buChar char="►"/>
          <a:defRPr sz="1400" kern="0" dirty="0" smtClean="0">
            <a:solidFill>
              <a:srgbClr val="646464">
                <a:lumMod val="50000"/>
              </a:srgbClr>
            </a:solidFill>
            <a:latin typeface="맑은 고딕" pitchFamily="50" charset="-127"/>
            <a:ea typeface="맑은 고딕" pitchFamily="50" charset="-127"/>
          </a:defRPr>
        </a:defPPr>
      </a:lstStyle>
    </a:txDef>
  </a:objectDefaults>
  <a:extraClrSchemeLst>
    <a:extraClrScheme>
      <a:clrScheme name="EY_Handou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24799F8C061FF54FA9C3F03411021153" ma:contentTypeVersion="0" ma:contentTypeDescription="새 문서를 만듭니다." ma:contentTypeScope="" ma:versionID="785d639d16b9fcf75a50f3b6492efe30">
  <xsd:schema xmlns:xsd="http://www.w3.org/2001/XMLSchema" xmlns:p="http://schemas.microsoft.com/office/2006/metadata/properties" targetNamespace="http://schemas.microsoft.com/office/2006/metadata/properties" ma:root="true" ma:fieldsID="6d1ee5c80bf69a1ee28e268965e8a726">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ma:readOnly="true"/>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8FE0ED-DF9C-4FBE-81BA-D32F2B2E97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E68AE160-D632-463C-AAE1-DFCBE262CDA4}">
  <ds:schemaRefs>
    <ds:schemaRef ds:uri="http://www.w3.org/XML/1998/namespace"/>
    <ds:schemaRef ds:uri="http://purl.org/dc/elements/1.1/"/>
    <ds:schemaRef ds:uri="http://schemas.openxmlformats.org/package/2006/metadata/core-properties"/>
    <ds:schemaRef ds:uri="http://schemas.microsoft.com/office/2006/documentManagement/types"/>
    <ds:schemaRef ds:uri="http://purl.org/dc/dcmitype/"/>
    <ds:schemaRef ds:uri="http://purl.org/dc/terms/"/>
    <ds:schemaRef ds:uri="http://schemas.microsoft.com/office/2006/metadata/properties"/>
  </ds:schemaRefs>
</ds:datastoreItem>
</file>

<file path=customXml/itemProps3.xml><?xml version="1.0" encoding="utf-8"?>
<ds:datastoreItem xmlns:ds="http://schemas.openxmlformats.org/officeDocument/2006/customXml" ds:itemID="{3096ECB2-C7A9-48BE-915A-90E7F0B570E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95519</TotalTime>
  <Words>3684</Words>
  <Application>Microsoft Office PowerPoint</Application>
  <PresentationFormat>A4 용지(210x297mm)</PresentationFormat>
  <Paragraphs>1247</Paragraphs>
  <Slides>15</Slides>
  <Notes>1</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15</vt:i4>
      </vt:variant>
    </vt:vector>
  </HeadingPairs>
  <TitlesOfParts>
    <vt:vector size="24" baseType="lpstr">
      <vt:lpstr>Helvetica</vt:lpstr>
      <vt:lpstr>JBold</vt:lpstr>
      <vt:lpstr>Wingdings</vt:lpstr>
      <vt:lpstr>나눔고딕 ExtraBold</vt:lpstr>
      <vt:lpstr>나눔고딕</vt:lpstr>
      <vt:lpstr>굴림</vt:lpstr>
      <vt:lpstr>맑은 고딕</vt:lpstr>
      <vt:lpstr>Arial</vt:lpstr>
      <vt:lpstr>경영정보팀 주간보고서</vt:lpstr>
      <vt:lpstr>온라인정산프로세스</vt:lpstr>
      <vt:lpstr>1. 온라인(자사/외부) 출고</vt:lpstr>
      <vt:lpstr>2. 온라인 출고 반품(자사/외부)</vt:lpstr>
      <vt:lpstr>3. 자사몰 판매</vt:lpstr>
      <vt:lpstr>4. 온라인 판매 반품(자사/외부)</vt:lpstr>
      <vt:lpstr>5. 자사 몰 구매 확정</vt:lpstr>
      <vt:lpstr>6. 외부 몰 정산</vt:lpstr>
      <vt:lpstr>6. 외부 몰 정산</vt:lpstr>
      <vt:lpstr>6. 외부 몰 정산</vt:lpstr>
      <vt:lpstr>6. 외부 몰 정산</vt:lpstr>
      <vt:lpstr>6. 외부 몰 정산</vt:lpstr>
      <vt:lpstr>6. 외부 몰 정산</vt:lpstr>
      <vt:lpstr>6. 외부 몰 정산</vt:lpstr>
      <vt:lpstr>7. LOSS 처리</vt:lpstr>
      <vt:lpstr>7. LOSS 처리</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패션시스템</dc:title>
  <dc:creator>pid0324</dc:creator>
  <dc:description/>
  <cp:lastModifiedBy>pid0324</cp:lastModifiedBy>
  <cp:revision>2890</cp:revision>
  <cp:lastPrinted>2016-03-16T07:17:05Z</cp:lastPrinted>
  <dcterms:created xsi:type="dcterms:W3CDTF">2010-03-03T04:03:39Z</dcterms:created>
  <dcterms:modified xsi:type="dcterms:W3CDTF">2024-01-30T06:38:48Z</dcterms:modified>
</cp:coreProperties>
</file>