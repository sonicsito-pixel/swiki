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86" r:id="rId4"/>
    <p:sldId id="301" r:id="rId5"/>
    <p:sldId id="290" r:id="rId6"/>
    <p:sldId id="291" r:id="rId7"/>
    <p:sldId id="287" r:id="rId8"/>
    <p:sldId id="292" r:id="rId9"/>
    <p:sldId id="313" r:id="rId10"/>
    <p:sldId id="314" r:id="rId11"/>
    <p:sldId id="316" r:id="rId12"/>
    <p:sldId id="317" r:id="rId13"/>
    <p:sldId id="318" r:id="rId14"/>
    <p:sldId id="275" r:id="rId15"/>
    <p:sldId id="324" r:id="rId16"/>
    <p:sldId id="325" r:id="rId17"/>
    <p:sldId id="303" r:id="rId18"/>
    <p:sldId id="288" r:id="rId19"/>
    <p:sldId id="295" r:id="rId20"/>
    <p:sldId id="296" r:id="rId21"/>
    <p:sldId id="297" r:id="rId22"/>
    <p:sldId id="299" r:id="rId23"/>
    <p:sldId id="289" r:id="rId24"/>
    <p:sldId id="271" r:id="rId25"/>
    <p:sldId id="262" r:id="rId26"/>
    <p:sldId id="263" r:id="rId27"/>
    <p:sldId id="322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404040"/>
    <a:srgbClr val="6C6C6C"/>
    <a:srgbClr val="4779BD"/>
    <a:srgbClr val="0070C0"/>
    <a:srgbClr val="0070BD"/>
    <a:srgbClr val="D5D5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0" y="3429001"/>
            <a:ext cx="12192000" cy="3429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052763" y="1518655"/>
            <a:ext cx="9867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신성통상 차세대 </a:t>
            </a:r>
            <a:r>
              <a:rPr kumimoji="1" lang="en-US" altLang="ko-KR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POS </a:t>
            </a:r>
            <a:r>
              <a:rPr kumimoji="1" lang="ko-KR" altLang="en-US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및 키오스크 구축 프로젝트</a:t>
            </a:r>
            <a:endParaRPr kumimoji="1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Arial Unicode MS" panose="020B0604020202020204" pitchFamily="50" charset="-127"/>
            </a:endParaRPr>
          </a:p>
        </p:txBody>
      </p:sp>
      <p:sp>
        <p:nvSpPr>
          <p:cNvPr id="9" name="텍스트 개체 틀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04054" y="2296889"/>
            <a:ext cx="2587414" cy="38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rgbClr val="4779BD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OO</a:t>
            </a:r>
            <a:r>
              <a:rPr lang="ko-KR" altLang="en-US" dirty="0"/>
              <a:t>보고서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52763" y="2143746"/>
            <a:ext cx="1008246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3" y="556194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" name="텍스트 개체 틀 10"/>
          <p:cNvSpPr>
            <a:spLocks noGrp="1"/>
          </p:cNvSpPr>
          <p:nvPr>
            <p:ph type="body" sz="quarter" idx="15" hasCustomPrompt="1"/>
          </p:nvPr>
        </p:nvSpPr>
        <p:spPr>
          <a:xfrm>
            <a:off x="4583541" y="5599117"/>
            <a:ext cx="3020906" cy="27383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2025.03.XX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577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-45120" y="0"/>
            <a:ext cx="6141119" cy="68580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052763" y="1518655"/>
            <a:ext cx="504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목차</a:t>
            </a:r>
            <a:endParaRPr kumimoji="1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Y헤드라인M" pitchFamily="18" charset="-127"/>
              <a:ea typeface="HY헤드라인M" pitchFamily="18" charset="-127"/>
              <a:cs typeface="Arial Unicode MS" panose="020B0604020202020204" pitchFamily="50" charset="-127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52763" y="2143746"/>
            <a:ext cx="1008246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텍스트 개체 틀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52763" y="2250991"/>
            <a:ext cx="5043236" cy="3973702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kumimoji="0" lang="ko-KR" altLang="en-US" sz="2000" b="0" kern="1200" baseline="0" dirty="0">
                <a:solidFill>
                  <a:schemeClr val="bg1">
                    <a:lumMod val="50000"/>
                  </a:schemeClr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</a:lstStyle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목차 </a:t>
            </a:r>
            <a:r>
              <a:rPr kumimoji="0" lang="en-US" altLang="ko-KR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1</a:t>
            </a:r>
          </a:p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목차 </a:t>
            </a:r>
            <a:r>
              <a:rPr kumimoji="0" lang="en-US" altLang="ko-KR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2</a:t>
            </a:r>
            <a:endParaRPr kumimoji="0" lang="en-US" altLang="ko-KR" sz="2000" b="0" dirty="0">
              <a:solidFill>
                <a:schemeClr val="bg1">
                  <a:lumMod val="50000"/>
                </a:schemeClr>
              </a:solidFill>
              <a:latin typeface="CJ ONLYONE NEW 본문 Regular" panose="00000500000000000000" pitchFamily="2" charset="-127"/>
              <a:ea typeface="CJ ONLYONE NEW 본문 Regular" panose="00000500000000000000" pitchFamily="2" charset="-127"/>
            </a:endParaRPr>
          </a:p>
        </p:txBody>
      </p:sp>
      <p:pic>
        <p:nvPicPr>
          <p:cNvPr id="2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3" y="556194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6962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상세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6093994" y="-144"/>
            <a:ext cx="6096000" cy="68580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52763" y="2143746"/>
            <a:ext cx="1008246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3" y="556194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텍스트 개체 틀 10"/>
          <p:cNvSpPr>
            <a:spLocks noGrp="1"/>
          </p:cNvSpPr>
          <p:nvPr>
            <p:ph type="body" sz="quarter" idx="15" hasCustomPrompt="1"/>
          </p:nvPr>
        </p:nvSpPr>
        <p:spPr>
          <a:xfrm>
            <a:off x="1052762" y="1579028"/>
            <a:ext cx="6213885" cy="500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kumimoji="1" lang="ko-KR" altLang="en-US" sz="3200" b="1" i="0" u="none" strike="noStrike" kern="1200" cap="none" spc="-10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6" hasCustomPrompt="1"/>
          </p:nvPr>
        </p:nvSpPr>
        <p:spPr>
          <a:xfrm>
            <a:off x="1440382" y="2249994"/>
            <a:ext cx="5818173" cy="3422650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000">
                <a:latin typeface="+mn-ea"/>
                <a:ea typeface="+mn-ea"/>
              </a:defRPr>
            </a:lvl1pPr>
          </a:lstStyle>
          <a:p>
            <a:pPr lvl="0"/>
            <a:r>
              <a:rPr lang="ko-KR" altLang="en-US" dirty="0"/>
              <a:t>목차 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목차 </a:t>
            </a:r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1031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/>
          <p:cNvSpPr/>
          <p:nvPr userDrawn="1"/>
        </p:nvSpPr>
        <p:spPr bwMode="auto">
          <a:xfrm>
            <a:off x="0" y="-144"/>
            <a:ext cx="12189994" cy="685800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052763" y="1518655"/>
            <a:ext cx="81876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감사합니다</a:t>
            </a:r>
            <a:r>
              <a:rPr kumimoji="1" lang="en-US" altLang="ko-KR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.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52763" y="2143746"/>
            <a:ext cx="1008246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763" y="556194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052763" y="2210780"/>
            <a:ext cx="2328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Arial Unicode MS" panose="020B0604020202020204" pitchFamily="50" charset="-127"/>
              </a:rPr>
              <a:t>E.O.D</a:t>
            </a:r>
          </a:p>
        </p:txBody>
      </p:sp>
    </p:spTree>
    <p:extLst>
      <p:ext uri="{BB962C8B-B14F-4D97-AF65-F5344CB8AC3E}">
        <p14:creationId xmlns:p14="http://schemas.microsoft.com/office/powerpoint/2010/main" val="563432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210000" y="551504"/>
            <a:ext cx="11827596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0" y="-10801"/>
            <a:ext cx="12192000" cy="66462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10000" y="98598"/>
            <a:ext cx="6806363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spc="-60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2213" y="606298"/>
            <a:ext cx="11501119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 spc="-90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4572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9144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3716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8288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2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7016364" y="302980"/>
            <a:ext cx="5021232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pic>
        <p:nvPicPr>
          <p:cNvPr id="28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026" y="6498171"/>
            <a:ext cx="887305" cy="29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518573" y="6535516"/>
            <a:ext cx="1154854" cy="261380"/>
          </a:xfrm>
        </p:spPr>
        <p:txBody>
          <a:bodyPr/>
          <a:lstStyle>
            <a:lvl1pPr algn="ctr">
              <a:defRPr sz="1000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Picture 2" descr="Z:\A.사업관리\A000.표준및정책\A010.프로젝트표준서식\신성통상_로고\신성통상_가로형_국문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37" y="6601339"/>
            <a:ext cx="866503" cy="12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482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배경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 userDrawn="1"/>
        </p:nvSpPr>
        <p:spPr bwMode="auto">
          <a:xfrm>
            <a:off x="352213" y="1215761"/>
            <a:ext cx="11501119" cy="525954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210000" y="551504"/>
            <a:ext cx="11827596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0" y="-10801"/>
            <a:ext cx="12192000" cy="66462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2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10000" y="98598"/>
            <a:ext cx="6806363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spc="-60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상세 제목 삽입</a:t>
            </a: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2213" y="606298"/>
            <a:ext cx="11501119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 spc="-90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4572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9144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3716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8288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2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7016364" y="302980"/>
            <a:ext cx="5021232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pic>
        <p:nvPicPr>
          <p:cNvPr id="28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6026" y="6498171"/>
            <a:ext cx="887305" cy="291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518573" y="6535516"/>
            <a:ext cx="1154854" cy="261380"/>
          </a:xfrm>
        </p:spPr>
        <p:txBody>
          <a:bodyPr/>
          <a:lstStyle>
            <a:lvl1pPr algn="ctr">
              <a:defRPr sz="1000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1" name="Picture 2" descr="Z:\A.사업관리\A000.표준및정책\A010.프로젝트표준서식\신성통상_로고\신성통상_가로형_국문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37" y="6601339"/>
            <a:ext cx="866503" cy="12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951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 userDrawn="1"/>
        </p:nvSpPr>
        <p:spPr>
          <a:xfrm>
            <a:off x="0" y="-1"/>
            <a:ext cx="12192000" cy="64800"/>
          </a:xfrm>
          <a:prstGeom prst="rect">
            <a:avLst/>
          </a:prstGeom>
          <a:gradFill flip="none" rotWithShape="1">
            <a:gsLst>
              <a:gs pos="50000">
                <a:srgbClr val="F5F5F5"/>
              </a:gs>
              <a:gs pos="0">
                <a:srgbClr val="6C6C6C"/>
              </a:gs>
              <a:gs pos="100000">
                <a:srgbClr val="6A6A6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210000" y="551504"/>
            <a:ext cx="11827596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10000" y="98598"/>
            <a:ext cx="6806363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spc="-60" baseline="0">
                <a:latin typeface="HY중고딕" pitchFamily="18" charset="-127"/>
                <a:ea typeface="HY중고딕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별첨</a:t>
            </a:r>
            <a:r>
              <a:rPr lang="en-US" altLang="ko-KR" dirty="0"/>
              <a:t>1. </a:t>
            </a:r>
            <a:r>
              <a:rPr lang="ko-KR" altLang="en-US" dirty="0"/>
              <a:t>제목</a:t>
            </a:r>
          </a:p>
        </p:txBody>
      </p:sp>
      <p:sp>
        <p:nvSpPr>
          <p:cNvPr id="21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52213" y="606298"/>
            <a:ext cx="11501119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 spc="-90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4572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9144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3716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828800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2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7016364" y="302980"/>
            <a:ext cx="5021232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추가 제목</a:t>
            </a:r>
          </a:p>
        </p:txBody>
      </p:sp>
      <p:sp>
        <p:nvSpPr>
          <p:cNvPr id="2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518573" y="6535516"/>
            <a:ext cx="1154854" cy="261380"/>
          </a:xfrm>
        </p:spPr>
        <p:txBody>
          <a:bodyPr/>
          <a:lstStyle>
            <a:lvl1pPr algn="ctr">
              <a:defRPr sz="1000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813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43C5C-009B-4785-ACD4-14616D0D9888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E25F8-DD2E-4512-9D1F-10243ABEAA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73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43C5C-009B-4785-ACD4-14616D0D9888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E25F8-DD2E-4512-9D1F-10243ABEAA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88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1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svg"/><Relationship Id="rId26" Type="http://schemas.openxmlformats.org/officeDocument/2006/relationships/image" Target="../media/image15.svg"/><Relationship Id="rId39" Type="http://schemas.openxmlformats.org/officeDocument/2006/relationships/image" Target="../media/image66.svg"/><Relationship Id="rId3" Type="http://schemas.openxmlformats.org/officeDocument/2006/relationships/image" Target="../media/image32.png"/><Relationship Id="rId21" Type="http://schemas.openxmlformats.org/officeDocument/2006/relationships/image" Target="../media/image50.png"/><Relationship Id="rId34" Type="http://schemas.openxmlformats.org/officeDocument/2006/relationships/image" Target="../media/image61.png"/><Relationship Id="rId42" Type="http://schemas.openxmlformats.org/officeDocument/2006/relationships/image" Target="../media/image69.sv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14.png"/><Relationship Id="rId33" Type="http://schemas.openxmlformats.org/officeDocument/2006/relationships/image" Target="../media/image60.svg"/><Relationship Id="rId38" Type="http://schemas.openxmlformats.org/officeDocument/2006/relationships/image" Target="../media/image65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svg"/><Relationship Id="rId29" Type="http://schemas.openxmlformats.org/officeDocument/2006/relationships/image" Target="../media/image56.png"/><Relationship Id="rId41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11" Type="http://schemas.openxmlformats.org/officeDocument/2006/relationships/image" Target="../media/image40.png"/><Relationship Id="rId24" Type="http://schemas.openxmlformats.org/officeDocument/2006/relationships/image" Target="../media/image53.svg"/><Relationship Id="rId32" Type="http://schemas.openxmlformats.org/officeDocument/2006/relationships/image" Target="../media/image59.png"/><Relationship Id="rId37" Type="http://schemas.openxmlformats.org/officeDocument/2006/relationships/image" Target="../media/image64.svg"/><Relationship Id="rId40" Type="http://schemas.openxmlformats.org/officeDocument/2006/relationships/image" Target="../media/image67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5.png"/><Relationship Id="rId36" Type="http://schemas.openxmlformats.org/officeDocument/2006/relationships/image" Target="../media/image63.png"/><Relationship Id="rId10" Type="http://schemas.openxmlformats.org/officeDocument/2006/relationships/image" Target="../media/image39.svg"/><Relationship Id="rId19" Type="http://schemas.openxmlformats.org/officeDocument/2006/relationships/image" Target="../media/image48.png"/><Relationship Id="rId31" Type="http://schemas.openxmlformats.org/officeDocument/2006/relationships/image" Target="../media/image5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sv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35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[ </a:t>
            </a:r>
            <a:r>
              <a:rPr lang="ko-KR" altLang="en-US" dirty="0"/>
              <a:t>착수 보고서 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2025.03.05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3809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ko-KR" altLang="en-US" b="1" dirty="0">
                <a:latin typeface="+mn-ea"/>
                <a:ea typeface="+mn-ea"/>
              </a:rPr>
              <a:t>프로젝트 개요</a:t>
            </a:r>
            <a:endParaRPr lang="en-US" altLang="ko-KR" b="1" dirty="0">
              <a:latin typeface="+mn-ea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배경 및 목적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수행 범위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기대 효과</a:t>
            </a:r>
            <a:endParaRPr lang="en-US" altLang="ko-KR" dirty="0">
              <a:latin typeface="+mn-ea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romanUcPeriod"/>
            </a:pPr>
            <a:r>
              <a:rPr lang="ko-KR" altLang="en-US" b="1" dirty="0">
                <a:latin typeface="+mn-ea"/>
                <a:ea typeface="+mn-ea"/>
              </a:rPr>
              <a:t>프로젝트 추진방안</a:t>
            </a:r>
            <a:endParaRPr lang="en-US" altLang="ko-KR" b="1" dirty="0">
              <a:latin typeface="+mn-ea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추진 전략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수행 일정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조직도 및 역할</a:t>
            </a:r>
            <a:endParaRPr lang="en-US" altLang="ko-KR" dirty="0">
              <a:latin typeface="+mn-ea"/>
            </a:endParaRPr>
          </a:p>
        </p:txBody>
      </p:sp>
      <p:sp>
        <p:nvSpPr>
          <p:cNvPr id="3" name="텍스트 개체 틀 1"/>
          <p:cNvSpPr txBox="1">
            <a:spLocks/>
          </p:cNvSpPr>
          <p:nvPr/>
        </p:nvSpPr>
        <p:spPr>
          <a:xfrm>
            <a:off x="6254683" y="2250991"/>
            <a:ext cx="5043236" cy="3973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ko-KR" altLang="en-US" sz="2000" b="0" kern="1200" baseline="0" dirty="0">
                <a:solidFill>
                  <a:schemeClr val="bg1">
                    <a:lumMod val="50000"/>
                  </a:schemeClr>
                </a:solidFill>
                <a:latin typeface="CJ ONLYONE NEW 본문 Regular" panose="00000500000000000000" pitchFamily="2" charset="-127"/>
                <a:ea typeface="CJ ONLYONE NEW 본문 Regular" panose="000005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romanUcPeriod" startAt="3"/>
            </a:pPr>
            <a:r>
              <a:rPr lang="ko-KR" altLang="en-US" b="1" dirty="0">
                <a:latin typeface="+mn-ea"/>
                <a:ea typeface="+mn-ea"/>
              </a:rPr>
              <a:t>프로젝트 관리방안</a:t>
            </a:r>
            <a:endParaRPr lang="en-US" altLang="ko-KR" b="1" dirty="0">
              <a:latin typeface="+mn-ea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보고 및 협의체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품질 관리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변경 관리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산출물 관리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pPr marL="514350" indent="-514350">
              <a:spcBef>
                <a:spcPts val="2400"/>
              </a:spcBef>
              <a:buFont typeface="+mj-lt"/>
              <a:buAutoNum type="romanUcPeriod" startAt="3"/>
            </a:pPr>
            <a:r>
              <a:rPr lang="ko-KR" altLang="en-US" b="1" dirty="0">
                <a:latin typeface="+mn-ea"/>
                <a:ea typeface="+mn-ea"/>
              </a:rPr>
              <a:t>요청사항</a:t>
            </a:r>
            <a:endParaRPr lang="en-US" altLang="ko-KR" b="1" dirty="0">
              <a:latin typeface="+mn-ea"/>
              <a:ea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협조 요청사항</a:t>
            </a:r>
          </a:p>
        </p:txBody>
      </p:sp>
    </p:spTree>
    <p:extLst>
      <p:ext uri="{BB962C8B-B14F-4D97-AF65-F5344CB8AC3E}">
        <p14:creationId xmlns:p14="http://schemas.microsoft.com/office/powerpoint/2010/main" val="339301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프로젝트 개요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배경 및 목적</a:t>
            </a:r>
            <a:endParaRPr lang="en-US" altLang="ko-KR" dirty="0"/>
          </a:p>
          <a:p>
            <a:r>
              <a:rPr lang="ko-KR" altLang="en-US" dirty="0"/>
              <a:t>수행 범위</a:t>
            </a:r>
            <a:endParaRPr lang="en-US" altLang="ko-KR" dirty="0"/>
          </a:p>
          <a:p>
            <a:r>
              <a:rPr lang="ko-KR" altLang="en-US" dirty="0"/>
              <a:t>기대 효과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889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배경 및 목적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신성통상과 </a:t>
            </a:r>
            <a:r>
              <a:rPr lang="ko-KR" altLang="en-US" dirty="0" err="1"/>
              <a:t>에이션패션의</a:t>
            </a:r>
            <a:r>
              <a:rPr lang="ko-KR" altLang="en-US" dirty="0"/>
              <a:t> </a:t>
            </a:r>
            <a:r>
              <a:rPr lang="en-US" altLang="ko-KR" dirty="0"/>
              <a:t>POS </a:t>
            </a:r>
            <a:r>
              <a:rPr lang="ko-KR" altLang="en-US" dirty="0"/>
              <a:t>시스템 통합과 신규 키오스크 구축을 통해 매장 운영 효율성 및 고객 편의성을 극대화하고</a:t>
            </a:r>
            <a:r>
              <a:rPr lang="en-US" altLang="ko-KR" dirty="0"/>
              <a:t>, Cloud</a:t>
            </a:r>
            <a:r>
              <a:rPr lang="ko-KR" altLang="en-US" dirty="0"/>
              <a:t> 기반의 관리시스템을</a:t>
            </a:r>
            <a:endParaRPr lang="en-US" altLang="ko-KR" dirty="0"/>
          </a:p>
          <a:p>
            <a:r>
              <a:rPr lang="ko-KR" altLang="en-US" dirty="0"/>
              <a:t>  구축하여 서비스 안정성 및 추후 개선할 시스템을 위한 기반을 마련함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프로젝트 개요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96503A1-32B5-492C-F908-BF954B9D64D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6504" y="1680848"/>
            <a:ext cx="2718161" cy="373747"/>
          </a:xfrm>
          <a:prstGeom prst="rect">
            <a:avLst/>
          </a:prstGeom>
        </p:spPr>
      </p:pic>
      <p:sp>
        <p:nvSpPr>
          <p:cNvPr id="28" name="모서리가 둥근 직사각형 8">
            <a:extLst>
              <a:ext uri="{FF2B5EF4-FFF2-40B4-BE49-F238E27FC236}">
                <a16:creationId xmlns:a16="http://schemas.microsoft.com/office/drawing/2014/main" id="{1B8449F6-8183-3615-2E42-1F3E5142554C}"/>
              </a:ext>
            </a:extLst>
          </p:cNvPr>
          <p:cNvSpPr/>
          <p:nvPr/>
        </p:nvSpPr>
        <p:spPr>
          <a:xfrm>
            <a:off x="1049951" y="2140206"/>
            <a:ext cx="10068506" cy="448897"/>
          </a:xfrm>
          <a:prstGeom prst="roundRect">
            <a:avLst>
              <a:gd name="adj" fmla="val 50000"/>
            </a:avLst>
          </a:prstGeom>
          <a:solidFill>
            <a:srgbClr val="00487E"/>
          </a:solidFill>
          <a:ln>
            <a:noFill/>
          </a:ln>
        </p:spPr>
        <p:txBody>
          <a:bodyPr wrap="square" lIns="108000" tIns="0" rIns="108000" bIns="0" rtlCol="0" anchor="ctr">
            <a:noAutofit/>
          </a:bodyPr>
          <a:lstStyle/>
          <a:p>
            <a:pPr algn="ctr"/>
            <a:r>
              <a:rPr lang="ko-KR" altLang="en-US" sz="1600" spc="-7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Pretendard Medium" panose="02000603000000020004" pitchFamily="2" charset="-127"/>
              </a:rPr>
              <a:t>차세대 통합</a:t>
            </a:r>
            <a:r>
              <a:rPr lang="en-US" altLang="ko-KR" sz="1600" spc="-7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Pretendard Medium" panose="02000603000000020004" pitchFamily="2" charset="-127"/>
              </a:rPr>
              <a:t>POS </a:t>
            </a:r>
            <a:r>
              <a:rPr lang="ko-KR" altLang="en-US" sz="1600" spc="-7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Pretendard Medium" panose="02000603000000020004" pitchFamily="2" charset="-127"/>
              </a:rPr>
              <a:t>및 키오스크 시스템 구축을 통한</a:t>
            </a:r>
            <a:r>
              <a:rPr lang="en-US" altLang="ko-KR" sz="1600" spc="-7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Pretendard Medium" panose="02000603000000020004" pitchFamily="2" charset="-127"/>
              </a:rPr>
              <a:t> </a:t>
            </a:r>
            <a:r>
              <a:rPr lang="ko-KR" altLang="en-US" sz="1600" spc="-7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Pretendard Medium" panose="02000603000000020004" pitchFamily="2" charset="-127"/>
              </a:rPr>
              <a:t>매장 운영 효율성 및 고객 편의성 강화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1669667" y="3021178"/>
            <a:ext cx="1810130" cy="1769442"/>
            <a:chOff x="1240568" y="3093130"/>
            <a:chExt cx="1810130" cy="1769442"/>
          </a:xfrm>
        </p:grpSpPr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9A39C37F-626E-EB48-BF91-A80613DA0DAA}"/>
                </a:ext>
              </a:extLst>
            </p:cNvPr>
            <p:cNvSpPr/>
            <p:nvPr/>
          </p:nvSpPr>
          <p:spPr>
            <a:xfrm>
              <a:off x="1240568" y="3093130"/>
              <a:ext cx="1810130" cy="1769442"/>
            </a:xfrm>
            <a:prstGeom prst="ellipse">
              <a:avLst/>
            </a:prstGeom>
            <a:solidFill>
              <a:srgbClr val="00487E">
                <a:alpha val="5882"/>
              </a:srgbClr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400" spc="-60" dirty="0">
                <a:latin typeface="+mn-ea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387AD00C-09AA-CB48-A76F-AC35F5590419}"/>
                </a:ext>
              </a:extLst>
            </p:cNvPr>
            <p:cNvSpPr/>
            <p:nvPr/>
          </p:nvSpPr>
          <p:spPr>
            <a:xfrm>
              <a:off x="1379724" y="3229158"/>
              <a:ext cx="1531819" cy="149738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400" spc="-6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387816" y="3836101"/>
              <a:ext cx="14536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spc="-70" dirty="0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POS/</a:t>
              </a:r>
              <a:r>
                <a:rPr lang="ko-KR" altLang="en-US" sz="1400" b="1" spc="-70" dirty="0" err="1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키오스크</a:t>
              </a:r>
              <a:endParaRPr lang="en-US" altLang="ko-KR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1400" b="1" spc="-70" dirty="0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운영 극대화</a:t>
              </a: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90A5A6DB-57DA-9A03-0A17-8DA9312E0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4967" y="3450788"/>
              <a:ext cx="261332" cy="288000"/>
            </a:xfrm>
            <a:prstGeom prst="rect">
              <a:avLst/>
            </a:prstGeom>
          </p:spPr>
        </p:pic>
      </p:grpSp>
      <p:grpSp>
        <p:nvGrpSpPr>
          <p:cNvPr id="50" name="그룹 49"/>
          <p:cNvGrpSpPr/>
          <p:nvPr/>
        </p:nvGrpSpPr>
        <p:grpSpPr>
          <a:xfrm>
            <a:off x="5157225" y="3021178"/>
            <a:ext cx="1810130" cy="1769442"/>
            <a:chOff x="3514430" y="3093130"/>
            <a:chExt cx="1810130" cy="1769442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9A39C37F-626E-EB48-BF91-A80613DA0DAA}"/>
                </a:ext>
              </a:extLst>
            </p:cNvPr>
            <p:cNvSpPr/>
            <p:nvPr/>
          </p:nvSpPr>
          <p:spPr>
            <a:xfrm>
              <a:off x="3514430" y="3093130"/>
              <a:ext cx="1810130" cy="1769442"/>
            </a:xfrm>
            <a:prstGeom prst="ellipse">
              <a:avLst/>
            </a:prstGeom>
            <a:solidFill>
              <a:srgbClr val="00487E">
                <a:alpha val="5882"/>
              </a:srgbClr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400" spc="-60" dirty="0">
                <a:latin typeface="+mn-ea"/>
              </a:endParaRPr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87AD00C-09AA-CB48-A76F-AC35F5590419}"/>
                </a:ext>
              </a:extLst>
            </p:cNvPr>
            <p:cNvSpPr/>
            <p:nvPr/>
          </p:nvSpPr>
          <p:spPr>
            <a:xfrm>
              <a:off x="3653586" y="3229158"/>
              <a:ext cx="1531819" cy="149738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400" spc="-6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661678" y="3836101"/>
              <a:ext cx="14536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spc="-70" dirty="0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사용자경험 제공</a:t>
              </a:r>
              <a:endParaRPr lang="en-US" altLang="ko-KR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endParaRPr>
            </a:p>
            <a:p>
              <a:pPr algn="ctr"/>
              <a:r>
                <a:rPr lang="ko-KR" altLang="en-US" sz="1400" b="1" spc="-70" dirty="0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및 편의성 강화</a:t>
              </a:r>
            </a:p>
          </p:txBody>
        </p:sp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A0B872EA-5312-D79B-985C-A0B156CFA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04783" y="3465226"/>
              <a:ext cx="229424" cy="288000"/>
            </a:xfrm>
            <a:prstGeom prst="rect">
              <a:avLst/>
            </a:prstGeom>
          </p:spPr>
        </p:pic>
      </p:grpSp>
      <p:grpSp>
        <p:nvGrpSpPr>
          <p:cNvPr id="56" name="그룹 55"/>
          <p:cNvGrpSpPr/>
          <p:nvPr/>
        </p:nvGrpSpPr>
        <p:grpSpPr>
          <a:xfrm>
            <a:off x="8644783" y="3021178"/>
            <a:ext cx="1810130" cy="1769442"/>
            <a:chOff x="5722207" y="2961765"/>
            <a:chExt cx="1810130" cy="1769442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A39C37F-626E-EB48-BF91-A80613DA0DAA}"/>
                </a:ext>
              </a:extLst>
            </p:cNvPr>
            <p:cNvSpPr/>
            <p:nvPr/>
          </p:nvSpPr>
          <p:spPr>
            <a:xfrm>
              <a:off x="5722207" y="2961765"/>
              <a:ext cx="1810130" cy="1769442"/>
            </a:xfrm>
            <a:prstGeom prst="ellipse">
              <a:avLst/>
            </a:prstGeom>
            <a:solidFill>
              <a:srgbClr val="00487E">
                <a:alpha val="5882"/>
              </a:srgbClr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400" spc="-60" dirty="0">
                <a:latin typeface="+mn-ea"/>
              </a:endParaRPr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387AD00C-09AA-CB48-A76F-AC35F5590419}"/>
                </a:ext>
              </a:extLst>
            </p:cNvPr>
            <p:cNvSpPr/>
            <p:nvPr/>
          </p:nvSpPr>
          <p:spPr>
            <a:xfrm>
              <a:off x="5861363" y="3097793"/>
              <a:ext cx="1531819" cy="1497387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400" spc="-6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869455" y="3704736"/>
              <a:ext cx="14536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457200" latinLnBrk="0"/>
              <a:r>
                <a:rPr lang="ko-KR" altLang="en-US" sz="1400" b="1" spc="-70" dirty="0" err="1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클라우드</a:t>
              </a:r>
              <a:r>
                <a:rPr lang="ko-KR" altLang="en-US" sz="1400" b="1" spc="-70" dirty="0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 기반</a:t>
              </a:r>
              <a:endParaRPr lang="en-US" altLang="ko-KR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endParaRPr>
            </a:p>
            <a:p>
              <a:pPr algn="ctr" defTabSz="457200" latinLnBrk="0"/>
              <a:r>
                <a:rPr lang="ko-KR" altLang="en-US" sz="1400" b="1" spc="-70" dirty="0" err="1">
                  <a:solidFill>
                    <a:schemeClr val="bg1"/>
                  </a:solidFill>
                  <a:latin typeface="+mn-ea"/>
                  <a:cs typeface="Pretendard Medium" panose="02000603000000020004" pitchFamily="50" charset="-127"/>
                </a:rPr>
                <a:t>고가용성</a:t>
              </a:r>
              <a:endParaRPr lang="ko-KR" altLang="en-US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3D32EDFD-4821-2D6F-AB1F-603DA0402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5272" y="3406019"/>
              <a:ext cx="364000" cy="252000"/>
            </a:xfrm>
            <a:prstGeom prst="rect">
              <a:avLst/>
            </a:prstGeom>
          </p:spPr>
        </p:pic>
      </p:grpSp>
      <p:sp>
        <p:nvSpPr>
          <p:cNvPr id="60" name="직사각형 59"/>
          <p:cNvSpPr/>
          <p:nvPr/>
        </p:nvSpPr>
        <p:spPr>
          <a:xfrm>
            <a:off x="1321069" y="5009723"/>
            <a:ext cx="268535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lvl="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서버 효율성 확보 및 </a:t>
            </a:r>
            <a:r>
              <a:rPr lang="ko-KR" altLang="en-US" sz="1200" kern="0" spc="-60" dirty="0" err="1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무중단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 서비스</a:t>
            </a:r>
            <a:endParaRPr lang="en-US" altLang="ko-KR" sz="1200" kern="0" spc="-60" dirty="0">
              <a:solidFill>
                <a:prstClr val="black"/>
              </a:solidFill>
              <a:latin typeface="+mn-ea"/>
              <a:cs typeface="Pretendard Medium" panose="02000603000000020004" pitchFamily="50" charset="-127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POS/</a:t>
            </a:r>
            <a:r>
              <a:rPr lang="ko-KR" altLang="en-US" sz="1200" kern="0" spc="-60" dirty="0" err="1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키오스크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 유지보수 일원화</a:t>
            </a:r>
            <a:endParaRPr lang="en-US" altLang="ko-KR" sz="1200" kern="0" spc="-60" dirty="0">
              <a:solidFill>
                <a:prstClr val="black"/>
              </a:solidFill>
              <a:latin typeface="+mn-ea"/>
              <a:cs typeface="Pretendard Medium" panose="02000603000000020004" pitchFamily="50" charset="-127"/>
            </a:endParaRPr>
          </a:p>
          <a:p>
            <a:pPr marL="171450" lvl="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시스템</a:t>
            </a: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, Biz 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현황 모니터링 제공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621355" y="5009723"/>
            <a:ext cx="317715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lvl="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직접 주문</a:t>
            </a: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/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결제 처리 가능한 비대면 서비스</a:t>
            </a:r>
            <a:endParaRPr lang="en-US" altLang="ko-KR" sz="1200" kern="0" spc="-60" dirty="0">
              <a:solidFill>
                <a:prstClr val="black"/>
              </a:solidFill>
              <a:latin typeface="+mn-ea"/>
              <a:cs typeface="Pretendard Medium" panose="02000603000000020004" pitchFamily="50" charset="-127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직관적인 </a:t>
            </a: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UI/UX 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기반 사용자 경험 제공</a:t>
            </a:r>
            <a:endParaRPr lang="en-US" altLang="ko-KR" sz="1200" kern="0" spc="-60" dirty="0">
              <a:solidFill>
                <a:prstClr val="black"/>
              </a:solidFill>
              <a:latin typeface="+mn-ea"/>
              <a:cs typeface="Pretendard Medium" panose="02000603000000020004" pitchFamily="50" charset="-127"/>
            </a:endParaRPr>
          </a:p>
          <a:p>
            <a:pPr marL="171450" lvl="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결제 대기 시간 단축을 통한 매장 효율화 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8079265" y="5009723"/>
            <a:ext cx="316657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lvl="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POS/</a:t>
            </a:r>
            <a:r>
              <a:rPr lang="ko-KR" altLang="en-US" sz="1200" kern="0" spc="-60" dirty="0" err="1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키오스크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 관리</a:t>
            </a: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 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및</a:t>
            </a:r>
            <a:r>
              <a:rPr lang="en-US" altLang="ko-KR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 API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의 </a:t>
            </a:r>
            <a:r>
              <a:rPr lang="ko-KR" altLang="en-US" sz="1200" kern="0" spc="-60" dirty="0" err="1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클라우드</a:t>
            </a: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 전환</a:t>
            </a:r>
            <a:endParaRPr lang="en-US" altLang="ko-KR" sz="1200" kern="0" spc="-60" dirty="0">
              <a:solidFill>
                <a:prstClr val="black"/>
              </a:solidFill>
              <a:latin typeface="+mn-ea"/>
              <a:cs typeface="Pretendard Medium" panose="02000603000000020004" pitchFamily="50" charset="-127"/>
            </a:endParaRPr>
          </a:p>
          <a:p>
            <a:pPr marL="17145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영업관리 시스템과의 원활한 데이터 연동</a:t>
            </a:r>
            <a:endParaRPr lang="en-US" altLang="ko-KR" sz="1200" kern="0" spc="-60" dirty="0">
              <a:solidFill>
                <a:prstClr val="black"/>
              </a:solidFill>
              <a:latin typeface="+mn-ea"/>
              <a:cs typeface="Pretendard Medium" panose="02000603000000020004" pitchFamily="50" charset="-127"/>
            </a:endParaRPr>
          </a:p>
          <a:p>
            <a:pPr marL="171450" lvl="0" indent="-171450" latinLnBrk="0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ko-KR" altLang="en-US" sz="1200" kern="0" spc="-60" dirty="0">
                <a:solidFill>
                  <a:prstClr val="black"/>
                </a:solidFill>
                <a:latin typeface="+mn-ea"/>
                <a:cs typeface="Pretendard Medium" panose="02000603000000020004" pitchFamily="50" charset="-127"/>
              </a:rPr>
              <a:t>최적의 개발 프레임워크 구성</a:t>
            </a:r>
          </a:p>
        </p:txBody>
      </p:sp>
    </p:spTree>
    <p:extLst>
      <p:ext uri="{BB962C8B-B14F-4D97-AF65-F5344CB8AC3E}">
        <p14:creationId xmlns:p14="http://schemas.microsoft.com/office/powerpoint/2010/main" val="1207563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52213" y="1446572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④</a:t>
            </a:r>
            <a:endParaRPr lang="ko-KR" altLang="en-US">
              <a:latin typeface="+mn-ea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0C6E8F5E-72CD-4733-A0DF-BCC19167339C}"/>
              </a:ext>
            </a:extLst>
          </p:cNvPr>
          <p:cNvGrpSpPr/>
          <p:nvPr/>
        </p:nvGrpSpPr>
        <p:grpSpPr>
          <a:xfrm>
            <a:off x="803466" y="1682296"/>
            <a:ext cx="1098161" cy="4478979"/>
            <a:chOff x="787282" y="1666112"/>
            <a:chExt cx="1098161" cy="4478979"/>
          </a:xfrm>
        </p:grpSpPr>
        <p:sp>
          <p:nvSpPr>
            <p:cNvPr id="71" name="AutoShape 45">
              <a:extLst>
                <a:ext uri="{FF2B5EF4-FFF2-40B4-BE49-F238E27FC236}">
                  <a16:creationId xmlns:a16="http://schemas.microsoft.com/office/drawing/2014/main" id="{6B9068D4-ABC0-4D4D-99C4-90B5659622E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7282" y="1666112"/>
              <a:ext cx="1098161" cy="432000"/>
            </a:xfrm>
            <a:prstGeom prst="round2SameRect">
              <a:avLst/>
            </a:prstGeom>
            <a:solidFill>
              <a:srgbClr val="6C6C6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none" tIns="0" bIns="0" anchor="ctr"/>
            <a:lstStyle/>
            <a:p>
              <a:pPr algn="ctr" defTabSz="957838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rPr>
                <a:t>내부</a:t>
              </a:r>
              <a:endParaRPr lang="en-US" altLang="ko-KR" sz="1100" b="1" dirty="0">
                <a:solidFill>
                  <a:srgbClr val="FFFFFF"/>
                </a:solidFill>
                <a:latin typeface="+mn-ea"/>
                <a:cs typeface="Pretendard" panose="02000503000000020004" pitchFamily="50" charset="-127"/>
              </a:endParaRPr>
            </a:p>
            <a:p>
              <a:pPr algn="ctr" defTabSz="957838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rPr>
                <a:t>인터페이스</a:t>
              </a:r>
              <a:endParaRPr lang="en-US" altLang="ko-KR" sz="1100" b="1" dirty="0">
                <a:solidFill>
                  <a:srgbClr val="FFFFFF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121CF974-744C-4628-A35A-E9135D4B7FF8}"/>
                </a:ext>
              </a:extLst>
            </p:cNvPr>
            <p:cNvSpPr/>
            <p:nvPr/>
          </p:nvSpPr>
          <p:spPr>
            <a:xfrm>
              <a:off x="787282" y="2098112"/>
              <a:ext cx="1098161" cy="4046979"/>
            </a:xfrm>
            <a:prstGeom prst="rect">
              <a:avLst/>
            </a:prstGeom>
            <a:solidFill>
              <a:schemeClr val="bg1"/>
            </a:solidFill>
            <a:ln w="6350" algn="ctr">
              <a:solidFill>
                <a:srgbClr val="C0C0C0"/>
              </a:solidFill>
              <a:miter lim="800000"/>
              <a:headEnd/>
              <a:tailEnd/>
            </a:ln>
          </p:spPr>
          <p:txBody>
            <a:bodyPr lIns="72000" tIns="34412" rIns="46800" bIns="34412" anchor="b" anchorCtr="0"/>
            <a:lstStyle/>
            <a:p>
              <a:pPr marL="0" marR="0" lvl="0" indent="0" algn="ctr" defTabSz="914400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5648325" algn="l"/>
                </a:tabLst>
                <a:defRPr/>
              </a:pPr>
              <a:endParaRPr kumimoji="1" lang="en-US" altLang="ko-KR" sz="1200" i="0" u="none" strike="noStrike" kern="1200" cap="none" normalizeH="0" noProof="0" dirty="0">
                <a:solidFill>
                  <a:srgbClr val="000000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수행 범위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① POS </a:t>
            </a:r>
            <a:r>
              <a:rPr lang="ko-KR" altLang="en-US" dirty="0"/>
              <a:t>통합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CS </a:t>
            </a:r>
            <a:r>
              <a:rPr lang="ko-KR" altLang="en-US" dirty="0"/>
              <a:t>전환</a:t>
            </a:r>
            <a:r>
              <a:rPr lang="en-US" altLang="ko-KR" dirty="0"/>
              <a:t>, ② </a:t>
            </a:r>
            <a:r>
              <a:rPr lang="ko-KR" altLang="en-US" dirty="0"/>
              <a:t>신규 키오스크 도입</a:t>
            </a:r>
            <a:r>
              <a:rPr lang="en-US" altLang="ko-KR" dirty="0"/>
              <a:t>, ③ Cloud</a:t>
            </a:r>
            <a:r>
              <a:rPr lang="ko-KR" altLang="en-US" dirty="0"/>
              <a:t> 기반 </a:t>
            </a:r>
            <a:r>
              <a:rPr lang="en-US" altLang="ko-KR" dirty="0"/>
              <a:t>API</a:t>
            </a:r>
            <a:r>
              <a:rPr lang="ko-KR" altLang="en-US" dirty="0"/>
              <a:t>시스템 및 </a:t>
            </a:r>
            <a:r>
              <a:rPr lang="en-US" altLang="ko-KR" dirty="0"/>
              <a:t>POS/</a:t>
            </a:r>
            <a:r>
              <a:rPr lang="ko-KR" altLang="en-US" dirty="0"/>
              <a:t>키오스크 관리시스템 구축과 ④ 내</a:t>
            </a:r>
            <a:r>
              <a:rPr lang="en-US" altLang="ko-KR" dirty="0"/>
              <a:t>/</a:t>
            </a:r>
            <a:r>
              <a:rPr lang="ko-KR" altLang="en-US" dirty="0"/>
              <a:t>외부 연계 시스템과의</a:t>
            </a:r>
            <a:r>
              <a:rPr lang="en-US" altLang="ko-KR" dirty="0"/>
              <a:t> </a:t>
            </a:r>
            <a:r>
              <a:rPr lang="ko-KR" altLang="en-US" dirty="0"/>
              <a:t>안정적</a:t>
            </a:r>
            <a:endParaRPr lang="en-US" altLang="ko-KR" dirty="0"/>
          </a:p>
          <a:p>
            <a:r>
              <a:rPr lang="ko-KR" altLang="en-US" dirty="0"/>
              <a:t>  인터페이스 구축을 목표로 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프로젝트 개요</a:t>
            </a:r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FAED5F0A-EF77-8044-CFAB-7E008566C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27" y="3910598"/>
            <a:ext cx="702936" cy="702936"/>
          </a:xfrm>
          <a:prstGeom prst="rect">
            <a:avLst/>
          </a:prstGeom>
        </p:spPr>
      </p:pic>
      <p:pic>
        <p:nvPicPr>
          <p:cNvPr id="110" name="그림 109" descr="텍스트, 스크린샷, 소프트웨어, 번호이(가) 표시된 사진&#10;&#10;자동 생성된 설명">
            <a:extLst>
              <a:ext uri="{FF2B5EF4-FFF2-40B4-BE49-F238E27FC236}">
                <a16:creationId xmlns:a16="http://schemas.microsoft.com/office/drawing/2014/main" id="{6FBE44F9-E4DE-791B-DF9F-EB7AF25C3248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50540" y="3996544"/>
            <a:ext cx="638234" cy="389780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3DB5ADA8-B8AE-23E1-EE85-E56B80E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727" y="5332908"/>
            <a:ext cx="702936" cy="702936"/>
          </a:xfrm>
          <a:prstGeom prst="rect">
            <a:avLst/>
          </a:prstGeom>
        </p:spPr>
      </p:pic>
      <p:pic>
        <p:nvPicPr>
          <p:cNvPr id="112" name="그림 111">
            <a:extLst>
              <a:ext uri="{FF2B5EF4-FFF2-40B4-BE49-F238E27FC236}">
                <a16:creationId xmlns:a16="http://schemas.microsoft.com/office/drawing/2014/main" id="{EB3400C6-3F17-6CAA-BD73-D2109BB5F94C}"/>
              </a:ext>
            </a:extLst>
          </p:cNvPr>
          <p:cNvPicPr preferRelativeResize="0"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540" y="5422789"/>
            <a:ext cx="638234" cy="373410"/>
          </a:xfrm>
          <a:prstGeom prst="rect">
            <a:avLst/>
          </a:prstGeom>
        </p:spPr>
      </p:pic>
      <p:sp>
        <p:nvSpPr>
          <p:cNvPr id="121" name="모서리가 둥근 직사각형 120"/>
          <p:cNvSpPr/>
          <p:nvPr/>
        </p:nvSpPr>
        <p:spPr>
          <a:xfrm>
            <a:off x="915397" y="3500226"/>
            <a:ext cx="890482" cy="40792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영업관리</a:t>
            </a:r>
            <a:endParaRPr lang="en-US" altLang="ko-KR" sz="1100" b="1" dirty="0"/>
          </a:p>
          <a:p>
            <a:pPr algn="ctr"/>
            <a:r>
              <a:rPr lang="ko-KR" altLang="en-US" sz="1100" b="1" dirty="0"/>
              <a:t>시스템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921954" y="4924981"/>
            <a:ext cx="890482" cy="40792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/>
              <a:t>매장관리</a:t>
            </a:r>
            <a:endParaRPr lang="en-US" altLang="ko-KR" sz="1100" b="1" dirty="0"/>
          </a:p>
          <a:p>
            <a:pPr algn="ctr"/>
            <a:r>
              <a:rPr lang="ko-KR" altLang="en-US" sz="1100" b="1" dirty="0"/>
              <a:t>시스템</a:t>
            </a:r>
          </a:p>
        </p:txBody>
      </p:sp>
      <p:grpSp>
        <p:nvGrpSpPr>
          <p:cNvPr id="128" name="그룹 127"/>
          <p:cNvGrpSpPr/>
          <p:nvPr/>
        </p:nvGrpSpPr>
        <p:grpSpPr>
          <a:xfrm>
            <a:off x="10262884" y="1682296"/>
            <a:ext cx="1098161" cy="4478979"/>
            <a:chOff x="10230516" y="1666112"/>
            <a:chExt cx="1098161" cy="4478979"/>
          </a:xfrm>
        </p:grpSpPr>
        <p:grpSp>
          <p:nvGrpSpPr>
            <p:cNvPr id="119" name="그룹 118"/>
            <p:cNvGrpSpPr/>
            <p:nvPr/>
          </p:nvGrpSpPr>
          <p:grpSpPr>
            <a:xfrm>
              <a:off x="10230516" y="1666112"/>
              <a:ext cx="1098161" cy="4478979"/>
              <a:chOff x="10739137" y="2253952"/>
              <a:chExt cx="1098161" cy="4478979"/>
            </a:xfrm>
          </p:grpSpPr>
          <p:sp>
            <p:nvSpPr>
              <p:cNvPr id="117" name="AutoShape 45">
                <a:extLst>
                  <a:ext uri="{FF2B5EF4-FFF2-40B4-BE49-F238E27FC236}">
                    <a16:creationId xmlns:a16="http://schemas.microsoft.com/office/drawing/2014/main" id="{A065E0F7-8487-F8D1-6E6F-B4A32BD0BE3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0739137" y="2253952"/>
                <a:ext cx="1098161" cy="432000"/>
              </a:xfrm>
              <a:prstGeom prst="round2SameRect">
                <a:avLst/>
              </a:prstGeom>
              <a:solidFill>
                <a:srgbClr val="6C6C6C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none" tIns="0" bIns="0" anchor="ctr"/>
              <a:lstStyle/>
              <a:p>
                <a:pPr algn="ctr" defTabSz="957838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  <a:cs typeface="Pretendard" panose="02000503000000020004" pitchFamily="50" charset="-127"/>
                  </a:rPr>
                  <a:t>외부</a:t>
                </a:r>
                <a:endParaRPr lang="en-US" altLang="ko-KR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endParaRPr>
              </a:p>
              <a:p>
                <a:pPr algn="ctr" defTabSz="957838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ko-KR" altLang="en-US" sz="1100" b="1" dirty="0">
                    <a:solidFill>
                      <a:srgbClr val="FFFFFF"/>
                    </a:solidFill>
                    <a:latin typeface="+mn-ea"/>
                    <a:cs typeface="Pretendard" panose="02000503000000020004" pitchFamily="50" charset="-127"/>
                  </a:rPr>
                  <a:t>인터페이스</a:t>
                </a:r>
                <a:endParaRPr lang="en-US" altLang="ko-KR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0501426-29B3-1E99-1DFD-1B11ECF01293}"/>
                  </a:ext>
                </a:extLst>
              </p:cNvPr>
              <p:cNvSpPr/>
              <p:nvPr/>
            </p:nvSpPr>
            <p:spPr>
              <a:xfrm>
                <a:off x="10739137" y="2685952"/>
                <a:ext cx="1098161" cy="4046979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lIns="72000" tIns="34412" rIns="46800" bIns="34412" anchor="b" anchorCtr="0"/>
              <a:lstStyle/>
              <a:p>
                <a:pPr marL="0" marR="0" lvl="0" indent="0" algn="ctr" defTabSz="914400" rtl="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08080"/>
                  </a:buClr>
                  <a:buSzPct val="80000"/>
                  <a:buFontTx/>
                  <a:buNone/>
                  <a:tabLst>
                    <a:tab pos="5648325" algn="l"/>
                  </a:tabLst>
                  <a:defRPr/>
                </a:pPr>
                <a:endParaRPr kumimoji="1" lang="en-US" altLang="ko-KR" sz="1200" i="0" u="none" strike="noStrike" kern="1200" cap="none" normalizeH="0" noProof="0" dirty="0">
                  <a:solidFill>
                    <a:srgbClr val="000000"/>
                  </a:solidFill>
                  <a:effectLst/>
                  <a:uLnTx/>
                  <a:uFillTx/>
                  <a:latin typeface="+mn-ea"/>
                  <a:cs typeface="Pretendard" panose="02000503000000020004" pitchFamily="50" charset="-127"/>
                </a:endParaRPr>
              </a:p>
            </p:txBody>
          </p:sp>
        </p:grpSp>
        <p:pic>
          <p:nvPicPr>
            <p:cNvPr id="12" name="Picture 2" descr="글로벌텍스프리(가맹점용) - Google Play 앱">
              <a:extLst>
                <a:ext uri="{FF2B5EF4-FFF2-40B4-BE49-F238E27FC236}">
                  <a16:creationId xmlns:a16="http://schemas.microsoft.com/office/drawing/2014/main" id="{46CF85C3-293A-25CF-DB44-3A49A2F939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566144" y="5352384"/>
              <a:ext cx="463300" cy="4682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한국결제네트웍스">
              <a:extLst>
                <a:ext uri="{FF2B5EF4-FFF2-40B4-BE49-F238E27FC236}">
                  <a16:creationId xmlns:a16="http://schemas.microsoft.com/office/drawing/2014/main" id="{1AF430F7-B640-C1F0-7BA7-36F04D6DC9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6299" y="2794634"/>
              <a:ext cx="503145" cy="50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6">
              <a:extLst>
                <a:ext uri="{FF2B5EF4-FFF2-40B4-BE49-F238E27FC236}">
                  <a16:creationId xmlns:a16="http://schemas.microsoft.com/office/drawing/2014/main" id="{EA6A45C9-6470-143E-B3B0-155847FCA1A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0451923" y="4241920"/>
              <a:ext cx="648519" cy="1714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5" name="모서리가 둥근 직사각형 124"/>
            <p:cNvSpPr/>
            <p:nvPr/>
          </p:nvSpPr>
          <p:spPr>
            <a:xfrm>
              <a:off x="10340508" y="2328776"/>
              <a:ext cx="890482" cy="40792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KPN</a:t>
              </a:r>
              <a:endParaRPr lang="ko-KR" altLang="en-US" sz="1100" b="1" dirty="0"/>
            </a:p>
          </p:txBody>
        </p:sp>
        <p:sp>
          <p:nvSpPr>
            <p:cNvPr id="126" name="모서리가 둥근 직사각형 125"/>
            <p:cNvSpPr/>
            <p:nvPr/>
          </p:nvSpPr>
          <p:spPr>
            <a:xfrm>
              <a:off x="10340508" y="3759420"/>
              <a:ext cx="890482" cy="40792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KICC</a:t>
              </a:r>
              <a:endParaRPr lang="ko-KR" altLang="en-US" sz="1100" b="1" dirty="0"/>
            </a:p>
          </p:txBody>
        </p:sp>
        <p:sp>
          <p:nvSpPr>
            <p:cNvPr id="127" name="모서리가 둥근 직사각형 126"/>
            <p:cNvSpPr/>
            <p:nvPr/>
          </p:nvSpPr>
          <p:spPr>
            <a:xfrm>
              <a:off x="10344461" y="4876136"/>
              <a:ext cx="890482" cy="40792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/>
                <a:t>Global</a:t>
              </a:r>
              <a:br>
                <a:rPr lang="en-US" altLang="ko-KR" sz="1100" b="1" dirty="0"/>
              </a:br>
              <a:r>
                <a:rPr lang="en-US" altLang="ko-KR" sz="1100" b="1" dirty="0"/>
                <a:t>Tax Free</a:t>
              </a:r>
              <a:endParaRPr lang="ko-KR" altLang="en-US" sz="1100" b="1" dirty="0"/>
            </a:p>
          </p:txBody>
        </p:sp>
      </p:grp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A59988FF-3C79-AF07-3930-25EAD3479E36}"/>
              </a:ext>
            </a:extLst>
          </p:cNvPr>
          <p:cNvSpPr/>
          <p:nvPr/>
        </p:nvSpPr>
        <p:spPr>
          <a:xfrm rot="10800000">
            <a:off x="2322869" y="1682293"/>
            <a:ext cx="7508954" cy="447897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prstClr val="white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211" name="그룹 210"/>
          <p:cNvGrpSpPr/>
          <p:nvPr/>
        </p:nvGrpSpPr>
        <p:grpSpPr>
          <a:xfrm>
            <a:off x="4411641" y="1902297"/>
            <a:ext cx="5191382" cy="2056969"/>
            <a:chOff x="4273287" y="2042296"/>
            <a:chExt cx="5191382" cy="2056969"/>
          </a:xfrm>
        </p:grpSpPr>
        <p:sp>
          <p:nvSpPr>
            <p:cNvPr id="208" name="사각형: 둥근 모서리 22">
              <a:extLst>
                <a:ext uri="{FF2B5EF4-FFF2-40B4-BE49-F238E27FC236}">
                  <a16:creationId xmlns:a16="http://schemas.microsoft.com/office/drawing/2014/main" id="{4339FD85-552F-24CE-A8FC-16A51B3A4D5D}"/>
                </a:ext>
              </a:extLst>
            </p:cNvPr>
            <p:cNvSpPr/>
            <p:nvPr/>
          </p:nvSpPr>
          <p:spPr>
            <a:xfrm>
              <a:off x="4273287" y="2042296"/>
              <a:ext cx="5191382" cy="2056969"/>
            </a:xfrm>
            <a:prstGeom prst="roundRect">
              <a:avLst>
                <a:gd name="adj" fmla="val 4180"/>
              </a:avLst>
            </a:prstGeom>
            <a:solidFill>
              <a:schemeClr val="bg1"/>
            </a:solidFill>
            <a:ln w="63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lIns="17996" tIns="36000" rIns="17996" bIns="36000" anchor="t" anchorCtr="0"/>
            <a:lstStyle/>
            <a:p>
              <a:pPr algn="ctr" defTabSz="914400"/>
              <a:endParaRPr lang="en-US" altLang="ko-KR" sz="12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10" name="AutoShape 45">
              <a:extLst>
                <a:ext uri="{FF2B5EF4-FFF2-40B4-BE49-F238E27FC236}">
                  <a16:creationId xmlns:a16="http://schemas.microsoft.com/office/drawing/2014/main" id="{19630CA1-6CC8-E42A-3A08-E475D646E2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73287" y="2042296"/>
              <a:ext cx="5191382" cy="288000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txBody>
            <a:bodyPr wrap="none" tIns="0" bIns="0" anchor="ctr"/>
            <a:lstStyle/>
            <a:p>
              <a:pPr algn="ctr" defTabSz="957838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①  </a:t>
              </a:r>
              <a:r>
                <a:rPr lang="en-US" altLang="ko-KR" sz="1100" b="1" dirty="0">
                  <a:solidFill>
                    <a:schemeClr val="bg1"/>
                  </a:solidFill>
                  <a:latin typeface="+mn-ea"/>
                  <a:cs typeface="Pretendard" panose="02000503000000020004" pitchFamily="50" charset="-127"/>
                </a:rPr>
                <a:t>POS</a:t>
              </a:r>
            </a:p>
          </p:txBody>
        </p:sp>
      </p:grpSp>
      <p:grpSp>
        <p:nvGrpSpPr>
          <p:cNvPr id="213" name="그룹 212"/>
          <p:cNvGrpSpPr/>
          <p:nvPr/>
        </p:nvGrpSpPr>
        <p:grpSpPr>
          <a:xfrm>
            <a:off x="4407467" y="4033500"/>
            <a:ext cx="5191382" cy="1945098"/>
            <a:chOff x="4273287" y="2042296"/>
            <a:chExt cx="5191382" cy="1945098"/>
          </a:xfrm>
        </p:grpSpPr>
        <p:sp>
          <p:nvSpPr>
            <p:cNvPr id="214" name="사각형: 둥근 모서리 22">
              <a:extLst>
                <a:ext uri="{FF2B5EF4-FFF2-40B4-BE49-F238E27FC236}">
                  <a16:creationId xmlns:a16="http://schemas.microsoft.com/office/drawing/2014/main" id="{4339FD85-552F-24CE-A8FC-16A51B3A4D5D}"/>
                </a:ext>
              </a:extLst>
            </p:cNvPr>
            <p:cNvSpPr/>
            <p:nvPr/>
          </p:nvSpPr>
          <p:spPr>
            <a:xfrm>
              <a:off x="4273287" y="2042296"/>
              <a:ext cx="5191382" cy="1945098"/>
            </a:xfrm>
            <a:prstGeom prst="roundRect">
              <a:avLst>
                <a:gd name="adj" fmla="val 4180"/>
              </a:avLst>
            </a:prstGeom>
            <a:solidFill>
              <a:schemeClr val="bg1"/>
            </a:solidFill>
            <a:ln w="63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lIns="17996" tIns="36000" rIns="17996" bIns="36000" anchor="t" anchorCtr="0"/>
            <a:lstStyle/>
            <a:p>
              <a:pPr algn="ctr" defTabSz="914400"/>
              <a:endParaRPr lang="en-US" altLang="ko-KR" sz="12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15" name="AutoShape 45">
              <a:extLst>
                <a:ext uri="{FF2B5EF4-FFF2-40B4-BE49-F238E27FC236}">
                  <a16:creationId xmlns:a16="http://schemas.microsoft.com/office/drawing/2014/main" id="{19630CA1-6CC8-E42A-3A08-E475D646E2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73287" y="2042296"/>
              <a:ext cx="5191382" cy="288000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txBody>
            <a:bodyPr wrap="none" tIns="0" bIns="0" anchor="ctr"/>
            <a:lstStyle/>
            <a:p>
              <a:pPr algn="ctr" defTabSz="957838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000" b="1" dirty="0">
                  <a:solidFill>
                    <a:schemeClr val="bg1"/>
                  </a:solidFill>
                  <a:latin typeface="+mn-ea"/>
                </a:rPr>
                <a:t>② </a:t>
              </a:r>
              <a:r>
                <a:rPr lang="ko-KR" altLang="en-US" sz="1100" b="1" dirty="0">
                  <a:solidFill>
                    <a:schemeClr val="bg1"/>
                  </a:solidFill>
                  <a:latin typeface="+mn-ea"/>
                  <a:cs typeface="Pretendard" panose="02000503000000020004" pitchFamily="50" charset="-127"/>
                </a:rPr>
                <a:t>키오스크</a:t>
              </a:r>
              <a:endParaRPr lang="en-US" altLang="ko-KR" sz="11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</p:grpSp>
      <p:sp>
        <p:nvSpPr>
          <p:cNvPr id="216" name="직사각형 215"/>
          <p:cNvSpPr/>
          <p:nvPr/>
        </p:nvSpPr>
        <p:spPr>
          <a:xfrm>
            <a:off x="4483899" y="2294007"/>
            <a:ext cx="1210588" cy="7771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</a:t>
            </a:r>
            <a:r>
              <a:rPr lang="en-US" altLang="ko-KR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POS</a:t>
            </a: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 기본기능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로그인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오픈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장비연동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부가기능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5737232" y="2294007"/>
            <a:ext cx="1018227" cy="7771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판매기능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멤버십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내부결제할인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제휴할인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프로모션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6931430" y="2294007"/>
            <a:ext cx="1157689" cy="530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디바이스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업무별 인쇄물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디바이스 </a:t>
            </a:r>
            <a:r>
              <a:rPr lang="ko-KR" altLang="en-US" sz="800" b="1" kern="0" dirty="0" err="1">
                <a:latin typeface="+mn-ea"/>
                <a:cs typeface="Pretendard" panose="02000503000000020004" pitchFamily="50" charset="-127"/>
              </a:rPr>
              <a:t>확장성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1" name="직사각형 230"/>
          <p:cNvSpPr/>
          <p:nvPr/>
        </p:nvSpPr>
        <p:spPr>
          <a:xfrm>
            <a:off x="8198476" y="2294007"/>
            <a:ext cx="1300356" cy="530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인터페이스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Tax Refund</a:t>
            </a:r>
          </a:p>
          <a:p>
            <a:pPr marL="216000" indent="-171450"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VAN 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연동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3" name="직사각형 252"/>
          <p:cNvSpPr/>
          <p:nvPr/>
        </p:nvSpPr>
        <p:spPr>
          <a:xfrm>
            <a:off x="4483899" y="3169485"/>
            <a:ext cx="1055097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주문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주문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 err="1">
                <a:latin typeface="+mn-ea"/>
                <a:cs typeface="Pretendard" panose="02000503000000020004" pitchFamily="50" charset="-127"/>
              </a:rPr>
              <a:t>점간이동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주문대기 등록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4" name="직사각형 253"/>
          <p:cNvSpPr/>
          <p:nvPr/>
        </p:nvSpPr>
        <p:spPr>
          <a:xfrm>
            <a:off x="5737232" y="3169485"/>
            <a:ext cx="1172116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결제 부가기능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기능키 코드화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결제 수단변경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44550"/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5" name="직사각형 254"/>
          <p:cNvSpPr/>
          <p:nvPr/>
        </p:nvSpPr>
        <p:spPr>
          <a:xfrm>
            <a:off x="6931430" y="2781069"/>
            <a:ext cx="952505" cy="4078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보안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데이터 보안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6" name="직사각형 255"/>
          <p:cNvSpPr/>
          <p:nvPr/>
        </p:nvSpPr>
        <p:spPr>
          <a:xfrm>
            <a:off x="6931430" y="3169485"/>
            <a:ext cx="1055097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운영관리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Log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사용자 인증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수동 업데이트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7" name="직사각형 256"/>
          <p:cNvSpPr/>
          <p:nvPr/>
        </p:nvSpPr>
        <p:spPr>
          <a:xfrm>
            <a:off x="8198476" y="3169485"/>
            <a:ext cx="1228221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영업</a:t>
            </a:r>
            <a:r>
              <a:rPr lang="en-US" altLang="ko-KR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/</a:t>
            </a: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관리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매출 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정산 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관리 기능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4483899" y="4364295"/>
            <a:ext cx="1313180" cy="7771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</a:t>
            </a:r>
            <a:r>
              <a:rPr lang="ko-KR" altLang="en-US" sz="1000" b="1" kern="0" spc="-100" dirty="0" err="1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키오스크</a:t>
            </a:r>
            <a:r>
              <a:rPr lang="ko-KR" altLang="en-US" sz="1000" b="1" kern="0" spc="-10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 기본기능</a:t>
            </a:r>
            <a:endParaRPr lang="en-US" altLang="ko-KR" sz="1000" b="1" kern="0" spc="-10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로그인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오픈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장비연동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부가기능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5737232" y="4364295"/>
            <a:ext cx="870751" cy="7771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판매기능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멤버십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프로모션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제휴결제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광고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8198476" y="4364295"/>
            <a:ext cx="13003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인터페이스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VAN 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연동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4483899" y="5183129"/>
            <a:ext cx="915635" cy="5309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주문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주문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장바구니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2" name="직사각형 271"/>
          <p:cNvSpPr/>
          <p:nvPr/>
        </p:nvSpPr>
        <p:spPr>
          <a:xfrm>
            <a:off x="5737232" y="5183129"/>
            <a:ext cx="998991" cy="7771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300"/>
              </a:spcBef>
            </a:pP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</a:t>
            </a:r>
            <a:r>
              <a:rPr lang="ko-KR" altLang="en-US" sz="1000" b="1" kern="0" dirty="0" err="1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배리어프리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시각 장애인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휠체어 모드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 err="1">
                <a:latin typeface="+mn-ea"/>
                <a:cs typeface="Pretendard" panose="02000503000000020004" pitchFamily="50" charset="-127"/>
              </a:rPr>
              <a:t>키패드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 거래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다국어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3" name="직사각형 272"/>
          <p:cNvSpPr/>
          <p:nvPr/>
        </p:nvSpPr>
        <p:spPr>
          <a:xfrm>
            <a:off x="6931430" y="4364295"/>
            <a:ext cx="952505" cy="4078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보안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데이터 보안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6931430" y="5183129"/>
            <a:ext cx="1055097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운영관리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Log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사용자 인증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수동 업데이트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5" name="직사각형 274"/>
          <p:cNvSpPr/>
          <p:nvPr/>
        </p:nvSpPr>
        <p:spPr>
          <a:xfrm>
            <a:off x="8198476" y="5183129"/>
            <a:ext cx="1228221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영업</a:t>
            </a:r>
            <a:r>
              <a:rPr lang="en-US" altLang="ko-KR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/</a:t>
            </a: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관리 기능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매출 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정산 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관리 기능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grpSp>
        <p:nvGrpSpPr>
          <p:cNvPr id="359" name="그룹 358"/>
          <p:cNvGrpSpPr/>
          <p:nvPr/>
        </p:nvGrpSpPr>
        <p:grpSpPr>
          <a:xfrm>
            <a:off x="2552595" y="1908358"/>
            <a:ext cx="1581490" cy="1028485"/>
            <a:chOff x="4273287" y="2042296"/>
            <a:chExt cx="5191382" cy="1028485"/>
          </a:xfrm>
        </p:grpSpPr>
        <p:sp>
          <p:nvSpPr>
            <p:cNvPr id="360" name="사각형: 둥근 모서리 22">
              <a:extLst>
                <a:ext uri="{FF2B5EF4-FFF2-40B4-BE49-F238E27FC236}">
                  <a16:creationId xmlns:a16="http://schemas.microsoft.com/office/drawing/2014/main" id="{4339FD85-552F-24CE-A8FC-16A51B3A4D5D}"/>
                </a:ext>
              </a:extLst>
            </p:cNvPr>
            <p:cNvSpPr/>
            <p:nvPr/>
          </p:nvSpPr>
          <p:spPr>
            <a:xfrm>
              <a:off x="4273287" y="2042297"/>
              <a:ext cx="5191382" cy="1028484"/>
            </a:xfrm>
            <a:prstGeom prst="roundRect">
              <a:avLst>
                <a:gd name="adj" fmla="val 4180"/>
              </a:avLst>
            </a:prstGeom>
            <a:solidFill>
              <a:schemeClr val="bg1"/>
            </a:solidFill>
            <a:ln w="63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lIns="17996" tIns="36000" rIns="17996" bIns="36000" anchor="t" anchorCtr="0"/>
            <a:lstStyle/>
            <a:p>
              <a:pPr algn="ctr" defTabSz="914400"/>
              <a:endParaRPr lang="en-US" altLang="ko-KR" sz="12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61" name="AutoShape 45">
              <a:extLst>
                <a:ext uri="{FF2B5EF4-FFF2-40B4-BE49-F238E27FC236}">
                  <a16:creationId xmlns:a16="http://schemas.microsoft.com/office/drawing/2014/main" id="{19630CA1-6CC8-E42A-3A08-E475D646E2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73287" y="2042296"/>
              <a:ext cx="5191382" cy="288000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txBody>
            <a:bodyPr wrap="none" tIns="0" bIns="0" anchor="ctr"/>
            <a:lstStyle/>
            <a:p>
              <a:pPr algn="ctr" defTabSz="957838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③</a:t>
              </a:r>
              <a:r>
                <a:rPr lang="en-US" altLang="ko-KR" sz="1000" dirty="0"/>
                <a:t> </a:t>
              </a:r>
              <a:r>
                <a:rPr lang="en-US" altLang="ko-KR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rPr>
                <a:t>AWS API</a:t>
              </a:r>
            </a:p>
          </p:txBody>
        </p:sp>
      </p:grpSp>
      <p:sp>
        <p:nvSpPr>
          <p:cNvPr id="362" name="직사각형 361"/>
          <p:cNvSpPr/>
          <p:nvPr/>
        </p:nvSpPr>
        <p:spPr>
          <a:xfrm>
            <a:off x="2638383" y="2320937"/>
            <a:ext cx="1401346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기준정보 송</a:t>
            </a:r>
            <a:r>
              <a:rPr lang="en-US" altLang="ko-KR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/</a:t>
            </a: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수신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>
              <a:spcBef>
                <a:spcPts val="600"/>
              </a:spcBef>
            </a:pP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판매정보 송</a:t>
            </a:r>
            <a:r>
              <a:rPr lang="en-US" altLang="ko-KR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/</a:t>
            </a:r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수신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pic>
        <p:nvPicPr>
          <p:cNvPr id="367" name="Picture 2" descr="클라우드 개념과 AWS 기본설정">
            <a:extLst>
              <a:ext uri="{FF2B5EF4-FFF2-40B4-BE49-F238E27FC236}">
                <a16:creationId xmlns:a16="http://schemas.microsoft.com/office/drawing/2014/main" id="{BDB96E47-85C8-849B-A8DE-7B0C5A50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0387" y="1745814"/>
            <a:ext cx="575991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8" name="그룹 367"/>
          <p:cNvGrpSpPr/>
          <p:nvPr/>
        </p:nvGrpSpPr>
        <p:grpSpPr>
          <a:xfrm>
            <a:off x="2552595" y="3285908"/>
            <a:ext cx="1581490" cy="2692689"/>
            <a:chOff x="4273287" y="2042296"/>
            <a:chExt cx="5191382" cy="2692689"/>
          </a:xfrm>
        </p:grpSpPr>
        <p:sp>
          <p:nvSpPr>
            <p:cNvPr id="369" name="사각형: 둥근 모서리 22">
              <a:extLst>
                <a:ext uri="{FF2B5EF4-FFF2-40B4-BE49-F238E27FC236}">
                  <a16:creationId xmlns:a16="http://schemas.microsoft.com/office/drawing/2014/main" id="{4339FD85-552F-24CE-A8FC-16A51B3A4D5D}"/>
                </a:ext>
              </a:extLst>
            </p:cNvPr>
            <p:cNvSpPr/>
            <p:nvPr/>
          </p:nvSpPr>
          <p:spPr>
            <a:xfrm>
              <a:off x="4273287" y="2042296"/>
              <a:ext cx="5191382" cy="2692689"/>
            </a:xfrm>
            <a:prstGeom prst="roundRect">
              <a:avLst>
                <a:gd name="adj" fmla="val 4180"/>
              </a:avLst>
            </a:prstGeom>
            <a:solidFill>
              <a:schemeClr val="bg1"/>
            </a:solidFill>
            <a:ln w="6350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lIns="17996" tIns="36000" rIns="17996" bIns="36000" anchor="t" anchorCtr="0"/>
            <a:lstStyle/>
            <a:p>
              <a:pPr algn="ctr" defTabSz="914400"/>
              <a:endParaRPr lang="en-US" altLang="ko-KR" sz="12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70" name="AutoShape 45">
              <a:extLst>
                <a:ext uri="{FF2B5EF4-FFF2-40B4-BE49-F238E27FC236}">
                  <a16:creationId xmlns:a16="http://schemas.microsoft.com/office/drawing/2014/main" id="{19630CA1-6CC8-E42A-3A08-E475D646E2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273287" y="2042296"/>
              <a:ext cx="5191382" cy="288000"/>
            </a:xfrm>
            <a:prstGeom prst="round2SameRect">
              <a:avLst/>
            </a:prstGeom>
            <a:solidFill>
              <a:srgbClr val="0070C0"/>
            </a:solidFill>
            <a:ln>
              <a:noFill/>
            </a:ln>
          </p:spPr>
          <p:txBody>
            <a:bodyPr wrap="none" tIns="0" bIns="0" anchor="ctr"/>
            <a:lstStyle/>
            <a:p>
              <a:pPr algn="ctr" defTabSz="957838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ko-KR" sz="1000" b="1" dirty="0">
                  <a:solidFill>
                    <a:schemeClr val="bg1"/>
                  </a:solidFill>
                </a:rPr>
                <a:t>③</a:t>
              </a:r>
              <a:r>
                <a:rPr lang="en-US" altLang="ko-KR" sz="1000" dirty="0"/>
                <a:t> </a:t>
              </a:r>
              <a:r>
                <a:rPr lang="en-US" altLang="ko-KR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rPr>
                <a:t>POS</a:t>
              </a:r>
              <a:r>
                <a:rPr lang="ko-KR" altLang="en-US" sz="1100" b="1" dirty="0">
                  <a:solidFill>
                    <a:srgbClr val="FFFFFF"/>
                  </a:solidFill>
                  <a:latin typeface="+mn-ea"/>
                  <a:cs typeface="Pretendard" panose="02000503000000020004" pitchFamily="50" charset="-127"/>
                </a:rPr>
                <a:t>관리 시스템</a:t>
              </a:r>
              <a:endParaRPr lang="en-US" altLang="ko-KR" sz="1100" b="1" dirty="0">
                <a:solidFill>
                  <a:srgbClr val="FFFFFF"/>
                </a:solidFill>
                <a:latin typeface="+mn-ea"/>
                <a:cs typeface="Pretendard" panose="02000503000000020004" pitchFamily="50" charset="-127"/>
              </a:endParaRPr>
            </a:p>
          </p:txBody>
        </p:sp>
      </p:grpSp>
      <p:sp>
        <p:nvSpPr>
          <p:cNvPr id="364" name="직사각형 363"/>
          <p:cNvSpPr/>
          <p:nvPr/>
        </p:nvSpPr>
        <p:spPr>
          <a:xfrm>
            <a:off x="2644610" y="3680805"/>
            <a:ext cx="1300356" cy="6540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기준정보 관리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POS/</a:t>
            </a:r>
            <a:r>
              <a:rPr lang="ko-KR" altLang="en-US" sz="800" b="1" kern="0" dirty="0" err="1">
                <a:latin typeface="+mn-ea"/>
                <a:cs typeface="Pretendard" panose="02000503000000020004" pitchFamily="50" charset="-127"/>
              </a:rPr>
              <a:t>키오스크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 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배너관리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기준정보 조회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65" name="직사각형 364"/>
          <p:cNvSpPr/>
          <p:nvPr/>
        </p:nvSpPr>
        <p:spPr>
          <a:xfrm>
            <a:off x="2644610" y="4517969"/>
            <a:ext cx="1399742" cy="4078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매출 관리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매출조회 및 송신관리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66" name="직사각형 365"/>
          <p:cNvSpPr/>
          <p:nvPr/>
        </p:nvSpPr>
        <p:spPr>
          <a:xfrm>
            <a:off x="2644610" y="5108911"/>
            <a:ext cx="1300356" cy="7309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b="1" kern="0" dirty="0">
                <a:solidFill>
                  <a:srgbClr val="1941A8"/>
                </a:solidFill>
                <a:latin typeface="+mn-ea"/>
                <a:cs typeface="Pretendard" panose="02000503000000020004" pitchFamily="50" charset="-127"/>
              </a:rPr>
              <a:t>⊙ 시스템 관리</a:t>
            </a:r>
            <a:endParaRPr lang="en-US" altLang="ko-KR" sz="1000" b="1" kern="0" dirty="0">
              <a:solidFill>
                <a:srgbClr val="1941A8"/>
              </a:solidFill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en-US" altLang="ko-KR" sz="800" b="1" kern="0" dirty="0">
                <a:latin typeface="+mn-ea"/>
                <a:cs typeface="Pretendard" panose="02000503000000020004" pitchFamily="50" charset="-127"/>
              </a:rPr>
              <a:t>POS/</a:t>
            </a:r>
            <a:r>
              <a:rPr lang="ko-KR" altLang="en-US" sz="800" b="1" kern="0" dirty="0" err="1">
                <a:latin typeface="+mn-ea"/>
                <a:cs typeface="Pretendard" panose="02000503000000020004" pitchFamily="50" charset="-127"/>
              </a:rPr>
              <a:t>키오스크</a:t>
            </a: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 관제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모니터링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  <a:p>
            <a:pPr marL="216000" indent="-171450">
              <a:spcBef>
                <a:spcPts val="300"/>
              </a:spcBef>
              <a:buFont typeface="Arial" pitchFamily="34" charset="0"/>
              <a:buChar char="•"/>
            </a:pPr>
            <a:r>
              <a:rPr lang="ko-KR" altLang="en-US" sz="800" b="1" kern="0" dirty="0">
                <a:latin typeface="+mn-ea"/>
                <a:cs typeface="Pretendard" panose="02000503000000020004" pitchFamily="50" charset="-127"/>
              </a:rPr>
              <a:t>배치관리</a:t>
            </a:r>
            <a:endParaRPr lang="en-US" altLang="ko-KR" sz="800" b="1" kern="0" dirty="0">
              <a:latin typeface="+mn-ea"/>
              <a:cs typeface="Pretendard" panose="02000503000000020004" pitchFamily="50" charset="-127"/>
            </a:endParaRPr>
          </a:p>
        </p:txBody>
      </p:sp>
      <p:pic>
        <p:nvPicPr>
          <p:cNvPr id="374" name="Picture 2" descr="클라우드 개념과 AWS 기본설정">
            <a:extLst>
              <a:ext uri="{FF2B5EF4-FFF2-40B4-BE49-F238E27FC236}">
                <a16:creationId xmlns:a16="http://schemas.microsoft.com/office/drawing/2014/main" id="{BDB96E47-85C8-849B-A8DE-7B0C5A508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6614" y="3042228"/>
            <a:ext cx="575991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7" name="화살표: 왼쪽/오른쪽 16">
            <a:extLst>
              <a:ext uri="{FF2B5EF4-FFF2-40B4-BE49-F238E27FC236}">
                <a16:creationId xmlns:a16="http://schemas.microsoft.com/office/drawing/2014/main" id="{CDF6F9E4-1CB8-457F-138E-81DE8F745E86}"/>
              </a:ext>
            </a:extLst>
          </p:cNvPr>
          <p:cNvSpPr/>
          <p:nvPr/>
        </p:nvSpPr>
        <p:spPr>
          <a:xfrm>
            <a:off x="9831823" y="2853198"/>
            <a:ext cx="432000" cy="360000"/>
          </a:xfrm>
          <a:prstGeom prst="leftRightArrow">
            <a:avLst>
              <a:gd name="adj1" fmla="val 50000"/>
              <a:gd name="adj2" fmla="val 38208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I/F</a:t>
            </a:r>
            <a:endParaRPr lang="ko-KR" altLang="en-US" sz="1000" b="1" dirty="0">
              <a:solidFill>
                <a:schemeClr val="tx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78" name="화살표: 왼쪽/오른쪽 16">
            <a:extLst>
              <a:ext uri="{FF2B5EF4-FFF2-40B4-BE49-F238E27FC236}">
                <a16:creationId xmlns:a16="http://schemas.microsoft.com/office/drawing/2014/main" id="{CDF6F9E4-1CB8-457F-138E-81DE8F745E86}"/>
              </a:ext>
            </a:extLst>
          </p:cNvPr>
          <p:cNvSpPr/>
          <p:nvPr/>
        </p:nvSpPr>
        <p:spPr>
          <a:xfrm>
            <a:off x="9831823" y="4756519"/>
            <a:ext cx="432000" cy="360000"/>
          </a:xfrm>
          <a:prstGeom prst="leftRightArrow">
            <a:avLst>
              <a:gd name="adj1" fmla="val 50000"/>
              <a:gd name="adj2" fmla="val 38208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I/F</a:t>
            </a:r>
            <a:endParaRPr lang="ko-KR" altLang="en-US" sz="1000" b="1" dirty="0">
              <a:solidFill>
                <a:schemeClr val="tx1"/>
              </a:solidFill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379" name="꺾인 연결선 326">
            <a:extLst>
              <a:ext uri="{FF2B5EF4-FFF2-40B4-BE49-F238E27FC236}">
                <a16:creationId xmlns:a16="http://schemas.microsoft.com/office/drawing/2014/main" id="{3ACA225E-81CE-4691-377A-9A1C5956C7B7}"/>
              </a:ext>
            </a:extLst>
          </p:cNvPr>
          <p:cNvCxnSpPr>
            <a:cxnSpLocks/>
            <a:stCxn id="360" idx="2"/>
            <a:endCxn id="370" idx="3"/>
          </p:cNvCxnSpPr>
          <p:nvPr/>
        </p:nvCxnSpPr>
        <p:spPr>
          <a:xfrm>
            <a:off x="3343340" y="2936843"/>
            <a:ext cx="0" cy="349065"/>
          </a:xfrm>
          <a:prstGeom prst="straightConnector1">
            <a:avLst/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꺾인 연결선 326">
            <a:extLst>
              <a:ext uri="{FF2B5EF4-FFF2-40B4-BE49-F238E27FC236}">
                <a16:creationId xmlns:a16="http://schemas.microsoft.com/office/drawing/2014/main" id="{E023A6BF-3462-FD08-EAFF-4D2F0A76D4C3}"/>
              </a:ext>
            </a:extLst>
          </p:cNvPr>
          <p:cNvCxnSpPr>
            <a:cxnSpLocks/>
            <a:stCxn id="360" idx="3"/>
            <a:endCxn id="214" idx="1"/>
          </p:cNvCxnSpPr>
          <p:nvPr/>
        </p:nvCxnSpPr>
        <p:spPr>
          <a:xfrm>
            <a:off x="4134085" y="2422601"/>
            <a:ext cx="273382" cy="2583448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꺾인 연결선 326">
            <a:extLst>
              <a:ext uri="{FF2B5EF4-FFF2-40B4-BE49-F238E27FC236}">
                <a16:creationId xmlns:a16="http://schemas.microsoft.com/office/drawing/2014/main" id="{E023A6BF-3462-FD08-EAFF-4D2F0A76D4C3}"/>
              </a:ext>
            </a:extLst>
          </p:cNvPr>
          <p:cNvCxnSpPr>
            <a:cxnSpLocks/>
            <a:endCxn id="208" idx="1"/>
          </p:cNvCxnSpPr>
          <p:nvPr/>
        </p:nvCxnSpPr>
        <p:spPr>
          <a:xfrm flipV="1">
            <a:off x="4270776" y="2930782"/>
            <a:ext cx="140865" cy="3"/>
          </a:xfrm>
          <a:prstGeom prst="bentConnector3">
            <a:avLst>
              <a:gd name="adj1" fmla="val 50000"/>
            </a:avLst>
          </a:prstGeom>
          <a:ln w="19050">
            <a:solidFill>
              <a:srgbClr val="0070C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CB32E4D-0635-9188-B7CE-97F11408153E}"/>
              </a:ext>
            </a:extLst>
          </p:cNvPr>
          <p:cNvSpPr txBox="1"/>
          <p:nvPr/>
        </p:nvSpPr>
        <p:spPr>
          <a:xfrm>
            <a:off x="9890239" y="2571385"/>
            <a:ext cx="3543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④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EF5C35-721F-B98A-AD39-237178F3BEDB}"/>
              </a:ext>
            </a:extLst>
          </p:cNvPr>
          <p:cNvSpPr txBox="1"/>
          <p:nvPr/>
        </p:nvSpPr>
        <p:spPr>
          <a:xfrm>
            <a:off x="9890239" y="4517969"/>
            <a:ext cx="3543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④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21536C-AB75-60D1-FF97-145D3256B551}"/>
              </a:ext>
            </a:extLst>
          </p:cNvPr>
          <p:cNvSpPr txBox="1"/>
          <p:nvPr/>
        </p:nvSpPr>
        <p:spPr>
          <a:xfrm>
            <a:off x="1952709" y="2153224"/>
            <a:ext cx="3543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④</a:t>
            </a:r>
          </a:p>
        </p:txBody>
      </p:sp>
      <p:pic>
        <p:nvPicPr>
          <p:cNvPr id="73" name="Graphic 73" descr="Task resource icon for the Amazon ECS service.">
            <a:extLst>
              <a:ext uri="{FF2B5EF4-FFF2-40B4-BE49-F238E27FC236}">
                <a16:creationId xmlns:a16="http://schemas.microsoft.com/office/drawing/2014/main" id="{3D2FBEBE-6133-4FDD-A82A-9F7CB8D962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8454" y="2738754"/>
            <a:ext cx="427416" cy="433564"/>
          </a:xfrm>
          <a:prstGeom prst="rect">
            <a:avLst/>
          </a:prstGeom>
        </p:spPr>
      </p:pic>
      <p:sp>
        <p:nvSpPr>
          <p:cNvPr id="74" name="모서리가 둥근 직사각형 120">
            <a:extLst>
              <a:ext uri="{FF2B5EF4-FFF2-40B4-BE49-F238E27FC236}">
                <a16:creationId xmlns:a16="http://schemas.microsoft.com/office/drawing/2014/main" id="{79406F8D-DEBE-4DDF-ABFF-DDCAF5945A4F}"/>
              </a:ext>
            </a:extLst>
          </p:cNvPr>
          <p:cNvSpPr/>
          <p:nvPr/>
        </p:nvSpPr>
        <p:spPr>
          <a:xfrm>
            <a:off x="920768" y="2387483"/>
            <a:ext cx="890482" cy="25720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err="1"/>
              <a:t>OnP</a:t>
            </a:r>
            <a:r>
              <a:rPr lang="en-US" altLang="ko-KR" sz="1100" b="1" dirty="0"/>
              <a:t> API</a:t>
            </a:r>
            <a:endParaRPr lang="ko-KR" altLang="en-US" sz="1100" b="1" dirty="0"/>
          </a:p>
        </p:txBody>
      </p:sp>
      <p:sp>
        <p:nvSpPr>
          <p:cNvPr id="376" name="화살표: 왼쪽/오른쪽 16">
            <a:extLst>
              <a:ext uri="{FF2B5EF4-FFF2-40B4-BE49-F238E27FC236}">
                <a16:creationId xmlns:a16="http://schemas.microsoft.com/office/drawing/2014/main" id="{CDF6F9E4-1CB8-457F-138E-81DE8F745E86}"/>
              </a:ext>
            </a:extLst>
          </p:cNvPr>
          <p:cNvSpPr/>
          <p:nvPr/>
        </p:nvSpPr>
        <p:spPr>
          <a:xfrm>
            <a:off x="1827578" y="2368412"/>
            <a:ext cx="670708" cy="360000"/>
          </a:xfrm>
          <a:prstGeom prst="leftRightArrow">
            <a:avLst>
              <a:gd name="adj1" fmla="val 50000"/>
              <a:gd name="adj2" fmla="val 38208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I/F</a:t>
            </a:r>
            <a:endParaRPr lang="ko-KR" altLang="en-US" sz="1000" b="1" dirty="0">
              <a:solidFill>
                <a:schemeClr val="tx1"/>
              </a:solidFill>
              <a:latin typeface="+mn-ea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2493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사각형: 둥근 모서리 3">
            <a:extLst>
              <a:ext uri="{FF2B5EF4-FFF2-40B4-BE49-F238E27FC236}">
                <a16:creationId xmlns:a16="http://schemas.microsoft.com/office/drawing/2014/main" id="{591807BC-35EC-8467-403E-A1724C77412C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④</a:t>
            </a:r>
            <a:endParaRPr lang="ko-KR" altLang="en-US"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기대 효과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매장 및 시스템 운영 효율화</a:t>
            </a:r>
            <a:r>
              <a:rPr lang="en-US" altLang="ko-KR" dirty="0"/>
              <a:t>, </a:t>
            </a:r>
            <a:r>
              <a:rPr lang="ko-KR" altLang="en-US" dirty="0"/>
              <a:t>사용자 경험 극대화</a:t>
            </a:r>
            <a:r>
              <a:rPr lang="en-US" altLang="ko-KR" dirty="0"/>
              <a:t>, Cloud</a:t>
            </a:r>
            <a:r>
              <a:rPr lang="ko-KR" altLang="en-US" dirty="0"/>
              <a:t> 기반의</a:t>
            </a:r>
            <a:r>
              <a:rPr lang="en-US" altLang="ko-KR" dirty="0"/>
              <a:t> </a:t>
            </a:r>
            <a:r>
              <a:rPr lang="ko-KR" altLang="en-US" dirty="0"/>
              <a:t>차세대 시스템을 고려한 설계로 서비스 안정화 강화를 목표로 구축 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프로젝트 개요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97A4A9D-1A43-7C7E-D094-97DCA6418EE4}"/>
              </a:ext>
            </a:extLst>
          </p:cNvPr>
          <p:cNvGrpSpPr/>
          <p:nvPr/>
        </p:nvGrpSpPr>
        <p:grpSpPr>
          <a:xfrm>
            <a:off x="962657" y="4877516"/>
            <a:ext cx="3195837" cy="934956"/>
            <a:chOff x="7398440" y="2733022"/>
            <a:chExt cx="3195837" cy="934956"/>
          </a:xfrm>
        </p:grpSpPr>
        <p:sp>
          <p:nvSpPr>
            <p:cNvPr id="7" name="모서리가 둥근 직사각형 62">
              <a:extLst>
                <a:ext uri="{FF2B5EF4-FFF2-40B4-BE49-F238E27FC236}">
                  <a16:creationId xmlns:a16="http://schemas.microsoft.com/office/drawing/2014/main" id="{D9BD6029-8BEC-2A51-B325-5918A6546680}"/>
                </a:ext>
              </a:extLst>
            </p:cNvPr>
            <p:cNvSpPr/>
            <p:nvPr/>
          </p:nvSpPr>
          <p:spPr>
            <a:xfrm>
              <a:off x="7398440" y="2733022"/>
              <a:ext cx="3195837" cy="93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>
              <a:outerShdw blurRad="173389" dist="68149" dir="3360000" sx="98918" sy="98918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spcBef>
                  <a:spcPts val="200"/>
                </a:spcBef>
                <a:spcAft>
                  <a:spcPts val="200"/>
                </a:spcAft>
                <a:buClrTx/>
                <a:buSzPct val="80000"/>
                <a:buFontTx/>
                <a:buNone/>
                <a:tabLst/>
                <a:defRPr/>
              </a:pPr>
              <a:r>
                <a:rPr lang="ko-KR" altLang="en-US" sz="1400" b="1" spc="-60" dirty="0">
                  <a:gradFill>
                    <a:gsLst>
                      <a:gs pos="0">
                        <a:srgbClr val="FFC000"/>
                      </a:gs>
                      <a:gs pos="30000">
                        <a:srgbClr val="FF0000"/>
                      </a:gs>
                      <a:gs pos="64000">
                        <a:srgbClr val="1941A8"/>
                      </a:gs>
                      <a:gs pos="100000">
                        <a:srgbClr val="0070C0"/>
                      </a:gs>
                    </a:gsLst>
                    <a:lin ang="2700000" scaled="1"/>
                  </a:gradFill>
                  <a:latin typeface="+mn-ea"/>
                  <a:cs typeface="Pretendard" panose="02000603000000020004" pitchFamily="2" charset="-127"/>
                </a:rPr>
                <a:t>     </a:t>
              </a:r>
              <a:r>
                <a:rPr lang="en-US" altLang="ko-KR" sz="1400" b="1" spc="-60" dirty="0">
                  <a:solidFill>
                    <a:srgbClr val="1941A8"/>
                  </a:solidFill>
                  <a:latin typeface="+mn-ea"/>
                  <a:cs typeface="Pretendard" panose="02000603000000020004" pitchFamily="2" charset="-127"/>
                </a:rPr>
                <a:t>Non-Contact</a:t>
              </a:r>
            </a:p>
            <a:p>
              <a:pPr marL="0" marR="0" lvl="0" indent="0" algn="ctr" defTabSz="914400" rtl="0" eaLnBrk="1" fontAlgn="auto" latinLnBrk="1" hangingPunct="1">
                <a:spcBef>
                  <a:spcPts val="200"/>
                </a:spcBef>
                <a:spcAft>
                  <a:spcPts val="200"/>
                </a:spcAft>
                <a:buClrTx/>
                <a:buSzPct val="80000"/>
                <a:buFontTx/>
                <a:buNone/>
                <a:tabLst/>
                <a:defRPr/>
              </a:pPr>
              <a:r>
                <a:rPr lang="ko-KR" altLang="en-US" sz="1600" spc="-60" dirty="0">
                  <a:solidFill>
                    <a:schemeClr val="tx1"/>
                  </a:solidFill>
                  <a:latin typeface="+mn-ea"/>
                  <a:cs typeface="Pretendard Medium" panose="02000603000000020004" pitchFamily="50" charset="-127"/>
                </a:rPr>
                <a:t>     </a:t>
              </a:r>
              <a:r>
                <a:rPr lang="ko-KR" altLang="en-US" sz="1600" spc="-60" dirty="0" err="1">
                  <a:solidFill>
                    <a:schemeClr val="tx1"/>
                  </a:solidFill>
                  <a:latin typeface="+mn-ea"/>
                  <a:cs typeface="Pretendard Medium" panose="02000603000000020004" pitchFamily="50" charset="-127"/>
                </a:rPr>
                <a:t>비대면</a:t>
              </a:r>
              <a:r>
                <a:rPr lang="ko-KR" altLang="en-US" sz="1600" spc="-60" dirty="0">
                  <a:solidFill>
                    <a:schemeClr val="tx1"/>
                  </a:solidFill>
                  <a:latin typeface="+mn-ea"/>
                  <a:cs typeface="Pretendard Medium" panose="02000603000000020004" pitchFamily="50" charset="-127"/>
                </a:rPr>
                <a:t> 환경에서도 </a:t>
              </a:r>
              <a:endParaRPr lang="en-US" altLang="ko-KR" sz="16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2B27A0D-6E25-19E2-5BCD-AAE1929F4249}"/>
                </a:ext>
              </a:extLst>
            </p:cNvPr>
            <p:cNvSpPr/>
            <p:nvPr/>
          </p:nvSpPr>
          <p:spPr>
            <a:xfrm>
              <a:off x="7737587" y="2932159"/>
              <a:ext cx="509666" cy="509666"/>
            </a:xfrm>
            <a:prstGeom prst="ellipse">
              <a:avLst/>
            </a:prstGeom>
            <a:gradFill>
              <a:gsLst>
                <a:gs pos="99000">
                  <a:srgbClr val="1941A8"/>
                </a:gs>
                <a:gs pos="51000">
                  <a:srgbClr val="0070C0"/>
                </a:gs>
                <a:gs pos="0">
                  <a:srgbClr val="00B0F0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FA42FCAB-2A96-7E80-B424-5287B9605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49440" y="3082102"/>
              <a:ext cx="273069" cy="23054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11DC67-E176-D05C-682B-390031922D05}"/>
              </a:ext>
            </a:extLst>
          </p:cNvPr>
          <p:cNvGrpSpPr/>
          <p:nvPr/>
        </p:nvGrpSpPr>
        <p:grpSpPr>
          <a:xfrm>
            <a:off x="962658" y="3496957"/>
            <a:ext cx="3195837" cy="934956"/>
            <a:chOff x="3863456" y="2733022"/>
            <a:chExt cx="3195837" cy="934956"/>
          </a:xfrm>
        </p:grpSpPr>
        <p:sp>
          <p:nvSpPr>
            <p:cNvPr id="11" name="모서리가 둥근 직사각형 61">
              <a:extLst>
                <a:ext uri="{FF2B5EF4-FFF2-40B4-BE49-F238E27FC236}">
                  <a16:creationId xmlns:a16="http://schemas.microsoft.com/office/drawing/2014/main" id="{A379297F-A9DD-D7FB-A583-1BB6B008A96D}"/>
                </a:ext>
              </a:extLst>
            </p:cNvPr>
            <p:cNvSpPr/>
            <p:nvPr/>
          </p:nvSpPr>
          <p:spPr>
            <a:xfrm>
              <a:off x="3863456" y="2733022"/>
              <a:ext cx="3195837" cy="93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>
              <a:outerShdw blurRad="173389" dist="68149" dir="3360000" sx="98918" sy="98918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  <a:buSzPct val="80000"/>
              </a:pPr>
              <a:r>
                <a:rPr lang="ko-KR" altLang="en-US" sz="1400" b="1" spc="-60" dirty="0">
                  <a:solidFill>
                    <a:srgbClr val="1941A8"/>
                  </a:solidFill>
                  <a:latin typeface="+mn-ea"/>
                  <a:cs typeface="Pretendard" panose="02000603000000020004" pitchFamily="2" charset="-127"/>
                </a:rPr>
                <a:t>     </a:t>
              </a:r>
              <a:r>
                <a:rPr lang="en-US" altLang="ko-KR" sz="1400" b="1" spc="-60" dirty="0">
                  <a:solidFill>
                    <a:srgbClr val="1941A8"/>
                  </a:solidFill>
                  <a:latin typeface="+mn-ea"/>
                  <a:cs typeface="Pretendard" panose="02000603000000020004" pitchFamily="2" charset="-127"/>
                </a:rPr>
                <a:t>Customized</a:t>
              </a:r>
            </a:p>
            <a:p>
              <a:pPr algn="ctr">
                <a:spcBef>
                  <a:spcPts val="200"/>
                </a:spcBef>
                <a:spcAft>
                  <a:spcPts val="200"/>
                </a:spcAft>
                <a:buSzPct val="80000"/>
              </a:pPr>
              <a:r>
                <a:rPr lang="ko-KR" altLang="en-US" sz="1600" spc="-60" dirty="0">
                  <a:solidFill>
                    <a:srgbClr val="1941A8"/>
                  </a:solidFill>
                  <a:latin typeface="+mn-ea"/>
                  <a:cs typeface="Pretendard Medium" panose="02000603000000020004" pitchFamily="50" charset="-127"/>
                </a:rPr>
                <a:t>     </a:t>
              </a:r>
              <a:r>
                <a:rPr lang="ko-KR" altLang="en-US" sz="1600" spc="-60" dirty="0">
                  <a:solidFill>
                    <a:schemeClr val="tx1"/>
                  </a:solidFill>
                  <a:latin typeface="+mn-ea"/>
                  <a:cs typeface="Pretendard Medium" panose="02000603000000020004" pitchFamily="50" charset="-127"/>
                </a:rPr>
                <a:t>기업의 특성에 맞게</a:t>
              </a:r>
              <a:endParaRPr lang="en-US" altLang="ko-KR" sz="16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56C4573-CEBE-B9DF-6C98-4ADC87262A78}"/>
                </a:ext>
              </a:extLst>
            </p:cNvPr>
            <p:cNvSpPr/>
            <p:nvPr/>
          </p:nvSpPr>
          <p:spPr>
            <a:xfrm>
              <a:off x="4165164" y="2918022"/>
              <a:ext cx="509666" cy="509666"/>
            </a:xfrm>
            <a:prstGeom prst="ellipse">
              <a:avLst/>
            </a:prstGeom>
            <a:gradFill>
              <a:gsLst>
                <a:gs pos="99000">
                  <a:srgbClr val="1941A8"/>
                </a:gs>
                <a:gs pos="51000">
                  <a:srgbClr val="0070C0"/>
                </a:gs>
                <a:gs pos="0">
                  <a:srgbClr val="00B0F0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93B6250-3B2F-139E-F506-2B3E5F60C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79985" y="3038850"/>
              <a:ext cx="268009" cy="268009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345C17-7641-5394-6ED6-047ECF168188}"/>
              </a:ext>
            </a:extLst>
          </p:cNvPr>
          <p:cNvGrpSpPr/>
          <p:nvPr/>
        </p:nvGrpSpPr>
        <p:grpSpPr>
          <a:xfrm>
            <a:off x="962658" y="2116398"/>
            <a:ext cx="3195837" cy="934956"/>
            <a:chOff x="328472" y="2733022"/>
            <a:chExt cx="3195837" cy="934956"/>
          </a:xfrm>
          <a:effectLst/>
        </p:grpSpPr>
        <p:sp>
          <p:nvSpPr>
            <p:cNvPr id="15" name="모서리가 둥근 직사각형 60">
              <a:extLst>
                <a:ext uri="{FF2B5EF4-FFF2-40B4-BE49-F238E27FC236}">
                  <a16:creationId xmlns:a16="http://schemas.microsoft.com/office/drawing/2014/main" id="{A03BBB8F-12D5-A5EF-9251-07942C882786}"/>
                </a:ext>
              </a:extLst>
            </p:cNvPr>
            <p:cNvSpPr/>
            <p:nvPr/>
          </p:nvSpPr>
          <p:spPr>
            <a:xfrm>
              <a:off x="328472" y="2733022"/>
              <a:ext cx="3195837" cy="93495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rgbClr val="0070C0"/>
              </a:solidFill>
            </a:ln>
            <a:effectLst>
              <a:outerShdw blurRad="173389" dist="68149" dir="3360000" sx="98918" sy="98918" algn="tl" rotWithShape="0">
                <a:prstClr val="black">
                  <a:alpha val="151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spcBef>
                  <a:spcPts val="200"/>
                </a:spcBef>
                <a:spcAft>
                  <a:spcPts val="200"/>
                </a:spcAft>
                <a:buSzPct val="80000"/>
              </a:pPr>
              <a:r>
                <a:rPr lang="ko-KR" altLang="en-US" sz="1400" b="1" spc="-60" dirty="0">
                  <a:solidFill>
                    <a:srgbClr val="1941A8"/>
                  </a:solidFill>
                  <a:latin typeface="+mn-ea"/>
                  <a:cs typeface="Pretendard" panose="02000603000000020004" pitchFamily="2" charset="-127"/>
                </a:rPr>
                <a:t>     </a:t>
              </a:r>
              <a:r>
                <a:rPr lang="en-US" altLang="ko-KR" sz="1400" b="1" spc="-60" dirty="0">
                  <a:solidFill>
                    <a:srgbClr val="1941A8"/>
                  </a:solidFill>
                  <a:latin typeface="+mn-ea"/>
                  <a:cs typeface="Pretendard" panose="02000603000000020004" pitchFamily="2" charset="-127"/>
                </a:rPr>
                <a:t>Easy, Convenient</a:t>
              </a:r>
            </a:p>
            <a:p>
              <a:pPr algn="ctr">
                <a:spcBef>
                  <a:spcPts val="200"/>
                </a:spcBef>
                <a:spcAft>
                  <a:spcPts val="200"/>
                </a:spcAft>
                <a:buSzPct val="80000"/>
              </a:pPr>
              <a:r>
                <a:rPr lang="ko-KR" altLang="en-US" sz="1600" spc="-60" dirty="0">
                  <a:solidFill>
                    <a:srgbClr val="1941A8"/>
                  </a:solidFill>
                  <a:latin typeface="+mn-ea"/>
                  <a:cs typeface="Pretendard Medium" panose="02000603000000020004" pitchFamily="50" charset="-127"/>
                </a:rPr>
                <a:t>    </a:t>
              </a:r>
              <a:r>
                <a:rPr lang="ko-KR" altLang="en-US" sz="1600" spc="-60" dirty="0">
                  <a:solidFill>
                    <a:schemeClr val="tx1"/>
                  </a:solidFill>
                  <a:latin typeface="+mn-ea"/>
                  <a:cs typeface="Pretendard Medium" panose="02000603000000020004" pitchFamily="50" charset="-127"/>
                </a:rPr>
                <a:t>쉽고 편리하게</a:t>
              </a:r>
              <a:endParaRPr lang="en-US" altLang="ko-KR" sz="16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44D09428-7D3A-5928-35ED-C842E51FBA6E}"/>
                </a:ext>
              </a:extLst>
            </p:cNvPr>
            <p:cNvSpPr/>
            <p:nvPr/>
          </p:nvSpPr>
          <p:spPr>
            <a:xfrm>
              <a:off x="602712" y="2940650"/>
              <a:ext cx="509666" cy="509666"/>
            </a:xfrm>
            <a:prstGeom prst="ellipse">
              <a:avLst/>
            </a:prstGeom>
            <a:gradFill>
              <a:gsLst>
                <a:gs pos="99000">
                  <a:srgbClr val="1941A8"/>
                </a:gs>
                <a:gs pos="51000">
                  <a:srgbClr val="0070C0"/>
                </a:gs>
                <a:gs pos="0">
                  <a:srgbClr val="00B0F0"/>
                </a:gs>
              </a:gsLst>
              <a:path path="circle">
                <a:fillToRect r="100000" b="100000"/>
              </a:path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+mn-ea"/>
              </a:endParaRP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2D5C51D-4A5D-7ED5-DE0E-DA8DA7B4F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3555273">
              <a:off x="768461" y="3052863"/>
              <a:ext cx="222241" cy="257050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9D401AE-D0D8-B15E-5857-66D48CB9271E}"/>
              </a:ext>
            </a:extLst>
          </p:cNvPr>
          <p:cNvGrpSpPr/>
          <p:nvPr/>
        </p:nvGrpSpPr>
        <p:grpSpPr>
          <a:xfrm>
            <a:off x="4567981" y="1551004"/>
            <a:ext cx="3290908" cy="2241481"/>
            <a:chOff x="4164241" y="3450316"/>
            <a:chExt cx="3290908" cy="2241481"/>
          </a:xfrm>
        </p:grpSpPr>
        <p:sp>
          <p:nvSpPr>
            <p:cNvPr id="19" name="텍스트 개체 틀 3">
              <a:extLst>
                <a:ext uri="{FF2B5EF4-FFF2-40B4-BE49-F238E27FC236}">
                  <a16:creationId xmlns:a16="http://schemas.microsoft.com/office/drawing/2014/main" id="{CBBD4756-CD21-248B-A442-436B32716FCF}"/>
                </a:ext>
              </a:extLst>
            </p:cNvPr>
            <p:cNvSpPr txBox="1">
              <a:spLocks/>
            </p:cNvSpPr>
            <p:nvPr/>
          </p:nvSpPr>
          <p:spPr>
            <a:xfrm>
              <a:off x="4171532" y="3450316"/>
              <a:ext cx="3211874" cy="2241481"/>
            </a:xfrm>
            <a:prstGeom prst="roundRect">
              <a:avLst>
                <a:gd name="adj" fmla="val 5523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>
              <a:defPPr>
                <a:defRPr lang="ko-KR"/>
              </a:defPPr>
              <a:lvl1pPr algn="ctr">
                <a:defRPr sz="1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SzPct val="80000"/>
              </a:pPr>
              <a:endParaRPr lang="ko-KR" altLang="en-US" sz="11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20" name="텍스트 개체 틀 3">
              <a:extLst>
                <a:ext uri="{FF2B5EF4-FFF2-40B4-BE49-F238E27FC236}">
                  <a16:creationId xmlns:a16="http://schemas.microsoft.com/office/drawing/2014/main" id="{D83B87CC-E3FD-2677-5F3C-D2382DA1261A}"/>
                </a:ext>
              </a:extLst>
            </p:cNvPr>
            <p:cNvSpPr txBox="1">
              <a:spLocks/>
            </p:cNvSpPr>
            <p:nvPr/>
          </p:nvSpPr>
          <p:spPr>
            <a:xfrm>
              <a:off x="4171532" y="3450316"/>
              <a:ext cx="3211874" cy="476777"/>
            </a:xfrm>
            <a:prstGeom prst="round2SameRect">
              <a:avLst>
                <a:gd name="adj1" fmla="val 23600"/>
                <a:gd name="adj2" fmla="val 0"/>
              </a:avLst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Bef>
                  <a:spcPts val="194"/>
                </a:spcBef>
                <a:defRPr sz="1400" spc="-66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 err="1">
                  <a:latin typeface="+mn-ea"/>
                  <a:ea typeface="+mn-ea"/>
                </a:rPr>
                <a:t>무장애</a:t>
              </a:r>
              <a:r>
                <a:rPr lang="ko-KR" altLang="en-US" dirty="0">
                  <a:latin typeface="+mn-ea"/>
                  <a:ea typeface="+mn-ea"/>
                </a:rPr>
                <a:t> 기반 매장 서비스 안정성 강화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A42A4AB-C794-51BC-0438-8C00677C5334}"/>
                </a:ext>
              </a:extLst>
            </p:cNvPr>
            <p:cNvSpPr/>
            <p:nvPr/>
          </p:nvSpPr>
          <p:spPr>
            <a:xfrm>
              <a:off x="4164241" y="4979533"/>
              <a:ext cx="3290908" cy="476777"/>
            </a:xfrm>
            <a:prstGeom prst="rect">
              <a:avLst/>
            </a:prstGeom>
          </p:spPr>
          <p:txBody>
            <a:bodyPr wrap="square" lIns="108000" tIns="0" rIns="0" bIns="0" anchor="ctr">
              <a:noAutofit/>
            </a:bodyPr>
            <a:lstStyle/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장애 시에도 항시 매장 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POS 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및 키오스크 시스템의 판매 및 결제 기능이 정상적으로 유지 가능 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(24 * 365)</a:t>
              </a:r>
              <a:endParaRPr lang="ko-KR" altLang="en-US" sz="1050" spc="-60" dirty="0">
                <a:latin typeface="+mn-ea"/>
                <a:cs typeface="Pretendard Light" panose="02000403000000020004" pitchFamily="50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E9451BA8-51B2-945E-61A6-35145770D9BE}"/>
                </a:ext>
              </a:extLst>
            </p:cNvPr>
            <p:cNvGrpSpPr/>
            <p:nvPr/>
          </p:nvGrpSpPr>
          <p:grpSpPr>
            <a:xfrm>
              <a:off x="4998460" y="4121571"/>
              <a:ext cx="1478419" cy="697343"/>
              <a:chOff x="8343534" y="2188370"/>
              <a:chExt cx="1478419" cy="697343"/>
            </a:xfrm>
          </p:grpSpPr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2D446F9F-2A3B-882F-C24C-B87FFC3D6EFF}"/>
                  </a:ext>
                </a:extLst>
              </p:cNvPr>
              <p:cNvGrpSpPr/>
              <p:nvPr/>
            </p:nvGrpSpPr>
            <p:grpSpPr>
              <a:xfrm>
                <a:off x="8343534" y="2188370"/>
                <a:ext cx="697343" cy="697342"/>
                <a:chOff x="5153466" y="2982138"/>
                <a:chExt cx="761769" cy="761768"/>
              </a:xfrm>
            </p:grpSpPr>
            <p:sp>
              <p:nvSpPr>
                <p:cNvPr id="29" name="모서리가 둥근 직사각형 2">
                  <a:extLst>
                    <a:ext uri="{FF2B5EF4-FFF2-40B4-BE49-F238E27FC236}">
                      <a16:creationId xmlns:a16="http://schemas.microsoft.com/office/drawing/2014/main" id="{291780A5-D00B-0106-5EC4-963719F8471C}"/>
                    </a:ext>
                  </a:extLst>
                </p:cNvPr>
                <p:cNvSpPr/>
                <p:nvPr/>
              </p:nvSpPr>
              <p:spPr>
                <a:xfrm>
                  <a:off x="5153466" y="2982138"/>
                  <a:ext cx="761769" cy="76176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5E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88F2CF94-4CED-3921-360D-204CC2D5162B}"/>
                    </a:ext>
                  </a:extLst>
                </p:cNvPr>
                <p:cNvSpPr/>
                <p:nvPr/>
              </p:nvSpPr>
              <p:spPr>
                <a:xfrm>
                  <a:off x="5221070" y="3428954"/>
                  <a:ext cx="602919" cy="268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ko-KR" altLang="en-US" sz="1000" spc="-60" dirty="0">
                      <a:solidFill>
                        <a:srgbClr val="1941A8"/>
                      </a:solidFill>
                      <a:latin typeface="+mn-ea"/>
                      <a:cs typeface="Pretendard Medium" panose="02000603000000020004" pitchFamily="50" charset="-127"/>
                    </a:rPr>
                    <a:t>안정성</a:t>
                  </a:r>
                  <a:endParaRPr lang="en-US" altLang="ko-KR" sz="1000" spc="-60" dirty="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0A579BB5-0B91-161B-68F3-15AECA72D756}"/>
                    </a:ext>
                  </a:extLst>
                </p:cNvPr>
                <p:cNvSpPr/>
                <p:nvPr/>
              </p:nvSpPr>
              <p:spPr>
                <a:xfrm>
                  <a:off x="5312314" y="3175086"/>
                  <a:ext cx="602919" cy="268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en-US" altLang="ko-KR" sz="1000" spc="-60">
                      <a:solidFill>
                        <a:srgbClr val="2D38B7"/>
                      </a:solidFill>
                      <a:latin typeface="+mn-ea"/>
                      <a:cs typeface="Pretendard Medium" panose="02000603000000020004" pitchFamily="50" charset="-127"/>
                    </a:rPr>
                    <a:t>UP</a:t>
                  </a:r>
                  <a:endParaRPr lang="en-US" altLang="ko-KR" sz="1000" spc="-60" dirty="0">
                    <a:solidFill>
                      <a:srgbClr val="2D38B7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32" name="위쪽 화살표 5">
                  <a:extLst>
                    <a:ext uri="{FF2B5EF4-FFF2-40B4-BE49-F238E27FC236}">
                      <a16:creationId xmlns:a16="http://schemas.microsoft.com/office/drawing/2014/main" id="{434BB060-CA7B-B498-4861-6A9E00E26273}"/>
                    </a:ext>
                  </a:extLst>
                </p:cNvPr>
                <p:cNvSpPr/>
                <p:nvPr/>
              </p:nvSpPr>
              <p:spPr>
                <a:xfrm>
                  <a:off x="5345100" y="3131302"/>
                  <a:ext cx="189251" cy="281213"/>
                </a:xfrm>
                <a:prstGeom prst="upArrow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375EAABF-C8DA-3A67-392B-FAD870F5E03A}"/>
                  </a:ext>
                </a:extLst>
              </p:cNvPr>
              <p:cNvGrpSpPr/>
              <p:nvPr/>
            </p:nvGrpSpPr>
            <p:grpSpPr>
              <a:xfrm>
                <a:off x="9070889" y="2188370"/>
                <a:ext cx="751064" cy="697343"/>
                <a:chOff x="7822498" y="3536806"/>
                <a:chExt cx="751064" cy="697343"/>
              </a:xfrm>
            </p:grpSpPr>
            <p:sp>
              <p:nvSpPr>
                <p:cNvPr id="25" name="모서리가 둥근 직사각형 2">
                  <a:extLst>
                    <a:ext uri="{FF2B5EF4-FFF2-40B4-BE49-F238E27FC236}">
                      <a16:creationId xmlns:a16="http://schemas.microsoft.com/office/drawing/2014/main" id="{C6E0E9CF-DFE1-445C-493E-35A78A8EF650}"/>
                    </a:ext>
                  </a:extLst>
                </p:cNvPr>
                <p:cNvSpPr/>
                <p:nvPr/>
              </p:nvSpPr>
              <p:spPr>
                <a:xfrm>
                  <a:off x="7822498" y="3536806"/>
                  <a:ext cx="697343" cy="6973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AE9D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F1B25980-F8A7-1E9A-4C1E-6248530CF955}"/>
                    </a:ext>
                  </a:extLst>
                </p:cNvPr>
                <p:cNvSpPr/>
                <p:nvPr/>
              </p:nvSpPr>
              <p:spPr>
                <a:xfrm>
                  <a:off x="7884384" y="3945831"/>
                  <a:ext cx="551928" cy="246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ko-KR" altLang="en-US" sz="1000" spc="-60" dirty="0">
                      <a:solidFill>
                        <a:srgbClr val="1941A8"/>
                      </a:solidFill>
                      <a:latin typeface="+mn-ea"/>
                      <a:cs typeface="Pretendard Medium" panose="02000603000000020004" pitchFamily="50" charset="-127"/>
                    </a:rPr>
                    <a:t>장애</a:t>
                  </a:r>
                  <a:endParaRPr lang="en-US" altLang="ko-KR" sz="1000" spc="-60" dirty="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621404B6-7E7E-B3B2-9522-A5256A928C79}"/>
                    </a:ext>
                  </a:extLst>
                </p:cNvPr>
                <p:cNvSpPr/>
                <p:nvPr/>
              </p:nvSpPr>
              <p:spPr>
                <a:xfrm>
                  <a:off x="7993616" y="3713434"/>
                  <a:ext cx="579946" cy="246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en-US" altLang="ko-KR" sz="1000" spc="-60" dirty="0">
                      <a:solidFill>
                        <a:srgbClr val="E56A27"/>
                      </a:solidFill>
                      <a:latin typeface="+mn-ea"/>
                      <a:cs typeface="Pretendard Medium" panose="02000603000000020004" pitchFamily="50" charset="-127"/>
                    </a:rPr>
                    <a:t>DOWN</a:t>
                  </a:r>
                </a:p>
              </p:txBody>
            </p:sp>
            <p:sp>
              <p:nvSpPr>
                <p:cNvPr id="28" name="위쪽 화살표 5">
                  <a:extLst>
                    <a:ext uri="{FF2B5EF4-FFF2-40B4-BE49-F238E27FC236}">
                      <a16:creationId xmlns:a16="http://schemas.microsoft.com/office/drawing/2014/main" id="{B242F4E0-064E-E27B-48E0-7027D27EF3A3}"/>
                    </a:ext>
                  </a:extLst>
                </p:cNvPr>
                <p:cNvSpPr/>
                <p:nvPr/>
              </p:nvSpPr>
              <p:spPr>
                <a:xfrm rot="10800000">
                  <a:off x="7930189" y="3673353"/>
                  <a:ext cx="173245" cy="257430"/>
                </a:xfrm>
                <a:prstGeom prst="upArrow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E74BDFCB-4F33-9C29-8568-7144A3850B2B}"/>
              </a:ext>
            </a:extLst>
          </p:cNvPr>
          <p:cNvGrpSpPr/>
          <p:nvPr/>
        </p:nvGrpSpPr>
        <p:grpSpPr>
          <a:xfrm>
            <a:off x="4487443" y="3951644"/>
            <a:ext cx="3290908" cy="2241481"/>
            <a:chOff x="4113699" y="3450316"/>
            <a:chExt cx="3290908" cy="2241481"/>
          </a:xfrm>
        </p:grpSpPr>
        <p:sp>
          <p:nvSpPr>
            <p:cNvPr id="34" name="텍스트 개체 틀 3">
              <a:extLst>
                <a:ext uri="{FF2B5EF4-FFF2-40B4-BE49-F238E27FC236}">
                  <a16:creationId xmlns:a16="http://schemas.microsoft.com/office/drawing/2014/main" id="{B8B2B1C7-587B-04CB-580B-F371E88F36E5}"/>
                </a:ext>
              </a:extLst>
            </p:cNvPr>
            <p:cNvSpPr txBox="1">
              <a:spLocks/>
            </p:cNvSpPr>
            <p:nvPr/>
          </p:nvSpPr>
          <p:spPr>
            <a:xfrm>
              <a:off x="4171532" y="3450316"/>
              <a:ext cx="3211874" cy="2241481"/>
            </a:xfrm>
            <a:prstGeom prst="roundRect">
              <a:avLst>
                <a:gd name="adj" fmla="val 6278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>
              <a:defPPr>
                <a:defRPr lang="ko-KR"/>
              </a:defPPr>
              <a:lvl1pPr algn="ctr">
                <a:defRPr sz="1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SzPct val="80000"/>
              </a:pPr>
              <a:endParaRPr lang="ko-KR" altLang="en-US" sz="11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35" name="텍스트 개체 틀 3">
              <a:extLst>
                <a:ext uri="{FF2B5EF4-FFF2-40B4-BE49-F238E27FC236}">
                  <a16:creationId xmlns:a16="http://schemas.microsoft.com/office/drawing/2014/main" id="{C331AD03-615E-D881-D626-1B0515FBF5C8}"/>
                </a:ext>
              </a:extLst>
            </p:cNvPr>
            <p:cNvSpPr txBox="1">
              <a:spLocks/>
            </p:cNvSpPr>
            <p:nvPr/>
          </p:nvSpPr>
          <p:spPr>
            <a:xfrm>
              <a:off x="4171532" y="3450316"/>
              <a:ext cx="3211874" cy="476777"/>
            </a:xfrm>
            <a:prstGeom prst="round2SameRect">
              <a:avLst>
                <a:gd name="adj1" fmla="val 23600"/>
                <a:gd name="adj2" fmla="val 0"/>
              </a:avLst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Bef>
                  <a:spcPts val="194"/>
                </a:spcBef>
                <a:defRPr sz="1400" spc="-66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>
                  <a:latin typeface="+mn-ea"/>
                  <a:ea typeface="+mn-ea"/>
                </a:rPr>
                <a:t>매장 및 시스템 운영 효율성 증대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93FF910F-B257-C2C3-A9CE-24CA55B2A1C8}"/>
                </a:ext>
              </a:extLst>
            </p:cNvPr>
            <p:cNvSpPr/>
            <p:nvPr/>
          </p:nvSpPr>
          <p:spPr>
            <a:xfrm>
              <a:off x="4113699" y="5057236"/>
              <a:ext cx="3290908" cy="476777"/>
            </a:xfrm>
            <a:prstGeom prst="rect">
              <a:avLst/>
            </a:prstGeom>
          </p:spPr>
          <p:txBody>
            <a:bodyPr wrap="square" lIns="108000" tIns="0" rIns="0" bIns="0" anchor="ctr">
              <a:noAutofit/>
            </a:bodyPr>
            <a:lstStyle/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셀프 결제를 통한 매장 운영 편의성 확대 및 결제 대기 시간 단축</a:t>
              </a:r>
              <a:endParaRPr lang="en-US" altLang="ko-KR" sz="1050" spc="-60" dirty="0">
                <a:latin typeface="+mn-ea"/>
                <a:cs typeface="Pretendard Light" panose="02000403000000020004" pitchFamily="50" charset="-127"/>
              </a:endParaRPr>
            </a:p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통합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POS 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및 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CS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전환 구축으로  시스템 유지보수 일원화</a:t>
              </a:r>
              <a:endParaRPr lang="en-US" altLang="ko-KR" sz="1050" spc="-60" dirty="0">
                <a:latin typeface="+mn-ea"/>
                <a:cs typeface="Pretendard Light" panose="02000403000000020004" pitchFamily="50" charset="-127"/>
              </a:endParaRPr>
            </a:p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AWS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 인프라 구성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, CS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환경의 시스템 모니터링 구축</a:t>
              </a: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4997B9FE-C3EA-4DE9-66AB-C4FBF01B9BB1}"/>
                </a:ext>
              </a:extLst>
            </p:cNvPr>
            <p:cNvGrpSpPr/>
            <p:nvPr/>
          </p:nvGrpSpPr>
          <p:grpSpPr>
            <a:xfrm>
              <a:off x="4998460" y="4121571"/>
              <a:ext cx="1474330" cy="697343"/>
              <a:chOff x="8343534" y="2188370"/>
              <a:chExt cx="1474330" cy="697343"/>
            </a:xfrm>
          </p:grpSpPr>
          <p:grpSp>
            <p:nvGrpSpPr>
              <p:cNvPr id="38" name="그룹 37">
                <a:extLst>
                  <a:ext uri="{FF2B5EF4-FFF2-40B4-BE49-F238E27FC236}">
                    <a16:creationId xmlns:a16="http://schemas.microsoft.com/office/drawing/2014/main" id="{ACB2CF18-79B7-5C74-CEF8-5C0888E80787}"/>
                  </a:ext>
                </a:extLst>
              </p:cNvPr>
              <p:cNvGrpSpPr/>
              <p:nvPr/>
            </p:nvGrpSpPr>
            <p:grpSpPr>
              <a:xfrm>
                <a:off x="8343534" y="2188370"/>
                <a:ext cx="697343" cy="697342"/>
                <a:chOff x="5153466" y="2982138"/>
                <a:chExt cx="761769" cy="761768"/>
              </a:xfrm>
            </p:grpSpPr>
            <p:sp>
              <p:nvSpPr>
                <p:cNvPr id="44" name="모서리가 둥근 직사각형 2">
                  <a:extLst>
                    <a:ext uri="{FF2B5EF4-FFF2-40B4-BE49-F238E27FC236}">
                      <a16:creationId xmlns:a16="http://schemas.microsoft.com/office/drawing/2014/main" id="{5216CB3F-3A0D-D1C7-3829-9890CAC31F4E}"/>
                    </a:ext>
                  </a:extLst>
                </p:cNvPr>
                <p:cNvSpPr/>
                <p:nvPr/>
              </p:nvSpPr>
              <p:spPr>
                <a:xfrm>
                  <a:off x="5153466" y="2982138"/>
                  <a:ext cx="761769" cy="76176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5E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22A69D56-0DEA-647C-38B8-7FAD683D65F2}"/>
                    </a:ext>
                  </a:extLst>
                </p:cNvPr>
                <p:cNvSpPr/>
                <p:nvPr/>
              </p:nvSpPr>
              <p:spPr>
                <a:xfrm>
                  <a:off x="5221070" y="3428954"/>
                  <a:ext cx="602919" cy="268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ko-KR" altLang="en-US" sz="1000" spc="-60" dirty="0">
                      <a:solidFill>
                        <a:srgbClr val="1941A8"/>
                      </a:solidFill>
                      <a:latin typeface="+mn-ea"/>
                      <a:cs typeface="Pretendard Medium" panose="02000603000000020004" pitchFamily="50" charset="-127"/>
                    </a:rPr>
                    <a:t>효율성</a:t>
                  </a:r>
                  <a:endParaRPr lang="en-US" altLang="ko-KR" sz="1000" spc="-60" dirty="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AC53B124-2EF0-D7AF-E66A-50BA7C62C425}"/>
                    </a:ext>
                  </a:extLst>
                </p:cNvPr>
                <p:cNvSpPr/>
                <p:nvPr/>
              </p:nvSpPr>
              <p:spPr>
                <a:xfrm>
                  <a:off x="5312314" y="3175086"/>
                  <a:ext cx="602919" cy="268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en-US" altLang="ko-KR" sz="1000" spc="-60">
                      <a:solidFill>
                        <a:srgbClr val="2D38B7"/>
                      </a:solidFill>
                      <a:latin typeface="+mn-ea"/>
                      <a:cs typeface="Pretendard Medium" panose="02000603000000020004" pitchFamily="50" charset="-127"/>
                    </a:rPr>
                    <a:t>UP</a:t>
                  </a:r>
                  <a:endParaRPr lang="en-US" altLang="ko-KR" sz="1000" spc="-60" dirty="0">
                    <a:solidFill>
                      <a:srgbClr val="2D38B7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47" name="위쪽 화살표 5">
                  <a:extLst>
                    <a:ext uri="{FF2B5EF4-FFF2-40B4-BE49-F238E27FC236}">
                      <a16:creationId xmlns:a16="http://schemas.microsoft.com/office/drawing/2014/main" id="{25FB5218-B699-3431-8CCB-26973906CA6C}"/>
                    </a:ext>
                  </a:extLst>
                </p:cNvPr>
                <p:cNvSpPr/>
                <p:nvPr/>
              </p:nvSpPr>
              <p:spPr>
                <a:xfrm>
                  <a:off x="5345100" y="3131302"/>
                  <a:ext cx="189251" cy="281213"/>
                </a:xfrm>
                <a:prstGeom prst="upArrow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16C81D8C-3D5E-713E-E630-B2A03759F710}"/>
                  </a:ext>
                </a:extLst>
              </p:cNvPr>
              <p:cNvGrpSpPr/>
              <p:nvPr/>
            </p:nvGrpSpPr>
            <p:grpSpPr>
              <a:xfrm>
                <a:off x="9070889" y="2188370"/>
                <a:ext cx="746975" cy="697343"/>
                <a:chOff x="7822498" y="3536806"/>
                <a:chExt cx="746975" cy="697343"/>
              </a:xfrm>
            </p:grpSpPr>
            <p:sp>
              <p:nvSpPr>
                <p:cNvPr id="40" name="모서리가 둥근 직사각형 2">
                  <a:extLst>
                    <a:ext uri="{FF2B5EF4-FFF2-40B4-BE49-F238E27FC236}">
                      <a16:creationId xmlns:a16="http://schemas.microsoft.com/office/drawing/2014/main" id="{22054937-324E-3B0D-3FF3-CB3165758797}"/>
                    </a:ext>
                  </a:extLst>
                </p:cNvPr>
                <p:cNvSpPr/>
                <p:nvPr/>
              </p:nvSpPr>
              <p:spPr>
                <a:xfrm>
                  <a:off x="7822498" y="3536806"/>
                  <a:ext cx="697343" cy="6973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AE9D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5EDA6C63-9C93-1B58-9FF8-04EBD3D172D5}"/>
                    </a:ext>
                  </a:extLst>
                </p:cNvPr>
                <p:cNvSpPr/>
                <p:nvPr/>
              </p:nvSpPr>
              <p:spPr>
                <a:xfrm>
                  <a:off x="7830141" y="3945831"/>
                  <a:ext cx="697342" cy="246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ko-KR" altLang="en-US" sz="1000" spc="-60" dirty="0">
                      <a:solidFill>
                        <a:srgbClr val="1941A8"/>
                      </a:solidFill>
                      <a:latin typeface="+mn-ea"/>
                      <a:cs typeface="Pretendard Medium" panose="02000603000000020004" pitchFamily="50" charset="-127"/>
                    </a:rPr>
                    <a:t>비용</a:t>
                  </a:r>
                  <a:endParaRPr lang="en-US" altLang="ko-KR" sz="1000" spc="-60" dirty="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EFE19C0F-C62C-37E6-CFAE-1711B62A3601}"/>
                    </a:ext>
                  </a:extLst>
                </p:cNvPr>
                <p:cNvSpPr/>
                <p:nvPr/>
              </p:nvSpPr>
              <p:spPr>
                <a:xfrm>
                  <a:off x="7969124" y="3713434"/>
                  <a:ext cx="600349" cy="246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en-US" altLang="ko-KR" sz="1000" spc="-60" dirty="0">
                      <a:solidFill>
                        <a:srgbClr val="E56A27"/>
                      </a:solidFill>
                      <a:latin typeface="+mn-ea"/>
                      <a:cs typeface="Pretendard Medium" panose="02000603000000020004" pitchFamily="50" charset="-127"/>
                    </a:rPr>
                    <a:t>DOWN</a:t>
                  </a:r>
                  <a:endParaRPr lang="en-US" altLang="ko-KR" sz="1000" spc="-60" dirty="0">
                    <a:solidFill>
                      <a:srgbClr val="2D38B7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43" name="위쪽 화살표 5">
                  <a:extLst>
                    <a:ext uri="{FF2B5EF4-FFF2-40B4-BE49-F238E27FC236}">
                      <a16:creationId xmlns:a16="http://schemas.microsoft.com/office/drawing/2014/main" id="{722FD34A-0E9A-4BE6-2F60-3D96510A5A1C}"/>
                    </a:ext>
                  </a:extLst>
                </p:cNvPr>
                <p:cNvSpPr/>
                <p:nvPr/>
              </p:nvSpPr>
              <p:spPr>
                <a:xfrm rot="10800000">
                  <a:off x="7904788" y="3673353"/>
                  <a:ext cx="173245" cy="257430"/>
                </a:xfrm>
                <a:prstGeom prst="upArrow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7C95D80-338B-4337-4B62-FC1FB08FA6D9}"/>
              </a:ext>
            </a:extLst>
          </p:cNvPr>
          <p:cNvGrpSpPr/>
          <p:nvPr/>
        </p:nvGrpSpPr>
        <p:grpSpPr>
          <a:xfrm>
            <a:off x="7838193" y="3950169"/>
            <a:ext cx="3290908" cy="2241481"/>
            <a:chOff x="7191587" y="2424141"/>
            <a:chExt cx="3290908" cy="2241481"/>
          </a:xfrm>
        </p:grpSpPr>
        <p:sp>
          <p:nvSpPr>
            <p:cNvPr id="49" name="텍스트 개체 틀 3">
              <a:extLst>
                <a:ext uri="{FF2B5EF4-FFF2-40B4-BE49-F238E27FC236}">
                  <a16:creationId xmlns:a16="http://schemas.microsoft.com/office/drawing/2014/main" id="{710CC263-B599-0B2A-727F-0B0980B8B6B1}"/>
                </a:ext>
              </a:extLst>
            </p:cNvPr>
            <p:cNvSpPr txBox="1">
              <a:spLocks/>
            </p:cNvSpPr>
            <p:nvPr/>
          </p:nvSpPr>
          <p:spPr>
            <a:xfrm>
              <a:off x="7227633" y="2424141"/>
              <a:ext cx="3211874" cy="2241481"/>
            </a:xfrm>
            <a:prstGeom prst="roundRect">
              <a:avLst>
                <a:gd name="adj" fmla="val 4768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>
              <a:defPPr>
                <a:defRPr lang="ko-KR"/>
              </a:defPPr>
              <a:lvl1pPr algn="ctr">
                <a:defRPr sz="1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SzPct val="80000"/>
              </a:pPr>
              <a:endParaRPr lang="ko-KR" altLang="en-US" sz="11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50" name="텍스트 개체 틀 3">
              <a:extLst>
                <a:ext uri="{FF2B5EF4-FFF2-40B4-BE49-F238E27FC236}">
                  <a16:creationId xmlns:a16="http://schemas.microsoft.com/office/drawing/2014/main" id="{8CA54DDD-E814-7082-42E3-C941FE1ABD7D}"/>
                </a:ext>
              </a:extLst>
            </p:cNvPr>
            <p:cNvSpPr txBox="1">
              <a:spLocks/>
            </p:cNvSpPr>
            <p:nvPr/>
          </p:nvSpPr>
          <p:spPr>
            <a:xfrm>
              <a:off x="7227633" y="2424141"/>
              <a:ext cx="3211874" cy="476777"/>
            </a:xfrm>
            <a:prstGeom prst="round2SameRect">
              <a:avLst>
                <a:gd name="adj1" fmla="val 23600"/>
                <a:gd name="adj2" fmla="val 0"/>
              </a:avLst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Bef>
                  <a:spcPts val="194"/>
                </a:spcBef>
                <a:defRPr sz="1400" spc="-66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ko-KR" spc="-100" dirty="0">
                  <a:latin typeface="+mn-ea"/>
                  <a:ea typeface="+mn-ea"/>
                </a:rPr>
                <a:t>Cloud</a:t>
              </a:r>
              <a:r>
                <a:rPr lang="ko-KR" altLang="en-US" spc="-100" dirty="0">
                  <a:latin typeface="+mn-ea"/>
                  <a:ea typeface="+mn-ea"/>
                </a:rPr>
                <a:t>기반 차세대 시스템을 고려한 설계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00AA770B-BCFE-91A6-3858-598154866879}"/>
                </a:ext>
              </a:extLst>
            </p:cNvPr>
            <p:cNvSpPr/>
            <p:nvPr/>
          </p:nvSpPr>
          <p:spPr>
            <a:xfrm>
              <a:off x="7191587" y="4031061"/>
              <a:ext cx="3290908" cy="476777"/>
            </a:xfrm>
            <a:prstGeom prst="rect">
              <a:avLst/>
            </a:prstGeom>
          </p:spPr>
          <p:txBody>
            <a:bodyPr wrap="square" lIns="108000" tIns="0" rIns="0" bIns="0" anchor="ctr">
              <a:noAutofit/>
            </a:bodyPr>
            <a:lstStyle/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AWS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 기반 인프라 구성을 통해 서버 관리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/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유지보수 </a:t>
              </a:r>
              <a:b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</a:b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공수 축소</a:t>
              </a:r>
              <a:endParaRPr lang="en-US" altLang="ko-KR" sz="1050" spc="-60" dirty="0">
                <a:latin typeface="+mn-ea"/>
                <a:cs typeface="Pretendard Light" panose="02000403000000020004" pitchFamily="50" charset="-127"/>
              </a:endParaRPr>
            </a:p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최적의 개발 프레임워크 적용을 통한 생산성 및 개발 품질 확보</a:t>
              </a: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9487727D-0BF9-4D78-6B28-001C3F7B1A01}"/>
                </a:ext>
              </a:extLst>
            </p:cNvPr>
            <p:cNvGrpSpPr/>
            <p:nvPr/>
          </p:nvGrpSpPr>
          <p:grpSpPr>
            <a:xfrm>
              <a:off x="7859948" y="3095396"/>
              <a:ext cx="1050589" cy="697342"/>
              <a:chOff x="4940870" y="2982138"/>
              <a:chExt cx="1147650" cy="761768"/>
            </a:xfrm>
          </p:grpSpPr>
          <p:sp>
            <p:nvSpPr>
              <p:cNvPr id="58" name="모서리가 둥근 직사각형 2">
                <a:extLst>
                  <a:ext uri="{FF2B5EF4-FFF2-40B4-BE49-F238E27FC236}">
                    <a16:creationId xmlns:a16="http://schemas.microsoft.com/office/drawing/2014/main" id="{A86A0484-146E-21AB-1A2C-B6EF3EAFD55C}"/>
                  </a:ext>
                </a:extLst>
              </p:cNvPr>
              <p:cNvSpPr/>
              <p:nvPr/>
            </p:nvSpPr>
            <p:spPr>
              <a:xfrm>
                <a:off x="5153466" y="2982138"/>
                <a:ext cx="761769" cy="761768"/>
              </a:xfrm>
              <a:prstGeom prst="roundRect">
                <a:avLst>
                  <a:gd name="adj" fmla="val 50000"/>
                </a:avLst>
              </a:prstGeom>
              <a:solidFill>
                <a:srgbClr val="E5EC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n-ea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FE4A4917-B3E2-CFF9-4184-85FE920B511A}"/>
                  </a:ext>
                </a:extLst>
              </p:cNvPr>
              <p:cNvSpPr/>
              <p:nvPr/>
            </p:nvSpPr>
            <p:spPr>
              <a:xfrm>
                <a:off x="4940870" y="3436578"/>
                <a:ext cx="1147650" cy="2689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200"/>
                  </a:spcBef>
                  <a:spcAft>
                    <a:spcPts val="200"/>
                  </a:spcAft>
                  <a:buSzPct val="80000"/>
                </a:pPr>
                <a:r>
                  <a:rPr lang="ko-KR" altLang="en-US" sz="1000" spc="-6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rPr>
                  <a:t>비용효율성</a:t>
                </a:r>
                <a:endParaRPr lang="en-US" altLang="ko-KR" sz="1000" spc="-60" dirty="0">
                  <a:solidFill>
                    <a:srgbClr val="1941A8"/>
                  </a:solidFill>
                  <a:latin typeface="+mn-ea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A0E3BEDF-335D-FC0C-2FFB-B18C802A6502}"/>
                  </a:ext>
                </a:extLst>
              </p:cNvPr>
              <p:cNvSpPr/>
              <p:nvPr/>
            </p:nvSpPr>
            <p:spPr>
              <a:xfrm>
                <a:off x="5312314" y="3175086"/>
                <a:ext cx="602919" cy="2689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200"/>
                  </a:spcBef>
                  <a:spcAft>
                    <a:spcPts val="200"/>
                  </a:spcAft>
                  <a:buSzPct val="80000"/>
                </a:pPr>
                <a:r>
                  <a:rPr lang="en-US" altLang="ko-KR" sz="1000" spc="-60">
                    <a:solidFill>
                      <a:srgbClr val="2D38B7"/>
                    </a:solidFill>
                    <a:latin typeface="+mn-ea"/>
                    <a:cs typeface="Pretendard Medium" panose="02000603000000020004" pitchFamily="50" charset="-127"/>
                  </a:rPr>
                  <a:t>UP</a:t>
                </a:r>
                <a:endParaRPr lang="en-US" altLang="ko-KR" sz="1000" spc="-60" dirty="0">
                  <a:solidFill>
                    <a:srgbClr val="2D38B7"/>
                  </a:solidFill>
                  <a:latin typeface="+mn-ea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61" name="위쪽 화살표 5">
                <a:extLst>
                  <a:ext uri="{FF2B5EF4-FFF2-40B4-BE49-F238E27FC236}">
                    <a16:creationId xmlns:a16="http://schemas.microsoft.com/office/drawing/2014/main" id="{749CEB8E-BF0D-E6E7-5B4A-35B16E6A48A3}"/>
                  </a:ext>
                </a:extLst>
              </p:cNvPr>
              <p:cNvSpPr/>
              <p:nvPr/>
            </p:nvSpPr>
            <p:spPr>
              <a:xfrm>
                <a:off x="5345100" y="3131302"/>
                <a:ext cx="189251" cy="281213"/>
              </a:xfrm>
              <a:prstGeom prst="upArrow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  <a:cs typeface="Pretendard Medium" panose="02000603000000020004" pitchFamily="50" charset="-127"/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80A79386-34C7-B886-3469-4A49E533E472}"/>
                </a:ext>
              </a:extLst>
            </p:cNvPr>
            <p:cNvGrpSpPr/>
            <p:nvPr/>
          </p:nvGrpSpPr>
          <p:grpSpPr>
            <a:xfrm>
              <a:off x="8788401" y="3090172"/>
              <a:ext cx="714713" cy="697343"/>
              <a:chOff x="10811754" y="1971491"/>
              <a:chExt cx="714713" cy="697343"/>
            </a:xfrm>
          </p:grpSpPr>
          <p:sp>
            <p:nvSpPr>
              <p:cNvPr id="54" name="모서리가 둥근 직사각형 2">
                <a:extLst>
                  <a:ext uri="{FF2B5EF4-FFF2-40B4-BE49-F238E27FC236}">
                    <a16:creationId xmlns:a16="http://schemas.microsoft.com/office/drawing/2014/main" id="{099C4A4F-B7BE-BB15-E226-4045B55EBFF3}"/>
                  </a:ext>
                </a:extLst>
              </p:cNvPr>
              <p:cNvSpPr/>
              <p:nvPr/>
            </p:nvSpPr>
            <p:spPr>
              <a:xfrm>
                <a:off x="10811754" y="1971491"/>
                <a:ext cx="697343" cy="697343"/>
              </a:xfrm>
              <a:prstGeom prst="roundRect">
                <a:avLst>
                  <a:gd name="adj" fmla="val 50000"/>
                </a:avLst>
              </a:prstGeom>
              <a:solidFill>
                <a:srgbClr val="FAE9D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+mn-ea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9DD5A65-EC5B-1C9A-20E8-8AE60459100A}"/>
                  </a:ext>
                </a:extLst>
              </p:cNvPr>
              <p:cNvSpPr/>
              <p:nvPr/>
            </p:nvSpPr>
            <p:spPr>
              <a:xfrm>
                <a:off x="10829125" y="2380516"/>
                <a:ext cx="697342" cy="246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200"/>
                  </a:spcBef>
                  <a:spcAft>
                    <a:spcPts val="200"/>
                  </a:spcAft>
                  <a:buSzPct val="80000"/>
                </a:pPr>
                <a:r>
                  <a:rPr lang="ko-KR" altLang="en-US" sz="1000" spc="-6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rPr>
                  <a:t>관리공수</a:t>
                </a:r>
                <a:endParaRPr lang="en-US" altLang="ko-KR" sz="1000" spc="-60" dirty="0">
                  <a:solidFill>
                    <a:srgbClr val="1941A8"/>
                  </a:solidFill>
                  <a:latin typeface="+mn-ea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88AEBA80-3D41-1AA3-9D62-8C847B8716FD}"/>
                  </a:ext>
                </a:extLst>
              </p:cNvPr>
              <p:cNvSpPr/>
              <p:nvPr/>
            </p:nvSpPr>
            <p:spPr>
              <a:xfrm>
                <a:off x="10950217" y="2148119"/>
                <a:ext cx="571476" cy="2462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>
                  <a:spcBef>
                    <a:spcPts val="200"/>
                  </a:spcBef>
                  <a:spcAft>
                    <a:spcPts val="200"/>
                  </a:spcAft>
                  <a:buSzPct val="80000"/>
                </a:pPr>
                <a:r>
                  <a:rPr lang="en-US" altLang="ko-KR" sz="1000" spc="-60" dirty="0">
                    <a:solidFill>
                      <a:srgbClr val="E56A27"/>
                    </a:solidFill>
                    <a:latin typeface="+mn-ea"/>
                    <a:cs typeface="Pretendard Medium" panose="02000603000000020004" pitchFamily="50" charset="-127"/>
                  </a:rPr>
                  <a:t>DOWN</a:t>
                </a:r>
                <a:endParaRPr lang="en-US" altLang="ko-KR" sz="1000" spc="-60" dirty="0">
                  <a:solidFill>
                    <a:srgbClr val="2D38B7"/>
                  </a:solidFill>
                  <a:latin typeface="+mn-ea"/>
                  <a:cs typeface="Pretendard Medium" panose="02000603000000020004" pitchFamily="50" charset="-127"/>
                </a:endParaRPr>
              </a:p>
            </p:txBody>
          </p:sp>
          <p:sp>
            <p:nvSpPr>
              <p:cNvPr id="57" name="위쪽 화살표 5">
                <a:extLst>
                  <a:ext uri="{FF2B5EF4-FFF2-40B4-BE49-F238E27FC236}">
                    <a16:creationId xmlns:a16="http://schemas.microsoft.com/office/drawing/2014/main" id="{F993B5EE-E29D-FE03-AE2B-2BA0CBFDC774}"/>
                  </a:ext>
                </a:extLst>
              </p:cNvPr>
              <p:cNvSpPr/>
              <p:nvPr/>
            </p:nvSpPr>
            <p:spPr>
              <a:xfrm rot="10800000">
                <a:off x="10894044" y="2108038"/>
                <a:ext cx="173245" cy="257430"/>
              </a:xfrm>
              <a:prstGeom prst="up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  <a:cs typeface="Pretendard Medium" panose="02000603000000020004" pitchFamily="50" charset="-127"/>
                </a:endParaRPr>
              </a:p>
            </p:txBody>
          </p:sp>
        </p:grp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62D626C-1481-5623-20B1-656129B1F9A5}"/>
              </a:ext>
            </a:extLst>
          </p:cNvPr>
          <p:cNvGrpSpPr/>
          <p:nvPr/>
        </p:nvGrpSpPr>
        <p:grpSpPr>
          <a:xfrm>
            <a:off x="7881975" y="1551004"/>
            <a:ext cx="3290908" cy="2241481"/>
            <a:chOff x="4164241" y="3450316"/>
            <a:chExt cx="3290908" cy="2241481"/>
          </a:xfrm>
        </p:grpSpPr>
        <p:sp>
          <p:nvSpPr>
            <p:cNvPr id="63" name="텍스트 개체 틀 3">
              <a:extLst>
                <a:ext uri="{FF2B5EF4-FFF2-40B4-BE49-F238E27FC236}">
                  <a16:creationId xmlns:a16="http://schemas.microsoft.com/office/drawing/2014/main" id="{BAF1D2F6-2F53-746D-2E6A-0F14D2C9E887}"/>
                </a:ext>
              </a:extLst>
            </p:cNvPr>
            <p:cNvSpPr txBox="1">
              <a:spLocks/>
            </p:cNvSpPr>
            <p:nvPr/>
          </p:nvSpPr>
          <p:spPr>
            <a:xfrm>
              <a:off x="4171532" y="3450316"/>
              <a:ext cx="3211874" cy="2241481"/>
            </a:xfrm>
            <a:prstGeom prst="roundRect">
              <a:avLst>
                <a:gd name="adj" fmla="val 4768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b">
              <a:noAutofit/>
            </a:bodyPr>
            <a:lstStyle>
              <a:defPPr>
                <a:defRPr lang="ko-KR"/>
              </a:defPPr>
              <a:lvl1pPr algn="ctr">
                <a:defRPr sz="1400"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>
                <a:lnSpc>
                  <a:spcPct val="130000"/>
                </a:lnSpc>
                <a:spcBef>
                  <a:spcPts val="200"/>
                </a:spcBef>
                <a:spcAft>
                  <a:spcPts val="200"/>
                </a:spcAft>
                <a:buSzPct val="80000"/>
              </a:pPr>
              <a:endParaRPr lang="ko-KR" altLang="en-US" sz="1100" spc="-60" dirty="0">
                <a:solidFill>
                  <a:schemeClr val="tx1"/>
                </a:solidFill>
                <a:latin typeface="+mn-ea"/>
                <a:cs typeface="Pretendard Medium" panose="02000603000000020004" pitchFamily="50" charset="-127"/>
              </a:endParaRPr>
            </a:p>
          </p:txBody>
        </p:sp>
        <p:sp>
          <p:nvSpPr>
            <p:cNvPr id="64" name="텍스트 개체 틀 3">
              <a:extLst>
                <a:ext uri="{FF2B5EF4-FFF2-40B4-BE49-F238E27FC236}">
                  <a16:creationId xmlns:a16="http://schemas.microsoft.com/office/drawing/2014/main" id="{1087198B-08C6-D7A0-4EAD-7312864CC35D}"/>
                </a:ext>
              </a:extLst>
            </p:cNvPr>
            <p:cNvSpPr txBox="1">
              <a:spLocks/>
            </p:cNvSpPr>
            <p:nvPr/>
          </p:nvSpPr>
          <p:spPr>
            <a:xfrm>
              <a:off x="4171532" y="3450316"/>
              <a:ext cx="3211874" cy="476777"/>
            </a:xfrm>
            <a:prstGeom prst="round2SameRect">
              <a:avLst>
                <a:gd name="adj1" fmla="val 23600"/>
                <a:gd name="adj2" fmla="val 0"/>
              </a:avLst>
            </a:prstGeom>
            <a:solidFill>
              <a:srgbClr val="0070C0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spcBef>
                  <a:spcPts val="194"/>
                </a:spcBef>
                <a:defRPr sz="1400" spc="-66">
                  <a:solidFill>
                    <a:schemeClr val="bg1"/>
                  </a:solidFill>
                  <a:latin typeface="Pretendard Medium" panose="02000603000000020004" pitchFamily="2" charset="-127"/>
                  <a:ea typeface="Pretendard Medium" panose="02000603000000020004" pitchFamily="2" charset="-127"/>
                  <a:cs typeface="Pretendard Medium" panose="02000603000000020004" pitchFamily="2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ko-KR" dirty="0">
                  <a:latin typeface="+mn-ea"/>
                  <a:ea typeface="+mn-ea"/>
                </a:rPr>
                <a:t>UI/UX </a:t>
              </a:r>
              <a:r>
                <a:rPr lang="ko-KR" altLang="en-US" dirty="0">
                  <a:latin typeface="+mn-ea"/>
                  <a:ea typeface="+mn-ea"/>
                </a:rPr>
                <a:t>개선을 통한 사용자 경험 극대화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17B34ED7-7B12-404C-0589-AC467E0A222B}"/>
                </a:ext>
              </a:extLst>
            </p:cNvPr>
            <p:cNvSpPr/>
            <p:nvPr/>
          </p:nvSpPr>
          <p:spPr>
            <a:xfrm>
              <a:off x="4164241" y="5061725"/>
              <a:ext cx="3290908" cy="476777"/>
            </a:xfrm>
            <a:prstGeom prst="rect">
              <a:avLst/>
            </a:prstGeom>
          </p:spPr>
          <p:txBody>
            <a:bodyPr wrap="square" lIns="108000" tIns="0" rIns="0" bIns="0" anchor="ctr">
              <a:noAutofit/>
            </a:bodyPr>
            <a:lstStyle/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UI/UX 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개선을 통한 최적화된 사용자 경험 제공</a:t>
              </a:r>
              <a:endParaRPr lang="en-US" altLang="ko-KR" sz="1050" spc="-60" dirty="0">
                <a:latin typeface="+mn-ea"/>
                <a:cs typeface="Pretendard Light" panose="02000403000000020004" pitchFamily="50" charset="-127"/>
              </a:endParaRPr>
            </a:p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ko-KR" altLang="en-US" sz="1050" spc="-60" dirty="0" err="1">
                  <a:latin typeface="+mn-ea"/>
                  <a:cs typeface="Pretendard Light" panose="02000403000000020004" pitchFamily="50" charset="-127"/>
                </a:rPr>
                <a:t>배리어프리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 키오스크를 통한 접근성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/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편의성 제공</a:t>
              </a:r>
              <a:endParaRPr lang="en-US" altLang="ko-KR" sz="1050" spc="-60" dirty="0">
                <a:latin typeface="+mn-ea"/>
                <a:cs typeface="Pretendard Light" panose="02000403000000020004" pitchFamily="50" charset="-127"/>
              </a:endParaRPr>
            </a:p>
            <a:p>
              <a:pPr marL="133350" indent="-133350">
                <a:spcBef>
                  <a:spcPts val="200"/>
                </a:spcBef>
                <a:spcAft>
                  <a:spcPts val="200"/>
                </a:spcAft>
                <a:buSzPct val="80000"/>
                <a:buFont typeface="Wingdings" pitchFamily="2" charset="2"/>
                <a:buChar char="ü"/>
              </a:pP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키오스크 배너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/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대기 화면 등 </a:t>
              </a:r>
              <a:r>
                <a:rPr lang="ko-KR" altLang="en-US" sz="1050" spc="-60" dirty="0" err="1">
                  <a:latin typeface="+mn-ea"/>
                  <a:cs typeface="Pretendard Light" panose="02000403000000020004" pitchFamily="50" charset="-127"/>
                </a:rPr>
                <a:t>대고객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 홍보</a:t>
              </a:r>
              <a:r>
                <a:rPr lang="en-US" altLang="ko-KR" sz="1050" spc="-60" dirty="0">
                  <a:latin typeface="+mn-ea"/>
                  <a:cs typeface="Pretendard Light" panose="02000403000000020004" pitchFamily="50" charset="-127"/>
                </a:rPr>
                <a:t>/</a:t>
              </a:r>
              <a:r>
                <a:rPr lang="ko-KR" altLang="en-US" sz="1050" spc="-60" dirty="0">
                  <a:latin typeface="+mn-ea"/>
                  <a:cs typeface="Pretendard Light" panose="02000403000000020004" pitchFamily="50" charset="-127"/>
                </a:rPr>
                <a:t>소통 강화</a:t>
              </a:r>
              <a:endParaRPr lang="en-US" altLang="ko-KR" sz="1050" spc="-60" dirty="0">
                <a:latin typeface="+mn-ea"/>
                <a:cs typeface="Pretendard Light" panose="02000403000000020004" pitchFamily="50" charset="-127"/>
              </a:endParaRPr>
            </a:p>
          </p:txBody>
        </p:sp>
        <p:grpSp>
          <p:nvGrpSpPr>
            <p:cNvPr id="66" name="그룹 65">
              <a:extLst>
                <a:ext uri="{FF2B5EF4-FFF2-40B4-BE49-F238E27FC236}">
                  <a16:creationId xmlns:a16="http://schemas.microsoft.com/office/drawing/2014/main" id="{C9307D06-05D8-3346-802A-63F169030B36}"/>
                </a:ext>
              </a:extLst>
            </p:cNvPr>
            <p:cNvGrpSpPr/>
            <p:nvPr/>
          </p:nvGrpSpPr>
          <p:grpSpPr>
            <a:xfrm>
              <a:off x="4998460" y="4121571"/>
              <a:ext cx="1424698" cy="697343"/>
              <a:chOff x="8343534" y="2188370"/>
              <a:chExt cx="1424698" cy="697343"/>
            </a:xfrm>
          </p:grpSpPr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89ED8B07-A702-90EB-CAB6-3B32AE684FFA}"/>
                  </a:ext>
                </a:extLst>
              </p:cNvPr>
              <p:cNvGrpSpPr/>
              <p:nvPr/>
            </p:nvGrpSpPr>
            <p:grpSpPr>
              <a:xfrm>
                <a:off x="8343534" y="2188370"/>
                <a:ext cx="697343" cy="697342"/>
                <a:chOff x="5153466" y="2982138"/>
                <a:chExt cx="761769" cy="761768"/>
              </a:xfrm>
            </p:grpSpPr>
            <p:sp>
              <p:nvSpPr>
                <p:cNvPr id="73" name="모서리가 둥근 직사각형 2">
                  <a:extLst>
                    <a:ext uri="{FF2B5EF4-FFF2-40B4-BE49-F238E27FC236}">
                      <a16:creationId xmlns:a16="http://schemas.microsoft.com/office/drawing/2014/main" id="{74FF02A1-BB9D-BD44-93EE-9BF69475DF12}"/>
                    </a:ext>
                  </a:extLst>
                </p:cNvPr>
                <p:cNvSpPr/>
                <p:nvPr/>
              </p:nvSpPr>
              <p:spPr>
                <a:xfrm>
                  <a:off x="5153466" y="2982138"/>
                  <a:ext cx="761769" cy="761768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5E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DCA5AE5C-A41A-F924-E048-346986EE5CBF}"/>
                    </a:ext>
                  </a:extLst>
                </p:cNvPr>
                <p:cNvSpPr/>
                <p:nvPr/>
              </p:nvSpPr>
              <p:spPr>
                <a:xfrm>
                  <a:off x="5221070" y="3428954"/>
                  <a:ext cx="602919" cy="268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ko-KR" altLang="en-US" sz="1000" spc="-60" dirty="0">
                      <a:solidFill>
                        <a:srgbClr val="1941A8"/>
                      </a:solidFill>
                      <a:latin typeface="+mn-ea"/>
                      <a:cs typeface="Pretendard Medium" panose="02000603000000020004" pitchFamily="50" charset="-127"/>
                    </a:rPr>
                    <a:t>접근성</a:t>
                  </a:r>
                  <a:endParaRPr lang="en-US" altLang="ko-KR" sz="1000" spc="-60" dirty="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B2F5270F-DE03-9F83-4B57-5CCFD7CE4512}"/>
                    </a:ext>
                  </a:extLst>
                </p:cNvPr>
                <p:cNvSpPr/>
                <p:nvPr/>
              </p:nvSpPr>
              <p:spPr>
                <a:xfrm>
                  <a:off x="5312314" y="3175086"/>
                  <a:ext cx="602919" cy="2689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en-US" altLang="ko-KR" sz="1000" spc="-60">
                      <a:solidFill>
                        <a:srgbClr val="2D38B7"/>
                      </a:solidFill>
                      <a:latin typeface="+mn-ea"/>
                      <a:cs typeface="Pretendard Medium" panose="02000603000000020004" pitchFamily="50" charset="-127"/>
                    </a:rPr>
                    <a:t>UP</a:t>
                  </a:r>
                  <a:endParaRPr lang="en-US" altLang="ko-KR" sz="1000" spc="-60" dirty="0">
                    <a:solidFill>
                      <a:srgbClr val="2D38B7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76" name="위쪽 화살표 5">
                  <a:extLst>
                    <a:ext uri="{FF2B5EF4-FFF2-40B4-BE49-F238E27FC236}">
                      <a16:creationId xmlns:a16="http://schemas.microsoft.com/office/drawing/2014/main" id="{D3571EF0-BC0C-4B46-2318-10727C25BB18}"/>
                    </a:ext>
                  </a:extLst>
                </p:cNvPr>
                <p:cNvSpPr/>
                <p:nvPr/>
              </p:nvSpPr>
              <p:spPr>
                <a:xfrm>
                  <a:off x="5345100" y="3131302"/>
                  <a:ext cx="189251" cy="281213"/>
                </a:xfrm>
                <a:prstGeom prst="upArrow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8A7430B-EC16-F7B2-FE4C-2C5B548F4501}"/>
                  </a:ext>
                </a:extLst>
              </p:cNvPr>
              <p:cNvGrpSpPr/>
              <p:nvPr/>
            </p:nvGrpSpPr>
            <p:grpSpPr>
              <a:xfrm>
                <a:off x="9070889" y="2188370"/>
                <a:ext cx="697343" cy="697343"/>
                <a:chOff x="7822498" y="3536806"/>
                <a:chExt cx="697343" cy="697343"/>
              </a:xfrm>
            </p:grpSpPr>
            <p:sp>
              <p:nvSpPr>
                <p:cNvPr id="69" name="모서리가 둥근 직사각형 2">
                  <a:extLst>
                    <a:ext uri="{FF2B5EF4-FFF2-40B4-BE49-F238E27FC236}">
                      <a16:creationId xmlns:a16="http://schemas.microsoft.com/office/drawing/2014/main" id="{2D2ACC3F-1E1E-B1CB-D2C8-0CEF8E0C5236}"/>
                    </a:ext>
                  </a:extLst>
                </p:cNvPr>
                <p:cNvSpPr/>
                <p:nvPr/>
              </p:nvSpPr>
              <p:spPr>
                <a:xfrm>
                  <a:off x="7822498" y="3536806"/>
                  <a:ext cx="697343" cy="697343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E5EC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EEE4AE4-743C-A05A-0FA8-B8387C517A71}"/>
                    </a:ext>
                  </a:extLst>
                </p:cNvPr>
                <p:cNvSpPr/>
                <p:nvPr/>
              </p:nvSpPr>
              <p:spPr>
                <a:xfrm>
                  <a:off x="7884384" y="3945831"/>
                  <a:ext cx="551928" cy="246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ko-KR" altLang="en-US" sz="1000" spc="-60" dirty="0">
                      <a:solidFill>
                        <a:srgbClr val="1941A8"/>
                      </a:solidFill>
                      <a:latin typeface="+mn-ea"/>
                      <a:cs typeface="Pretendard Medium" panose="02000603000000020004" pitchFamily="50" charset="-127"/>
                    </a:rPr>
                    <a:t>편의성</a:t>
                  </a:r>
                  <a:endParaRPr lang="en-US" altLang="ko-KR" sz="1000" spc="-60" dirty="0">
                    <a:solidFill>
                      <a:srgbClr val="1941A8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2E50713C-8A4D-02D5-1AFB-5D749D9F2781}"/>
                    </a:ext>
                  </a:extLst>
                </p:cNvPr>
                <p:cNvSpPr/>
                <p:nvPr/>
              </p:nvSpPr>
              <p:spPr>
                <a:xfrm>
                  <a:off x="7967913" y="3713434"/>
                  <a:ext cx="551928" cy="2462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>
                    <a:spcBef>
                      <a:spcPts val="200"/>
                    </a:spcBef>
                    <a:spcAft>
                      <a:spcPts val="200"/>
                    </a:spcAft>
                    <a:buSzPct val="80000"/>
                  </a:pPr>
                  <a:r>
                    <a:rPr lang="en-US" altLang="ko-KR" sz="1000" spc="-60">
                      <a:solidFill>
                        <a:srgbClr val="2D38B7"/>
                      </a:solidFill>
                      <a:latin typeface="+mn-ea"/>
                      <a:cs typeface="Pretendard Medium" panose="02000603000000020004" pitchFamily="50" charset="-127"/>
                    </a:rPr>
                    <a:t>UP</a:t>
                  </a:r>
                  <a:endParaRPr lang="en-US" altLang="ko-KR" sz="1000" spc="-60" dirty="0">
                    <a:solidFill>
                      <a:srgbClr val="2D38B7"/>
                    </a:solidFill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  <p:sp>
              <p:nvSpPr>
                <p:cNvPr id="72" name="위쪽 화살표 5">
                  <a:extLst>
                    <a:ext uri="{FF2B5EF4-FFF2-40B4-BE49-F238E27FC236}">
                      <a16:creationId xmlns:a16="http://schemas.microsoft.com/office/drawing/2014/main" id="{44C7F16F-D8BC-19A8-E589-CCD5BDC42A92}"/>
                    </a:ext>
                  </a:extLst>
                </p:cNvPr>
                <p:cNvSpPr/>
                <p:nvPr/>
              </p:nvSpPr>
              <p:spPr>
                <a:xfrm>
                  <a:off x="7997925" y="3673353"/>
                  <a:ext cx="173245" cy="257430"/>
                </a:xfrm>
                <a:prstGeom prst="upArrow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  <a:cs typeface="Pretendard Medium" panose="02000603000000020004" pitchFamily="50" charset="-127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68441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 dirty="0"/>
              <a:t>추진 전략</a:t>
            </a:r>
            <a:endParaRPr lang="en-US" altLang="ko-KR" dirty="0"/>
          </a:p>
          <a:p>
            <a:r>
              <a:rPr lang="ko-KR" altLang="en-US" dirty="0"/>
              <a:t>수행 일정</a:t>
            </a:r>
            <a:endParaRPr lang="en-US" altLang="ko-KR" dirty="0"/>
          </a:p>
          <a:p>
            <a:r>
              <a:rPr lang="ko-KR" altLang="en-US" dirty="0"/>
              <a:t>조직도 및 역할</a:t>
            </a:r>
          </a:p>
        </p:txBody>
      </p:sp>
    </p:spTree>
    <p:extLst>
      <p:ext uri="{BB962C8B-B14F-4D97-AF65-F5344CB8AC3E}">
        <p14:creationId xmlns:p14="http://schemas.microsoft.com/office/powerpoint/2010/main" val="166651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3">
            <a:extLst>
              <a:ext uri="{FF2B5EF4-FFF2-40B4-BE49-F238E27FC236}">
                <a16:creationId xmlns:a16="http://schemas.microsoft.com/office/drawing/2014/main" id="{1EA9AFF1-4574-5983-0C97-A7661F085018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 전략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- </a:t>
            </a:r>
            <a:r>
              <a:rPr lang="ko-KR" altLang="en-US" dirty="0">
                <a:solidFill>
                  <a:schemeClr val="tx1"/>
                </a:solidFill>
              </a:rPr>
              <a:t>접근성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효율성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안정성 확보를 위한 전략을 수립하여 </a:t>
            </a:r>
            <a:r>
              <a:rPr lang="ko-KR" altLang="en-US" sz="1400" spc="-70" dirty="0">
                <a:solidFill>
                  <a:schemeClr val="tx1"/>
                </a:solidFill>
                <a:cs typeface="Pretendard Medium" panose="02000603000000020004" pitchFamily="50" charset="-127"/>
              </a:rPr>
              <a:t>신성통상에 최적화 된 통합 </a:t>
            </a:r>
            <a:r>
              <a:rPr lang="en-US" altLang="ko-KR" sz="1400" spc="-70" dirty="0">
                <a:solidFill>
                  <a:schemeClr val="tx1"/>
                </a:solidFill>
                <a:cs typeface="Pretendard Medium" panose="02000603000000020004" pitchFamily="50" charset="-127"/>
              </a:rPr>
              <a:t>POS/</a:t>
            </a:r>
            <a:r>
              <a:rPr lang="ko-KR" altLang="en-US" sz="1400" spc="-70" dirty="0">
                <a:solidFill>
                  <a:schemeClr val="tx1"/>
                </a:solidFill>
                <a:cs typeface="Pretendard Medium" panose="02000603000000020004" pitchFamily="50" charset="-127"/>
              </a:rPr>
              <a:t>키오스크 시스템을 성공적으로 구축 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6" name="오른쪽 화살표 5">
            <a:extLst>
              <a:ext uri="{FF2B5EF4-FFF2-40B4-BE49-F238E27FC236}">
                <a16:creationId xmlns:a16="http://schemas.microsoft.com/office/drawing/2014/main" id="{288DF687-34B6-DEF0-9D72-8D95204D2452}"/>
              </a:ext>
            </a:extLst>
          </p:cNvPr>
          <p:cNvSpPr/>
          <p:nvPr/>
        </p:nvSpPr>
        <p:spPr>
          <a:xfrm>
            <a:off x="396511" y="2939145"/>
            <a:ext cx="2919445" cy="2114734"/>
          </a:xfrm>
          <a:prstGeom prst="rightArrow">
            <a:avLst>
              <a:gd name="adj1" fmla="val 50000"/>
              <a:gd name="adj2" fmla="val 38437"/>
            </a:avLst>
          </a:prstGeom>
          <a:solidFill>
            <a:srgbClr val="F2F2F2"/>
          </a:solidFill>
          <a:ln w="6350">
            <a:solidFill>
              <a:schemeClr val="bg2">
                <a:lumMod val="90000"/>
              </a:schemeClr>
            </a:solidFill>
          </a:ln>
          <a:effectLst>
            <a:innerShdw blurRad="114300">
              <a:schemeClr val="bg2">
                <a:lumMod val="9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tx1"/>
                </a:solidFill>
                <a:latin typeface="+mn-ea"/>
              </a:rPr>
              <a:t>추진전략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2BB67A4-A4B8-ADFB-80DA-1C902319394A}"/>
              </a:ext>
            </a:extLst>
          </p:cNvPr>
          <p:cNvGrpSpPr/>
          <p:nvPr/>
        </p:nvGrpSpPr>
        <p:grpSpPr>
          <a:xfrm>
            <a:off x="2729423" y="3228425"/>
            <a:ext cx="1571498" cy="1536174"/>
            <a:chOff x="746424" y="1326097"/>
            <a:chExt cx="2267674" cy="22676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17287007-78EE-E0FE-8969-53091732C908}"/>
                </a:ext>
              </a:extLst>
            </p:cNvPr>
            <p:cNvSpPr/>
            <p:nvPr/>
          </p:nvSpPr>
          <p:spPr>
            <a:xfrm>
              <a:off x="746424" y="1326097"/>
              <a:ext cx="2267674" cy="2267674"/>
            </a:xfrm>
            <a:prstGeom prst="ellipse">
              <a:avLst/>
            </a:prstGeom>
            <a:solidFill>
              <a:srgbClr val="00487E">
                <a:alpha val="5882"/>
              </a:srgbClr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200" spc="-6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25BCEEB-D4FC-B31D-9249-5770C335AA10}"/>
                </a:ext>
              </a:extLst>
            </p:cNvPr>
            <p:cNvSpPr/>
            <p:nvPr/>
          </p:nvSpPr>
          <p:spPr>
            <a:xfrm>
              <a:off x="920754" y="1500427"/>
              <a:ext cx="1919014" cy="1919014"/>
            </a:xfrm>
            <a:prstGeom prst="ellipse">
              <a:avLst/>
            </a:prstGeom>
            <a:solidFill>
              <a:srgbClr val="004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600" spc="-6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567F3E-F740-15D6-C266-88AF46EB450E}"/>
                </a:ext>
              </a:extLst>
            </p:cNvPr>
            <p:cNvSpPr txBox="1"/>
            <p:nvPr/>
          </p:nvSpPr>
          <p:spPr>
            <a:xfrm>
              <a:off x="1148802" y="2228105"/>
              <a:ext cx="1443368" cy="499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6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효율성</a:t>
              </a:r>
            </a:p>
          </p:txBody>
        </p:sp>
      </p:grpSp>
      <p:sp>
        <p:nvSpPr>
          <p:cNvPr id="11" name="Rectangle 9">
            <a:extLst>
              <a:ext uri="{FF2B5EF4-FFF2-40B4-BE49-F238E27FC236}">
                <a16:creationId xmlns:a16="http://schemas.microsoft.com/office/drawing/2014/main" id="{E35CAC3A-8025-2606-87D1-29B61D11D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490" y="3520744"/>
            <a:ext cx="6111926" cy="952866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360000" rIns="144000" anchor="ctr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600" b="1" kern="0" dirty="0" err="1">
                <a:solidFill>
                  <a:sysClr val="windowText" lastClr="000000"/>
                </a:solidFill>
                <a:latin typeface="+mn-ea"/>
              </a:rPr>
              <a:t>비대면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 서비스를 통한 매장 운영 효율화</a:t>
            </a:r>
            <a:endParaRPr lang="en-US" altLang="ko-KR" sz="1600" b="1" kern="0" dirty="0">
              <a:solidFill>
                <a:sysClr val="windowText" lastClr="000000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시스템 확장을 고려한 검증된 개발프레임 적용</a:t>
            </a:r>
            <a:endParaRPr lang="en-US" altLang="ko-KR" sz="16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CB79630-99B7-8621-F98C-2375C8C93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490" y="4754551"/>
            <a:ext cx="6111926" cy="9540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360000" rIns="54000" anchor="ctr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600" b="1" kern="0" dirty="0">
                <a:solidFill>
                  <a:sysClr val="windowText" lastClr="000000"/>
                </a:solidFill>
                <a:latin typeface="+mn-ea"/>
              </a:rPr>
              <a:t>POS/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키오스크 </a:t>
            </a:r>
            <a:r>
              <a:rPr lang="ko-KR" altLang="en-US" sz="1600" b="1" kern="0" dirty="0" err="1">
                <a:solidFill>
                  <a:sysClr val="windowText" lastClr="000000"/>
                </a:solidFill>
                <a:latin typeface="+mn-ea"/>
              </a:rPr>
              <a:t>무중단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 서비스 제공 </a:t>
            </a:r>
            <a:endParaRPr lang="en-US" altLang="ko-KR" sz="1600" b="1" kern="0" dirty="0">
              <a:solidFill>
                <a:sysClr val="windowText" lastClr="000000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altLang="ko-KR" sz="1600" b="1" kern="0" dirty="0">
                <a:solidFill>
                  <a:sysClr val="windowText" lastClr="000000"/>
                </a:solidFill>
                <a:latin typeface="+mn-ea"/>
              </a:rPr>
              <a:t>Cloud 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시스템 구조화 및 확장성 제공</a:t>
            </a:r>
            <a:endParaRPr lang="en-US" altLang="ko-KR" sz="16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" name="자유형 11">
            <a:extLst>
              <a:ext uri="{FF2B5EF4-FFF2-40B4-BE49-F238E27FC236}">
                <a16:creationId xmlns:a16="http://schemas.microsoft.com/office/drawing/2014/main" id="{43E1D2DE-0879-9094-8E88-D9BB52F7EFC6}"/>
              </a:ext>
            </a:extLst>
          </p:cNvPr>
          <p:cNvSpPr/>
          <p:nvPr/>
        </p:nvSpPr>
        <p:spPr>
          <a:xfrm>
            <a:off x="2755797" y="2414085"/>
            <a:ext cx="2029126" cy="288000"/>
          </a:xfrm>
          <a:custGeom>
            <a:avLst/>
            <a:gdLst>
              <a:gd name="connsiteX0" fmla="*/ 0 w 891540"/>
              <a:gd name="connsiteY0" fmla="*/ 266700 h 266700"/>
              <a:gd name="connsiteX1" fmla="*/ 312420 w 891540"/>
              <a:gd name="connsiteY1" fmla="*/ 0 h 266700"/>
              <a:gd name="connsiteX2" fmla="*/ 891540 w 89154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1540" h="266700">
                <a:moveTo>
                  <a:pt x="0" y="266700"/>
                </a:moveTo>
                <a:lnTo>
                  <a:pt x="312420" y="0"/>
                </a:lnTo>
                <a:lnTo>
                  <a:pt x="891540" y="0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97E9ED60-B2A7-352E-AE6A-24A05D24D27C}"/>
              </a:ext>
            </a:extLst>
          </p:cNvPr>
          <p:cNvCxnSpPr>
            <a:cxnSpLocks/>
            <a:stCxn id="8" idx="6"/>
            <a:endCxn id="11" idx="1"/>
          </p:cNvCxnSpPr>
          <p:nvPr/>
        </p:nvCxnSpPr>
        <p:spPr>
          <a:xfrm>
            <a:off x="4300921" y="3996512"/>
            <a:ext cx="479569" cy="665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자유형 10">
            <a:extLst>
              <a:ext uri="{FF2B5EF4-FFF2-40B4-BE49-F238E27FC236}">
                <a16:creationId xmlns:a16="http://schemas.microsoft.com/office/drawing/2014/main" id="{CCCC525B-24D1-BE7C-33CF-5F30A35999BF}"/>
              </a:ext>
            </a:extLst>
          </p:cNvPr>
          <p:cNvSpPr/>
          <p:nvPr/>
        </p:nvSpPr>
        <p:spPr>
          <a:xfrm flipV="1">
            <a:off x="2746842" y="5264318"/>
            <a:ext cx="1995307" cy="288000"/>
          </a:xfrm>
          <a:custGeom>
            <a:avLst/>
            <a:gdLst>
              <a:gd name="connsiteX0" fmla="*/ 0 w 891540"/>
              <a:gd name="connsiteY0" fmla="*/ 266700 h 266700"/>
              <a:gd name="connsiteX1" fmla="*/ 312420 w 891540"/>
              <a:gd name="connsiteY1" fmla="*/ 0 h 266700"/>
              <a:gd name="connsiteX2" fmla="*/ 891540 w 891540"/>
              <a:gd name="connsiteY2" fmla="*/ 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91540" h="266700">
                <a:moveTo>
                  <a:pt x="0" y="266700"/>
                </a:moveTo>
                <a:lnTo>
                  <a:pt x="312420" y="0"/>
                </a:lnTo>
                <a:lnTo>
                  <a:pt x="891540" y="0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Rectangle 9">
            <a:extLst>
              <a:ext uri="{FF2B5EF4-FFF2-40B4-BE49-F238E27FC236}">
                <a16:creationId xmlns:a16="http://schemas.microsoft.com/office/drawing/2014/main" id="{F551E0A8-C2AF-3B15-6BDE-8AED7C791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0490" y="2285802"/>
            <a:ext cx="6111926" cy="954000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lIns="360000" rIns="144000" anchor="ctr"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사용자</a:t>
            </a:r>
            <a:r>
              <a:rPr lang="en-US" altLang="ko-KR" sz="1600" b="1" kern="0" dirty="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중심의 친화적인 </a:t>
            </a:r>
            <a:r>
              <a:rPr lang="en-US" altLang="ko-KR" sz="1600" b="1" kern="0" dirty="0">
                <a:solidFill>
                  <a:sysClr val="windowText" lastClr="000000"/>
                </a:solidFill>
                <a:latin typeface="+mn-ea"/>
              </a:rPr>
              <a:t>UI/UX 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개선</a:t>
            </a:r>
            <a:endParaRPr lang="en-US" altLang="ko-KR" sz="1600" b="1" kern="0" dirty="0">
              <a:solidFill>
                <a:sysClr val="windowText" lastClr="000000"/>
              </a:solidFill>
              <a:latin typeface="+mn-ea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업무 프로세스</a:t>
            </a:r>
            <a:r>
              <a:rPr lang="en-US" altLang="ko-KR" sz="1600" b="1" kern="0" dirty="0">
                <a:solidFill>
                  <a:sysClr val="windowText" lastClr="000000"/>
                </a:solidFill>
                <a:latin typeface="+mn-ea"/>
              </a:rPr>
              <a:t>, </a:t>
            </a:r>
            <a:r>
              <a:rPr lang="ko-KR" altLang="en-US" sz="1600" b="1" kern="0" dirty="0">
                <a:solidFill>
                  <a:sysClr val="windowText" lastClr="000000"/>
                </a:solidFill>
                <a:latin typeface="+mn-ea"/>
              </a:rPr>
              <a:t>사용자 동선을 고려한 사용자 경험 제공</a:t>
            </a:r>
            <a:endParaRPr lang="en-US" altLang="ko-KR" sz="16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DF1A236-07DD-5C24-9C8F-CEDC5E00E7D3}"/>
              </a:ext>
            </a:extLst>
          </p:cNvPr>
          <p:cNvGrpSpPr/>
          <p:nvPr/>
        </p:nvGrpSpPr>
        <p:grpSpPr>
          <a:xfrm>
            <a:off x="1202437" y="2121568"/>
            <a:ext cx="1571498" cy="1536174"/>
            <a:chOff x="746424" y="1326097"/>
            <a:chExt cx="2267674" cy="22676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DD35EE1C-D28A-3D59-34E8-9021AA673A8D}"/>
                </a:ext>
              </a:extLst>
            </p:cNvPr>
            <p:cNvSpPr/>
            <p:nvPr/>
          </p:nvSpPr>
          <p:spPr>
            <a:xfrm>
              <a:off x="746424" y="1326097"/>
              <a:ext cx="2267674" cy="2267674"/>
            </a:xfrm>
            <a:prstGeom prst="ellipse">
              <a:avLst/>
            </a:prstGeom>
            <a:solidFill>
              <a:srgbClr val="00487E">
                <a:alpha val="5882"/>
              </a:srgbClr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200" spc="-6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B153DF75-F617-A8D2-5207-52228A879D20}"/>
                </a:ext>
              </a:extLst>
            </p:cNvPr>
            <p:cNvSpPr/>
            <p:nvPr/>
          </p:nvSpPr>
          <p:spPr>
            <a:xfrm>
              <a:off x="920754" y="1500427"/>
              <a:ext cx="1919015" cy="1919014"/>
            </a:xfrm>
            <a:prstGeom prst="ellipse">
              <a:avLst/>
            </a:prstGeom>
            <a:solidFill>
              <a:srgbClr val="004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600" spc="-6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46E71BD-42E2-87E6-3A2C-6C32E280711C}"/>
                </a:ext>
              </a:extLst>
            </p:cNvPr>
            <p:cNvSpPr txBox="1"/>
            <p:nvPr/>
          </p:nvSpPr>
          <p:spPr>
            <a:xfrm>
              <a:off x="1148802" y="2228105"/>
              <a:ext cx="1443368" cy="499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6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접근성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4201622B-14B1-A8A6-AC4A-08C801552561}"/>
              </a:ext>
            </a:extLst>
          </p:cNvPr>
          <p:cNvGrpSpPr/>
          <p:nvPr/>
        </p:nvGrpSpPr>
        <p:grpSpPr>
          <a:xfrm>
            <a:off x="1202437" y="4329960"/>
            <a:ext cx="1571498" cy="1536174"/>
            <a:chOff x="746424" y="1326097"/>
            <a:chExt cx="2267674" cy="22676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BC5C1312-C879-D524-9558-A96B0AE30B5E}"/>
                </a:ext>
              </a:extLst>
            </p:cNvPr>
            <p:cNvSpPr/>
            <p:nvPr/>
          </p:nvSpPr>
          <p:spPr>
            <a:xfrm>
              <a:off x="746424" y="1326097"/>
              <a:ext cx="2267674" cy="2267674"/>
            </a:xfrm>
            <a:prstGeom prst="ellipse">
              <a:avLst/>
            </a:prstGeom>
            <a:solidFill>
              <a:srgbClr val="00487E">
                <a:alpha val="5882"/>
              </a:srgbClr>
            </a:solidFill>
            <a:ln w="3175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umimoji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ko-KR" altLang="en-US" sz="1200" spc="-6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AB0BE5BE-1FE9-D388-C826-6FE21F34C684}"/>
                </a:ext>
              </a:extLst>
            </p:cNvPr>
            <p:cNvSpPr/>
            <p:nvPr/>
          </p:nvSpPr>
          <p:spPr>
            <a:xfrm>
              <a:off x="920754" y="1500427"/>
              <a:ext cx="1919014" cy="1919014"/>
            </a:xfrm>
            <a:prstGeom prst="ellipse">
              <a:avLst/>
            </a:prstGeom>
            <a:solidFill>
              <a:srgbClr val="0048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endParaRPr lang="ko-KR" altLang="en-US" sz="1600" spc="-6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FF1F28E-AB58-A23E-9600-6F14F2B5F061}"/>
                </a:ext>
              </a:extLst>
            </p:cNvPr>
            <p:cNvSpPr txBox="1"/>
            <p:nvPr/>
          </p:nvSpPr>
          <p:spPr>
            <a:xfrm>
              <a:off x="1148802" y="2228105"/>
              <a:ext cx="1443368" cy="499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spc="-60" dirty="0"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안정성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023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 전략 </a:t>
            </a:r>
            <a:r>
              <a:rPr lang="en-US" altLang="ko-KR" dirty="0"/>
              <a:t>– </a:t>
            </a:r>
            <a:r>
              <a:rPr lang="ko-KR" altLang="en-US" dirty="0"/>
              <a:t>접근성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로그인 화면은 공간과 색상의 효과적인 배치를 통해 시각적으로 균형 잡힌 화면으로 구성하고</a:t>
            </a:r>
            <a:r>
              <a:rPr lang="en-US" altLang="ko-KR" dirty="0"/>
              <a:t>, </a:t>
            </a:r>
            <a:r>
              <a:rPr lang="ko-KR" altLang="en-US" dirty="0"/>
              <a:t>판매등록 화면은 시각적 다양성과 고객 사용성을 높이기</a:t>
            </a:r>
            <a:endParaRPr lang="en-US" altLang="ko-KR" dirty="0"/>
          </a:p>
          <a:p>
            <a:r>
              <a:rPr lang="ko-KR" altLang="en-US" dirty="0"/>
              <a:t>  위한 화면을 선별하여 구현 함 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CDDDA39A-98FE-43BF-83CC-303739298762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8" name="양쪽 모서리가 둥근 사각형 177">
            <a:extLst>
              <a:ext uri="{FF2B5EF4-FFF2-40B4-BE49-F238E27FC236}">
                <a16:creationId xmlns:a16="http://schemas.microsoft.com/office/drawing/2014/main" id="{E057A84A-BB13-4EFA-97C3-43453FAC8BE1}"/>
              </a:ext>
            </a:extLst>
          </p:cNvPr>
          <p:cNvSpPr/>
          <p:nvPr/>
        </p:nvSpPr>
        <p:spPr>
          <a:xfrm>
            <a:off x="897906" y="1831507"/>
            <a:ext cx="3232800" cy="432000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) </a:t>
            </a:r>
            <a:r>
              <a:rPr lang="ko-KR" altLang="en-US" sz="1200" b="1" dirty="0" err="1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심플형</a:t>
            </a:r>
            <a:endParaRPr lang="ko-KR" altLang="en-US" sz="12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5" name="양쪽 모서리가 둥근 사각형 177">
            <a:extLst>
              <a:ext uri="{FF2B5EF4-FFF2-40B4-BE49-F238E27FC236}">
                <a16:creationId xmlns:a16="http://schemas.microsoft.com/office/drawing/2014/main" id="{04DDC227-55F9-4DF1-A425-8003EE2F7764}"/>
              </a:ext>
            </a:extLst>
          </p:cNvPr>
          <p:cNvSpPr/>
          <p:nvPr/>
        </p:nvSpPr>
        <p:spPr>
          <a:xfrm>
            <a:off x="4463162" y="1831507"/>
            <a:ext cx="3232800" cy="432000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)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키워드형</a:t>
            </a:r>
          </a:p>
        </p:txBody>
      </p:sp>
      <p:sp>
        <p:nvSpPr>
          <p:cNvPr id="18" name="양쪽 모서리가 둥근 사각형 177">
            <a:extLst>
              <a:ext uri="{FF2B5EF4-FFF2-40B4-BE49-F238E27FC236}">
                <a16:creationId xmlns:a16="http://schemas.microsoft.com/office/drawing/2014/main" id="{B2F00E49-CCCE-468D-A523-78A8011BB2A6}"/>
              </a:ext>
            </a:extLst>
          </p:cNvPr>
          <p:cNvSpPr/>
          <p:nvPr/>
        </p:nvSpPr>
        <p:spPr>
          <a:xfrm>
            <a:off x="8028418" y="1821998"/>
            <a:ext cx="3232800" cy="432000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) 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확장형</a:t>
            </a:r>
          </a:p>
        </p:txBody>
      </p:sp>
      <p:sp>
        <p:nvSpPr>
          <p:cNvPr id="19" name="모서리가 둥근 직사각형 174">
            <a:extLst>
              <a:ext uri="{FF2B5EF4-FFF2-40B4-BE49-F238E27FC236}">
                <a16:creationId xmlns:a16="http://schemas.microsoft.com/office/drawing/2014/main" id="{AE9C77F7-6A6A-4F8F-A87D-F22843ED3C0C}"/>
              </a:ext>
            </a:extLst>
          </p:cNvPr>
          <p:cNvSpPr/>
          <p:nvPr/>
        </p:nvSpPr>
        <p:spPr>
          <a:xfrm>
            <a:off x="897905" y="2530932"/>
            <a:ext cx="3198991" cy="2341799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92100" dist="381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B8B337-DC70-410E-9DA6-90BAEA289E87}"/>
              </a:ext>
            </a:extLst>
          </p:cNvPr>
          <p:cNvSpPr txBox="1"/>
          <p:nvPr/>
        </p:nvSpPr>
        <p:spPr>
          <a:xfrm>
            <a:off x="934629" y="5171465"/>
            <a:ext cx="3162267" cy="886436"/>
          </a:xfrm>
          <a:prstGeom prst="rect">
            <a:avLst/>
          </a:prstGeom>
          <a:solidFill>
            <a:srgbClr val="F8F0DA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ko-KR" altLang="en-US" sz="1100" dirty="0">
                <a:latin typeface="+mn-ea"/>
                <a:ea typeface="+mn-ea"/>
              </a:rPr>
              <a:t>다량의 상품을 동시 등록 가능한 레이아웃</a:t>
            </a:r>
            <a:endParaRPr lang="en-US" altLang="ko-KR" sz="1100" dirty="0">
              <a:latin typeface="+mn-ea"/>
              <a:ea typeface="+mn-ea"/>
            </a:endParaRPr>
          </a:p>
          <a:p>
            <a:pPr marL="50800" indent="0">
              <a:buNone/>
            </a:pPr>
            <a:r>
              <a:rPr lang="en-US" altLang="ko-KR" sz="1100" dirty="0">
                <a:latin typeface="+mn-ea"/>
                <a:ea typeface="+mn-ea"/>
              </a:rPr>
              <a:t>   </a:t>
            </a:r>
            <a:r>
              <a:rPr lang="ko-KR" altLang="en-US" sz="1100" dirty="0">
                <a:latin typeface="+mn-ea"/>
                <a:ea typeface="+mn-ea"/>
              </a:rPr>
              <a:t>구성</a:t>
            </a:r>
          </a:p>
          <a:p>
            <a:pPr marL="182563" indent="-131763"/>
            <a:r>
              <a:rPr lang="ko-KR" altLang="en-US" sz="1100" dirty="0">
                <a:latin typeface="+mn-ea"/>
                <a:ea typeface="+mn-ea"/>
              </a:rPr>
              <a:t>시각적으로 단순화한 화면을 통한 고객</a:t>
            </a:r>
            <a:endParaRPr lang="en-US" altLang="ko-KR" sz="1100" dirty="0">
              <a:latin typeface="+mn-ea"/>
              <a:ea typeface="+mn-ea"/>
            </a:endParaRPr>
          </a:p>
          <a:p>
            <a:pPr marL="50800" indent="0">
              <a:buNone/>
            </a:pPr>
            <a:r>
              <a:rPr lang="en-US" altLang="ko-KR" sz="1100" dirty="0">
                <a:latin typeface="+mn-ea"/>
                <a:ea typeface="+mn-ea"/>
              </a:rPr>
              <a:t>   </a:t>
            </a:r>
            <a:r>
              <a:rPr lang="ko-KR" altLang="en-US" sz="1100" dirty="0">
                <a:latin typeface="+mn-ea"/>
                <a:ea typeface="+mn-ea"/>
              </a:rPr>
              <a:t>사용성 증가</a:t>
            </a:r>
          </a:p>
        </p:txBody>
      </p:sp>
      <p:sp>
        <p:nvSpPr>
          <p:cNvPr id="21" name="모서리가 둥근 직사각형 174">
            <a:extLst>
              <a:ext uri="{FF2B5EF4-FFF2-40B4-BE49-F238E27FC236}">
                <a16:creationId xmlns:a16="http://schemas.microsoft.com/office/drawing/2014/main" id="{3009D7D1-E358-45A9-937B-DAAE0556737C}"/>
              </a:ext>
            </a:extLst>
          </p:cNvPr>
          <p:cNvSpPr/>
          <p:nvPr/>
        </p:nvSpPr>
        <p:spPr>
          <a:xfrm>
            <a:off x="4463748" y="2530932"/>
            <a:ext cx="3199575" cy="2341799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92100" dist="381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2" name="모서리가 둥근 직사각형 174">
            <a:extLst>
              <a:ext uri="{FF2B5EF4-FFF2-40B4-BE49-F238E27FC236}">
                <a16:creationId xmlns:a16="http://schemas.microsoft.com/office/drawing/2014/main" id="{69CB860F-3F65-441C-B27D-BA11CA08C0E2}"/>
              </a:ext>
            </a:extLst>
          </p:cNvPr>
          <p:cNvSpPr/>
          <p:nvPr/>
        </p:nvSpPr>
        <p:spPr>
          <a:xfrm>
            <a:off x="8078419" y="2530932"/>
            <a:ext cx="3198991" cy="2341799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92100" dist="381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A610366-9DEA-4C2D-AD43-51DF38CBDBFE}"/>
              </a:ext>
            </a:extLst>
          </p:cNvPr>
          <p:cNvSpPr/>
          <p:nvPr/>
        </p:nvSpPr>
        <p:spPr>
          <a:xfrm>
            <a:off x="4508841" y="5171465"/>
            <a:ext cx="3187121" cy="886436"/>
          </a:xfrm>
          <a:prstGeom prst="rect">
            <a:avLst/>
          </a:prstGeom>
          <a:solidFill>
            <a:srgbClr val="F8F0DA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판매 중인 상품의 정보를 시각적으로 단순화한 디자인</a:t>
            </a:r>
          </a:p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효율적으로 사용 가능한 화면 구성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2611B2-8F39-4E7C-86EC-A8477C077C32}"/>
              </a:ext>
            </a:extLst>
          </p:cNvPr>
          <p:cNvSpPr/>
          <p:nvPr/>
        </p:nvSpPr>
        <p:spPr>
          <a:xfrm>
            <a:off x="8088520" y="5171465"/>
            <a:ext cx="3187121" cy="886436"/>
          </a:xfrm>
          <a:prstGeom prst="rect">
            <a:avLst/>
          </a:prstGeom>
          <a:solidFill>
            <a:srgbClr val="F8F0DA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키패드를 활용한 상품 등록 구조 반영</a:t>
            </a:r>
          </a:p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포스 기능 설정 가능한 관리기능 팝업 추가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89B6CB54-53FC-45F5-8714-68AEBD60E24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4630" y="2597499"/>
            <a:ext cx="3099245" cy="219168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6D38C01-E6EB-410D-B29A-8ACCB2E1906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842" y="2597499"/>
            <a:ext cx="3099245" cy="219168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24A1579-0384-4A0C-960C-37C9F59597F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4151" y="2597499"/>
            <a:ext cx="3099245" cy="219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70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 전략 </a:t>
            </a:r>
            <a:r>
              <a:rPr lang="en-US" altLang="ko-KR" dirty="0"/>
              <a:t>– </a:t>
            </a:r>
            <a:r>
              <a:rPr lang="ko-KR" altLang="en-US" dirty="0"/>
              <a:t>효율성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키오스크는 사용성 향상 및 정보의 명확성을 중심으로 </a:t>
            </a:r>
            <a:r>
              <a:rPr lang="ko-KR" altLang="en-US" dirty="0" err="1"/>
              <a:t>배리어프리</a:t>
            </a:r>
            <a:r>
              <a:rPr lang="ko-KR" altLang="en-US" dirty="0"/>
              <a:t> </a:t>
            </a:r>
            <a:r>
              <a:rPr lang="en-US" altLang="ko-KR" dirty="0"/>
              <a:t>(Barrier-Free) </a:t>
            </a:r>
            <a:r>
              <a:rPr lang="ko-KR" altLang="en-US" dirty="0"/>
              <a:t>검증</a:t>
            </a:r>
            <a:r>
              <a:rPr lang="en-US" altLang="ko-KR" dirty="0"/>
              <a:t> </a:t>
            </a:r>
            <a:r>
              <a:rPr lang="ko-KR" altLang="en-US" dirty="0"/>
              <a:t>기준을 준수하여 직관적이고 편의성을 강화한 최적의 </a:t>
            </a:r>
            <a:r>
              <a:rPr lang="en-US" altLang="ko-KR" dirty="0"/>
              <a:t>UI/UX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구현 함</a:t>
            </a:r>
            <a:endParaRPr lang="en-US" altLang="ko-KR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CDDDA39A-98FE-43BF-83CC-303739298762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19" name="모서리가 둥근 직사각형 174">
            <a:extLst>
              <a:ext uri="{FF2B5EF4-FFF2-40B4-BE49-F238E27FC236}">
                <a16:creationId xmlns:a16="http://schemas.microsoft.com/office/drawing/2014/main" id="{8283EB3E-3BC3-4CE5-9996-3C435D4BBA93}"/>
              </a:ext>
            </a:extLst>
          </p:cNvPr>
          <p:cNvSpPr/>
          <p:nvPr/>
        </p:nvSpPr>
        <p:spPr>
          <a:xfrm>
            <a:off x="887874" y="2163003"/>
            <a:ext cx="2340000" cy="3852000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92100" dist="381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</a:endParaRPr>
          </a:p>
        </p:txBody>
      </p:sp>
      <p:sp>
        <p:nvSpPr>
          <p:cNvPr id="20" name="모서리가 둥근 직사각형 174">
            <a:extLst>
              <a:ext uri="{FF2B5EF4-FFF2-40B4-BE49-F238E27FC236}">
                <a16:creationId xmlns:a16="http://schemas.microsoft.com/office/drawing/2014/main" id="{8F319609-B6E6-4AA0-94ED-B13CB8BFA31A}"/>
              </a:ext>
            </a:extLst>
          </p:cNvPr>
          <p:cNvSpPr/>
          <p:nvPr/>
        </p:nvSpPr>
        <p:spPr>
          <a:xfrm>
            <a:off x="4776197" y="2163003"/>
            <a:ext cx="2340000" cy="3852000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92100" dist="381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</a:endParaRPr>
          </a:p>
        </p:txBody>
      </p:sp>
      <p:sp>
        <p:nvSpPr>
          <p:cNvPr id="21" name="모서리가 둥근 직사각형 174">
            <a:extLst>
              <a:ext uri="{FF2B5EF4-FFF2-40B4-BE49-F238E27FC236}">
                <a16:creationId xmlns:a16="http://schemas.microsoft.com/office/drawing/2014/main" id="{5964BACE-1894-4ABD-AA3E-12E421F54586}"/>
              </a:ext>
            </a:extLst>
          </p:cNvPr>
          <p:cNvSpPr/>
          <p:nvPr/>
        </p:nvSpPr>
        <p:spPr>
          <a:xfrm>
            <a:off x="8965346" y="2163003"/>
            <a:ext cx="2340000" cy="3852000"/>
          </a:xfrm>
          <a:prstGeom prst="roundRect">
            <a:avLst>
              <a:gd name="adj" fmla="val 4233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92100" dist="38100" dir="5400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</a:endParaRPr>
          </a:p>
        </p:txBody>
      </p:sp>
      <p:pic>
        <p:nvPicPr>
          <p:cNvPr id="22" name="그림 21" descr="텍스트, 의류, 스크린샷, 사람이(가) 표시된 사진&#10;&#10;자동 생성된 설명">
            <a:extLst>
              <a:ext uri="{FF2B5EF4-FFF2-40B4-BE49-F238E27FC236}">
                <a16:creationId xmlns:a16="http://schemas.microsoft.com/office/drawing/2014/main" id="{319A9456-31AB-4652-947A-4F3E7B3A9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103" y="2278049"/>
            <a:ext cx="2073872" cy="3686883"/>
          </a:xfrm>
          <a:prstGeom prst="rect">
            <a:avLst/>
          </a:prstGeom>
        </p:spPr>
      </p:pic>
      <p:pic>
        <p:nvPicPr>
          <p:cNvPr id="23" name="그림 22" descr="텍스트, 의류, 인간의 얼굴, 스크린샷이(가) 표시된 사진&#10;&#10;자동 생성된 설명">
            <a:extLst>
              <a:ext uri="{FF2B5EF4-FFF2-40B4-BE49-F238E27FC236}">
                <a16:creationId xmlns:a16="http://schemas.microsoft.com/office/drawing/2014/main" id="{06D168D3-191E-40DE-AD35-6FB90185C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1547" y="2275054"/>
            <a:ext cx="2073872" cy="3686883"/>
          </a:xfrm>
          <a:prstGeom prst="rect">
            <a:avLst/>
          </a:prstGeom>
        </p:spPr>
      </p:pic>
      <p:pic>
        <p:nvPicPr>
          <p:cNvPr id="24" name="그림 23" descr="텍스트, 인간의 얼굴, 미소, 노랑이(가) 표시된 사진&#10;&#10;자동 생성된 설명">
            <a:extLst>
              <a:ext uri="{FF2B5EF4-FFF2-40B4-BE49-F238E27FC236}">
                <a16:creationId xmlns:a16="http://schemas.microsoft.com/office/drawing/2014/main" id="{386D0ACF-8A9A-422F-B351-92CA756AA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064" y="2276200"/>
            <a:ext cx="2073872" cy="368688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B357ADF-F105-4D30-936C-433C02D9CD45}"/>
              </a:ext>
            </a:extLst>
          </p:cNvPr>
          <p:cNvSpPr txBox="1"/>
          <p:nvPr/>
        </p:nvSpPr>
        <p:spPr>
          <a:xfrm>
            <a:off x="863382" y="6180364"/>
            <a:ext cx="107217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srgbClr val="1F1F1F"/>
                </a:solidFill>
                <a:latin typeface="+mn-ea"/>
                <a:cs typeface="Pretendard Light" panose="02000403000000020004" pitchFamily="50" charset="-127"/>
              </a:rPr>
              <a:t>※ </a:t>
            </a:r>
            <a:r>
              <a:rPr lang="ko-KR" altLang="en-US" sz="1000" b="0" i="0" dirty="0">
                <a:solidFill>
                  <a:srgbClr val="1F1F1F"/>
                </a:solidFill>
                <a:effectLst/>
                <a:latin typeface="+mn-ea"/>
                <a:cs typeface="Pretendard Light" panose="02000403000000020004" pitchFamily="50" charset="-127"/>
              </a:rPr>
              <a:t>배리어프리 </a:t>
            </a:r>
            <a:r>
              <a:rPr lang="en-US" altLang="ko-KR" sz="1000" b="0" i="0" dirty="0">
                <a:solidFill>
                  <a:srgbClr val="1F1F1F"/>
                </a:solidFill>
                <a:effectLst/>
                <a:latin typeface="+mn-ea"/>
                <a:cs typeface="Pretendard Light" panose="02000403000000020004" pitchFamily="50" charset="-127"/>
              </a:rPr>
              <a:t>(Barrier-Free) : </a:t>
            </a:r>
            <a:r>
              <a:rPr lang="ko-KR" altLang="en-US" sz="1000" b="0" i="0" dirty="0">
                <a:solidFill>
                  <a:srgbClr val="040C28"/>
                </a:solidFill>
                <a:effectLst/>
                <a:latin typeface="+mn-ea"/>
                <a:cs typeface="Pretendard Light" panose="02000403000000020004" pitchFamily="50" charset="-127"/>
              </a:rPr>
              <a:t>장애인 및 고령자</a:t>
            </a:r>
            <a:r>
              <a:rPr lang="en-US" altLang="ko-KR" sz="1000" b="0" i="0" dirty="0">
                <a:solidFill>
                  <a:srgbClr val="040C28"/>
                </a:solidFill>
                <a:effectLst/>
                <a:latin typeface="+mn-ea"/>
                <a:cs typeface="Pretendard Light" panose="0200040300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040C28"/>
                </a:solidFill>
                <a:effectLst/>
                <a:latin typeface="+mn-ea"/>
                <a:cs typeface="Pretendard Light" panose="02000403000000020004" pitchFamily="50" charset="-127"/>
              </a:rPr>
              <a:t>임산부 등의 사회적 약자들의 사회 생활에 지장이 되는 물리적인 장애물이나 심리적인 장벽을 없애기 위해 실시하는 운동 및 시책</a:t>
            </a:r>
            <a:endParaRPr lang="ko-KR" altLang="en-US" sz="1000" dirty="0"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26" name="양쪽 모서리가 둥근 사각형 177">
            <a:extLst>
              <a:ext uri="{FF2B5EF4-FFF2-40B4-BE49-F238E27FC236}">
                <a16:creationId xmlns:a16="http://schemas.microsoft.com/office/drawing/2014/main" id="{769E59C6-0602-47E6-A394-EBB25FB92328}"/>
              </a:ext>
            </a:extLst>
          </p:cNvPr>
          <p:cNvSpPr/>
          <p:nvPr/>
        </p:nvSpPr>
        <p:spPr>
          <a:xfrm>
            <a:off x="887874" y="1684259"/>
            <a:ext cx="2340000" cy="432000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) </a:t>
            </a:r>
            <a:r>
              <a:rPr lang="ko-KR" altLang="en-US" sz="1200" b="1" spc="-9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기본 목록형</a:t>
            </a:r>
            <a:endParaRPr lang="ko-KR" altLang="en-US" sz="12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419218-0F83-4F05-AD37-7AE6D72B52B6}"/>
              </a:ext>
            </a:extLst>
          </p:cNvPr>
          <p:cNvSpPr txBox="1"/>
          <p:nvPr/>
        </p:nvSpPr>
        <p:spPr>
          <a:xfrm>
            <a:off x="1508238" y="4501501"/>
            <a:ext cx="3004783" cy="540000"/>
          </a:xfrm>
          <a:prstGeom prst="rect">
            <a:avLst/>
          </a:prstGeom>
          <a:solidFill>
            <a:srgbClr val="F8F0DA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ko-KR" altLang="en-US" sz="1100" dirty="0">
                <a:latin typeface="+mn-ea"/>
                <a:ea typeface="+mn-ea"/>
              </a:rPr>
              <a:t>심플한 디자인으로 정보 접근성 강화</a:t>
            </a:r>
          </a:p>
          <a:p>
            <a:pPr marL="182563" indent="-131763"/>
            <a:r>
              <a:rPr lang="ko-KR" altLang="en-US" sz="1100" dirty="0">
                <a:latin typeface="+mn-ea"/>
                <a:ea typeface="+mn-ea"/>
              </a:rPr>
              <a:t>직관적인 바코드 입력 </a:t>
            </a:r>
            <a:r>
              <a:rPr lang="en-US" altLang="ko-KR" sz="1100" dirty="0">
                <a:latin typeface="+mn-ea"/>
                <a:ea typeface="+mn-ea"/>
              </a:rPr>
              <a:t>UI </a:t>
            </a:r>
            <a:r>
              <a:rPr lang="ko-KR" altLang="en-US" sz="1100" dirty="0">
                <a:latin typeface="+mn-ea"/>
                <a:ea typeface="+mn-ea"/>
              </a:rPr>
              <a:t>제공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6CC6B4E-7AB3-4F99-8CFB-881BFBDEF3B3}"/>
              </a:ext>
            </a:extLst>
          </p:cNvPr>
          <p:cNvSpPr/>
          <p:nvPr/>
        </p:nvSpPr>
        <p:spPr>
          <a:xfrm>
            <a:off x="4538499" y="2817129"/>
            <a:ext cx="2754000" cy="540000"/>
          </a:xfrm>
          <a:prstGeom prst="rect">
            <a:avLst/>
          </a:prstGeom>
          <a:solidFill>
            <a:srgbClr val="F8F0DA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제품 이미지 강조</a:t>
            </a:r>
          </a:p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소비자 구매 신뢰도 증가</a:t>
            </a:r>
          </a:p>
        </p:txBody>
      </p:sp>
      <p:sp>
        <p:nvSpPr>
          <p:cNvPr id="29" name="양쪽 모서리가 둥근 사각형 177">
            <a:extLst>
              <a:ext uri="{FF2B5EF4-FFF2-40B4-BE49-F238E27FC236}">
                <a16:creationId xmlns:a16="http://schemas.microsoft.com/office/drawing/2014/main" id="{23D2750C-D54B-4A54-BFF4-E17A077E5F21}"/>
              </a:ext>
            </a:extLst>
          </p:cNvPr>
          <p:cNvSpPr/>
          <p:nvPr/>
        </p:nvSpPr>
        <p:spPr>
          <a:xfrm>
            <a:off x="4776197" y="1684259"/>
            <a:ext cx="2340000" cy="432000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) </a:t>
            </a:r>
            <a:r>
              <a:rPr lang="ko-KR" altLang="en-US" sz="1200" b="1" spc="-9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스캔 이미지 강조형</a:t>
            </a:r>
            <a:endParaRPr lang="ko-KR" altLang="en-US" sz="12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BEC6E1C-A5CB-4BB3-9A6A-DEA6BABACED7}"/>
              </a:ext>
            </a:extLst>
          </p:cNvPr>
          <p:cNvSpPr/>
          <p:nvPr/>
        </p:nvSpPr>
        <p:spPr>
          <a:xfrm>
            <a:off x="7695541" y="4501501"/>
            <a:ext cx="2754000" cy="540000"/>
          </a:xfrm>
          <a:prstGeom prst="rect">
            <a:avLst/>
          </a:prstGeom>
          <a:solidFill>
            <a:srgbClr val="F8F0DA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lIns="36000" tIns="36000" rIns="36000" bIns="36000" anchor="ctr">
            <a:noAutofit/>
          </a:bodyPr>
          <a:lstStyle/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이미지와 목록으로 정보 전달 효율 증가</a:t>
            </a:r>
          </a:p>
          <a:p>
            <a:pPr marL="182563" indent="-13176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ko-KR" altLang="en-US" sz="110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가독성 높은 레이아웃 제공</a:t>
            </a:r>
          </a:p>
        </p:txBody>
      </p:sp>
      <p:sp>
        <p:nvSpPr>
          <p:cNvPr id="31" name="양쪽 모서리가 둥근 사각형 177">
            <a:extLst>
              <a:ext uri="{FF2B5EF4-FFF2-40B4-BE49-F238E27FC236}">
                <a16:creationId xmlns:a16="http://schemas.microsoft.com/office/drawing/2014/main" id="{4B73011C-C45A-49FA-ACFF-4D81DB4BC246}"/>
              </a:ext>
            </a:extLst>
          </p:cNvPr>
          <p:cNvSpPr/>
          <p:nvPr/>
        </p:nvSpPr>
        <p:spPr>
          <a:xfrm>
            <a:off x="8951982" y="1674750"/>
            <a:ext cx="2340000" cy="432000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안</a:t>
            </a:r>
            <a:r>
              <a:rPr lang="en-US" altLang="ko-KR" sz="12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) </a:t>
            </a:r>
            <a:r>
              <a:rPr lang="ko-KR" altLang="en-US" sz="1200" b="1" spc="-9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이미지 목록형</a:t>
            </a:r>
            <a:endParaRPr lang="ko-KR" altLang="en-US" sz="12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41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 전략 </a:t>
            </a:r>
            <a:r>
              <a:rPr lang="en-US" altLang="ko-KR" dirty="0"/>
              <a:t>– </a:t>
            </a:r>
            <a:r>
              <a:rPr lang="ko-KR" altLang="en-US" dirty="0"/>
              <a:t>안정성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연계된 시스템 및 매장 네트워크 장애시에도 매장 </a:t>
            </a:r>
            <a:r>
              <a:rPr lang="en-US" altLang="ko-KR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POS/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키오스크 시스템의 판매 및 결제 기능이 정상적으로 유지 될 수 있는 </a:t>
            </a:r>
            <a:r>
              <a:rPr lang="ko-KR" altLang="en-US" kern="0" dirty="0" err="1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무중단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 시스템으로 구축 함</a:t>
            </a:r>
            <a:endParaRPr lang="en-US" altLang="ko-KR" kern="0" dirty="0">
              <a:ln w="0">
                <a:solidFill>
                  <a:srgbClr val="0B4355">
                    <a:alpha val="5000"/>
                  </a:srgbClr>
                </a:solidFill>
              </a:ln>
              <a:solidFill>
                <a:schemeClr val="tx1"/>
              </a:solidFill>
              <a:cs typeface="Pretendard Medium" panose="02000603000000020004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CDDDA39A-98FE-43BF-83CC-303739298762}"/>
              </a:ext>
            </a:extLst>
          </p:cNvPr>
          <p:cNvSpPr/>
          <p:nvPr/>
        </p:nvSpPr>
        <p:spPr>
          <a:xfrm>
            <a:off x="370109" y="1381581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32" name="사각형: 둥근 모서리 22">
            <a:extLst>
              <a:ext uri="{FF2B5EF4-FFF2-40B4-BE49-F238E27FC236}">
                <a16:creationId xmlns:a16="http://schemas.microsoft.com/office/drawing/2014/main" id="{C7DCDFB2-14B6-4497-A783-D706452CC558}"/>
              </a:ext>
            </a:extLst>
          </p:cNvPr>
          <p:cNvSpPr/>
          <p:nvPr/>
        </p:nvSpPr>
        <p:spPr>
          <a:xfrm>
            <a:off x="662440" y="1884239"/>
            <a:ext cx="2720038" cy="1497823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3" name="AutoShape 39">
            <a:extLst>
              <a:ext uri="{FF2B5EF4-FFF2-40B4-BE49-F238E27FC236}">
                <a16:creationId xmlns:a16="http://schemas.microsoft.com/office/drawing/2014/main" id="{D405EE76-9760-40AF-907C-29887727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98" y="2299863"/>
            <a:ext cx="72866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WEB/</a:t>
            </a:r>
          </a:p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WAS</a:t>
            </a:r>
            <a:endParaRPr kumimoji="1" lang="ko-KR" altLang="en-US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5" name="AutoShape 39">
            <a:extLst>
              <a:ext uri="{FF2B5EF4-FFF2-40B4-BE49-F238E27FC236}">
                <a16:creationId xmlns:a16="http://schemas.microsoft.com/office/drawing/2014/main" id="{4CFDF208-88E3-4B22-8F0B-2FDAC3171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539" y="2305105"/>
            <a:ext cx="635922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DB</a:t>
            </a:r>
          </a:p>
        </p:txBody>
      </p:sp>
      <p:sp>
        <p:nvSpPr>
          <p:cNvPr id="36" name="AutoShape 39">
            <a:extLst>
              <a:ext uri="{FF2B5EF4-FFF2-40B4-BE49-F238E27FC236}">
                <a16:creationId xmlns:a16="http://schemas.microsoft.com/office/drawing/2014/main" id="{E5959BBF-F4F4-45CA-A22C-3F242B0D0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149" y="2295197"/>
            <a:ext cx="77147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Batch Module</a:t>
            </a:r>
          </a:p>
        </p:txBody>
      </p:sp>
      <p:sp>
        <p:nvSpPr>
          <p:cNvPr id="37" name="AutoShape 39">
            <a:extLst>
              <a:ext uri="{FF2B5EF4-FFF2-40B4-BE49-F238E27FC236}">
                <a16:creationId xmlns:a16="http://schemas.microsoft.com/office/drawing/2014/main" id="{1C88D945-8B0B-49E2-9AA7-93F2F94E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16" y="279210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API</a:t>
            </a:r>
          </a:p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Server</a:t>
            </a:r>
          </a:p>
        </p:txBody>
      </p:sp>
      <p:sp>
        <p:nvSpPr>
          <p:cNvPr id="38" name="사각형: 둥근 모서리 22">
            <a:extLst>
              <a:ext uri="{FF2B5EF4-FFF2-40B4-BE49-F238E27FC236}">
                <a16:creationId xmlns:a16="http://schemas.microsoft.com/office/drawing/2014/main" id="{F0A8A353-DB6A-4233-8539-250C18C1C5F9}"/>
              </a:ext>
            </a:extLst>
          </p:cNvPr>
          <p:cNvSpPr/>
          <p:nvPr/>
        </p:nvSpPr>
        <p:spPr>
          <a:xfrm>
            <a:off x="662440" y="4578997"/>
            <a:ext cx="2720038" cy="1533710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3C1C02B-49D4-4224-B5C1-98071522C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986" y="4871450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API</a:t>
            </a:r>
          </a:p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Server</a:t>
            </a:r>
          </a:p>
        </p:txBody>
      </p:sp>
      <p:sp>
        <p:nvSpPr>
          <p:cNvPr id="40" name="AutoShape 39">
            <a:extLst>
              <a:ext uri="{FF2B5EF4-FFF2-40B4-BE49-F238E27FC236}">
                <a16:creationId xmlns:a16="http://schemas.microsoft.com/office/drawing/2014/main" id="{6A0A702B-0D09-45AB-B9C6-53DB6F63D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90" y="548645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ko-KR" altLang="en-US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신성통상</a:t>
            </a:r>
            <a:endParaRPr kumimoji="1" lang="en-US" altLang="ko-KR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1" name="AutoShape 39">
            <a:extLst>
              <a:ext uri="{FF2B5EF4-FFF2-40B4-BE49-F238E27FC236}">
                <a16:creationId xmlns:a16="http://schemas.microsoft.com/office/drawing/2014/main" id="{EF610ADC-0AA9-4212-BA50-5C0781B78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938" y="548645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ko-KR" altLang="en-US" sz="1200" spc="-60" dirty="0" err="1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에이션패션</a:t>
            </a:r>
            <a:endParaRPr kumimoji="1" lang="en-US" altLang="ko-KR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DF93C5D-A070-4E3A-A7AC-E70371418308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1353163" y="5279868"/>
            <a:ext cx="669296" cy="206590"/>
          </a:xfrm>
          <a:prstGeom prst="straightConnector1">
            <a:avLst/>
          </a:prstGeom>
          <a:ln w="12700">
            <a:solidFill>
              <a:srgbClr val="A1A0A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0819437-8644-4C8C-BA18-608764CE2D0E}"/>
              </a:ext>
            </a:extLst>
          </p:cNvPr>
          <p:cNvCxnSpPr>
            <a:cxnSpLocks/>
            <a:stCxn id="41" idx="0"/>
            <a:endCxn id="39" idx="2"/>
          </p:cNvCxnSpPr>
          <p:nvPr/>
        </p:nvCxnSpPr>
        <p:spPr>
          <a:xfrm flipH="1" flipV="1">
            <a:off x="2022459" y="5279867"/>
            <a:ext cx="647952" cy="206591"/>
          </a:xfrm>
          <a:prstGeom prst="straightConnector1">
            <a:avLst/>
          </a:prstGeom>
          <a:ln w="12700">
            <a:solidFill>
              <a:srgbClr val="A1A0A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22">
            <a:extLst>
              <a:ext uri="{FF2B5EF4-FFF2-40B4-BE49-F238E27FC236}">
                <a16:creationId xmlns:a16="http://schemas.microsoft.com/office/drawing/2014/main" id="{1C337BAE-5713-48E2-9C2F-00C7EABD94D3}"/>
              </a:ext>
            </a:extLst>
          </p:cNvPr>
          <p:cNvSpPr/>
          <p:nvPr/>
        </p:nvSpPr>
        <p:spPr>
          <a:xfrm>
            <a:off x="4608565" y="1884240"/>
            <a:ext cx="1418915" cy="1497822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사각형: 둥근 모서리 22">
            <a:extLst>
              <a:ext uri="{FF2B5EF4-FFF2-40B4-BE49-F238E27FC236}">
                <a16:creationId xmlns:a16="http://schemas.microsoft.com/office/drawing/2014/main" id="{379D739A-A440-4E13-AE0A-FBCEB2924103}"/>
              </a:ext>
            </a:extLst>
          </p:cNvPr>
          <p:cNvSpPr/>
          <p:nvPr/>
        </p:nvSpPr>
        <p:spPr>
          <a:xfrm>
            <a:off x="4608565" y="4614885"/>
            <a:ext cx="1418915" cy="1497822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pic>
        <p:nvPicPr>
          <p:cNvPr id="46" name="Picture 2" descr="한국결제네트웍스">
            <a:extLst>
              <a:ext uri="{FF2B5EF4-FFF2-40B4-BE49-F238E27FC236}">
                <a16:creationId xmlns:a16="http://schemas.microsoft.com/office/drawing/2014/main" id="{D9CE414E-FD87-4D5E-A820-4D89A7F1C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82124" y="5019835"/>
            <a:ext cx="671796" cy="4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BC4F8DBB-7510-4C2A-AFD8-62A9EA1906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94424" y="5747170"/>
            <a:ext cx="847196" cy="15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AutoShape 39">
            <a:extLst>
              <a:ext uri="{FF2B5EF4-FFF2-40B4-BE49-F238E27FC236}">
                <a16:creationId xmlns:a16="http://schemas.microsoft.com/office/drawing/2014/main" id="{E72FFF96-FE2E-4DC0-AE87-A5EF9A78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302" y="2228140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POS/</a:t>
            </a:r>
            <a:r>
              <a:rPr kumimoji="1" lang="ko-KR" altLang="en-US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키오스크</a:t>
            </a:r>
          </a:p>
        </p:txBody>
      </p:sp>
      <p:sp>
        <p:nvSpPr>
          <p:cNvPr id="49" name="AutoShape 39">
            <a:extLst>
              <a:ext uri="{FF2B5EF4-FFF2-40B4-BE49-F238E27FC236}">
                <a16:creationId xmlns:a16="http://schemas.microsoft.com/office/drawing/2014/main" id="{7B013D76-311B-4298-8ECB-C5E490DC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51" y="2274212"/>
            <a:ext cx="633689" cy="1633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기준정보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E815AB2D-B9DD-4F0D-B500-7DAF8BAC0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51" y="2843515"/>
            <a:ext cx="633689" cy="1633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매출정보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1" name="꺾인 연결선 326">
            <a:extLst>
              <a:ext uri="{FF2B5EF4-FFF2-40B4-BE49-F238E27FC236}">
                <a16:creationId xmlns:a16="http://schemas.microsoft.com/office/drawing/2014/main" id="{684CF345-2DFA-4F99-AC7B-5D78E13D7121}"/>
              </a:ext>
            </a:extLst>
          </p:cNvPr>
          <p:cNvCxnSpPr>
            <a:cxnSpLocks/>
            <a:stCxn id="60" idx="0"/>
            <a:endCxn id="72" idx="3"/>
          </p:cNvCxnSpPr>
          <p:nvPr/>
        </p:nvCxnSpPr>
        <p:spPr>
          <a:xfrm flipH="1" flipV="1">
            <a:off x="5316263" y="3165880"/>
            <a:ext cx="1760" cy="1289333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326">
            <a:extLst>
              <a:ext uri="{FF2B5EF4-FFF2-40B4-BE49-F238E27FC236}">
                <a16:creationId xmlns:a16="http://schemas.microsoft.com/office/drawing/2014/main" id="{2E1A840F-B6C7-46AD-B533-885EDBDA729C}"/>
              </a:ext>
            </a:extLst>
          </p:cNvPr>
          <p:cNvCxnSpPr>
            <a:cxnSpLocks/>
          </p:cNvCxnSpPr>
          <p:nvPr/>
        </p:nvCxnSpPr>
        <p:spPr>
          <a:xfrm flipH="1" flipV="1">
            <a:off x="2151938" y="3204920"/>
            <a:ext cx="2" cy="1684627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utoShape 39">
            <a:extLst>
              <a:ext uri="{FF2B5EF4-FFF2-40B4-BE49-F238E27FC236}">
                <a16:creationId xmlns:a16="http://schemas.microsoft.com/office/drawing/2014/main" id="{D9A27BC3-F058-4CB1-BC92-2E3AFEB6D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008" y="3451108"/>
            <a:ext cx="633689" cy="163367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매출정보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5" name="AutoShape 39">
            <a:extLst>
              <a:ext uri="{FF2B5EF4-FFF2-40B4-BE49-F238E27FC236}">
                <a16:creationId xmlns:a16="http://schemas.microsoft.com/office/drawing/2014/main" id="{83CEFC9E-D2D9-4DB9-85CC-A9282D57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189" y="4055264"/>
            <a:ext cx="633689" cy="163367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기준정보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6" name="꺾인 연결선 326">
            <a:extLst>
              <a:ext uri="{FF2B5EF4-FFF2-40B4-BE49-F238E27FC236}">
                <a16:creationId xmlns:a16="http://schemas.microsoft.com/office/drawing/2014/main" id="{F2F152CE-8BF0-4993-A401-D4DA201AAD6C}"/>
              </a:ext>
            </a:extLst>
          </p:cNvPr>
          <p:cNvCxnSpPr>
            <a:cxnSpLocks/>
          </p:cNvCxnSpPr>
          <p:nvPr/>
        </p:nvCxnSpPr>
        <p:spPr>
          <a:xfrm>
            <a:off x="3386529" y="2745121"/>
            <a:ext cx="1222036" cy="0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5">
            <a:extLst>
              <a:ext uri="{FF2B5EF4-FFF2-40B4-BE49-F238E27FC236}">
                <a16:creationId xmlns:a16="http://schemas.microsoft.com/office/drawing/2014/main" id="{E27D1E36-D387-43EB-B2E2-8ABC159CB339}"/>
              </a:ext>
            </a:extLst>
          </p:cNvPr>
          <p:cNvSpPr/>
          <p:nvPr/>
        </p:nvSpPr>
        <p:spPr>
          <a:xfrm>
            <a:off x="1313001" y="1755342"/>
            <a:ext cx="1357408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클라우드 인프라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9" name="모서리가 둥근 직사각형 12">
            <a:extLst>
              <a:ext uri="{FF2B5EF4-FFF2-40B4-BE49-F238E27FC236}">
                <a16:creationId xmlns:a16="http://schemas.microsoft.com/office/drawing/2014/main" id="{4349F6D1-F65B-4623-A3A3-3D0184E885D9}"/>
              </a:ext>
            </a:extLst>
          </p:cNvPr>
          <p:cNvSpPr/>
          <p:nvPr/>
        </p:nvSpPr>
        <p:spPr>
          <a:xfrm>
            <a:off x="4852912" y="1739915"/>
            <a:ext cx="930221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매장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0" name="모서리가 둥근 직사각형 17">
            <a:extLst>
              <a:ext uri="{FF2B5EF4-FFF2-40B4-BE49-F238E27FC236}">
                <a16:creationId xmlns:a16="http://schemas.microsoft.com/office/drawing/2014/main" id="{481CC520-AA1A-4EB2-82C7-5B90A0A47B19}"/>
              </a:ext>
            </a:extLst>
          </p:cNvPr>
          <p:cNvSpPr/>
          <p:nvPr/>
        </p:nvSpPr>
        <p:spPr>
          <a:xfrm>
            <a:off x="4852912" y="4455213"/>
            <a:ext cx="930221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6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VAN </a:t>
            </a:r>
            <a:r>
              <a:rPr lang="ko-KR" altLang="en-US" sz="1200" spc="-6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모듈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FE97B2-386C-40F4-B03C-8E3E5CFED727}"/>
              </a:ext>
            </a:extLst>
          </p:cNvPr>
          <p:cNvSpPr txBox="1"/>
          <p:nvPr/>
        </p:nvSpPr>
        <p:spPr>
          <a:xfrm>
            <a:off x="7666686" y="1788626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POS/</a:t>
            </a:r>
            <a:r>
              <a:rPr lang="ko-KR" altLang="en-US" dirty="0">
                <a:latin typeface="+mn-ea"/>
                <a:ea typeface="+mn-ea"/>
              </a:rPr>
              <a:t>키오스크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판매 처리 가능</a:t>
            </a:r>
            <a:endParaRPr lang="en-US" altLang="ko-KR" dirty="0">
              <a:latin typeface="+mn-ea"/>
              <a:ea typeface="+mn-ea"/>
            </a:endParaRP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장애 복구 후 기준정보 및 매출정보는 재 연계 처리</a:t>
            </a: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판매를 위한 필수 정보에 한하여 영업관리 </a:t>
            </a:r>
            <a:r>
              <a:rPr lang="en-US" altLang="ko-KR" dirty="0">
                <a:latin typeface="+mn-ea"/>
                <a:ea typeface="+mn-ea"/>
              </a:rPr>
              <a:t>API</a:t>
            </a:r>
            <a:r>
              <a:rPr lang="ko-KR" altLang="en-US" dirty="0">
                <a:latin typeface="+mn-ea"/>
                <a:ea typeface="+mn-ea"/>
              </a:rPr>
              <a:t>를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이용하여 연동 처리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764595-E358-4473-A0E8-B1E78F4740E0}"/>
              </a:ext>
            </a:extLst>
          </p:cNvPr>
          <p:cNvSpPr/>
          <p:nvPr/>
        </p:nvSpPr>
        <p:spPr>
          <a:xfrm>
            <a:off x="6314414" y="1787819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클라우드</a:t>
            </a:r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인프라</a:t>
            </a:r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장애 발생</a:t>
            </a:r>
          </a:p>
        </p:txBody>
      </p:sp>
      <p:sp>
        <p:nvSpPr>
          <p:cNvPr id="63" name="모서리가 둥근 직사각형 36">
            <a:extLst>
              <a:ext uri="{FF2B5EF4-FFF2-40B4-BE49-F238E27FC236}">
                <a16:creationId xmlns:a16="http://schemas.microsoft.com/office/drawing/2014/main" id="{C6463010-D5C3-4FAA-B66C-D126C6CBE8CF}"/>
              </a:ext>
            </a:extLst>
          </p:cNvPr>
          <p:cNvSpPr/>
          <p:nvPr/>
        </p:nvSpPr>
        <p:spPr>
          <a:xfrm>
            <a:off x="6480731" y="1904934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Case1</a:t>
            </a:r>
            <a:endParaRPr kumimoji="1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260E2E-78FA-40C4-B1C8-4B355DFE4E66}"/>
              </a:ext>
            </a:extLst>
          </p:cNvPr>
          <p:cNvSpPr txBox="1"/>
          <p:nvPr/>
        </p:nvSpPr>
        <p:spPr>
          <a:xfrm>
            <a:off x="7666686" y="3375596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POS/</a:t>
            </a:r>
            <a:r>
              <a:rPr lang="ko-KR" altLang="en-US" dirty="0">
                <a:latin typeface="+mn-ea"/>
                <a:ea typeface="+mn-ea"/>
              </a:rPr>
              <a:t>키오스크 판매 처리 가능</a:t>
            </a:r>
            <a:endParaRPr lang="en-US" altLang="ko-KR" dirty="0">
              <a:latin typeface="+mn-ea"/>
              <a:ea typeface="+mn-ea"/>
            </a:endParaRP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장애 복구 후 기준정보 및 매출정보는 재 연계 처리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50ACBE3-AB48-4479-B119-EB57BB28CBE1}"/>
              </a:ext>
            </a:extLst>
          </p:cNvPr>
          <p:cNvSpPr/>
          <p:nvPr/>
        </p:nvSpPr>
        <p:spPr>
          <a:xfrm>
            <a:off x="6314414" y="3374789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영업관리시스템 장애 발생</a:t>
            </a:r>
          </a:p>
        </p:txBody>
      </p:sp>
      <p:sp>
        <p:nvSpPr>
          <p:cNvPr id="66" name="모서리가 둥근 직사각형 20">
            <a:extLst>
              <a:ext uri="{FF2B5EF4-FFF2-40B4-BE49-F238E27FC236}">
                <a16:creationId xmlns:a16="http://schemas.microsoft.com/office/drawing/2014/main" id="{2F4DAC86-2AF8-4E82-8375-0B03CCF65A4A}"/>
              </a:ext>
            </a:extLst>
          </p:cNvPr>
          <p:cNvSpPr/>
          <p:nvPr/>
        </p:nvSpPr>
        <p:spPr>
          <a:xfrm>
            <a:off x="6480731" y="3491904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Case2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Pretendard Medium" panose="02000603000000020004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7F770-970A-4707-A509-09F5E98CDF2D}"/>
              </a:ext>
            </a:extLst>
          </p:cNvPr>
          <p:cNvSpPr txBox="1"/>
          <p:nvPr/>
        </p:nvSpPr>
        <p:spPr>
          <a:xfrm>
            <a:off x="7666686" y="4962565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LTE </a:t>
            </a:r>
            <a:r>
              <a:rPr lang="ko-KR" altLang="en-US" dirty="0">
                <a:latin typeface="+mn-ea"/>
                <a:ea typeface="+mn-ea"/>
              </a:rPr>
              <a:t>모뎀 또는 </a:t>
            </a:r>
            <a:r>
              <a:rPr lang="en-US" altLang="ko-KR" dirty="0">
                <a:latin typeface="+mn-ea"/>
                <a:ea typeface="+mn-ea"/>
              </a:rPr>
              <a:t>LTE CAT </a:t>
            </a:r>
            <a:r>
              <a:rPr lang="ko-KR" altLang="en-US" dirty="0">
                <a:latin typeface="+mn-ea"/>
                <a:ea typeface="+mn-ea"/>
              </a:rPr>
              <a:t>단말기를 활용하여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LTE </a:t>
            </a:r>
            <a:r>
              <a:rPr lang="ko-KR" altLang="en-US" dirty="0">
                <a:latin typeface="+mn-ea"/>
                <a:ea typeface="+mn-ea"/>
              </a:rPr>
              <a:t>망을 통해 결제 처리가 가능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A7EBCD-F492-41C7-9FCB-10CEEDDE728D}"/>
              </a:ext>
            </a:extLst>
          </p:cNvPr>
          <p:cNvSpPr/>
          <p:nvPr/>
        </p:nvSpPr>
        <p:spPr>
          <a:xfrm>
            <a:off x="6314414" y="4961758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4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매장</a:t>
            </a:r>
            <a:r>
              <a:rPr lang="en-US" altLang="ko-KR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 </a:t>
            </a:r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네트워크 장애 발생</a:t>
            </a:r>
          </a:p>
        </p:txBody>
      </p:sp>
      <p:sp>
        <p:nvSpPr>
          <p:cNvPr id="69" name="모서리가 둥근 직사각형 35">
            <a:extLst>
              <a:ext uri="{FF2B5EF4-FFF2-40B4-BE49-F238E27FC236}">
                <a16:creationId xmlns:a16="http://schemas.microsoft.com/office/drawing/2014/main" id="{41392BE3-0346-47E8-94B6-673D2E66B10C}"/>
              </a:ext>
            </a:extLst>
          </p:cNvPr>
          <p:cNvSpPr/>
          <p:nvPr/>
        </p:nvSpPr>
        <p:spPr>
          <a:xfrm>
            <a:off x="6480731" y="5078873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Case3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Pretendard Medium" panose="02000603000000020004" pitchFamily="2" charset="-127"/>
            </a:endParaRPr>
          </a:p>
        </p:txBody>
      </p:sp>
      <p:cxnSp>
        <p:nvCxnSpPr>
          <p:cNvPr id="70" name="꺾인 연결선 326">
            <a:extLst>
              <a:ext uri="{FF2B5EF4-FFF2-40B4-BE49-F238E27FC236}">
                <a16:creationId xmlns:a16="http://schemas.microsoft.com/office/drawing/2014/main" id="{98652B84-E234-4972-AC40-CDD7A4C832FA}"/>
              </a:ext>
            </a:extLst>
          </p:cNvPr>
          <p:cNvCxnSpPr>
            <a:cxnSpLocks/>
          </p:cNvCxnSpPr>
          <p:nvPr/>
        </p:nvCxnSpPr>
        <p:spPr>
          <a:xfrm flipH="1">
            <a:off x="3422617" y="2536214"/>
            <a:ext cx="1194320" cy="0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326">
            <a:extLst>
              <a:ext uri="{FF2B5EF4-FFF2-40B4-BE49-F238E27FC236}">
                <a16:creationId xmlns:a16="http://schemas.microsoft.com/office/drawing/2014/main" id="{1E487C2C-41C0-4812-AA97-F3628DE58B0D}"/>
              </a:ext>
            </a:extLst>
          </p:cNvPr>
          <p:cNvCxnSpPr>
            <a:cxnSpLocks/>
          </p:cNvCxnSpPr>
          <p:nvPr/>
        </p:nvCxnSpPr>
        <p:spPr>
          <a:xfrm>
            <a:off x="1826362" y="3224009"/>
            <a:ext cx="0" cy="1655605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순서도: 자기 디스크 71">
            <a:extLst>
              <a:ext uri="{FF2B5EF4-FFF2-40B4-BE49-F238E27FC236}">
                <a16:creationId xmlns:a16="http://schemas.microsoft.com/office/drawing/2014/main" id="{5BC6DD76-B7C6-456F-B1D1-F008AE36F5E4}"/>
              </a:ext>
            </a:extLst>
          </p:cNvPr>
          <p:cNvSpPr/>
          <p:nvPr/>
        </p:nvSpPr>
        <p:spPr bwMode="auto">
          <a:xfrm>
            <a:off x="4968036" y="2796050"/>
            <a:ext cx="696453" cy="369830"/>
          </a:xfrm>
          <a:prstGeom prst="flowChartMagneticDisk">
            <a:avLst/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72000" rIns="36000" bIns="34412" anchor="ctr" anchorCtr="0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lang="ko-KR" altLang="en-US" sz="1200" spc="-60" dirty="0">
                <a:solidFill>
                  <a:srgbClr val="000000"/>
                </a:solidFill>
                <a:effectLst/>
                <a:latin typeface="+mn-ea"/>
                <a:cs typeface="Pretendard" panose="02000503000000020004" pitchFamily="50" charset="-127"/>
              </a:rPr>
              <a:t>로컬 </a:t>
            </a:r>
            <a:r>
              <a:rPr lang="en-US" altLang="ko-KR" sz="1200" spc="-60" dirty="0">
                <a:solidFill>
                  <a:srgbClr val="000000"/>
                </a:solidFill>
                <a:effectLst/>
                <a:latin typeface="+mn-ea"/>
                <a:cs typeface="Pretendard" panose="02000503000000020004" pitchFamily="50" charset="-127"/>
              </a:rPr>
              <a:t>DB</a:t>
            </a:r>
          </a:p>
        </p:txBody>
      </p: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259E8478-D8BD-4ED0-A724-B31C89A31BE8}"/>
              </a:ext>
            </a:extLst>
          </p:cNvPr>
          <p:cNvCxnSpPr>
            <a:cxnSpLocks/>
            <a:stCxn id="72" idx="2"/>
            <a:endCxn id="39" idx="3"/>
          </p:cNvCxnSpPr>
          <p:nvPr/>
        </p:nvCxnSpPr>
        <p:spPr>
          <a:xfrm rot="10800000" flipV="1">
            <a:off x="2540932" y="2980965"/>
            <a:ext cx="2427105" cy="2094694"/>
          </a:xfrm>
          <a:prstGeom prst="curvedConnector3">
            <a:avLst>
              <a:gd name="adj1" fmla="val 50000"/>
            </a:avLst>
          </a:prstGeom>
          <a:ln w="19050"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곱하기 기호 73">
            <a:extLst>
              <a:ext uri="{FF2B5EF4-FFF2-40B4-BE49-F238E27FC236}">
                <a16:creationId xmlns:a16="http://schemas.microsoft.com/office/drawing/2014/main" id="{1C83A432-C606-48D4-B044-0501FCEF9E25}"/>
              </a:ext>
            </a:extLst>
          </p:cNvPr>
          <p:cNvSpPr/>
          <p:nvPr/>
        </p:nvSpPr>
        <p:spPr>
          <a:xfrm>
            <a:off x="1411420" y="2315595"/>
            <a:ext cx="1152161" cy="816835"/>
          </a:xfrm>
          <a:prstGeom prst="mathMultiply">
            <a:avLst>
              <a:gd name="adj1" fmla="val 8953"/>
            </a:avLst>
          </a:prstGeom>
          <a:solidFill>
            <a:srgbClr val="E63732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5" name="Oval 64">
            <a:extLst>
              <a:ext uri="{FF2B5EF4-FFF2-40B4-BE49-F238E27FC236}">
                <a16:creationId xmlns:a16="http://schemas.microsoft.com/office/drawing/2014/main" id="{9A7C8960-032A-4FC4-AEF4-F94E25B89BDB}"/>
              </a:ext>
            </a:extLst>
          </p:cNvPr>
          <p:cNvSpPr>
            <a:spLocks noChangeArrowheads="1"/>
          </p:cNvSpPr>
          <p:nvPr/>
        </p:nvSpPr>
        <p:spPr bwMode="gray">
          <a:xfrm rot="10800000" flipV="1">
            <a:off x="1123481" y="1557709"/>
            <a:ext cx="322094" cy="324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rPr>
              <a:t>1</a:t>
            </a:r>
            <a:endParaRPr lang="en-GB" altLang="ko-KR" sz="1400" b="1" spc="-70" dirty="0">
              <a:solidFill>
                <a:schemeClr val="bg1"/>
              </a:solidFill>
              <a:latin typeface="+mn-ea"/>
              <a:cs typeface="Pretendard Medium" panose="02000603000000020004" pitchFamily="50" charset="-127"/>
            </a:endParaRPr>
          </a:p>
        </p:txBody>
      </p:sp>
      <p:sp>
        <p:nvSpPr>
          <p:cNvPr id="76" name="말풍선: 모서리가 둥근 사각형 75">
            <a:extLst>
              <a:ext uri="{FF2B5EF4-FFF2-40B4-BE49-F238E27FC236}">
                <a16:creationId xmlns:a16="http://schemas.microsoft.com/office/drawing/2014/main" id="{CA12DF5D-DDC6-40A2-84D7-34E042AC2B84}"/>
              </a:ext>
            </a:extLst>
          </p:cNvPr>
          <p:cNvSpPr/>
          <p:nvPr/>
        </p:nvSpPr>
        <p:spPr>
          <a:xfrm>
            <a:off x="2451193" y="3651313"/>
            <a:ext cx="2458622" cy="730636"/>
          </a:xfrm>
          <a:prstGeom prst="wedgeRoundRectCallout">
            <a:avLst>
              <a:gd name="adj1" fmla="val -9474"/>
              <a:gd name="adj2" fmla="val 69014"/>
              <a:gd name="adj3" fmla="val 16667"/>
            </a:avLst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[</a:t>
            </a:r>
            <a:r>
              <a:rPr lang="ko-KR" altLang="en-US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멤버십</a:t>
            </a:r>
            <a:r>
              <a:rPr lang="en-US" altLang="ko-KR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, </a:t>
            </a:r>
            <a:r>
              <a:rPr lang="ko-KR" altLang="en-US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가격</a:t>
            </a:r>
            <a:r>
              <a:rPr lang="en-US" altLang="ko-KR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] </a:t>
            </a:r>
            <a:r>
              <a:rPr lang="ko-KR" altLang="en-US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등 판매에 필요한 정보 限 </a:t>
            </a:r>
            <a:r>
              <a:rPr lang="en-US" altLang="ko-KR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API </a:t>
            </a:r>
            <a:r>
              <a:rPr lang="ko-KR" altLang="en-US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직접 접근을 통한 조회</a:t>
            </a:r>
          </a:p>
        </p:txBody>
      </p:sp>
      <p:sp>
        <p:nvSpPr>
          <p:cNvPr id="58" name="모서리가 둥근 직사각형 11">
            <a:extLst>
              <a:ext uri="{FF2B5EF4-FFF2-40B4-BE49-F238E27FC236}">
                <a16:creationId xmlns:a16="http://schemas.microsoft.com/office/drawing/2014/main" id="{0D5250F7-DF46-4CAF-AB24-33C0BB1BB4BE}"/>
              </a:ext>
            </a:extLst>
          </p:cNvPr>
          <p:cNvSpPr/>
          <p:nvPr/>
        </p:nvSpPr>
        <p:spPr>
          <a:xfrm>
            <a:off x="1313001" y="4432468"/>
            <a:ext cx="1357408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영업관리 시스템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84" name="AutoShape 39">
            <a:extLst>
              <a:ext uri="{FF2B5EF4-FFF2-40B4-BE49-F238E27FC236}">
                <a16:creationId xmlns:a16="http://schemas.microsoft.com/office/drawing/2014/main" id="{541AD4D9-292A-4238-8410-16EE6B7F5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997" y="3737170"/>
            <a:ext cx="742798" cy="257036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결제 연동</a:t>
            </a:r>
          </a:p>
          <a:p>
            <a:pPr algn="ctr" defTabSz="967980">
              <a:lnSpc>
                <a:spcPct val="90000"/>
              </a:lnSpc>
            </a:pPr>
            <a:r>
              <a:rPr lang="en-US" altLang="ko-KR" sz="1100" spc="-60" dirty="0">
                <a:latin typeface="+mn-ea"/>
                <a:cs typeface="Pretendard" panose="02000503000000020004" pitchFamily="2" charset="-127"/>
              </a:rPr>
              <a:t>(Ethernet)</a:t>
            </a:r>
          </a:p>
        </p:txBody>
      </p:sp>
      <p:pic>
        <p:nvPicPr>
          <p:cNvPr id="85" name="Picture 2" descr="클라우드 개념과 AWS 기본설정">
            <a:extLst>
              <a:ext uri="{FF2B5EF4-FFF2-40B4-BE49-F238E27FC236}">
                <a16:creationId xmlns:a16="http://schemas.microsoft.com/office/drawing/2014/main" id="{FD9B5370-55F8-48E2-86BF-D6E3DEE61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7090" y="1706567"/>
            <a:ext cx="562970" cy="28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529138-2EC9-8311-2C27-542CCBD310C6}"/>
              </a:ext>
            </a:extLst>
          </p:cNvPr>
          <p:cNvSpPr txBox="1"/>
          <p:nvPr/>
        </p:nvSpPr>
        <p:spPr>
          <a:xfrm>
            <a:off x="6292766" y="3368646"/>
            <a:ext cx="5203073" cy="111849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515B49-E435-929F-DF6C-001B92450461}"/>
              </a:ext>
            </a:extLst>
          </p:cNvPr>
          <p:cNvSpPr txBox="1"/>
          <p:nvPr/>
        </p:nvSpPr>
        <p:spPr>
          <a:xfrm>
            <a:off x="6292766" y="4962565"/>
            <a:ext cx="5203073" cy="111849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4231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 전략 </a:t>
            </a:r>
            <a:r>
              <a:rPr lang="en-US" altLang="ko-KR" dirty="0"/>
              <a:t>– </a:t>
            </a:r>
            <a:r>
              <a:rPr lang="ko-KR" altLang="en-US" dirty="0"/>
              <a:t>안정성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연계된 시스템 및 매장 네트워크 장애시에도 매장 </a:t>
            </a:r>
            <a:r>
              <a:rPr lang="en-US" altLang="ko-KR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POS/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키오스크 시스템의 판매 및 결제 기능이 정상적으로 유지 될 수 있는 </a:t>
            </a:r>
            <a:r>
              <a:rPr lang="ko-KR" altLang="en-US" kern="0" dirty="0" err="1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무중단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 시스템으로 구축 함</a:t>
            </a:r>
            <a:endParaRPr lang="en-US" altLang="ko-KR" kern="0" dirty="0">
              <a:ln w="0">
                <a:solidFill>
                  <a:srgbClr val="0B4355">
                    <a:alpha val="5000"/>
                  </a:srgbClr>
                </a:solidFill>
              </a:ln>
              <a:solidFill>
                <a:schemeClr val="tx1"/>
              </a:solidFill>
              <a:cs typeface="Pretendard Medium" panose="02000603000000020004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CDDDA39A-98FE-43BF-83CC-303739298762}"/>
              </a:ext>
            </a:extLst>
          </p:cNvPr>
          <p:cNvSpPr/>
          <p:nvPr/>
        </p:nvSpPr>
        <p:spPr>
          <a:xfrm>
            <a:off x="370109" y="1381581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32" name="사각형: 둥근 모서리 22">
            <a:extLst>
              <a:ext uri="{FF2B5EF4-FFF2-40B4-BE49-F238E27FC236}">
                <a16:creationId xmlns:a16="http://schemas.microsoft.com/office/drawing/2014/main" id="{C7DCDFB2-14B6-4497-A783-D706452CC558}"/>
              </a:ext>
            </a:extLst>
          </p:cNvPr>
          <p:cNvSpPr/>
          <p:nvPr/>
        </p:nvSpPr>
        <p:spPr>
          <a:xfrm>
            <a:off x="662440" y="1884239"/>
            <a:ext cx="2720038" cy="1497823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3" name="AutoShape 39">
            <a:extLst>
              <a:ext uri="{FF2B5EF4-FFF2-40B4-BE49-F238E27FC236}">
                <a16:creationId xmlns:a16="http://schemas.microsoft.com/office/drawing/2014/main" id="{D405EE76-9760-40AF-907C-29887727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98" y="2299863"/>
            <a:ext cx="72866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WEB/</a:t>
            </a:r>
          </a:p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WAS</a:t>
            </a:r>
            <a:endParaRPr kumimoji="1" lang="ko-KR" altLang="en-US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5" name="AutoShape 39">
            <a:extLst>
              <a:ext uri="{FF2B5EF4-FFF2-40B4-BE49-F238E27FC236}">
                <a16:creationId xmlns:a16="http://schemas.microsoft.com/office/drawing/2014/main" id="{4CFDF208-88E3-4B22-8F0B-2FDAC3171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539" y="2305105"/>
            <a:ext cx="635922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DB</a:t>
            </a:r>
          </a:p>
        </p:txBody>
      </p:sp>
      <p:sp>
        <p:nvSpPr>
          <p:cNvPr id="36" name="AutoShape 39">
            <a:extLst>
              <a:ext uri="{FF2B5EF4-FFF2-40B4-BE49-F238E27FC236}">
                <a16:creationId xmlns:a16="http://schemas.microsoft.com/office/drawing/2014/main" id="{E5959BBF-F4F4-45CA-A22C-3F242B0D0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149" y="2295197"/>
            <a:ext cx="77147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Batch Module</a:t>
            </a:r>
          </a:p>
        </p:txBody>
      </p:sp>
      <p:sp>
        <p:nvSpPr>
          <p:cNvPr id="37" name="AutoShape 39">
            <a:extLst>
              <a:ext uri="{FF2B5EF4-FFF2-40B4-BE49-F238E27FC236}">
                <a16:creationId xmlns:a16="http://schemas.microsoft.com/office/drawing/2014/main" id="{1C88D945-8B0B-49E2-9AA7-93F2F94E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16" y="279210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API</a:t>
            </a:r>
          </a:p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Server</a:t>
            </a:r>
          </a:p>
        </p:txBody>
      </p:sp>
      <p:sp>
        <p:nvSpPr>
          <p:cNvPr id="38" name="사각형: 둥근 모서리 22">
            <a:extLst>
              <a:ext uri="{FF2B5EF4-FFF2-40B4-BE49-F238E27FC236}">
                <a16:creationId xmlns:a16="http://schemas.microsoft.com/office/drawing/2014/main" id="{F0A8A353-DB6A-4233-8539-250C18C1C5F9}"/>
              </a:ext>
            </a:extLst>
          </p:cNvPr>
          <p:cNvSpPr/>
          <p:nvPr/>
        </p:nvSpPr>
        <p:spPr>
          <a:xfrm>
            <a:off x="662440" y="4578997"/>
            <a:ext cx="2720038" cy="1533710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3C1C02B-49D4-4224-B5C1-98071522C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986" y="4871450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API</a:t>
            </a:r>
          </a:p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Server</a:t>
            </a:r>
          </a:p>
        </p:txBody>
      </p:sp>
      <p:sp>
        <p:nvSpPr>
          <p:cNvPr id="40" name="AutoShape 39">
            <a:extLst>
              <a:ext uri="{FF2B5EF4-FFF2-40B4-BE49-F238E27FC236}">
                <a16:creationId xmlns:a16="http://schemas.microsoft.com/office/drawing/2014/main" id="{6A0A702B-0D09-45AB-B9C6-53DB6F63D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90" y="548645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ko-KR" altLang="en-US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신성통상</a:t>
            </a:r>
            <a:endParaRPr kumimoji="1" lang="en-US" altLang="ko-KR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1" name="AutoShape 39">
            <a:extLst>
              <a:ext uri="{FF2B5EF4-FFF2-40B4-BE49-F238E27FC236}">
                <a16:creationId xmlns:a16="http://schemas.microsoft.com/office/drawing/2014/main" id="{EF610ADC-0AA9-4212-BA50-5C0781B78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938" y="548645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ko-KR" altLang="en-US" sz="1200" spc="-60" dirty="0" err="1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에이션패션</a:t>
            </a:r>
            <a:endParaRPr kumimoji="1" lang="en-US" altLang="ko-KR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DF93C5D-A070-4E3A-A7AC-E70371418308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1353163" y="5279868"/>
            <a:ext cx="669296" cy="206590"/>
          </a:xfrm>
          <a:prstGeom prst="straightConnector1">
            <a:avLst/>
          </a:prstGeom>
          <a:ln w="12700">
            <a:solidFill>
              <a:srgbClr val="A1A0A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0819437-8644-4C8C-BA18-608764CE2D0E}"/>
              </a:ext>
            </a:extLst>
          </p:cNvPr>
          <p:cNvCxnSpPr>
            <a:cxnSpLocks/>
            <a:stCxn id="41" idx="0"/>
            <a:endCxn id="39" idx="2"/>
          </p:cNvCxnSpPr>
          <p:nvPr/>
        </p:nvCxnSpPr>
        <p:spPr>
          <a:xfrm flipH="1" flipV="1">
            <a:off x="2022459" y="5279867"/>
            <a:ext cx="647952" cy="206591"/>
          </a:xfrm>
          <a:prstGeom prst="straightConnector1">
            <a:avLst/>
          </a:prstGeom>
          <a:ln w="12700">
            <a:solidFill>
              <a:srgbClr val="A1A0A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22">
            <a:extLst>
              <a:ext uri="{FF2B5EF4-FFF2-40B4-BE49-F238E27FC236}">
                <a16:creationId xmlns:a16="http://schemas.microsoft.com/office/drawing/2014/main" id="{1C337BAE-5713-48E2-9C2F-00C7EABD94D3}"/>
              </a:ext>
            </a:extLst>
          </p:cNvPr>
          <p:cNvSpPr/>
          <p:nvPr/>
        </p:nvSpPr>
        <p:spPr>
          <a:xfrm>
            <a:off x="4608565" y="1884240"/>
            <a:ext cx="1418915" cy="1497822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사각형: 둥근 모서리 22">
            <a:extLst>
              <a:ext uri="{FF2B5EF4-FFF2-40B4-BE49-F238E27FC236}">
                <a16:creationId xmlns:a16="http://schemas.microsoft.com/office/drawing/2014/main" id="{379D739A-A440-4E13-AE0A-FBCEB2924103}"/>
              </a:ext>
            </a:extLst>
          </p:cNvPr>
          <p:cNvSpPr/>
          <p:nvPr/>
        </p:nvSpPr>
        <p:spPr>
          <a:xfrm>
            <a:off x="4608565" y="4614885"/>
            <a:ext cx="1418915" cy="1497822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pic>
        <p:nvPicPr>
          <p:cNvPr id="46" name="Picture 2" descr="한국결제네트웍스">
            <a:extLst>
              <a:ext uri="{FF2B5EF4-FFF2-40B4-BE49-F238E27FC236}">
                <a16:creationId xmlns:a16="http://schemas.microsoft.com/office/drawing/2014/main" id="{D9CE414E-FD87-4D5E-A820-4D89A7F1C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82124" y="5019835"/>
            <a:ext cx="671796" cy="4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BC4F8DBB-7510-4C2A-AFD8-62A9EA1906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94424" y="5747170"/>
            <a:ext cx="847196" cy="15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AutoShape 39">
            <a:extLst>
              <a:ext uri="{FF2B5EF4-FFF2-40B4-BE49-F238E27FC236}">
                <a16:creationId xmlns:a16="http://schemas.microsoft.com/office/drawing/2014/main" id="{E72FFF96-FE2E-4DC0-AE87-A5EF9A78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302" y="2228140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POS/</a:t>
            </a:r>
            <a:r>
              <a:rPr kumimoji="1" lang="ko-KR" altLang="en-US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키오스크</a:t>
            </a:r>
          </a:p>
        </p:txBody>
      </p:sp>
      <p:sp>
        <p:nvSpPr>
          <p:cNvPr id="49" name="AutoShape 39">
            <a:extLst>
              <a:ext uri="{FF2B5EF4-FFF2-40B4-BE49-F238E27FC236}">
                <a16:creationId xmlns:a16="http://schemas.microsoft.com/office/drawing/2014/main" id="{7B013D76-311B-4298-8ECB-C5E490DC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51" y="2274212"/>
            <a:ext cx="633689" cy="1633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기준정보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E815AB2D-B9DD-4F0D-B500-7DAF8BAC0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51" y="2843515"/>
            <a:ext cx="633689" cy="1633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매출정보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1" name="꺾인 연결선 326">
            <a:extLst>
              <a:ext uri="{FF2B5EF4-FFF2-40B4-BE49-F238E27FC236}">
                <a16:creationId xmlns:a16="http://schemas.microsoft.com/office/drawing/2014/main" id="{684CF345-2DFA-4F99-AC7B-5D78E13D7121}"/>
              </a:ext>
            </a:extLst>
          </p:cNvPr>
          <p:cNvCxnSpPr>
            <a:cxnSpLocks/>
            <a:stCxn id="60" idx="0"/>
            <a:endCxn id="72" idx="3"/>
          </p:cNvCxnSpPr>
          <p:nvPr/>
        </p:nvCxnSpPr>
        <p:spPr>
          <a:xfrm flipH="1" flipV="1">
            <a:off x="5316263" y="3165880"/>
            <a:ext cx="1760" cy="1289333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326">
            <a:extLst>
              <a:ext uri="{FF2B5EF4-FFF2-40B4-BE49-F238E27FC236}">
                <a16:creationId xmlns:a16="http://schemas.microsoft.com/office/drawing/2014/main" id="{2E1A840F-B6C7-46AD-B533-885EDBDA729C}"/>
              </a:ext>
            </a:extLst>
          </p:cNvPr>
          <p:cNvCxnSpPr>
            <a:cxnSpLocks/>
          </p:cNvCxnSpPr>
          <p:nvPr/>
        </p:nvCxnSpPr>
        <p:spPr>
          <a:xfrm flipH="1" flipV="1">
            <a:off x="2151938" y="3204920"/>
            <a:ext cx="2" cy="1684627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utoShape 39">
            <a:extLst>
              <a:ext uri="{FF2B5EF4-FFF2-40B4-BE49-F238E27FC236}">
                <a16:creationId xmlns:a16="http://schemas.microsoft.com/office/drawing/2014/main" id="{D9A27BC3-F058-4CB1-BC92-2E3AFEB6D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008" y="3451108"/>
            <a:ext cx="633689" cy="163367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매출정보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5" name="AutoShape 39">
            <a:extLst>
              <a:ext uri="{FF2B5EF4-FFF2-40B4-BE49-F238E27FC236}">
                <a16:creationId xmlns:a16="http://schemas.microsoft.com/office/drawing/2014/main" id="{83CEFC9E-D2D9-4DB9-85CC-A9282D57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189" y="4055264"/>
            <a:ext cx="633689" cy="163367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기준정보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6" name="꺾인 연결선 326">
            <a:extLst>
              <a:ext uri="{FF2B5EF4-FFF2-40B4-BE49-F238E27FC236}">
                <a16:creationId xmlns:a16="http://schemas.microsoft.com/office/drawing/2014/main" id="{F2F152CE-8BF0-4993-A401-D4DA201AAD6C}"/>
              </a:ext>
            </a:extLst>
          </p:cNvPr>
          <p:cNvCxnSpPr>
            <a:cxnSpLocks/>
          </p:cNvCxnSpPr>
          <p:nvPr/>
        </p:nvCxnSpPr>
        <p:spPr>
          <a:xfrm>
            <a:off x="3386529" y="2745121"/>
            <a:ext cx="1222036" cy="0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5">
            <a:extLst>
              <a:ext uri="{FF2B5EF4-FFF2-40B4-BE49-F238E27FC236}">
                <a16:creationId xmlns:a16="http://schemas.microsoft.com/office/drawing/2014/main" id="{E27D1E36-D387-43EB-B2E2-8ABC159CB339}"/>
              </a:ext>
            </a:extLst>
          </p:cNvPr>
          <p:cNvSpPr/>
          <p:nvPr/>
        </p:nvSpPr>
        <p:spPr>
          <a:xfrm>
            <a:off x="1313001" y="1755342"/>
            <a:ext cx="1357408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클라우드 인프라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9" name="모서리가 둥근 직사각형 12">
            <a:extLst>
              <a:ext uri="{FF2B5EF4-FFF2-40B4-BE49-F238E27FC236}">
                <a16:creationId xmlns:a16="http://schemas.microsoft.com/office/drawing/2014/main" id="{4349F6D1-F65B-4623-A3A3-3D0184E885D9}"/>
              </a:ext>
            </a:extLst>
          </p:cNvPr>
          <p:cNvSpPr/>
          <p:nvPr/>
        </p:nvSpPr>
        <p:spPr>
          <a:xfrm>
            <a:off x="4852912" y="1739915"/>
            <a:ext cx="930221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매장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0" name="모서리가 둥근 직사각형 17">
            <a:extLst>
              <a:ext uri="{FF2B5EF4-FFF2-40B4-BE49-F238E27FC236}">
                <a16:creationId xmlns:a16="http://schemas.microsoft.com/office/drawing/2014/main" id="{481CC520-AA1A-4EB2-82C7-5B90A0A47B19}"/>
              </a:ext>
            </a:extLst>
          </p:cNvPr>
          <p:cNvSpPr/>
          <p:nvPr/>
        </p:nvSpPr>
        <p:spPr>
          <a:xfrm>
            <a:off x="4852912" y="4455213"/>
            <a:ext cx="930221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6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VAN </a:t>
            </a:r>
            <a:r>
              <a:rPr lang="ko-KR" altLang="en-US" sz="1200" spc="-6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모듈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FE97B2-386C-40F4-B03C-8E3E5CFED727}"/>
              </a:ext>
            </a:extLst>
          </p:cNvPr>
          <p:cNvSpPr txBox="1"/>
          <p:nvPr/>
        </p:nvSpPr>
        <p:spPr>
          <a:xfrm>
            <a:off x="7666686" y="1788626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POS/</a:t>
            </a:r>
            <a:r>
              <a:rPr lang="ko-KR" altLang="en-US" dirty="0">
                <a:latin typeface="+mn-ea"/>
                <a:ea typeface="+mn-ea"/>
              </a:rPr>
              <a:t>키오스크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판매 처리 가능</a:t>
            </a:r>
            <a:endParaRPr lang="en-US" altLang="ko-KR" dirty="0">
              <a:latin typeface="+mn-ea"/>
              <a:ea typeface="+mn-ea"/>
            </a:endParaRP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장애 복구 후 기준정보 및 매출정보는 재 연계 처리</a:t>
            </a: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판매를 위한 필수 정보에 한하여 영업관리 </a:t>
            </a:r>
            <a:r>
              <a:rPr lang="en-US" altLang="ko-KR" dirty="0">
                <a:latin typeface="+mn-ea"/>
                <a:ea typeface="+mn-ea"/>
              </a:rPr>
              <a:t>API</a:t>
            </a:r>
            <a:r>
              <a:rPr lang="ko-KR" altLang="en-US" dirty="0">
                <a:latin typeface="+mn-ea"/>
                <a:ea typeface="+mn-ea"/>
              </a:rPr>
              <a:t>를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이용하여 연동 처리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764595-E358-4473-A0E8-B1E78F4740E0}"/>
              </a:ext>
            </a:extLst>
          </p:cNvPr>
          <p:cNvSpPr/>
          <p:nvPr/>
        </p:nvSpPr>
        <p:spPr>
          <a:xfrm>
            <a:off x="6314414" y="1787819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클라우드</a:t>
            </a:r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인프라</a:t>
            </a:r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장애 발생</a:t>
            </a:r>
          </a:p>
        </p:txBody>
      </p:sp>
      <p:sp>
        <p:nvSpPr>
          <p:cNvPr id="63" name="모서리가 둥근 직사각형 36">
            <a:extLst>
              <a:ext uri="{FF2B5EF4-FFF2-40B4-BE49-F238E27FC236}">
                <a16:creationId xmlns:a16="http://schemas.microsoft.com/office/drawing/2014/main" id="{C6463010-D5C3-4FAA-B66C-D126C6CBE8CF}"/>
              </a:ext>
            </a:extLst>
          </p:cNvPr>
          <p:cNvSpPr/>
          <p:nvPr/>
        </p:nvSpPr>
        <p:spPr>
          <a:xfrm>
            <a:off x="6480731" y="1904934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Case1</a:t>
            </a:r>
            <a:endParaRPr kumimoji="1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260E2E-78FA-40C4-B1C8-4B355DFE4E66}"/>
              </a:ext>
            </a:extLst>
          </p:cNvPr>
          <p:cNvSpPr txBox="1"/>
          <p:nvPr/>
        </p:nvSpPr>
        <p:spPr>
          <a:xfrm>
            <a:off x="7666686" y="3375596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POS/</a:t>
            </a:r>
            <a:r>
              <a:rPr lang="ko-KR" altLang="en-US" dirty="0">
                <a:latin typeface="+mn-ea"/>
                <a:ea typeface="+mn-ea"/>
              </a:rPr>
              <a:t>키오스크 판매 처리 가능</a:t>
            </a:r>
            <a:endParaRPr lang="en-US" altLang="ko-KR" dirty="0">
              <a:latin typeface="+mn-ea"/>
              <a:ea typeface="+mn-ea"/>
            </a:endParaRP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장애 복구 후 기준정보 및 매출정보는 재 연계 처리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50ACBE3-AB48-4479-B119-EB57BB28CBE1}"/>
              </a:ext>
            </a:extLst>
          </p:cNvPr>
          <p:cNvSpPr/>
          <p:nvPr/>
        </p:nvSpPr>
        <p:spPr>
          <a:xfrm>
            <a:off x="6314414" y="3374789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영업관리시스템 장애 발생</a:t>
            </a:r>
          </a:p>
        </p:txBody>
      </p:sp>
      <p:sp>
        <p:nvSpPr>
          <p:cNvPr id="66" name="모서리가 둥근 직사각형 20">
            <a:extLst>
              <a:ext uri="{FF2B5EF4-FFF2-40B4-BE49-F238E27FC236}">
                <a16:creationId xmlns:a16="http://schemas.microsoft.com/office/drawing/2014/main" id="{2F4DAC86-2AF8-4E82-8375-0B03CCF65A4A}"/>
              </a:ext>
            </a:extLst>
          </p:cNvPr>
          <p:cNvSpPr/>
          <p:nvPr/>
        </p:nvSpPr>
        <p:spPr>
          <a:xfrm>
            <a:off x="6480731" y="3491904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Case2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Pretendard Medium" panose="02000603000000020004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7F770-970A-4707-A509-09F5E98CDF2D}"/>
              </a:ext>
            </a:extLst>
          </p:cNvPr>
          <p:cNvSpPr txBox="1"/>
          <p:nvPr/>
        </p:nvSpPr>
        <p:spPr>
          <a:xfrm>
            <a:off x="7666686" y="4962565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LTE </a:t>
            </a:r>
            <a:r>
              <a:rPr lang="ko-KR" altLang="en-US" dirty="0">
                <a:latin typeface="+mn-ea"/>
                <a:ea typeface="+mn-ea"/>
              </a:rPr>
              <a:t>모뎀 또는 </a:t>
            </a:r>
            <a:r>
              <a:rPr lang="en-US" altLang="ko-KR" dirty="0">
                <a:latin typeface="+mn-ea"/>
                <a:ea typeface="+mn-ea"/>
              </a:rPr>
              <a:t>LTE CAT </a:t>
            </a:r>
            <a:r>
              <a:rPr lang="ko-KR" altLang="en-US" dirty="0">
                <a:latin typeface="+mn-ea"/>
                <a:ea typeface="+mn-ea"/>
              </a:rPr>
              <a:t>단말기를 활용하여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LTE </a:t>
            </a:r>
            <a:r>
              <a:rPr lang="ko-KR" altLang="en-US" dirty="0">
                <a:latin typeface="+mn-ea"/>
                <a:ea typeface="+mn-ea"/>
              </a:rPr>
              <a:t>망을 통해 결제 처리가 가능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A7EBCD-F492-41C7-9FCB-10CEEDDE728D}"/>
              </a:ext>
            </a:extLst>
          </p:cNvPr>
          <p:cNvSpPr/>
          <p:nvPr/>
        </p:nvSpPr>
        <p:spPr>
          <a:xfrm>
            <a:off x="6314414" y="4961758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4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매장</a:t>
            </a:r>
            <a:r>
              <a:rPr lang="en-US" altLang="ko-KR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 </a:t>
            </a:r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네트워크 장애 발생</a:t>
            </a:r>
          </a:p>
        </p:txBody>
      </p:sp>
      <p:sp>
        <p:nvSpPr>
          <p:cNvPr id="69" name="모서리가 둥근 직사각형 35">
            <a:extLst>
              <a:ext uri="{FF2B5EF4-FFF2-40B4-BE49-F238E27FC236}">
                <a16:creationId xmlns:a16="http://schemas.microsoft.com/office/drawing/2014/main" id="{41392BE3-0346-47E8-94B6-673D2E66B10C}"/>
              </a:ext>
            </a:extLst>
          </p:cNvPr>
          <p:cNvSpPr/>
          <p:nvPr/>
        </p:nvSpPr>
        <p:spPr>
          <a:xfrm>
            <a:off x="6480731" y="5078873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Case3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Pretendard Medium" panose="02000603000000020004" pitchFamily="2" charset="-127"/>
            </a:endParaRPr>
          </a:p>
        </p:txBody>
      </p:sp>
      <p:cxnSp>
        <p:nvCxnSpPr>
          <p:cNvPr id="70" name="꺾인 연결선 326">
            <a:extLst>
              <a:ext uri="{FF2B5EF4-FFF2-40B4-BE49-F238E27FC236}">
                <a16:creationId xmlns:a16="http://schemas.microsoft.com/office/drawing/2014/main" id="{98652B84-E234-4972-AC40-CDD7A4C832FA}"/>
              </a:ext>
            </a:extLst>
          </p:cNvPr>
          <p:cNvCxnSpPr>
            <a:cxnSpLocks/>
          </p:cNvCxnSpPr>
          <p:nvPr/>
        </p:nvCxnSpPr>
        <p:spPr>
          <a:xfrm flipH="1">
            <a:off x="3422617" y="2536214"/>
            <a:ext cx="1194320" cy="0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326">
            <a:extLst>
              <a:ext uri="{FF2B5EF4-FFF2-40B4-BE49-F238E27FC236}">
                <a16:creationId xmlns:a16="http://schemas.microsoft.com/office/drawing/2014/main" id="{1E487C2C-41C0-4812-AA97-F3628DE58B0D}"/>
              </a:ext>
            </a:extLst>
          </p:cNvPr>
          <p:cNvCxnSpPr>
            <a:cxnSpLocks/>
          </p:cNvCxnSpPr>
          <p:nvPr/>
        </p:nvCxnSpPr>
        <p:spPr>
          <a:xfrm>
            <a:off x="1826362" y="3224009"/>
            <a:ext cx="0" cy="1655605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순서도: 자기 디스크 71">
            <a:extLst>
              <a:ext uri="{FF2B5EF4-FFF2-40B4-BE49-F238E27FC236}">
                <a16:creationId xmlns:a16="http://schemas.microsoft.com/office/drawing/2014/main" id="{5BC6DD76-B7C6-456F-B1D1-F008AE36F5E4}"/>
              </a:ext>
            </a:extLst>
          </p:cNvPr>
          <p:cNvSpPr/>
          <p:nvPr/>
        </p:nvSpPr>
        <p:spPr bwMode="auto">
          <a:xfrm>
            <a:off x="4968036" y="2796050"/>
            <a:ext cx="696453" cy="369830"/>
          </a:xfrm>
          <a:prstGeom prst="flowChartMagneticDisk">
            <a:avLst/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72000" rIns="36000" bIns="34412" anchor="ctr" anchorCtr="0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lang="ko-KR" altLang="en-US" sz="1200" spc="-60" dirty="0">
                <a:solidFill>
                  <a:srgbClr val="000000"/>
                </a:solidFill>
                <a:effectLst/>
                <a:latin typeface="+mn-ea"/>
                <a:cs typeface="Pretendard" panose="02000503000000020004" pitchFamily="50" charset="-127"/>
              </a:rPr>
              <a:t>로컬 </a:t>
            </a:r>
            <a:r>
              <a:rPr lang="en-US" altLang="ko-KR" sz="1200" spc="-60" dirty="0">
                <a:solidFill>
                  <a:srgbClr val="000000"/>
                </a:solidFill>
                <a:effectLst/>
                <a:latin typeface="+mn-ea"/>
                <a:cs typeface="Pretendard" panose="02000503000000020004" pitchFamily="50" charset="-127"/>
              </a:rPr>
              <a:t>DB</a:t>
            </a:r>
          </a:p>
        </p:txBody>
      </p:sp>
      <p:sp>
        <p:nvSpPr>
          <p:cNvPr id="77" name="곱하기 기호 76">
            <a:extLst>
              <a:ext uri="{FF2B5EF4-FFF2-40B4-BE49-F238E27FC236}">
                <a16:creationId xmlns:a16="http://schemas.microsoft.com/office/drawing/2014/main" id="{72F72A58-188E-4AE7-8465-A6E03CA0AC08}"/>
              </a:ext>
            </a:extLst>
          </p:cNvPr>
          <p:cNvSpPr/>
          <p:nvPr/>
        </p:nvSpPr>
        <p:spPr>
          <a:xfrm>
            <a:off x="1445801" y="5078040"/>
            <a:ext cx="1152161" cy="816835"/>
          </a:xfrm>
          <a:prstGeom prst="mathMultiply">
            <a:avLst>
              <a:gd name="adj1" fmla="val 8953"/>
            </a:avLst>
          </a:prstGeom>
          <a:solidFill>
            <a:srgbClr val="E63732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78" name="말풍선: 모서리가 둥근 사각형 77">
            <a:extLst>
              <a:ext uri="{FF2B5EF4-FFF2-40B4-BE49-F238E27FC236}">
                <a16:creationId xmlns:a16="http://schemas.microsoft.com/office/drawing/2014/main" id="{E9C36534-C616-49BB-AB89-6705A3285349}"/>
              </a:ext>
            </a:extLst>
          </p:cNvPr>
          <p:cNvSpPr/>
          <p:nvPr/>
        </p:nvSpPr>
        <p:spPr>
          <a:xfrm>
            <a:off x="2212326" y="3753586"/>
            <a:ext cx="1673296" cy="535937"/>
          </a:xfrm>
          <a:prstGeom prst="wedgeRoundRectCallout">
            <a:avLst>
              <a:gd name="adj1" fmla="val -60170"/>
              <a:gd name="adj2" fmla="val -7996"/>
              <a:gd name="adj3" fmla="val 16667"/>
            </a:avLst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장애 복구 완료 후</a:t>
            </a:r>
            <a:endParaRPr lang="en-US" altLang="ko-KR" sz="1200" dirty="0">
              <a:solidFill>
                <a:schemeClr val="tx1"/>
              </a:solidFill>
              <a:latin typeface="+mn-ea"/>
              <a:cs typeface="Pretendard" panose="02000503000000020004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재 연계</a:t>
            </a:r>
          </a:p>
        </p:txBody>
      </p:sp>
      <p:sp>
        <p:nvSpPr>
          <p:cNvPr id="58" name="모서리가 둥근 직사각형 11">
            <a:extLst>
              <a:ext uri="{FF2B5EF4-FFF2-40B4-BE49-F238E27FC236}">
                <a16:creationId xmlns:a16="http://schemas.microsoft.com/office/drawing/2014/main" id="{0D5250F7-DF46-4CAF-AB24-33C0BB1BB4BE}"/>
              </a:ext>
            </a:extLst>
          </p:cNvPr>
          <p:cNvSpPr/>
          <p:nvPr/>
        </p:nvSpPr>
        <p:spPr>
          <a:xfrm>
            <a:off x="1313001" y="4432468"/>
            <a:ext cx="1357408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영업관리 시스템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83" name="AutoShape 39">
            <a:extLst>
              <a:ext uri="{FF2B5EF4-FFF2-40B4-BE49-F238E27FC236}">
                <a16:creationId xmlns:a16="http://schemas.microsoft.com/office/drawing/2014/main" id="{DF48FA0B-383F-4D3F-AB3C-7492A7F99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997" y="3737170"/>
            <a:ext cx="742798" cy="257036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결제 연동</a:t>
            </a:r>
          </a:p>
          <a:p>
            <a:pPr algn="ctr" defTabSz="967980">
              <a:lnSpc>
                <a:spcPct val="90000"/>
              </a:lnSpc>
            </a:pPr>
            <a:r>
              <a:rPr lang="en-US" altLang="ko-KR" sz="1100" spc="-60" dirty="0">
                <a:latin typeface="+mn-ea"/>
                <a:cs typeface="Pretendard" panose="02000503000000020004" pitchFamily="2" charset="-127"/>
              </a:rPr>
              <a:t>(Ethernet)</a:t>
            </a:r>
          </a:p>
        </p:txBody>
      </p:sp>
      <p:pic>
        <p:nvPicPr>
          <p:cNvPr id="84" name="Picture 2" descr="클라우드 개념과 AWS 기본설정">
            <a:extLst>
              <a:ext uri="{FF2B5EF4-FFF2-40B4-BE49-F238E27FC236}">
                <a16:creationId xmlns:a16="http://schemas.microsoft.com/office/drawing/2014/main" id="{179A4FA6-7986-4D18-8520-44972F2B7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7090" y="1706567"/>
            <a:ext cx="562970" cy="28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Oval 64">
            <a:extLst>
              <a:ext uri="{FF2B5EF4-FFF2-40B4-BE49-F238E27FC236}">
                <a16:creationId xmlns:a16="http://schemas.microsoft.com/office/drawing/2014/main" id="{C0DFEEDA-5ED3-4996-936C-3CA69BE303C1}"/>
              </a:ext>
            </a:extLst>
          </p:cNvPr>
          <p:cNvSpPr>
            <a:spLocks noChangeArrowheads="1"/>
          </p:cNvSpPr>
          <p:nvPr/>
        </p:nvSpPr>
        <p:spPr bwMode="gray">
          <a:xfrm rot="10800000" flipV="1">
            <a:off x="1094083" y="4270468"/>
            <a:ext cx="322094" cy="324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GB" altLang="ko-KR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7BF35-AFF8-D54C-EE56-B639F2F141F2}"/>
              </a:ext>
            </a:extLst>
          </p:cNvPr>
          <p:cNvSpPr txBox="1"/>
          <p:nvPr/>
        </p:nvSpPr>
        <p:spPr>
          <a:xfrm>
            <a:off x="6292766" y="1780870"/>
            <a:ext cx="5203073" cy="111849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6B0C2-4EB5-9350-44DD-47D649249720}"/>
              </a:ext>
            </a:extLst>
          </p:cNvPr>
          <p:cNvSpPr txBox="1"/>
          <p:nvPr/>
        </p:nvSpPr>
        <p:spPr>
          <a:xfrm>
            <a:off x="6292766" y="4962565"/>
            <a:ext cx="5203073" cy="111849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3366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추진 전략 </a:t>
            </a:r>
            <a:r>
              <a:rPr lang="en-US" altLang="ko-KR" dirty="0"/>
              <a:t>– </a:t>
            </a:r>
            <a:r>
              <a:rPr lang="ko-KR" altLang="en-US" dirty="0"/>
              <a:t>안정성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연계된 시스템 및 매장 네트워크 장애시에도 매장 </a:t>
            </a:r>
            <a:r>
              <a:rPr lang="en-US" altLang="ko-KR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POS/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키오스크 시스템의 판매 및 결제 기능이 정상적으로 유지 될 수 있는 </a:t>
            </a:r>
            <a:r>
              <a:rPr lang="ko-KR" altLang="en-US" kern="0" dirty="0" err="1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무중단</a:t>
            </a:r>
            <a:r>
              <a:rPr lang="ko-KR" altLang="en-US" kern="0" dirty="0">
                <a:ln w="0">
                  <a:solidFill>
                    <a:srgbClr val="0B4355">
                      <a:alpha val="5000"/>
                    </a:srgbClr>
                  </a:solidFill>
                </a:ln>
                <a:solidFill>
                  <a:schemeClr val="tx1"/>
                </a:solidFill>
                <a:cs typeface="Pretendard Medium" panose="02000603000000020004" pitchFamily="50" charset="-127"/>
              </a:rPr>
              <a:t> 시스템으로 구축 함</a:t>
            </a:r>
            <a:endParaRPr lang="en-US" altLang="ko-KR" kern="0" dirty="0">
              <a:ln w="0">
                <a:solidFill>
                  <a:srgbClr val="0B4355">
                    <a:alpha val="5000"/>
                  </a:srgbClr>
                </a:solidFill>
              </a:ln>
              <a:solidFill>
                <a:schemeClr val="tx1"/>
              </a:solidFill>
              <a:cs typeface="Pretendard Medium" panose="02000603000000020004" pitchFamily="50" charset="-127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CDDDA39A-98FE-43BF-83CC-303739298762}"/>
              </a:ext>
            </a:extLst>
          </p:cNvPr>
          <p:cNvSpPr/>
          <p:nvPr/>
        </p:nvSpPr>
        <p:spPr>
          <a:xfrm>
            <a:off x="370109" y="1381581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32" name="사각형: 둥근 모서리 22">
            <a:extLst>
              <a:ext uri="{FF2B5EF4-FFF2-40B4-BE49-F238E27FC236}">
                <a16:creationId xmlns:a16="http://schemas.microsoft.com/office/drawing/2014/main" id="{C7DCDFB2-14B6-4497-A783-D706452CC558}"/>
              </a:ext>
            </a:extLst>
          </p:cNvPr>
          <p:cNvSpPr/>
          <p:nvPr/>
        </p:nvSpPr>
        <p:spPr>
          <a:xfrm>
            <a:off x="662440" y="1884239"/>
            <a:ext cx="2720038" cy="1497823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3" name="AutoShape 39">
            <a:extLst>
              <a:ext uri="{FF2B5EF4-FFF2-40B4-BE49-F238E27FC236}">
                <a16:creationId xmlns:a16="http://schemas.microsoft.com/office/drawing/2014/main" id="{D405EE76-9760-40AF-907C-29887727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98" y="2299863"/>
            <a:ext cx="72866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WEB/</a:t>
            </a:r>
          </a:p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WAS</a:t>
            </a:r>
            <a:endParaRPr kumimoji="1" lang="ko-KR" altLang="en-US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5" name="AutoShape 39">
            <a:extLst>
              <a:ext uri="{FF2B5EF4-FFF2-40B4-BE49-F238E27FC236}">
                <a16:creationId xmlns:a16="http://schemas.microsoft.com/office/drawing/2014/main" id="{4CFDF208-88E3-4B22-8F0B-2FDAC3171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539" y="2305105"/>
            <a:ext cx="635922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DB</a:t>
            </a:r>
          </a:p>
        </p:txBody>
      </p:sp>
      <p:sp>
        <p:nvSpPr>
          <p:cNvPr id="36" name="AutoShape 39">
            <a:extLst>
              <a:ext uri="{FF2B5EF4-FFF2-40B4-BE49-F238E27FC236}">
                <a16:creationId xmlns:a16="http://schemas.microsoft.com/office/drawing/2014/main" id="{E5959BBF-F4F4-45CA-A22C-3F242B0D0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2149" y="2295197"/>
            <a:ext cx="77147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Batch Module</a:t>
            </a:r>
          </a:p>
        </p:txBody>
      </p:sp>
      <p:sp>
        <p:nvSpPr>
          <p:cNvPr id="37" name="AutoShape 39">
            <a:extLst>
              <a:ext uri="{FF2B5EF4-FFF2-40B4-BE49-F238E27FC236}">
                <a16:creationId xmlns:a16="http://schemas.microsoft.com/office/drawing/2014/main" id="{1C88D945-8B0B-49E2-9AA7-93F2F94E1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16" y="279210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API</a:t>
            </a:r>
          </a:p>
          <a:p>
            <a:pPr algn="ctr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Server</a:t>
            </a:r>
          </a:p>
        </p:txBody>
      </p:sp>
      <p:sp>
        <p:nvSpPr>
          <p:cNvPr id="38" name="사각형: 둥근 모서리 22">
            <a:extLst>
              <a:ext uri="{FF2B5EF4-FFF2-40B4-BE49-F238E27FC236}">
                <a16:creationId xmlns:a16="http://schemas.microsoft.com/office/drawing/2014/main" id="{F0A8A353-DB6A-4233-8539-250C18C1C5F9}"/>
              </a:ext>
            </a:extLst>
          </p:cNvPr>
          <p:cNvSpPr/>
          <p:nvPr/>
        </p:nvSpPr>
        <p:spPr>
          <a:xfrm>
            <a:off x="662440" y="4578997"/>
            <a:ext cx="2720038" cy="1533710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9" name="AutoShape 39">
            <a:extLst>
              <a:ext uri="{FF2B5EF4-FFF2-40B4-BE49-F238E27FC236}">
                <a16:creationId xmlns:a16="http://schemas.microsoft.com/office/drawing/2014/main" id="{E3C1C02B-49D4-4224-B5C1-98071522C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986" y="4871450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API</a:t>
            </a:r>
          </a:p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Server</a:t>
            </a:r>
          </a:p>
        </p:txBody>
      </p:sp>
      <p:sp>
        <p:nvSpPr>
          <p:cNvPr id="40" name="AutoShape 39">
            <a:extLst>
              <a:ext uri="{FF2B5EF4-FFF2-40B4-BE49-F238E27FC236}">
                <a16:creationId xmlns:a16="http://schemas.microsoft.com/office/drawing/2014/main" id="{6A0A702B-0D09-45AB-B9C6-53DB6F63D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690" y="548645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ko-KR" altLang="en-US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신성통상</a:t>
            </a:r>
            <a:endParaRPr kumimoji="1" lang="en-US" altLang="ko-KR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1" name="AutoShape 39">
            <a:extLst>
              <a:ext uri="{FF2B5EF4-FFF2-40B4-BE49-F238E27FC236}">
                <a16:creationId xmlns:a16="http://schemas.microsoft.com/office/drawing/2014/main" id="{EF610ADC-0AA9-4212-BA50-5C0781B78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1938" y="5486458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ko-KR" altLang="en-US" sz="1200" spc="-60" dirty="0" err="1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에이션패션</a:t>
            </a:r>
            <a:endParaRPr kumimoji="1" lang="en-US" altLang="ko-KR" sz="120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0DF93C5D-A070-4E3A-A7AC-E70371418308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1353163" y="5279868"/>
            <a:ext cx="669296" cy="206590"/>
          </a:xfrm>
          <a:prstGeom prst="straightConnector1">
            <a:avLst/>
          </a:prstGeom>
          <a:ln w="12700">
            <a:solidFill>
              <a:srgbClr val="A1A0A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0819437-8644-4C8C-BA18-608764CE2D0E}"/>
              </a:ext>
            </a:extLst>
          </p:cNvPr>
          <p:cNvCxnSpPr>
            <a:cxnSpLocks/>
            <a:stCxn id="41" idx="0"/>
            <a:endCxn id="39" idx="2"/>
          </p:cNvCxnSpPr>
          <p:nvPr/>
        </p:nvCxnSpPr>
        <p:spPr>
          <a:xfrm flipH="1" flipV="1">
            <a:off x="2022459" y="5279867"/>
            <a:ext cx="647952" cy="206591"/>
          </a:xfrm>
          <a:prstGeom prst="straightConnector1">
            <a:avLst/>
          </a:prstGeom>
          <a:ln w="12700">
            <a:solidFill>
              <a:srgbClr val="A1A0A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22">
            <a:extLst>
              <a:ext uri="{FF2B5EF4-FFF2-40B4-BE49-F238E27FC236}">
                <a16:creationId xmlns:a16="http://schemas.microsoft.com/office/drawing/2014/main" id="{1C337BAE-5713-48E2-9C2F-00C7EABD94D3}"/>
              </a:ext>
            </a:extLst>
          </p:cNvPr>
          <p:cNvSpPr/>
          <p:nvPr/>
        </p:nvSpPr>
        <p:spPr>
          <a:xfrm>
            <a:off x="4608565" y="1884240"/>
            <a:ext cx="1418915" cy="1497822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사각형: 둥근 모서리 22">
            <a:extLst>
              <a:ext uri="{FF2B5EF4-FFF2-40B4-BE49-F238E27FC236}">
                <a16:creationId xmlns:a16="http://schemas.microsoft.com/office/drawing/2014/main" id="{379D739A-A440-4E13-AE0A-FBCEB2924103}"/>
              </a:ext>
            </a:extLst>
          </p:cNvPr>
          <p:cNvSpPr/>
          <p:nvPr/>
        </p:nvSpPr>
        <p:spPr>
          <a:xfrm>
            <a:off x="4608565" y="4614885"/>
            <a:ext cx="1418915" cy="1497822"/>
          </a:xfrm>
          <a:prstGeom prst="roundRect">
            <a:avLst>
              <a:gd name="adj" fmla="val 4180"/>
            </a:avLst>
          </a:prstGeom>
          <a:solidFill>
            <a:schemeClr val="bg1"/>
          </a:solidFill>
          <a:ln w="9525">
            <a:solidFill>
              <a:srgbClr val="0070C0">
                <a:alpha val="39271"/>
              </a:srgbClr>
            </a:solidFill>
            <a:miter lim="800000"/>
            <a:headEnd/>
            <a:tailEnd/>
          </a:ln>
          <a:effectLst/>
        </p:spPr>
        <p:txBody>
          <a:bodyPr wrap="none" lIns="17996" tIns="72000" rIns="17996" bIns="36000" anchor="t" anchorCtr="0"/>
          <a:lstStyle/>
          <a:p>
            <a:pPr algn="ctr" defTabSz="914400"/>
            <a:endParaRPr lang="en-US" altLang="ko-KR" sz="1200" b="1" kern="0" spc="-60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pic>
        <p:nvPicPr>
          <p:cNvPr id="46" name="Picture 2" descr="한국결제네트웍스">
            <a:extLst>
              <a:ext uri="{FF2B5EF4-FFF2-40B4-BE49-F238E27FC236}">
                <a16:creationId xmlns:a16="http://schemas.microsoft.com/office/drawing/2014/main" id="{D9CE414E-FD87-4D5E-A820-4D89A7F1C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82124" y="5019835"/>
            <a:ext cx="671796" cy="4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6">
            <a:extLst>
              <a:ext uri="{FF2B5EF4-FFF2-40B4-BE49-F238E27FC236}">
                <a16:creationId xmlns:a16="http://schemas.microsoft.com/office/drawing/2014/main" id="{BC4F8DBB-7510-4C2A-AFD8-62A9EA1906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894424" y="5747170"/>
            <a:ext cx="847196" cy="158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AutoShape 39">
            <a:extLst>
              <a:ext uri="{FF2B5EF4-FFF2-40B4-BE49-F238E27FC236}">
                <a16:creationId xmlns:a16="http://schemas.microsoft.com/office/drawing/2014/main" id="{E72FFF96-FE2E-4DC0-AE87-A5EF9A784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302" y="2228140"/>
            <a:ext cx="1036945" cy="408417"/>
          </a:xfrm>
          <a:prstGeom prst="roundRect">
            <a:avLst>
              <a:gd name="adj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34412" rIns="36000" bIns="34412" anchor="ctr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kumimoji="1" lang="en-US" altLang="ko-KR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POS/</a:t>
            </a:r>
            <a:r>
              <a:rPr kumimoji="1" lang="ko-KR" altLang="en-US" sz="1200" spc="-60" dirty="0">
                <a:solidFill>
                  <a:srgbClr val="000000"/>
                </a:solidFill>
                <a:latin typeface="+mn-ea"/>
                <a:cs typeface="Pretendard" panose="02000503000000020004" pitchFamily="50" charset="-127"/>
              </a:rPr>
              <a:t>키오스크</a:t>
            </a:r>
          </a:p>
        </p:txBody>
      </p:sp>
      <p:sp>
        <p:nvSpPr>
          <p:cNvPr id="49" name="AutoShape 39">
            <a:extLst>
              <a:ext uri="{FF2B5EF4-FFF2-40B4-BE49-F238E27FC236}">
                <a16:creationId xmlns:a16="http://schemas.microsoft.com/office/drawing/2014/main" id="{7B013D76-311B-4298-8ECB-C5E490DC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51" y="2274212"/>
            <a:ext cx="633689" cy="1633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기준정보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0" name="AutoShape 39">
            <a:extLst>
              <a:ext uri="{FF2B5EF4-FFF2-40B4-BE49-F238E27FC236}">
                <a16:creationId xmlns:a16="http://schemas.microsoft.com/office/drawing/2014/main" id="{E815AB2D-B9DD-4F0D-B500-7DAF8BAC0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051" y="2843515"/>
            <a:ext cx="633689" cy="1633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매출정보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1" name="꺾인 연결선 326">
            <a:extLst>
              <a:ext uri="{FF2B5EF4-FFF2-40B4-BE49-F238E27FC236}">
                <a16:creationId xmlns:a16="http://schemas.microsoft.com/office/drawing/2014/main" id="{684CF345-2DFA-4F99-AC7B-5D78E13D7121}"/>
              </a:ext>
            </a:extLst>
          </p:cNvPr>
          <p:cNvCxnSpPr>
            <a:cxnSpLocks/>
            <a:stCxn id="60" idx="0"/>
            <a:endCxn id="72" idx="3"/>
          </p:cNvCxnSpPr>
          <p:nvPr/>
        </p:nvCxnSpPr>
        <p:spPr>
          <a:xfrm flipH="1" flipV="1">
            <a:off x="5316263" y="3165880"/>
            <a:ext cx="1760" cy="1289333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326">
            <a:extLst>
              <a:ext uri="{FF2B5EF4-FFF2-40B4-BE49-F238E27FC236}">
                <a16:creationId xmlns:a16="http://schemas.microsoft.com/office/drawing/2014/main" id="{2E1A840F-B6C7-46AD-B533-885EDBDA729C}"/>
              </a:ext>
            </a:extLst>
          </p:cNvPr>
          <p:cNvCxnSpPr>
            <a:cxnSpLocks/>
          </p:cNvCxnSpPr>
          <p:nvPr/>
        </p:nvCxnSpPr>
        <p:spPr>
          <a:xfrm flipH="1" flipV="1">
            <a:off x="2151938" y="3204920"/>
            <a:ext cx="2" cy="1684627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AutoShape 39">
            <a:extLst>
              <a:ext uri="{FF2B5EF4-FFF2-40B4-BE49-F238E27FC236}">
                <a16:creationId xmlns:a16="http://schemas.microsoft.com/office/drawing/2014/main" id="{D9A27BC3-F058-4CB1-BC92-2E3AFEB6D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0008" y="3451108"/>
            <a:ext cx="633689" cy="163367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매출정보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5" name="AutoShape 39">
            <a:extLst>
              <a:ext uri="{FF2B5EF4-FFF2-40B4-BE49-F238E27FC236}">
                <a16:creationId xmlns:a16="http://schemas.microsoft.com/office/drawing/2014/main" id="{83CEFC9E-D2D9-4DB9-85CC-A9282D578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189" y="4055264"/>
            <a:ext cx="633689" cy="163367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기준정보</a:t>
            </a:r>
            <a:endParaRPr lang="ko-KR" altLang="en-US" sz="11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6" name="꺾인 연결선 326">
            <a:extLst>
              <a:ext uri="{FF2B5EF4-FFF2-40B4-BE49-F238E27FC236}">
                <a16:creationId xmlns:a16="http://schemas.microsoft.com/office/drawing/2014/main" id="{F2F152CE-8BF0-4993-A401-D4DA201AAD6C}"/>
              </a:ext>
            </a:extLst>
          </p:cNvPr>
          <p:cNvCxnSpPr>
            <a:cxnSpLocks/>
          </p:cNvCxnSpPr>
          <p:nvPr/>
        </p:nvCxnSpPr>
        <p:spPr>
          <a:xfrm>
            <a:off x="3386529" y="2745121"/>
            <a:ext cx="1222036" cy="0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5">
            <a:extLst>
              <a:ext uri="{FF2B5EF4-FFF2-40B4-BE49-F238E27FC236}">
                <a16:creationId xmlns:a16="http://schemas.microsoft.com/office/drawing/2014/main" id="{E27D1E36-D387-43EB-B2E2-8ABC159CB339}"/>
              </a:ext>
            </a:extLst>
          </p:cNvPr>
          <p:cNvSpPr/>
          <p:nvPr/>
        </p:nvSpPr>
        <p:spPr>
          <a:xfrm>
            <a:off x="1313001" y="1755342"/>
            <a:ext cx="1357408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클라우드 인프라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59" name="모서리가 둥근 직사각형 12">
            <a:extLst>
              <a:ext uri="{FF2B5EF4-FFF2-40B4-BE49-F238E27FC236}">
                <a16:creationId xmlns:a16="http://schemas.microsoft.com/office/drawing/2014/main" id="{4349F6D1-F65B-4623-A3A3-3D0184E885D9}"/>
              </a:ext>
            </a:extLst>
          </p:cNvPr>
          <p:cNvSpPr/>
          <p:nvPr/>
        </p:nvSpPr>
        <p:spPr>
          <a:xfrm>
            <a:off x="4852912" y="1739915"/>
            <a:ext cx="930221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매장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60" name="모서리가 둥근 직사각형 17">
            <a:extLst>
              <a:ext uri="{FF2B5EF4-FFF2-40B4-BE49-F238E27FC236}">
                <a16:creationId xmlns:a16="http://schemas.microsoft.com/office/drawing/2014/main" id="{481CC520-AA1A-4EB2-82C7-5B90A0A47B19}"/>
              </a:ext>
            </a:extLst>
          </p:cNvPr>
          <p:cNvSpPr/>
          <p:nvPr/>
        </p:nvSpPr>
        <p:spPr>
          <a:xfrm>
            <a:off x="4852912" y="4455213"/>
            <a:ext cx="930221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6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VAN </a:t>
            </a:r>
            <a:r>
              <a:rPr lang="ko-KR" altLang="en-US" sz="1200" spc="-60" dirty="0">
                <a:solidFill>
                  <a:schemeClr val="bg1"/>
                </a:solidFill>
                <a:latin typeface="+mn-ea"/>
                <a:cs typeface="Pretendard" panose="02000503000000020004" pitchFamily="2" charset="-127"/>
              </a:rPr>
              <a:t>모듈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FE97B2-386C-40F4-B03C-8E3E5CFED727}"/>
              </a:ext>
            </a:extLst>
          </p:cNvPr>
          <p:cNvSpPr txBox="1"/>
          <p:nvPr/>
        </p:nvSpPr>
        <p:spPr>
          <a:xfrm>
            <a:off x="7666686" y="1788626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POS/</a:t>
            </a:r>
            <a:r>
              <a:rPr lang="ko-KR" altLang="en-US" dirty="0">
                <a:latin typeface="+mn-ea"/>
                <a:ea typeface="+mn-ea"/>
              </a:rPr>
              <a:t>키오스크</a:t>
            </a:r>
            <a:r>
              <a:rPr lang="en-US" altLang="ko-KR" dirty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판매 처리 가능</a:t>
            </a:r>
            <a:endParaRPr lang="en-US" altLang="ko-KR" dirty="0">
              <a:latin typeface="+mn-ea"/>
              <a:ea typeface="+mn-ea"/>
            </a:endParaRP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장애 복구 후 기준정보 및 매출정보는 재 연계 처리</a:t>
            </a: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판매를 위한 필수 정보에 한하여 영업관리 </a:t>
            </a:r>
            <a:r>
              <a:rPr lang="en-US" altLang="ko-KR" dirty="0">
                <a:latin typeface="+mn-ea"/>
                <a:ea typeface="+mn-ea"/>
              </a:rPr>
              <a:t>API</a:t>
            </a:r>
            <a:r>
              <a:rPr lang="ko-KR" altLang="en-US" dirty="0">
                <a:latin typeface="+mn-ea"/>
                <a:ea typeface="+mn-ea"/>
              </a:rPr>
              <a:t>를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ko-KR" altLang="en-US" dirty="0">
                <a:latin typeface="+mn-ea"/>
                <a:ea typeface="+mn-ea"/>
              </a:rPr>
              <a:t>이용하여 연동 처리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9D764595-E358-4473-A0E8-B1E78F4740E0}"/>
              </a:ext>
            </a:extLst>
          </p:cNvPr>
          <p:cNvSpPr/>
          <p:nvPr/>
        </p:nvSpPr>
        <p:spPr>
          <a:xfrm>
            <a:off x="6314414" y="1787819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클라우드</a:t>
            </a:r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인프라</a:t>
            </a:r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장애 발생</a:t>
            </a:r>
          </a:p>
        </p:txBody>
      </p:sp>
      <p:sp>
        <p:nvSpPr>
          <p:cNvPr id="63" name="모서리가 둥근 직사각형 36">
            <a:extLst>
              <a:ext uri="{FF2B5EF4-FFF2-40B4-BE49-F238E27FC236}">
                <a16:creationId xmlns:a16="http://schemas.microsoft.com/office/drawing/2014/main" id="{C6463010-D5C3-4FAA-B66C-D126C6CBE8CF}"/>
              </a:ext>
            </a:extLst>
          </p:cNvPr>
          <p:cNvSpPr/>
          <p:nvPr/>
        </p:nvSpPr>
        <p:spPr>
          <a:xfrm>
            <a:off x="6480731" y="1904934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Case1</a:t>
            </a:r>
            <a:endParaRPr kumimoji="1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260E2E-78FA-40C4-B1C8-4B355DFE4E66}"/>
              </a:ext>
            </a:extLst>
          </p:cNvPr>
          <p:cNvSpPr txBox="1"/>
          <p:nvPr/>
        </p:nvSpPr>
        <p:spPr>
          <a:xfrm>
            <a:off x="7666686" y="3375596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POS/</a:t>
            </a:r>
            <a:r>
              <a:rPr lang="ko-KR" altLang="en-US" dirty="0">
                <a:latin typeface="+mn-ea"/>
                <a:ea typeface="+mn-ea"/>
              </a:rPr>
              <a:t>키오스크 판매 처리 가능</a:t>
            </a:r>
            <a:endParaRPr lang="en-US" altLang="ko-KR" dirty="0">
              <a:latin typeface="+mn-ea"/>
              <a:ea typeface="+mn-ea"/>
            </a:endParaRPr>
          </a:p>
          <a:p>
            <a:pPr marL="182563" indent="-131763"/>
            <a:r>
              <a:rPr lang="ko-KR" altLang="en-US" dirty="0">
                <a:latin typeface="+mn-ea"/>
                <a:ea typeface="+mn-ea"/>
              </a:rPr>
              <a:t>장애 복구 후 기준정보 및 매출정보는 재 연계 처리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350ACBE3-AB48-4479-B119-EB57BB28CBE1}"/>
              </a:ext>
            </a:extLst>
          </p:cNvPr>
          <p:cNvSpPr/>
          <p:nvPr/>
        </p:nvSpPr>
        <p:spPr>
          <a:xfrm>
            <a:off x="6314414" y="3374789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2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영업관리시스템 장애 발생</a:t>
            </a:r>
          </a:p>
        </p:txBody>
      </p:sp>
      <p:sp>
        <p:nvSpPr>
          <p:cNvPr id="66" name="모서리가 둥근 직사각형 20">
            <a:extLst>
              <a:ext uri="{FF2B5EF4-FFF2-40B4-BE49-F238E27FC236}">
                <a16:creationId xmlns:a16="http://schemas.microsoft.com/office/drawing/2014/main" id="{2F4DAC86-2AF8-4E82-8375-0B03CCF65A4A}"/>
              </a:ext>
            </a:extLst>
          </p:cNvPr>
          <p:cNvSpPr/>
          <p:nvPr/>
        </p:nvSpPr>
        <p:spPr>
          <a:xfrm>
            <a:off x="6480731" y="3491904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Case2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Pretendard Medium" panose="02000603000000020004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F17F770-970A-4707-A509-09F5E98CDF2D}"/>
              </a:ext>
            </a:extLst>
          </p:cNvPr>
          <p:cNvSpPr txBox="1"/>
          <p:nvPr/>
        </p:nvSpPr>
        <p:spPr>
          <a:xfrm>
            <a:off x="7666686" y="4962565"/>
            <a:ext cx="3834433" cy="11184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r>
              <a:rPr lang="en-US" altLang="ko-KR" dirty="0">
                <a:latin typeface="+mn-ea"/>
                <a:ea typeface="+mn-ea"/>
              </a:rPr>
              <a:t>LTE </a:t>
            </a:r>
            <a:r>
              <a:rPr lang="ko-KR" altLang="en-US" dirty="0">
                <a:latin typeface="+mn-ea"/>
                <a:ea typeface="+mn-ea"/>
              </a:rPr>
              <a:t>모뎀 또는 </a:t>
            </a:r>
            <a:r>
              <a:rPr lang="en-US" altLang="ko-KR" dirty="0">
                <a:latin typeface="+mn-ea"/>
                <a:ea typeface="+mn-ea"/>
              </a:rPr>
              <a:t>LTE CAT </a:t>
            </a:r>
            <a:r>
              <a:rPr lang="ko-KR" altLang="en-US" dirty="0">
                <a:latin typeface="+mn-ea"/>
                <a:ea typeface="+mn-ea"/>
              </a:rPr>
              <a:t>단말기를 활용하여</a:t>
            </a:r>
            <a:br>
              <a:rPr lang="en-US" altLang="ko-KR" dirty="0">
                <a:latin typeface="+mn-ea"/>
                <a:ea typeface="+mn-ea"/>
              </a:rPr>
            </a:br>
            <a:r>
              <a:rPr lang="en-US" altLang="ko-KR" dirty="0">
                <a:latin typeface="+mn-ea"/>
                <a:ea typeface="+mn-ea"/>
              </a:rPr>
              <a:t>LTE </a:t>
            </a:r>
            <a:r>
              <a:rPr lang="ko-KR" altLang="en-US" dirty="0">
                <a:latin typeface="+mn-ea"/>
                <a:ea typeface="+mn-ea"/>
              </a:rPr>
              <a:t>망을 통해 결제 처리가 가능</a:t>
            </a:r>
            <a:endParaRPr lang="ko-KR" altLang="en-US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A7EBCD-F492-41C7-9FCB-10CEEDDE728D}"/>
              </a:ext>
            </a:extLst>
          </p:cNvPr>
          <p:cNvSpPr/>
          <p:nvPr/>
        </p:nvSpPr>
        <p:spPr>
          <a:xfrm>
            <a:off x="6314414" y="4961758"/>
            <a:ext cx="1268682" cy="1112349"/>
          </a:xfrm>
          <a:prstGeom prst="rect">
            <a:avLst/>
          </a:prstGeom>
          <a:gradFill>
            <a:gsLst>
              <a:gs pos="99000">
                <a:srgbClr val="1941A8"/>
              </a:gs>
              <a:gs pos="51000">
                <a:srgbClr val="0070C0"/>
              </a:gs>
              <a:gs pos="0">
                <a:srgbClr val="00B0F0"/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03423"/>
            <a:endParaRPr lang="en-US" altLang="ko-KR" sz="1400" kern="0" dirty="0">
              <a:solidFill>
                <a:prstClr val="white"/>
              </a:solidFill>
              <a:latin typeface="+mn-ea"/>
              <a:cs typeface="Pretendard Medium" panose="02000603000000020004" pitchFamily="2" charset="-127"/>
            </a:endParaRPr>
          </a:p>
          <a:p>
            <a:pPr algn="ctr" defTabSz="503423"/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매장</a:t>
            </a:r>
            <a:r>
              <a:rPr lang="en-US" altLang="ko-KR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 </a:t>
            </a:r>
            <a:r>
              <a:rPr lang="ko-KR" altLang="en-US" sz="1200" kern="0" dirty="0">
                <a:solidFill>
                  <a:prstClr val="white"/>
                </a:solidFill>
                <a:latin typeface="+mn-ea"/>
                <a:cs typeface="Pretendard Medium" panose="02000603000000020004" pitchFamily="2" charset="-127"/>
              </a:rPr>
              <a:t>네트워크 장애 발생</a:t>
            </a:r>
          </a:p>
        </p:txBody>
      </p:sp>
      <p:sp>
        <p:nvSpPr>
          <p:cNvPr id="69" name="모서리가 둥근 직사각형 35">
            <a:extLst>
              <a:ext uri="{FF2B5EF4-FFF2-40B4-BE49-F238E27FC236}">
                <a16:creationId xmlns:a16="http://schemas.microsoft.com/office/drawing/2014/main" id="{41392BE3-0346-47E8-94B6-673D2E66B10C}"/>
              </a:ext>
            </a:extLst>
          </p:cNvPr>
          <p:cNvSpPr/>
          <p:nvPr/>
        </p:nvSpPr>
        <p:spPr>
          <a:xfrm>
            <a:off x="6480731" y="5078873"/>
            <a:ext cx="919951" cy="196215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kern="0" dirty="0">
                <a:solidFill>
                  <a:schemeClr val="tx1"/>
                </a:solidFill>
                <a:latin typeface="+mn-ea"/>
                <a:cs typeface="Pretendard Medium" panose="02000603000000020004" pitchFamily="2" charset="-127"/>
              </a:rPr>
              <a:t>Case3</a:t>
            </a:r>
            <a:endParaRPr lang="ko-KR" altLang="en-US" sz="1200" kern="0" dirty="0">
              <a:solidFill>
                <a:schemeClr val="tx1"/>
              </a:solidFill>
              <a:latin typeface="+mn-ea"/>
              <a:cs typeface="Pretendard Medium" panose="02000603000000020004" pitchFamily="2" charset="-127"/>
            </a:endParaRPr>
          </a:p>
        </p:txBody>
      </p:sp>
      <p:cxnSp>
        <p:nvCxnSpPr>
          <p:cNvPr id="70" name="꺾인 연결선 326">
            <a:extLst>
              <a:ext uri="{FF2B5EF4-FFF2-40B4-BE49-F238E27FC236}">
                <a16:creationId xmlns:a16="http://schemas.microsoft.com/office/drawing/2014/main" id="{98652B84-E234-4972-AC40-CDD7A4C832FA}"/>
              </a:ext>
            </a:extLst>
          </p:cNvPr>
          <p:cNvCxnSpPr>
            <a:cxnSpLocks/>
          </p:cNvCxnSpPr>
          <p:nvPr/>
        </p:nvCxnSpPr>
        <p:spPr>
          <a:xfrm flipH="1">
            <a:off x="3422617" y="2536214"/>
            <a:ext cx="1194320" cy="0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326">
            <a:extLst>
              <a:ext uri="{FF2B5EF4-FFF2-40B4-BE49-F238E27FC236}">
                <a16:creationId xmlns:a16="http://schemas.microsoft.com/office/drawing/2014/main" id="{1E487C2C-41C0-4812-AA97-F3628DE58B0D}"/>
              </a:ext>
            </a:extLst>
          </p:cNvPr>
          <p:cNvCxnSpPr>
            <a:cxnSpLocks/>
          </p:cNvCxnSpPr>
          <p:nvPr/>
        </p:nvCxnSpPr>
        <p:spPr>
          <a:xfrm>
            <a:off x="1826362" y="3224009"/>
            <a:ext cx="0" cy="1655605"/>
          </a:xfrm>
          <a:prstGeom prst="straightConnector1">
            <a:avLst/>
          </a:prstGeom>
          <a:ln w="9525">
            <a:solidFill>
              <a:srgbClr val="0070C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순서도: 자기 디스크 71">
            <a:extLst>
              <a:ext uri="{FF2B5EF4-FFF2-40B4-BE49-F238E27FC236}">
                <a16:creationId xmlns:a16="http://schemas.microsoft.com/office/drawing/2014/main" id="{5BC6DD76-B7C6-456F-B1D1-F008AE36F5E4}"/>
              </a:ext>
            </a:extLst>
          </p:cNvPr>
          <p:cNvSpPr/>
          <p:nvPr/>
        </p:nvSpPr>
        <p:spPr bwMode="auto">
          <a:xfrm>
            <a:off x="4968036" y="2796050"/>
            <a:ext cx="696453" cy="369830"/>
          </a:xfrm>
          <a:prstGeom prst="flowChartMagneticDisk">
            <a:avLst/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36000" tIns="72000" rIns="36000" bIns="34412" anchor="ctr" anchorCtr="0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r>
              <a:rPr lang="ko-KR" altLang="en-US" sz="1200" spc="-60" dirty="0">
                <a:solidFill>
                  <a:srgbClr val="000000"/>
                </a:solidFill>
                <a:effectLst/>
                <a:latin typeface="+mn-ea"/>
                <a:cs typeface="Pretendard" panose="02000503000000020004" pitchFamily="50" charset="-127"/>
              </a:rPr>
              <a:t>로컬 </a:t>
            </a:r>
            <a:r>
              <a:rPr lang="en-US" altLang="ko-KR" sz="1200" spc="-60" dirty="0">
                <a:solidFill>
                  <a:srgbClr val="000000"/>
                </a:solidFill>
                <a:effectLst/>
                <a:latin typeface="+mn-ea"/>
                <a:cs typeface="Pretendard" panose="02000503000000020004" pitchFamily="50" charset="-127"/>
              </a:rPr>
              <a:t>DB</a:t>
            </a:r>
          </a:p>
        </p:txBody>
      </p:sp>
      <p:cxnSp>
        <p:nvCxnSpPr>
          <p:cNvPr id="73" name="연결선: 구부러짐 72">
            <a:extLst>
              <a:ext uri="{FF2B5EF4-FFF2-40B4-BE49-F238E27FC236}">
                <a16:creationId xmlns:a16="http://schemas.microsoft.com/office/drawing/2014/main" id="{259E8478-D8BD-4ED0-A724-B31C89A31BE8}"/>
              </a:ext>
            </a:extLst>
          </p:cNvPr>
          <p:cNvCxnSpPr>
            <a:cxnSpLocks/>
            <a:stCxn id="72" idx="2"/>
            <a:endCxn id="60" idx="1"/>
          </p:cNvCxnSpPr>
          <p:nvPr/>
        </p:nvCxnSpPr>
        <p:spPr>
          <a:xfrm rot="10800000" flipV="1">
            <a:off x="4852912" y="2980964"/>
            <a:ext cx="115124" cy="1618573"/>
          </a:xfrm>
          <a:prstGeom prst="curvedConnector3">
            <a:avLst>
              <a:gd name="adj1" fmla="val 298569"/>
            </a:avLst>
          </a:prstGeom>
          <a:ln w="19050">
            <a:solidFill>
              <a:srgbClr val="0070C0"/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곱하기 기호 80">
            <a:extLst>
              <a:ext uri="{FF2B5EF4-FFF2-40B4-BE49-F238E27FC236}">
                <a16:creationId xmlns:a16="http://schemas.microsoft.com/office/drawing/2014/main" id="{30DC1FE6-9281-4447-9879-451964255412}"/>
              </a:ext>
            </a:extLst>
          </p:cNvPr>
          <p:cNvSpPr/>
          <p:nvPr/>
        </p:nvSpPr>
        <p:spPr>
          <a:xfrm>
            <a:off x="4742672" y="3456346"/>
            <a:ext cx="1152161" cy="816835"/>
          </a:xfrm>
          <a:prstGeom prst="mathMultiply">
            <a:avLst>
              <a:gd name="adj1" fmla="val 8953"/>
            </a:avLst>
          </a:prstGeom>
          <a:solidFill>
            <a:srgbClr val="E63732">
              <a:alpha val="4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82" name="말풍선: 모서리가 둥근 사각형 81">
            <a:extLst>
              <a:ext uri="{FF2B5EF4-FFF2-40B4-BE49-F238E27FC236}">
                <a16:creationId xmlns:a16="http://schemas.microsoft.com/office/drawing/2014/main" id="{88F6AFBA-1BB8-4D81-8B58-500E4D338878}"/>
              </a:ext>
            </a:extLst>
          </p:cNvPr>
          <p:cNvSpPr/>
          <p:nvPr/>
        </p:nvSpPr>
        <p:spPr>
          <a:xfrm>
            <a:off x="3315861" y="3905991"/>
            <a:ext cx="1088227" cy="413775"/>
          </a:xfrm>
          <a:prstGeom prst="wedgeRoundRectCallout">
            <a:avLst>
              <a:gd name="adj1" fmla="val 73670"/>
              <a:gd name="adj2" fmla="val -58012"/>
              <a:gd name="adj3" fmla="val 16667"/>
            </a:avLst>
          </a:prstGeom>
          <a:solidFill>
            <a:srgbClr val="FFC000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ko-KR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LTE </a:t>
            </a:r>
            <a:r>
              <a:rPr lang="ko-KR" altLang="en-US" sz="1200" spc="-10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망 연동</a:t>
            </a:r>
          </a:p>
        </p:txBody>
      </p:sp>
      <p:sp>
        <p:nvSpPr>
          <p:cNvPr id="58" name="모서리가 둥근 직사각형 11">
            <a:extLst>
              <a:ext uri="{FF2B5EF4-FFF2-40B4-BE49-F238E27FC236}">
                <a16:creationId xmlns:a16="http://schemas.microsoft.com/office/drawing/2014/main" id="{0D5250F7-DF46-4CAF-AB24-33C0BB1BB4BE}"/>
              </a:ext>
            </a:extLst>
          </p:cNvPr>
          <p:cNvSpPr/>
          <p:nvPr/>
        </p:nvSpPr>
        <p:spPr>
          <a:xfrm>
            <a:off x="1313001" y="4432468"/>
            <a:ext cx="1357408" cy="288650"/>
          </a:xfrm>
          <a:prstGeom prst="roundRect">
            <a:avLst>
              <a:gd name="adj" fmla="val 50000"/>
            </a:avLst>
          </a:prstGeom>
          <a:solidFill>
            <a:srgbClr val="1941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60" dirty="0">
                <a:latin typeface="+mn-ea"/>
                <a:cs typeface="Pretendard" panose="02000503000000020004" pitchFamily="2" charset="-127"/>
              </a:rPr>
              <a:t>영업관리 시스템</a:t>
            </a:r>
            <a:endParaRPr lang="ko-KR" altLang="en-US" sz="1200" spc="-60" dirty="0">
              <a:solidFill>
                <a:schemeClr val="tx1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83" name="AutoShape 39">
            <a:extLst>
              <a:ext uri="{FF2B5EF4-FFF2-40B4-BE49-F238E27FC236}">
                <a16:creationId xmlns:a16="http://schemas.microsoft.com/office/drawing/2014/main" id="{41C691FF-FAB0-4140-95ED-52DDBF58F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0997" y="3737170"/>
            <a:ext cx="742798" cy="257036"/>
          </a:xfrm>
          <a:prstGeom prst="roundRect">
            <a:avLst>
              <a:gd name="adj" fmla="val 0"/>
            </a:avLst>
          </a:prstGeom>
          <a:noFill/>
          <a:ln w="635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ctr" defTabSz="967980">
              <a:lnSpc>
                <a:spcPct val="90000"/>
              </a:lnSpc>
            </a:pPr>
            <a:r>
              <a:rPr lang="ko-KR" altLang="en-US" sz="1100" spc="-60" dirty="0">
                <a:latin typeface="+mn-ea"/>
                <a:cs typeface="Pretendard" panose="02000503000000020004" pitchFamily="2" charset="-127"/>
              </a:rPr>
              <a:t>결제 연동</a:t>
            </a:r>
          </a:p>
          <a:p>
            <a:pPr algn="ctr" defTabSz="967980">
              <a:lnSpc>
                <a:spcPct val="90000"/>
              </a:lnSpc>
            </a:pPr>
            <a:r>
              <a:rPr lang="en-US" altLang="ko-KR" sz="1100" spc="-60" dirty="0">
                <a:latin typeface="+mn-ea"/>
                <a:cs typeface="Pretendard" panose="02000503000000020004" pitchFamily="2" charset="-127"/>
              </a:rPr>
              <a:t>(Ethernet)</a:t>
            </a:r>
          </a:p>
        </p:txBody>
      </p:sp>
      <p:sp>
        <p:nvSpPr>
          <p:cNvPr id="80" name="Oval 64">
            <a:extLst>
              <a:ext uri="{FF2B5EF4-FFF2-40B4-BE49-F238E27FC236}">
                <a16:creationId xmlns:a16="http://schemas.microsoft.com/office/drawing/2014/main" id="{7505C6B9-8EA1-4662-BD93-BAA773D03632}"/>
              </a:ext>
            </a:extLst>
          </p:cNvPr>
          <p:cNvSpPr>
            <a:spLocks noChangeArrowheads="1"/>
          </p:cNvSpPr>
          <p:nvPr/>
        </p:nvSpPr>
        <p:spPr bwMode="gray">
          <a:xfrm rot="10800000" flipV="1">
            <a:off x="4893766" y="3386592"/>
            <a:ext cx="322094" cy="3240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400" b="1" spc="-70" dirty="0">
                <a:solidFill>
                  <a:schemeClr val="bg1"/>
                </a:solidFill>
                <a:latin typeface="+mn-ea"/>
                <a:cs typeface="Pretendard Medium" panose="02000603000000020004" pitchFamily="50" charset="-127"/>
              </a:rPr>
              <a:t>3</a:t>
            </a:r>
            <a:endParaRPr lang="en-GB" altLang="ko-KR" sz="1400" b="1" spc="-70" dirty="0">
              <a:solidFill>
                <a:schemeClr val="bg1"/>
              </a:solidFill>
              <a:latin typeface="+mn-ea"/>
              <a:cs typeface="Pretendard Medium" panose="02000603000000020004" pitchFamily="50" charset="-127"/>
            </a:endParaRPr>
          </a:p>
        </p:txBody>
      </p:sp>
      <p:pic>
        <p:nvPicPr>
          <p:cNvPr id="84" name="Picture 2" descr="클라우드 개념과 AWS 기본설정">
            <a:extLst>
              <a:ext uri="{FF2B5EF4-FFF2-40B4-BE49-F238E27FC236}">
                <a16:creationId xmlns:a16="http://schemas.microsoft.com/office/drawing/2014/main" id="{5AF666C0-A5A7-4131-963C-ACCB86DCD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7090" y="1706567"/>
            <a:ext cx="562970" cy="285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DD6C62-A604-A009-E5C4-13859AC74CC3}"/>
              </a:ext>
            </a:extLst>
          </p:cNvPr>
          <p:cNvSpPr txBox="1"/>
          <p:nvPr/>
        </p:nvSpPr>
        <p:spPr>
          <a:xfrm>
            <a:off x="6292766" y="1780870"/>
            <a:ext cx="5203073" cy="111849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CAAB6-8C8F-37C2-A643-06AD361C7C46}"/>
              </a:ext>
            </a:extLst>
          </p:cNvPr>
          <p:cNvSpPr txBox="1"/>
          <p:nvPr/>
        </p:nvSpPr>
        <p:spPr>
          <a:xfrm>
            <a:off x="6292766" y="3368646"/>
            <a:ext cx="5203073" cy="1118491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txBody>
          <a:bodyPr wrap="square" lIns="36000" tIns="36000" rIns="36000" bIns="36000" anchor="ctr">
            <a:noAutofit/>
          </a:bodyPr>
          <a:lstStyle>
            <a:defPPr>
              <a:defRPr lang="en-US"/>
            </a:defPPr>
            <a:lvl1pPr marL="144000" indent="-92075">
              <a:buClr>
                <a:srgbClr val="000000"/>
              </a:buClr>
              <a:buFont typeface="Arial" panose="020B0604020202020204" pitchFamily="34" charset="0"/>
              <a:buChar char="•"/>
              <a:defRPr sz="1200">
                <a:solidFill>
                  <a:srgbClr val="000000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pPr marL="182563" indent="-131763"/>
            <a:endParaRPr lang="ko-KR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0934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3170F6A-9E1C-5C2E-4EA2-31FDC93DF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07" y="1485596"/>
            <a:ext cx="10762746" cy="4862618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수행 일정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시스템 구축 및 오픈 안정화를 병행하여 총 </a:t>
            </a:r>
            <a:r>
              <a:rPr lang="en-US" altLang="ko-KR" dirty="0"/>
              <a:t>12</a:t>
            </a:r>
            <a:r>
              <a:rPr lang="ko-KR" altLang="en-US" dirty="0"/>
              <a:t>개월 간 프로젝트를 수행하면</a:t>
            </a:r>
            <a:r>
              <a:rPr lang="en-US" altLang="ko-KR" dirty="0"/>
              <a:t>, 1</a:t>
            </a:r>
            <a:r>
              <a:rPr lang="ko-KR" altLang="en-US" dirty="0"/>
              <a:t>차 파일럿 매장을 선정하여 오픈 후</a:t>
            </a:r>
            <a:r>
              <a:rPr lang="en-US" altLang="ko-KR" dirty="0"/>
              <a:t> </a:t>
            </a:r>
            <a:r>
              <a:rPr lang="ko-KR" altLang="en-US" dirty="0"/>
              <a:t>신성통상</a:t>
            </a:r>
            <a:r>
              <a:rPr lang="en-US" altLang="ko-KR" dirty="0"/>
              <a:t>/</a:t>
            </a:r>
            <a:r>
              <a:rPr lang="ko-KR" altLang="en-US" dirty="0" err="1"/>
              <a:t>에이션패션의</a:t>
            </a:r>
            <a:r>
              <a:rPr lang="ko-KR" altLang="en-US" dirty="0"/>
              <a:t> 전체 매장을</a:t>
            </a:r>
            <a:endParaRPr lang="en-US" altLang="ko-KR" dirty="0"/>
          </a:p>
          <a:p>
            <a:r>
              <a:rPr lang="ko-KR" altLang="en-US" dirty="0"/>
              <a:t>  </a:t>
            </a:r>
            <a:r>
              <a:rPr lang="en-US" altLang="ko-KR" dirty="0"/>
              <a:t>3</a:t>
            </a:r>
            <a:r>
              <a:rPr lang="ko-KR" altLang="en-US" dirty="0"/>
              <a:t>차수로 나눠 단계적으로 오픈 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</p:spTree>
    <p:extLst>
      <p:ext uri="{BB962C8B-B14F-4D97-AF65-F5344CB8AC3E}">
        <p14:creationId xmlns:p14="http://schemas.microsoft.com/office/powerpoint/2010/main" val="128410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CDD88-BEF6-4123-4474-D9C8F85CC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C78E5E-33C8-CDC0-7CC3-C0248637A3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참조</a:t>
            </a:r>
            <a:r>
              <a:rPr lang="en-US" altLang="ko-KR" b="1" dirty="0"/>
              <a:t>] </a:t>
            </a:r>
            <a:r>
              <a:rPr lang="ko-KR" altLang="en-US" b="1" dirty="0"/>
              <a:t>단계적 오픈 전략</a:t>
            </a:r>
            <a:r>
              <a:rPr lang="en-US" altLang="ko-KR" b="1" dirty="0"/>
              <a:t>(1)</a:t>
            </a:r>
            <a:endParaRPr lang="ko-KR" altLang="en-US" b="1" dirty="0"/>
          </a:p>
        </p:txBody>
      </p:sp>
      <p:sp>
        <p:nvSpPr>
          <p:cNvPr id="6" name="사각형: 둥근 모서리 3">
            <a:extLst>
              <a:ext uri="{FF2B5EF4-FFF2-40B4-BE49-F238E27FC236}">
                <a16:creationId xmlns:a16="http://schemas.microsoft.com/office/drawing/2014/main" id="{5037105E-7DFC-A9ED-6958-C5C0CD091546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F2A76FA8-1617-98DD-211A-FB2B9FBDD8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213" y="606298"/>
            <a:ext cx="11501119" cy="553063"/>
          </a:xfrm>
        </p:spPr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안정적인 오픈 이행을 위해 </a:t>
            </a:r>
            <a:r>
              <a:rPr lang="en-US" altLang="ko-KR" dirty="0"/>
              <a:t>3</a:t>
            </a:r>
            <a:r>
              <a:rPr lang="ko-KR" altLang="en-US" dirty="0"/>
              <a:t>단계로 나누어 오픈을 진행하며</a:t>
            </a:r>
            <a:r>
              <a:rPr lang="en-US" altLang="ko-KR" dirty="0"/>
              <a:t>, </a:t>
            </a:r>
            <a:r>
              <a:rPr lang="ko-KR" altLang="en-US" dirty="0"/>
              <a:t>매장 현장과 브랜드의 상황을 기반으로 지역별</a:t>
            </a:r>
            <a:r>
              <a:rPr lang="en-US" altLang="ko-KR" dirty="0"/>
              <a:t>/</a:t>
            </a:r>
            <a:r>
              <a:rPr lang="ko-KR" altLang="en-US" dirty="0"/>
              <a:t>브랜드별</a:t>
            </a:r>
            <a:r>
              <a:rPr lang="en-US" altLang="ko-KR" dirty="0"/>
              <a:t>/</a:t>
            </a:r>
            <a:r>
              <a:rPr lang="ko-KR" altLang="en-US" dirty="0"/>
              <a:t>요일별로 세밀하게 계획을 수립하여</a:t>
            </a:r>
            <a:endParaRPr lang="en-US" altLang="ko-KR" dirty="0"/>
          </a:p>
          <a:p>
            <a:r>
              <a:rPr lang="ko-KR" altLang="en-US" dirty="0"/>
              <a:t>   현장의 혼란을 최소화 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C07DC94-9CA1-F6DC-856F-FA0208E900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406896"/>
              </p:ext>
            </p:extLst>
          </p:nvPr>
        </p:nvGraphicFramePr>
        <p:xfrm>
          <a:off x="865916" y="1615440"/>
          <a:ext cx="10387419" cy="4610100"/>
        </p:xfrm>
        <a:graphic>
          <a:graphicData uri="http://schemas.openxmlformats.org/drawingml/2006/table">
            <a:tbl>
              <a:tblPr>
                <a:effectLst/>
                <a:tableStyleId>{5C22544A-7EE6-4342-B048-85BDC9FD1C3A}</a:tableStyleId>
              </a:tblPr>
              <a:tblGrid>
                <a:gridCol w="988239">
                  <a:extLst>
                    <a:ext uri="{9D8B030D-6E8A-4147-A177-3AD203B41FA5}">
                      <a16:colId xmlns:a16="http://schemas.microsoft.com/office/drawing/2014/main" val="1543215685"/>
                    </a:ext>
                  </a:extLst>
                </a:gridCol>
                <a:gridCol w="3133060">
                  <a:extLst>
                    <a:ext uri="{9D8B030D-6E8A-4147-A177-3AD203B41FA5}">
                      <a16:colId xmlns:a16="http://schemas.microsoft.com/office/drawing/2014/main" val="2612983912"/>
                    </a:ext>
                  </a:extLst>
                </a:gridCol>
                <a:gridCol w="3133060">
                  <a:extLst>
                    <a:ext uri="{9D8B030D-6E8A-4147-A177-3AD203B41FA5}">
                      <a16:colId xmlns:a16="http://schemas.microsoft.com/office/drawing/2014/main" val="3204184580"/>
                    </a:ext>
                  </a:extLst>
                </a:gridCol>
                <a:gridCol w="3133060">
                  <a:extLst>
                    <a:ext uri="{9D8B030D-6E8A-4147-A177-3AD203B41FA5}">
                      <a16:colId xmlns:a16="http://schemas.microsoft.com/office/drawing/2014/main" val="231886129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구분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102206" marR="102206" marT="31752" marB="317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218009"/>
                  </a:ext>
                </a:extLst>
              </a:tr>
              <a:tr h="3735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일정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102206" marR="102206" marT="31752" marB="317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25.9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월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25.11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월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~ 12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월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26.1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월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~ 2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월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472445"/>
                  </a:ext>
                </a:extLst>
              </a:tr>
              <a:tr h="37351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대상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102206" marR="102206" marT="31752" marB="317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직영 </a:t>
                      </a:r>
                      <a:r>
                        <a:rPr kumimoji="0" lang="en-US" altLang="ko-KR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2~5</a:t>
                      </a:r>
                      <a:r>
                        <a:rPr kumimoji="0" lang="ko-KR" altLang="en-US" sz="10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개</a:t>
                      </a:r>
                      <a:endParaRPr kumimoji="0" lang="en-US" altLang="ko-K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전체 매장 </a:t>
                      </a:r>
                      <a:r>
                        <a:rPr lang="en-US" altLang="ko-KR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1,300</a:t>
                      </a:r>
                      <a:r>
                        <a:rPr lang="ko-KR" altLang="en-US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개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(ex.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지역별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브랜드별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사용량별 권역 정의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)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전체 매장 </a:t>
                      </a:r>
                      <a:r>
                        <a:rPr lang="en-US" altLang="ko-KR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700</a:t>
                      </a:r>
                      <a:r>
                        <a:rPr lang="ko-KR" altLang="en-US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개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 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(ex.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지역별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브랜드별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, </a:t>
                      </a:r>
                      <a:r>
                        <a:rPr lang="ko-KR" altLang="en-US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사용량별 권역 정의</a:t>
                      </a:r>
                      <a:r>
                        <a:rPr lang="en-US" altLang="ko-KR" sz="1000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)</a:t>
                      </a: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02732"/>
                  </a:ext>
                </a:extLst>
              </a:tr>
              <a:tr h="229335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단계별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전환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102206" marR="102206" marT="31752" marB="317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 Light" panose="020004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36747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8517" marR="851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10357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주요수행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" panose="02000503000000020004" pitchFamily="50" charset="-127"/>
                        </a:rPr>
                        <a:t>작업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Pretendard" panose="02000503000000020004" pitchFamily="50" charset="-127"/>
                      </a:endParaRPr>
                    </a:p>
                  </a:txBody>
                  <a:tcPr marL="102206" marR="102206" marT="31752" marB="31752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기준정보 검증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파일럿 매출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Daily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집계 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신성통상 영업관리와 각종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I/F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검증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프로젝트팀 현장지원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</a:txBody>
                  <a:tcPr marL="80477" marR="8047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각 매장의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POS SW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배포 설치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POS – POS/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키오스크 관리시스템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–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영업관리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I/F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검증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CAT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단말기 사용 매장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대략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300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개 직영점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한하여 별도 업체 소싱을 통한 진행 필요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     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매뉴얼은 프로젝트팀에서 제공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그 외 매장은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게시판등을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활용하여 온라인 배포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</a:txBody>
                  <a:tcPr marL="80477" marR="8047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에이션패션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점포의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POS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SW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배포 설치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POS 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리얼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매출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Daily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집계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POS – POS/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키오스크 관리시스템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  –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영업관리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I/F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검증</a:t>
                      </a:r>
                      <a:endParaRPr lang="en-US" altLang="ko-KR" sz="900" b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Pretendard" panose="02000803000000020004" pitchFamily="50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Pretendard" panose="02000803000000020004" pitchFamily="50" charset="-127"/>
                        </a:rPr>
                        <a:t>온라인 배포 진행</a:t>
                      </a:r>
                      <a:endParaRPr kumimoji="0" lang="ko-KR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Pretendard" panose="02000803000000020004" pitchFamily="50" charset="-127"/>
                        <a:sym typeface="YouandiModern HeadRegular (본문)"/>
                      </a:endParaRPr>
                    </a:p>
                  </a:txBody>
                  <a:tcPr marL="80477" marR="80477" marT="31752" marB="31752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526069"/>
                  </a:ext>
                </a:extLst>
              </a:tr>
            </a:tbl>
          </a:graphicData>
        </a:graphic>
      </p:graphicFrame>
      <p:sp>
        <p:nvSpPr>
          <p:cNvPr id="9" name="갈매기형 수장 40">
            <a:extLst>
              <a:ext uri="{FF2B5EF4-FFF2-40B4-BE49-F238E27FC236}">
                <a16:creationId xmlns:a16="http://schemas.microsoft.com/office/drawing/2014/main" id="{0CB1F913-17AA-8289-25A4-119BB2CFBDDA}"/>
              </a:ext>
            </a:extLst>
          </p:cNvPr>
          <p:cNvSpPr/>
          <p:nvPr/>
        </p:nvSpPr>
        <p:spPr>
          <a:xfrm>
            <a:off x="4980214" y="1616530"/>
            <a:ext cx="3273879" cy="517070"/>
          </a:xfrm>
          <a:prstGeom prst="chevron">
            <a:avLst>
              <a:gd name="adj" fmla="val 33209"/>
            </a:avLst>
          </a:prstGeom>
          <a:solidFill>
            <a:srgbClr val="0557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Step2. </a:t>
            </a:r>
          </a:p>
          <a:p>
            <a:pPr algn="ctr" defTabSz="914400">
              <a:defRPr/>
            </a:pPr>
            <a:r>
              <a:rPr lang="ko-KR" altLang="en-US" sz="1200" b="1" kern="0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신성통상 전체 매장 전환</a:t>
            </a:r>
            <a:endParaRPr lang="en-US" altLang="ko-KR" sz="1200" b="1" kern="0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0" name="오각형 44">
            <a:extLst>
              <a:ext uri="{FF2B5EF4-FFF2-40B4-BE49-F238E27FC236}">
                <a16:creationId xmlns:a16="http://schemas.microsoft.com/office/drawing/2014/main" id="{2EDE52DC-F41D-4C0E-AD46-3B5D776A6CF6}"/>
              </a:ext>
            </a:extLst>
          </p:cNvPr>
          <p:cNvSpPr/>
          <p:nvPr/>
        </p:nvSpPr>
        <p:spPr>
          <a:xfrm>
            <a:off x="1850686" y="1616530"/>
            <a:ext cx="3268321" cy="517070"/>
          </a:xfrm>
          <a:prstGeom prst="homePlate">
            <a:avLst>
              <a:gd name="adj" fmla="val 35889"/>
            </a:avLst>
          </a:prstGeom>
          <a:solidFill>
            <a:srgbClr val="109ED6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Step1.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신성통상 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파일럿 전환</a:t>
            </a:r>
            <a:endParaRPr kumimoji="0" lang="en-US" altLang="ko-KR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1" name="갈매기형 수장 45">
            <a:extLst>
              <a:ext uri="{FF2B5EF4-FFF2-40B4-BE49-F238E27FC236}">
                <a16:creationId xmlns:a16="http://schemas.microsoft.com/office/drawing/2014/main" id="{12F497F8-0DB9-44E1-DC4D-A94A2DDC1FB8}"/>
              </a:ext>
            </a:extLst>
          </p:cNvPr>
          <p:cNvSpPr/>
          <p:nvPr/>
        </p:nvSpPr>
        <p:spPr>
          <a:xfrm>
            <a:off x="8125752" y="1616530"/>
            <a:ext cx="3271591" cy="517070"/>
          </a:xfrm>
          <a:prstGeom prst="chevron">
            <a:avLst>
              <a:gd name="adj" fmla="val 3320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r>
              <a:rPr lang="en-US" altLang="ko-KR" sz="1200" b="1" kern="0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Step3. </a:t>
            </a:r>
          </a:p>
          <a:p>
            <a:pPr algn="ctr" defTabSz="914400">
              <a:defRPr/>
            </a:pPr>
            <a:r>
              <a:rPr lang="ko-KR" altLang="en-US" sz="1200" b="1" kern="0" dirty="0" err="1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에이션패션</a:t>
            </a:r>
            <a:r>
              <a:rPr lang="ko-KR" altLang="en-US" sz="1200" b="1" kern="0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 전체 매장 전환</a:t>
            </a:r>
            <a:endParaRPr lang="en-US" altLang="ko-KR" sz="1200" b="1" kern="0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5D6FC12-3FFC-8742-C678-BE499B351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573" y="3028690"/>
            <a:ext cx="2148352" cy="197822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FEEECE2-7239-9D59-0549-85ADF0D23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496" y="3028690"/>
            <a:ext cx="2128569" cy="197822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79956F5-DE7A-EB4A-13ED-1FB8C38CEF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814" y="3028690"/>
            <a:ext cx="2128569" cy="197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45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0A5D-EC0B-FB08-A745-9AF76E342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9BA8885-6012-7919-AB60-A6B01DEFA2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참조</a:t>
            </a:r>
            <a:r>
              <a:rPr lang="en-US" altLang="ko-KR" b="1" dirty="0"/>
              <a:t>] </a:t>
            </a:r>
            <a:r>
              <a:rPr lang="ko-KR" altLang="en-US" b="1" dirty="0"/>
              <a:t>단계적 오픈 전략</a:t>
            </a:r>
            <a:r>
              <a:rPr lang="en-US" altLang="ko-KR" b="1" dirty="0"/>
              <a:t>(2)</a:t>
            </a:r>
            <a:endParaRPr lang="ko-KR" altLang="en-US" b="1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A5E962F2-F1ED-1D91-6250-FB468852E8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213" y="606298"/>
            <a:ext cx="11501119" cy="553063"/>
          </a:xfrm>
        </p:spPr>
        <p:txBody>
          <a:bodyPr/>
          <a:lstStyle/>
          <a:p>
            <a:r>
              <a:rPr lang="en-US" altLang="ko-KR" dirty="0"/>
              <a:t>- Step2, Step3 </a:t>
            </a:r>
            <a:r>
              <a:rPr lang="ko-KR" altLang="en-US" dirty="0" err="1"/>
              <a:t>오픈시</a:t>
            </a:r>
            <a:r>
              <a:rPr lang="ko-KR" altLang="en-US" dirty="0"/>
              <a:t> 대상 </a:t>
            </a:r>
            <a:r>
              <a:rPr lang="ko-KR" altLang="en-US" dirty="0" err="1"/>
              <a:t>매장수</a:t>
            </a:r>
            <a:r>
              <a:rPr lang="ko-KR" altLang="en-US" dirty="0"/>
              <a:t> 및 일정은 발주사와 협의하여 진행하며</a:t>
            </a:r>
            <a:r>
              <a:rPr lang="en-US" altLang="ko-KR" dirty="0"/>
              <a:t>, </a:t>
            </a:r>
            <a:r>
              <a:rPr lang="ko-KR" altLang="en-US" dirty="0"/>
              <a:t>오프라인 설치시 발주사가 별도로 계약한 업체와 긴밀하게 협업하여 수행 함 </a:t>
            </a:r>
          </a:p>
        </p:txBody>
      </p:sp>
      <p:sp>
        <p:nvSpPr>
          <p:cNvPr id="3" name="사각형: 둥근 모서리 3">
            <a:extLst>
              <a:ext uri="{FF2B5EF4-FFF2-40B4-BE49-F238E27FC236}">
                <a16:creationId xmlns:a16="http://schemas.microsoft.com/office/drawing/2014/main" id="{EF2100CE-E5A8-4F35-8A46-B4D1B53EA504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4E8EFE6-6254-E5BF-6DE9-73DDB74C3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846461"/>
              </p:ext>
            </p:extLst>
          </p:nvPr>
        </p:nvGraphicFramePr>
        <p:xfrm>
          <a:off x="813061" y="1733266"/>
          <a:ext cx="10490870" cy="4379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4472">
                  <a:extLst>
                    <a:ext uri="{9D8B030D-6E8A-4147-A177-3AD203B41FA5}">
                      <a16:colId xmlns:a16="http://schemas.microsoft.com/office/drawing/2014/main" val="66859093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2311546271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1987927146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2832596767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853650822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870382521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1647919093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605094659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421502713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4178101992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1713625569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4040643937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2552909948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402865233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1565955016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648557984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962807060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115372622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2328092843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3020862319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4020179585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1881079208"/>
                    </a:ext>
                  </a:extLst>
                </a:gridCol>
                <a:gridCol w="427109">
                  <a:extLst>
                    <a:ext uri="{9D8B030D-6E8A-4147-A177-3AD203B41FA5}">
                      <a16:colId xmlns:a16="http://schemas.microsoft.com/office/drawing/2014/main" val="4037983158"/>
                    </a:ext>
                  </a:extLst>
                </a:gridCol>
              </a:tblGrid>
              <a:tr h="276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구분</a:t>
                      </a:r>
                    </a:p>
                  </a:txBody>
                  <a:tcPr marL="102206" marR="102206" marT="40325" marB="403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25.09</a:t>
                      </a:r>
                      <a:r>
                        <a:rPr lang="ko-KR" altLang="en-US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10</a:t>
                      </a:r>
                      <a:r>
                        <a:rPr lang="ko-KR" altLang="en-US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102206" marR="102206" marT="40325" marB="40325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kern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316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kern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316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kern="0" dirty="0">
                        <a:ln>
                          <a:noFill/>
                        </a:ln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316C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11</a:t>
                      </a:r>
                      <a:r>
                        <a:rPr lang="ko-KR" altLang="en-US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102206" marR="102206" marT="40325" marB="40325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12</a:t>
                      </a:r>
                      <a:r>
                        <a:rPr lang="ko-KR" altLang="en-US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102206" marR="102206" marT="40325" marB="40325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26.01</a:t>
                      </a:r>
                      <a:r>
                        <a:rPr lang="ko-KR" altLang="en-US" sz="1100" kern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월</a:t>
                      </a:r>
                    </a:p>
                  </a:txBody>
                  <a:tcPr marL="102206" marR="102206" marT="40325" marB="40325"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435754"/>
                  </a:ext>
                </a:extLst>
              </a:tr>
              <a:tr h="6171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Step1</a:t>
                      </a:r>
                    </a:p>
                    <a:p>
                      <a:pPr algn="ctr" latinLnBrk="1"/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신성통상</a:t>
                      </a:r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100" b="1" kern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452523"/>
                  </a:ext>
                </a:extLst>
              </a:tr>
              <a:tr h="27984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Step2</a:t>
                      </a:r>
                    </a:p>
                    <a:p>
                      <a:pPr algn="ctr" latinLnBrk="1"/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신성통상</a:t>
                      </a:r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100" b="1" kern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025949"/>
                  </a:ext>
                </a:extLst>
              </a:tr>
              <a:tr h="6877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Step3</a:t>
                      </a:r>
                    </a:p>
                    <a:p>
                      <a:pPr algn="ctr" latinLnBrk="1"/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100" b="1" kern="0" dirty="0" err="1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에이션패션</a:t>
                      </a:r>
                      <a:r>
                        <a:rPr lang="en-US" altLang="ko-KR" sz="1100" b="1" kern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  <a:cs typeface="Pretendard" panose="02000503000000020004" pitchFamily="2" charset="-127"/>
                        </a:rPr>
                        <a:t>)</a:t>
                      </a:r>
                      <a:endParaRPr lang="ko-KR" altLang="en-US" sz="1100" b="1" kern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latin typeface="+mn-ea"/>
                        <a:ea typeface="+mn-ea"/>
                        <a:cs typeface="Pretendard" panose="02000503000000020004" pitchFamily="2" charset="-127"/>
                      </a:endParaRPr>
                    </a:p>
                  </a:txBody>
                  <a:tcPr marL="102206" marR="102206" marT="40325" marB="40325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71257"/>
                  </a:ext>
                </a:extLst>
              </a:tr>
            </a:tbl>
          </a:graphicData>
        </a:graphic>
      </p:graphicFrame>
      <p:sp>
        <p:nvSpPr>
          <p:cNvPr id="5" name="말풍선: 사각형 4">
            <a:extLst>
              <a:ext uri="{FF2B5EF4-FFF2-40B4-BE49-F238E27FC236}">
                <a16:creationId xmlns:a16="http://schemas.microsoft.com/office/drawing/2014/main" id="{9BCA766A-B1C7-9CDB-E297-C9DC0BE442D6}"/>
              </a:ext>
            </a:extLst>
          </p:cNvPr>
          <p:cNvSpPr/>
          <p:nvPr/>
        </p:nvSpPr>
        <p:spPr>
          <a:xfrm>
            <a:off x="2049584" y="2724875"/>
            <a:ext cx="2544405" cy="1029678"/>
          </a:xfrm>
          <a:prstGeom prst="wedgeRectCallout">
            <a:avLst>
              <a:gd name="adj1" fmla="val -42044"/>
              <a:gd name="adj2" fmla="val -73381"/>
            </a:avLst>
          </a:prstGeom>
          <a:solidFill>
            <a:srgbClr val="F8F0DA"/>
          </a:solidFill>
          <a:ln w="9525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108000" anchor="ctr"/>
          <a:lstStyle/>
          <a:p>
            <a:pPr marL="85725" indent="-85725" defTabSz="825510" eaLnBrk="1" latinLnBrk="1" hangingPunct="1">
              <a:lnSpc>
                <a:spcPct val="100000"/>
              </a:lnSpc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대상 매장 수 </a:t>
            </a:r>
            <a:r>
              <a:rPr lang="en-US" altLang="ko-KR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: </a:t>
            </a: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직영점 </a:t>
            </a:r>
            <a:r>
              <a:rPr lang="en-US" altLang="ko-KR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4</a:t>
            </a: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개점</a:t>
            </a:r>
            <a:endParaRPr lang="en-US" altLang="ko-KR" sz="1100" dirty="0">
              <a:ln>
                <a:noFill/>
              </a:ln>
              <a:solidFill>
                <a:srgbClr val="FF6600"/>
              </a:solidFill>
              <a:latin typeface="+mn-ea"/>
              <a:cs typeface="Pretendard" panose="02000503000000020004" pitchFamily="2" charset="-127"/>
            </a:endParaRPr>
          </a:p>
          <a:p>
            <a:pPr marL="85725" indent="-85725" defTabSz="825510" latinLnBrk="1">
              <a:spcBef>
                <a:spcPts val="600"/>
              </a:spcBef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noFill/>
                </a:ln>
                <a:latin typeface="+mn-ea"/>
                <a:cs typeface="Pretendard" panose="02000503000000020004" pitchFamily="2" charset="-127"/>
              </a:rPr>
              <a:t>오프라인 진행</a:t>
            </a:r>
            <a:r>
              <a:rPr lang="en-US" altLang="ko-KR" sz="1100" dirty="0">
                <a:ln>
                  <a:noFill/>
                </a:ln>
                <a:latin typeface="+mn-ea"/>
                <a:cs typeface="Pretendard" panose="02000503000000020004" pitchFamily="2" charset="-127"/>
              </a:rPr>
              <a:t>(4</a:t>
            </a:r>
            <a:r>
              <a:rPr lang="ko-KR" altLang="en-US" sz="1100" dirty="0">
                <a:ln>
                  <a:noFill/>
                </a:ln>
                <a:latin typeface="+mn-ea"/>
                <a:cs typeface="Pretendard" panose="02000503000000020004" pitchFamily="2" charset="-127"/>
              </a:rPr>
              <a:t>차수</a:t>
            </a:r>
            <a:r>
              <a:rPr lang="en-US" altLang="ko-KR" sz="1100" dirty="0">
                <a:ln>
                  <a:noFill/>
                </a:ln>
                <a:latin typeface="+mn-ea"/>
                <a:cs typeface="Pretendard" panose="02000503000000020004" pitchFamily="2" charset="-127"/>
              </a:rPr>
              <a:t>, 4</a:t>
            </a:r>
            <a:r>
              <a:rPr lang="ko-KR" altLang="en-US" sz="1100" dirty="0">
                <a:ln>
                  <a:noFill/>
                </a:ln>
                <a:latin typeface="+mn-ea"/>
                <a:cs typeface="Pretendard" panose="02000503000000020004" pitchFamily="2" charset="-127"/>
              </a:rPr>
              <a:t>개점</a:t>
            </a:r>
            <a:r>
              <a:rPr lang="en-US" altLang="ko-KR" sz="1100" dirty="0">
                <a:ln>
                  <a:noFill/>
                </a:ln>
                <a:latin typeface="+mn-ea"/>
                <a:cs typeface="Pretendard" panose="02000503000000020004" pitchFamily="2" charset="-127"/>
              </a:rPr>
              <a:t>)</a:t>
            </a: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- 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1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개점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週 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, 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프로젝트팀 매장 방문</a:t>
            </a:r>
            <a:endParaRPr lang="ko-KR" altLang="en-US" sz="1100" dirty="0"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5" name="말풍선: 사각형 14">
            <a:extLst>
              <a:ext uri="{FF2B5EF4-FFF2-40B4-BE49-F238E27FC236}">
                <a16:creationId xmlns:a16="http://schemas.microsoft.com/office/drawing/2014/main" id="{22C6B26D-8B57-76BA-D789-742A35C1BF67}"/>
              </a:ext>
            </a:extLst>
          </p:cNvPr>
          <p:cNvSpPr/>
          <p:nvPr/>
        </p:nvSpPr>
        <p:spPr>
          <a:xfrm>
            <a:off x="4718958" y="3217633"/>
            <a:ext cx="3252004" cy="1974584"/>
          </a:xfrm>
          <a:prstGeom prst="wedgeRectCallout">
            <a:avLst>
              <a:gd name="adj1" fmla="val -13014"/>
              <a:gd name="adj2" fmla="val -63551"/>
            </a:avLst>
          </a:prstGeom>
          <a:solidFill>
            <a:srgbClr val="F8F0DA"/>
          </a:solidFill>
          <a:ln w="9525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108000" anchor="ctr"/>
          <a:lstStyle/>
          <a:p>
            <a:pPr marL="85725" indent="-85725" defTabSz="825510" eaLnBrk="1" latinLnBrk="1" hangingPunct="1">
              <a:lnSpc>
                <a:spcPct val="100000"/>
              </a:lnSpc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대상 매장 수 </a:t>
            </a:r>
            <a:r>
              <a:rPr lang="en-US" altLang="ko-KR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: 1,300 </a:t>
            </a: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개점</a:t>
            </a:r>
            <a:endParaRPr lang="en-US" altLang="ko-KR" sz="1100" dirty="0">
              <a:ln>
                <a:noFill/>
              </a:ln>
              <a:solidFill>
                <a:srgbClr val="FF6600"/>
              </a:solidFill>
              <a:latin typeface="+mn-ea"/>
              <a:cs typeface="Pretendard" panose="02000503000000020004" pitchFamily="2" charset="-127"/>
            </a:endParaRPr>
          </a:p>
          <a:p>
            <a:pPr marL="85725" indent="-85725" defTabSz="825510" latinLnBrk="1">
              <a:spcBef>
                <a:spcPts val="600"/>
              </a:spcBef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오프라인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진행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(8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차수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, 300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개점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)</a:t>
            </a: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- 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약 </a:t>
            </a: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40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개점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週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(8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日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)</a:t>
            </a: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- 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설치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업체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 매장 방문</a:t>
            </a:r>
            <a:endParaRPr lang="en-US" altLang="ko-KR" sz="1100" dirty="0">
              <a:ln>
                <a:noFill/>
              </a:ln>
              <a:latin typeface="+mn-ea"/>
              <a:cs typeface="Pretendard Light" panose="02000403000000020004" pitchFamily="50" charset="-127"/>
            </a:endParaRPr>
          </a:p>
          <a:p>
            <a:pPr marL="85725" indent="-85725" defTabSz="825510" latinLnBrk="1">
              <a:spcBef>
                <a:spcPts val="600"/>
              </a:spcBef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온라인 진행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(8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차수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, 1,000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개점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)</a:t>
            </a: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- 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약 </a:t>
            </a: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130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개점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週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(70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日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)</a:t>
            </a:r>
            <a:endParaRPr lang="en-US" altLang="ko-KR" sz="1100" dirty="0">
              <a:latin typeface="+mn-ea"/>
              <a:cs typeface="Pretendard Light" panose="02000403000000020004" pitchFamily="50" charset="-127"/>
            </a:endParaRP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  : 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매주 수요일</a:t>
            </a: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목요일 오전에 설치파일 개시</a:t>
            </a:r>
            <a:endParaRPr lang="en-US" altLang="ko-KR" sz="1100" dirty="0">
              <a:latin typeface="+mn-ea"/>
              <a:cs typeface="Pretendard Light" panose="02000403000000020004" pitchFamily="50" charset="-127"/>
            </a:endParaRP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- 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프로젝트팀 원격지원</a:t>
            </a:r>
            <a:endParaRPr lang="en-US" altLang="ko-KR" sz="1100" dirty="0">
              <a:ln>
                <a:noFill/>
              </a:ln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6" name="Line 346">
            <a:extLst>
              <a:ext uri="{FF2B5EF4-FFF2-40B4-BE49-F238E27FC236}">
                <a16:creationId xmlns:a16="http://schemas.microsoft.com/office/drawing/2014/main" id="{39CCFBD4-4968-D12C-DD02-CA0FB8687A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9575" y="2310836"/>
            <a:ext cx="1092220" cy="4200"/>
          </a:xfrm>
          <a:prstGeom prst="line">
            <a:avLst/>
          </a:prstGeom>
          <a:noFill/>
          <a:ln w="25400">
            <a:pattFill prst="wdUpDiag">
              <a:fgClr>
                <a:srgbClr val="8BABD9"/>
              </a:fgClr>
              <a:bgClr>
                <a:srgbClr val="003366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7" name="Oval 241">
            <a:extLst>
              <a:ext uri="{FF2B5EF4-FFF2-40B4-BE49-F238E27FC236}">
                <a16:creationId xmlns:a16="http://schemas.microsoft.com/office/drawing/2014/main" id="{F82CAB43-2154-A9B3-983B-558317A50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5263" y="224989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8" name="Oval 241">
            <a:extLst>
              <a:ext uri="{FF2B5EF4-FFF2-40B4-BE49-F238E27FC236}">
                <a16:creationId xmlns:a16="http://schemas.microsoft.com/office/drawing/2014/main" id="{0EE2DEB2-B03A-6185-01B8-C3FBE2F57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795" y="224989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9" name="Oval 241">
            <a:extLst>
              <a:ext uri="{FF2B5EF4-FFF2-40B4-BE49-F238E27FC236}">
                <a16:creationId xmlns:a16="http://schemas.microsoft.com/office/drawing/2014/main" id="{EE96C01D-5CCD-75C5-0BAA-6F9073D04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9617" y="224989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0" name="Oval 241">
            <a:extLst>
              <a:ext uri="{FF2B5EF4-FFF2-40B4-BE49-F238E27FC236}">
                <a16:creationId xmlns:a16="http://schemas.microsoft.com/office/drawing/2014/main" id="{D08E0F75-53B8-411A-595C-FC0C8931B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440" y="224989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1" name="Line 346">
            <a:extLst>
              <a:ext uri="{FF2B5EF4-FFF2-40B4-BE49-F238E27FC236}">
                <a16:creationId xmlns:a16="http://schemas.microsoft.com/office/drawing/2014/main" id="{74592322-CEDF-01ED-FF1D-A1CC3F45C09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9173" y="2827495"/>
            <a:ext cx="2812773" cy="4202"/>
          </a:xfrm>
          <a:prstGeom prst="line">
            <a:avLst/>
          </a:prstGeom>
          <a:noFill/>
          <a:ln w="25400">
            <a:pattFill prst="wdUpDiag">
              <a:fgClr>
                <a:srgbClr val="8BABD9"/>
              </a:fgClr>
              <a:bgClr>
                <a:srgbClr val="003366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2" name="Oval 241">
            <a:extLst>
              <a:ext uri="{FF2B5EF4-FFF2-40B4-BE49-F238E27FC236}">
                <a16:creationId xmlns:a16="http://schemas.microsoft.com/office/drawing/2014/main" id="{E228E071-98AE-8EFF-2BCB-C9802E14D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860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3" name="Oval 241">
            <a:extLst>
              <a:ext uri="{FF2B5EF4-FFF2-40B4-BE49-F238E27FC236}">
                <a16:creationId xmlns:a16="http://schemas.microsoft.com/office/drawing/2014/main" id="{1FCEAE1B-5EFB-B121-FC53-69A5DC3C2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372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4" name="Oval 241">
            <a:extLst>
              <a:ext uri="{FF2B5EF4-FFF2-40B4-BE49-F238E27FC236}">
                <a16:creationId xmlns:a16="http://schemas.microsoft.com/office/drawing/2014/main" id="{F6404862-075A-AF23-E040-660D1A881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648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5" name="Oval 241">
            <a:extLst>
              <a:ext uri="{FF2B5EF4-FFF2-40B4-BE49-F238E27FC236}">
                <a16:creationId xmlns:a16="http://schemas.microsoft.com/office/drawing/2014/main" id="{2161EC54-6259-4108-3934-9C7675490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436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6" name="Oval 241">
            <a:extLst>
              <a:ext uri="{FF2B5EF4-FFF2-40B4-BE49-F238E27FC236}">
                <a16:creationId xmlns:a16="http://schemas.microsoft.com/office/drawing/2014/main" id="{006DE562-54FD-53B8-3524-F41CC2060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224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7" name="Oval 241">
            <a:extLst>
              <a:ext uri="{FF2B5EF4-FFF2-40B4-BE49-F238E27FC236}">
                <a16:creationId xmlns:a16="http://schemas.microsoft.com/office/drawing/2014/main" id="{F4A2DE88-D1C6-5879-37AF-4FC3EB34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8012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8" name="Oval 241">
            <a:extLst>
              <a:ext uri="{FF2B5EF4-FFF2-40B4-BE49-F238E27FC236}">
                <a16:creationId xmlns:a16="http://schemas.microsoft.com/office/drawing/2014/main" id="{8474B45E-2D89-4EB2-8DB4-444AA92BE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3800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29" name="Line 346">
            <a:extLst>
              <a:ext uri="{FF2B5EF4-FFF2-40B4-BE49-F238E27FC236}">
                <a16:creationId xmlns:a16="http://schemas.microsoft.com/office/drawing/2014/main" id="{D0005BE6-D51C-B9F6-315D-384CC22C91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02726" y="5738752"/>
            <a:ext cx="1105641" cy="0"/>
          </a:xfrm>
          <a:prstGeom prst="line">
            <a:avLst/>
          </a:prstGeom>
          <a:noFill/>
          <a:ln w="25400">
            <a:pattFill prst="wdUpDiag">
              <a:fgClr>
                <a:srgbClr val="8BABD9"/>
              </a:fgClr>
              <a:bgClr>
                <a:srgbClr val="003366"/>
              </a:bgClr>
            </a:patt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defTabSz="68580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0" name="Oval 241">
            <a:extLst>
              <a:ext uri="{FF2B5EF4-FFF2-40B4-BE49-F238E27FC236}">
                <a16:creationId xmlns:a16="http://schemas.microsoft.com/office/drawing/2014/main" id="{611B1CCF-7215-6551-9951-C94F9EAB6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8414" y="567758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1" name="Oval 241">
            <a:extLst>
              <a:ext uri="{FF2B5EF4-FFF2-40B4-BE49-F238E27FC236}">
                <a16:creationId xmlns:a16="http://schemas.microsoft.com/office/drawing/2014/main" id="{13E69D74-20EA-32EB-7B05-EBC192BD7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066" y="567758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2" name="Oval 241">
            <a:extLst>
              <a:ext uri="{FF2B5EF4-FFF2-40B4-BE49-F238E27FC236}">
                <a16:creationId xmlns:a16="http://schemas.microsoft.com/office/drawing/2014/main" id="{7B3ACCA3-545A-1FB1-9C22-165832E55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1718" y="567758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3" name="Oval 241">
            <a:extLst>
              <a:ext uri="{FF2B5EF4-FFF2-40B4-BE49-F238E27FC236}">
                <a16:creationId xmlns:a16="http://schemas.microsoft.com/office/drawing/2014/main" id="{BF23ECB4-069C-AEE0-9F4A-9CDD341AF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8370" y="5677586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34" name="말풍선: 사각형 33">
            <a:extLst>
              <a:ext uri="{FF2B5EF4-FFF2-40B4-BE49-F238E27FC236}">
                <a16:creationId xmlns:a16="http://schemas.microsoft.com/office/drawing/2014/main" id="{9AABFDD7-185D-4898-75F7-6F6F5CB73F02}"/>
              </a:ext>
            </a:extLst>
          </p:cNvPr>
          <p:cNvSpPr/>
          <p:nvPr/>
        </p:nvSpPr>
        <p:spPr>
          <a:xfrm>
            <a:off x="8095931" y="4068594"/>
            <a:ext cx="3161236" cy="1211256"/>
          </a:xfrm>
          <a:prstGeom prst="wedgeRectCallout">
            <a:avLst>
              <a:gd name="adj1" fmla="val 4495"/>
              <a:gd name="adj2" fmla="val 80125"/>
            </a:avLst>
          </a:prstGeom>
          <a:solidFill>
            <a:srgbClr val="F8F0DA"/>
          </a:solidFill>
          <a:ln w="9525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wrap="square" lIns="108000" anchor="ctr"/>
          <a:lstStyle/>
          <a:p>
            <a:pPr marL="85725" indent="-85725" defTabSz="825510" eaLnBrk="1" latinLnBrk="1" hangingPunct="1">
              <a:lnSpc>
                <a:spcPct val="100000"/>
              </a:lnSpc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대상 매장 수 </a:t>
            </a:r>
            <a:r>
              <a:rPr lang="en-US" altLang="ko-KR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: 700 </a:t>
            </a:r>
            <a:r>
              <a:rPr lang="ko-KR" altLang="en-US" sz="1100" dirty="0">
                <a:ln>
                  <a:noFill/>
                </a:ln>
                <a:solidFill>
                  <a:srgbClr val="FF6600"/>
                </a:solidFill>
                <a:latin typeface="+mn-ea"/>
                <a:cs typeface="Pretendard" panose="02000503000000020004" pitchFamily="2" charset="-127"/>
              </a:rPr>
              <a:t>개점</a:t>
            </a:r>
            <a:endParaRPr lang="en-US" altLang="ko-KR" sz="1100" dirty="0">
              <a:ln>
                <a:noFill/>
              </a:ln>
              <a:solidFill>
                <a:srgbClr val="FF6600"/>
              </a:solidFill>
              <a:latin typeface="+mn-ea"/>
              <a:cs typeface="Pretendard" panose="02000503000000020004" pitchFamily="2" charset="-127"/>
            </a:endParaRPr>
          </a:p>
          <a:p>
            <a:pPr marL="85725" indent="-85725" defTabSz="825510" latinLnBrk="1">
              <a:spcBef>
                <a:spcPts val="600"/>
              </a:spcBef>
              <a:buClr>
                <a:srgbClr val="856B55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온라인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 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진행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(4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차수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, 700</a:t>
            </a:r>
            <a:r>
              <a:rPr lang="ko-KR" altLang="en-US" sz="1100" dirty="0">
                <a:latin typeface="+mn-ea"/>
                <a:cs typeface="Pretendard" panose="02000503000000020004" pitchFamily="2" charset="-127"/>
              </a:rPr>
              <a:t>개점</a:t>
            </a:r>
            <a:r>
              <a:rPr lang="en-US" altLang="ko-KR" sz="1100" dirty="0">
                <a:latin typeface="+mn-ea"/>
                <a:cs typeface="Pretendard" panose="02000503000000020004" pitchFamily="2" charset="-127"/>
              </a:rPr>
              <a:t>)</a:t>
            </a: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- 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약 </a:t>
            </a: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175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개점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 週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(</a:t>
            </a: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35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개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日</a:t>
            </a:r>
            <a:r>
              <a:rPr lang="en-US" altLang="ko-KR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)</a:t>
            </a: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  : 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매주 수요일</a:t>
            </a: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/</a:t>
            </a:r>
            <a:r>
              <a:rPr lang="ko-KR" altLang="en-US" sz="1100" dirty="0">
                <a:latin typeface="+mn-ea"/>
                <a:cs typeface="Pretendard Light" panose="02000403000000020004" pitchFamily="50" charset="-127"/>
              </a:rPr>
              <a:t>목요일 오전에 설치파일 개시</a:t>
            </a:r>
            <a:endParaRPr lang="en-US" altLang="ko-KR" sz="1100" dirty="0">
              <a:latin typeface="+mn-ea"/>
              <a:cs typeface="Pretendard Light" panose="02000403000000020004" pitchFamily="50" charset="-127"/>
            </a:endParaRPr>
          </a:p>
          <a:p>
            <a:pPr defTabSz="825510" latinLnBrk="1">
              <a:buClr>
                <a:srgbClr val="856B55"/>
              </a:buClr>
              <a:buSzPct val="100000"/>
              <a:defRPr/>
            </a:pPr>
            <a:r>
              <a:rPr lang="en-US" altLang="ko-KR" sz="1100" dirty="0">
                <a:latin typeface="+mn-ea"/>
                <a:cs typeface="Pretendard Light" panose="02000403000000020004" pitchFamily="50" charset="-127"/>
              </a:rPr>
              <a:t>   - </a:t>
            </a:r>
            <a:r>
              <a:rPr lang="ko-KR" altLang="en-US" sz="1100" dirty="0">
                <a:ln>
                  <a:noFill/>
                </a:ln>
                <a:latin typeface="+mn-ea"/>
                <a:cs typeface="Pretendard Light" panose="02000403000000020004" pitchFamily="50" charset="-127"/>
              </a:rPr>
              <a:t>프로젝트팀 원격지원</a:t>
            </a:r>
            <a:endParaRPr lang="en-US" altLang="ko-KR" sz="1100" dirty="0">
              <a:ln>
                <a:noFill/>
              </a:ln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35" name="Oval 241">
            <a:extLst>
              <a:ext uri="{FF2B5EF4-FFF2-40B4-BE49-F238E27FC236}">
                <a16:creationId xmlns:a16="http://schemas.microsoft.com/office/drawing/2014/main" id="{95D26A4E-B864-2685-3006-C536D34F3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9587" y="2767768"/>
            <a:ext cx="144313" cy="144000"/>
          </a:xfrm>
          <a:prstGeom prst="ellipse">
            <a:avLst/>
          </a:prstGeom>
          <a:solidFill>
            <a:srgbClr val="FFFFFF"/>
          </a:solidFill>
          <a:ln w="19050" algn="ctr">
            <a:solidFill>
              <a:srgbClr val="3366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rgbClr val="1F3D7A">
                      <a:alpha val="50000"/>
                    </a:srgbClr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/>
          <a:p>
            <a:pPr algn="ctr" defTabSz="684610">
              <a:defRPr/>
            </a:pPr>
            <a:endParaRPr lang="ko-KR" altLang="en-US" sz="600" b="1" kern="0" dirty="0">
              <a:solidFill>
                <a:srgbClr val="000000"/>
              </a:solidFill>
              <a:latin typeface="+mn-ea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1801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B6A6885-99ED-4967-A12A-0BE1B5195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42" y="2129256"/>
            <a:ext cx="5248944" cy="4038496"/>
          </a:xfrm>
          <a:prstGeom prst="rect">
            <a:avLst/>
          </a:prstGeom>
        </p:spPr>
      </p:pic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조직도 및 역할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성공적인 사업 수행을 목표로 프로젝트 조직을 구성 운영하며</a:t>
            </a:r>
            <a:r>
              <a:rPr lang="en-US" altLang="ko-KR" dirty="0"/>
              <a:t>, </a:t>
            </a:r>
            <a:r>
              <a:rPr lang="ko-KR" altLang="en-US" dirty="0"/>
              <a:t>조직간 원활한 협업을 위한 역할 및 책임을 정의 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프로젝트 추진 방안</a:t>
            </a:r>
          </a:p>
        </p:txBody>
      </p:sp>
      <p:graphicFrame>
        <p:nvGraphicFramePr>
          <p:cNvPr id="98" name="표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752419"/>
              </p:ext>
            </p:extLst>
          </p:nvPr>
        </p:nvGraphicFramePr>
        <p:xfrm>
          <a:off x="6087998" y="1873653"/>
          <a:ext cx="5248944" cy="44956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1602">
                  <a:extLst>
                    <a:ext uri="{9D8B030D-6E8A-4147-A177-3AD203B41FA5}">
                      <a16:colId xmlns:a16="http://schemas.microsoft.com/office/drawing/2014/main" val="3402889471"/>
                    </a:ext>
                  </a:extLst>
                </a:gridCol>
                <a:gridCol w="1595120">
                  <a:extLst>
                    <a:ext uri="{9D8B030D-6E8A-4147-A177-3AD203B41FA5}">
                      <a16:colId xmlns:a16="http://schemas.microsoft.com/office/drawing/2014/main" val="1801928466"/>
                    </a:ext>
                  </a:extLst>
                </a:gridCol>
                <a:gridCol w="2782222">
                  <a:extLst>
                    <a:ext uri="{9D8B030D-6E8A-4147-A177-3AD203B41FA5}">
                      <a16:colId xmlns:a16="http://schemas.microsoft.com/office/drawing/2014/main" val="3683730879"/>
                    </a:ext>
                  </a:extLst>
                </a:gridCol>
              </a:tblGrid>
              <a:tr h="22087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sz="9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역할 및 책임</a:t>
                      </a:r>
                      <a:endParaRPr lang="ko-KR" sz="9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9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주요 </a:t>
                      </a:r>
                      <a:r>
                        <a:rPr lang="ko-KR" altLang="en-US" sz="900" b="1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kern="12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Activity</a:t>
                      </a:r>
                      <a:endParaRPr lang="ko-KR" sz="9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45985"/>
                  </a:ext>
                </a:extLst>
              </a:tr>
              <a:tr h="382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Steering Committee</a:t>
                      </a:r>
                      <a:endParaRPr lang="ko-KR" altLang="en-US" sz="9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최고 의사결정기구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프로젝트와 연관된 운영</a:t>
                      </a:r>
                      <a:r>
                        <a:rPr kumimoji="0"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분쟁</a:t>
                      </a:r>
                      <a:r>
                        <a:rPr kumimoji="0"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kumimoji="0" lang="ko-KR" altLang="en-US" sz="9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조정지원</a:t>
                      </a:r>
                      <a:endParaRPr kumimoji="0" lang="ko-KR" altLang="en-US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</a:t>
                      </a:r>
                      <a:r>
                        <a:rPr kumimoji="0" lang="ko-KR" altLang="en-US" sz="9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수행범위에</a:t>
                      </a: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대한 승인</a:t>
                      </a:r>
                      <a:endParaRPr kumimoji="0" lang="en-US" alt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099034"/>
                  </a:ext>
                </a:extLst>
              </a:tr>
              <a:tr h="3826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Project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Owner</a:t>
                      </a:r>
                      <a:endParaRPr lang="ko-KR" altLang="en-US" sz="9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총괄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자원 배분 및 의사결정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총괄 관리 및 통제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</a:t>
                      </a:r>
                      <a:r>
                        <a:rPr kumimoji="0" lang="ko-KR" altLang="en-US" sz="9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계획변경의</a:t>
                      </a: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kumimoji="0" lang="ko-KR" altLang="en-US" sz="9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주요이슈</a:t>
                      </a:r>
                      <a:r>
                        <a:rPr kumimoji="0"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발생시 의사결정</a:t>
                      </a:r>
                      <a:endParaRPr kumimoji="0"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80078"/>
                  </a:ext>
                </a:extLst>
              </a:tr>
              <a:tr h="557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Project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Manager</a:t>
                      </a:r>
                      <a:endParaRPr lang="ko-KR" altLang="en-US" sz="9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수행 책임 및 리딩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성과 관리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프로젝트 관리 및 통제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프로젝트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진척사항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 및 주요 이슈 보고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프로젝트 문제점 조정 및 해결</a:t>
                      </a:r>
                      <a:endParaRPr lang="en-US" altLang="ko-KR" sz="900" dirty="0"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529227"/>
                  </a:ext>
                </a:extLst>
              </a:tr>
              <a:tr h="5572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Project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Leader</a:t>
                      </a:r>
                      <a:endParaRPr lang="ko-KR" altLang="en-US" sz="9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리딩 및 진척 점검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이슈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위험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1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차 조치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프로젝트 진행 리딩 및 가이드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프로젝트 진척 사항 및 주요 이슈 정리</a:t>
                      </a:r>
                      <a:endParaRPr lang="en-US" altLang="ko-KR" sz="900" dirty="0"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프로젝트 문제점 검토 및 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1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차 조치</a:t>
                      </a:r>
                      <a:endParaRPr kumimoji="0"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609880"/>
                  </a:ext>
                </a:extLst>
              </a:tr>
              <a:tr h="7523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IT Support</a:t>
                      </a:r>
                      <a:endParaRPr lang="ko-KR" altLang="en-US" sz="900" b="1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수행 가이드 및 방향성 제시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 품질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진행 지원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분야별 요구사항 분석 및 검토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각종 보고회의 및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산출물 내용 검토 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인수인계 단계 리딩 및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교육단계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 지원</a:t>
                      </a:r>
                      <a:endParaRPr lang="en-US" altLang="ko-KR" sz="900" dirty="0"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개발 프로세스 준수여부 감사 및 시정 활동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endParaRPr kumimoji="0"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647276"/>
                  </a:ext>
                </a:extLst>
              </a:tr>
              <a:tr h="55728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BPO</a:t>
                      </a:r>
                    </a:p>
                    <a:p>
                      <a:pPr algn="ctr"/>
                      <a:r>
                        <a:rPr lang="en-US" altLang="ko-KR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(Biz, IT)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요구사항 도출 및 상세설계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IT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설계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및 구현 검증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각 시스템 영역 업무의 요구사항 정의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구체화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기준정보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 표준화 및 데이터 검증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IT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설계내역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화면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기능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)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검증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통합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Test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및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구현검증</a:t>
                      </a:r>
                      <a:endParaRPr kumimoji="0"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188421"/>
                  </a:ext>
                </a:extLst>
              </a:tr>
              <a:tr h="94882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Development</a:t>
                      </a:r>
                    </a:p>
                    <a:p>
                      <a:pPr algn="ctr"/>
                      <a:r>
                        <a:rPr lang="en-US" altLang="ko-KR" sz="9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ea"/>
                        </a:rPr>
                        <a:t>Group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시스템 기능 요건 정의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각 시스템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영역 개발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디자인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보안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성능 반영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인프라 요건 정리 및 구성</a:t>
                      </a:r>
                      <a:endParaRPr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각 시스템 영역 업무 분석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 설계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개발 수행</a:t>
                      </a:r>
                      <a:endParaRPr lang="en-US" altLang="ko-KR" sz="900" dirty="0"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인터뷰 실시 및 요구사항 분석을 통한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기능요건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 정의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시스템 개발 및 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Test</a:t>
                      </a: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디자인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보안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성능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요건정의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 및 반영</a:t>
                      </a:r>
                      <a:endParaRPr lang="en-US" altLang="ko-KR" sz="900" dirty="0"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인프라의 요건 정리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구성</a:t>
                      </a:r>
                      <a:r>
                        <a:rPr lang="en-US" altLang="ko-KR" sz="900" dirty="0"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  <a:cs typeface="Arial" charset="0"/>
                        </a:rPr>
                        <a:t>테스트 및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  <a:cs typeface="Arial" charset="0"/>
                        </a:rPr>
                        <a:t>이슈해결</a:t>
                      </a:r>
                      <a:endParaRPr kumimoji="0" lang="ko-KR" sz="9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94684"/>
                  </a:ext>
                </a:extLst>
              </a:tr>
            </a:tbl>
          </a:graphicData>
        </a:graphic>
      </p:graphicFrame>
      <p:sp>
        <p:nvSpPr>
          <p:cNvPr id="108" name="모서리가 둥근 직사각형 107"/>
          <p:cNvSpPr/>
          <p:nvPr/>
        </p:nvSpPr>
        <p:spPr>
          <a:xfrm>
            <a:off x="7792631" y="1438006"/>
            <a:ext cx="1846588" cy="3464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역할 및 책임</a:t>
            </a:r>
          </a:p>
        </p:txBody>
      </p:sp>
      <p:sp>
        <p:nvSpPr>
          <p:cNvPr id="75" name="모서리가 둥근 직사각형 74"/>
          <p:cNvSpPr/>
          <p:nvPr/>
        </p:nvSpPr>
        <p:spPr>
          <a:xfrm>
            <a:off x="2261724" y="1438006"/>
            <a:ext cx="1846588" cy="3464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조직도</a:t>
            </a:r>
          </a:p>
        </p:txBody>
      </p:sp>
    </p:spTree>
    <p:extLst>
      <p:ext uri="{BB962C8B-B14F-4D97-AF65-F5344CB8AC3E}">
        <p14:creationId xmlns:p14="http://schemas.microsoft.com/office/powerpoint/2010/main" val="1189506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프로젝트 관리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보고 및 협의체</a:t>
            </a:r>
            <a:endParaRPr lang="en-US" altLang="ko-KR" sz="2000" dirty="0">
              <a:latin typeface="+mn-ea"/>
            </a:endParaRPr>
          </a:p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품질 관리</a:t>
            </a:r>
            <a:endParaRPr lang="en-US" altLang="ko-KR" sz="2000" dirty="0">
              <a:latin typeface="+mn-ea"/>
            </a:endParaRPr>
          </a:p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변경 관리</a:t>
            </a:r>
            <a:endParaRPr lang="en-US" altLang="ko-KR" sz="2000" dirty="0">
              <a:latin typeface="+mn-ea"/>
            </a:endParaRPr>
          </a:p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산출물 관리</a:t>
            </a:r>
            <a:endParaRPr lang="en-US" altLang="ko-KR" sz="2000" dirty="0">
              <a:latin typeface="+mn-ea"/>
            </a:endParaRP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3871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보고 및 협의체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>
                <a:sym typeface="Wingdings 2"/>
              </a:rPr>
              <a:t>프로젝트 진행 상황 공유 및 발생할 수 있는 이슈</a:t>
            </a:r>
            <a:r>
              <a:rPr lang="en-US" altLang="ko-KR" dirty="0">
                <a:sym typeface="Wingdings 2"/>
              </a:rPr>
              <a:t>, </a:t>
            </a:r>
            <a:r>
              <a:rPr lang="ko-KR" altLang="en-US" dirty="0">
                <a:sym typeface="Wingdings 2"/>
              </a:rPr>
              <a:t>위험 요소를 조기에 발견하고 효율적으로 해결하기 위한 정기</a:t>
            </a:r>
            <a:r>
              <a:rPr lang="en-US" altLang="ko-KR" dirty="0">
                <a:sym typeface="Wingdings 2"/>
              </a:rPr>
              <a:t>/</a:t>
            </a:r>
            <a:r>
              <a:rPr lang="ko-KR" altLang="en-US" dirty="0">
                <a:sym typeface="Wingdings 2"/>
              </a:rPr>
              <a:t>수시 회의체 및 보고 체계를 운영 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프로젝트 관리 방안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243137"/>
              </p:ext>
            </p:extLst>
          </p:nvPr>
        </p:nvGraphicFramePr>
        <p:xfrm>
          <a:off x="718458" y="1565668"/>
          <a:ext cx="10736035" cy="46639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8071">
                  <a:extLst>
                    <a:ext uri="{9D8B030D-6E8A-4147-A177-3AD203B41FA5}">
                      <a16:colId xmlns:a16="http://schemas.microsoft.com/office/drawing/2014/main" val="3402889471"/>
                    </a:ext>
                  </a:extLst>
                </a:gridCol>
                <a:gridCol w="1036864">
                  <a:extLst>
                    <a:ext uri="{9D8B030D-6E8A-4147-A177-3AD203B41FA5}">
                      <a16:colId xmlns:a16="http://schemas.microsoft.com/office/drawing/2014/main" val="1188366371"/>
                    </a:ext>
                  </a:extLst>
                </a:gridCol>
                <a:gridCol w="3477986">
                  <a:extLst>
                    <a:ext uri="{9D8B030D-6E8A-4147-A177-3AD203B41FA5}">
                      <a16:colId xmlns:a16="http://schemas.microsoft.com/office/drawing/2014/main" val="3683730879"/>
                    </a:ext>
                  </a:extLst>
                </a:gridCol>
                <a:gridCol w="1518557">
                  <a:extLst>
                    <a:ext uri="{9D8B030D-6E8A-4147-A177-3AD203B41FA5}">
                      <a16:colId xmlns:a16="http://schemas.microsoft.com/office/drawing/2014/main" val="2840611521"/>
                    </a:ext>
                  </a:extLst>
                </a:gridCol>
                <a:gridCol w="1526520">
                  <a:extLst>
                    <a:ext uri="{9D8B030D-6E8A-4147-A177-3AD203B41FA5}">
                      <a16:colId xmlns:a16="http://schemas.microsoft.com/office/drawing/2014/main" val="2258055066"/>
                    </a:ext>
                  </a:extLst>
                </a:gridCol>
                <a:gridCol w="2278037">
                  <a:extLst>
                    <a:ext uri="{9D8B030D-6E8A-4147-A177-3AD203B41FA5}">
                      <a16:colId xmlns:a16="http://schemas.microsoft.com/office/drawing/2014/main" val="2313788065"/>
                    </a:ext>
                  </a:extLst>
                </a:gridCol>
              </a:tblGrid>
              <a:tr h="263133"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목적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주기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일정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참석대상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45985"/>
                  </a:ext>
                </a:extLst>
              </a:tr>
              <a:tr h="659606">
                <a:tc rowSpan="4"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회의체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운영계획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en-US" altLang="ko-KR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Steering Committee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주요 핵심 이슈 사항 보고 및 의사 결정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필요시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발생시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Project Owner,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관련 경영진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Project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Manager, IT BPO,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프로젝트팀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099034"/>
                  </a:ext>
                </a:extLst>
              </a:tr>
              <a:tr h="266887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이슈 회의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이슈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공유 및 의사 결정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필요시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발생시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Project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Manager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현업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BPO, IT BPO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운영팀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프로젝트팀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80078"/>
                  </a:ext>
                </a:extLst>
              </a:tr>
              <a:tr h="478351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워크샵</a:t>
                      </a:r>
                      <a:endParaRPr 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분석</a:t>
                      </a:r>
                      <a:r>
                        <a:rPr lang="en-US" altLang="ko-KR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/</a:t>
                      </a:r>
                      <a:r>
                        <a:rPr lang="ko-KR" altLang="en-US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설계 결과 리뷰 및 점검</a:t>
                      </a:r>
                      <a:r>
                        <a:rPr lang="en-US" altLang="ko-KR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, </a:t>
                      </a:r>
                      <a:r>
                        <a:rPr lang="ko-KR" altLang="en-US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주요 의사결정 사항</a:t>
                      </a:r>
                      <a:r>
                        <a:rPr lang="ko-KR" altLang="en-US" sz="1000" b="0" kern="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 공유</a:t>
                      </a:r>
                      <a:endParaRPr lang="en-US" altLang="ko-KR" sz="1000" b="0" kern="10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0" kern="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요구사항 </a:t>
                      </a:r>
                      <a:r>
                        <a:rPr lang="en-US" altLang="ko-KR" sz="1000" b="0" kern="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Freezing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분석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설계 단계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0" indent="0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완료 후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25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년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4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endParaRPr kumimoji="0" lang="ko-KR" sz="900" kern="1200" dirty="0">
                        <a:solidFill>
                          <a:schemeClr val="dk1"/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188421"/>
                  </a:ext>
                </a:extLst>
              </a:tr>
              <a:tr h="448142">
                <a:tc vMerge="1"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endParaRPr lang="ko-KR" sz="900" kern="1200" dirty="0">
                        <a:solidFill>
                          <a:schemeClr val="dk1"/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endParaRPr lang="ko-KR" sz="900" kern="1200" dirty="0">
                        <a:solidFill>
                          <a:schemeClr val="dk1"/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오픈 </a:t>
                      </a:r>
                      <a:r>
                        <a:rPr lang="ko-KR" altLang="en-US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계획 점검</a:t>
                      </a:r>
                      <a:r>
                        <a:rPr lang="en-US" altLang="ko-KR" sz="1000" b="0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,</a:t>
                      </a:r>
                      <a:r>
                        <a:rPr lang="en-US" altLang="ko-KR" sz="1000" b="0" kern="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000" b="0" kern="10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주요 의사결정 사항 공유</a:t>
                      </a:r>
                      <a:endParaRPr lang="ko-KR" sz="1000" b="0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오픈 전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25</a:t>
                      </a: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년 </a:t>
                      </a:r>
                      <a:r>
                        <a:rPr kumimoji="0"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8</a:t>
                      </a: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  <a:r>
                        <a:rPr kumimoji="0"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10</a:t>
                      </a: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  <a:r>
                        <a:rPr kumimoji="0"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,</a:t>
                      </a: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kumimoji="0"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12</a:t>
                      </a: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  <a:endParaRPr kumimoji="0"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endParaRPr kumimoji="0" lang="ko-KR" sz="900" kern="1200" dirty="0">
                        <a:solidFill>
                          <a:schemeClr val="tx1"/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94684"/>
                  </a:ext>
                </a:extLst>
              </a:tr>
              <a:tr h="478351">
                <a:tc rowSpan="4"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정기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보고체계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착수 보고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사업개요 및 목표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범위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추진전략 등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조직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도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및 </a:t>
                      </a:r>
                      <a:r>
                        <a:rPr lang="ko-KR" alt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인력투입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계획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분석 단계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25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년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Project Owner,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Project Manager,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현업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BPO, IT BPO,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운영팀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프로젝트팀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58729"/>
                  </a:ext>
                </a:extLst>
              </a:tr>
              <a:tr h="689816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중간 보고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주요 과업 이행실적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추진현황 설계 결과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현황 및 방향성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lang="ko-KR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시스템 개발현황 및 향후 추진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일정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구현 단계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25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년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487935"/>
                  </a:ext>
                </a:extLst>
              </a:tr>
              <a:tr h="478351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완료 보고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전체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구축사업 및 수행결과보고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사업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구축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산출물 첨부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H/W, S/W, N/W,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시스템 구축 내역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종료 단계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26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년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36846"/>
                  </a:ext>
                </a:extLst>
              </a:tr>
              <a:tr h="901280">
                <a:tc vMerge="1"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주간 보고</a:t>
                      </a:r>
                      <a:endParaRPr 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전체 추진일정 진척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월간 주요 일정 계획</a:t>
                      </a:r>
                      <a:endParaRPr lang="en-US" altLang="ko-KR" sz="1000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금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주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실적 및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차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주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계획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보고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업무 추진상 문제점 및 대응방안 보고</a:t>
                      </a: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주요 의사결정 및 협조 사항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매주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목요일</a:t>
                      </a:r>
                      <a:endParaRPr kumimoji="0"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IT BPO,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운영팀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프로젝트팀</a:t>
                      </a:r>
                      <a:endParaRPr kumimoji="0" lang="ko-KR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22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41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품질 관리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>
                <a:sym typeface="Wingdings 2"/>
              </a:rPr>
              <a:t>- </a:t>
            </a:r>
            <a:r>
              <a:rPr lang="ko-KR" altLang="en-US" dirty="0">
                <a:sym typeface="Wingdings 2"/>
              </a:rPr>
              <a:t>품질 확보를 위하여 소스</a:t>
            </a:r>
            <a:r>
              <a:rPr lang="en-US" altLang="ko-KR" dirty="0">
                <a:sym typeface="Wingdings 2"/>
              </a:rPr>
              <a:t>/</a:t>
            </a:r>
            <a:r>
              <a:rPr lang="ko-KR" altLang="en-US" dirty="0">
                <a:sym typeface="Wingdings 2"/>
              </a:rPr>
              <a:t>보안</a:t>
            </a:r>
            <a:r>
              <a:rPr lang="en-US" altLang="ko-KR" dirty="0">
                <a:sym typeface="Wingdings 2"/>
              </a:rPr>
              <a:t>/</a:t>
            </a:r>
            <a:r>
              <a:rPr lang="ko-KR" altLang="en-US" dirty="0">
                <a:sym typeface="Wingdings 2"/>
              </a:rPr>
              <a:t>시스템 점검 및 품질감리를 수행하고</a:t>
            </a:r>
            <a:r>
              <a:rPr lang="en-US" altLang="ko-KR" dirty="0">
                <a:sym typeface="Wingdings 2"/>
              </a:rPr>
              <a:t>, </a:t>
            </a:r>
            <a:r>
              <a:rPr lang="ko-KR" altLang="en-US" dirty="0">
                <a:sym typeface="Wingdings 2"/>
              </a:rPr>
              <a:t>시스템 오픈 전 안정성 확보를 위한 통합 테스트</a:t>
            </a:r>
            <a:r>
              <a:rPr lang="en-US" altLang="ko-KR" dirty="0">
                <a:sym typeface="Wingdings 2"/>
              </a:rPr>
              <a:t>, </a:t>
            </a:r>
            <a:r>
              <a:rPr lang="ko-KR" altLang="en-US" dirty="0">
                <a:sym typeface="Wingdings 2"/>
              </a:rPr>
              <a:t>최종 오픈 사전 점검을 통해 오픈</a:t>
            </a:r>
            <a:endParaRPr lang="en-US" altLang="ko-KR" dirty="0">
              <a:sym typeface="Wingdings 2"/>
            </a:endParaRPr>
          </a:p>
          <a:p>
            <a:r>
              <a:rPr lang="ko-KR" altLang="en-US" dirty="0">
                <a:sym typeface="Wingdings 2"/>
              </a:rPr>
              <a:t>  적합 여부를 점검 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프로젝트 관리 방안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619861"/>
              </p:ext>
            </p:extLst>
          </p:nvPr>
        </p:nvGraphicFramePr>
        <p:xfrm>
          <a:off x="618039" y="1605473"/>
          <a:ext cx="10918613" cy="45842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3119">
                  <a:extLst>
                    <a:ext uri="{9D8B030D-6E8A-4147-A177-3AD203B41FA5}">
                      <a16:colId xmlns:a16="http://schemas.microsoft.com/office/drawing/2014/main" val="3402889471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3683730879"/>
                    </a:ext>
                  </a:extLst>
                </a:gridCol>
                <a:gridCol w="2376781">
                  <a:extLst>
                    <a:ext uri="{9D8B030D-6E8A-4147-A177-3AD203B41FA5}">
                      <a16:colId xmlns:a16="http://schemas.microsoft.com/office/drawing/2014/main" val="2840611521"/>
                    </a:ext>
                  </a:extLst>
                </a:gridCol>
                <a:gridCol w="1149069">
                  <a:extLst>
                    <a:ext uri="{9D8B030D-6E8A-4147-A177-3AD203B41FA5}">
                      <a16:colId xmlns:a16="http://schemas.microsoft.com/office/drawing/2014/main" val="2258055066"/>
                    </a:ext>
                  </a:extLst>
                </a:gridCol>
                <a:gridCol w="1221897">
                  <a:extLst>
                    <a:ext uri="{9D8B030D-6E8A-4147-A177-3AD203B41FA5}">
                      <a16:colId xmlns:a16="http://schemas.microsoft.com/office/drawing/2014/main" val="1778157956"/>
                    </a:ext>
                  </a:extLst>
                </a:gridCol>
                <a:gridCol w="648842">
                  <a:extLst>
                    <a:ext uri="{9D8B030D-6E8A-4147-A177-3AD203B41FA5}">
                      <a16:colId xmlns:a16="http://schemas.microsoft.com/office/drawing/2014/main" val="1830313641"/>
                    </a:ext>
                  </a:extLst>
                </a:gridCol>
                <a:gridCol w="888645">
                  <a:extLst>
                    <a:ext uri="{9D8B030D-6E8A-4147-A177-3AD203B41FA5}">
                      <a16:colId xmlns:a16="http://schemas.microsoft.com/office/drawing/2014/main" val="3969165941"/>
                    </a:ext>
                  </a:extLst>
                </a:gridCol>
                <a:gridCol w="2621700">
                  <a:extLst>
                    <a:ext uri="{9D8B030D-6E8A-4147-A177-3AD203B41FA5}">
                      <a16:colId xmlns:a16="http://schemas.microsoft.com/office/drawing/2014/main" val="2313788065"/>
                    </a:ext>
                  </a:extLst>
                </a:gridCol>
              </a:tblGrid>
              <a:tr h="280479">
                <a:tc gridSpan="2"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주요 내역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수행기간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수행팀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발주사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 err="1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지원팀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45985"/>
                  </a:ext>
                </a:extLst>
              </a:tr>
              <a:tr h="572912">
                <a:tc rowSpan="2"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소스 점검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Code Inspection</a:t>
                      </a:r>
                      <a:endParaRPr lang="ko-KR" altLang="en-US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소스코딩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Rule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소스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Rule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위반 모니터링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역공학을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통한 소스 점검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 단계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altLang="en-US" sz="1000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altLang="en-US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SonarQube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 : Source Code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품질 점검을 자동으로 오류를 검출하는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Tool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099034"/>
                  </a:ext>
                </a:extLst>
              </a:tr>
              <a:tr h="407924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Secure Coding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웹소스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통합 보안 교육</a:t>
                      </a: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소스코드 취약점 분석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 단계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altLang="en-US" sz="1000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altLang="en-US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sz="1000" kern="1200" dirty="0">
                        <a:solidFill>
                          <a:srgbClr val="FF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80078"/>
                  </a:ext>
                </a:extLst>
              </a:tr>
              <a:tr h="435422">
                <a:tc rowSpan="4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품질 점검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인프라 점검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H/W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,H/A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 점검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OS/DB/APP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취약점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 단계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TA, AA, DBA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111915"/>
                  </a:ext>
                </a:extLst>
              </a:tr>
              <a:tr h="435422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성능 점검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성능 점검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통합테스트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단계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TA, AA, DBA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성능테스트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업체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LoadRunner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: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많은 사용자가 사용하는 것 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0" indent="0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 같이 부하를 발생하여 성능을 점검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Tool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804280"/>
                  </a:ext>
                </a:extLst>
              </a:tr>
              <a:tr h="435422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품질 감리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관리 점검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단계별 산출물 점검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 단계 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PM,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TA, AA, DBA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QAM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품질감리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체크리스트 기반 점검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812435"/>
                  </a:ext>
                </a:extLst>
              </a:tr>
              <a:tr h="435422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오픈 사전 점검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오픈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개월 前 오픈 가능 여부 판단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체크리스트 기반 점검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오픈 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PM,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TA, AA, DBA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BPO</a:t>
                      </a:r>
                      <a:endParaRPr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QAM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오픈 사전점검 체크리스트 기반 점검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535218"/>
                  </a:ext>
                </a:extLst>
              </a:tr>
              <a:tr h="572912">
                <a:tc rowSpan="3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업무 점검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단위 테스트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 완성도 검증</a:t>
                      </a: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비즈니스 완성도 검증</a:t>
                      </a: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모듈간 연계성 검증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 단계</a:t>
                      </a:r>
                      <a:endParaRPr kumimoji="1"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Jira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에서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결함관리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253937"/>
                  </a:ext>
                </a:extLst>
              </a:tr>
              <a:tr h="572912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통합 테스트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내부 점검 테스트</a:t>
                      </a: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모듈간 테스트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-88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외부 시스템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I/F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테스트 </a:t>
                      </a:r>
                    </a:p>
                  </a:txBody>
                  <a:tcPr marL="72000" marR="0" marT="36000" marB="36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오픈 전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PM,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TA, AA, DBA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BPO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Jira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에서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결함관리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094300"/>
                  </a:ext>
                </a:extLst>
              </a:tr>
              <a:tr h="435422">
                <a:tc vMerge="1"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endParaRPr 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인수 테스트</a:t>
                      </a:r>
                      <a:endParaRPr 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요구사항 기반 테스트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Pct val="80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운영 인수를 위한 점검 테스트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오픈</a:t>
                      </a:r>
                      <a:r>
                        <a:rPr kumimoji="0"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 안정화 단계</a:t>
                      </a:r>
                      <a:endParaRPr kumimoji="0"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PL,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개발자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TA, AA, DBA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endParaRPr lang="en-US" altLang="ko-KR" sz="1000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Char char="§"/>
                      </a:pPr>
                      <a:r>
                        <a:rPr kumimoji="0"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운영 담당자</a:t>
                      </a:r>
                      <a:endParaRPr kumimoji="0" 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Jira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에서 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결함관리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94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1320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변경 관리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>
                <a:sym typeface="Wingdings 2"/>
              </a:rPr>
              <a:t>본 프로젝트 구축 기간 중 범위 및 일정에 중대한 영향을 미치는 개발 요건의 변동 사항 발생 시</a:t>
            </a:r>
            <a:r>
              <a:rPr lang="en-US" altLang="ko-KR" dirty="0">
                <a:sym typeface="Wingdings 2"/>
              </a:rPr>
              <a:t>, </a:t>
            </a:r>
            <a:r>
              <a:rPr lang="ko-KR" altLang="en-US" dirty="0">
                <a:sym typeface="Wingdings 2"/>
              </a:rPr>
              <a:t>프로젝트에 대한 영향이 최소화되도록 변경관리 위원회 </a:t>
            </a:r>
            <a:endParaRPr lang="en-US" altLang="ko-KR" dirty="0">
              <a:sym typeface="Wingdings 2"/>
            </a:endParaRPr>
          </a:p>
          <a:p>
            <a:r>
              <a:rPr lang="en-US" altLang="ko-KR" dirty="0">
                <a:sym typeface="Wingdings 2"/>
              </a:rPr>
              <a:t>  (CCB)</a:t>
            </a:r>
            <a:r>
              <a:rPr lang="ko-KR" altLang="en-US" dirty="0">
                <a:sym typeface="Wingdings 2"/>
              </a:rPr>
              <a:t>를 통한 의사결정을 진행 함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프로젝트 관리 방안</a:t>
            </a:r>
          </a:p>
        </p:txBody>
      </p:sp>
      <p:grpSp>
        <p:nvGrpSpPr>
          <p:cNvPr id="14" name="그룹 13"/>
          <p:cNvGrpSpPr/>
          <p:nvPr/>
        </p:nvGrpSpPr>
        <p:grpSpPr>
          <a:xfrm>
            <a:off x="1061672" y="1879819"/>
            <a:ext cx="10090740" cy="2251307"/>
            <a:chOff x="1318935" y="1833096"/>
            <a:chExt cx="7818292" cy="190160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B3B33EB-8AD9-3599-71C2-C54374E73186}"/>
                </a:ext>
              </a:extLst>
            </p:cNvPr>
            <p:cNvSpPr/>
            <p:nvPr/>
          </p:nvSpPr>
          <p:spPr bwMode="auto">
            <a:xfrm>
              <a:off x="1318935" y="1833096"/>
              <a:ext cx="7818292" cy="190160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77800" lvl="0" indent="-88900" latinLnBrk="0">
                <a:lnSpc>
                  <a:spcPct val="150000"/>
                </a:lnSpc>
                <a:buFont typeface="Arial" pitchFamily="34" charset="0"/>
                <a:buChar char="•"/>
              </a:pPr>
              <a:endParaRPr lang="ko-KR" altLang="en-US" sz="1000">
                <a:solidFill>
                  <a:srgbClr val="000099"/>
                </a:solidFill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8CCF646-ECF2-DA30-EFD3-75ED01F58DA1}"/>
                </a:ext>
              </a:extLst>
            </p:cNvPr>
            <p:cNvSpPr/>
            <p:nvPr/>
          </p:nvSpPr>
          <p:spPr bwMode="auto">
            <a:xfrm>
              <a:off x="1601267" y="2227715"/>
              <a:ext cx="1188000" cy="962525"/>
            </a:xfrm>
            <a:prstGeom prst="rect">
              <a:avLst/>
            </a:prstGeom>
            <a:solidFill>
              <a:srgbClr val="F8F8F8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4400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      </a:t>
              </a:r>
              <a:r>
                <a:rPr kumimoji="1" lang="en-US" altLang="ko-KR" sz="10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[BPO]</a:t>
              </a:r>
            </a:p>
            <a:p>
              <a:pPr marL="88900" marR="0" indent="-88900" defTabSz="914400" rtl="0" eaLnBrk="1" fontAlgn="base" latinLnBrk="1" hangingPunct="1">
                <a:spcBef>
                  <a:spcPts val="120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1" lang="ko-KR" altLang="en-US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변경 요청</a:t>
              </a:r>
              <a:r>
                <a:rPr kumimoji="1" lang="en-US" altLang="ko-KR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</a:t>
              </a:r>
              <a:r>
                <a:rPr kumimoji="1" lang="ko-KR" altLang="en-US" sz="10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접수</a:t>
              </a:r>
              <a:endParaRPr kumimoji="1" lang="en-US" altLang="ko-K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  <a:p>
              <a:pPr marL="88900" marR="0" indent="-88900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kumimoji="1" lang="ko-KR" altLang="en-US" sz="1000" dirty="0">
                  <a:latin typeface="+mn-ea"/>
                </a:rPr>
                <a:t>요청서</a:t>
              </a:r>
              <a:endParaRPr kumimoji="1" lang="en-US" altLang="ko-KR" sz="1000" dirty="0">
                <a:latin typeface="+mn-ea"/>
              </a:endParaRPr>
            </a:p>
            <a:p>
              <a:pPr marR="0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1" lang="en-US" altLang="ko-KR" sz="1000" dirty="0">
                  <a:latin typeface="+mn-ea"/>
                </a:rPr>
                <a:t>  </a:t>
              </a:r>
              <a:r>
                <a:rPr kumimoji="1" lang="ko-KR" altLang="en-US" sz="1000" dirty="0">
                  <a:latin typeface="+mn-ea"/>
                </a:rPr>
                <a:t>작성 필수</a:t>
              </a:r>
              <a:endParaRPr kumimoji="1" lang="en-US" altLang="ko-KR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  <a:p>
              <a:pPr marL="0" marR="0" indent="0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marL="0" marR="0" indent="0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EB9965B-1099-A040-BC28-FE54508A62A3}"/>
                </a:ext>
              </a:extLst>
            </p:cNvPr>
            <p:cNvSpPr/>
            <p:nvPr/>
          </p:nvSpPr>
          <p:spPr bwMode="auto">
            <a:xfrm>
              <a:off x="3494216" y="2227715"/>
              <a:ext cx="1188000" cy="962525"/>
            </a:xfrm>
            <a:prstGeom prst="rect">
              <a:avLst/>
            </a:prstGeom>
            <a:solidFill>
              <a:srgbClr val="F8F8F8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4400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    [PL/</a:t>
              </a:r>
              <a:r>
                <a:rPr kumimoji="1" lang="ko-KR" altLang="en-US" sz="10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설계자</a:t>
              </a:r>
              <a:r>
                <a:rPr kumimoji="1" lang="en-US" altLang="ko-KR" sz="1000" b="1" i="0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rPr>
                <a:t>]</a:t>
              </a:r>
            </a:p>
            <a:p>
              <a:pPr marL="88900" marR="0" indent="-88900" defTabSz="914400" rtl="0" eaLnBrk="1" fontAlgn="base" latinLnBrk="0" hangingPunct="1">
                <a:spcBef>
                  <a:spcPts val="1200"/>
                </a:spcBef>
                <a:spcAft>
                  <a:spcPct val="0"/>
                </a:spcAft>
                <a:buClrTx/>
                <a:buSzTx/>
                <a:buFont typeface="Arial" pitchFamily="34" charset="0"/>
                <a:buChar char="•"/>
                <a:tabLst/>
              </a:pPr>
              <a:r>
                <a:rPr lang="ko-KR" altLang="en-US" sz="1000" dirty="0">
                  <a:latin typeface="+mn-ea"/>
                </a:rPr>
                <a:t>수용</a:t>
              </a:r>
              <a:r>
                <a:rPr lang="ko-KR" altLang="en-US" sz="1000" dirty="0">
                  <a:solidFill>
                    <a:schemeClr val="tx1"/>
                  </a:solidFill>
                  <a:latin typeface="+mn-ea"/>
                </a:rPr>
                <a:t>여부 판단</a:t>
              </a:r>
              <a:endParaRPr lang="en-US" altLang="ko-KR" sz="1000" dirty="0">
                <a:solidFill>
                  <a:schemeClr val="tx1"/>
                </a:solidFill>
                <a:latin typeface="+mn-ea"/>
              </a:endParaRPr>
            </a:p>
            <a:p>
              <a:pPr marL="0" marR="0" indent="0" defTabSz="914400" rtl="0" eaLnBrk="1" fontAlgn="base" latinLnBrk="0" hangingPunct="1">
                <a:spcBef>
                  <a:spcPts val="6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 dirty="0">
                  <a:latin typeface="+mn-ea"/>
                </a:rPr>
                <a:t>(BPO</a:t>
              </a:r>
              <a:r>
                <a:rPr lang="ko-KR" altLang="en-US" sz="800" dirty="0">
                  <a:latin typeface="+mn-ea"/>
                </a:rPr>
                <a:t>와 함께 업무</a:t>
              </a:r>
              <a:endParaRPr lang="en-US" altLang="ko-KR" sz="800" dirty="0">
                <a:latin typeface="+mn-ea"/>
              </a:endParaRPr>
            </a:p>
            <a:p>
              <a:pPr marL="0" marR="0" indent="0" defTabSz="914400" rtl="0" eaLnBrk="1" fontAlgn="base" latinLnBrk="0" hangingPunct="1"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800" dirty="0">
                  <a:latin typeface="+mn-ea"/>
                </a:rPr>
                <a:t>중요도</a:t>
              </a:r>
              <a:r>
                <a:rPr lang="en-US" altLang="ko-KR" sz="800" dirty="0">
                  <a:latin typeface="+mn-ea"/>
                </a:rPr>
                <a:t>/</a:t>
              </a:r>
              <a:r>
                <a:rPr lang="ko-KR" altLang="en-US" sz="800" dirty="0">
                  <a:latin typeface="+mn-ea"/>
                </a:rPr>
                <a:t>개발 난이도 판단</a:t>
              </a:r>
              <a:r>
                <a:rPr lang="en-US" altLang="ko-KR" sz="800" dirty="0">
                  <a:latin typeface="+mn-ea"/>
                </a:rPr>
                <a:t>)</a:t>
              </a:r>
            </a:p>
            <a:p>
              <a:pPr marL="0" marR="0" indent="0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i="0" u="none" strike="noStrike" cap="none" normalizeH="0" baseline="0" dirty="0">
                <a:ln>
                  <a:noFill/>
                </a:ln>
                <a:effectLst/>
                <a:latin typeface="+mn-ea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BA301209-7A3E-79B3-23CA-1253AC767E1D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 bwMode="auto">
            <a:xfrm>
              <a:off x="2789267" y="2708978"/>
              <a:ext cx="70494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6A0BABC-CD09-DAEF-0AD4-B6904067E01C}"/>
                </a:ext>
              </a:extLst>
            </p:cNvPr>
            <p:cNvSpPr/>
            <p:nvPr/>
          </p:nvSpPr>
          <p:spPr bwMode="auto">
            <a:xfrm>
              <a:off x="5408873" y="2227715"/>
              <a:ext cx="1188000" cy="962525"/>
            </a:xfrm>
            <a:prstGeom prst="rect">
              <a:avLst/>
            </a:prstGeom>
            <a:solidFill>
              <a:srgbClr val="F8F8F8"/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44000" tIns="4572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rtl="0" eaLnBrk="1" fontAlgn="base" latinLnBrk="0" hangingPunct="1">
                <a:spcBef>
                  <a:spcPts val="300"/>
                </a:spcBef>
                <a:buClrTx/>
                <a:buSzTx/>
                <a:buFontTx/>
                <a:buNone/>
                <a:tabLst/>
              </a:pPr>
              <a:r>
                <a:rPr kumimoji="1" lang="en-US" altLang="ko-KR" sz="1000" b="1" i="0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+mn-ea"/>
                </a:rPr>
                <a:t>    [PL/</a:t>
              </a:r>
              <a:r>
                <a:rPr kumimoji="1" lang="ko-KR" altLang="en-US" sz="1000" b="1" i="0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+mn-ea"/>
                </a:rPr>
                <a:t>설계자</a:t>
              </a:r>
              <a:r>
                <a:rPr kumimoji="1" lang="en-US" altLang="ko-KR" sz="1000" b="1" i="0" strike="noStrike" cap="none" normalizeH="0" baseline="0" dirty="0">
                  <a:ln>
                    <a:noFill/>
                  </a:ln>
                  <a:solidFill>
                    <a:schemeClr val="bg2">
                      <a:lumMod val="10000"/>
                    </a:schemeClr>
                  </a:solidFill>
                  <a:effectLst/>
                  <a:latin typeface="+mn-ea"/>
                </a:rPr>
                <a:t>]</a:t>
              </a:r>
            </a:p>
            <a:p>
              <a:pPr marL="88900" lvl="0" indent="-88900">
                <a:spcBef>
                  <a:spcPts val="12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bg2">
                      <a:lumMod val="10000"/>
                    </a:schemeClr>
                  </a:solidFill>
                  <a:latin typeface="+mn-ea"/>
                </a:rPr>
                <a:t>요구사항반영</a:t>
              </a:r>
              <a:endParaRPr lang="en-US" altLang="ko-KR" sz="1000" dirty="0">
                <a:solidFill>
                  <a:schemeClr val="bg2">
                    <a:lumMod val="10000"/>
                  </a:schemeClr>
                </a:solidFill>
                <a:latin typeface="+mn-ea"/>
              </a:endParaRPr>
            </a:p>
            <a:p>
              <a:pPr marL="88900" lvl="0" indent="-88900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en-US" altLang="ko-KR" sz="1000" dirty="0">
                  <a:solidFill>
                    <a:schemeClr val="bg2">
                      <a:lumMod val="10000"/>
                    </a:schemeClr>
                  </a:solidFill>
                  <a:latin typeface="+mn-ea"/>
                </a:rPr>
                <a:t>Baseline</a:t>
              </a:r>
              <a:r>
                <a:rPr lang="ko-KR" altLang="en-US" sz="1000" dirty="0">
                  <a:solidFill>
                    <a:schemeClr val="bg2">
                      <a:lumMod val="10000"/>
                    </a:schemeClr>
                  </a:solidFill>
                  <a:latin typeface="+mn-ea"/>
                </a:rPr>
                <a:t>적용</a:t>
              </a:r>
              <a:endParaRPr lang="en-US" altLang="ko-KR" sz="1000" dirty="0">
                <a:solidFill>
                  <a:schemeClr val="bg2">
                    <a:lumMod val="10000"/>
                  </a:schemeClr>
                </a:solidFill>
                <a:latin typeface="+mn-ea"/>
              </a:endParaRPr>
            </a:p>
            <a:p>
              <a:pPr marL="88900" lvl="0" indent="-88900">
                <a:spcBef>
                  <a:spcPts val="300"/>
                </a:spcBef>
                <a:buFont typeface="Arial" pitchFamily="34" charset="0"/>
                <a:buChar char="•"/>
              </a:pPr>
              <a:r>
                <a:rPr lang="ko-KR" altLang="en-US" sz="1000" dirty="0">
                  <a:solidFill>
                    <a:schemeClr val="bg2">
                      <a:lumMod val="10000"/>
                    </a:schemeClr>
                  </a:solidFill>
                  <a:latin typeface="+mn-ea"/>
                </a:rPr>
                <a:t>변경 대장 관리</a:t>
              </a:r>
              <a:endParaRPr lang="ko-KR" altLang="en-US" sz="1000" b="1" dirty="0">
                <a:solidFill>
                  <a:schemeClr val="bg2">
                    <a:lumMod val="10000"/>
                  </a:schemeClr>
                </a:solidFill>
                <a:latin typeface="+mn-ea"/>
              </a:endParaRP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18F0AF46-0362-B8BE-8F09-980AF5323351}"/>
                </a:ext>
              </a:extLst>
            </p:cNvPr>
            <p:cNvCxnSpPr>
              <a:stCxn id="17" idx="3"/>
              <a:endCxn id="19" idx="1"/>
            </p:cNvCxnSpPr>
            <p:nvPr/>
          </p:nvCxnSpPr>
          <p:spPr bwMode="auto">
            <a:xfrm>
              <a:off x="4682216" y="2708978"/>
              <a:ext cx="726657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377275-7348-8E05-14EC-BFEBB4DF83CA}"/>
                </a:ext>
              </a:extLst>
            </p:cNvPr>
            <p:cNvSpPr txBox="1"/>
            <p:nvPr/>
          </p:nvSpPr>
          <p:spPr>
            <a:xfrm>
              <a:off x="4726588" y="1987750"/>
              <a:ext cx="631904" cy="2400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ko-KR" altLang="en-US" sz="800" b="1" dirty="0">
                  <a:latin typeface="+mn-ea"/>
                </a:rPr>
                <a:t>판단 불가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FDE894F-3494-3F7D-2301-B0D18DEF74BE}"/>
                </a:ext>
              </a:extLst>
            </p:cNvPr>
            <p:cNvSpPr txBox="1"/>
            <p:nvPr/>
          </p:nvSpPr>
          <p:spPr>
            <a:xfrm>
              <a:off x="4830216" y="249528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+mn-ea"/>
                </a:rPr>
                <a:t>수용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2365D4F-31C4-D729-CE73-3ECF51CDFB5E}"/>
                </a:ext>
              </a:extLst>
            </p:cNvPr>
            <p:cNvSpPr/>
            <p:nvPr/>
          </p:nvSpPr>
          <p:spPr bwMode="auto">
            <a:xfrm>
              <a:off x="7398612" y="2227715"/>
              <a:ext cx="1474452" cy="96252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285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1000" b="1" i="0" strike="noStrike" cap="none" normalizeH="0" baseline="0" dirty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latin typeface="+mn-ea"/>
                </a:rPr>
                <a:t>[CCB*]</a:t>
              </a:r>
            </a:p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1000" b="1" dirty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ko-KR" sz="1000" b="1" dirty="0">
                <a:solidFill>
                  <a:schemeClr val="bg1">
                    <a:lumMod val="95000"/>
                  </a:schemeClr>
                </a:solidFill>
                <a:latin typeface="+mn-ea"/>
              </a:endParaRPr>
            </a:p>
            <a:p>
              <a:pPr marL="0" marR="0" indent="0" algn="ctr" defTabSz="914400" rtl="0" eaLnBrk="1" fontAlgn="base" latinLnBrk="1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“</a:t>
              </a:r>
              <a:r>
                <a:rPr lang="ko-KR" altLang="en-US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변경관리 위원회</a:t>
              </a:r>
              <a:r>
                <a:rPr lang="en-US" altLang="ko-KR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” </a:t>
              </a:r>
              <a:r>
                <a:rPr lang="ko-KR" altLang="en-US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소집</a:t>
              </a:r>
              <a:br>
                <a:rPr lang="en-US" altLang="ko-KR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</a:br>
              <a:r>
                <a:rPr lang="en-US" altLang="ko-KR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  <a:sym typeface="Wingdings" pitchFamily="2" charset="2"/>
                </a:rPr>
                <a:t> </a:t>
              </a:r>
              <a:r>
                <a:rPr lang="ko-KR" altLang="en-US" sz="1000" b="1" dirty="0">
                  <a:solidFill>
                    <a:schemeClr val="bg1">
                      <a:lumMod val="95000"/>
                    </a:schemeClr>
                  </a:solidFill>
                  <a:latin typeface="+mn-ea"/>
                </a:rPr>
                <a:t>수용 여부 판단</a:t>
              </a: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CDFFC456-475B-2A60-3487-23101B68A40B}"/>
                </a:ext>
              </a:extLst>
            </p:cNvPr>
            <p:cNvSpPr/>
            <p:nvPr/>
          </p:nvSpPr>
          <p:spPr bwMode="auto">
            <a:xfrm>
              <a:off x="5822853" y="3266094"/>
              <a:ext cx="360040" cy="36952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1" hangingPunct="1"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000" b="1">
                  <a:solidFill>
                    <a:schemeClr val="bg2">
                      <a:lumMod val="10000"/>
                    </a:schemeClr>
                  </a:solidFill>
                  <a:latin typeface="+mn-ea"/>
                </a:rPr>
                <a:t>종료</a:t>
              </a:r>
              <a:endParaRPr kumimoji="1" lang="ko-KR" altLang="en-US" sz="1000" b="1" i="0" u="none" strike="noStrike" cap="none" normalizeH="0" baseline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latin typeface="+mn-ea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260CB0D-C0D1-1335-8DE6-08F41DE1DC4A}"/>
                </a:ext>
              </a:extLst>
            </p:cNvPr>
            <p:cNvSpPr txBox="1"/>
            <p:nvPr/>
          </p:nvSpPr>
          <p:spPr>
            <a:xfrm>
              <a:off x="4830216" y="3242741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+mn-ea"/>
                </a:rPr>
                <a:t>기각</a:t>
              </a:r>
            </a:p>
          </p:txBody>
        </p:sp>
        <p:cxnSp>
          <p:nvCxnSpPr>
            <p:cNvPr id="26" name="꺾인 연결선 35">
              <a:extLst>
                <a:ext uri="{FF2B5EF4-FFF2-40B4-BE49-F238E27FC236}">
                  <a16:creationId xmlns:a16="http://schemas.microsoft.com/office/drawing/2014/main" id="{EC401FBB-9CA1-31F8-9067-4195F51396EB}"/>
                </a:ext>
              </a:extLst>
            </p:cNvPr>
            <p:cNvCxnSpPr>
              <a:stCxn id="17" idx="2"/>
              <a:endCxn id="24" idx="2"/>
            </p:cNvCxnSpPr>
            <p:nvPr/>
          </p:nvCxnSpPr>
          <p:spPr bwMode="auto">
            <a:xfrm rot="16200000" flipH="1">
              <a:off x="4825225" y="2453230"/>
              <a:ext cx="260618" cy="1734637"/>
            </a:xfrm>
            <a:prstGeom prst="bentConnector2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꺾인 연결선 35">
              <a:extLst>
                <a:ext uri="{FF2B5EF4-FFF2-40B4-BE49-F238E27FC236}">
                  <a16:creationId xmlns:a16="http://schemas.microsoft.com/office/drawing/2014/main" id="{EC401FBB-9CA1-31F8-9067-4195F51396EB}"/>
                </a:ext>
              </a:extLst>
            </p:cNvPr>
            <p:cNvCxnSpPr>
              <a:stCxn id="17" idx="0"/>
              <a:endCxn id="23" idx="0"/>
            </p:cNvCxnSpPr>
            <p:nvPr/>
          </p:nvCxnSpPr>
          <p:spPr bwMode="auto">
            <a:xfrm rot="5400000" flipH="1" flipV="1">
              <a:off x="6112027" y="203904"/>
              <a:ext cx="12700" cy="4047622"/>
            </a:xfrm>
            <a:prstGeom prst="bentConnector3">
              <a:avLst>
                <a:gd name="adj1" fmla="val 1800000"/>
              </a:avLst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8" name="꺾인 연결선 35">
              <a:extLst>
                <a:ext uri="{FF2B5EF4-FFF2-40B4-BE49-F238E27FC236}">
                  <a16:creationId xmlns:a16="http://schemas.microsoft.com/office/drawing/2014/main" id="{EC401FBB-9CA1-31F8-9067-4195F51396EB}"/>
                </a:ext>
              </a:extLst>
            </p:cNvPr>
            <p:cNvCxnSpPr>
              <a:stCxn id="23" idx="2"/>
              <a:endCxn id="24" idx="6"/>
            </p:cNvCxnSpPr>
            <p:nvPr/>
          </p:nvCxnSpPr>
          <p:spPr bwMode="auto">
            <a:xfrm rot="5400000">
              <a:off x="7029057" y="2344077"/>
              <a:ext cx="260618" cy="1952945"/>
            </a:xfrm>
            <a:prstGeom prst="bentConnector2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18F0AF46-0362-B8BE-8F09-980AF5323351}"/>
                </a:ext>
              </a:extLst>
            </p:cNvPr>
            <p:cNvCxnSpPr>
              <a:stCxn id="23" idx="1"/>
              <a:endCxn id="19" idx="3"/>
            </p:cNvCxnSpPr>
            <p:nvPr/>
          </p:nvCxnSpPr>
          <p:spPr bwMode="auto">
            <a:xfrm flipH="1">
              <a:off x="6596873" y="2708978"/>
              <a:ext cx="801739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FDE894F-3494-3F7D-2301-B0D18DEF74BE}"/>
                </a:ext>
              </a:extLst>
            </p:cNvPr>
            <p:cNvSpPr txBox="1"/>
            <p:nvPr/>
          </p:nvSpPr>
          <p:spPr>
            <a:xfrm>
              <a:off x="6811820" y="2495284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+mn-ea"/>
                </a:rPr>
                <a:t>수용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60CB0D-C0D1-1335-8DE6-08F41DE1DC4A}"/>
                </a:ext>
              </a:extLst>
            </p:cNvPr>
            <p:cNvSpPr txBox="1"/>
            <p:nvPr/>
          </p:nvSpPr>
          <p:spPr>
            <a:xfrm>
              <a:off x="6811820" y="3242741"/>
              <a:ext cx="389850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>
                  <a:latin typeface="+mn-ea"/>
                </a:rPr>
                <a:t>기각</a:t>
              </a:r>
            </a:p>
          </p:txBody>
        </p:sp>
      </p:grp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DC11765C-117C-A72C-5759-1AE3C9256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382496"/>
              </p:ext>
            </p:extLst>
          </p:nvPr>
        </p:nvGraphicFramePr>
        <p:xfrm>
          <a:off x="1061673" y="4314221"/>
          <a:ext cx="10098906" cy="162121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18241">
                  <a:extLst>
                    <a:ext uri="{9D8B030D-6E8A-4147-A177-3AD203B41FA5}">
                      <a16:colId xmlns:a16="http://schemas.microsoft.com/office/drawing/2014/main" val="1188366371"/>
                    </a:ext>
                  </a:extLst>
                </a:gridCol>
                <a:gridCol w="8580665">
                  <a:extLst>
                    <a:ext uri="{9D8B030D-6E8A-4147-A177-3AD203B41FA5}">
                      <a16:colId xmlns:a16="http://schemas.microsoft.com/office/drawing/2014/main" val="2258055066"/>
                    </a:ext>
                  </a:extLst>
                </a:gridCol>
              </a:tblGrid>
              <a:tr h="235307"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240"/>
                        </a:spcBef>
                        <a:spcAft>
                          <a:spcPts val="240"/>
                        </a:spcAft>
                      </a:pPr>
                      <a:r>
                        <a:rPr lang="ko-KR" altLang="en-US" sz="1000" b="1" kern="1200" dirty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내역</a:t>
                      </a:r>
                      <a:endParaRPr lang="ko-KR" sz="1000" b="1" kern="120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4115" marR="44115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45985"/>
                  </a:ext>
                </a:extLst>
              </a:tr>
              <a:tr h="346476">
                <a:tc>
                  <a:txBody>
                    <a:bodyPr/>
                    <a:lstStyle/>
                    <a:p>
                      <a:pPr marL="0" algn="ctr" defTabSz="914400" rtl="0" eaLnBrk="1" latinLnBrk="1" hangingPunct="1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목적</a:t>
                      </a:r>
                      <a:endParaRPr lang="en-US" altLang="ko-KR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dirty="0">
                          <a:latin typeface="+mn-ea"/>
                        </a:rPr>
                        <a:t>旣 분석</a:t>
                      </a:r>
                      <a:r>
                        <a:rPr lang="en-US" altLang="ko-KR" sz="1000" dirty="0">
                          <a:latin typeface="+mn-ea"/>
                        </a:rPr>
                        <a:t>/</a:t>
                      </a:r>
                      <a:r>
                        <a:rPr lang="ko-KR" altLang="en-US" sz="1000" dirty="0">
                          <a:latin typeface="+mn-ea"/>
                        </a:rPr>
                        <a:t>설계</a:t>
                      </a:r>
                      <a:r>
                        <a:rPr lang="en-US" altLang="ko-KR" sz="1000" dirty="0">
                          <a:latin typeface="+mn-ea"/>
                        </a:rPr>
                        <a:t>/</a:t>
                      </a:r>
                      <a:r>
                        <a:rPr lang="ko-KR" altLang="en-US" sz="1000" dirty="0">
                          <a:latin typeface="+mn-ea"/>
                        </a:rPr>
                        <a:t>개발 계획</a:t>
                      </a:r>
                      <a:r>
                        <a:rPr lang="en-US" altLang="ko-KR" sz="1000" dirty="0">
                          <a:latin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</a:rPr>
                        <a:t>및</a:t>
                      </a:r>
                      <a:r>
                        <a:rPr lang="en-US" altLang="ko-KR" sz="1000" dirty="0">
                          <a:latin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</a:rPr>
                        <a:t>실행에 영향을 주는 변경요청을 관리하여 </a:t>
                      </a:r>
                      <a:r>
                        <a:rPr lang="ko-KR" altLang="en-US" sz="1000" u="sng" dirty="0">
                          <a:latin typeface="+mn-ea"/>
                        </a:rPr>
                        <a:t>프로젝트 진행에 변경 영향을 최소화 </a:t>
                      </a:r>
                      <a:r>
                        <a:rPr lang="ko-KR" altLang="en-US" sz="1000" dirty="0">
                          <a:latin typeface="+mn-ea"/>
                        </a:rPr>
                        <a:t>시스템 품질 및 안정성 확보</a:t>
                      </a:r>
                      <a:endParaRPr lang="ko-KR" altLang="en-US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099034"/>
                  </a:ext>
                </a:extLst>
              </a:tr>
              <a:tr h="346476"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시작 시기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dirty="0">
                          <a:latin typeface="+mn-ea"/>
                        </a:rPr>
                        <a:t>설계 승인 </a:t>
                      </a:r>
                      <a:r>
                        <a:rPr lang="en-US" altLang="ko-KR" sz="1000" dirty="0">
                          <a:latin typeface="+mn-ea"/>
                        </a:rPr>
                        <a:t>(Baseline) </a:t>
                      </a:r>
                      <a:r>
                        <a:rPr lang="ko-KR" altLang="en-US" sz="1000" dirty="0">
                          <a:latin typeface="+mn-ea"/>
                        </a:rPr>
                        <a:t>후 즉시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80078"/>
                  </a:ext>
                </a:extLst>
              </a:tr>
              <a:tr h="346476"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관리 방안</a:t>
                      </a: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dirty="0">
                          <a:latin typeface="+mn-ea"/>
                        </a:rPr>
                        <a:t>변경요청 건은 변경관리 위원회 승인 후 변경 처리 하며</a:t>
                      </a:r>
                      <a:r>
                        <a:rPr lang="en-US" altLang="ko-KR" sz="1000" dirty="0">
                          <a:latin typeface="+mn-ea"/>
                        </a:rPr>
                        <a:t>,  </a:t>
                      </a:r>
                      <a:r>
                        <a:rPr lang="ko-KR" altLang="en-US" sz="1000" dirty="0">
                          <a:latin typeface="+mn-ea"/>
                        </a:rPr>
                        <a:t>의사 결정 및 변경 내용은 변경관리 대장에 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214762"/>
                  </a:ext>
                </a:extLst>
              </a:tr>
              <a:tr h="346476">
                <a:tc>
                  <a:txBody>
                    <a:bodyPr/>
                    <a:lstStyle/>
                    <a:p>
                      <a:pPr marL="0" indent="0" algn="ctr" latinLnBrk="0">
                        <a:spcBef>
                          <a:spcPts val="200"/>
                        </a:spcBef>
                        <a:buSzPct val="80000"/>
                        <a:buFont typeface="Wingdings" pitchFamily="2" charset="2"/>
                        <a:buNone/>
                      </a:pPr>
                      <a:r>
                        <a:rPr lang="ko-KR" altLang="en-US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변경관리위원회</a:t>
                      </a:r>
                      <a:r>
                        <a:rPr lang="en-US" altLang="ko-KR" sz="1000" b="1" kern="1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Times New Roman"/>
                        </a:rPr>
                        <a:t>(CCB)</a:t>
                      </a:r>
                      <a:endParaRPr lang="ko-KR" altLang="en-US" sz="1000" b="1" kern="1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72000" marR="44115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신성통상 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: </a:t>
                      </a:r>
                      <a:r>
                        <a:rPr lang="en-US" altLang="ko-KR" sz="1000" dirty="0">
                          <a:latin typeface="+mn-ea"/>
                        </a:rPr>
                        <a:t>PM, BPO / </a:t>
                      </a:r>
                      <a:r>
                        <a:rPr lang="ko-KR" altLang="en-US" sz="1000" dirty="0" err="1">
                          <a:latin typeface="+mn-ea"/>
                        </a:rPr>
                        <a:t>수행사</a:t>
                      </a:r>
                      <a:r>
                        <a:rPr lang="ko-KR" altLang="en-US" sz="1000" dirty="0">
                          <a:latin typeface="+mn-ea"/>
                        </a:rPr>
                        <a:t> </a:t>
                      </a:r>
                      <a:r>
                        <a:rPr lang="en-US" altLang="ko-KR" sz="1000" dirty="0">
                          <a:latin typeface="+mn-ea"/>
                        </a:rPr>
                        <a:t>: PM, PL, </a:t>
                      </a:r>
                      <a:r>
                        <a:rPr lang="ko-KR" altLang="en-US" sz="1000" dirty="0">
                          <a:latin typeface="+mn-ea"/>
                        </a:rPr>
                        <a:t>해당 설계자</a:t>
                      </a:r>
                      <a:r>
                        <a:rPr lang="en-US" altLang="ko-KR" sz="1000" dirty="0">
                          <a:latin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</a:rPr>
                        <a:t>개발 리더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897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7907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산출물 관리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pc="-50" dirty="0"/>
              <a:t>- </a:t>
            </a:r>
            <a:r>
              <a:rPr lang="ko-KR" altLang="en-US" spc="-50" dirty="0"/>
              <a:t>사업관리 및 개발 관련 산출물</a:t>
            </a:r>
            <a:r>
              <a:rPr lang="en-US" altLang="ko-KR" spc="-50" dirty="0"/>
              <a:t>, </a:t>
            </a:r>
            <a:r>
              <a:rPr lang="ko-KR" altLang="en-US" spc="-50" dirty="0"/>
              <a:t>요구사항 및</a:t>
            </a:r>
            <a:r>
              <a:rPr lang="en-US" altLang="ko-KR" spc="-50" dirty="0"/>
              <a:t> </a:t>
            </a:r>
            <a:r>
              <a:rPr lang="ko-KR" altLang="en-US" dirty="0"/>
              <a:t>각종</a:t>
            </a:r>
            <a:r>
              <a:rPr lang="ko-KR" altLang="en-US" spc="-50" dirty="0"/>
              <a:t> 테스트 결과에 대한 결함은 협업 툴</a:t>
            </a:r>
            <a:r>
              <a:rPr lang="en-US" altLang="ko-KR" spc="-50" dirty="0"/>
              <a:t>(Confluence/Jira)</a:t>
            </a:r>
            <a:r>
              <a:rPr lang="ko-KR" altLang="en-US" spc="-50" dirty="0"/>
              <a:t>을 활용하여 관리 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프로젝트 관리 방안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2760823"/>
              </p:ext>
            </p:extLst>
          </p:nvPr>
        </p:nvGraphicFramePr>
        <p:xfrm>
          <a:off x="730124" y="1516371"/>
          <a:ext cx="10715420" cy="47531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1195">
                  <a:extLst>
                    <a:ext uri="{9D8B030D-6E8A-4147-A177-3AD203B41FA5}">
                      <a16:colId xmlns:a16="http://schemas.microsoft.com/office/drawing/2014/main" val="2724357746"/>
                    </a:ext>
                  </a:extLst>
                </a:gridCol>
                <a:gridCol w="2385909">
                  <a:extLst>
                    <a:ext uri="{9D8B030D-6E8A-4147-A177-3AD203B41FA5}">
                      <a16:colId xmlns:a16="http://schemas.microsoft.com/office/drawing/2014/main" val="376172703"/>
                    </a:ext>
                  </a:extLst>
                </a:gridCol>
                <a:gridCol w="3590293">
                  <a:extLst>
                    <a:ext uri="{9D8B030D-6E8A-4147-A177-3AD203B41FA5}">
                      <a16:colId xmlns:a16="http://schemas.microsoft.com/office/drawing/2014/main" val="2316493812"/>
                    </a:ext>
                  </a:extLst>
                </a:gridCol>
                <a:gridCol w="3518023">
                  <a:extLst>
                    <a:ext uri="{9D8B030D-6E8A-4147-A177-3AD203B41FA5}">
                      <a16:colId xmlns:a16="http://schemas.microsoft.com/office/drawing/2014/main" val="3739152306"/>
                    </a:ext>
                  </a:extLst>
                </a:gridCol>
              </a:tblGrid>
              <a:tr h="2389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단계 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Phase)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활동 </a:t>
                      </a:r>
                      <a:r>
                        <a:rPr lang="en-US" altLang="ko-KR" sz="10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b="1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Activity)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산출물</a:t>
                      </a:r>
                    </a:p>
                  </a:txBody>
                  <a:tcPr marL="13550" marR="13550" marT="312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13550" marR="13550" marT="312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380476"/>
                  </a:ext>
                </a:extLst>
              </a:tr>
              <a:tr h="226109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계획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en-US" altLang="ko-KR" sz="1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Plan)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3550" marR="13550" marT="3127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프로젝트범위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일정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관리방안 정의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착수보고서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WBS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654876"/>
                  </a:ext>
                </a:extLst>
              </a:tr>
              <a:tr h="2215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u="none" strike="noStrike" dirty="0">
                          <a:effectLst/>
                          <a:latin typeface="+mn-ea"/>
                          <a:ea typeface="+mn-ea"/>
                        </a:rPr>
                        <a:t>분석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(Analysis)</a:t>
                      </a:r>
                      <a:endParaRPr lang="en-US" altLang="ko-KR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3550" marR="13550" marT="3127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현황분석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담당자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인터뷰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sz="100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As-Is </a:t>
                      </a:r>
                      <a:r>
                        <a:rPr lang="ko-KR" sz="1000" kern="120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업무 흐름도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911299"/>
                  </a:ext>
                </a:extLst>
              </a:tr>
              <a:tr h="4431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요구사항 분석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정의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용어 정의서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요구사항기술서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(Product Backlog)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Jira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에 요구사항기술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(Product</a:t>
                      </a:r>
                      <a:r>
                        <a:rPr lang="en-US" altLang="ko-KR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Backlog) 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등록 및 </a:t>
                      </a:r>
                      <a:r>
                        <a:rPr lang="ko-KR" altLang="en-US" sz="1000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진척율</a:t>
                      </a:r>
                      <a:r>
                        <a:rPr lang="ko-KR" altLang="en-US" sz="1000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69177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프로세스 모델링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To-Be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업무 흐름도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76816"/>
                  </a:ext>
                </a:extLst>
              </a:tr>
              <a:tr h="480052"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설계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(Design)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3550" marR="13550" marT="3127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DB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엔티티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관계도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(ERD),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테이블 목록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테이블 정의서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코드 정의서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598060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프로그램 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프로그램 목록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프로그램 명세서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메뉴 구조도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6746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화면 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화면 정의서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258925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인터페이스 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인터페이스 정의서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74673"/>
                  </a:ext>
                </a:extLst>
              </a:tr>
              <a:tr h="7016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전환 설계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데이터 전환 계획서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전환 프로그램 목록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전환 프로그램 명세서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매핑 정의서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38843"/>
                  </a:ext>
                </a:extLst>
              </a:tr>
              <a:tr h="221563">
                <a:tc rowSpan="3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altLang="en-US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테스트</a:t>
                      </a:r>
                      <a:endParaRPr lang="en-US" alt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(Development/</a:t>
                      </a: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Integration)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3550" marR="13550" marT="3127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개발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프로그램 파일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727489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단위 테스트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단위테스트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케이스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결과서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결함관리대장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Jira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에서 결함 및 조치현황 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632101"/>
                  </a:ext>
                </a:extLst>
              </a:tr>
              <a:tr h="226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통합 테스트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통합테스트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케이스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결과서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900" kern="1200" dirty="0">
                        <a:solidFill>
                          <a:schemeClr val="dk1"/>
                        </a:solidFill>
                        <a:latin typeface="CJ ONLYONE NEW 본문 Light" panose="00000300000000000000" pitchFamily="2" charset="-127"/>
                        <a:ea typeface="CJ ONLYONE NEW 본문 Light" panose="00000300000000000000" pitchFamily="2" charset="-127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271834"/>
                  </a:ext>
                </a:extLst>
              </a:tr>
              <a:tr h="221563">
                <a:tc rowSpan="4"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구현</a:t>
                      </a:r>
                      <a:r>
                        <a:rPr lang="en-US" altLang="ko-KR" sz="1000" b="1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 </a:t>
                      </a:r>
                      <a:r>
                        <a:rPr lang="en-US" altLang="ko-KR" sz="1000" b="1" u="none" strike="noStrike" dirty="0">
                          <a:effectLst/>
                          <a:latin typeface="+mn-ea"/>
                          <a:ea typeface="+mn-ea"/>
                        </a:rPr>
                        <a:t>(Transition)</a:t>
                      </a:r>
                      <a:endParaRPr lang="ko-KR" sz="10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3550" marR="13550" marT="3127" marB="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SW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설치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시스템 </a:t>
                      </a:r>
                      <a:r>
                        <a:rPr 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릴리즈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(Release)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오픈시나리오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691841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인수 테스트</a:t>
                      </a: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(UAT)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인수테스트</a:t>
                      </a:r>
                      <a:r>
                        <a:rPr lang="ko-KR" altLang="en-US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케이스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/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결과서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Jira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에서 결함 및 조치현황 관리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240932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교육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교육훈련 계획수립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매뉴얼 작성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사용자 매뉴얼</a:t>
                      </a:r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, </a:t>
                      </a:r>
                      <a:r>
                        <a:rPr lang="ko-KR" alt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운영자 매뉴얼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242761"/>
                  </a:ext>
                </a:extLst>
              </a:tr>
              <a:tr h="2215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검수 및 종료</a:t>
                      </a: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ctr" latinLnBrk="0" hangingPunct="1">
                        <a:spcBef>
                          <a:spcPts val="200"/>
                        </a:spcBef>
                        <a:spcAft>
                          <a:spcPts val="0"/>
                        </a:spcAft>
                        <a:buSzPct val="80000"/>
                        <a:buFont typeface="Wingdings" pitchFamily="2" charset="2"/>
                        <a:buChar char="§"/>
                      </a:pPr>
                      <a:r>
                        <a:rPr lang="ko-KR" sz="10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Arial" charset="0"/>
                        </a:rPr>
                        <a:t>완료보고서</a:t>
                      </a: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endParaRPr lang="ko-KR" sz="10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824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IV. </a:t>
            </a:r>
            <a:r>
              <a:rPr lang="ko-KR" altLang="en-US" dirty="0"/>
              <a:t>요청 사항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marL="514350" lvl="1" indent="-514350">
              <a:spcBef>
                <a:spcPts val="1000"/>
              </a:spcBef>
              <a:buFont typeface="+mj-lt"/>
              <a:buAutoNum type="arabicPeriod"/>
            </a:pPr>
            <a:r>
              <a:rPr lang="ko-KR" altLang="en-US" sz="2000" dirty="0">
                <a:latin typeface="+mn-ea"/>
              </a:rPr>
              <a:t>협조 요청사항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8971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협조 요청사항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>
                <a:sym typeface="Wingdings 2"/>
              </a:rPr>
              <a:t>시스템의 성공적인 구축과 안정된 정착을 위해 아래의 사항을 요청 함</a:t>
            </a:r>
            <a:endParaRPr lang="ko-KR" altLang="en-US" spc="-5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IV. </a:t>
            </a:r>
            <a:r>
              <a:rPr lang="ko-KR" altLang="en-US" dirty="0"/>
              <a:t>요청 사항</a:t>
            </a:r>
          </a:p>
        </p:txBody>
      </p:sp>
      <p:sp>
        <p:nvSpPr>
          <p:cNvPr id="5" name="사각형: 둥근 모서리 3">
            <a:extLst>
              <a:ext uri="{FF2B5EF4-FFF2-40B4-BE49-F238E27FC236}">
                <a16:creationId xmlns:a16="http://schemas.microsoft.com/office/drawing/2014/main" id="{EEF7DF7C-3485-194D-DEFA-A6A66044E09F}"/>
              </a:ext>
            </a:extLst>
          </p:cNvPr>
          <p:cNvSpPr/>
          <p:nvPr/>
        </p:nvSpPr>
        <p:spPr>
          <a:xfrm>
            <a:off x="396510" y="1343747"/>
            <a:ext cx="11361672" cy="509994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2023166" y="1660190"/>
            <a:ext cx="1080000" cy="509122"/>
          </a:xfrm>
          <a:prstGeom prst="wedgeRoundRectCallout">
            <a:avLst>
              <a:gd name="adj1" fmla="val 48859"/>
              <a:gd name="adj2" fmla="val 73616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100" dirty="0">
                <a:solidFill>
                  <a:prstClr val="white"/>
                </a:solidFill>
                <a:latin typeface="+mn-ea"/>
              </a:rPr>
              <a:t>!</a:t>
            </a:r>
            <a:endParaRPr lang="ko-KR" altLang="en-US" sz="11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8061B07F-ADE0-FFAF-1DED-F34BAFE2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119" y="1660190"/>
            <a:ext cx="6800427" cy="96181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innerShdw dist="38100" dir="16200000">
              <a:srgbClr val="404040"/>
            </a:innerShdw>
          </a:effectLst>
        </p:spPr>
        <p:txBody>
          <a:bodyPr lIns="216000" rIns="54000" anchor="ctr"/>
          <a:lstStyle/>
          <a:p>
            <a:pPr>
              <a:spcBef>
                <a:spcPts val="300"/>
              </a:spcBef>
            </a:pP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[ </a:t>
            </a:r>
            <a:r>
              <a:rPr lang="ko-KR" altLang="en-US" sz="1400" b="1" kern="0" dirty="0">
                <a:solidFill>
                  <a:srgbClr val="0070C0"/>
                </a:solidFill>
                <a:latin typeface="+mn-ea"/>
              </a:rPr>
              <a:t>경영진의 지속적 관심과 전폭적 지원을 부탁 드립니다 </a:t>
            </a: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! ]</a:t>
            </a:r>
            <a:endParaRPr lang="en-US" altLang="ko-KR" sz="1400" b="1" kern="0" dirty="0">
              <a:solidFill>
                <a:sysClr val="windowText" lastClr="000000"/>
              </a:solidFill>
              <a:latin typeface="+mn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경영진의 관심 및 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Leader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들의 변화 주도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Arial" charset="0"/>
            </a:endParaRPr>
          </a:p>
          <a:p>
            <a:pPr algn="ctr"/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변화 적응을 위한 구성원들의 적극적인 참여 독려와 전폭적인 지원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8" name="모서리가 둥근 사각형 설명선 7"/>
          <p:cNvSpPr/>
          <p:nvPr/>
        </p:nvSpPr>
        <p:spPr>
          <a:xfrm>
            <a:off x="2023166" y="2841009"/>
            <a:ext cx="1080000" cy="509122"/>
          </a:xfrm>
          <a:prstGeom prst="wedgeRoundRectCallout">
            <a:avLst>
              <a:gd name="adj1" fmla="val 48859"/>
              <a:gd name="adj2" fmla="val 73616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100" dirty="0">
                <a:solidFill>
                  <a:prstClr val="white"/>
                </a:solidFill>
                <a:latin typeface="+mn-ea"/>
              </a:rPr>
              <a:t>!!</a:t>
            </a:r>
            <a:endParaRPr lang="ko-KR" altLang="en-US" sz="11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8061B07F-ADE0-FFAF-1DED-F34BAFE2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119" y="2841009"/>
            <a:ext cx="6800427" cy="96181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innerShdw dist="38100" dir="16200000">
              <a:srgbClr val="404040"/>
            </a:innerShdw>
          </a:effectLst>
        </p:spPr>
        <p:txBody>
          <a:bodyPr lIns="216000" rIns="54000" anchor="ctr"/>
          <a:lstStyle/>
          <a:p>
            <a:pPr>
              <a:spcBef>
                <a:spcPts val="600"/>
              </a:spcBef>
            </a:pP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[ BPO </a:t>
            </a:r>
            <a:r>
              <a:rPr lang="ko-KR" altLang="en-US" sz="1400" b="1" kern="0" dirty="0">
                <a:solidFill>
                  <a:srgbClr val="0070C0"/>
                </a:solidFill>
                <a:latin typeface="+mn-ea"/>
              </a:rPr>
              <a:t>및 현업의 적극적 참여와 협조를 부탁 드립니다</a:t>
            </a: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 ! ]</a:t>
            </a:r>
          </a:p>
          <a:p>
            <a:pPr algn="ctr">
              <a:spcBef>
                <a:spcPts val="600"/>
              </a:spcBef>
            </a:pP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업무의 원활한 지원 및 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System 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구축을 위한 적극적 동참과 신속한 이슈 해결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Arial" charset="0"/>
            </a:endParaRPr>
          </a:p>
          <a:p>
            <a:pPr algn="ctr"/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단계별 검토 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W/S, 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산출물 검증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, 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테스트 참여 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(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단위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/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통합 테스트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,</a:t>
            </a:r>
            <a:r>
              <a:rPr lang="ko-KR" altLang="en-US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리허설</a:t>
            </a:r>
            <a:r>
              <a:rPr lang="en-US" altLang="ko-KR" sz="120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)</a:t>
            </a: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2023166" y="4021828"/>
            <a:ext cx="1080000" cy="509122"/>
          </a:xfrm>
          <a:prstGeom prst="wedgeRoundRectCallout">
            <a:avLst>
              <a:gd name="adj1" fmla="val 48859"/>
              <a:gd name="adj2" fmla="val 73616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100" dirty="0">
                <a:solidFill>
                  <a:prstClr val="white"/>
                </a:solidFill>
                <a:latin typeface="+mn-ea"/>
              </a:rPr>
              <a:t>!!!</a:t>
            </a:r>
            <a:endParaRPr lang="ko-KR" altLang="en-US" sz="11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8061B07F-ADE0-FFAF-1DED-F34BAFE2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119" y="4021828"/>
            <a:ext cx="6800427" cy="96181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innerShdw dist="38100" dir="16200000">
              <a:srgbClr val="404040"/>
            </a:innerShdw>
          </a:effectLst>
        </p:spPr>
        <p:txBody>
          <a:bodyPr lIns="216000" rIns="54000" anchor="ctr"/>
          <a:lstStyle/>
          <a:p>
            <a:pPr>
              <a:spcBef>
                <a:spcPts val="600"/>
              </a:spcBef>
            </a:pP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[ </a:t>
            </a:r>
            <a:r>
              <a:rPr lang="ko-KR" altLang="en-US" sz="1400" b="1" kern="0" dirty="0">
                <a:solidFill>
                  <a:srgbClr val="0070C0"/>
                </a:solidFill>
                <a:latin typeface="+mn-ea"/>
              </a:rPr>
              <a:t>구축 범위 명확화 및 변경 요소 최소화를 부탁 드립니다</a:t>
            </a: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 ! ]</a:t>
            </a:r>
          </a:p>
          <a:p>
            <a:pPr algn="ctr">
              <a:spcBef>
                <a:spcPts val="600"/>
              </a:spcBef>
            </a:pPr>
            <a:r>
              <a:rPr lang="ko-KR" altLang="en-US" sz="1200" kern="0" dirty="0">
                <a:latin typeface="+mn-ea"/>
                <a:cs typeface="Arial" charset="0"/>
              </a:rPr>
              <a:t>일정 지연의 요소인 범위의 명확화 </a:t>
            </a:r>
            <a:endParaRPr lang="en-US" altLang="ko-KR" sz="1200" kern="0" dirty="0">
              <a:latin typeface="+mn-ea"/>
              <a:cs typeface="Arial" charset="0"/>
            </a:endParaRPr>
          </a:p>
          <a:p>
            <a:pPr algn="ctr"/>
            <a:r>
              <a:rPr lang="ko-KR" altLang="en-US" sz="1200" kern="0" dirty="0">
                <a:latin typeface="+mn-ea"/>
                <a:cs typeface="Arial" charset="0"/>
              </a:rPr>
              <a:t>계약 지연에 따른 분석</a:t>
            </a:r>
            <a:r>
              <a:rPr lang="en-US" altLang="ko-KR" sz="1200" kern="0" dirty="0">
                <a:latin typeface="+mn-ea"/>
                <a:cs typeface="Arial" charset="0"/>
              </a:rPr>
              <a:t>/</a:t>
            </a:r>
            <a:r>
              <a:rPr lang="ko-KR" altLang="en-US" sz="1200" kern="0" dirty="0">
                <a:latin typeface="+mn-ea"/>
                <a:cs typeface="Arial" charset="0"/>
              </a:rPr>
              <a:t>설계 기간이 짧아서 변경 요소 최소화 필요</a:t>
            </a:r>
            <a:endParaRPr lang="en-US" altLang="ko-KR" sz="1200" kern="0" dirty="0">
              <a:latin typeface="+mn-ea"/>
              <a:cs typeface="Arial" charset="0"/>
            </a:endParaRP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2023166" y="5202647"/>
            <a:ext cx="1080000" cy="509122"/>
          </a:xfrm>
          <a:prstGeom prst="wedgeRoundRectCallout">
            <a:avLst>
              <a:gd name="adj1" fmla="val 48859"/>
              <a:gd name="adj2" fmla="val 73616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ko-KR" sz="1100" dirty="0">
                <a:solidFill>
                  <a:prstClr val="white"/>
                </a:solidFill>
                <a:latin typeface="+mn-ea"/>
              </a:rPr>
              <a:t>!!!</a:t>
            </a:r>
            <a:endParaRPr lang="ko-KR" altLang="en-US" sz="110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61B07F-ADE0-FFAF-1DED-F34BAFE2A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119" y="5202647"/>
            <a:ext cx="6800427" cy="961814"/>
          </a:xfrm>
          <a:prstGeom prst="rect">
            <a:avLst/>
          </a:prstGeom>
          <a:solidFill>
            <a:schemeClr val="bg1"/>
          </a:solidFill>
          <a:ln w="3175" algn="ctr">
            <a:solidFill>
              <a:srgbClr val="969696"/>
            </a:solidFill>
            <a:miter lim="800000"/>
            <a:headEnd/>
            <a:tailEnd/>
          </a:ln>
          <a:effectLst>
            <a:innerShdw dist="38100" dir="16200000">
              <a:srgbClr val="404040"/>
            </a:innerShdw>
          </a:effectLst>
        </p:spPr>
        <p:txBody>
          <a:bodyPr lIns="216000" rIns="54000" anchor="ctr"/>
          <a:lstStyle/>
          <a:p>
            <a:pPr>
              <a:spcBef>
                <a:spcPts val="600"/>
              </a:spcBef>
            </a:pP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[ </a:t>
            </a:r>
            <a:r>
              <a:rPr lang="ko-KR" altLang="en-US" sz="1400" b="1" kern="0" dirty="0">
                <a:solidFill>
                  <a:srgbClr val="0070C0"/>
                </a:solidFill>
                <a:latin typeface="+mn-ea"/>
              </a:rPr>
              <a:t>현장 프로세스 변경이 필요한 </a:t>
            </a: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SR</a:t>
            </a:r>
            <a:r>
              <a:rPr lang="ko-KR" altLang="en-US" sz="1400" b="1" kern="0" dirty="0">
                <a:solidFill>
                  <a:srgbClr val="0070C0"/>
                </a:solidFill>
                <a:latin typeface="+mn-ea"/>
              </a:rPr>
              <a:t>을</a:t>
            </a: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1400" b="1" kern="0" dirty="0">
                <a:solidFill>
                  <a:srgbClr val="0070C0"/>
                </a:solidFill>
                <a:latin typeface="+mn-ea"/>
              </a:rPr>
              <a:t>잠시 보류를 부탁드립니다</a:t>
            </a:r>
            <a:r>
              <a:rPr lang="en-US" altLang="ko-KR" sz="1400" b="1" kern="0" dirty="0">
                <a:solidFill>
                  <a:srgbClr val="0070C0"/>
                </a:solidFill>
                <a:latin typeface="+mn-ea"/>
              </a:rPr>
              <a:t> ! ]</a:t>
            </a:r>
          </a:p>
          <a:p>
            <a:pPr algn="ctr">
              <a:spcBef>
                <a:spcPts val="600"/>
              </a:spcBef>
            </a:pPr>
            <a:r>
              <a:rPr lang="ko-KR" altLang="en-US" sz="1200" kern="0" dirty="0">
                <a:latin typeface="+mn-ea"/>
                <a:cs typeface="Arial" charset="0"/>
              </a:rPr>
              <a:t>설계 변경에 따른 리스크가 발생하지 않도록 </a:t>
            </a:r>
            <a:r>
              <a:rPr lang="en-US" altLang="ko-KR" sz="1200" kern="0" dirty="0">
                <a:latin typeface="+mn-ea"/>
                <a:cs typeface="Arial" charset="0"/>
              </a:rPr>
              <a:t>SR Freezing</a:t>
            </a:r>
          </a:p>
          <a:p>
            <a:pPr algn="ctr"/>
            <a:endParaRPr lang="en-US" altLang="ko-KR" sz="1200" kern="0" dirty="0">
              <a:solidFill>
                <a:srgbClr val="C00000"/>
              </a:solidFill>
              <a:latin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576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031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별첨</a:t>
            </a:r>
            <a:r>
              <a:rPr lang="en-US" altLang="ko-KR" b="1" dirty="0"/>
              <a:t>] AWS Cloud</a:t>
            </a:r>
            <a:r>
              <a:rPr lang="ko-KR" altLang="en-US" b="1" dirty="0"/>
              <a:t> 구성도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지속적인 비즈니스 확대 및 빠르게 변화하는 트랜드에 대응하기 위해 </a:t>
            </a:r>
            <a:r>
              <a:rPr lang="en-US" altLang="ko-KR" dirty="0"/>
              <a:t>POS/</a:t>
            </a:r>
            <a:r>
              <a:rPr lang="ko-KR" altLang="en-US" dirty="0"/>
              <a:t>키오스크 관리시스템은 </a:t>
            </a:r>
            <a:r>
              <a:rPr lang="en-US" altLang="ko-KR" dirty="0"/>
              <a:t>Cloud Native</a:t>
            </a:r>
            <a:r>
              <a:rPr lang="ko-KR" altLang="en-US" dirty="0"/>
              <a:t> </a:t>
            </a:r>
            <a:r>
              <a:rPr lang="en-US" altLang="ko-KR" dirty="0"/>
              <a:t>AWS ECS </a:t>
            </a:r>
            <a:r>
              <a:rPr lang="ko-KR" altLang="en-US" dirty="0"/>
              <a:t>컨테이너 기반 아키텍처를 </a:t>
            </a:r>
            <a:endParaRPr lang="en-US" altLang="ko-KR" dirty="0"/>
          </a:p>
          <a:p>
            <a:r>
              <a:rPr lang="ko-KR" altLang="en-US" dirty="0"/>
              <a:t>  도입하여 효율성과 민첩성</a:t>
            </a:r>
            <a:r>
              <a:rPr lang="en-US" altLang="ko-KR" dirty="0"/>
              <a:t>, </a:t>
            </a:r>
            <a:r>
              <a:rPr lang="ko-KR" altLang="en-US" dirty="0"/>
              <a:t>유연한 확장이 가능함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83BDF6B-279B-6161-6EDE-7FDE106CD48F}"/>
              </a:ext>
            </a:extLst>
          </p:cNvPr>
          <p:cNvSpPr/>
          <p:nvPr/>
        </p:nvSpPr>
        <p:spPr>
          <a:xfrm>
            <a:off x="484192" y="1560164"/>
            <a:ext cx="11273247" cy="49232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6" name="Rectangle 29">
            <a:extLst>
              <a:ext uri="{FF2B5EF4-FFF2-40B4-BE49-F238E27FC236}">
                <a16:creationId xmlns:a16="http://schemas.microsoft.com/office/drawing/2014/main" id="{F80CCB0B-45FF-A320-402F-EE3A2F0F9540}"/>
              </a:ext>
            </a:extLst>
          </p:cNvPr>
          <p:cNvSpPr/>
          <p:nvPr/>
        </p:nvSpPr>
        <p:spPr>
          <a:xfrm>
            <a:off x="2766354" y="1764746"/>
            <a:ext cx="7002227" cy="3841960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miter lim="800000"/>
          </a:ln>
          <a:effectLst/>
        </p:spPr>
        <p:txBody>
          <a:bodyPr lIns="396000" tIns="91440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 w="0"/>
                <a:solidFill>
                  <a:sysClr val="windowText" lastClr="0000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Seoul Region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9EB3B0-7433-E4E6-D980-E0CC7598954D}"/>
              </a:ext>
            </a:extLst>
          </p:cNvPr>
          <p:cNvSpPr/>
          <p:nvPr/>
        </p:nvSpPr>
        <p:spPr>
          <a:xfrm>
            <a:off x="3713640" y="2480163"/>
            <a:ext cx="2235067" cy="2925675"/>
          </a:xfrm>
          <a:prstGeom prst="rect">
            <a:avLst/>
          </a:prstGeom>
          <a:noFill/>
          <a:ln w="12700" cap="flat" cmpd="sng" algn="ctr">
            <a:solidFill>
              <a:srgbClr val="5B9CD5"/>
            </a:solidFill>
            <a:prstDash val="dash"/>
            <a:miter lim="800000"/>
          </a:ln>
          <a:effectLst/>
        </p:spPr>
        <p:txBody>
          <a:bodyPr tIns="91440"/>
          <a:lstStyle/>
          <a:p>
            <a:pPr algn="r">
              <a:defRPr/>
            </a:pPr>
            <a:r>
              <a:rPr lang="en-US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Availability Zone A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EA04A5EE-76EC-CDA0-79DB-FC37D1F52408}"/>
              </a:ext>
            </a:extLst>
          </p:cNvPr>
          <p:cNvSpPr/>
          <p:nvPr/>
        </p:nvSpPr>
        <p:spPr>
          <a:xfrm>
            <a:off x="6709807" y="2480164"/>
            <a:ext cx="2271366" cy="2925675"/>
          </a:xfrm>
          <a:prstGeom prst="rect">
            <a:avLst/>
          </a:prstGeom>
          <a:noFill/>
          <a:ln w="12700" cap="flat" cmpd="sng" algn="ctr">
            <a:solidFill>
              <a:srgbClr val="5B9CD5"/>
            </a:solidFill>
            <a:prstDash val="dash"/>
            <a:miter lim="800000"/>
          </a:ln>
          <a:effectLst/>
        </p:spPr>
        <p:txBody>
          <a:bodyPr tIns="91440"/>
          <a:lstStyle/>
          <a:p>
            <a:pPr algn="r">
              <a:defRPr/>
            </a:pPr>
            <a:r>
              <a:rPr lang="en-US" altLang="ko-KR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Availability Zone C</a:t>
            </a:r>
          </a:p>
        </p:txBody>
      </p:sp>
      <p:sp>
        <p:nvSpPr>
          <p:cNvPr id="9" name="Rectangle 32">
            <a:extLst>
              <a:ext uri="{FF2B5EF4-FFF2-40B4-BE49-F238E27FC236}">
                <a16:creationId xmlns:a16="http://schemas.microsoft.com/office/drawing/2014/main" id="{21D9009D-43DC-40BB-6AEC-377B72AE2F21}"/>
              </a:ext>
            </a:extLst>
          </p:cNvPr>
          <p:cNvSpPr/>
          <p:nvPr/>
        </p:nvSpPr>
        <p:spPr>
          <a:xfrm>
            <a:off x="3712788" y="2677840"/>
            <a:ext cx="2235919" cy="593891"/>
          </a:xfrm>
          <a:prstGeom prst="rect">
            <a:avLst/>
          </a:prstGeom>
          <a:solidFill>
            <a:srgbClr val="1D8900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338328"/>
          <a:lstStyle/>
          <a:p>
            <a:pPr>
              <a:defRPr/>
            </a:pPr>
            <a:r>
              <a:rPr lang="en-US" sz="800" kern="0" dirty="0">
                <a:solidFill>
                  <a:srgbClr val="1E89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Public subnet A</a:t>
            </a:r>
          </a:p>
        </p:txBody>
      </p:sp>
      <p:pic>
        <p:nvPicPr>
          <p:cNvPr id="10" name="Graphic 34">
            <a:extLst>
              <a:ext uri="{FF2B5EF4-FFF2-40B4-BE49-F238E27FC236}">
                <a16:creationId xmlns:a16="http://schemas.microsoft.com/office/drawing/2014/main" id="{6DD5AE24-D92C-2539-F5FA-A65F4F5C7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5864" y="2680319"/>
            <a:ext cx="219387" cy="17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2">
            <a:extLst>
              <a:ext uri="{FF2B5EF4-FFF2-40B4-BE49-F238E27FC236}">
                <a16:creationId xmlns:a16="http://schemas.microsoft.com/office/drawing/2014/main" id="{F6568631-9547-9CDB-0368-C02D41C9BCCF}"/>
              </a:ext>
            </a:extLst>
          </p:cNvPr>
          <p:cNvSpPr/>
          <p:nvPr/>
        </p:nvSpPr>
        <p:spPr>
          <a:xfrm>
            <a:off x="6709806" y="2687406"/>
            <a:ext cx="2271367" cy="582860"/>
          </a:xfrm>
          <a:prstGeom prst="rect">
            <a:avLst/>
          </a:prstGeom>
          <a:solidFill>
            <a:srgbClr val="1D8900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338328"/>
          <a:lstStyle/>
          <a:p>
            <a:pPr>
              <a:defRPr/>
            </a:pPr>
            <a:r>
              <a:rPr lang="en-US" sz="800" kern="0" dirty="0">
                <a:solidFill>
                  <a:srgbClr val="1E89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Public subnet C</a:t>
            </a:r>
          </a:p>
        </p:txBody>
      </p:sp>
      <p:pic>
        <p:nvPicPr>
          <p:cNvPr id="12" name="Graphic 34">
            <a:extLst>
              <a:ext uri="{FF2B5EF4-FFF2-40B4-BE49-F238E27FC236}">
                <a16:creationId xmlns:a16="http://schemas.microsoft.com/office/drawing/2014/main" id="{3FD84B11-EEF1-0896-1E31-713DB9ECE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04471" y="2685327"/>
            <a:ext cx="219387" cy="175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7">
            <a:extLst>
              <a:ext uri="{FF2B5EF4-FFF2-40B4-BE49-F238E27FC236}">
                <a16:creationId xmlns:a16="http://schemas.microsoft.com/office/drawing/2014/main" id="{8AF20291-8660-BEC7-C592-892FF5EA751C}"/>
              </a:ext>
            </a:extLst>
          </p:cNvPr>
          <p:cNvSpPr/>
          <p:nvPr/>
        </p:nvSpPr>
        <p:spPr>
          <a:xfrm>
            <a:off x="3699008" y="3313622"/>
            <a:ext cx="2249698" cy="1442816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338328"/>
          <a:lstStyle/>
          <a:p>
            <a:pPr>
              <a:defRPr/>
            </a:pPr>
            <a:r>
              <a:rPr lang="en-US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Private subnet A</a:t>
            </a:r>
          </a:p>
        </p:txBody>
      </p:sp>
      <p:pic>
        <p:nvPicPr>
          <p:cNvPr id="14" name="Graphic 35">
            <a:extLst>
              <a:ext uri="{FF2B5EF4-FFF2-40B4-BE49-F238E27FC236}">
                <a16:creationId xmlns:a16="http://schemas.microsoft.com/office/drawing/2014/main" id="{7EA82BA5-3D5E-0AFF-9348-89B7E7AC3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00318" y="3312339"/>
            <a:ext cx="219387" cy="17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7">
            <a:extLst>
              <a:ext uri="{FF2B5EF4-FFF2-40B4-BE49-F238E27FC236}">
                <a16:creationId xmlns:a16="http://schemas.microsoft.com/office/drawing/2014/main" id="{5DA5B472-CB73-BA81-E2C7-B2A2753F233F}"/>
              </a:ext>
            </a:extLst>
          </p:cNvPr>
          <p:cNvSpPr/>
          <p:nvPr/>
        </p:nvSpPr>
        <p:spPr>
          <a:xfrm>
            <a:off x="6704471" y="3307690"/>
            <a:ext cx="2276702" cy="1418533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338328"/>
          <a:lstStyle/>
          <a:p>
            <a:pPr>
              <a:defRPr/>
            </a:pPr>
            <a:r>
              <a:rPr lang="en-US" altLang="ko-KR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Private subnet C</a:t>
            </a:r>
          </a:p>
        </p:txBody>
      </p:sp>
      <p:pic>
        <p:nvPicPr>
          <p:cNvPr id="16" name="Graphic 35">
            <a:extLst>
              <a:ext uri="{FF2B5EF4-FFF2-40B4-BE49-F238E27FC236}">
                <a16:creationId xmlns:a16="http://schemas.microsoft.com/office/drawing/2014/main" id="{9C92E690-91EC-E997-D6E0-2130C531D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99572" y="3306407"/>
            <a:ext cx="219387" cy="17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52BCAA66-5252-5851-C7EF-2159A97127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0890" y="3069368"/>
            <a:ext cx="88525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NAT gateway</a:t>
            </a:r>
          </a:p>
        </p:txBody>
      </p:sp>
      <p:pic>
        <p:nvPicPr>
          <p:cNvPr id="18" name="Graphic 35">
            <a:extLst>
              <a:ext uri="{FF2B5EF4-FFF2-40B4-BE49-F238E27FC236}">
                <a16:creationId xmlns:a16="http://schemas.microsoft.com/office/drawing/2014/main" id="{12442302-204E-E3A6-A574-E493AC968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64930" y="2855652"/>
            <a:ext cx="279776" cy="223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7">
            <a:extLst>
              <a:ext uri="{FF2B5EF4-FFF2-40B4-BE49-F238E27FC236}">
                <a16:creationId xmlns:a16="http://schemas.microsoft.com/office/drawing/2014/main" id="{690D3910-9918-ACCD-ED0C-31068C8B1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988" y="3069367"/>
            <a:ext cx="92549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NAT gateway</a:t>
            </a:r>
          </a:p>
        </p:txBody>
      </p:sp>
      <p:pic>
        <p:nvPicPr>
          <p:cNvPr id="20" name="Graphic 35">
            <a:extLst>
              <a:ext uri="{FF2B5EF4-FFF2-40B4-BE49-F238E27FC236}">
                <a16:creationId xmlns:a16="http://schemas.microsoft.com/office/drawing/2014/main" id="{9F152D40-767A-F456-F721-34855DF21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75029" y="2848996"/>
            <a:ext cx="279776" cy="223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Graphic 56">
            <a:extLst>
              <a:ext uri="{FF2B5EF4-FFF2-40B4-BE49-F238E27FC236}">
                <a16:creationId xmlns:a16="http://schemas.microsoft.com/office/drawing/2014/main" id="{CF35609F-2C63-CD4B-33FC-416CB2F91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 bwMode="auto">
          <a:xfrm>
            <a:off x="5342343" y="2818005"/>
            <a:ext cx="330314" cy="26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6">
            <a:extLst>
              <a:ext uri="{FF2B5EF4-FFF2-40B4-BE49-F238E27FC236}">
                <a16:creationId xmlns:a16="http://schemas.microsoft.com/office/drawing/2014/main" id="{BA858725-C199-5F51-04C2-DC1924EBA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1029" y="3056081"/>
            <a:ext cx="699327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Bastion Host</a:t>
            </a:r>
          </a:p>
        </p:txBody>
      </p:sp>
      <p:pic>
        <p:nvPicPr>
          <p:cNvPr id="23" name="Graphic 8">
            <a:extLst>
              <a:ext uri="{FF2B5EF4-FFF2-40B4-BE49-F238E27FC236}">
                <a16:creationId xmlns:a16="http://schemas.microsoft.com/office/drawing/2014/main" id="{C2C354A4-B832-5958-8019-84BB33881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58311" y="2517227"/>
            <a:ext cx="315176" cy="252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17">
            <a:extLst>
              <a:ext uri="{FF2B5EF4-FFF2-40B4-BE49-F238E27FC236}">
                <a16:creationId xmlns:a16="http://schemas.microsoft.com/office/drawing/2014/main" id="{0AA93AAE-1AA6-174E-310E-F5CDDB453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002" y="4261068"/>
            <a:ext cx="1027493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defRPr/>
            </a:pPr>
            <a:r>
              <a:rPr lang="en-US" altLang="en-US" sz="900" kern="0" dirty="0">
                <a:solidFill>
                  <a:srgbClr val="FF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 Scaling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71BFC26-41EC-39AE-F5E4-D188A2B436C1}"/>
              </a:ext>
            </a:extLst>
          </p:cNvPr>
          <p:cNvSpPr/>
          <p:nvPr/>
        </p:nvSpPr>
        <p:spPr>
          <a:xfrm>
            <a:off x="4440108" y="3597247"/>
            <a:ext cx="71205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 b="1" kern="0" dirty="0">
                <a:solidFill>
                  <a:srgbClr val="FF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ECS Cluster</a:t>
            </a: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5B348E8-995A-D9A0-AF1E-750CF90A90D8}"/>
              </a:ext>
            </a:extLst>
          </p:cNvPr>
          <p:cNvSpPr/>
          <p:nvPr/>
        </p:nvSpPr>
        <p:spPr>
          <a:xfrm>
            <a:off x="3714580" y="4798464"/>
            <a:ext cx="2249698" cy="578327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338328"/>
          <a:lstStyle/>
          <a:p>
            <a:pPr>
              <a:defRPr/>
            </a:pPr>
            <a:r>
              <a:rPr lang="en-US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Private subnet A</a:t>
            </a:r>
            <a:br>
              <a:rPr lang="en-US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endParaRPr lang="en-US" sz="800" kern="0" dirty="0">
              <a:solidFill>
                <a:srgbClr val="5B9CD5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>
              <a:defRPr/>
            </a:pPr>
            <a:endParaRPr lang="en-US" sz="800" kern="0" dirty="0">
              <a:solidFill>
                <a:srgbClr val="5B9CD5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27" name="Graphic 35">
            <a:extLst>
              <a:ext uri="{FF2B5EF4-FFF2-40B4-BE49-F238E27FC236}">
                <a16:creationId xmlns:a16="http://schemas.microsoft.com/office/drawing/2014/main" id="{05D24E90-DAC0-60DB-F8D2-CC605B78A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15892" y="4797180"/>
            <a:ext cx="219387" cy="17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Rectangle 7">
            <a:extLst>
              <a:ext uri="{FF2B5EF4-FFF2-40B4-BE49-F238E27FC236}">
                <a16:creationId xmlns:a16="http://schemas.microsoft.com/office/drawing/2014/main" id="{7B1FB1F8-3A04-BD12-F127-E383E910BFC7}"/>
              </a:ext>
            </a:extLst>
          </p:cNvPr>
          <p:cNvSpPr/>
          <p:nvPr/>
        </p:nvSpPr>
        <p:spPr>
          <a:xfrm>
            <a:off x="6717066" y="4771821"/>
            <a:ext cx="2249698" cy="604969"/>
          </a:xfrm>
          <a:prstGeom prst="rect">
            <a:avLst/>
          </a:prstGeom>
          <a:solidFill>
            <a:srgbClr val="007CBC">
              <a:alpha val="9804"/>
            </a:srgbClr>
          </a:solidFill>
          <a:ln w="12700" cap="flat" cmpd="sng" algn="ctr">
            <a:noFill/>
            <a:prstDash val="dash"/>
            <a:miter lim="800000"/>
          </a:ln>
          <a:effectLst/>
        </p:spPr>
        <p:txBody>
          <a:bodyPr lIns="338328"/>
          <a:lstStyle/>
          <a:p>
            <a:pPr>
              <a:defRPr/>
            </a:pPr>
            <a:r>
              <a:rPr lang="en-US" sz="800" kern="0" dirty="0">
                <a:solidFill>
                  <a:srgbClr val="5B9CD5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Private subnet C</a:t>
            </a:r>
          </a:p>
        </p:txBody>
      </p:sp>
      <p:pic>
        <p:nvPicPr>
          <p:cNvPr id="29" name="Graphic 35">
            <a:extLst>
              <a:ext uri="{FF2B5EF4-FFF2-40B4-BE49-F238E27FC236}">
                <a16:creationId xmlns:a16="http://schemas.microsoft.com/office/drawing/2014/main" id="{2230B571-9A78-A618-F1DE-C6DBA0646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18376" y="4770538"/>
            <a:ext cx="219387" cy="175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99F718-CF6B-3C81-13D3-45C46E898592}"/>
              </a:ext>
            </a:extLst>
          </p:cNvPr>
          <p:cNvSpPr/>
          <p:nvPr/>
        </p:nvSpPr>
        <p:spPr>
          <a:xfrm>
            <a:off x="4647469" y="5012472"/>
            <a:ext cx="10839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 kern="0" dirty="0">
                <a:solidFill>
                  <a:srgbClr val="0070C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Aurora PostgreSQL</a:t>
            </a:r>
            <a:br>
              <a:rPr lang="en-US" altLang="ko-KR" sz="800" kern="0" dirty="0">
                <a:solidFill>
                  <a:srgbClr val="0070C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800" kern="0" dirty="0">
                <a:solidFill>
                  <a:srgbClr val="0070C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(Writer)</a:t>
            </a:r>
          </a:p>
        </p:txBody>
      </p:sp>
      <p:sp>
        <p:nvSpPr>
          <p:cNvPr id="31" name="Rectangle 40">
            <a:extLst>
              <a:ext uri="{FF2B5EF4-FFF2-40B4-BE49-F238E27FC236}">
                <a16:creationId xmlns:a16="http://schemas.microsoft.com/office/drawing/2014/main" id="{3F2BB307-68B7-8EE2-8DE8-4331B004338A}"/>
              </a:ext>
            </a:extLst>
          </p:cNvPr>
          <p:cNvSpPr/>
          <p:nvPr/>
        </p:nvSpPr>
        <p:spPr>
          <a:xfrm>
            <a:off x="4271681" y="3611309"/>
            <a:ext cx="4121682" cy="1013884"/>
          </a:xfrm>
          <a:prstGeom prst="rect">
            <a:avLst/>
          </a:prstGeom>
          <a:noFill/>
          <a:ln w="28575" cap="flat" cmpd="sng" algn="ctr">
            <a:solidFill>
              <a:srgbClr val="FF9902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D86613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D86613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32" name="Graphic 18">
            <a:extLst>
              <a:ext uri="{FF2B5EF4-FFF2-40B4-BE49-F238E27FC236}">
                <a16:creationId xmlns:a16="http://schemas.microsoft.com/office/drawing/2014/main" id="{F399DEA8-C916-7792-1D3F-77238C5B3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76808" y="3610203"/>
            <a:ext cx="168844" cy="135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Graphic 34">
            <a:extLst>
              <a:ext uri="{FF2B5EF4-FFF2-40B4-BE49-F238E27FC236}">
                <a16:creationId xmlns:a16="http://schemas.microsoft.com/office/drawing/2014/main" id="{6650F68E-76C8-D6CE-35CC-5648237AE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5019389" y="3949037"/>
            <a:ext cx="330645" cy="264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Rectangle 40">
            <a:extLst>
              <a:ext uri="{FF2B5EF4-FFF2-40B4-BE49-F238E27FC236}">
                <a16:creationId xmlns:a16="http://schemas.microsoft.com/office/drawing/2014/main" id="{5473E901-3FF8-1496-C929-FD13661299A9}"/>
              </a:ext>
            </a:extLst>
          </p:cNvPr>
          <p:cNvSpPr/>
          <p:nvPr/>
        </p:nvSpPr>
        <p:spPr>
          <a:xfrm>
            <a:off x="4681371" y="3798167"/>
            <a:ext cx="3251492" cy="661807"/>
          </a:xfrm>
          <a:prstGeom prst="rect">
            <a:avLst/>
          </a:prstGeom>
          <a:noFill/>
          <a:ln w="28575" cap="flat" cmpd="sng" algn="ctr">
            <a:solidFill>
              <a:srgbClr val="FF9902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D86613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D86613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468FA34-3F49-850E-0E5D-DE42BDB14EE6}"/>
              </a:ext>
            </a:extLst>
          </p:cNvPr>
          <p:cNvSpPr/>
          <p:nvPr/>
        </p:nvSpPr>
        <p:spPr>
          <a:xfrm>
            <a:off x="4705752" y="4192407"/>
            <a:ext cx="13805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POS/</a:t>
            </a: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키오스크 관리시스템</a:t>
            </a:r>
            <a:b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(ECS)</a:t>
            </a: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5ED29D48-4294-0E2A-1857-A35FE9511B00}"/>
              </a:ext>
            </a:extLst>
          </p:cNvPr>
          <p:cNvSpPr/>
          <p:nvPr/>
        </p:nvSpPr>
        <p:spPr>
          <a:xfrm>
            <a:off x="3210057" y="2306382"/>
            <a:ext cx="6200013" cy="3175174"/>
          </a:xfrm>
          <a:prstGeom prst="rect">
            <a:avLst/>
          </a:prstGeom>
          <a:noFill/>
          <a:ln w="12700" cap="flat" cmpd="sng" algn="ctr">
            <a:solidFill>
              <a:srgbClr val="1E8900"/>
            </a:solidFill>
            <a:prstDash val="solid"/>
            <a:miter lim="800000"/>
          </a:ln>
          <a:effectLst/>
        </p:spPr>
        <p:txBody>
          <a:bodyPr lIns="360000" tIns="36000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 w="0"/>
                <a:solidFill>
                  <a:srgbClr val="1E8900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VPC</a:t>
            </a:r>
          </a:p>
        </p:txBody>
      </p:sp>
      <p:pic>
        <p:nvPicPr>
          <p:cNvPr id="37" name="Graphic 28">
            <a:extLst>
              <a:ext uri="{FF2B5EF4-FFF2-40B4-BE49-F238E27FC236}">
                <a16:creationId xmlns:a16="http://schemas.microsoft.com/office/drawing/2014/main" id="{7B70E2A2-65CF-0E4F-A71D-11AFF53D1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6247" y="2310275"/>
            <a:ext cx="290676" cy="23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Graphic 17">
            <a:extLst>
              <a:ext uri="{FF2B5EF4-FFF2-40B4-BE49-F238E27FC236}">
                <a16:creationId xmlns:a16="http://schemas.microsoft.com/office/drawing/2014/main" id="{948999A1-931F-0860-1E17-1CD038C6A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91894" y="1826612"/>
            <a:ext cx="330314" cy="253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8">
            <a:extLst>
              <a:ext uri="{FF2B5EF4-FFF2-40B4-BE49-F238E27FC236}">
                <a16:creationId xmlns:a16="http://schemas.microsoft.com/office/drawing/2014/main" id="{15844727-3981-0037-8D07-2377177B8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4032" y="1825878"/>
            <a:ext cx="330314" cy="2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TextBox 12">
            <a:extLst>
              <a:ext uri="{FF2B5EF4-FFF2-40B4-BE49-F238E27FC236}">
                <a16:creationId xmlns:a16="http://schemas.microsoft.com/office/drawing/2014/main" id="{62016152-F3EE-A1C5-D0A1-2E5D2CE7D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4846" y="2068670"/>
            <a:ext cx="483386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WAF</a:t>
            </a:r>
          </a:p>
        </p:txBody>
      </p:sp>
      <p:pic>
        <p:nvPicPr>
          <p:cNvPr id="41" name="Graphic 22">
            <a:extLst>
              <a:ext uri="{FF2B5EF4-FFF2-40B4-BE49-F238E27FC236}">
                <a16:creationId xmlns:a16="http://schemas.microsoft.com/office/drawing/2014/main" id="{13C183E5-1688-8582-CA8E-BDBC05376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95694" y="1825878"/>
            <a:ext cx="326608" cy="26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TextBox 12">
            <a:extLst>
              <a:ext uri="{FF2B5EF4-FFF2-40B4-BE49-F238E27FC236}">
                <a16:creationId xmlns:a16="http://schemas.microsoft.com/office/drawing/2014/main" id="{E28747A9-4D5D-A5A7-20E0-60E85E7A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17255" y="2071035"/>
            <a:ext cx="610212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Shield</a:t>
            </a:r>
          </a:p>
        </p:txBody>
      </p:sp>
      <p:sp>
        <p:nvSpPr>
          <p:cNvPr id="43" name="TextBox 12">
            <a:extLst>
              <a:ext uri="{FF2B5EF4-FFF2-40B4-BE49-F238E27FC236}">
                <a16:creationId xmlns:a16="http://schemas.microsoft.com/office/drawing/2014/main" id="{B1270D3B-CB86-C18F-C5C4-98E344BF8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4631" y="2069404"/>
            <a:ext cx="841749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CloudWatch</a:t>
            </a:r>
          </a:p>
        </p:txBody>
      </p:sp>
      <p:sp>
        <p:nvSpPr>
          <p:cNvPr id="44" name="TextBox 12">
            <a:extLst>
              <a:ext uri="{FF2B5EF4-FFF2-40B4-BE49-F238E27FC236}">
                <a16:creationId xmlns:a16="http://schemas.microsoft.com/office/drawing/2014/main" id="{3890664A-7379-CA93-49E3-751416F6A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4995" y="2069403"/>
            <a:ext cx="3995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S3</a:t>
            </a:r>
          </a:p>
        </p:txBody>
      </p:sp>
      <p:pic>
        <p:nvPicPr>
          <p:cNvPr id="45" name="Graphic 19">
            <a:extLst>
              <a:ext uri="{FF2B5EF4-FFF2-40B4-BE49-F238E27FC236}">
                <a16:creationId xmlns:a16="http://schemas.microsoft.com/office/drawing/2014/main" id="{195733A9-968B-4179-DB4A-B7F9C1AD1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83527" y="1825879"/>
            <a:ext cx="326518" cy="26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Box 12">
            <a:extLst>
              <a:ext uri="{FF2B5EF4-FFF2-40B4-BE49-F238E27FC236}">
                <a16:creationId xmlns:a16="http://schemas.microsoft.com/office/drawing/2014/main" id="{0348410C-1B51-796B-AA95-E6C847767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998" y="2069403"/>
            <a:ext cx="399575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IAM</a:t>
            </a:r>
          </a:p>
        </p:txBody>
      </p:sp>
      <p:pic>
        <p:nvPicPr>
          <p:cNvPr id="47" name="Graphic 7">
            <a:extLst>
              <a:ext uri="{FF2B5EF4-FFF2-40B4-BE49-F238E27FC236}">
                <a16:creationId xmlns:a16="http://schemas.microsoft.com/office/drawing/2014/main" id="{0109E585-4C21-0999-12BE-892438210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70612" y="1827688"/>
            <a:ext cx="326518" cy="26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Box 12">
            <a:extLst>
              <a:ext uri="{FF2B5EF4-FFF2-40B4-BE49-F238E27FC236}">
                <a16:creationId xmlns:a16="http://schemas.microsoft.com/office/drawing/2014/main" id="{AA80DF30-EA98-AE1F-DD2E-98005BF1C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563" y="2069404"/>
            <a:ext cx="48286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KMS</a:t>
            </a:r>
          </a:p>
        </p:txBody>
      </p:sp>
      <p:pic>
        <p:nvPicPr>
          <p:cNvPr id="49" name="Graphic 8" descr="Amazon Simple Storage Service (Amazon S3) service icon.">
            <a:extLst>
              <a:ext uri="{FF2B5EF4-FFF2-40B4-BE49-F238E27FC236}">
                <a16:creationId xmlns:a16="http://schemas.microsoft.com/office/drawing/2014/main" id="{8BAC918E-E070-6CF4-F821-76B8A9494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4698540" y="1827683"/>
            <a:ext cx="326518" cy="26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34">
            <a:extLst>
              <a:ext uri="{FF2B5EF4-FFF2-40B4-BE49-F238E27FC236}">
                <a16:creationId xmlns:a16="http://schemas.microsoft.com/office/drawing/2014/main" id="{D88B1792-4529-0297-643A-532742C16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6909900" y="3949037"/>
            <a:ext cx="330645" cy="264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68903785-1267-4705-0C7E-D3E399E3EC2F}"/>
              </a:ext>
            </a:extLst>
          </p:cNvPr>
          <p:cNvSpPr/>
          <p:nvPr/>
        </p:nvSpPr>
        <p:spPr>
          <a:xfrm>
            <a:off x="6914624" y="4192407"/>
            <a:ext cx="6976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800" kern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중계시스템</a:t>
            </a:r>
            <a:b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8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(ECS)</a:t>
            </a:r>
          </a:p>
        </p:txBody>
      </p:sp>
      <p:pic>
        <p:nvPicPr>
          <p:cNvPr id="52" name="Graphic 42" descr="Amazon Aurora instance instance icon for the Database category.">
            <a:extLst>
              <a:ext uri="{FF2B5EF4-FFF2-40B4-BE49-F238E27FC236}">
                <a16:creationId xmlns:a16="http://schemas.microsoft.com/office/drawing/2014/main" id="{7435051A-DAC7-E21C-7C26-47064699237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87585" y="4995682"/>
            <a:ext cx="346693" cy="277505"/>
          </a:xfrm>
          <a:prstGeom prst="rect">
            <a:avLst/>
          </a:prstGeom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CBFD94F0-3D78-3C3D-9399-58E0D9308183}"/>
              </a:ext>
            </a:extLst>
          </p:cNvPr>
          <p:cNvSpPr/>
          <p:nvPr/>
        </p:nvSpPr>
        <p:spPr>
          <a:xfrm>
            <a:off x="7514651" y="5012472"/>
            <a:ext cx="10839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800" kern="0" dirty="0">
                <a:solidFill>
                  <a:srgbClr val="0070C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Aurora PostgreSQL</a:t>
            </a:r>
            <a:br>
              <a:rPr lang="en-US" altLang="ko-KR" sz="800" kern="0" dirty="0">
                <a:solidFill>
                  <a:srgbClr val="0070C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ko-KR" sz="800" kern="0" dirty="0">
                <a:solidFill>
                  <a:srgbClr val="0070C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(Reader)</a:t>
            </a:r>
          </a:p>
        </p:txBody>
      </p:sp>
      <p:pic>
        <p:nvPicPr>
          <p:cNvPr id="54" name="Graphic 42" descr="Amazon Aurora instance instance icon for the Database category.">
            <a:extLst>
              <a:ext uri="{FF2B5EF4-FFF2-40B4-BE49-F238E27FC236}">
                <a16:creationId xmlns:a16="http://schemas.microsoft.com/office/drawing/2014/main" id="{7423DE57-9517-28DD-53F6-5C24C466DC2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254767" y="4995682"/>
            <a:ext cx="346693" cy="277505"/>
          </a:xfrm>
          <a:prstGeom prst="rect">
            <a:avLst/>
          </a:prstGeom>
        </p:spPr>
      </p:pic>
      <p:pic>
        <p:nvPicPr>
          <p:cNvPr id="55" name="Graphic 61" descr="Region group icon.">
            <a:extLst>
              <a:ext uri="{FF2B5EF4-FFF2-40B4-BE49-F238E27FC236}">
                <a16:creationId xmlns:a16="http://schemas.microsoft.com/office/drawing/2014/main" id="{9E9C0DF5-FCE7-0838-3552-DBAFDC6768A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2766354" y="1764745"/>
            <a:ext cx="326518" cy="261356"/>
          </a:xfrm>
          <a:prstGeom prst="rect">
            <a:avLst/>
          </a:prstGeom>
        </p:spPr>
      </p:pic>
      <p:pic>
        <p:nvPicPr>
          <p:cNvPr id="56" name="Graphic 20" descr="Amazon Elastic Container Registry (Amazon ECR) Service icon.">
            <a:extLst>
              <a:ext uri="{FF2B5EF4-FFF2-40B4-BE49-F238E27FC236}">
                <a16:creationId xmlns:a16="http://schemas.microsoft.com/office/drawing/2014/main" id="{CBF49B36-98D0-672B-1EE0-996363405B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 bwMode="auto">
          <a:xfrm>
            <a:off x="3310370" y="4451215"/>
            <a:ext cx="326518" cy="26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" name="Graphic 73" descr="Task resource icon for the Amazon ECS service.">
            <a:extLst>
              <a:ext uri="{FF2B5EF4-FFF2-40B4-BE49-F238E27FC236}">
                <a16:creationId xmlns:a16="http://schemas.microsoft.com/office/drawing/2014/main" id="{55F83BEB-E4D4-A0D3-CC6E-A0AF00AA6F4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439543" y="3970837"/>
            <a:ext cx="286523" cy="229343"/>
          </a:xfrm>
          <a:prstGeom prst="rect">
            <a:avLst/>
          </a:prstGeom>
        </p:spPr>
      </p:pic>
      <p:pic>
        <p:nvPicPr>
          <p:cNvPr id="58" name="Graphic 73" descr="Task resource icon for the Amazon ECS service.">
            <a:extLst>
              <a:ext uri="{FF2B5EF4-FFF2-40B4-BE49-F238E27FC236}">
                <a16:creationId xmlns:a16="http://schemas.microsoft.com/office/drawing/2014/main" id="{53BEC526-C723-3CF2-AB3B-999F23AFA63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312792" y="3970837"/>
            <a:ext cx="286523" cy="229343"/>
          </a:xfrm>
          <a:prstGeom prst="rect">
            <a:avLst/>
          </a:prstGeom>
        </p:spPr>
      </p:pic>
      <p:pic>
        <p:nvPicPr>
          <p:cNvPr id="59" name="Graphic 22">
            <a:extLst>
              <a:ext uri="{FF2B5EF4-FFF2-40B4-BE49-F238E27FC236}">
                <a16:creationId xmlns:a16="http://schemas.microsoft.com/office/drawing/2014/main" id="{22A5894B-B373-F662-C7B8-42D1AAC03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932" y="2619806"/>
            <a:ext cx="290676" cy="23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Rectangle 14">
            <a:extLst>
              <a:ext uri="{FF2B5EF4-FFF2-40B4-BE49-F238E27FC236}">
                <a16:creationId xmlns:a16="http://schemas.microsoft.com/office/drawing/2014/main" id="{6575F385-B97D-DFEF-D386-C46C872B614A}"/>
              </a:ext>
            </a:extLst>
          </p:cNvPr>
          <p:cNvSpPr/>
          <p:nvPr/>
        </p:nvSpPr>
        <p:spPr>
          <a:xfrm>
            <a:off x="1107119" y="2617081"/>
            <a:ext cx="1317141" cy="1827838"/>
          </a:xfrm>
          <a:prstGeom prst="rect">
            <a:avLst/>
          </a:prstGeom>
          <a:noFill/>
          <a:ln w="12700" cap="flat" cmpd="sng" algn="ctr">
            <a:solidFill>
              <a:srgbClr val="5A6B86"/>
            </a:solidFill>
            <a:prstDash val="solid"/>
            <a:miter lim="800000"/>
          </a:ln>
          <a:effectLst/>
        </p:spPr>
        <p:txBody>
          <a:bodyPr lIns="360000" tIns="91440" rIns="0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A6B86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On-Premise</a:t>
            </a:r>
          </a:p>
        </p:txBody>
      </p:sp>
      <p:pic>
        <p:nvPicPr>
          <p:cNvPr id="61" name="Graphic 7">
            <a:extLst>
              <a:ext uri="{FF2B5EF4-FFF2-40B4-BE49-F238E27FC236}">
                <a16:creationId xmlns:a16="http://schemas.microsoft.com/office/drawing/2014/main" id="{5788C31C-7520-BB1E-1A0E-81FE64132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1703" y="3663629"/>
            <a:ext cx="307753" cy="24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" name="Graphic 43">
            <a:extLst>
              <a:ext uri="{FF2B5EF4-FFF2-40B4-BE49-F238E27FC236}">
                <a16:creationId xmlns:a16="http://schemas.microsoft.com/office/drawing/2014/main" id="{8B3CE226-0761-5FE9-681A-0C27F112F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53220" y="3657400"/>
            <a:ext cx="307753" cy="24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" name="TextBox 11">
            <a:extLst>
              <a:ext uri="{FF2B5EF4-FFF2-40B4-BE49-F238E27FC236}">
                <a16:creationId xmlns:a16="http://schemas.microsoft.com/office/drawing/2014/main" id="{F0E7BC29-66A0-C426-B8B9-33851F44C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8854" y="3898872"/>
            <a:ext cx="72429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Customer </a:t>
            </a:r>
          </a:p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gateway</a:t>
            </a:r>
          </a:p>
        </p:txBody>
      </p:sp>
      <p:sp>
        <p:nvSpPr>
          <p:cNvPr id="64" name="TextBox 19">
            <a:extLst>
              <a:ext uri="{FF2B5EF4-FFF2-40B4-BE49-F238E27FC236}">
                <a16:creationId xmlns:a16="http://schemas.microsoft.com/office/drawing/2014/main" id="{34DAA64C-0240-0A15-024A-5FF756554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198" y="3907740"/>
            <a:ext cx="80477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VPN</a:t>
            </a:r>
          </a:p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connection</a:t>
            </a:r>
          </a:p>
        </p:txBody>
      </p:sp>
      <p:sp>
        <p:nvSpPr>
          <p:cNvPr id="65" name="TextBox 12">
            <a:extLst>
              <a:ext uri="{FF2B5EF4-FFF2-40B4-BE49-F238E27FC236}">
                <a16:creationId xmlns:a16="http://schemas.microsoft.com/office/drawing/2014/main" id="{0B82C616-E7F6-A07B-2989-B168D1C77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845" y="3259025"/>
            <a:ext cx="97542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Site-to-Site </a:t>
            </a:r>
          </a:p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VPN</a:t>
            </a:r>
          </a:p>
        </p:txBody>
      </p:sp>
      <p:sp>
        <p:nvSpPr>
          <p:cNvPr id="66" name="Rectangle 13">
            <a:extLst>
              <a:ext uri="{FF2B5EF4-FFF2-40B4-BE49-F238E27FC236}">
                <a16:creationId xmlns:a16="http://schemas.microsoft.com/office/drawing/2014/main" id="{53987EA8-672A-969F-F8C9-D968A3EFF08E}"/>
              </a:ext>
            </a:extLst>
          </p:cNvPr>
          <p:cNvSpPr/>
          <p:nvPr/>
        </p:nvSpPr>
        <p:spPr>
          <a:xfrm>
            <a:off x="1734293" y="3144893"/>
            <a:ext cx="1741138" cy="1067256"/>
          </a:xfrm>
          <a:prstGeom prst="rect">
            <a:avLst/>
          </a:prstGeom>
          <a:noFill/>
          <a:ln w="12700" cap="flat" cmpd="sng" algn="ctr">
            <a:solidFill>
              <a:srgbClr val="5A6B86"/>
            </a:solidFill>
            <a:prstDash val="dash"/>
            <a:miter lim="800000"/>
          </a:ln>
          <a:effectLst/>
        </p:spPr>
        <p:txBody>
          <a:bodyPr tIns="9144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5A6B86"/>
              </a:solidFill>
              <a:effectLst/>
              <a:uLnTx/>
              <a:uFillTx/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67" name="Graphic 7">
            <a:extLst>
              <a:ext uri="{FF2B5EF4-FFF2-40B4-BE49-F238E27FC236}">
                <a16:creationId xmlns:a16="http://schemas.microsoft.com/office/drawing/2014/main" id="{98F1C3AF-DCF2-F87F-A022-9409EDFE7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3519" y="3657400"/>
            <a:ext cx="305184" cy="24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TextBox 9">
            <a:extLst>
              <a:ext uri="{FF2B5EF4-FFF2-40B4-BE49-F238E27FC236}">
                <a16:creationId xmlns:a16="http://schemas.microsoft.com/office/drawing/2014/main" id="{0B9991AB-74F2-B24D-29EC-8BF9F061E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199" y="3895732"/>
            <a:ext cx="77393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Transit </a:t>
            </a:r>
          </a:p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Gateway</a:t>
            </a:r>
          </a:p>
        </p:txBody>
      </p:sp>
      <p:cxnSp>
        <p:nvCxnSpPr>
          <p:cNvPr id="69" name="Straight Arrow Connector 9">
            <a:extLst>
              <a:ext uri="{FF2B5EF4-FFF2-40B4-BE49-F238E27FC236}">
                <a16:creationId xmlns:a16="http://schemas.microsoft.com/office/drawing/2014/main" id="{B7CAFD72-5A30-2D05-51E5-7DB3110AA94C}"/>
              </a:ext>
            </a:extLst>
          </p:cNvPr>
          <p:cNvCxnSpPr>
            <a:cxnSpLocks/>
          </p:cNvCxnSpPr>
          <p:nvPr/>
        </p:nvCxnSpPr>
        <p:spPr>
          <a:xfrm flipH="1" flipV="1">
            <a:off x="2204719" y="3786793"/>
            <a:ext cx="263583" cy="3"/>
          </a:xfrm>
          <a:prstGeom prst="straightConnector1">
            <a:avLst/>
          </a:prstGeom>
          <a:noFill/>
          <a:ln w="12700" cap="flat" cmpd="sng" algn="ctr">
            <a:solidFill>
              <a:srgbClr val="44546A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cxnSp>
        <p:nvCxnSpPr>
          <p:cNvPr id="70" name="Straight Arrow Connector 9">
            <a:extLst>
              <a:ext uri="{FF2B5EF4-FFF2-40B4-BE49-F238E27FC236}">
                <a16:creationId xmlns:a16="http://schemas.microsoft.com/office/drawing/2014/main" id="{BBB6E6DD-9670-3AC2-53F9-01508B00DBA7}"/>
              </a:ext>
            </a:extLst>
          </p:cNvPr>
          <p:cNvCxnSpPr>
            <a:cxnSpLocks/>
          </p:cNvCxnSpPr>
          <p:nvPr/>
        </p:nvCxnSpPr>
        <p:spPr>
          <a:xfrm flipH="1" flipV="1">
            <a:off x="2756504" y="3784691"/>
            <a:ext cx="263583" cy="3"/>
          </a:xfrm>
          <a:prstGeom prst="straightConnector1">
            <a:avLst/>
          </a:prstGeom>
          <a:noFill/>
          <a:ln w="12700" cap="flat" cmpd="sng" algn="ctr">
            <a:solidFill>
              <a:srgbClr val="44546A"/>
            </a:solidFill>
            <a:prstDash val="solid"/>
            <a:miter lim="800000"/>
            <a:headEnd type="triangle" w="med" len="med"/>
            <a:tailEnd type="triangle" w="med" len="med"/>
          </a:ln>
          <a:effectLst/>
        </p:spPr>
      </p:cxnSp>
      <p:pic>
        <p:nvPicPr>
          <p:cNvPr id="71" name="Graphic 6">
            <a:extLst>
              <a:ext uri="{FF2B5EF4-FFF2-40B4-BE49-F238E27FC236}">
                <a16:creationId xmlns:a16="http://schemas.microsoft.com/office/drawing/2014/main" id="{88EB166B-FD59-6035-32F5-826781EB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8310" y="3025566"/>
            <a:ext cx="307753" cy="246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" name="Graphic 37" descr="Oracle instance instance icon for the Database category.">
            <a:extLst>
              <a:ext uri="{FF2B5EF4-FFF2-40B4-BE49-F238E27FC236}">
                <a16:creationId xmlns:a16="http://schemas.microsoft.com/office/drawing/2014/main" id="{3D2117C2-5827-E471-9ADF-DBD6CD63E91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33178" y="3140102"/>
            <a:ext cx="381362" cy="305255"/>
          </a:xfrm>
          <a:prstGeom prst="rect">
            <a:avLst/>
          </a:prstGeom>
        </p:spPr>
      </p:pic>
      <p:sp>
        <p:nvSpPr>
          <p:cNvPr id="73" name="TextBox 17">
            <a:extLst>
              <a:ext uri="{FF2B5EF4-FFF2-40B4-BE49-F238E27FC236}">
                <a16:creationId xmlns:a16="http://schemas.microsoft.com/office/drawing/2014/main" id="{F0AC3D24-E3BC-7209-4811-191D6B7DE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843" y="3445968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Oracle DB</a:t>
            </a:r>
          </a:p>
        </p:txBody>
      </p:sp>
      <p:pic>
        <p:nvPicPr>
          <p:cNvPr id="74" name="Graphic 22">
            <a:extLst>
              <a:ext uri="{FF2B5EF4-FFF2-40B4-BE49-F238E27FC236}">
                <a16:creationId xmlns:a16="http://schemas.microsoft.com/office/drawing/2014/main" id="{80D3B646-4E89-CAD4-C90F-D0B4D0CD9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72731" y="2623647"/>
            <a:ext cx="290676" cy="23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Rectangle 14">
            <a:extLst>
              <a:ext uri="{FF2B5EF4-FFF2-40B4-BE49-F238E27FC236}">
                <a16:creationId xmlns:a16="http://schemas.microsoft.com/office/drawing/2014/main" id="{A8E61900-4504-ABD8-F075-1AD72A4A96EC}"/>
              </a:ext>
            </a:extLst>
          </p:cNvPr>
          <p:cNvSpPr/>
          <p:nvPr/>
        </p:nvSpPr>
        <p:spPr>
          <a:xfrm>
            <a:off x="9965604" y="2620922"/>
            <a:ext cx="1285864" cy="1827838"/>
          </a:xfrm>
          <a:prstGeom prst="rect">
            <a:avLst/>
          </a:prstGeom>
          <a:noFill/>
          <a:ln w="12700" cap="flat" cmpd="sng" algn="ctr">
            <a:solidFill>
              <a:srgbClr val="5A6B86"/>
            </a:solidFill>
            <a:prstDash val="solid"/>
            <a:miter lim="800000"/>
          </a:ln>
          <a:effectLst/>
        </p:spPr>
        <p:txBody>
          <a:bodyPr lIns="360000" tIns="91440" rIns="0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A6B86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Store</a:t>
            </a: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A56B5D7B-D848-D52A-19AD-332FE616DEEA}"/>
              </a:ext>
            </a:extLst>
          </p:cNvPr>
          <p:cNvPicPr>
            <a:picLocks noChangeAspect="1"/>
          </p:cNvPicPr>
          <p:nvPr/>
        </p:nvPicPr>
        <p:blipFill>
          <a:blip r:embed="rId3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16126" y="3001579"/>
            <a:ext cx="339107" cy="294311"/>
          </a:xfrm>
          <a:prstGeom prst="rect">
            <a:avLst/>
          </a:prstGeom>
        </p:spPr>
      </p:pic>
      <p:sp>
        <p:nvSpPr>
          <p:cNvPr id="77" name="TextBox 17">
            <a:extLst>
              <a:ext uri="{FF2B5EF4-FFF2-40B4-BE49-F238E27FC236}">
                <a16:creationId xmlns:a16="http://schemas.microsoft.com/office/drawing/2014/main" id="{BFD6D0AC-80F5-9778-0336-FF090D414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332" y="3296252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POS</a:t>
            </a:r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EF1B00A2-46C3-3E9A-3F6A-30C70CA46650}"/>
              </a:ext>
            </a:extLst>
          </p:cNvPr>
          <p:cNvPicPr>
            <a:picLocks noChangeAspect="1"/>
          </p:cNvPicPr>
          <p:nvPr/>
        </p:nvPicPr>
        <p:blipFill>
          <a:blip r:embed="rId3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40045" y="3570266"/>
            <a:ext cx="286104" cy="490440"/>
          </a:xfrm>
          <a:prstGeom prst="rect">
            <a:avLst/>
          </a:prstGeom>
        </p:spPr>
      </p:pic>
      <p:sp>
        <p:nvSpPr>
          <p:cNvPr id="79" name="TextBox 17">
            <a:extLst>
              <a:ext uri="{FF2B5EF4-FFF2-40B4-BE49-F238E27FC236}">
                <a16:creationId xmlns:a16="http://schemas.microsoft.com/office/drawing/2014/main" id="{2EE67291-8008-F27F-B4E5-4D776E7E4C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332" y="4078082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ko-KR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키오스크</a:t>
            </a:r>
            <a:endParaRPr lang="en-US" altLang="en-US" sz="8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pic>
        <p:nvPicPr>
          <p:cNvPr id="80" name="Graphic 22">
            <a:extLst>
              <a:ext uri="{FF2B5EF4-FFF2-40B4-BE49-F238E27FC236}">
                <a16:creationId xmlns:a16="http://schemas.microsoft.com/office/drawing/2014/main" id="{19EEC9C3-6A6C-5FB9-CAB6-E212B1819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72731" y="4652048"/>
            <a:ext cx="290676" cy="2326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" name="Rectangle 14">
            <a:extLst>
              <a:ext uri="{FF2B5EF4-FFF2-40B4-BE49-F238E27FC236}">
                <a16:creationId xmlns:a16="http://schemas.microsoft.com/office/drawing/2014/main" id="{49996708-2FFC-D4F2-308A-CEE122BC849D}"/>
              </a:ext>
            </a:extLst>
          </p:cNvPr>
          <p:cNvSpPr/>
          <p:nvPr/>
        </p:nvSpPr>
        <p:spPr>
          <a:xfrm>
            <a:off x="9965604" y="4649325"/>
            <a:ext cx="1285864" cy="868157"/>
          </a:xfrm>
          <a:prstGeom prst="rect">
            <a:avLst/>
          </a:prstGeom>
          <a:noFill/>
          <a:ln w="12700" cap="flat" cmpd="sng" algn="ctr">
            <a:solidFill>
              <a:srgbClr val="5A6B86"/>
            </a:solidFill>
            <a:prstDash val="solid"/>
            <a:miter lim="800000"/>
          </a:ln>
          <a:effectLst/>
        </p:spPr>
        <p:txBody>
          <a:bodyPr lIns="324000" tIns="91440" rIns="0"/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5A6B86"/>
                </a:solidFill>
                <a:effectLst/>
                <a:uLnTx/>
                <a:uFillTx/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Payment Provider</a:t>
            </a:r>
          </a:p>
        </p:txBody>
      </p:sp>
      <p:pic>
        <p:nvPicPr>
          <p:cNvPr id="82" name="Graphic 77" descr="Server resource icon for the General Icons category.">
            <a:extLst>
              <a:ext uri="{FF2B5EF4-FFF2-40B4-BE49-F238E27FC236}">
                <a16:creationId xmlns:a16="http://schemas.microsoft.com/office/drawing/2014/main" id="{067D17CB-5ABC-3225-1933-AA2724C4CB69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424544" y="4990430"/>
            <a:ext cx="381362" cy="305255"/>
          </a:xfrm>
          <a:prstGeom prst="rect">
            <a:avLst/>
          </a:prstGeom>
        </p:spPr>
      </p:pic>
      <p:sp>
        <p:nvSpPr>
          <p:cNvPr id="83" name="TextBox 17">
            <a:extLst>
              <a:ext uri="{FF2B5EF4-FFF2-40B4-BE49-F238E27FC236}">
                <a16:creationId xmlns:a16="http://schemas.microsoft.com/office/drawing/2014/main" id="{62B555B6-B9A9-1254-D839-76CFD224C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7872" y="5282567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ko-KR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결제 단말기</a:t>
            </a:r>
            <a:endParaRPr lang="en-US" altLang="en-US" sz="800" dirty="0">
              <a:solidFill>
                <a:prstClr val="black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BF502882-A096-AAA0-DFCC-78710A39118F}"/>
              </a:ext>
            </a:extLst>
          </p:cNvPr>
          <p:cNvCxnSpPr>
            <a:cxnSpLocks/>
            <a:stCxn id="75" idx="2"/>
            <a:endCxn id="81" idx="0"/>
          </p:cNvCxnSpPr>
          <p:nvPr/>
        </p:nvCxnSpPr>
        <p:spPr>
          <a:xfrm>
            <a:off x="10608536" y="4448761"/>
            <a:ext cx="0" cy="20056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Freeform 53" descr="Arrow pointing from Chef node to Chef Automate&gt;">
            <a:extLst>
              <a:ext uri="{FF2B5EF4-FFF2-40B4-BE49-F238E27FC236}">
                <a16:creationId xmlns:a16="http://schemas.microsoft.com/office/drawing/2014/main" id="{11DED4E0-8963-ADFE-22D6-183676BE9426}"/>
              </a:ext>
            </a:extLst>
          </p:cNvPr>
          <p:cNvSpPr/>
          <p:nvPr/>
        </p:nvSpPr>
        <p:spPr>
          <a:xfrm rot="10800000" flipH="1" flipV="1">
            <a:off x="9662730" y="1961750"/>
            <a:ext cx="836222" cy="659491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6" name="TextBox 17">
            <a:extLst>
              <a:ext uri="{FF2B5EF4-FFF2-40B4-BE49-F238E27FC236}">
                <a16:creationId xmlns:a16="http://schemas.microsoft.com/office/drawing/2014/main" id="{34107FA8-4542-5A31-770A-E93E9997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34718" y="1995095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HTTPS</a:t>
            </a:r>
          </a:p>
        </p:txBody>
      </p:sp>
      <p:pic>
        <p:nvPicPr>
          <p:cNvPr id="87" name="Graphic 50" descr="Auto scaling resource icon for the Amazon EC2 service.">
            <a:extLst>
              <a:ext uri="{FF2B5EF4-FFF2-40B4-BE49-F238E27FC236}">
                <a16:creationId xmlns:a16="http://schemas.microsoft.com/office/drawing/2014/main" id="{1EE8594A-4364-1DA7-533F-0ACA1D35F2B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162027" y="4043081"/>
            <a:ext cx="346693" cy="277505"/>
          </a:xfrm>
          <a:prstGeom prst="rect">
            <a:avLst/>
          </a:prstGeom>
        </p:spPr>
      </p:pic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8CBD48F3-8F2D-113A-0E4A-2E1990EFCB12}"/>
              </a:ext>
            </a:extLst>
          </p:cNvPr>
          <p:cNvCxnSpPr/>
          <p:nvPr/>
        </p:nvCxnSpPr>
        <p:spPr>
          <a:xfrm>
            <a:off x="5693654" y="5094952"/>
            <a:ext cx="1471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그림 88">
            <a:extLst>
              <a:ext uri="{FF2B5EF4-FFF2-40B4-BE49-F238E27FC236}">
                <a16:creationId xmlns:a16="http://schemas.microsoft.com/office/drawing/2014/main" id="{8DB349DA-B7E7-4089-37BC-7E11E861AADE}"/>
              </a:ext>
            </a:extLst>
          </p:cNvPr>
          <p:cNvPicPr>
            <a:picLocks noChangeAspect="1"/>
          </p:cNvPicPr>
          <p:nvPr/>
        </p:nvPicPr>
        <p:blipFill>
          <a:blip r:embed="rId4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3315" y="3786067"/>
            <a:ext cx="412386" cy="287033"/>
          </a:xfrm>
          <a:prstGeom prst="rect">
            <a:avLst/>
          </a:prstGeom>
        </p:spPr>
      </p:pic>
      <p:sp>
        <p:nvSpPr>
          <p:cNvPr id="90" name="TextBox 17">
            <a:extLst>
              <a:ext uri="{FF2B5EF4-FFF2-40B4-BE49-F238E27FC236}">
                <a16:creationId xmlns:a16="http://schemas.microsoft.com/office/drawing/2014/main" id="{5EA77BB2-018F-2CA6-F2B9-6A4C79195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0843" y="4078092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GitLab</a:t>
            </a:r>
          </a:p>
        </p:txBody>
      </p:sp>
      <p:sp>
        <p:nvSpPr>
          <p:cNvPr id="91" name="TextBox 17">
            <a:extLst>
              <a:ext uri="{FF2B5EF4-FFF2-40B4-BE49-F238E27FC236}">
                <a16:creationId xmlns:a16="http://schemas.microsoft.com/office/drawing/2014/main" id="{7207F296-7E3A-4F3F-BDBC-37EB59B9C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5567" y="4710431"/>
            <a:ext cx="77381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ECR</a:t>
            </a:r>
          </a:p>
        </p:txBody>
      </p: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150A726D-82C2-A784-8D9D-74358F01F560}"/>
              </a:ext>
            </a:extLst>
          </p:cNvPr>
          <p:cNvCxnSpPr>
            <a:stCxn id="90" idx="2"/>
            <a:endCxn id="56" idx="1"/>
          </p:cNvCxnSpPr>
          <p:nvPr/>
        </p:nvCxnSpPr>
        <p:spPr>
          <a:xfrm rot="16200000" flipH="1">
            <a:off x="2219883" y="3491405"/>
            <a:ext cx="288357" cy="189261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3AEDA64C-0347-A9F5-F21E-838F5006B1AB}"/>
              </a:ext>
            </a:extLst>
          </p:cNvPr>
          <p:cNvCxnSpPr>
            <a:cxnSpLocks/>
            <a:stCxn id="34" idx="1"/>
          </p:cNvCxnSpPr>
          <p:nvPr/>
        </p:nvCxnSpPr>
        <p:spPr>
          <a:xfrm rot="10800000" flipV="1">
            <a:off x="3636887" y="4129070"/>
            <a:ext cx="1044482" cy="38225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Graphic 19" descr="Amazon CloudFront service icon.">
            <a:extLst>
              <a:ext uri="{FF2B5EF4-FFF2-40B4-BE49-F238E27FC236}">
                <a16:creationId xmlns:a16="http://schemas.microsoft.com/office/drawing/2014/main" id="{8D284947-6498-A1C3-5242-911AC2CCF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 bwMode="auto">
          <a:xfrm>
            <a:off x="8841064" y="1825879"/>
            <a:ext cx="334729" cy="258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Box 12">
            <a:extLst>
              <a:ext uri="{FF2B5EF4-FFF2-40B4-BE49-F238E27FC236}">
                <a16:creationId xmlns:a16="http://schemas.microsoft.com/office/drawing/2014/main" id="{E37EFF19-449B-D587-0CB2-B47DDE29F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7108" y="2068670"/>
            <a:ext cx="59368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457200" latinLnBrk="0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Cloud</a:t>
            </a:r>
            <a:b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</a:br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Front</a:t>
            </a:r>
          </a:p>
        </p:txBody>
      </p:sp>
      <p:sp>
        <p:nvSpPr>
          <p:cNvPr id="96" name="Freeform 53" descr="Arrow pointing from Chef node to Chef Automate&gt;">
            <a:extLst>
              <a:ext uri="{FF2B5EF4-FFF2-40B4-BE49-F238E27FC236}">
                <a16:creationId xmlns:a16="http://schemas.microsoft.com/office/drawing/2014/main" id="{3A794CB2-130A-B4B4-0DF9-240F9A08664A}"/>
              </a:ext>
            </a:extLst>
          </p:cNvPr>
          <p:cNvSpPr/>
          <p:nvPr/>
        </p:nvSpPr>
        <p:spPr>
          <a:xfrm rot="5400000" flipH="1" flipV="1">
            <a:off x="7045292" y="1217108"/>
            <a:ext cx="600741" cy="2066504"/>
          </a:xfrm>
          <a:custGeom>
            <a:avLst/>
            <a:gdLst>
              <a:gd name="connsiteX0" fmla="*/ 1371600 w 1371600"/>
              <a:gd name="connsiteY0" fmla="*/ 711200 h 711200"/>
              <a:gd name="connsiteX1" fmla="*/ 1371600 w 1371600"/>
              <a:gd name="connsiteY1" fmla="*/ 0 h 711200"/>
              <a:gd name="connsiteX2" fmla="*/ 0 w 1371600"/>
              <a:gd name="connsiteY2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1600" h="711200">
                <a:moveTo>
                  <a:pt x="1371600" y="711200"/>
                </a:moveTo>
                <a:lnTo>
                  <a:pt x="1371600" y="0"/>
                </a:lnTo>
                <a:lnTo>
                  <a:pt x="0" y="0"/>
                </a:lnTo>
              </a:path>
            </a:pathLst>
          </a:custGeom>
          <a:noFill/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80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97" name="TextBox 17">
            <a:extLst>
              <a:ext uri="{FF2B5EF4-FFF2-40B4-BE49-F238E27FC236}">
                <a16:creationId xmlns:a16="http://schemas.microsoft.com/office/drawing/2014/main" id="{17D4AC03-8104-37C8-01A0-18D7DAD29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9799" y="2791511"/>
            <a:ext cx="52852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dirty="0">
                <a:solidFill>
                  <a:prstClr val="black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ALB</a:t>
            </a:r>
          </a:p>
        </p:txBody>
      </p:sp>
      <p:sp>
        <p:nvSpPr>
          <p:cNvPr id="98" name="Text Box 100">
            <a:extLst>
              <a:ext uri="{FF2B5EF4-FFF2-40B4-BE49-F238E27FC236}">
                <a16:creationId xmlns:a16="http://schemas.microsoft.com/office/drawing/2014/main" id="{1BA5A634-D4E8-D6F8-FDAC-840DFFABF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0672" y="5701966"/>
            <a:ext cx="8160795" cy="241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742950" indent="-28575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2pPr>
            <a:lvl3pPr marL="1143000" indent="-22860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3pPr>
            <a:lvl4pPr marL="1600200" indent="-22860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4pPr>
            <a:lvl5pPr marL="2057400" indent="-22860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9pPr>
          </a:lstStyle>
          <a:p>
            <a:pPr marL="158265" indent="-15826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Docker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컨테이너의 작업 단위인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Task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기반으로 </a:t>
            </a:r>
            <a:r>
              <a:rPr lang="en-US" altLang="ko-KR" sz="1200" dirty="0" err="1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Fargate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를 통해 서비스별 분산 컨테이너 아키텍처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Service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구성</a:t>
            </a:r>
          </a:p>
        </p:txBody>
      </p:sp>
      <p:sp>
        <p:nvSpPr>
          <p:cNvPr id="99" name="모서리가 둥근 직사각형 1">
            <a:extLst>
              <a:ext uri="{FF2B5EF4-FFF2-40B4-BE49-F238E27FC236}">
                <a16:creationId xmlns:a16="http://schemas.microsoft.com/office/drawing/2014/main" id="{729DE177-3BE3-607D-ED22-A7D88A4D0384}"/>
              </a:ext>
            </a:extLst>
          </p:cNvPr>
          <p:cNvSpPr/>
          <p:nvPr/>
        </p:nvSpPr>
        <p:spPr>
          <a:xfrm>
            <a:off x="1327160" y="5701965"/>
            <a:ext cx="1551462" cy="25401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1941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0" tIns="39640" rIns="39640" bIns="39640" rtlCol="0" anchor="ctr"/>
          <a:lstStyle/>
          <a:p>
            <a:pPr algn="ctr" latinLnBrk="1"/>
            <a:r>
              <a:rPr lang="en-US" altLang="ko-KR" sz="1200" b="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ECS Cluster</a:t>
            </a:r>
          </a:p>
        </p:txBody>
      </p:sp>
      <p:sp>
        <p:nvSpPr>
          <p:cNvPr id="100" name="Text Box 100">
            <a:extLst>
              <a:ext uri="{FF2B5EF4-FFF2-40B4-BE49-F238E27FC236}">
                <a16:creationId xmlns:a16="http://schemas.microsoft.com/office/drawing/2014/main" id="{D9BF55F6-BC64-D5E0-25F8-EAC9B6B30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8409" y="6047738"/>
            <a:ext cx="7666535" cy="241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>
            <a:spAutoFit/>
          </a:bodyPr>
          <a:lstStyle>
            <a:lvl1pPr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1pPr>
            <a:lvl2pPr marL="742950" indent="-28575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2pPr>
            <a:lvl3pPr marL="1143000" indent="-22860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3pPr>
            <a:lvl4pPr marL="1600200" indent="-22860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4pPr>
            <a:lvl5pPr marL="2057400" indent="-228600" eaLnBrk="0" hangingPunct="0"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bg1"/>
                </a:solidFill>
                <a:latin typeface="Rix고딕 B" pitchFamily="18" charset="-127"/>
                <a:ea typeface="Rix고딕 B" pitchFamily="18" charset="-127"/>
              </a:defRPr>
            </a:lvl9pPr>
          </a:lstStyle>
          <a:p>
            <a:pPr marL="158265" indent="-158265" eaLnBrk="1" latinLnBrk="0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ECS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Pretendard" panose="02000503000000020004" pitchFamily="50" charset="-127"/>
              </a:rPr>
              <a:t>클러스터의 인스턴스 수를 자동으로 확장 조정</a:t>
            </a:r>
          </a:p>
        </p:txBody>
      </p:sp>
      <p:sp>
        <p:nvSpPr>
          <p:cNvPr id="101" name="모서리가 둥근 직사각형 1">
            <a:extLst>
              <a:ext uri="{FF2B5EF4-FFF2-40B4-BE49-F238E27FC236}">
                <a16:creationId xmlns:a16="http://schemas.microsoft.com/office/drawing/2014/main" id="{A3613B09-C786-CD5F-0776-F49BF7FCF9E6}"/>
              </a:ext>
            </a:extLst>
          </p:cNvPr>
          <p:cNvSpPr/>
          <p:nvPr/>
        </p:nvSpPr>
        <p:spPr>
          <a:xfrm>
            <a:off x="1334896" y="6047737"/>
            <a:ext cx="1551462" cy="25401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1941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40" tIns="39640" rIns="39640" bIns="39640" rtlCol="0" anchor="ctr"/>
          <a:lstStyle/>
          <a:p>
            <a:pPr algn="ctr" latinLnBrk="1"/>
            <a:r>
              <a:rPr lang="en-US" altLang="ko-KR" sz="1200" b="0" dirty="0">
                <a:solidFill>
                  <a:schemeClr val="tx1"/>
                </a:solidFill>
                <a:latin typeface="+mn-ea"/>
                <a:cs typeface="Pretendard" panose="02000503000000020004" pitchFamily="50" charset="-127"/>
              </a:rPr>
              <a:t>Auto Scaling</a:t>
            </a:r>
          </a:p>
        </p:txBody>
      </p:sp>
    </p:spTree>
    <p:extLst>
      <p:ext uri="{BB962C8B-B14F-4D97-AF65-F5344CB8AC3E}">
        <p14:creationId xmlns:p14="http://schemas.microsoft.com/office/powerpoint/2010/main" val="285672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21C0-E525-E316-C69A-7B611AF1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4C03D0A0-4925-5FC7-DC3E-545D0587B2A2}"/>
              </a:ext>
            </a:extLst>
          </p:cNvPr>
          <p:cNvSpPr/>
          <p:nvPr/>
        </p:nvSpPr>
        <p:spPr>
          <a:xfrm>
            <a:off x="484192" y="1560164"/>
            <a:ext cx="11273247" cy="4923216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blurRad="254000" dist="38100" dir="5400000" sx="97000" sy="97000" algn="t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Pretendard Medium" panose="02000603000000020004" pitchFamily="2" charset="-127"/>
              <a:ea typeface="Pretendard Medium" panose="02000603000000020004" pitchFamily="2" charset="-127"/>
            </a:endParaRP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C143EB0-101F-F113-E1E1-AC9CACAD8C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b="1" dirty="0"/>
              <a:t>[</a:t>
            </a:r>
            <a:r>
              <a:rPr lang="ko-KR" altLang="en-US" b="1" dirty="0"/>
              <a:t>별첨</a:t>
            </a:r>
            <a:r>
              <a:rPr lang="en-US" altLang="ko-KR" b="1" dirty="0"/>
              <a:t>] </a:t>
            </a:r>
            <a:r>
              <a:rPr lang="ko-KR" altLang="en-US" b="1" dirty="0"/>
              <a:t>인프라 및 소프트웨어 구성도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773C1A-36D7-E495-49B4-25DDEC4509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- Cloud Native</a:t>
            </a:r>
            <a:r>
              <a:rPr lang="ko-KR" altLang="en-US" dirty="0"/>
              <a:t> 및 오픈소스를 이용하여 </a:t>
            </a:r>
            <a:r>
              <a:rPr lang="en-US" altLang="ko-KR" dirty="0"/>
              <a:t>Java </a:t>
            </a:r>
            <a:r>
              <a:rPr lang="ko-KR" altLang="en-US" dirty="0"/>
              <a:t>기반의 </a:t>
            </a:r>
            <a:r>
              <a:rPr lang="en-US" altLang="ko-KR" dirty="0"/>
              <a:t>POS/</a:t>
            </a:r>
            <a:r>
              <a:rPr lang="ko-KR" altLang="en-US" dirty="0"/>
              <a:t>키오스크</a:t>
            </a:r>
            <a:r>
              <a:rPr lang="en-US" altLang="ko-KR" dirty="0"/>
              <a:t> </a:t>
            </a:r>
            <a:r>
              <a:rPr lang="ko-KR" altLang="en-US" dirty="0"/>
              <a:t>관리시스템 및 </a:t>
            </a:r>
            <a:r>
              <a:rPr lang="en-US" altLang="ko-KR" dirty="0"/>
              <a:t>API</a:t>
            </a:r>
            <a:r>
              <a:rPr lang="ko-KR" altLang="en-US" dirty="0"/>
              <a:t>시스템에 최적화된 소프트웨어를 구성하고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EOS</a:t>
            </a:r>
            <a:r>
              <a:rPr lang="ko-KR" altLang="en-US" dirty="0"/>
              <a:t>를 대비한 </a:t>
            </a:r>
            <a:r>
              <a:rPr lang="en-US" altLang="ko-KR" dirty="0"/>
              <a:t>Long Term</a:t>
            </a:r>
          </a:p>
          <a:p>
            <a:r>
              <a:rPr lang="ko-KR" altLang="en-US" dirty="0"/>
              <a:t>  유지보수 및 안정화된 버전을 선정하여 구성함</a:t>
            </a:r>
            <a:endParaRPr lang="en-US" altLang="ko-KR" dirty="0"/>
          </a:p>
        </p:txBody>
      </p:sp>
      <p:sp>
        <p:nvSpPr>
          <p:cNvPr id="103" name="Rectangle 2">
            <a:extLst>
              <a:ext uri="{FF2B5EF4-FFF2-40B4-BE49-F238E27FC236}">
                <a16:creationId xmlns:a16="http://schemas.microsoft.com/office/drawing/2014/main" id="{D0EDDB83-6B70-668A-A1F0-8938A0215F3A}"/>
              </a:ext>
            </a:extLst>
          </p:cNvPr>
          <p:cNvSpPr/>
          <p:nvPr/>
        </p:nvSpPr>
        <p:spPr bwMode="auto">
          <a:xfrm flipV="1">
            <a:off x="9485392" y="2488131"/>
            <a:ext cx="2011934" cy="1682842"/>
          </a:xfrm>
          <a:prstGeom prst="round2SameRect">
            <a:avLst>
              <a:gd name="adj1" fmla="val 6507"/>
              <a:gd name="adj2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72000" tIns="34412" rIns="46800" bIns="34412" anchor="t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endParaRPr kumimoji="1" lang="en-US" sz="1200" b="1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04" name="Rectangle 2">
            <a:extLst>
              <a:ext uri="{FF2B5EF4-FFF2-40B4-BE49-F238E27FC236}">
                <a16:creationId xmlns:a16="http://schemas.microsoft.com/office/drawing/2014/main" id="{00FC35CE-CE67-3E5B-8392-A8B8D10D1C39}"/>
              </a:ext>
            </a:extLst>
          </p:cNvPr>
          <p:cNvSpPr/>
          <p:nvPr/>
        </p:nvSpPr>
        <p:spPr bwMode="auto">
          <a:xfrm flipV="1">
            <a:off x="7165143" y="2494999"/>
            <a:ext cx="2011934" cy="1682842"/>
          </a:xfrm>
          <a:prstGeom prst="round2SameRect">
            <a:avLst>
              <a:gd name="adj1" fmla="val 6507"/>
              <a:gd name="adj2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72000" tIns="34412" rIns="46800" bIns="34412" anchor="t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endParaRPr kumimoji="1" lang="en-US" sz="1200" b="1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05" name="Rectangle 2">
            <a:extLst>
              <a:ext uri="{FF2B5EF4-FFF2-40B4-BE49-F238E27FC236}">
                <a16:creationId xmlns:a16="http://schemas.microsoft.com/office/drawing/2014/main" id="{054DB3A7-B11E-1B2D-0D55-63EF345E20EA}"/>
              </a:ext>
            </a:extLst>
          </p:cNvPr>
          <p:cNvSpPr/>
          <p:nvPr/>
        </p:nvSpPr>
        <p:spPr bwMode="auto">
          <a:xfrm flipV="1">
            <a:off x="778458" y="2484820"/>
            <a:ext cx="2011934" cy="1682842"/>
          </a:xfrm>
          <a:prstGeom prst="round2SameRect">
            <a:avLst>
              <a:gd name="adj1" fmla="val 6507"/>
              <a:gd name="adj2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72000" tIns="34412" rIns="46800" bIns="34412" anchor="t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endParaRPr kumimoji="1" lang="en-US" sz="1200" b="1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06" name="양쪽 모서리가 둥근 사각형 177">
            <a:extLst>
              <a:ext uri="{FF2B5EF4-FFF2-40B4-BE49-F238E27FC236}">
                <a16:creationId xmlns:a16="http://schemas.microsoft.com/office/drawing/2014/main" id="{D4BE71EB-2BF8-31BE-0A6C-550C76C45D52}"/>
              </a:ext>
            </a:extLst>
          </p:cNvPr>
          <p:cNvSpPr/>
          <p:nvPr/>
        </p:nvSpPr>
        <p:spPr>
          <a:xfrm>
            <a:off x="778458" y="2137059"/>
            <a:ext cx="2011934" cy="349269"/>
          </a:xfrm>
          <a:prstGeom prst="round2SameRect">
            <a:avLst/>
          </a:prstGeom>
          <a:solidFill>
            <a:srgbClr val="1941A8"/>
          </a:solidFill>
          <a:ln>
            <a:solidFill>
              <a:srgbClr val="1941A8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b="1" dirty="0" err="1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FrontEnd</a:t>
            </a:r>
            <a:endParaRPr lang="en-US" altLang="ko-KR" sz="14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1A3749D-86D6-699F-67D2-C04BF0CD1CAC}"/>
              </a:ext>
            </a:extLst>
          </p:cNvPr>
          <p:cNvSpPr/>
          <p:nvPr/>
        </p:nvSpPr>
        <p:spPr>
          <a:xfrm>
            <a:off x="982443" y="3161786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React</a:t>
            </a:r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7EB66272-88C3-3C85-3D31-E1CA1789EAC6}"/>
              </a:ext>
            </a:extLst>
          </p:cNvPr>
          <p:cNvSpPr/>
          <p:nvPr/>
        </p:nvSpPr>
        <p:spPr>
          <a:xfrm>
            <a:off x="982443" y="3653603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Node.js</a:t>
            </a: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FC305C0E-9B90-3393-DEA6-F871B5BFACD0}"/>
              </a:ext>
            </a:extLst>
          </p:cNvPr>
          <p:cNvSpPr/>
          <p:nvPr/>
        </p:nvSpPr>
        <p:spPr>
          <a:xfrm>
            <a:off x="982443" y="2659888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HTML5 / SPA</a:t>
            </a:r>
          </a:p>
        </p:txBody>
      </p:sp>
      <p:sp>
        <p:nvSpPr>
          <p:cNvPr id="110" name="Rectangle 2">
            <a:extLst>
              <a:ext uri="{FF2B5EF4-FFF2-40B4-BE49-F238E27FC236}">
                <a16:creationId xmlns:a16="http://schemas.microsoft.com/office/drawing/2014/main" id="{4424C4AB-50E9-4835-5C3A-88440FB15D0E}"/>
              </a:ext>
            </a:extLst>
          </p:cNvPr>
          <p:cNvSpPr/>
          <p:nvPr/>
        </p:nvSpPr>
        <p:spPr bwMode="auto">
          <a:xfrm flipV="1">
            <a:off x="3097139" y="2483723"/>
            <a:ext cx="3742197" cy="1682842"/>
          </a:xfrm>
          <a:prstGeom prst="round2SameRect">
            <a:avLst>
              <a:gd name="adj1" fmla="val 7271"/>
              <a:gd name="adj2" fmla="val 0"/>
            </a:avLst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72000" tIns="34412" rIns="46800" bIns="34412" anchor="t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endParaRPr kumimoji="1" lang="en-US" sz="1200" b="1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482D4684-34E5-C7E0-D6CD-78F0755CFCFB}"/>
              </a:ext>
            </a:extLst>
          </p:cNvPr>
          <p:cNvSpPr/>
          <p:nvPr/>
        </p:nvSpPr>
        <p:spPr>
          <a:xfrm>
            <a:off x="3288952" y="3161786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Canal Frame</a:t>
            </a: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09482290-77A2-6544-D287-DFFE0A93C493}"/>
              </a:ext>
            </a:extLst>
          </p:cNvPr>
          <p:cNvSpPr/>
          <p:nvPr/>
        </p:nvSpPr>
        <p:spPr>
          <a:xfrm>
            <a:off x="3288952" y="3653603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JDK 17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4F4FF8D9-5405-2A64-4F72-0E8D87618C2D}"/>
              </a:ext>
            </a:extLst>
          </p:cNvPr>
          <p:cNvSpPr/>
          <p:nvPr/>
        </p:nvSpPr>
        <p:spPr>
          <a:xfrm>
            <a:off x="3288952" y="2659888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SpringBoot</a:t>
            </a: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 3.2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E2483A5E-C565-0992-84A0-FEB3BA5C881E}"/>
              </a:ext>
            </a:extLst>
          </p:cNvPr>
          <p:cNvSpPr/>
          <p:nvPr/>
        </p:nvSpPr>
        <p:spPr>
          <a:xfrm>
            <a:off x="5068606" y="3161786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MyBatis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09BA068-C445-A414-5C55-EE7C963E40FA}"/>
              </a:ext>
            </a:extLst>
          </p:cNvPr>
          <p:cNvSpPr/>
          <p:nvPr/>
        </p:nvSpPr>
        <p:spPr>
          <a:xfrm>
            <a:off x="5068606" y="3653603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JWT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B08B7C02-A10A-8693-690E-AFE98A71551F}"/>
              </a:ext>
            </a:extLst>
          </p:cNvPr>
          <p:cNvSpPr/>
          <p:nvPr/>
        </p:nvSpPr>
        <p:spPr>
          <a:xfrm>
            <a:off x="5068606" y="2659888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Embedded Tomcat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90330E3E-4B87-CAC1-635B-C0488A6E2316}"/>
              </a:ext>
            </a:extLst>
          </p:cNvPr>
          <p:cNvSpPr/>
          <p:nvPr/>
        </p:nvSpPr>
        <p:spPr>
          <a:xfrm>
            <a:off x="7367876" y="3161786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Elastic Search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B30575F7-588A-787C-1BA5-3CC13E1A2005}"/>
              </a:ext>
            </a:extLst>
          </p:cNvPr>
          <p:cNvSpPr/>
          <p:nvPr/>
        </p:nvSpPr>
        <p:spPr>
          <a:xfrm>
            <a:off x="7367876" y="3653603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FluentBit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16C9D9FF-8D67-584C-79EB-131021CBA812}"/>
              </a:ext>
            </a:extLst>
          </p:cNvPr>
          <p:cNvSpPr/>
          <p:nvPr/>
        </p:nvSpPr>
        <p:spPr>
          <a:xfrm>
            <a:off x="7367876" y="2659888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Kibana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FAFC436E-4EB3-7C99-11F1-5D4B1905DD65}"/>
              </a:ext>
            </a:extLst>
          </p:cNvPr>
          <p:cNvSpPr/>
          <p:nvPr/>
        </p:nvSpPr>
        <p:spPr>
          <a:xfrm>
            <a:off x="9660376" y="3161786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Jennifer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36B05C5-DA99-5100-FB0A-DF4998874591}"/>
              </a:ext>
            </a:extLst>
          </p:cNvPr>
          <p:cNvSpPr/>
          <p:nvPr/>
        </p:nvSpPr>
        <p:spPr>
          <a:xfrm>
            <a:off x="9660376" y="2659888"/>
            <a:ext cx="1609547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kern="0" dirty="0">
                <a:solidFill>
                  <a:prstClr val="black"/>
                </a:solidFill>
                <a:latin typeface="+mn-ea"/>
                <a:cs typeface="Pretendard Light" panose="02000403000000020004" pitchFamily="50" charset="-127"/>
              </a:rPr>
              <a:t>CloudWatch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22" name="Rectangle 2">
            <a:extLst>
              <a:ext uri="{FF2B5EF4-FFF2-40B4-BE49-F238E27FC236}">
                <a16:creationId xmlns:a16="http://schemas.microsoft.com/office/drawing/2014/main" id="{4E9A7EB7-BA9B-19EB-D319-177273BA5BF3}"/>
              </a:ext>
            </a:extLst>
          </p:cNvPr>
          <p:cNvSpPr/>
          <p:nvPr/>
        </p:nvSpPr>
        <p:spPr bwMode="auto">
          <a:xfrm>
            <a:off x="778460" y="4378622"/>
            <a:ext cx="4290148" cy="720000"/>
          </a:xfrm>
          <a:prstGeom prst="roundRect">
            <a:avLst/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72000" tIns="34412" rIns="46800" bIns="34412" anchor="t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endParaRPr kumimoji="1" lang="en-US" sz="1200" b="1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1ADCBB28-DD4F-0B8E-674F-AD67035F3A70}"/>
              </a:ext>
            </a:extLst>
          </p:cNvPr>
          <p:cNvSpPr/>
          <p:nvPr/>
        </p:nvSpPr>
        <p:spPr>
          <a:xfrm>
            <a:off x="2695232" y="4561105"/>
            <a:ext cx="2011934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Aurora PostgreSQL</a:t>
            </a:r>
          </a:p>
        </p:txBody>
      </p:sp>
      <p:sp>
        <p:nvSpPr>
          <p:cNvPr id="124" name="Rectangle 2">
            <a:extLst>
              <a:ext uri="{FF2B5EF4-FFF2-40B4-BE49-F238E27FC236}">
                <a16:creationId xmlns:a16="http://schemas.microsoft.com/office/drawing/2014/main" id="{7CD50990-2F2A-9CD4-3D05-D606EAF3D479}"/>
              </a:ext>
            </a:extLst>
          </p:cNvPr>
          <p:cNvSpPr/>
          <p:nvPr/>
        </p:nvSpPr>
        <p:spPr bwMode="auto">
          <a:xfrm>
            <a:off x="5367438" y="4378622"/>
            <a:ext cx="6103677" cy="720000"/>
          </a:xfrm>
          <a:prstGeom prst="roundRect">
            <a:avLst/>
          </a:prstGeom>
          <a:pattFill prst="pct50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6350" algn="ctr">
            <a:solidFill>
              <a:srgbClr val="C0C0C0"/>
            </a:solidFill>
            <a:miter lim="800000"/>
            <a:headEnd/>
            <a:tailEnd/>
          </a:ln>
        </p:spPr>
        <p:txBody>
          <a:bodyPr lIns="72000" tIns="34412" rIns="46800" bIns="34412" anchor="t" anchorCtr="0"/>
          <a:lstStyle/>
          <a:p>
            <a:pPr algn="ctr" defTabSz="914400" fontAlgn="ctr">
              <a:buClr>
                <a:srgbClr val="808080"/>
              </a:buClr>
              <a:buSzPct val="80000"/>
              <a:tabLst>
                <a:tab pos="5648325" algn="l"/>
              </a:tabLst>
            </a:pPr>
            <a:endParaRPr kumimoji="1" lang="en-US" sz="1200" b="1" dirty="0">
              <a:solidFill>
                <a:srgbClr val="000000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25" name="Rectangle 2">
            <a:extLst>
              <a:ext uri="{FF2B5EF4-FFF2-40B4-BE49-F238E27FC236}">
                <a16:creationId xmlns:a16="http://schemas.microsoft.com/office/drawing/2014/main" id="{4CA3A222-A5C4-6BAC-0E16-1098226FC32D}"/>
              </a:ext>
            </a:extLst>
          </p:cNvPr>
          <p:cNvSpPr/>
          <p:nvPr/>
        </p:nvSpPr>
        <p:spPr bwMode="auto">
          <a:xfrm>
            <a:off x="778459" y="5287357"/>
            <a:ext cx="10692655" cy="720000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44926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endParaRPr kumimoji="0" lang="en-US" sz="90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5E855E1-C73E-5ECA-3261-21057DC3B8A4}"/>
              </a:ext>
            </a:extLst>
          </p:cNvPr>
          <p:cNvSpPr/>
          <p:nvPr/>
        </p:nvSpPr>
        <p:spPr>
          <a:xfrm>
            <a:off x="7402364" y="4561105"/>
            <a:ext cx="1690025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Gitlab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75DDC341-7B58-30FF-F200-E2F9838CE135}"/>
              </a:ext>
            </a:extLst>
          </p:cNvPr>
          <p:cNvSpPr/>
          <p:nvPr/>
        </p:nvSpPr>
        <p:spPr>
          <a:xfrm>
            <a:off x="9457371" y="4561105"/>
            <a:ext cx="1690025" cy="3492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Gitlab Runner</a:t>
            </a:r>
          </a:p>
        </p:txBody>
      </p:sp>
      <p:sp>
        <p:nvSpPr>
          <p:cNvPr id="128" name="양쪽 모서리가 둥근 사각형 177">
            <a:extLst>
              <a:ext uri="{FF2B5EF4-FFF2-40B4-BE49-F238E27FC236}">
                <a16:creationId xmlns:a16="http://schemas.microsoft.com/office/drawing/2014/main" id="{CB76EC33-0C23-9E07-52FB-FC7A1438B3B5}"/>
              </a:ext>
            </a:extLst>
          </p:cNvPr>
          <p:cNvSpPr/>
          <p:nvPr/>
        </p:nvSpPr>
        <p:spPr>
          <a:xfrm>
            <a:off x="3097139" y="2140642"/>
            <a:ext cx="3742197" cy="349269"/>
          </a:xfrm>
          <a:prstGeom prst="round2SameRect">
            <a:avLst/>
          </a:prstGeom>
          <a:solidFill>
            <a:srgbClr val="1941A8"/>
          </a:solidFill>
          <a:ln>
            <a:solidFill>
              <a:srgbClr val="1941A8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b="1" dirty="0" err="1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BackEnd</a:t>
            </a:r>
            <a:endParaRPr lang="en-US" altLang="ko-KR" sz="14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29" name="양쪽 모서리가 둥근 사각형 177">
            <a:extLst>
              <a:ext uri="{FF2B5EF4-FFF2-40B4-BE49-F238E27FC236}">
                <a16:creationId xmlns:a16="http://schemas.microsoft.com/office/drawing/2014/main" id="{4CA63724-0752-16A7-04A9-43F9BA76AAFD}"/>
              </a:ext>
            </a:extLst>
          </p:cNvPr>
          <p:cNvSpPr/>
          <p:nvPr/>
        </p:nvSpPr>
        <p:spPr>
          <a:xfrm>
            <a:off x="7165143" y="2140642"/>
            <a:ext cx="2011934" cy="349269"/>
          </a:xfrm>
          <a:prstGeom prst="round2SameRect">
            <a:avLst/>
          </a:prstGeom>
          <a:solidFill>
            <a:srgbClr val="1941A8"/>
          </a:solidFill>
          <a:ln>
            <a:solidFill>
              <a:srgbClr val="1941A8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Logging</a:t>
            </a:r>
          </a:p>
        </p:txBody>
      </p:sp>
      <p:sp>
        <p:nvSpPr>
          <p:cNvPr id="130" name="양쪽 모서리가 둥근 사각형 177">
            <a:extLst>
              <a:ext uri="{FF2B5EF4-FFF2-40B4-BE49-F238E27FC236}">
                <a16:creationId xmlns:a16="http://schemas.microsoft.com/office/drawing/2014/main" id="{CAD148C0-5EFF-7E68-D413-97D5D20B6385}"/>
              </a:ext>
            </a:extLst>
          </p:cNvPr>
          <p:cNvSpPr/>
          <p:nvPr/>
        </p:nvSpPr>
        <p:spPr>
          <a:xfrm>
            <a:off x="9485392" y="2140642"/>
            <a:ext cx="2011934" cy="349269"/>
          </a:xfrm>
          <a:prstGeom prst="round2SameRect">
            <a:avLst/>
          </a:prstGeom>
          <a:solidFill>
            <a:srgbClr val="1941A8"/>
          </a:solidFill>
          <a:ln>
            <a:solidFill>
              <a:srgbClr val="1941A8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모니터링</a:t>
            </a:r>
            <a:endParaRPr lang="en-US" altLang="ko-KR" sz="1400" b="1" dirty="0">
              <a:solidFill>
                <a:schemeClr val="bg1"/>
              </a:solidFill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31" name="양쪽 모서리가 둥근 사각형 177">
            <a:extLst>
              <a:ext uri="{FF2B5EF4-FFF2-40B4-BE49-F238E27FC236}">
                <a16:creationId xmlns:a16="http://schemas.microsoft.com/office/drawing/2014/main" id="{BE7B5D99-C83F-A1FB-D04A-3CB619FB6F3C}"/>
              </a:ext>
            </a:extLst>
          </p:cNvPr>
          <p:cNvSpPr/>
          <p:nvPr/>
        </p:nvSpPr>
        <p:spPr>
          <a:xfrm>
            <a:off x="925437" y="5409219"/>
            <a:ext cx="1287638" cy="476276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Cloud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Infra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FCABFA8-0D6D-0EC4-C8CE-84971E550645}"/>
              </a:ext>
            </a:extLst>
          </p:cNvPr>
          <p:cNvSpPr/>
          <p:nvPr/>
        </p:nvSpPr>
        <p:spPr>
          <a:xfrm>
            <a:off x="2743790" y="5456846"/>
            <a:ext cx="1287638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ECS / Docker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E3AED870-9378-2155-4522-5E48F30D9014}"/>
              </a:ext>
            </a:extLst>
          </p:cNvPr>
          <p:cNvSpPr/>
          <p:nvPr/>
        </p:nvSpPr>
        <p:spPr>
          <a:xfrm>
            <a:off x="4204592" y="5456846"/>
            <a:ext cx="1287638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kern="0" dirty="0">
                <a:solidFill>
                  <a:prstClr val="black"/>
                </a:solidFill>
                <a:latin typeface="+mn-ea"/>
                <a:cs typeface="Pretendard Light" panose="02000403000000020004" pitchFamily="50" charset="-127"/>
              </a:rPr>
              <a:t>AWS ALB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C5F1B29E-FC5B-032D-FE6C-DAF2607BE9D6}"/>
              </a:ext>
            </a:extLst>
          </p:cNvPr>
          <p:cNvSpPr/>
          <p:nvPr/>
        </p:nvSpPr>
        <p:spPr>
          <a:xfrm>
            <a:off x="5665395" y="5456846"/>
            <a:ext cx="1287638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AWS</a:t>
            </a:r>
            <a:r>
              <a:rPr kumimoji="1" lang="ko-KR" altLang="en-US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 </a:t>
            </a: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ECR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7EA9F33-A9F1-6B3B-6D8B-A057D57A1588}"/>
              </a:ext>
            </a:extLst>
          </p:cNvPr>
          <p:cNvSpPr/>
          <p:nvPr/>
        </p:nvSpPr>
        <p:spPr>
          <a:xfrm>
            <a:off x="7126198" y="5456846"/>
            <a:ext cx="1287638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kern="0" dirty="0">
                <a:solidFill>
                  <a:prstClr val="black"/>
                </a:solidFill>
                <a:latin typeface="+mn-ea"/>
                <a:cs typeface="Pretendard Light" panose="02000403000000020004" pitchFamily="50" charset="-127"/>
              </a:rPr>
              <a:t>Cloud</a:t>
            </a:r>
            <a:r>
              <a:rPr kumimoji="1" lang="ko-KR" altLang="en-US" sz="1300" kern="0" dirty="0">
                <a:solidFill>
                  <a:prstClr val="black"/>
                </a:solidFill>
                <a:latin typeface="+mn-ea"/>
                <a:cs typeface="Pretendard Light" panose="02000403000000020004" pitchFamily="50" charset="-127"/>
              </a:rPr>
              <a:t> </a:t>
            </a:r>
            <a:r>
              <a:rPr kumimoji="1" lang="en-US" altLang="ko-KR" sz="1300" kern="0" dirty="0">
                <a:solidFill>
                  <a:prstClr val="black"/>
                </a:solidFill>
                <a:latin typeface="+mn-ea"/>
                <a:cs typeface="Pretendard Light" panose="02000403000000020004" pitchFamily="50" charset="-127"/>
              </a:rPr>
              <a:t>Front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E2639058-5BBC-5C84-8C07-8E66DB412AEF}"/>
              </a:ext>
            </a:extLst>
          </p:cNvPr>
          <p:cNvSpPr/>
          <p:nvPr/>
        </p:nvSpPr>
        <p:spPr>
          <a:xfrm>
            <a:off x="8587001" y="5456846"/>
            <a:ext cx="1287638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kern="0" dirty="0">
                <a:solidFill>
                  <a:prstClr val="black"/>
                </a:solidFill>
                <a:latin typeface="+mn-ea"/>
                <a:cs typeface="Pretendard Light" panose="02000403000000020004" pitchFamily="50" charset="-127"/>
              </a:rPr>
              <a:t>AWS S3</a:t>
            </a:r>
            <a:endParaRPr kumimoji="1" lang="en-US" altLang="ko-KR" sz="13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Pretendard Light" panose="02000403000000020004" pitchFamily="50" charset="-127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43B1C639-600D-82CA-262C-8987753A6683}"/>
              </a:ext>
            </a:extLst>
          </p:cNvPr>
          <p:cNvSpPr/>
          <p:nvPr/>
        </p:nvSpPr>
        <p:spPr>
          <a:xfrm>
            <a:off x="10047806" y="5456846"/>
            <a:ext cx="1287638" cy="381021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3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Pretendard Light" panose="02000403000000020004" pitchFamily="50" charset="-127"/>
              </a:rPr>
              <a:t>WAF</a:t>
            </a:r>
          </a:p>
        </p:txBody>
      </p:sp>
      <p:sp>
        <p:nvSpPr>
          <p:cNvPr id="138" name="양쪽 모서리가 둥근 사각형 177">
            <a:extLst>
              <a:ext uri="{FF2B5EF4-FFF2-40B4-BE49-F238E27FC236}">
                <a16:creationId xmlns:a16="http://schemas.microsoft.com/office/drawing/2014/main" id="{704BB80C-2ECE-429B-E62E-71A8F5228A02}"/>
              </a:ext>
            </a:extLst>
          </p:cNvPr>
          <p:cNvSpPr/>
          <p:nvPr/>
        </p:nvSpPr>
        <p:spPr>
          <a:xfrm>
            <a:off x="925437" y="4500483"/>
            <a:ext cx="1287638" cy="476276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Database</a:t>
            </a:r>
          </a:p>
        </p:txBody>
      </p:sp>
      <p:sp>
        <p:nvSpPr>
          <p:cNvPr id="139" name="양쪽 모서리가 둥근 사각형 177">
            <a:extLst>
              <a:ext uri="{FF2B5EF4-FFF2-40B4-BE49-F238E27FC236}">
                <a16:creationId xmlns:a16="http://schemas.microsoft.com/office/drawing/2014/main" id="{35B27956-2104-DFA2-07B0-2C247F767B20}"/>
              </a:ext>
            </a:extLst>
          </p:cNvPr>
          <p:cNvSpPr/>
          <p:nvPr/>
        </p:nvSpPr>
        <p:spPr>
          <a:xfrm>
            <a:off x="5601143" y="4500483"/>
            <a:ext cx="1287638" cy="476276"/>
          </a:xfrm>
          <a:prstGeom prst="round2SameRect">
            <a:avLst>
              <a:gd name="adj1" fmla="val 21613"/>
              <a:gd name="adj2" fmla="val 25404"/>
            </a:avLst>
          </a:prstGeom>
          <a:solidFill>
            <a:srgbClr val="1941A8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n-ea"/>
                <a:cs typeface="Pretendard" panose="02000503000000020004" pitchFamily="50" charset="-127"/>
              </a:rPr>
              <a:t>CI/CD</a:t>
            </a:r>
          </a:p>
        </p:txBody>
      </p:sp>
    </p:spTree>
    <p:extLst>
      <p:ext uri="{BB962C8B-B14F-4D97-AF65-F5344CB8AC3E}">
        <p14:creationId xmlns:p14="http://schemas.microsoft.com/office/powerpoint/2010/main" val="4075749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</TotalTime>
  <Words>3320</Words>
  <Application>Microsoft Office PowerPoint</Application>
  <PresentationFormat>와이드스크린</PresentationFormat>
  <Paragraphs>828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46" baseType="lpstr">
      <vt:lpstr>Arial Unicode MS</vt:lpstr>
      <vt:lpstr>CJ ONLYONE NEW 본문 Light</vt:lpstr>
      <vt:lpstr>CJ ONLYONE NEW 본문 Regular</vt:lpstr>
      <vt:lpstr>HY중고딕</vt:lpstr>
      <vt:lpstr>HY헤드라인M</vt:lpstr>
      <vt:lpstr>Noto Sans CJK KR Bold</vt:lpstr>
      <vt:lpstr>Noto Sans CJK KR DemiLight</vt:lpstr>
      <vt:lpstr>Noto Sans CJK KR Light</vt:lpstr>
      <vt:lpstr>Pretendard</vt:lpstr>
      <vt:lpstr>Pretendard ExtraBold</vt:lpstr>
      <vt:lpstr>Pretendard Light</vt:lpstr>
      <vt:lpstr>Pretendard Medium</vt:lpstr>
      <vt:lpstr>YouandiModern HeadRegular (본문)</vt:lpstr>
      <vt:lpstr>맑은 고딕</vt:lpstr>
      <vt:lpstr>Arial</vt:lpstr>
      <vt:lpstr>Times New Roman</vt:lpstr>
      <vt:lpstr>Wingdings</vt:lpstr>
      <vt:lpstr>Wingdings 2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오승헌님 [OH SEUNG HEON]; cj:BPvKQ0vucfys7jCU2/AnPTTmIBQ=*kernel</dc:creator>
  <cp:lastModifiedBy>User</cp:lastModifiedBy>
  <cp:revision>225</cp:revision>
  <dcterms:created xsi:type="dcterms:W3CDTF">2024-01-03T01:43:59Z</dcterms:created>
  <dcterms:modified xsi:type="dcterms:W3CDTF">2025-03-05T04:36:12Z</dcterms:modified>
</cp:coreProperties>
</file>