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98" r:id="rId4"/>
    <p:sldId id="258" r:id="rId5"/>
    <p:sldId id="259" r:id="rId6"/>
    <p:sldId id="260" r:id="rId7"/>
    <p:sldId id="287" r:id="rId8"/>
    <p:sldId id="262" r:id="rId9"/>
    <p:sldId id="263" r:id="rId10"/>
    <p:sldId id="288" r:id="rId11"/>
    <p:sldId id="289" r:id="rId12"/>
    <p:sldId id="271" r:id="rId13"/>
    <p:sldId id="269" r:id="rId14"/>
    <p:sldId id="274" r:id="rId15"/>
    <p:sldId id="293" r:id="rId16"/>
    <p:sldId id="294" r:id="rId17"/>
    <p:sldId id="295" r:id="rId18"/>
    <p:sldId id="297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>
        <p:scale>
          <a:sx n="100" d="100"/>
          <a:sy n="100" d="100"/>
        </p:scale>
        <p:origin x="2026" y="2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71062-5F2B-444B-B518-F5D1888B564C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6E350FB2-8851-47C5-AD65-9BA582B497A9}">
      <dgm:prSet phldrT="[텍스트]"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성공적인 </a:t>
          </a:r>
          <a:r>
            <a:rPr lang="en-US" altLang="ko-KR" sz="1200" b="1" dirty="0">
              <a:latin typeface="맑은 고딕" pitchFamily="50" charset="-127"/>
              <a:ea typeface="맑은 고딕" pitchFamily="50" charset="-127"/>
            </a:rPr>
            <a:t>Roll-out</a:t>
          </a:r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982D5A70-79B5-4F3F-84F8-6E0C5D1304CE}" type="parTrans" cxnId="{1407D7A0-442A-4F16-BC6F-412D0E833803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78C3EC9A-F4BF-4466-ADCA-F37CDFECDABE}" type="sibTrans" cxnId="{1407D7A0-442A-4F16-BC6F-412D0E833803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D72BB262-DCEA-429E-B0B5-6C7607F4EBA0}">
      <dgm:prSet phldrT="[텍스트]"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시스템 효율화</a:t>
          </a:r>
        </a:p>
      </dgm:t>
    </dgm:pt>
    <dgm:pt modelId="{649E07C9-E1B2-4D1D-B11F-AC998EA0F745}" type="parTrans" cxnId="{25A789E9-EB90-4722-B527-7E3458D795DA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0BC5EA70-5083-4FED-8371-C1B2CAEEB47B}" type="sibTrans" cxnId="{25A789E9-EB90-4722-B527-7E3458D795DA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84044314-BDCF-4D05-B25B-39CBA07FEAC8}">
      <dgm:prSet phldrT="[텍스트]"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시스템 안정화</a:t>
          </a:r>
        </a:p>
      </dgm:t>
    </dgm:pt>
    <dgm:pt modelId="{CB97B56C-8BAB-4C43-B7FE-AC8D1DB37FF9}" type="parTrans" cxnId="{B72AAD97-0410-47BB-B303-0DE6E7833594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CEFCC539-038B-4746-BC21-539D8814EE3E}" type="sibTrans" cxnId="{B72AAD97-0410-47BB-B303-0DE6E7833594}">
      <dgm:prSet/>
      <dgm:spPr/>
      <dgm:t>
        <a:bodyPr/>
        <a:lstStyle/>
        <a:p>
          <a:pPr latinLnBrk="1"/>
          <a:endParaRPr lang="ko-KR" altLang="en-US">
            <a:latin typeface="맑은 고딕" pitchFamily="50" charset="-127"/>
            <a:ea typeface="맑은 고딕" pitchFamily="50" charset="-127"/>
          </a:endParaRPr>
        </a:p>
      </dgm:t>
    </dgm:pt>
    <dgm:pt modelId="{2760ADB7-42C4-401C-BB33-DF62EA9181C3}" type="pres">
      <dgm:prSet presAssocID="{55171062-5F2B-444B-B518-F5D1888B564C}" presName="linear" presStyleCnt="0">
        <dgm:presLayoutVars>
          <dgm:dir/>
          <dgm:animLvl val="lvl"/>
          <dgm:resizeHandles val="exact"/>
        </dgm:presLayoutVars>
      </dgm:prSet>
      <dgm:spPr/>
    </dgm:pt>
    <dgm:pt modelId="{F13CC842-2769-4A73-9FC8-5BCBDCE9DAD5}" type="pres">
      <dgm:prSet presAssocID="{6E350FB2-8851-47C5-AD65-9BA582B497A9}" presName="parentLin" presStyleCnt="0"/>
      <dgm:spPr/>
    </dgm:pt>
    <dgm:pt modelId="{6E87C38E-4AB3-4E36-A502-4F9BEFC9766A}" type="pres">
      <dgm:prSet presAssocID="{6E350FB2-8851-47C5-AD65-9BA582B497A9}" presName="parentLeftMargin" presStyleLbl="node1" presStyleIdx="0" presStyleCnt="3"/>
      <dgm:spPr/>
    </dgm:pt>
    <dgm:pt modelId="{D7210EAC-9B2C-4A72-9B93-0F378AB7D227}" type="pres">
      <dgm:prSet presAssocID="{6E350FB2-8851-47C5-AD65-9BA582B497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48CB61-C06E-41E2-B95A-DF5C785F1E8F}" type="pres">
      <dgm:prSet presAssocID="{6E350FB2-8851-47C5-AD65-9BA582B497A9}" presName="negativeSpace" presStyleCnt="0"/>
      <dgm:spPr/>
    </dgm:pt>
    <dgm:pt modelId="{E83530B2-E00C-4094-AF4A-298CBC886158}" type="pres">
      <dgm:prSet presAssocID="{6E350FB2-8851-47C5-AD65-9BA582B497A9}" presName="childText" presStyleLbl="conFgAcc1" presStyleIdx="0" presStyleCnt="3">
        <dgm:presLayoutVars>
          <dgm:bulletEnabled val="1"/>
        </dgm:presLayoutVars>
      </dgm:prSet>
      <dgm:spPr/>
    </dgm:pt>
    <dgm:pt modelId="{F5A5FF27-1BF0-4DB3-9718-99CB3EDA5D12}" type="pres">
      <dgm:prSet presAssocID="{78C3EC9A-F4BF-4466-ADCA-F37CDFECDABE}" presName="spaceBetweenRectangles" presStyleCnt="0"/>
      <dgm:spPr/>
    </dgm:pt>
    <dgm:pt modelId="{CB20EAA1-157A-433F-89DD-28896BA6D6F0}" type="pres">
      <dgm:prSet presAssocID="{D72BB262-DCEA-429E-B0B5-6C7607F4EBA0}" presName="parentLin" presStyleCnt="0"/>
      <dgm:spPr/>
    </dgm:pt>
    <dgm:pt modelId="{D131EE58-40DB-45E9-9C5B-A0EDD354A9EE}" type="pres">
      <dgm:prSet presAssocID="{D72BB262-DCEA-429E-B0B5-6C7607F4EBA0}" presName="parentLeftMargin" presStyleLbl="node1" presStyleIdx="0" presStyleCnt="3"/>
      <dgm:spPr/>
    </dgm:pt>
    <dgm:pt modelId="{2398BAB3-E56B-45B2-AD90-E43D0D16AF45}" type="pres">
      <dgm:prSet presAssocID="{D72BB262-DCEA-429E-B0B5-6C7607F4EB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360385-C9FF-4854-84BB-939ABA195429}" type="pres">
      <dgm:prSet presAssocID="{D72BB262-DCEA-429E-B0B5-6C7607F4EBA0}" presName="negativeSpace" presStyleCnt="0"/>
      <dgm:spPr/>
    </dgm:pt>
    <dgm:pt modelId="{D7B0CFF9-6760-4200-AA2C-5DE11F069152}" type="pres">
      <dgm:prSet presAssocID="{D72BB262-DCEA-429E-B0B5-6C7607F4EBA0}" presName="childText" presStyleLbl="conFgAcc1" presStyleIdx="1" presStyleCnt="3">
        <dgm:presLayoutVars>
          <dgm:bulletEnabled val="1"/>
        </dgm:presLayoutVars>
      </dgm:prSet>
      <dgm:spPr/>
    </dgm:pt>
    <dgm:pt modelId="{6747604F-D3CB-41B4-87B5-9C1A1E8B08BA}" type="pres">
      <dgm:prSet presAssocID="{0BC5EA70-5083-4FED-8371-C1B2CAEEB47B}" presName="spaceBetweenRectangles" presStyleCnt="0"/>
      <dgm:spPr/>
    </dgm:pt>
    <dgm:pt modelId="{A4312D33-4319-4BB1-81A2-A3BE2AD51169}" type="pres">
      <dgm:prSet presAssocID="{84044314-BDCF-4D05-B25B-39CBA07FEAC8}" presName="parentLin" presStyleCnt="0"/>
      <dgm:spPr/>
    </dgm:pt>
    <dgm:pt modelId="{02F0B659-5730-44A2-A755-E1D4CA326B9A}" type="pres">
      <dgm:prSet presAssocID="{84044314-BDCF-4D05-B25B-39CBA07FEAC8}" presName="parentLeftMargin" presStyleLbl="node1" presStyleIdx="1" presStyleCnt="3"/>
      <dgm:spPr/>
    </dgm:pt>
    <dgm:pt modelId="{DCECB650-F15C-45BA-80AF-7763CBA72D0A}" type="pres">
      <dgm:prSet presAssocID="{84044314-BDCF-4D05-B25B-39CBA07FEAC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02929B4-2043-4AD3-86D3-000DB9AF43DF}" type="pres">
      <dgm:prSet presAssocID="{84044314-BDCF-4D05-B25B-39CBA07FEAC8}" presName="negativeSpace" presStyleCnt="0"/>
      <dgm:spPr/>
    </dgm:pt>
    <dgm:pt modelId="{C7A76E88-9AD5-4DAC-8D4B-6858791CA9EC}" type="pres">
      <dgm:prSet presAssocID="{84044314-BDCF-4D05-B25B-39CBA07FEAC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139FC00-FF65-4357-B5E6-74F9A5E24C84}" type="presOf" srcId="{84044314-BDCF-4D05-B25B-39CBA07FEAC8}" destId="{02F0B659-5730-44A2-A755-E1D4CA326B9A}" srcOrd="0" destOrd="0" presId="urn:microsoft.com/office/officeart/2005/8/layout/list1"/>
    <dgm:cxn modelId="{CC5CFF4C-C0F9-4C4F-A682-8C82DC698211}" type="presOf" srcId="{D72BB262-DCEA-429E-B0B5-6C7607F4EBA0}" destId="{2398BAB3-E56B-45B2-AD90-E43D0D16AF45}" srcOrd="1" destOrd="0" presId="urn:microsoft.com/office/officeart/2005/8/layout/list1"/>
    <dgm:cxn modelId="{46173C75-DF05-4F98-808A-557C24A4C59F}" type="presOf" srcId="{55171062-5F2B-444B-B518-F5D1888B564C}" destId="{2760ADB7-42C4-401C-BB33-DF62EA9181C3}" srcOrd="0" destOrd="0" presId="urn:microsoft.com/office/officeart/2005/8/layout/list1"/>
    <dgm:cxn modelId="{B72AAD97-0410-47BB-B303-0DE6E7833594}" srcId="{55171062-5F2B-444B-B518-F5D1888B564C}" destId="{84044314-BDCF-4D05-B25B-39CBA07FEAC8}" srcOrd="2" destOrd="0" parTransId="{CB97B56C-8BAB-4C43-B7FE-AC8D1DB37FF9}" sibTransId="{CEFCC539-038B-4746-BC21-539D8814EE3E}"/>
    <dgm:cxn modelId="{1407D7A0-442A-4F16-BC6F-412D0E833803}" srcId="{55171062-5F2B-444B-B518-F5D1888B564C}" destId="{6E350FB2-8851-47C5-AD65-9BA582B497A9}" srcOrd="0" destOrd="0" parTransId="{982D5A70-79B5-4F3F-84F8-6E0C5D1304CE}" sibTransId="{78C3EC9A-F4BF-4466-ADCA-F37CDFECDABE}"/>
    <dgm:cxn modelId="{21AC36A7-BF29-4E70-9468-623EE8C5558B}" type="presOf" srcId="{D72BB262-DCEA-429E-B0B5-6C7607F4EBA0}" destId="{D131EE58-40DB-45E9-9C5B-A0EDD354A9EE}" srcOrd="0" destOrd="0" presId="urn:microsoft.com/office/officeart/2005/8/layout/list1"/>
    <dgm:cxn modelId="{565CABCE-EE6B-4AE6-B5AB-918482A7E1A2}" type="presOf" srcId="{6E350FB2-8851-47C5-AD65-9BA582B497A9}" destId="{6E87C38E-4AB3-4E36-A502-4F9BEFC9766A}" srcOrd="0" destOrd="0" presId="urn:microsoft.com/office/officeart/2005/8/layout/list1"/>
    <dgm:cxn modelId="{F988D8DF-9FE0-4063-B43E-B306A8BA750D}" type="presOf" srcId="{84044314-BDCF-4D05-B25B-39CBA07FEAC8}" destId="{DCECB650-F15C-45BA-80AF-7763CBA72D0A}" srcOrd="1" destOrd="0" presId="urn:microsoft.com/office/officeart/2005/8/layout/list1"/>
    <dgm:cxn modelId="{25A789E9-EB90-4722-B527-7E3458D795DA}" srcId="{55171062-5F2B-444B-B518-F5D1888B564C}" destId="{D72BB262-DCEA-429E-B0B5-6C7607F4EBA0}" srcOrd="1" destOrd="0" parTransId="{649E07C9-E1B2-4D1D-B11F-AC998EA0F745}" sibTransId="{0BC5EA70-5083-4FED-8371-C1B2CAEEB47B}"/>
    <dgm:cxn modelId="{DC4D77FD-CB2C-4AF2-8D5D-DDFCEE66DE97}" type="presOf" srcId="{6E350FB2-8851-47C5-AD65-9BA582B497A9}" destId="{D7210EAC-9B2C-4A72-9B93-0F378AB7D227}" srcOrd="1" destOrd="0" presId="urn:microsoft.com/office/officeart/2005/8/layout/list1"/>
    <dgm:cxn modelId="{6BD1FF76-67AC-4946-BF0D-2E25CFAE9F44}" type="presParOf" srcId="{2760ADB7-42C4-401C-BB33-DF62EA9181C3}" destId="{F13CC842-2769-4A73-9FC8-5BCBDCE9DAD5}" srcOrd="0" destOrd="0" presId="urn:microsoft.com/office/officeart/2005/8/layout/list1"/>
    <dgm:cxn modelId="{BE9F0853-CCFA-4C54-9773-C8047D8249C2}" type="presParOf" srcId="{F13CC842-2769-4A73-9FC8-5BCBDCE9DAD5}" destId="{6E87C38E-4AB3-4E36-A502-4F9BEFC9766A}" srcOrd="0" destOrd="0" presId="urn:microsoft.com/office/officeart/2005/8/layout/list1"/>
    <dgm:cxn modelId="{3C5A3D76-8F17-46A5-B4BD-735830D26983}" type="presParOf" srcId="{F13CC842-2769-4A73-9FC8-5BCBDCE9DAD5}" destId="{D7210EAC-9B2C-4A72-9B93-0F378AB7D227}" srcOrd="1" destOrd="0" presId="urn:microsoft.com/office/officeart/2005/8/layout/list1"/>
    <dgm:cxn modelId="{886DB160-0DC3-4EFB-B487-A7B24204B2D9}" type="presParOf" srcId="{2760ADB7-42C4-401C-BB33-DF62EA9181C3}" destId="{1848CB61-C06E-41E2-B95A-DF5C785F1E8F}" srcOrd="1" destOrd="0" presId="urn:microsoft.com/office/officeart/2005/8/layout/list1"/>
    <dgm:cxn modelId="{21669992-4056-4FCC-A53D-42C032C01028}" type="presParOf" srcId="{2760ADB7-42C4-401C-BB33-DF62EA9181C3}" destId="{E83530B2-E00C-4094-AF4A-298CBC886158}" srcOrd="2" destOrd="0" presId="urn:microsoft.com/office/officeart/2005/8/layout/list1"/>
    <dgm:cxn modelId="{27DEE1D6-EEFF-41AB-B156-742C3CF6EC43}" type="presParOf" srcId="{2760ADB7-42C4-401C-BB33-DF62EA9181C3}" destId="{F5A5FF27-1BF0-4DB3-9718-99CB3EDA5D12}" srcOrd="3" destOrd="0" presId="urn:microsoft.com/office/officeart/2005/8/layout/list1"/>
    <dgm:cxn modelId="{DA0842F6-873E-4DCE-B231-DEF16F651423}" type="presParOf" srcId="{2760ADB7-42C4-401C-BB33-DF62EA9181C3}" destId="{CB20EAA1-157A-433F-89DD-28896BA6D6F0}" srcOrd="4" destOrd="0" presId="urn:microsoft.com/office/officeart/2005/8/layout/list1"/>
    <dgm:cxn modelId="{FD904CA8-F30D-4783-9F62-6CB62851847C}" type="presParOf" srcId="{CB20EAA1-157A-433F-89DD-28896BA6D6F0}" destId="{D131EE58-40DB-45E9-9C5B-A0EDD354A9EE}" srcOrd="0" destOrd="0" presId="urn:microsoft.com/office/officeart/2005/8/layout/list1"/>
    <dgm:cxn modelId="{09338456-77A1-43B3-8EB9-F2A91584422B}" type="presParOf" srcId="{CB20EAA1-157A-433F-89DD-28896BA6D6F0}" destId="{2398BAB3-E56B-45B2-AD90-E43D0D16AF45}" srcOrd="1" destOrd="0" presId="urn:microsoft.com/office/officeart/2005/8/layout/list1"/>
    <dgm:cxn modelId="{FA7EE94B-4F6E-4490-B79D-8C0C79ABE6AB}" type="presParOf" srcId="{2760ADB7-42C4-401C-BB33-DF62EA9181C3}" destId="{FE360385-C9FF-4854-84BB-939ABA195429}" srcOrd="5" destOrd="0" presId="urn:microsoft.com/office/officeart/2005/8/layout/list1"/>
    <dgm:cxn modelId="{28D203CF-D7A2-4070-AC40-9F92B2F9E06C}" type="presParOf" srcId="{2760ADB7-42C4-401C-BB33-DF62EA9181C3}" destId="{D7B0CFF9-6760-4200-AA2C-5DE11F069152}" srcOrd="6" destOrd="0" presId="urn:microsoft.com/office/officeart/2005/8/layout/list1"/>
    <dgm:cxn modelId="{E10877C2-B11E-43D0-BAEE-B65D28B29308}" type="presParOf" srcId="{2760ADB7-42C4-401C-BB33-DF62EA9181C3}" destId="{6747604F-D3CB-41B4-87B5-9C1A1E8B08BA}" srcOrd="7" destOrd="0" presId="urn:microsoft.com/office/officeart/2005/8/layout/list1"/>
    <dgm:cxn modelId="{7A4BC194-DA4E-4AEE-82AC-DB3FE6DC1027}" type="presParOf" srcId="{2760ADB7-42C4-401C-BB33-DF62EA9181C3}" destId="{A4312D33-4319-4BB1-81A2-A3BE2AD51169}" srcOrd="8" destOrd="0" presId="urn:microsoft.com/office/officeart/2005/8/layout/list1"/>
    <dgm:cxn modelId="{B7D68CF7-698A-46E5-A3AF-E59B2B331A84}" type="presParOf" srcId="{A4312D33-4319-4BB1-81A2-A3BE2AD51169}" destId="{02F0B659-5730-44A2-A755-E1D4CA326B9A}" srcOrd="0" destOrd="0" presId="urn:microsoft.com/office/officeart/2005/8/layout/list1"/>
    <dgm:cxn modelId="{33405FD8-C120-4B77-9464-7F08BF71A755}" type="presParOf" srcId="{A4312D33-4319-4BB1-81A2-A3BE2AD51169}" destId="{DCECB650-F15C-45BA-80AF-7763CBA72D0A}" srcOrd="1" destOrd="0" presId="urn:microsoft.com/office/officeart/2005/8/layout/list1"/>
    <dgm:cxn modelId="{319F124E-B996-40D7-9D6D-E05944252B12}" type="presParOf" srcId="{2760ADB7-42C4-401C-BB33-DF62EA9181C3}" destId="{602929B4-2043-4AD3-86D3-000DB9AF43DF}" srcOrd="9" destOrd="0" presId="urn:microsoft.com/office/officeart/2005/8/layout/list1"/>
    <dgm:cxn modelId="{9AB4D88A-F1B2-4C4B-A5D5-204B1F2FC542}" type="presParOf" srcId="{2760ADB7-42C4-401C-BB33-DF62EA9181C3}" destId="{C7A76E88-9AD5-4DAC-8D4B-6858791CA9E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530B2-E00C-4094-AF4A-298CBC886158}">
      <dsp:nvSpPr>
        <dsp:cNvPr id="0" name=""/>
        <dsp:cNvSpPr/>
      </dsp:nvSpPr>
      <dsp:spPr>
        <a:xfrm>
          <a:off x="0" y="270948"/>
          <a:ext cx="2994024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10EAC-9B2C-4A72-9B93-0F378AB7D227}">
      <dsp:nvSpPr>
        <dsp:cNvPr id="0" name=""/>
        <dsp:cNvSpPr/>
      </dsp:nvSpPr>
      <dsp:spPr>
        <a:xfrm>
          <a:off x="149701" y="49548"/>
          <a:ext cx="2095817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217" tIns="0" rIns="79217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성공적인 </a:t>
          </a:r>
          <a:r>
            <a:rPr lang="en-US" altLang="ko-KR" sz="1200" b="1" kern="1200" dirty="0">
              <a:latin typeface="맑은 고딕" pitchFamily="50" charset="-127"/>
              <a:ea typeface="맑은 고딕" pitchFamily="50" charset="-127"/>
            </a:rPr>
            <a:t>Roll-out</a:t>
          </a: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171317" y="71164"/>
        <a:ext cx="2052585" cy="399568"/>
      </dsp:txXfrm>
    </dsp:sp>
    <dsp:sp modelId="{D7B0CFF9-6760-4200-AA2C-5DE11F069152}">
      <dsp:nvSpPr>
        <dsp:cNvPr id="0" name=""/>
        <dsp:cNvSpPr/>
      </dsp:nvSpPr>
      <dsp:spPr>
        <a:xfrm>
          <a:off x="0" y="951349"/>
          <a:ext cx="2994024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8BAB3-E56B-45B2-AD90-E43D0D16AF45}">
      <dsp:nvSpPr>
        <dsp:cNvPr id="0" name=""/>
        <dsp:cNvSpPr/>
      </dsp:nvSpPr>
      <dsp:spPr>
        <a:xfrm>
          <a:off x="149701" y="729948"/>
          <a:ext cx="2095817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217" tIns="0" rIns="79217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시스템 효율화</a:t>
          </a:r>
        </a:p>
      </dsp:txBody>
      <dsp:txXfrm>
        <a:off x="171317" y="751564"/>
        <a:ext cx="2052585" cy="399568"/>
      </dsp:txXfrm>
    </dsp:sp>
    <dsp:sp modelId="{C7A76E88-9AD5-4DAC-8D4B-6858791CA9EC}">
      <dsp:nvSpPr>
        <dsp:cNvPr id="0" name=""/>
        <dsp:cNvSpPr/>
      </dsp:nvSpPr>
      <dsp:spPr>
        <a:xfrm>
          <a:off x="0" y="1631749"/>
          <a:ext cx="2994024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CB650-F15C-45BA-80AF-7763CBA72D0A}">
      <dsp:nvSpPr>
        <dsp:cNvPr id="0" name=""/>
        <dsp:cNvSpPr/>
      </dsp:nvSpPr>
      <dsp:spPr>
        <a:xfrm>
          <a:off x="149701" y="1410348"/>
          <a:ext cx="2095817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217" tIns="0" rIns="79217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시스템 안정화</a:t>
          </a:r>
        </a:p>
      </dsp:txBody>
      <dsp:txXfrm>
        <a:off x="171317" y="1431964"/>
        <a:ext cx="2052585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7D01C-C2C6-4952-AD7D-986AC8BD1CA6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A1377-9FF0-46DA-840B-4E8176EF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67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테스트를 통해 얻고자 하는 목적을 기술한다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166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75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821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292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512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74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7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304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027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185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00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0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17493496"/>
              </p:ext>
            </p:extLst>
          </p:nvPr>
        </p:nvGraphicFramePr>
        <p:xfrm>
          <a:off x="2468563" y="2265936"/>
          <a:ext cx="6279901" cy="947040"/>
        </p:xfrm>
        <a:graphic>
          <a:graphicData uri="http://schemas.openxmlformats.org/drawingml/2006/table">
            <a:tbl>
              <a:tblPr/>
              <a:tblGrid>
                <a:gridCol w="6279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0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 테스트 계획서 및 결과서</a:t>
                      </a:r>
                    </a:p>
                  </a:txBody>
                  <a:tcPr marL="180000" marR="90000" marT="46800" marB="46800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85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608388"/>
            <a:ext cx="9144000" cy="324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108"/>
          <p:cNvSpPr txBox="1">
            <a:spLocks noChangeArrowheads="1"/>
          </p:cNvSpPr>
          <p:nvPr userDrawn="1"/>
        </p:nvSpPr>
        <p:spPr bwMode="auto">
          <a:xfrm>
            <a:off x="1709140" y="6356350"/>
            <a:ext cx="575966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ko-KR" sz="900" dirty="0">
                <a:latin typeface="+mn-ea"/>
                <a:ea typeface="+mn-ea"/>
              </a:rPr>
              <a:t>CJ</a:t>
            </a:r>
            <a:r>
              <a:rPr lang="ko-KR" altLang="en-US" sz="900" dirty="0" err="1">
                <a:latin typeface="+mn-ea"/>
                <a:ea typeface="+mn-ea"/>
              </a:rPr>
              <a:t>올리브네트웍스의</a:t>
            </a:r>
            <a:r>
              <a:rPr lang="ko-KR" altLang="en-US" sz="900" dirty="0">
                <a:latin typeface="+mn-ea"/>
                <a:ea typeface="+mn-ea"/>
              </a:rPr>
              <a:t> 사전 승인 없이 본 내용의 전부 또는 일부에 대한 복사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전재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배포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사용을 금합니다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10" name="Text Box 11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>
              <a:defRPr/>
            </a:pPr>
            <a:r>
              <a:rPr kumimoji="1" lang="ko-KR" altLang="en-US" sz="1400" kern="1200" dirty="0">
                <a:solidFill>
                  <a:srgbClr val="808080"/>
                </a:solidFill>
                <a:latin typeface="+mn-ea"/>
                <a:ea typeface="+mn-ea"/>
                <a:cs typeface="+mn-cs"/>
              </a:rPr>
              <a:t>문서번호 </a:t>
            </a:r>
            <a:r>
              <a:rPr kumimoji="1" lang="en-US" altLang="ko-KR" sz="1400" kern="1200" dirty="0">
                <a:solidFill>
                  <a:srgbClr val="808080"/>
                </a:solidFill>
                <a:latin typeface="+mn-ea"/>
                <a:ea typeface="+mn-ea"/>
                <a:cs typeface="+mn-cs"/>
              </a:rPr>
              <a:t>: SSTS-AG13</a:t>
            </a:r>
          </a:p>
        </p:txBody>
      </p:sp>
      <p:graphicFrame>
        <p:nvGraphicFramePr>
          <p:cNvPr id="11" name="Group 14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85492305"/>
              </p:ext>
            </p:extLst>
          </p:nvPr>
        </p:nvGraphicFramePr>
        <p:xfrm>
          <a:off x="6588224" y="620713"/>
          <a:ext cx="2239962" cy="567588"/>
        </p:xfrm>
        <a:graphic>
          <a:graphicData uri="http://schemas.openxmlformats.org/drawingml/2006/table">
            <a:tbl>
              <a:tblPr/>
              <a:tblGrid>
                <a:gridCol w="827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Version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0800" marB="10800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개정일자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0800" marB="10800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0800" marB="10800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Picture 2" descr="C:\Users\BBu\Desktop\CJ_올리브네트웍스_한글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060" y="5085184"/>
            <a:ext cx="1636364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583072" y="2276872"/>
            <a:ext cx="5661336" cy="432048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ko-KR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맑은 고딕" panose="020B0503020000020004" pitchFamily="50" charset="-127"/>
                <a:ea typeface="+mn-ea"/>
                <a:cs typeface="Times New Roman" pitchFamily="18" charset="0"/>
              </a:rPr>
              <a:t>신성통상 차세대 </a:t>
            </a:r>
            <a:r>
              <a:rPr kumimoji="1" lang="en-US" altLang="ko-KR" sz="2000" b="1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맑은 고딕" panose="020B0503020000020004" pitchFamily="50" charset="-127"/>
                <a:ea typeface="+mn-ea"/>
                <a:cs typeface="Times New Roman" pitchFamily="18" charset="0"/>
              </a:rPr>
              <a:t>POS </a:t>
            </a:r>
            <a:r>
              <a:rPr kumimoji="1" lang="ko-KR" altLang="en-US" sz="2000" b="1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맑은 고딕" panose="020B0503020000020004" pitchFamily="50" charset="-127"/>
                <a:ea typeface="+mn-ea"/>
                <a:cs typeface="Times New Roman" pitchFamily="18" charset="0"/>
              </a:rPr>
              <a:t>및 키오스크 구축</a:t>
            </a:r>
            <a:endParaRPr lang="ko-KR" altLang="en-US" dirty="0"/>
          </a:p>
        </p:txBody>
      </p:sp>
      <p:pic>
        <p:nvPicPr>
          <p:cNvPr id="12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FCD0C17C-E763-4937-B2C0-AC308850F614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267196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02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200"/>
              </a:spcBef>
              <a:defRPr sz="1800"/>
            </a:lvl1pPr>
            <a:lvl2pPr>
              <a:lnSpc>
                <a:spcPct val="130000"/>
              </a:lnSpc>
              <a:spcBef>
                <a:spcPts val="200"/>
              </a:spcBef>
              <a:defRPr sz="1600"/>
            </a:lvl2pPr>
            <a:lvl3pPr>
              <a:lnSpc>
                <a:spcPct val="130000"/>
              </a:lnSpc>
              <a:spcBef>
                <a:spcPts val="200"/>
              </a:spcBef>
              <a:defRPr sz="1400"/>
            </a:lvl3pPr>
            <a:lvl4pPr>
              <a:lnSpc>
                <a:spcPct val="130000"/>
              </a:lnSpc>
              <a:spcBef>
                <a:spcPts val="200"/>
              </a:spcBef>
              <a:defRPr sz="1200"/>
            </a:lvl4pPr>
            <a:lvl5pPr>
              <a:lnSpc>
                <a:spcPct val="130000"/>
              </a:lnSpc>
              <a:spcBef>
                <a:spcPts val="200"/>
              </a:spcBef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63FD5DAB-A16C-4193-B801-45D11B0593CE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62" y="6356350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37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7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23528" y="764704"/>
            <a:ext cx="4172272" cy="536145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764704"/>
            <a:ext cx="4172272" cy="536145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34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3528" y="764704"/>
            <a:ext cx="417386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3528" y="1556792"/>
            <a:ext cx="4173860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764704"/>
            <a:ext cx="417544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175447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77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09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00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5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04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55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53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3528" y="764704"/>
            <a:ext cx="8496944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15B553D-5F6B-4C6D-A4B7-265A4A911A7B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D4FCA68-3A9B-4F6B-B654-564C765113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Line 84"/>
          <p:cNvSpPr>
            <a:spLocks noChangeShapeType="1"/>
          </p:cNvSpPr>
          <p:nvPr userDrawn="1"/>
        </p:nvSpPr>
        <p:spPr bwMode="auto">
          <a:xfrm>
            <a:off x="0" y="609600"/>
            <a:ext cx="9144000" cy="0"/>
          </a:xfrm>
          <a:prstGeom prst="line">
            <a:avLst/>
          </a:prstGeom>
          <a:noFill/>
          <a:ln w="16510">
            <a:solidFill>
              <a:srgbClr val="C0C0C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C:\Users\BBu\Desktop\CJ_올리브네트웍스_한글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07319"/>
            <a:ext cx="1368152" cy="45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9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B0F3BFF-3A91-425D-9409-EE280632AF0F}"/>
              </a:ext>
            </a:extLst>
          </p:cNvPr>
          <p:cNvSpPr/>
          <p:nvPr/>
        </p:nvSpPr>
        <p:spPr>
          <a:xfrm>
            <a:off x="2571512" y="2348880"/>
            <a:ext cx="4277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solidFill>
                  <a:srgbClr val="999999"/>
                </a:solidFill>
                <a:latin typeface="맑은 고딕" panose="020B0503020000020004" pitchFamily="50" charset="-127"/>
                <a:cs typeface="Times New Roman" pitchFamily="18" charset="0"/>
              </a:rPr>
              <a:t>신성통상 차세대 </a:t>
            </a:r>
            <a:r>
              <a:rPr kumimoji="1" lang="en-US" altLang="ko-KR" b="1" dirty="0">
                <a:solidFill>
                  <a:srgbClr val="999999"/>
                </a:solidFill>
                <a:latin typeface="맑은 고딕" panose="020B0503020000020004" pitchFamily="50" charset="-127"/>
                <a:cs typeface="Times New Roman" pitchFamily="18" charset="0"/>
              </a:rPr>
              <a:t>POS </a:t>
            </a:r>
            <a:r>
              <a:rPr kumimoji="1" lang="ko-KR" altLang="en-US" b="1" dirty="0">
                <a:solidFill>
                  <a:srgbClr val="999999"/>
                </a:solidFill>
                <a:latin typeface="맑은 고딕" panose="020B0503020000020004" pitchFamily="50" charset="-127"/>
                <a:cs typeface="Times New Roman" pitchFamily="18" charset="0"/>
              </a:rPr>
              <a:t>및 키오스크 구축</a:t>
            </a:r>
            <a:endParaRPr kumimoji="1" lang="ko-KR" altLang="en-US" b="1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39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93"/>
          <p:cNvSpPr>
            <a:spLocks noChangeArrowheads="1"/>
          </p:cNvSpPr>
          <p:nvPr/>
        </p:nvSpPr>
        <p:spPr bwMode="auto">
          <a:xfrm>
            <a:off x="4034834" y="836712"/>
            <a:ext cx="10743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1600" b="1" dirty="0">
                <a:latin typeface="+mn-ea"/>
              </a:rPr>
              <a:t>개정 이력</a:t>
            </a:r>
          </a:p>
        </p:txBody>
      </p:sp>
      <p:sp>
        <p:nvSpPr>
          <p:cNvPr id="5" name="Rectangle 659"/>
          <p:cNvSpPr>
            <a:spLocks noChangeArrowheads="1"/>
          </p:cNvSpPr>
          <p:nvPr/>
        </p:nvSpPr>
        <p:spPr bwMode="auto">
          <a:xfrm>
            <a:off x="400050" y="5987026"/>
            <a:ext cx="45672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ko-KR" sz="900" baseline="30000" dirty="0">
                <a:latin typeface="+mn-ea"/>
                <a:cs typeface="Times New Roman" pitchFamily="18" charset="0"/>
                <a:hlinkClick r:id="" action="ppaction://noaction"/>
              </a:rPr>
              <a:t>[1]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 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개정 사유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: 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제정 또는 개정 내용이 이전 문서에 대해 추가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/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수정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/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삭제인지 선택 기입</a:t>
            </a:r>
            <a:endParaRPr lang="ko-KR" altLang="en-US" sz="900" dirty="0">
              <a:latin typeface="+mn-ea"/>
            </a:endParaRPr>
          </a:p>
          <a:p>
            <a:pPr algn="l" eaLnBrk="0" latinLnBrk="0" hangingPunct="0"/>
            <a:r>
              <a:rPr lang="en-US" altLang="ko-KR" sz="900" baseline="30000" dirty="0">
                <a:latin typeface="+mn-ea"/>
                <a:cs typeface="Times New Roman" pitchFamily="18" charset="0"/>
                <a:hlinkClick r:id="" action="ppaction://noaction"/>
              </a:rPr>
              <a:t>[2]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 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개정 내역</a:t>
            </a:r>
            <a:r>
              <a:rPr lang="en-US" altLang="ko-KR" sz="900" dirty="0">
                <a:latin typeface="+mn-ea"/>
                <a:cs typeface="Times New Roman" pitchFamily="18" charset="0"/>
              </a:rPr>
              <a:t>: </a:t>
            </a:r>
            <a:r>
              <a:rPr lang="ko-KR" altLang="en-US" sz="900" dirty="0">
                <a:latin typeface="+mn-ea"/>
                <a:cs typeface="Times New Roman" pitchFamily="18" charset="0"/>
              </a:rPr>
              <a:t>개정이 발생하는 페이지 번호와 변경 내용을 기술</a:t>
            </a:r>
            <a:endParaRPr lang="ko-KR" altLang="en-US" sz="900" dirty="0">
              <a:latin typeface="+mn-ea"/>
            </a:endParaRPr>
          </a:p>
        </p:txBody>
      </p:sp>
      <p:graphicFrame>
        <p:nvGraphicFramePr>
          <p:cNvPr id="8" name="Group 923">
            <a:extLst>
              <a:ext uri="{FF2B5EF4-FFF2-40B4-BE49-F238E27FC236}">
                <a16:creationId xmlns:a16="http://schemas.microsoft.com/office/drawing/2014/main" id="{60769557-5BB1-4242-9F5A-817F739A9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17653"/>
              </p:ext>
            </p:extLst>
          </p:nvPr>
        </p:nvGraphicFramePr>
        <p:xfrm>
          <a:off x="392113" y="1665288"/>
          <a:ext cx="8356351" cy="3898714"/>
        </p:xfrm>
        <a:graphic>
          <a:graphicData uri="http://schemas.openxmlformats.org/drawingml/2006/table">
            <a:tbl>
              <a:tblPr/>
              <a:tblGrid>
                <a:gridCol w="84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5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버전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개정일자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개정사유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개정내역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승인자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오승헌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12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5A572-9AFD-41D4-B371-912AB4E3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DC73F-438B-46DA-8F6F-D2C22C00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98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2189163" y="1447800"/>
            <a:ext cx="0" cy="4718050"/>
          </a:xfrm>
          <a:prstGeom prst="line">
            <a:avLst/>
          </a:prstGeom>
          <a:noFill/>
          <a:ln w="16510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11834" y="1314450"/>
            <a:ext cx="1739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C o n t e n t s</a:t>
            </a:r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auto">
          <a:xfrm>
            <a:off x="2468724" y="1232756"/>
            <a:ext cx="558165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+mn-ea"/>
              </a:rPr>
              <a:t>목적 및 전략</a:t>
            </a:r>
            <a:endParaRPr lang="en-US" altLang="ko-KR" sz="2400" b="1" dirty="0">
              <a:latin typeface="+mn-ea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+mn-ea"/>
              </a:rPr>
              <a:t>범위 및 일정</a:t>
            </a:r>
            <a:endParaRPr lang="en-US" altLang="ko-KR" sz="2400" b="1" dirty="0">
              <a:latin typeface="+mn-ea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+mn-ea"/>
              </a:rPr>
              <a:t>수행 방안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+mn-ea"/>
              </a:rPr>
              <a:t>시스템 분석 및 목표 수립</a:t>
            </a:r>
            <a:endParaRPr lang="en-US" altLang="ko-KR" sz="2400" b="1" dirty="0">
              <a:latin typeface="+mn-ea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+mn-ea"/>
              </a:rPr>
              <a:t>테스트 결과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별첨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테스트 결과 상세</a:t>
            </a:r>
            <a:endParaRPr lang="en-US" altLang="ko-KR" sz="20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       1. </a:t>
            </a:r>
            <a:r>
              <a:rPr lang="ko-KR" altLang="en-US" sz="2000" b="1" dirty="0">
                <a:latin typeface="+mn-ea"/>
              </a:rPr>
              <a:t>단위 테스트</a:t>
            </a:r>
            <a:endParaRPr lang="en-US" altLang="ko-KR" sz="20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       2. </a:t>
            </a:r>
            <a:r>
              <a:rPr lang="ko-KR" altLang="en-US" sz="2000" b="1" dirty="0">
                <a:latin typeface="+mn-ea"/>
              </a:rPr>
              <a:t>통합 테스트</a:t>
            </a:r>
          </a:p>
        </p:txBody>
      </p:sp>
    </p:spTree>
    <p:extLst>
      <p:ext uri="{BB962C8B-B14F-4D97-AF65-F5344CB8AC3E}">
        <p14:creationId xmlns:p14="http://schemas.microsoft.com/office/powerpoint/2010/main" val="263144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목적 및 전략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  <a:latin typeface="+mn-ea"/>
                <a:ea typeface="+mn-ea"/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  <a:latin typeface="+mn-ea"/>
                <a:ea typeface="+mn-ea"/>
              </a:rPr>
              <a:pPr algn="ctr">
                <a:defRPr/>
              </a:pPr>
              <a:t>5</a:t>
            </a:fld>
            <a:r>
              <a:rPr lang="en-US" altLang="ko-KR">
                <a:solidFill>
                  <a:schemeClr val="tx1"/>
                </a:solidFill>
                <a:latin typeface="+mn-ea"/>
                <a:ea typeface="+mn-ea"/>
              </a:rPr>
              <a:t> -</a:t>
            </a:r>
          </a:p>
        </p:txBody>
      </p:sp>
      <p:sp>
        <p:nvSpPr>
          <p:cNvPr id="35" name="직사각형 6"/>
          <p:cNvSpPr>
            <a:spLocks noChangeArrowheads="1"/>
          </p:cNvSpPr>
          <p:nvPr/>
        </p:nvSpPr>
        <p:spPr bwMode="auto">
          <a:xfrm>
            <a:off x="250825" y="764704"/>
            <a:ext cx="864235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kumimoji="0" lang="en-US" altLang="ko-KR" sz="1400" b="1" u="none" dirty="0">
                <a:solidFill>
                  <a:srgbClr val="000000"/>
                </a:solidFill>
                <a:latin typeface="+mn-ea"/>
              </a:rPr>
              <a:t>1.1 </a:t>
            </a:r>
            <a:r>
              <a:rPr kumimoji="0" lang="ko-KR" altLang="en-US" sz="1400" b="1" u="none" dirty="0">
                <a:solidFill>
                  <a:srgbClr val="000000"/>
                </a:solidFill>
                <a:latin typeface="+mn-ea"/>
              </a:rPr>
              <a:t>테스트 목적</a:t>
            </a:r>
            <a:endParaRPr kumimoji="0" lang="en-US" altLang="ko-KR" sz="1400" b="1" u="none" dirty="0">
              <a:solidFill>
                <a:srgbClr val="000000"/>
              </a:solidFill>
              <a:latin typeface="+mn-ea"/>
            </a:endParaRPr>
          </a:p>
          <a:p>
            <a:pPr>
              <a:buFontTx/>
              <a:buNone/>
            </a:pPr>
            <a:endParaRPr kumimoji="0" lang="en-US" altLang="ko-KR" sz="500" b="1" u="none" dirty="0">
              <a:solidFill>
                <a:srgbClr val="000000"/>
              </a:solidFill>
              <a:latin typeface="+mn-ea"/>
            </a:endParaRPr>
          </a:p>
          <a:p>
            <a:pPr>
              <a:buFontTx/>
              <a:buNone/>
            </a:pPr>
            <a:r>
              <a:rPr lang="en-US" altLang="ko-KR" sz="1200" dirty="0">
                <a:latin typeface="+mn-ea"/>
              </a:rPr>
              <a:t>OOO </a:t>
            </a:r>
            <a:r>
              <a:rPr kumimoji="0" lang="ko-KR" altLang="en-US" sz="1200" u="none" dirty="0">
                <a:latin typeface="+mn-ea"/>
              </a:rPr>
              <a:t>시스템의 업무별 성능을 검증하고</a:t>
            </a:r>
            <a:r>
              <a:rPr kumimoji="0" lang="en-US" altLang="ko-KR" sz="1200" u="none" dirty="0">
                <a:latin typeface="+mn-ea"/>
              </a:rPr>
              <a:t>,</a:t>
            </a:r>
            <a:r>
              <a:rPr kumimoji="0" lang="ko-KR" altLang="en-US" sz="1200" u="none" dirty="0">
                <a:latin typeface="+mn-ea"/>
              </a:rPr>
              <a:t> 시스템 전체적인 병목요소를 제거하여 안정적인 성능을 확보하는데 목적이 있습니다</a:t>
            </a:r>
            <a:r>
              <a:rPr kumimoji="0" lang="en-US" altLang="ko-KR" sz="1200" u="none" dirty="0">
                <a:latin typeface="+mn-ea"/>
              </a:rPr>
              <a:t>.</a:t>
            </a:r>
            <a:endParaRPr kumimoji="0" lang="en-US" altLang="ko-KR" sz="1400" u="none" dirty="0">
              <a:latin typeface="+mn-ea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314325" y="1696565"/>
            <a:ext cx="8569325" cy="1459803"/>
          </a:xfrm>
          <a:prstGeom prst="rect">
            <a:avLst/>
          </a:prstGeom>
          <a:noFill/>
          <a:ln w="9525" algn="ctr">
            <a:solidFill>
              <a:srgbClr val="808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200" tIns="39600" rIns="79200" bIns="39600" anchor="ctr"/>
          <a:lstStyle/>
          <a:p>
            <a:pPr marL="171450" indent="-171450" defTabSz="785813" eaLnBrk="0" hangingPunct="0">
              <a:lnSpc>
                <a:spcPct val="200000"/>
              </a:lnSpc>
              <a:buClr>
                <a:schemeClr val="bg2"/>
              </a:buClr>
              <a:buFont typeface="Wingdings" pitchFamily="2" charset="2"/>
              <a:buChar char="u"/>
            </a:pPr>
            <a:r>
              <a:rPr lang="ko-KR" altLang="en-US" sz="1200" u="none" dirty="0">
                <a:latin typeface="+mn-ea"/>
              </a:rPr>
              <a:t> 실제 환경과 유사한 상황을 </a:t>
            </a:r>
            <a:r>
              <a:rPr lang="en-US" altLang="ko-KR" sz="1200" u="none" dirty="0">
                <a:latin typeface="+mn-ea"/>
              </a:rPr>
              <a:t>Simulation</a:t>
            </a:r>
            <a:r>
              <a:rPr lang="ko-KR" altLang="en-US" sz="1200" u="none" dirty="0">
                <a:latin typeface="+mn-ea"/>
              </a:rPr>
              <a:t>하여 구성상의 문제점을 발견하고 위협요소를 해결하는 것을 목적으로 함</a:t>
            </a:r>
            <a:r>
              <a:rPr lang="en-US" altLang="ko-KR" sz="1200" u="none" dirty="0">
                <a:latin typeface="+mn-ea"/>
              </a:rPr>
              <a:t>.</a:t>
            </a:r>
            <a:endParaRPr lang="ko-KR" altLang="en-US" sz="1200" u="none" dirty="0">
              <a:latin typeface="+mn-ea"/>
            </a:endParaRPr>
          </a:p>
          <a:p>
            <a:pPr marL="171450" indent="-171450" defTabSz="785813" eaLnBrk="0" hangingPunct="0">
              <a:lnSpc>
                <a:spcPct val="200000"/>
              </a:lnSpc>
              <a:buClr>
                <a:schemeClr val="bg2"/>
              </a:buClr>
              <a:buFont typeface="Wingdings" pitchFamily="2" charset="2"/>
              <a:buChar char="u"/>
            </a:pPr>
            <a:r>
              <a:rPr lang="ko-KR" altLang="en-US" sz="1200" u="none" dirty="0">
                <a:latin typeface="+mn-ea"/>
              </a:rPr>
              <a:t> 성능상의 문제점을 조기 발견하여 대응함으로써 </a:t>
            </a:r>
            <a:r>
              <a:rPr lang="ko-KR" altLang="en-US" sz="1200" u="none" dirty="0" err="1">
                <a:latin typeface="+mn-ea"/>
              </a:rPr>
              <a:t>통합업무</a:t>
            </a:r>
            <a:r>
              <a:rPr lang="ko-KR" altLang="en-US" sz="1200" u="none" dirty="0">
                <a:latin typeface="+mn-ea"/>
              </a:rPr>
              <a:t> 운영 시 발생할 수 있는 문제를 최소화하는 것을 목적으로 함</a:t>
            </a:r>
            <a:r>
              <a:rPr lang="en-US" altLang="ko-KR" sz="1200" u="none" dirty="0">
                <a:latin typeface="+mn-ea"/>
              </a:rPr>
              <a:t>.</a:t>
            </a:r>
            <a:endParaRPr lang="ko-KR" altLang="en-US" sz="1200" u="none" dirty="0">
              <a:latin typeface="+mn-ea"/>
            </a:endParaRPr>
          </a:p>
          <a:p>
            <a:pPr marL="171450" indent="-171450" defTabSz="785813" eaLnBrk="0" hangingPunct="0">
              <a:lnSpc>
                <a:spcPct val="200000"/>
              </a:lnSpc>
              <a:buClr>
                <a:schemeClr val="bg2"/>
              </a:buClr>
              <a:buFont typeface="Wingdings" pitchFamily="2" charset="2"/>
              <a:buChar char="u"/>
            </a:pPr>
            <a:r>
              <a:rPr lang="ko-KR" altLang="en-US" sz="1200" u="none" dirty="0">
                <a:latin typeface="+mn-ea"/>
              </a:rPr>
              <a:t> 시스템의 성능을 최대 활용할 수 있도록 부분별 튜닝을 수행함으로써 시스템 최적화 지향을 목적으로 함</a:t>
            </a:r>
            <a:r>
              <a:rPr lang="en-US" altLang="ko-KR" sz="1200" u="none" dirty="0">
                <a:latin typeface="+mn-ea"/>
              </a:rPr>
              <a:t>.</a:t>
            </a:r>
          </a:p>
        </p:txBody>
      </p:sp>
      <p:sp>
        <p:nvSpPr>
          <p:cNvPr id="37" name="AutoShape 43"/>
          <p:cNvSpPr>
            <a:spLocks noChangeArrowheads="1"/>
          </p:cNvSpPr>
          <p:nvPr/>
        </p:nvSpPr>
        <p:spPr bwMode="auto">
          <a:xfrm>
            <a:off x="539750" y="3530920"/>
            <a:ext cx="3096120" cy="3778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  <a:extLst/>
        </p:spPr>
        <p:txBody>
          <a:bodyPr wrap="none" lIns="72000" rIns="0" anchor="ctr"/>
          <a:lstStyle/>
          <a:p>
            <a:pPr>
              <a:buFontTx/>
              <a:buNone/>
            </a:pPr>
            <a:r>
              <a:rPr lang="ko-KR" altLang="en-US" sz="1200" b="1" u="none" dirty="0">
                <a:latin typeface="+mn-ea"/>
              </a:rPr>
              <a:t>시스템 성능 점검</a:t>
            </a:r>
          </a:p>
        </p:txBody>
      </p:sp>
      <p:sp>
        <p:nvSpPr>
          <p:cNvPr id="38" name="AutoShape 44"/>
          <p:cNvSpPr>
            <a:spLocks noChangeArrowheads="1"/>
          </p:cNvSpPr>
          <p:nvPr/>
        </p:nvSpPr>
        <p:spPr bwMode="auto">
          <a:xfrm>
            <a:off x="539750" y="4181795"/>
            <a:ext cx="3096120" cy="3778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  <a:extLst/>
        </p:spPr>
        <p:txBody>
          <a:bodyPr wrap="none" lIns="72000" rIns="0" anchor="ctr"/>
          <a:lstStyle/>
          <a:p>
            <a:pPr>
              <a:buFontTx/>
              <a:buNone/>
            </a:pPr>
            <a:r>
              <a:rPr lang="ko-KR" altLang="en-US" sz="1200" b="1" u="none" dirty="0">
                <a:latin typeface="+mn-ea"/>
              </a:rPr>
              <a:t>시스템 가용성 검증</a:t>
            </a:r>
          </a:p>
        </p:txBody>
      </p:sp>
      <p:sp>
        <p:nvSpPr>
          <p:cNvPr id="39" name="AutoShape 45"/>
          <p:cNvSpPr>
            <a:spLocks noChangeArrowheads="1"/>
          </p:cNvSpPr>
          <p:nvPr/>
        </p:nvSpPr>
        <p:spPr bwMode="auto">
          <a:xfrm>
            <a:off x="539750" y="4832670"/>
            <a:ext cx="3096120" cy="3778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  <a:extLst/>
        </p:spPr>
        <p:txBody>
          <a:bodyPr wrap="none" lIns="72000" rIns="0" anchor="ctr"/>
          <a:lstStyle/>
          <a:p>
            <a:pPr>
              <a:buFontTx/>
              <a:buNone/>
            </a:pPr>
            <a:r>
              <a:rPr lang="ko-KR" altLang="en-US" sz="1200" b="1" u="none" dirty="0">
                <a:latin typeface="+mn-ea"/>
              </a:rPr>
              <a:t> 과부하 시 </a:t>
            </a:r>
            <a:r>
              <a:rPr lang="ko-KR" altLang="en-US" sz="1200" b="1" u="none" dirty="0" err="1">
                <a:latin typeface="+mn-ea"/>
              </a:rPr>
              <a:t>병목구간</a:t>
            </a:r>
            <a:r>
              <a:rPr lang="ko-KR" altLang="en-US" sz="1200" b="1" u="none" dirty="0">
                <a:latin typeface="+mn-ea"/>
              </a:rPr>
              <a:t> 파악</a:t>
            </a:r>
          </a:p>
        </p:txBody>
      </p:sp>
      <p:sp>
        <p:nvSpPr>
          <p:cNvPr id="40" name="갈매기형 수장 39"/>
          <p:cNvSpPr/>
          <p:nvPr/>
        </p:nvSpPr>
        <p:spPr bwMode="auto">
          <a:xfrm>
            <a:off x="3752850" y="3676970"/>
            <a:ext cx="1271588" cy="1301750"/>
          </a:xfrm>
          <a:prstGeom prst="chevron">
            <a:avLst/>
          </a:prstGeom>
          <a:gradFill>
            <a:gsLst>
              <a:gs pos="0">
                <a:srgbClr val="002060"/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sz="1400" u="none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41" name="다이어그램 40"/>
          <p:cNvGraphicFramePr/>
          <p:nvPr>
            <p:extLst>
              <p:ext uri="{D42A27DB-BD31-4B8C-83A1-F6EECF244321}">
                <p14:modId xmlns:p14="http://schemas.microsoft.com/office/powerpoint/2010/main" val="1067250329"/>
              </p:ext>
            </p:extLst>
          </p:nvPr>
        </p:nvGraphicFramePr>
        <p:xfrm>
          <a:off x="5286065" y="3429419"/>
          <a:ext cx="2994025" cy="2059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130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범위 및 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범위</a:t>
            </a:r>
            <a:endParaRPr lang="en-US" altLang="ko-KR" dirty="0"/>
          </a:p>
          <a:p>
            <a:pPr lvl="1"/>
            <a:r>
              <a:rPr lang="ko-KR" altLang="en-US" dirty="0"/>
              <a:t>테스트 하고자 하는 업무 범위에 대해 명시한다</a:t>
            </a:r>
            <a:r>
              <a:rPr lang="en-US" altLang="ko-KR" dirty="0"/>
              <a:t>. </a:t>
            </a:r>
            <a:r>
              <a:rPr lang="ko-KR" altLang="en-US" dirty="0"/>
              <a:t>단순 업무 외 조건도 함께 명시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6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1187624" y="6449157"/>
            <a:ext cx="915156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성능테스트 대상업무는 인터뷰 및 과거 성능 테스트 자료를 참조 하여  아래와 같이 선정하였습니다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총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24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 핵심업무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TEST DATA : Login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은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30,000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개의 임의 생성 계정을 사용 하였으며 나머지 업무는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50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개의 실 계정을 사용 하였음 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06125"/>
              </p:ext>
            </p:extLst>
          </p:nvPr>
        </p:nvGraphicFramePr>
        <p:xfrm>
          <a:off x="207584" y="1704175"/>
          <a:ext cx="8728832" cy="4466865"/>
        </p:xfrm>
        <a:graphic>
          <a:graphicData uri="http://schemas.openxmlformats.org/drawingml/2006/table">
            <a:tbl>
              <a:tblPr/>
              <a:tblGrid>
                <a:gridCol w="652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3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2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868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대상업무명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조건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부하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조건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임계 부하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5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분배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호출간격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목표부하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TPS)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분배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호출간격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목표부하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TPS)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통합검색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VIP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라운지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매장찾기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매장명 검색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고객센터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자주찾는질문 검색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종료된 이벤트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당첨자 발표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스탬프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ONE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ONE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상품상세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맞춤 서비스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ONE&gt; MY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포인트내역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MY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사용가능한 쿠폰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응모한 이벤트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관리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 적립사용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제휴브랜드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제휴브랜드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제휴사로고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보너스포인트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 신용카드안내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8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CJONE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소개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868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7395" marR="7395" marT="73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 rot="20208410">
            <a:off x="2630807" y="3604232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701760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범위 및 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진행 일정</a:t>
            </a:r>
            <a:endParaRPr lang="en-US" altLang="ko-KR" dirty="0"/>
          </a:p>
          <a:p>
            <a:pPr lvl="1"/>
            <a:r>
              <a:rPr lang="ko-KR" altLang="en-US" dirty="0"/>
              <a:t>준비기간 포함 총 </a:t>
            </a:r>
            <a:r>
              <a:rPr lang="en-US" altLang="ko-KR" dirty="0"/>
              <a:t>2</a:t>
            </a:r>
            <a:r>
              <a:rPr lang="ko-KR" altLang="en-US" dirty="0"/>
              <a:t>주간 수행 예정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7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5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154752"/>
              </p:ext>
            </p:extLst>
          </p:nvPr>
        </p:nvGraphicFramePr>
        <p:xfrm>
          <a:off x="417062" y="1643050"/>
          <a:ext cx="8403410" cy="4234217"/>
        </p:xfrm>
        <a:graphic>
          <a:graphicData uri="http://schemas.openxmlformats.org/drawingml/2006/table">
            <a:tbl>
              <a:tblPr/>
              <a:tblGrid>
                <a:gridCol w="547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3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01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25709">
                <a:tc rowSpan="2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</a:t>
                      </a: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11/28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11/29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11/30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12/1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12/2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12/5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12/6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12/7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12/8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12/9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5" marR="33235" marT="35991" marB="35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09"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준비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업무환경 설정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및 대상시스템 분석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09">
                <a:tc rowSpan="2">
                  <a:txBody>
                    <a:bodyPr/>
                    <a:lstStyle/>
                    <a:p>
                      <a:pPr marL="228600" marR="0" lvl="0" indent="-22860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성능테스트 대상업무 확인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부하발생기 확인 및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09">
                <a:tc rowSpan="3">
                  <a:txBody>
                    <a:bodyPr/>
                    <a:lstStyle/>
                    <a:p>
                      <a:pPr marL="0" marR="0" lvl="0" indent="0" algn="ctr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설계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Script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작성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Data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준비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대상서버 모니터링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marL="0" marR="0" lvl="0" indent="0" algn="ctr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시나리오 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709">
                <a:tc rowSpan="4">
                  <a:txBody>
                    <a:bodyPr/>
                    <a:lstStyle/>
                    <a:p>
                      <a:pPr marL="0" marR="0" lvl="0" indent="0" algn="ctr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Script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점검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업무 성능테스트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임계 업무 성능테스트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pPr marL="0" marR="0" lvl="0" indent="0" algn="ctr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 분석 및 튜닝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709">
                <a:tc>
                  <a:txBody>
                    <a:bodyPr/>
                    <a:lstStyle/>
                    <a:p>
                      <a:pPr marL="0" marR="0" lvl="0" indent="0" algn="ctr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5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 정리 및 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0500" rtl="0" eaLnBrk="1" fontAlgn="base" latinLnBrk="1" hangingPunct="1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00000"/>
                        <a:buFontTx/>
                        <a:buNone/>
                        <a:tabLst>
                          <a:tab pos="228600" algn="l"/>
                        </a:tabLst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16" marR="84416" marT="45698" marB="456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72745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수행 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5"/>
            <a:ext cx="8496944" cy="864096"/>
          </a:xfrm>
        </p:spPr>
        <p:txBody>
          <a:bodyPr/>
          <a:lstStyle/>
          <a:p>
            <a:r>
              <a:rPr lang="ko-KR" altLang="en-US" dirty="0"/>
              <a:t>성능 테스트 수행 방안</a:t>
            </a:r>
            <a:endParaRPr lang="en-US" altLang="ko-KR" dirty="0"/>
          </a:p>
          <a:p>
            <a:pPr lvl="1"/>
            <a:r>
              <a:rPr lang="ko-KR" altLang="en-US" dirty="0"/>
              <a:t>단위</a:t>
            </a:r>
            <a:r>
              <a:rPr lang="en-US" altLang="ko-KR" dirty="0"/>
              <a:t>, </a:t>
            </a:r>
            <a:r>
              <a:rPr lang="ko-KR" altLang="en-US" dirty="0"/>
              <a:t>통합 업무 관점에서 부하테스트 수행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8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62" name="Rectangle 1"/>
          <p:cNvSpPr>
            <a:spLocks noChangeArrowheads="1"/>
          </p:cNvSpPr>
          <p:nvPr/>
        </p:nvSpPr>
        <p:spPr bwMode="auto">
          <a:xfrm>
            <a:off x="271728" y="5772151"/>
            <a:ext cx="9049544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latinLnBrk="0" hangingPunct="0"/>
            <a:r>
              <a:rPr lang="ko-KR" altLang="en-US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통합 </a:t>
            </a:r>
            <a:r>
              <a:rPr lang="en-US" altLang="ko-KR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(Composite) </a:t>
            </a:r>
            <a:r>
              <a:rPr lang="ko-KR" altLang="en-US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성능시험</a:t>
            </a:r>
            <a:endParaRPr lang="ko-KR" altLang="en-US" sz="600" u="none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  <a:p>
            <a:pPr eaLnBrk="0" latinLnBrk="0" hangingPunct="0">
              <a:buFontTx/>
              <a:buNone/>
            </a:pPr>
            <a:r>
              <a:rPr lang="ko-KR" altLang="en-US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성능시험의 대상업무를 업무 가중치와 부하 시나리오를 이용해 실제 시스템이 가동되는 상황을 재현하는 성능시험</a:t>
            </a:r>
            <a:r>
              <a:rPr lang="en-US" altLang="ko-KR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. </a:t>
            </a:r>
            <a:r>
              <a:rPr lang="ko-KR" altLang="en-US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이를 통해 목표 성능의 도달 여부를 판단할 수 있음</a:t>
            </a:r>
            <a:r>
              <a:rPr lang="en-US" altLang="ko-KR" sz="1000" i="1" u="none" dirty="0"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.</a:t>
            </a:r>
            <a:endParaRPr lang="en-US" altLang="ko-KR" u="none" dirty="0"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3" name="Text Box 40"/>
          <p:cNvSpPr txBox="1">
            <a:spLocks noChangeArrowheads="1"/>
          </p:cNvSpPr>
          <p:nvPr/>
        </p:nvSpPr>
        <p:spPr bwMode="auto">
          <a:xfrm>
            <a:off x="1107408" y="1712773"/>
            <a:ext cx="8800175" cy="698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>
            <a:spAutoFit/>
          </a:bodyPr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단계별 부하생성 방안</a:t>
            </a:r>
            <a:endParaRPr kumimoji="0" lang="en-US" altLang="ko-KR" sz="1100" u="none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auto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모든 업무를 동시에 부하를 발생하여 </a:t>
            </a: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10</a:t>
            </a: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분 이상 동안 유지함</a:t>
            </a: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auto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- Duration </a:t>
            </a: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단계 동안의 응답시간</a:t>
            </a: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가용성</a:t>
            </a: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, TPS</a:t>
            </a:r>
            <a:r>
              <a:rPr kumimoji="0" lang="ko-KR" altLang="en-US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검증</a:t>
            </a:r>
            <a:r>
              <a:rPr kumimoji="0" lang="en-US" altLang="ko-KR" sz="11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64" name="TextBox 78"/>
          <p:cNvSpPr txBox="1">
            <a:spLocks noChangeArrowheads="1"/>
          </p:cNvSpPr>
          <p:nvPr/>
        </p:nvSpPr>
        <p:spPr bwMode="auto">
          <a:xfrm>
            <a:off x="3860849" y="5343349"/>
            <a:ext cx="1559852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ko-KR" altLang="en-US" sz="1200" u="none" dirty="0">
                <a:latin typeface="맑은 고딕" pitchFamily="50" charset="-127"/>
                <a:ea typeface="맑은 고딕" pitchFamily="50" charset="-127"/>
              </a:rPr>
              <a:t>온라인 측정구간</a:t>
            </a:r>
          </a:p>
        </p:txBody>
      </p:sp>
      <p:sp>
        <p:nvSpPr>
          <p:cNvPr id="65" name="TextBox 80"/>
          <p:cNvSpPr txBox="1">
            <a:spLocks noChangeArrowheads="1"/>
          </p:cNvSpPr>
          <p:nvPr/>
        </p:nvSpPr>
        <p:spPr bwMode="auto">
          <a:xfrm>
            <a:off x="429043" y="2420861"/>
            <a:ext cx="730911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1200" u="none">
                <a:latin typeface="맑은 고딕" pitchFamily="50" charset="-127"/>
                <a:ea typeface="맑은 고딕" pitchFamily="50" charset="-127"/>
              </a:rPr>
              <a:t>사용자</a:t>
            </a:r>
          </a:p>
        </p:txBody>
      </p:sp>
      <p:sp>
        <p:nvSpPr>
          <p:cNvPr id="66" name="Line 42"/>
          <p:cNvSpPr>
            <a:spLocks noChangeShapeType="1"/>
          </p:cNvSpPr>
          <p:nvPr/>
        </p:nvSpPr>
        <p:spPr bwMode="auto">
          <a:xfrm>
            <a:off x="2706475" y="5308423"/>
            <a:ext cx="39627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Line 45"/>
          <p:cNvSpPr>
            <a:spLocks noChangeAspect="1" noChangeShapeType="1"/>
          </p:cNvSpPr>
          <p:nvPr/>
        </p:nvSpPr>
        <p:spPr bwMode="gray">
          <a:xfrm flipV="1">
            <a:off x="1120828" y="2516060"/>
            <a:ext cx="0" cy="2616200"/>
          </a:xfrm>
          <a:prstGeom prst="line">
            <a:avLst/>
          </a:prstGeom>
          <a:noFill/>
          <a:ln w="31750">
            <a:solidFill>
              <a:srgbClr val="666699"/>
            </a:solidFill>
            <a:round/>
            <a:headEnd/>
            <a:tailEnd type="triangle" w="med" len="med"/>
          </a:ln>
        </p:spPr>
        <p:txBody>
          <a:bodyPr wrap="none" lIns="90000" tIns="46800" rIns="90000" bIns="46800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Line 46"/>
          <p:cNvSpPr>
            <a:spLocks noChangeAspect="1" noChangeShapeType="1"/>
          </p:cNvSpPr>
          <p:nvPr/>
        </p:nvSpPr>
        <p:spPr bwMode="gray">
          <a:xfrm rot="5400000" flipV="1">
            <a:off x="4129068" y="2117671"/>
            <a:ext cx="0" cy="6016478"/>
          </a:xfrm>
          <a:prstGeom prst="line">
            <a:avLst/>
          </a:prstGeom>
          <a:noFill/>
          <a:ln w="31750">
            <a:solidFill>
              <a:srgbClr val="666699"/>
            </a:solidFill>
            <a:round/>
            <a:headEnd/>
            <a:tailEnd type="triangle" w="med" len="med"/>
          </a:ln>
        </p:spPr>
        <p:txBody>
          <a:bodyPr wrap="none" lIns="90000" tIns="46800" rIns="90000" bIns="46800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Line 47"/>
          <p:cNvSpPr>
            <a:spLocks noChangeAspect="1" noChangeShapeType="1"/>
          </p:cNvSpPr>
          <p:nvPr/>
        </p:nvSpPr>
        <p:spPr bwMode="gray">
          <a:xfrm>
            <a:off x="2690998" y="2703385"/>
            <a:ext cx="0" cy="3024188"/>
          </a:xfrm>
          <a:prstGeom prst="line">
            <a:avLst/>
          </a:prstGeom>
          <a:noFill/>
          <a:ln w="19050" cap="rnd">
            <a:solidFill>
              <a:srgbClr val="800080"/>
            </a:solidFill>
            <a:prstDash val="sysDot"/>
            <a:round/>
            <a:headEnd/>
            <a:tailEnd/>
          </a:ln>
        </p:spPr>
        <p:txBody>
          <a:bodyPr wrap="none" lIns="90000" tIns="46800" rIns="90000" bIns="46800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TextBox 80"/>
          <p:cNvSpPr txBox="1">
            <a:spLocks noChangeArrowheads="1"/>
          </p:cNvSpPr>
          <p:nvPr/>
        </p:nvSpPr>
        <p:spPr bwMode="auto">
          <a:xfrm>
            <a:off x="6786469" y="5195711"/>
            <a:ext cx="7016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eaLnBrk="1" hangingPunct="1">
              <a:buFontTx/>
              <a:buNone/>
            </a:pPr>
            <a:r>
              <a:rPr lang="ko-KR" altLang="en-US" sz="1200" u="none">
                <a:latin typeface="맑은 고딕" pitchFamily="50" charset="-127"/>
                <a:ea typeface="맑은 고딕" pitchFamily="50" charset="-127"/>
              </a:rPr>
              <a:t>시 간</a:t>
            </a:r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 flipV="1">
            <a:off x="1131146" y="3068950"/>
            <a:ext cx="1575329" cy="2010921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220576" y="3861061"/>
            <a:ext cx="1393031" cy="357187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Ramp-UP </a:t>
            </a:r>
            <a:r>
              <a:rPr kumimoji="0" lang="ko-KR" altLang="en-US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단계</a:t>
            </a:r>
          </a:p>
        </p:txBody>
      </p:sp>
      <p:sp>
        <p:nvSpPr>
          <p:cNvPr id="73" name="Line 16"/>
          <p:cNvSpPr>
            <a:spLocks noChangeShapeType="1"/>
          </p:cNvSpPr>
          <p:nvPr/>
        </p:nvSpPr>
        <p:spPr bwMode="auto">
          <a:xfrm>
            <a:off x="2690998" y="3068950"/>
            <a:ext cx="3978241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36"/>
          <p:cNvSpPr/>
          <p:nvPr/>
        </p:nvSpPr>
        <p:spPr>
          <a:xfrm>
            <a:off x="3752840" y="2568498"/>
            <a:ext cx="1638962" cy="357187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Duration </a:t>
            </a:r>
            <a:r>
              <a:rPr kumimoji="0" lang="ko-KR" altLang="en-US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kumimoji="0" lang="en-US" altLang="ko-KR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(10</a:t>
            </a:r>
            <a:r>
              <a:rPr kumimoji="0" lang="ko-KR" altLang="en-US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분</a:t>
            </a:r>
            <a:r>
              <a:rPr kumimoji="0" lang="en-US" altLang="ko-KR" sz="1000" u="none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75" name="TextBox 80"/>
          <p:cNvSpPr txBox="1">
            <a:spLocks noChangeArrowheads="1"/>
          </p:cNvSpPr>
          <p:nvPr/>
        </p:nvSpPr>
        <p:spPr bwMode="auto">
          <a:xfrm>
            <a:off x="452629" y="2921257"/>
            <a:ext cx="925248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ko-KR" sz="1200" u="none" dirty="0">
                <a:latin typeface="맑은 고딕" pitchFamily="50" charset="-127"/>
                <a:ea typeface="맑은 고딕" pitchFamily="50" charset="-127"/>
              </a:rPr>
              <a:t>N </a:t>
            </a:r>
            <a:r>
              <a:rPr lang="ko-KR" altLang="en-US" sz="1200" u="none" dirty="0">
                <a:latin typeface="맑은 고딕" pitchFamily="50" charset="-127"/>
                <a:ea typeface="맑은 고딕" pitchFamily="50" charset="-127"/>
              </a:rPr>
              <a:t>명 </a:t>
            </a:r>
            <a:endParaRPr lang="en-US" altLang="ko-KR" sz="1200" u="none" dirty="0"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None/>
            </a:pPr>
            <a:r>
              <a:rPr lang="en-US" altLang="ko-KR" sz="1200" u="none" dirty="0">
                <a:latin typeface="맑은 고딕" pitchFamily="50" charset="-127"/>
                <a:ea typeface="맑은 고딕" pitchFamily="50" charset="-127"/>
              </a:rPr>
              <a:t>3000</a:t>
            </a:r>
          </a:p>
          <a:p>
            <a:pPr eaLnBrk="1" hangingPunct="1">
              <a:buFontTx/>
              <a:buNone/>
            </a:pPr>
            <a:r>
              <a:rPr lang="en-US" altLang="ko-KR" sz="1200" u="none" dirty="0">
                <a:latin typeface="맑은 고딕" pitchFamily="50" charset="-127"/>
                <a:ea typeface="맑은 고딕" pitchFamily="50" charset="-127"/>
              </a:rPr>
              <a:t>1500</a:t>
            </a:r>
            <a:endParaRPr lang="ko-KR" altLang="en-US" sz="1200" u="none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Line 48"/>
          <p:cNvSpPr>
            <a:spLocks noChangeAspect="1" noChangeShapeType="1"/>
          </p:cNvSpPr>
          <p:nvPr/>
        </p:nvSpPr>
        <p:spPr bwMode="gray">
          <a:xfrm>
            <a:off x="6669238" y="2708263"/>
            <a:ext cx="0" cy="2949575"/>
          </a:xfrm>
          <a:prstGeom prst="line">
            <a:avLst/>
          </a:prstGeom>
          <a:noFill/>
          <a:ln w="19050" cap="rnd">
            <a:solidFill>
              <a:srgbClr val="800080"/>
            </a:solidFill>
            <a:prstDash val="sysDot"/>
            <a:round/>
            <a:headEnd/>
            <a:tailEnd/>
          </a:ln>
        </p:spPr>
        <p:txBody>
          <a:bodyPr wrap="none" lIns="90000" tIns="46800" rIns="90000" bIns="46800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Line 49"/>
          <p:cNvSpPr>
            <a:spLocks noChangeAspect="1" noChangeShapeType="1"/>
          </p:cNvSpPr>
          <p:nvPr/>
        </p:nvSpPr>
        <p:spPr bwMode="gray">
          <a:xfrm rot="16200000">
            <a:off x="4134216" y="73082"/>
            <a:ext cx="0" cy="6006187"/>
          </a:xfrm>
          <a:prstGeom prst="line">
            <a:avLst/>
          </a:prstGeom>
          <a:noFill/>
          <a:ln w="19050" cap="rnd">
            <a:solidFill>
              <a:srgbClr val="800080"/>
            </a:solidFill>
            <a:prstDash val="sysDot"/>
            <a:round/>
            <a:headEnd/>
            <a:tailEnd/>
          </a:ln>
        </p:spPr>
        <p:txBody>
          <a:bodyPr wrap="none" lIns="90000" tIns="46800" rIns="90000" bIns="46800"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u="none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135376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시스템 분석 및 목표 수립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현행 시스템 분석 및 테스트 환경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908143" y="1534703"/>
            <a:ext cx="4919408" cy="412188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6350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</a:ln>
          <a:effectLst/>
        </p:spPr>
        <p:txBody>
          <a:bodyPr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ko-KR" altLang="en-US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성능 테스트</a:t>
            </a:r>
            <a:r>
              <a:rPr kumimoji="0" lang="en-US" altLang="ko-KR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 </a:t>
            </a:r>
            <a:r>
              <a:rPr kumimoji="0" lang="ko-KR" altLang="en-US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대상 시스템</a:t>
            </a:r>
            <a:r>
              <a:rPr kumimoji="0" lang="en-US" altLang="ko-KR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운영</a:t>
            </a:r>
            <a:r>
              <a:rPr kumimoji="0" lang="en-US" altLang="ko-KR" sz="1200" b="1" u="none" kern="0" dirty="0">
                <a:solidFill>
                  <a:sysClr val="windowText" lastClr="000000"/>
                </a:solidFill>
                <a:latin typeface="맑은 고딕"/>
                <a:ea typeface="맑은 고딕"/>
              </a:rPr>
              <a:t>)</a:t>
            </a:r>
            <a:endParaRPr kumimoji="0" lang="ko-KR" altLang="en-US" sz="1200" b="1" u="none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grpSp>
        <p:nvGrpSpPr>
          <p:cNvPr id="51" name="Group 89"/>
          <p:cNvGrpSpPr>
            <a:grpSpLocks/>
          </p:cNvGrpSpPr>
          <p:nvPr/>
        </p:nvGrpSpPr>
        <p:grpSpPr bwMode="auto">
          <a:xfrm>
            <a:off x="258056" y="3289864"/>
            <a:ext cx="624285" cy="593725"/>
            <a:chOff x="340" y="3008"/>
            <a:chExt cx="363" cy="374"/>
          </a:xfrm>
        </p:grpSpPr>
        <p:pic>
          <p:nvPicPr>
            <p:cNvPr id="52" name="Picture 90" descr="j0431566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" y="3008"/>
              <a:ext cx="28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9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309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" name="TextBox 187"/>
          <p:cNvSpPr txBox="1">
            <a:spLocks noChangeArrowheads="1"/>
          </p:cNvSpPr>
          <p:nvPr/>
        </p:nvSpPr>
        <p:spPr bwMode="auto">
          <a:xfrm>
            <a:off x="-77469" y="3941381"/>
            <a:ext cx="1083469" cy="65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1100" u="none" dirty="0">
                <a:latin typeface="맑은 고딕" pitchFamily="50" charset="-127"/>
                <a:ea typeface="맑은 고딕" pitchFamily="50" charset="-127"/>
              </a:rPr>
              <a:t>LoadRunner</a:t>
            </a:r>
          </a:p>
          <a:p>
            <a:pPr algn="ctr" eaLnBrk="1" hangingPunct="1">
              <a:buFontTx/>
              <a:buNone/>
            </a:pPr>
            <a:r>
              <a:rPr lang="en-US" altLang="ko-KR" sz="1100" u="none" dirty="0">
                <a:latin typeface="맑은 고딕" pitchFamily="50" charset="-127"/>
                <a:ea typeface="맑은 고딕" pitchFamily="50" charset="-127"/>
              </a:rPr>
              <a:t>Controller PC</a:t>
            </a:r>
          </a:p>
          <a:p>
            <a:pPr algn="ctr" eaLnBrk="1" hangingPunct="1">
              <a:buFontTx/>
              <a:buNone/>
            </a:pPr>
            <a:r>
              <a:rPr lang="en-US" altLang="ko-KR" sz="1100" u="none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100" u="none" dirty="0">
                <a:latin typeface="맑은 고딕" pitchFamily="50" charset="-127"/>
                <a:ea typeface="맑은 고딕" pitchFamily="50" charset="-127"/>
              </a:rPr>
              <a:t>쌍림동 </a:t>
            </a:r>
            <a:r>
              <a:rPr lang="en-US" altLang="ko-KR" sz="1100" u="none" dirty="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1100" u="none" dirty="0">
                <a:latin typeface="맑은 고딕" pitchFamily="50" charset="-127"/>
                <a:ea typeface="맑은 고딕" pitchFamily="50" charset="-127"/>
              </a:rPr>
              <a:t>충</a:t>
            </a:r>
            <a:r>
              <a:rPr lang="en-US" altLang="ko-KR" sz="1100" u="none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100" u="none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956342" y="3702118"/>
            <a:ext cx="2665558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84000"/>
              </a:lnSpc>
              <a:spcBef>
                <a:spcPct val="50000"/>
              </a:spcBef>
              <a:buClr>
                <a:srgbClr val="2B69AD"/>
              </a:buClr>
              <a:buFont typeface="Wingdings 2" pitchFamily="18" charset="2"/>
              <a:buNone/>
            </a:pP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내부 망 부하발생기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송도 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IDC 5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대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pic>
        <p:nvPicPr>
          <p:cNvPr id="56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553" y="1534703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631" y="2349812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462" y="2738551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24" y="3132501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632" y="1937842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" name="그룹 61"/>
          <p:cNvGrpSpPr/>
          <p:nvPr/>
        </p:nvGrpSpPr>
        <p:grpSpPr>
          <a:xfrm>
            <a:off x="5035605" y="1838759"/>
            <a:ext cx="1171280" cy="815669"/>
            <a:chOff x="5317053" y="1595438"/>
            <a:chExt cx="1285884" cy="871546"/>
          </a:xfrm>
        </p:grpSpPr>
        <p:sp>
          <p:nvSpPr>
            <p:cNvPr id="63" name="TextBox 110"/>
            <p:cNvSpPr txBox="1">
              <a:spLocks noChangeArrowheads="1"/>
            </p:cNvSpPr>
            <p:nvPr/>
          </p:nvSpPr>
          <p:spPr bwMode="auto">
            <a:xfrm>
              <a:off x="5317053" y="2171518"/>
              <a:ext cx="1285884" cy="295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WEB</a:t>
              </a:r>
              <a:r>
                <a:rPr lang="ko-KR" altLang="en-US" sz="1200" b="1" u="none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#1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64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9080" y="1595438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5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077" y="3680460"/>
            <a:ext cx="822471" cy="42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10"/>
          <p:cNvSpPr txBox="1">
            <a:spLocks noChangeArrowheads="1"/>
          </p:cNvSpPr>
          <p:nvPr/>
        </p:nvSpPr>
        <p:spPr bwMode="auto">
          <a:xfrm>
            <a:off x="4316200" y="2902892"/>
            <a:ext cx="563945" cy="33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u="none" dirty="0">
                <a:latin typeface="Century Gothic" pitchFamily="34" charset="0"/>
              </a:rPr>
              <a:t>L4</a:t>
            </a:r>
            <a:endParaRPr lang="ko-KR" altLang="en-US" u="none" dirty="0">
              <a:latin typeface="Century Gothic" pitchFamily="34" charset="0"/>
            </a:endParaRPr>
          </a:p>
        </p:txBody>
      </p:sp>
      <p:cxnSp>
        <p:nvCxnSpPr>
          <p:cNvPr id="67" name="직선 연결선 129"/>
          <p:cNvCxnSpPr>
            <a:cxnSpLocks noChangeShapeType="1"/>
            <a:stCxn id="64" idx="1"/>
            <a:endCxn id="65" idx="3"/>
          </p:cNvCxnSpPr>
          <p:nvPr/>
        </p:nvCxnSpPr>
        <p:spPr bwMode="auto">
          <a:xfrm flipH="1">
            <a:off x="4522548" y="2138875"/>
            <a:ext cx="706187" cy="175181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TextBox 110"/>
          <p:cNvSpPr txBox="1">
            <a:spLocks noChangeArrowheads="1"/>
          </p:cNvSpPr>
          <p:nvPr/>
        </p:nvSpPr>
        <p:spPr bwMode="auto">
          <a:xfrm>
            <a:off x="8029564" y="3358367"/>
            <a:ext cx="639523" cy="27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1200" b="1" u="none" dirty="0">
                <a:latin typeface="맑은 고딕" pitchFamily="50" charset="-127"/>
                <a:ea typeface="맑은 고딕" pitchFamily="50" charset="-127"/>
              </a:rPr>
              <a:t>DB #1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8044515" y="2706886"/>
            <a:ext cx="705598" cy="594289"/>
            <a:chOff x="7207250" y="3343275"/>
            <a:chExt cx="715050" cy="635000"/>
          </a:xfrm>
        </p:grpSpPr>
        <p:pic>
          <p:nvPicPr>
            <p:cNvPr id="70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7250" y="3343275"/>
              <a:ext cx="4762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72" descr="Databases S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2400" y="3624263"/>
              <a:ext cx="469900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4044979" y="6256194"/>
            <a:ext cx="581025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eaLnBrk="1" hangingPunct="1">
              <a:lnSpc>
                <a:spcPct val="84000"/>
              </a:lnSpc>
              <a:spcBef>
                <a:spcPct val="50000"/>
              </a:spcBef>
              <a:buClr>
                <a:srgbClr val="2B69AD"/>
              </a:buClr>
              <a:buFont typeface="Wingdings 2" pitchFamily="18" charset="2"/>
              <a:buNone/>
            </a:pPr>
            <a:r>
              <a:rPr lang="en-US" altLang="ko-KR" sz="1000" b="1" u="none" dirty="0">
                <a:latin typeface="맑은 고딕" pitchFamily="50" charset="-127"/>
                <a:ea typeface="맑은 고딕" pitchFamily="50" charset="-127"/>
              </a:rPr>
              <a:t>※ </a:t>
            </a:r>
            <a:r>
              <a:rPr lang="ko-KR" altLang="en-US" sz="1000" b="1" u="none" dirty="0">
                <a:latin typeface="맑은 고딕" pitchFamily="50" charset="-127"/>
                <a:ea typeface="맑은 고딕" pitchFamily="50" charset="-127"/>
              </a:rPr>
              <a:t>사전 리허설 테스트는 </a:t>
            </a:r>
            <a:r>
              <a:rPr lang="en-US" altLang="ko-KR" sz="1000" b="1" u="none" dirty="0">
                <a:latin typeface="맑은 고딕" pitchFamily="50" charset="-127"/>
                <a:ea typeface="맑은 고딕" pitchFamily="50" charset="-127"/>
              </a:rPr>
              <a:t>Staging </a:t>
            </a:r>
            <a:r>
              <a:rPr lang="ko-KR" altLang="en-US" sz="1000" b="1" u="none" dirty="0">
                <a:latin typeface="맑은 고딕" pitchFamily="50" charset="-127"/>
                <a:ea typeface="맑은 고딕" pitchFamily="50" charset="-127"/>
              </a:rPr>
              <a:t>에서 수행함</a:t>
            </a:r>
            <a:r>
              <a:rPr lang="en-US" altLang="ko-KR" sz="1000" b="1" u="none" dirty="0"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grpSp>
        <p:nvGrpSpPr>
          <p:cNvPr id="73" name="그룹 72"/>
          <p:cNvGrpSpPr/>
          <p:nvPr/>
        </p:nvGrpSpPr>
        <p:grpSpPr>
          <a:xfrm>
            <a:off x="5099403" y="2649967"/>
            <a:ext cx="1041137" cy="852441"/>
            <a:chOff x="5249840" y="2910696"/>
            <a:chExt cx="1143008" cy="910836"/>
          </a:xfrm>
        </p:grpSpPr>
        <p:pic>
          <p:nvPicPr>
            <p:cNvPr id="74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7731" y="2910696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TextBox 110"/>
            <p:cNvSpPr txBox="1">
              <a:spLocks noChangeArrowheads="1"/>
            </p:cNvSpPr>
            <p:nvPr/>
          </p:nvSpPr>
          <p:spPr bwMode="auto">
            <a:xfrm>
              <a:off x="5249840" y="3543314"/>
              <a:ext cx="1143008" cy="27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WEB #2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5100721" y="3578051"/>
            <a:ext cx="849051" cy="852441"/>
            <a:chOff x="5249840" y="2910696"/>
            <a:chExt cx="932127" cy="910836"/>
          </a:xfrm>
        </p:grpSpPr>
        <p:pic>
          <p:nvPicPr>
            <p:cNvPr id="77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7731" y="2910696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TextBox 110"/>
            <p:cNvSpPr txBox="1">
              <a:spLocks noChangeArrowheads="1"/>
            </p:cNvSpPr>
            <p:nvPr/>
          </p:nvSpPr>
          <p:spPr bwMode="auto">
            <a:xfrm>
              <a:off x="5249840" y="3543314"/>
              <a:ext cx="932127" cy="27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WEB #3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6718298" y="2647635"/>
            <a:ext cx="849051" cy="852441"/>
            <a:chOff x="6600495" y="2910696"/>
            <a:chExt cx="932127" cy="910836"/>
          </a:xfrm>
        </p:grpSpPr>
        <p:pic>
          <p:nvPicPr>
            <p:cNvPr id="80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1393" y="2910696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TextBox 80"/>
            <p:cNvSpPr txBox="1">
              <a:spLocks noChangeArrowheads="1"/>
            </p:cNvSpPr>
            <p:nvPr/>
          </p:nvSpPr>
          <p:spPr bwMode="auto">
            <a:xfrm>
              <a:off x="6600495" y="3543314"/>
              <a:ext cx="932127" cy="27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WAS #1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82" name="직선 연결선 129"/>
          <p:cNvCxnSpPr>
            <a:cxnSpLocks noChangeShapeType="1"/>
            <a:stCxn id="74" idx="1"/>
            <a:endCxn id="65" idx="3"/>
          </p:cNvCxnSpPr>
          <p:nvPr/>
        </p:nvCxnSpPr>
        <p:spPr bwMode="auto">
          <a:xfrm flipH="1">
            <a:off x="4522548" y="2950083"/>
            <a:ext cx="720674" cy="94060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직선 연결선 129"/>
          <p:cNvCxnSpPr>
            <a:cxnSpLocks noChangeShapeType="1"/>
            <a:stCxn id="77" idx="1"/>
            <a:endCxn id="65" idx="3"/>
          </p:cNvCxnSpPr>
          <p:nvPr/>
        </p:nvCxnSpPr>
        <p:spPr bwMode="auto">
          <a:xfrm flipH="1">
            <a:off x="4522548" y="3878167"/>
            <a:ext cx="721992" cy="1252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4" name="그룹 107"/>
          <p:cNvGrpSpPr/>
          <p:nvPr/>
        </p:nvGrpSpPr>
        <p:grpSpPr>
          <a:xfrm>
            <a:off x="5100506" y="4676813"/>
            <a:ext cx="849051" cy="852441"/>
            <a:chOff x="5249840" y="2910696"/>
            <a:chExt cx="932127" cy="910836"/>
          </a:xfrm>
        </p:grpSpPr>
        <p:pic>
          <p:nvPicPr>
            <p:cNvPr id="85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7731" y="2910696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TextBox 110"/>
            <p:cNvSpPr txBox="1">
              <a:spLocks noChangeArrowheads="1"/>
            </p:cNvSpPr>
            <p:nvPr/>
          </p:nvSpPr>
          <p:spPr bwMode="auto">
            <a:xfrm>
              <a:off x="5249840" y="3543314"/>
              <a:ext cx="932127" cy="27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WEB #4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7" name="그룹 108"/>
          <p:cNvGrpSpPr/>
          <p:nvPr/>
        </p:nvGrpSpPr>
        <p:grpSpPr>
          <a:xfrm>
            <a:off x="6718298" y="3779212"/>
            <a:ext cx="849051" cy="852441"/>
            <a:chOff x="6600495" y="2910696"/>
            <a:chExt cx="932127" cy="910836"/>
          </a:xfrm>
        </p:grpSpPr>
        <p:pic>
          <p:nvPicPr>
            <p:cNvPr id="88" name="Picture 14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1393" y="2910696"/>
              <a:ext cx="55033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TextBox 88"/>
            <p:cNvSpPr txBox="1">
              <a:spLocks noChangeArrowheads="1"/>
            </p:cNvSpPr>
            <p:nvPr/>
          </p:nvSpPr>
          <p:spPr bwMode="auto">
            <a:xfrm>
              <a:off x="6600495" y="3543314"/>
              <a:ext cx="932127" cy="27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har char="•"/>
                <a:defRPr kumimoji="1" sz="1600" u="sng">
                  <a:solidFill>
                    <a:schemeClr val="tx1"/>
                  </a:solidFill>
                  <a:latin typeface="Arial" charset="0"/>
                  <a:ea typeface="HY견고딕" pitchFamily="18" charset="-127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ko-KR" sz="1200" b="1" u="none" dirty="0">
                  <a:latin typeface="맑은 고딕" pitchFamily="50" charset="-127"/>
                  <a:ea typeface="맑은 고딕" pitchFamily="50" charset="-127"/>
                </a:rPr>
                <a:t>WAS #2</a:t>
              </a:r>
              <a:endParaRPr lang="ko-KR" altLang="en-US" sz="1200" b="1" u="none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90" name="직선 연결선 129"/>
          <p:cNvCxnSpPr>
            <a:cxnSpLocks noChangeShapeType="1"/>
            <a:stCxn id="85" idx="1"/>
            <a:endCxn id="65" idx="3"/>
          </p:cNvCxnSpPr>
          <p:nvPr/>
        </p:nvCxnSpPr>
        <p:spPr bwMode="auto">
          <a:xfrm flipH="1" flipV="1">
            <a:off x="4522548" y="3890690"/>
            <a:ext cx="721777" cy="108623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직사각형 90"/>
          <p:cNvSpPr/>
          <p:nvPr/>
        </p:nvSpPr>
        <p:spPr bwMode="auto">
          <a:xfrm>
            <a:off x="1770373" y="1435221"/>
            <a:ext cx="603432" cy="2239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>
            <a:spAutoFit/>
          </a:bodyPr>
          <a:lstStyle/>
          <a:p>
            <a:pPr algn="ctr">
              <a:buFontTx/>
              <a:buNone/>
            </a:pPr>
            <a:endParaRPr kumimoji="0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2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243" y="4023199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321" y="4838308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152" y="5227047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414" y="5620997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14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322" y="4426338"/>
            <a:ext cx="368583" cy="42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직사각형 96"/>
          <p:cNvSpPr/>
          <p:nvPr/>
        </p:nvSpPr>
        <p:spPr bwMode="auto">
          <a:xfrm>
            <a:off x="1770373" y="3923717"/>
            <a:ext cx="603432" cy="2239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>
            <a:spAutoFit/>
          </a:bodyPr>
          <a:lstStyle/>
          <a:p>
            <a:pPr algn="ctr">
              <a:buFontTx/>
              <a:buNone/>
            </a:pPr>
            <a:endParaRPr kumimoji="0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Text Box 5"/>
          <p:cNvSpPr txBox="1">
            <a:spLocks noChangeArrowheads="1"/>
          </p:cNvSpPr>
          <p:nvPr/>
        </p:nvSpPr>
        <p:spPr bwMode="auto">
          <a:xfrm>
            <a:off x="799790" y="6229436"/>
            <a:ext cx="2665558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84000"/>
              </a:lnSpc>
              <a:spcBef>
                <a:spcPct val="50000"/>
              </a:spcBef>
              <a:buClr>
                <a:srgbClr val="2B69AD"/>
              </a:buClr>
              <a:buFont typeface="Wingdings 2" pitchFamily="18" charset="2"/>
              <a:buNone/>
            </a:pP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외부 망 부하발생기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송도 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IDC 5</a:t>
            </a:r>
            <a:r>
              <a:rPr lang="ko-KR" altLang="en-US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대</a:t>
            </a:r>
            <a:r>
              <a:rPr lang="en-US" altLang="ko-KR" sz="1000" u="none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99" name="직선 연결선 98"/>
          <p:cNvCxnSpPr>
            <a:stCxn id="52" idx="3"/>
            <a:endCxn id="91" idx="1"/>
          </p:cNvCxnSpPr>
          <p:nvPr/>
        </p:nvCxnSpPr>
        <p:spPr bwMode="auto">
          <a:xfrm flipV="1">
            <a:off x="882341" y="2554805"/>
            <a:ext cx="888032" cy="96207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직선 연결선 99"/>
          <p:cNvCxnSpPr>
            <a:stCxn id="52" idx="3"/>
            <a:endCxn id="97" idx="1"/>
          </p:cNvCxnSpPr>
          <p:nvPr/>
        </p:nvCxnSpPr>
        <p:spPr bwMode="auto">
          <a:xfrm>
            <a:off x="882341" y="3516877"/>
            <a:ext cx="888032" cy="15264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직선 연결선 100"/>
          <p:cNvCxnSpPr>
            <a:stCxn id="91" idx="3"/>
            <a:endCxn id="65" idx="1"/>
          </p:cNvCxnSpPr>
          <p:nvPr/>
        </p:nvCxnSpPr>
        <p:spPr bwMode="auto">
          <a:xfrm>
            <a:off x="2373805" y="2554805"/>
            <a:ext cx="1326272" cy="13358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직선 연결선 101"/>
          <p:cNvCxnSpPr>
            <a:stCxn id="97" idx="3"/>
            <a:endCxn id="65" idx="1"/>
          </p:cNvCxnSpPr>
          <p:nvPr/>
        </p:nvCxnSpPr>
        <p:spPr bwMode="auto">
          <a:xfrm flipV="1">
            <a:off x="2373805" y="3890690"/>
            <a:ext cx="1326272" cy="115261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" name="TextBox 110"/>
          <p:cNvSpPr txBox="1">
            <a:spLocks noChangeArrowheads="1"/>
          </p:cNvSpPr>
          <p:nvPr/>
        </p:nvSpPr>
        <p:spPr bwMode="auto">
          <a:xfrm>
            <a:off x="8117055" y="4483574"/>
            <a:ext cx="6395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1pPr>
            <a:lvl2pPr marL="742950" indent="-28575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2pPr>
            <a:lvl3pPr marL="11430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3pPr>
            <a:lvl4pPr marL="16002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4pPr>
            <a:lvl5pPr marL="2057400" indent="-228600" eaLnBrk="0" hangingPunct="0"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>
                <a:solidFill>
                  <a:schemeClr val="tx1"/>
                </a:solidFill>
                <a:latin typeface="Arial" charset="0"/>
                <a:ea typeface="HY견고딕" pitchFamily="18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ko-KR" sz="1200" b="1" u="none" dirty="0">
                <a:latin typeface="맑은 고딕" pitchFamily="50" charset="-127"/>
                <a:ea typeface="맑은 고딕" pitchFamily="50" charset="-127"/>
              </a:rPr>
              <a:t>DB #2</a:t>
            </a:r>
          </a:p>
        </p:txBody>
      </p:sp>
      <p:grpSp>
        <p:nvGrpSpPr>
          <p:cNvPr id="104" name="그룹 103"/>
          <p:cNvGrpSpPr/>
          <p:nvPr/>
        </p:nvGrpSpPr>
        <p:grpSpPr>
          <a:xfrm>
            <a:off x="8103835" y="3832093"/>
            <a:ext cx="705598" cy="594289"/>
            <a:chOff x="7207250" y="3343275"/>
            <a:chExt cx="715050" cy="635000"/>
          </a:xfrm>
        </p:grpSpPr>
        <p:pic>
          <p:nvPicPr>
            <p:cNvPr id="105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7250" y="3343275"/>
              <a:ext cx="4762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72" descr="Databases Sm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2400" y="3624263"/>
              <a:ext cx="469900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7" name="직선 연결선 129"/>
          <p:cNvCxnSpPr>
            <a:cxnSpLocks noChangeShapeType="1"/>
            <a:stCxn id="64" idx="3"/>
            <a:endCxn id="80" idx="1"/>
          </p:cNvCxnSpPr>
          <p:nvPr/>
        </p:nvCxnSpPr>
        <p:spPr bwMode="auto">
          <a:xfrm>
            <a:off x="5730020" y="2138875"/>
            <a:ext cx="1162162" cy="80887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8" name="직선 연결선 129"/>
          <p:cNvCxnSpPr>
            <a:cxnSpLocks noChangeShapeType="1"/>
            <a:stCxn id="85" idx="3"/>
            <a:endCxn id="88" idx="1"/>
          </p:cNvCxnSpPr>
          <p:nvPr/>
        </p:nvCxnSpPr>
        <p:spPr bwMode="auto">
          <a:xfrm flipV="1">
            <a:off x="5745609" y="4079328"/>
            <a:ext cx="1146573" cy="89760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" name="직선 연결선 129"/>
          <p:cNvCxnSpPr>
            <a:cxnSpLocks noChangeShapeType="1"/>
            <a:stCxn id="74" idx="3"/>
            <a:endCxn id="80" idx="1"/>
          </p:cNvCxnSpPr>
          <p:nvPr/>
        </p:nvCxnSpPr>
        <p:spPr bwMode="auto">
          <a:xfrm flipV="1">
            <a:off x="5744506" y="2947751"/>
            <a:ext cx="1147676" cy="233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0" name="직선 연결선 129"/>
          <p:cNvCxnSpPr>
            <a:cxnSpLocks noChangeShapeType="1"/>
            <a:stCxn id="77" idx="3"/>
            <a:endCxn id="80" idx="1"/>
          </p:cNvCxnSpPr>
          <p:nvPr/>
        </p:nvCxnSpPr>
        <p:spPr bwMode="auto">
          <a:xfrm flipV="1">
            <a:off x="5745824" y="2947751"/>
            <a:ext cx="1146358" cy="93041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직선 연결선 129"/>
          <p:cNvCxnSpPr>
            <a:cxnSpLocks noChangeShapeType="1"/>
            <a:stCxn id="85" idx="3"/>
            <a:endCxn id="80" idx="1"/>
          </p:cNvCxnSpPr>
          <p:nvPr/>
        </p:nvCxnSpPr>
        <p:spPr bwMode="auto">
          <a:xfrm flipV="1">
            <a:off x="5745609" y="2947751"/>
            <a:ext cx="1146573" cy="202917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" name="직선 연결선 129"/>
          <p:cNvCxnSpPr>
            <a:cxnSpLocks noChangeShapeType="1"/>
            <a:stCxn id="88" idx="3"/>
            <a:endCxn id="70" idx="1"/>
          </p:cNvCxnSpPr>
          <p:nvPr/>
        </p:nvCxnSpPr>
        <p:spPr bwMode="auto">
          <a:xfrm flipV="1">
            <a:off x="7393466" y="2974316"/>
            <a:ext cx="651049" cy="11050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직선 연결선 129"/>
          <p:cNvCxnSpPr>
            <a:cxnSpLocks noChangeShapeType="1"/>
            <a:stCxn id="105" idx="1"/>
            <a:endCxn id="80" idx="3"/>
          </p:cNvCxnSpPr>
          <p:nvPr/>
        </p:nvCxnSpPr>
        <p:spPr bwMode="auto">
          <a:xfrm flipH="1" flipV="1">
            <a:off x="7393466" y="2947751"/>
            <a:ext cx="710369" cy="11517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직선 연결선 129"/>
          <p:cNvCxnSpPr>
            <a:cxnSpLocks noChangeShapeType="1"/>
            <a:endCxn id="64" idx="3"/>
          </p:cNvCxnSpPr>
          <p:nvPr/>
        </p:nvCxnSpPr>
        <p:spPr bwMode="auto">
          <a:xfrm flipH="1" flipV="1">
            <a:off x="5730020" y="2138875"/>
            <a:ext cx="1179177" cy="194547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직선 연결선 129"/>
          <p:cNvCxnSpPr>
            <a:cxnSpLocks noChangeShapeType="1"/>
            <a:stCxn id="88" idx="1"/>
            <a:endCxn id="74" idx="3"/>
          </p:cNvCxnSpPr>
          <p:nvPr/>
        </p:nvCxnSpPr>
        <p:spPr bwMode="auto">
          <a:xfrm flipH="1" flipV="1">
            <a:off x="5744506" y="2950083"/>
            <a:ext cx="1147676" cy="112924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직선 연결선 129"/>
          <p:cNvCxnSpPr>
            <a:cxnSpLocks noChangeShapeType="1"/>
            <a:endCxn id="77" idx="3"/>
          </p:cNvCxnSpPr>
          <p:nvPr/>
        </p:nvCxnSpPr>
        <p:spPr bwMode="auto">
          <a:xfrm flipH="1" flipV="1">
            <a:off x="5745824" y="3878167"/>
            <a:ext cx="1163373" cy="23967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" name="직사각형 119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237535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시스템 분석 및 목표 수립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1088035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목표 수립 내역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기존 성능 테스트 </a:t>
            </a:r>
            <a:r>
              <a:rPr lang="ko-KR" altLang="en-US" dirty="0" err="1">
                <a:solidFill>
                  <a:prstClr val="black"/>
                </a:solidFill>
              </a:rPr>
              <a:t>수행시</a:t>
            </a:r>
            <a:r>
              <a:rPr lang="ko-KR" altLang="en-US" dirty="0">
                <a:solidFill>
                  <a:prstClr val="black"/>
                </a:solidFill>
              </a:rPr>
              <a:t> 목표 </a:t>
            </a:r>
            <a:r>
              <a:rPr lang="en-US" altLang="ko-KR" dirty="0">
                <a:solidFill>
                  <a:prstClr val="black"/>
                </a:solidFill>
              </a:rPr>
              <a:t>XX TPS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ko-KR" altLang="en-US" dirty="0">
                <a:solidFill>
                  <a:prstClr val="black"/>
                </a:solidFill>
              </a:rPr>
              <a:t>최근 성수기 기준으로 산정 </a:t>
            </a:r>
            <a:r>
              <a:rPr lang="en-US" altLang="ko-KR" dirty="0">
                <a:solidFill>
                  <a:prstClr val="black"/>
                </a:solidFill>
              </a:rPr>
              <a:t>(20% </a:t>
            </a:r>
            <a:r>
              <a:rPr lang="ko-KR" altLang="en-US" dirty="0">
                <a:solidFill>
                  <a:prstClr val="black"/>
                </a:solidFill>
              </a:rPr>
              <a:t>증가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endParaRPr lang="ko-KR" alt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graphicFrame>
        <p:nvGraphicFramePr>
          <p:cNvPr id="119" name="표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73937"/>
              </p:ext>
            </p:extLst>
          </p:nvPr>
        </p:nvGraphicFramePr>
        <p:xfrm>
          <a:off x="285031" y="2132856"/>
          <a:ext cx="8526463" cy="1964630"/>
        </p:xfrm>
        <a:graphic>
          <a:graphicData uri="http://schemas.openxmlformats.org/drawingml/2006/table">
            <a:tbl>
              <a:tblPr/>
              <a:tblGrid>
                <a:gridCol w="914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9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7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유선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Web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Mobile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Web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Mobile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SSO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Mobile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Push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연휴전일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43.6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26.3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14.7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09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추석연휴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160.1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55.7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12.9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성능 기준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추석 연휴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27.7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28.3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16.4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금요일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36.4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Push </a:t>
                      </a: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성능 기준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0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성능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169.2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23.4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38.6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192.1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66.8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49.4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43.7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 목표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0" name="직사각형 119"/>
          <p:cNvSpPr>
            <a:spLocks noChangeArrowheads="1"/>
          </p:cNvSpPr>
          <p:nvPr/>
        </p:nvSpPr>
        <p:spPr bwMode="auto">
          <a:xfrm>
            <a:off x="323528" y="4355534"/>
            <a:ext cx="826977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None/>
            </a:pPr>
            <a:r>
              <a:rPr kumimoji="0" lang="en-US" altLang="ko-KR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AS-IS Peak</a:t>
            </a:r>
            <a:r>
              <a:rPr kumimoji="0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Time </a:t>
            </a:r>
            <a:r>
              <a:rPr kumimoji="0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호출건수</a:t>
            </a:r>
            <a:r>
              <a:rPr kumimoji="0" lang="en-US" altLang="ko-KR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결과</a:t>
            </a:r>
            <a:endParaRPr kumimoji="0" lang="en-US" altLang="ko-KR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- AS-IS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 기준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2015.12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.15 Peak 1 Hour = 44,215 hit (  12.28 TPS )</a:t>
            </a:r>
          </a:p>
        </p:txBody>
      </p:sp>
      <p:sp>
        <p:nvSpPr>
          <p:cNvPr id="121" name="직사각형 120"/>
          <p:cNvSpPr/>
          <p:nvPr/>
        </p:nvSpPr>
        <p:spPr bwMode="auto">
          <a:xfrm>
            <a:off x="2124018" y="2132856"/>
            <a:ext cx="903768" cy="196463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  <a:extLst/>
        </p:spPr>
        <p:txBody>
          <a:bodyPr rtlCol="0" anchor="ctr">
            <a:spAutoFit/>
          </a:bodyPr>
          <a:lstStyle/>
          <a:p>
            <a:pPr algn="ctr">
              <a:buFontTx/>
              <a:buNone/>
            </a:pPr>
            <a:endParaRPr kumimoji="0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3783012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시스템 분석 및 목표 수립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5"/>
            <a:ext cx="8496944" cy="1296144"/>
          </a:xfrm>
        </p:spPr>
        <p:txBody>
          <a:bodyPr/>
          <a:lstStyle/>
          <a:p>
            <a:r>
              <a:rPr lang="ko-KR" altLang="en-US" dirty="0"/>
              <a:t>테스트 환경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기존 성능 테스트 </a:t>
            </a:r>
            <a:r>
              <a:rPr lang="ko-KR" altLang="en-US" dirty="0" err="1">
                <a:solidFill>
                  <a:prstClr val="black"/>
                </a:solidFill>
              </a:rPr>
              <a:t>수행시</a:t>
            </a:r>
            <a:r>
              <a:rPr lang="ko-KR" altLang="en-US" dirty="0">
                <a:solidFill>
                  <a:prstClr val="black"/>
                </a:solidFill>
              </a:rPr>
              <a:t> 목표 </a:t>
            </a:r>
            <a:r>
              <a:rPr lang="en-US" altLang="ko-KR" dirty="0">
                <a:solidFill>
                  <a:prstClr val="black"/>
                </a:solidFill>
              </a:rPr>
              <a:t>XX TPS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ko-KR" altLang="en-US" dirty="0">
                <a:solidFill>
                  <a:prstClr val="black"/>
                </a:solidFill>
              </a:rPr>
              <a:t>최근 성수기 기준으로 산정 </a:t>
            </a:r>
            <a:r>
              <a:rPr lang="en-US" altLang="ko-KR" dirty="0">
                <a:solidFill>
                  <a:prstClr val="black"/>
                </a:solidFill>
              </a:rPr>
              <a:t>(20% </a:t>
            </a:r>
            <a:r>
              <a:rPr lang="ko-KR" altLang="en-US" dirty="0">
                <a:solidFill>
                  <a:prstClr val="black"/>
                </a:solidFill>
              </a:rPr>
              <a:t>증가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9" name="직사각형 6"/>
          <p:cNvSpPr>
            <a:spLocks noChangeArrowheads="1"/>
          </p:cNvSpPr>
          <p:nvPr/>
        </p:nvSpPr>
        <p:spPr bwMode="auto">
          <a:xfrm>
            <a:off x="310533" y="5609737"/>
            <a:ext cx="96187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kumimoji="0" lang="en-US" altLang="ko-KR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시스템 자원 사용률 목표는 임계 부하 유입 시에도 서비스 지연이 발생 하지 않을 정도 보장 하는 수준  </a:t>
            </a:r>
            <a:r>
              <a:rPr kumimoji="0" lang="en-US" altLang="ko-KR" sz="14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ko-KR" altLang="en-US" sz="1400" b="1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844404"/>
              </p:ext>
            </p:extLst>
          </p:nvPr>
        </p:nvGraphicFramePr>
        <p:xfrm>
          <a:off x="413379" y="2060849"/>
          <a:ext cx="8317242" cy="3218267"/>
        </p:xfrm>
        <a:graphic>
          <a:graphicData uri="http://schemas.openxmlformats.org/drawingml/2006/table">
            <a:tbl>
              <a:tblPr/>
              <a:tblGrid>
                <a:gridCol w="1404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6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동시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단말 사용자 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9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기본 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2015.12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테스트 목표의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 이상 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4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임계 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기본 목표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* 2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2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기타 목표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(N/W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부하 검증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Static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Contents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대하여 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FULL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 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Download Option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을 설정하여 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network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Traffic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최대로 발생 한 상태에서 확인 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2224654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테스트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테스트 결과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743995" y="6034857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12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45478"/>
              </p:ext>
            </p:extLst>
          </p:nvPr>
        </p:nvGraphicFramePr>
        <p:xfrm>
          <a:off x="323528" y="1593723"/>
          <a:ext cx="8568954" cy="2290888"/>
        </p:xfrm>
        <a:graphic>
          <a:graphicData uri="http://schemas.openxmlformats.org/drawingml/2006/table">
            <a:tbl>
              <a:tblPr/>
              <a:tblGrid>
                <a:gridCol w="92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53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1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01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437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　테스트 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실측</a:t>
                      </a:r>
                      <a:r>
                        <a:rPr lang="ko-KR" altLang="en-US" sz="11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결과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3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동시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TPS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자원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(CPU%)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SLA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WEB(4)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WAS(2)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DB(2)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89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기본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목표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1" i="0" u="none" strike="noStrike" baseline="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&lt; 0.5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05/08/09/05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24/33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&lt; 10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PASS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ISSUE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없음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6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임계 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&lt; 0.5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07/10/14/06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53/67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&lt;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PASS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ISSUE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없음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183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네트웍</a:t>
                      </a:r>
                      <a:r>
                        <a:rPr lang="en-US" altLang="ko-KR" sz="11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Traffic 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100" b="1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검증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&lt; 10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14/21/34/11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23/28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&lt; 10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PASS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성능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ISSUE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없음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응답지연 원인은 부하 발생기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N/W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용량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-  N/W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Throughput=  1.1 G /bps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직사각형 25"/>
          <p:cNvSpPr>
            <a:spLocks noChangeArrowheads="1"/>
          </p:cNvSpPr>
          <p:nvPr/>
        </p:nvSpPr>
        <p:spPr bwMode="auto">
          <a:xfrm>
            <a:off x="323528" y="1268760"/>
            <a:ext cx="8786370" cy="278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1pPr>
            <a:lvl2pPr marL="4572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2pPr>
            <a:lvl3pPr marL="9144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3pPr>
            <a:lvl4pPr marL="13716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4pPr>
            <a:lvl5pPr marL="18288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9pPr>
          </a:lstStyle>
          <a:p>
            <a:pPr>
              <a:buFontTx/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- 3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가지 테스트 항목에 대하여 검증한 결과에 대한 요약은 아래와 같음 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26"/>
          <p:cNvSpPr>
            <a:spLocks noChangeArrowheads="1"/>
          </p:cNvSpPr>
          <p:nvPr/>
        </p:nvSpPr>
        <p:spPr bwMode="auto">
          <a:xfrm>
            <a:off x="288178" y="3984005"/>
            <a:ext cx="878637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1pPr>
            <a:lvl2pPr marL="4572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2pPr>
            <a:lvl3pPr marL="9144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3pPr>
            <a:lvl4pPr marL="13716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4pPr>
            <a:lvl5pPr marL="18288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kumimoji="0" lang="ko-KR" altLang="en-US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테스트 진행 후 운영 팀 에서 </a:t>
            </a:r>
            <a:r>
              <a:rPr kumimoji="0" lang="en-US" altLang="ko-KR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Jeniffer </a:t>
            </a:r>
            <a:r>
              <a:rPr kumimoji="0" lang="ko-KR" altLang="en-US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모니터링 결과</a:t>
            </a:r>
            <a:r>
              <a:rPr kumimoji="0" lang="en-US" altLang="ko-KR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추가 개선 가이드 제공 함</a:t>
            </a:r>
            <a:r>
              <a:rPr kumimoji="0" lang="en-US" altLang="ko-KR" sz="1200" b="1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1) exchange.do  : Query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튜닝 필요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2) dash-board-action.do : Query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튜닝 필요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3) main.do  : Query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튜닝 필요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None/>
            </a:pP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4) winner-detail.do : Query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튜닝 필요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29"/>
          <p:cNvSpPr>
            <a:spLocks noChangeArrowheads="1"/>
          </p:cNvSpPr>
          <p:nvPr/>
        </p:nvSpPr>
        <p:spPr bwMode="auto">
          <a:xfrm>
            <a:off x="323528" y="5255574"/>
            <a:ext cx="9051445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1pPr>
            <a:lvl2pPr marL="4572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2pPr>
            <a:lvl3pPr marL="9144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3pPr>
            <a:lvl4pPr marL="13716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4pPr>
            <a:lvl5pPr marL="1828800" algn="l" rtl="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600" u="sng" kern="1200">
                <a:solidFill>
                  <a:schemeClr val="tx1"/>
                </a:solidFill>
                <a:latin typeface="Arial" charset="0"/>
                <a:ea typeface="HY견고딕" pitchFamily="18" charset="-127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목표 성능 무난히 달성 하였으며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배 부하 상황에서도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WAS CPU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 율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50%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내외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Tx/>
              <a:buChar char="-"/>
            </a:pP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응답시간 품질이 양 호 하며 성능 지연 현상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(LoadRunner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응답시간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,TPS , Jeniffer X-View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나타나지 않음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71450" indent="-171450">
              <a:buFontTx/>
              <a:buChar char="-"/>
            </a:pP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본 시스템의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PC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홈페이지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부하 기준으로 최대 수용 가능한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Traffic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은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400 TPS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내외일 것으로 예측됨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u="none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sz="1200" u="none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11378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99922" y="2276872"/>
            <a:ext cx="53441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  <a:endParaRPr lang="ko-KR" altLang="en-US" sz="4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483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테스트 결과 상세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부하 테스트 결과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14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812061"/>
              </p:ext>
            </p:extLst>
          </p:nvPr>
        </p:nvGraphicFramePr>
        <p:xfrm>
          <a:off x="471317" y="1340768"/>
          <a:ext cx="8316917" cy="4740793"/>
        </p:xfrm>
        <a:graphic>
          <a:graphicData uri="http://schemas.openxmlformats.org/drawingml/2006/table">
            <a:tbl>
              <a:tblPr/>
              <a:tblGrid>
                <a:gridCol w="54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240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대상업무명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조건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결과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  <a:b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사용자분배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호출간격 </a:t>
                      </a:r>
                      <a:b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목표부하</a:t>
                      </a:r>
                      <a:b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TPS)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응답시간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통합검색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VIP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라운지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매장찾기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매장명 검색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고객센터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자주찾는질문 검색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종료된 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당첨자 발표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0.19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스탬프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상품상세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맞춤 서비스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0.19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ONE&gt; MY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포인트내역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MY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사용가능한 쿠폰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응모한 이벤트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관리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 적립사용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제휴브랜드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제휴브랜드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제휴사로고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보너스포인트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5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제휴 신용카드안내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40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GNB &gt; CJONE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소개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 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405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067" marR="7067" marT="70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293925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테스트 결과 상세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통합 업무 성능테스트 결과 그래프</a:t>
            </a:r>
          </a:p>
          <a:p>
            <a:pPr lvl="1"/>
            <a:r>
              <a:rPr lang="ko-KR" altLang="en-US" dirty="0"/>
              <a:t>목표 부하 상황에서 모든 트랜잭션이 </a:t>
            </a:r>
            <a:r>
              <a:rPr lang="en-US" altLang="ko-KR" dirty="0"/>
              <a:t>200ms</a:t>
            </a:r>
            <a:r>
              <a:rPr lang="ko-KR" altLang="en-US" dirty="0"/>
              <a:t>이내의 안정적 응답 시간을 보이고 있으며 </a:t>
            </a:r>
            <a:r>
              <a:rPr lang="en-US" altLang="ko-KR" dirty="0"/>
              <a:t>2</a:t>
            </a:r>
            <a:r>
              <a:rPr lang="ko-KR" altLang="en-US" dirty="0"/>
              <a:t>배 부하 상황에서는 업무 비율이 높은 </a:t>
            </a:r>
            <a:r>
              <a:rPr lang="en-US" altLang="ko-KR" dirty="0"/>
              <a:t>PC Domain</a:t>
            </a:r>
            <a:r>
              <a:rPr lang="ko-KR" altLang="en-US" dirty="0"/>
              <a:t>의 응답 지연이 발생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15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733" y="2420888"/>
            <a:ext cx="4320000" cy="293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3" y="2420888"/>
            <a:ext cx="4320600" cy="2934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직선 연결선 23"/>
          <p:cNvCxnSpPr>
            <a:cxnSpLocks noChangeShapeType="1"/>
          </p:cNvCxnSpPr>
          <p:nvPr/>
        </p:nvCxnSpPr>
        <p:spPr bwMode="auto">
          <a:xfrm>
            <a:off x="528929" y="4029823"/>
            <a:ext cx="805410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설명선 1 8"/>
          <p:cNvSpPr/>
          <p:nvPr/>
        </p:nvSpPr>
        <p:spPr bwMode="auto">
          <a:xfrm>
            <a:off x="2362392" y="3460482"/>
            <a:ext cx="936730" cy="261610"/>
          </a:xfrm>
          <a:prstGeom prst="borderCallout1">
            <a:avLst>
              <a:gd name="adj1" fmla="val 100899"/>
              <a:gd name="adj2" fmla="val 31737"/>
              <a:gd name="adj3" fmla="val 220590"/>
              <a:gd name="adj4" fmla="val 17354"/>
            </a:avLst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기준선 </a:t>
            </a:r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1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초</a:t>
            </a:r>
          </a:p>
        </p:txBody>
      </p:sp>
      <p:sp>
        <p:nvSpPr>
          <p:cNvPr id="10" name="사각형 설명선 9"/>
          <p:cNvSpPr/>
          <p:nvPr/>
        </p:nvSpPr>
        <p:spPr bwMode="auto">
          <a:xfrm>
            <a:off x="2030743" y="3038554"/>
            <a:ext cx="617538" cy="279400"/>
          </a:xfrm>
          <a:prstGeom prst="wedgeRectCallout">
            <a:avLst>
              <a:gd name="adj1" fmla="val -97325"/>
              <a:gd name="adj2" fmla="val -130345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100" b="1" u="none" dirty="0">
                <a:latin typeface="돋움" pitchFamily="50" charset="-127"/>
                <a:ea typeface="돋움" pitchFamily="50" charset="-127"/>
              </a:rPr>
              <a:t>사용자</a:t>
            </a:r>
          </a:p>
        </p:txBody>
      </p:sp>
      <p:sp>
        <p:nvSpPr>
          <p:cNvPr id="11" name="사각형 설명선 10"/>
          <p:cNvSpPr/>
          <p:nvPr/>
        </p:nvSpPr>
        <p:spPr bwMode="auto">
          <a:xfrm>
            <a:off x="6300362" y="2846809"/>
            <a:ext cx="617538" cy="261610"/>
          </a:xfrm>
          <a:prstGeom prst="wedgeRectCallout">
            <a:avLst>
              <a:gd name="adj1" fmla="val -89179"/>
              <a:gd name="adj2" fmla="val 2858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사용자</a:t>
            </a:r>
          </a:p>
        </p:txBody>
      </p:sp>
      <p:sp>
        <p:nvSpPr>
          <p:cNvPr id="12" name="사각형 설명선 11"/>
          <p:cNvSpPr/>
          <p:nvPr/>
        </p:nvSpPr>
        <p:spPr bwMode="auto">
          <a:xfrm>
            <a:off x="7092472" y="3317954"/>
            <a:ext cx="1296180" cy="261610"/>
          </a:xfrm>
          <a:prstGeom prst="wedgeRectCallout">
            <a:avLst>
              <a:gd name="adj1" fmla="val -37205"/>
              <a:gd name="adj2" fmla="val 341543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PC Domain</a:t>
            </a:r>
            <a:endParaRPr lang="ko-KR" altLang="en-US" sz="11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 bwMode="auto">
          <a:xfrm>
            <a:off x="179512" y="5427717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TPS</a:t>
            </a:r>
            <a:endParaRPr lang="ko-KR" altLang="en-US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4644732" y="5427717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TPS 2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</a:t>
            </a:r>
          </a:p>
        </p:txBody>
      </p:sp>
      <p:sp>
        <p:nvSpPr>
          <p:cNvPr id="15" name="직사각형 14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2636190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323528" y="764705"/>
            <a:ext cx="8496944" cy="901962"/>
          </a:xfrm>
        </p:spPr>
        <p:txBody>
          <a:bodyPr/>
          <a:lstStyle/>
          <a:p>
            <a:r>
              <a:rPr lang="ko-KR" altLang="en-US" dirty="0"/>
              <a:t>통합 업무 성능테스트 결과 그래프</a:t>
            </a:r>
          </a:p>
          <a:p>
            <a:pPr lvl="1"/>
            <a:r>
              <a:rPr lang="ko-KR" altLang="en-US" dirty="0"/>
              <a:t>시스템 사용률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테스트 결과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42564" y="5932971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16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8856" y="3731162"/>
            <a:ext cx="3901616" cy="2088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18856" y="1467853"/>
            <a:ext cx="3901616" cy="219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0182" y="3731161"/>
            <a:ext cx="3912908" cy="208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0181" y="1477687"/>
            <a:ext cx="3912908" cy="2187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 bwMode="auto">
          <a:xfrm>
            <a:off x="814287" y="5871684"/>
            <a:ext cx="3958802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TPS</a:t>
            </a:r>
            <a:endParaRPr lang="ko-KR" altLang="en-US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23"/>
          <p:cNvCxnSpPr>
            <a:cxnSpLocks noChangeShapeType="1"/>
          </p:cNvCxnSpPr>
          <p:nvPr/>
        </p:nvCxnSpPr>
        <p:spPr bwMode="auto">
          <a:xfrm>
            <a:off x="1160843" y="2172341"/>
            <a:ext cx="771801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설명선 1 11"/>
          <p:cNvSpPr/>
          <p:nvPr/>
        </p:nvSpPr>
        <p:spPr bwMode="auto">
          <a:xfrm>
            <a:off x="4212322" y="1390111"/>
            <a:ext cx="954204" cy="261610"/>
          </a:xfrm>
          <a:prstGeom prst="borderCallout1">
            <a:avLst>
              <a:gd name="adj1" fmla="val 100899"/>
              <a:gd name="adj2" fmla="val 31737"/>
              <a:gd name="adj3" fmla="val 285788"/>
              <a:gd name="adj4" fmla="val 26619"/>
            </a:avLst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기준선 </a:t>
            </a:r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70%</a:t>
            </a:r>
            <a:endParaRPr lang="ko-KR" altLang="en-US" sz="11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 bwMode="auto">
          <a:xfrm>
            <a:off x="4918856" y="5871684"/>
            <a:ext cx="3973001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TPS 2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</a:t>
            </a:r>
          </a:p>
        </p:txBody>
      </p:sp>
      <p:sp>
        <p:nvSpPr>
          <p:cNvPr id="14" name="사각형 설명선 13"/>
          <p:cNvSpPr/>
          <p:nvPr/>
        </p:nvSpPr>
        <p:spPr bwMode="auto">
          <a:xfrm>
            <a:off x="898847" y="1523175"/>
            <a:ext cx="888114" cy="261610"/>
          </a:xfrm>
          <a:prstGeom prst="wedgeRectCallout">
            <a:avLst>
              <a:gd name="adj1" fmla="val 75811"/>
              <a:gd name="adj2" fmla="val 149355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WAS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395728" y="1527397"/>
            <a:ext cx="346548" cy="21441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W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W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</a:t>
            </a: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</a:t>
            </a: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 bwMode="auto">
          <a:xfrm>
            <a:off x="395728" y="3731160"/>
            <a:ext cx="346548" cy="214419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buFontTx/>
              <a:buNone/>
              <a:defRPr/>
            </a:pPr>
            <a:endParaRPr lang="en-US" altLang="ko-KR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사각형 설명선 16"/>
          <p:cNvSpPr/>
          <p:nvPr/>
        </p:nvSpPr>
        <p:spPr bwMode="auto">
          <a:xfrm>
            <a:off x="6526092" y="4818196"/>
            <a:ext cx="820142" cy="261610"/>
          </a:xfrm>
          <a:prstGeom prst="wedgeRectCallout">
            <a:avLst>
              <a:gd name="adj1" fmla="val 10502"/>
              <a:gd name="adj2" fmla="val -153765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>
                <a:latin typeface="돋움" pitchFamily="50" charset="-127"/>
                <a:ea typeface="돋움" pitchFamily="50" charset="-127"/>
              </a:rPr>
              <a:t>DB 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sp>
        <p:nvSpPr>
          <p:cNvPr id="18" name="사각형 설명선 17"/>
          <p:cNvSpPr/>
          <p:nvPr/>
        </p:nvSpPr>
        <p:spPr bwMode="auto">
          <a:xfrm>
            <a:off x="6732049" y="2172341"/>
            <a:ext cx="888114" cy="261610"/>
          </a:xfrm>
          <a:prstGeom prst="wedgeRectCallout">
            <a:avLst>
              <a:gd name="adj1" fmla="val -10362"/>
              <a:gd name="adj2" fmla="val -172279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WAS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sp>
        <p:nvSpPr>
          <p:cNvPr id="19" name="사각형 설명선 18"/>
          <p:cNvSpPr/>
          <p:nvPr/>
        </p:nvSpPr>
        <p:spPr bwMode="auto">
          <a:xfrm>
            <a:off x="7346234" y="2492879"/>
            <a:ext cx="888114" cy="261610"/>
          </a:xfrm>
          <a:prstGeom prst="wedgeRectCallout">
            <a:avLst>
              <a:gd name="adj1" fmla="val -14181"/>
              <a:gd name="adj2" fmla="val 101924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WEB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sp>
        <p:nvSpPr>
          <p:cNvPr id="20" name="사각형 설명선 19"/>
          <p:cNvSpPr/>
          <p:nvPr/>
        </p:nvSpPr>
        <p:spPr bwMode="auto">
          <a:xfrm>
            <a:off x="3094612" y="2823767"/>
            <a:ext cx="888114" cy="261610"/>
          </a:xfrm>
          <a:prstGeom prst="wedgeRectCallout">
            <a:avLst>
              <a:gd name="adj1" fmla="val -52750"/>
              <a:gd name="adj2" fmla="val 86239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WEB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cxnSp>
        <p:nvCxnSpPr>
          <p:cNvPr id="21" name="직선 연결선 23"/>
          <p:cNvCxnSpPr>
            <a:cxnSpLocks noChangeShapeType="1"/>
          </p:cNvCxnSpPr>
          <p:nvPr/>
        </p:nvCxnSpPr>
        <p:spPr bwMode="auto">
          <a:xfrm>
            <a:off x="1163703" y="4392245"/>
            <a:ext cx="771801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설명선 1 21"/>
          <p:cNvSpPr/>
          <p:nvPr/>
        </p:nvSpPr>
        <p:spPr bwMode="auto">
          <a:xfrm>
            <a:off x="3982726" y="3844571"/>
            <a:ext cx="954204" cy="261610"/>
          </a:xfrm>
          <a:prstGeom prst="borderCallout1">
            <a:avLst>
              <a:gd name="adj1" fmla="val 100899"/>
              <a:gd name="adj2" fmla="val 31737"/>
              <a:gd name="adj3" fmla="val 203403"/>
              <a:gd name="adj4" fmla="val 27577"/>
            </a:avLst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기준선 </a:t>
            </a:r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70%</a:t>
            </a:r>
            <a:endParaRPr lang="ko-KR" altLang="en-US" sz="11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3" name="사각형 설명선 22"/>
          <p:cNvSpPr/>
          <p:nvPr/>
        </p:nvSpPr>
        <p:spPr bwMode="auto">
          <a:xfrm>
            <a:off x="2260773" y="5243370"/>
            <a:ext cx="820142" cy="261610"/>
          </a:xfrm>
          <a:prstGeom prst="wedgeRectCallout">
            <a:avLst>
              <a:gd name="adj1" fmla="val 31384"/>
              <a:gd name="adj2" fmla="val -103610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>
                <a:latin typeface="돋움" pitchFamily="50" charset="-127"/>
                <a:ea typeface="돋움" pitchFamily="50" charset="-127"/>
              </a:rPr>
              <a:t>DB </a:t>
            </a:r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그룹</a:t>
            </a:r>
          </a:p>
        </p:txBody>
      </p:sp>
      <p:sp>
        <p:nvSpPr>
          <p:cNvPr id="27" name="직사각형 26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3501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테스트 결과 상세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및 최적화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WAS Heap Memory </a:t>
            </a:r>
            <a:r>
              <a:rPr lang="ko-KR" altLang="en-US" dirty="0">
                <a:solidFill>
                  <a:prstClr val="black"/>
                </a:solidFill>
              </a:rPr>
              <a:t>개선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; WAS Full GC</a:t>
            </a:r>
            <a:r>
              <a:rPr lang="ko-KR" altLang="en-US" dirty="0">
                <a:solidFill>
                  <a:prstClr val="black"/>
                </a:solidFill>
              </a:rPr>
              <a:t>로 인한 </a:t>
            </a:r>
            <a:r>
              <a:rPr lang="ko-KR" altLang="en-US" dirty="0" err="1">
                <a:solidFill>
                  <a:prstClr val="black"/>
                </a:solidFill>
              </a:rPr>
              <a:t>응답지연</a:t>
            </a:r>
            <a:r>
              <a:rPr lang="ko-KR" altLang="en-US" dirty="0">
                <a:solidFill>
                  <a:prstClr val="black"/>
                </a:solidFill>
              </a:rPr>
              <a:t> 개선 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 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 Application SQL 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실행 회수 줄임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17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000" y="2433165"/>
            <a:ext cx="4320000" cy="337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사각형 설명선 6"/>
          <p:cNvSpPr/>
          <p:nvPr/>
        </p:nvSpPr>
        <p:spPr bwMode="auto">
          <a:xfrm>
            <a:off x="2196270" y="3429542"/>
            <a:ext cx="617538" cy="261610"/>
          </a:xfrm>
          <a:prstGeom prst="wedgeRectCallout">
            <a:avLst>
              <a:gd name="adj1" fmla="val 47835"/>
              <a:gd name="adj2" fmla="val 127913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사용자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252000" y="5932300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WAS Heap Memory 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개선 전 응답 시간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4717220" y="5932300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WAS Heap Memory 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개선 후 응답 시간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7220" y="2433166"/>
            <a:ext cx="4320000" cy="337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사각형 설명선 10"/>
          <p:cNvSpPr/>
          <p:nvPr/>
        </p:nvSpPr>
        <p:spPr bwMode="auto">
          <a:xfrm>
            <a:off x="7380990" y="5013762"/>
            <a:ext cx="935508" cy="261610"/>
          </a:xfrm>
          <a:prstGeom prst="wedgeRectCallout">
            <a:avLst>
              <a:gd name="adj1" fmla="val 47835"/>
              <a:gd name="adj2" fmla="val 127913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응답 시간</a:t>
            </a:r>
          </a:p>
        </p:txBody>
      </p:sp>
      <p:sp>
        <p:nvSpPr>
          <p:cNvPr id="12" name="직사각형 11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36645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테스트 결과 상세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및 최적화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DB Index </a:t>
            </a:r>
            <a:r>
              <a:rPr lang="ko-KR" altLang="en-US" dirty="0">
                <a:solidFill>
                  <a:prstClr val="black"/>
                </a:solidFill>
              </a:rPr>
              <a:t>개선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; </a:t>
            </a:r>
            <a:r>
              <a:rPr lang="ko-KR" altLang="en-US" dirty="0">
                <a:solidFill>
                  <a:prstClr val="black"/>
                </a:solidFill>
              </a:rPr>
              <a:t>메인 페이지 간헐적 응답 지연 개선 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 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 Table Index 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생성</a:t>
            </a:r>
            <a:endParaRPr lang="en-US" altLang="ko-KR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18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000" y="2278321"/>
            <a:ext cx="4320000" cy="337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7220" y="2278321"/>
            <a:ext cx="4320000" cy="337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사각형 설명선 13"/>
          <p:cNvSpPr/>
          <p:nvPr/>
        </p:nvSpPr>
        <p:spPr bwMode="auto">
          <a:xfrm>
            <a:off x="900090" y="2732787"/>
            <a:ext cx="617538" cy="261610"/>
          </a:xfrm>
          <a:prstGeom prst="wedgeRectCallout">
            <a:avLst>
              <a:gd name="adj1" fmla="val 47835"/>
              <a:gd name="adj2" fmla="val 127913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ko-KR" altLang="en-US" sz="1100" b="1" dirty="0">
                <a:latin typeface="돋움" pitchFamily="50" charset="-127"/>
                <a:ea typeface="돋움" pitchFamily="50" charset="-127"/>
              </a:rPr>
              <a:t>사용자</a:t>
            </a: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252000" y="5777454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 Index 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개선 전 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 CPU</a:t>
            </a:r>
            <a:r>
              <a:rPr lang="ko-KR" altLang="en-US" sz="1200" b="1" u="none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사용율</a:t>
            </a:r>
            <a:endParaRPr lang="ko-KR" altLang="en-US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 bwMode="auto">
          <a:xfrm>
            <a:off x="4717220" y="5777454"/>
            <a:ext cx="4320000" cy="3268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 Index </a:t>
            </a:r>
            <a:r>
              <a:rPr lang="ko-KR" altLang="en-US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개선 후 </a:t>
            </a:r>
            <a:r>
              <a:rPr lang="en-US" altLang="ko-KR" sz="1200" b="1" u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 CPU</a:t>
            </a:r>
            <a:r>
              <a:rPr lang="ko-KR" altLang="en-US" sz="1200" b="1" u="none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사용율</a:t>
            </a:r>
            <a:endParaRPr lang="ko-KR" altLang="en-US" sz="1200" b="1" u="none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사각형 설명선 16"/>
          <p:cNvSpPr/>
          <p:nvPr/>
        </p:nvSpPr>
        <p:spPr bwMode="auto">
          <a:xfrm>
            <a:off x="7380990" y="4066806"/>
            <a:ext cx="935508" cy="261610"/>
          </a:xfrm>
          <a:prstGeom prst="wedgeRectCallout">
            <a:avLst>
              <a:gd name="adj1" fmla="val 47835"/>
              <a:gd name="adj2" fmla="val 127913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100" b="1" dirty="0">
                <a:latin typeface="돋움" pitchFamily="50" charset="-127"/>
                <a:ea typeface="돋움" pitchFamily="50" charset="-127"/>
              </a:rPr>
              <a:t>DB CPU</a:t>
            </a:r>
            <a:endParaRPr lang="ko-KR" altLang="en-US" sz="11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 rot="20208410">
            <a:off x="2422525" y="309562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179449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2055</Words>
  <Application>Microsoft Office PowerPoint</Application>
  <PresentationFormat>화면 슬라이드 쇼(4:3)</PresentationFormat>
  <Paragraphs>870</Paragraphs>
  <Slides>18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HY견고딕</vt:lpstr>
      <vt:lpstr>굴림</vt:lpstr>
      <vt:lpstr>돋움</vt:lpstr>
      <vt:lpstr>맑은 고딕</vt:lpstr>
      <vt:lpstr>Arial</vt:lpstr>
      <vt:lpstr>Century Gothic</vt:lpstr>
      <vt:lpstr>Times New Roman</vt:lpstr>
      <vt:lpstr>Wingdings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1. 목적 및 전략</vt:lpstr>
      <vt:lpstr>2. 범위 및 일정</vt:lpstr>
      <vt:lpstr>2. 범위 및 일정</vt:lpstr>
      <vt:lpstr>3. 수행 방안</vt:lpstr>
      <vt:lpstr>4. 시스템 분석 및 목표 수립</vt:lpstr>
      <vt:lpstr>4. 시스템 분석 및 목표 수립</vt:lpstr>
      <vt:lpstr>4. 시스템 분석 및 목표 수립</vt:lpstr>
      <vt:lpstr>5. 테스트 결과</vt:lpstr>
      <vt:lpstr>PowerPoint 프레젠테이션</vt:lpstr>
      <vt:lpstr>별첨. 테스트 결과 상세</vt:lpstr>
      <vt:lpstr>별첨. 테스트 결과 상세</vt:lpstr>
      <vt:lpstr>별첨. 테스트 결과 상세</vt:lpstr>
      <vt:lpstr>별첨. 테스트 결과 상세</vt:lpstr>
      <vt:lpstr>별첨. 테스트 결과 상세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 테스트케이스 및 결과서</dc:title>
  <dc:subject>CJAG-Test-AG13</dc:subject>
  <dc:creator>품질보증팀</dc:creator>
  <cp:keywords>2020-01-10</cp:keywords>
  <dc:description>CJ올리브네트웍스의 사전 승인 없이 본 내용의 전부 또는 일부에 대한 복사, 전재, 배포, 사용을 금합니다.</dc:description>
  <cp:lastModifiedBy>서정만님 </cp:lastModifiedBy>
  <cp:revision>60</cp:revision>
  <dcterms:created xsi:type="dcterms:W3CDTF">2015-04-10T08:59:07Z</dcterms:created>
  <dcterms:modified xsi:type="dcterms:W3CDTF">2025-03-24T06:36:08Z</dcterms:modified>
  <cp:category>V1.2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/>
  </property>
  <property fmtid="{D5CDD505-2E9C-101B-9397-08002B2CF9AE}" pid="3" name="FDRSet">
    <vt:lpwstr/>
  </property>
</Properties>
</file>