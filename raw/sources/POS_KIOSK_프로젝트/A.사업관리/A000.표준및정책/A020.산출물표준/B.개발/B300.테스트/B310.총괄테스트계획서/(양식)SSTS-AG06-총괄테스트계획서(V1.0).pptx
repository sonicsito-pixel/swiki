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91" r:id="rId4"/>
    <p:sldId id="258" r:id="rId5"/>
    <p:sldId id="259" r:id="rId6"/>
    <p:sldId id="272" r:id="rId7"/>
    <p:sldId id="260" r:id="rId8"/>
    <p:sldId id="270" r:id="rId9"/>
    <p:sldId id="261" r:id="rId10"/>
    <p:sldId id="262" r:id="rId11"/>
    <p:sldId id="263" r:id="rId12"/>
    <p:sldId id="271" r:id="rId13"/>
    <p:sldId id="274" r:id="rId14"/>
    <p:sldId id="287" r:id="rId15"/>
    <p:sldId id="277" r:id="rId16"/>
    <p:sldId id="267" r:id="rId17"/>
    <p:sldId id="278" r:id="rId18"/>
    <p:sldId id="279" r:id="rId19"/>
    <p:sldId id="280" r:id="rId20"/>
    <p:sldId id="281" r:id="rId21"/>
    <p:sldId id="282" r:id="rId22"/>
    <p:sldId id="264" r:id="rId23"/>
    <p:sldId id="284" r:id="rId24"/>
    <p:sldId id="283" r:id="rId25"/>
    <p:sldId id="268" r:id="rId26"/>
    <p:sldId id="285" r:id="rId27"/>
    <p:sldId id="290" r:id="rId28"/>
    <p:sldId id="289" r:id="rId29"/>
    <p:sldId id="269" r:id="rId30"/>
    <p:sldId id="286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2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660"/>
  </p:normalViewPr>
  <p:slideViewPr>
    <p:cSldViewPr>
      <p:cViewPr>
        <p:scale>
          <a:sx n="75" d="100"/>
          <a:sy n="75" d="100"/>
        </p:scale>
        <p:origin x="2746" y="8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7D01C-C2C6-4952-AD7D-986AC8BD1CA6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A1377-9FF0-46DA-840B-4E8176EF4E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676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테스트를 통해 얻고자 하는 목적을 기술한다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A1377-9FF0-46DA-840B-4E8176EF4EE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166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테스트를 통해 얻고자 하는 목적을 기술한다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A1377-9FF0-46DA-840B-4E8176EF4EE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166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테스트 수행 조직을 도표를 이용하여 기술한다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A1377-9FF0-46DA-840B-4E8176EF4EE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750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테스트 수행 조직을 도표를 이용하여 기술한다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A1377-9FF0-46DA-840B-4E8176EF4EE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821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테스트 수행 조직을 도표를 이용하여 기술한다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A1377-9FF0-46DA-840B-4E8176EF4EE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374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테스트 수행 조직을 도표를 이용하여 기술한다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A1377-9FF0-46DA-840B-4E8176EF4EE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374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테스트 수행 시 필요한 시스템 환경을 기술한다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A1377-9FF0-46DA-840B-4E8176EF4EE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804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Group 10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99625723"/>
              </p:ext>
            </p:extLst>
          </p:nvPr>
        </p:nvGraphicFramePr>
        <p:xfrm>
          <a:off x="2468563" y="2276475"/>
          <a:ext cx="4967287" cy="886080"/>
        </p:xfrm>
        <a:graphic>
          <a:graphicData uri="http://schemas.openxmlformats.org/drawingml/2006/table">
            <a:tbl>
              <a:tblPr/>
              <a:tblGrid>
                <a:gridCol w="4967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02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imes New Roman" pitchFamily="18" charset="0"/>
                        </a:rPr>
                        <a:t>신성통상 차세대 </a:t>
                      </a:r>
                      <a:r>
                        <a:rPr kumimoji="1" lang="en-US" altLang="ko-K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imes New Roman" pitchFamily="18" charset="0"/>
                        </a:rPr>
                        <a:t>POS </a:t>
                      </a:r>
                      <a:r>
                        <a:rPr kumimoji="1" lang="ko-KR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imes New Roman" pitchFamily="18" charset="0"/>
                        </a:rPr>
                        <a:t>및 키오스크 구축</a:t>
                      </a:r>
                      <a:endParaRPr kumimoji="1" lang="ko-KR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총괄 테스트 계획서</a:t>
                      </a:r>
                    </a:p>
                  </a:txBody>
                  <a:tcPr marL="180000" marR="90000" marT="46800" marB="46800" horzOverflow="overflow">
                    <a:lnL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Picture 85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3608388"/>
            <a:ext cx="9144000" cy="3249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108"/>
          <p:cNvSpPr txBox="1">
            <a:spLocks noChangeArrowheads="1"/>
          </p:cNvSpPr>
          <p:nvPr userDrawn="1"/>
        </p:nvSpPr>
        <p:spPr bwMode="auto">
          <a:xfrm>
            <a:off x="1709140" y="6356350"/>
            <a:ext cx="5759660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CJ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올리브네트웍스의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사전 승인 없이 본 내용의 전부 또는 일부에 대한 복사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전재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배포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사용을 금합니다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 Box 111"/>
          <p:cNvSpPr txBox="1">
            <a:spLocks noChangeArrowheads="1"/>
          </p:cNvSpPr>
          <p:nvPr userDrawn="1"/>
        </p:nvSpPr>
        <p:spPr bwMode="auto">
          <a:xfrm>
            <a:off x="92075" y="260350"/>
            <a:ext cx="2971800" cy="3429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>
              <a:defRPr/>
            </a:pPr>
            <a:r>
              <a:rPr kumimoji="1" lang="ko-KR" altLang="en-US" sz="1400" kern="120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문서번호 </a:t>
            </a:r>
            <a:r>
              <a:rPr kumimoji="1" lang="en-US" altLang="ko-KR" sz="1400" kern="120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1" lang="en-US" altLang="ko-KR" sz="1400" kern="1200" dirty="0">
                <a:solidFill>
                  <a:srgbClr val="808080"/>
                </a:solidFill>
                <a:latin typeface="맑은 고딕" panose="020B0503020000020004" pitchFamily="50" charset="-127"/>
                <a:ea typeface="+mn-ea"/>
                <a:cs typeface="+mn-cs"/>
              </a:rPr>
              <a:t>SSTS-AG06</a:t>
            </a:r>
            <a:endParaRPr kumimoji="1" lang="en-US" altLang="ko-KR" sz="1400" kern="1200" dirty="0">
              <a:solidFill>
                <a:srgbClr val="80808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2" name="Group 104">
            <a:extLst>
              <a:ext uri="{FF2B5EF4-FFF2-40B4-BE49-F238E27FC236}">
                <a16:creationId xmlns:a16="http://schemas.microsoft.com/office/drawing/2014/main" id="{A165624E-6EFB-48C4-BBAE-FE96E1A1734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32219296"/>
              </p:ext>
            </p:extLst>
          </p:nvPr>
        </p:nvGraphicFramePr>
        <p:xfrm>
          <a:off x="6450261" y="692696"/>
          <a:ext cx="2239962" cy="612774"/>
        </p:xfrm>
        <a:graphic>
          <a:graphicData uri="http://schemas.openxmlformats.org/drawingml/2006/table">
            <a:tbl>
              <a:tblPr/>
              <a:tblGrid>
                <a:gridCol w="982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Version</a:t>
                      </a:r>
                    </a:p>
                  </a:txBody>
                  <a:tcPr marL="90000" marR="900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V1.0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개정일자</a:t>
                      </a:r>
                    </a:p>
                  </a:txBody>
                  <a:tcPr marL="90000" marR="900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2025-03-21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90000" marR="900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서정만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" name="그림 17">
            <a:extLst>
              <a:ext uri="{FF2B5EF4-FFF2-40B4-BE49-F238E27FC236}">
                <a16:creationId xmlns:a16="http://schemas.microsoft.com/office/drawing/2014/main" id="{60F5AB9D-8689-4816-9223-4FDEC0977B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634" y="5219700"/>
            <a:ext cx="1636712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 descr="Z:\A.사업관리\A000.표준및정책\A010.프로젝트표준서식\신성통상_로고\신성통상_가로형_국문.png">
            <a:extLst>
              <a:ext uri="{FF2B5EF4-FFF2-40B4-BE49-F238E27FC236}">
                <a16:creationId xmlns:a16="http://schemas.microsoft.com/office/drawing/2014/main" id="{7EB00DD2-2B39-42F9-A23F-870BDB73B0C8}"/>
              </a:ext>
            </a:extLst>
          </p:cNvPr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5407244"/>
            <a:ext cx="1555750" cy="22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4028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44624"/>
            <a:ext cx="8496944" cy="564976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3614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200"/>
              </a:spcBef>
              <a:defRPr sz="1800">
                <a:latin typeface="+mn-ea"/>
                <a:ea typeface="+mn-ea"/>
              </a:defRPr>
            </a:lvl1pPr>
            <a:lvl2pPr>
              <a:lnSpc>
                <a:spcPct val="130000"/>
              </a:lnSpc>
              <a:spcBef>
                <a:spcPts val="200"/>
              </a:spcBef>
              <a:defRPr sz="1600">
                <a:latin typeface="+mn-ea"/>
                <a:ea typeface="+mn-ea"/>
              </a:defRPr>
            </a:lvl2pPr>
            <a:lvl3pPr>
              <a:lnSpc>
                <a:spcPct val="130000"/>
              </a:lnSpc>
              <a:spcBef>
                <a:spcPts val="200"/>
              </a:spcBef>
              <a:defRPr sz="1400">
                <a:latin typeface="+mn-ea"/>
                <a:ea typeface="+mn-ea"/>
              </a:defRPr>
            </a:lvl3pPr>
            <a:lvl4pPr>
              <a:lnSpc>
                <a:spcPct val="130000"/>
              </a:lnSpc>
              <a:spcBef>
                <a:spcPts val="200"/>
              </a:spcBef>
              <a:defRPr sz="1200">
                <a:latin typeface="+mn-ea"/>
                <a:ea typeface="+mn-ea"/>
              </a:defRPr>
            </a:lvl4pPr>
            <a:lvl5pPr>
              <a:lnSpc>
                <a:spcPct val="130000"/>
              </a:lnSpc>
              <a:spcBef>
                <a:spcPts val="200"/>
              </a:spcBef>
              <a:defRPr sz="12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F15B553D-5F6B-4C6D-A4B7-265A4A911A7B}" type="datetimeFigureOut">
              <a:rPr lang="ko-KR" altLang="en-US" smtClean="0"/>
              <a:pPr/>
              <a:t>2025-03-24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2D4FCA68-3A9B-4F6B-B654-564C765113E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Picture 2" descr="Z:\A.사업관리\A000.표준및정책\A010.프로젝트표준서식\신성통상_로고\신성통상_가로형_국문.png">
            <a:extLst>
              <a:ext uri="{FF2B5EF4-FFF2-40B4-BE49-F238E27FC236}">
                <a16:creationId xmlns:a16="http://schemas.microsoft.com/office/drawing/2014/main" id="{E5F85FFE-D704-4B7D-B61E-F40E4DCAE23B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462" y="6356350"/>
            <a:ext cx="1555750" cy="22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3372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879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44624"/>
            <a:ext cx="8496944" cy="564976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23528" y="764704"/>
            <a:ext cx="4172272" cy="53614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764704"/>
            <a:ext cx="4172272" cy="53614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34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44624"/>
            <a:ext cx="8496944" cy="5649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23528" y="764704"/>
            <a:ext cx="4173860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23528" y="1556792"/>
            <a:ext cx="4173860" cy="456937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764704"/>
            <a:ext cx="4175447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556792"/>
            <a:ext cx="4175447" cy="456937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772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44624"/>
            <a:ext cx="8496944" cy="564976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095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00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854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049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44624"/>
            <a:ext cx="8496944" cy="564976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23528" y="764704"/>
            <a:ext cx="8496944" cy="536145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555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15B553D-5F6B-4C6D-A4B7-265A4A911A7B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D4FCA68-3A9B-4F6B-B654-564C76511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539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394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2800" b="1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ts val="2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defTabSz="914400" rtl="0" eaLnBrk="1" latinLnBrk="1" hangingPunct="1">
        <a:lnSpc>
          <a:spcPct val="120000"/>
        </a:lnSpc>
        <a:spcBef>
          <a:spcPts val="2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2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2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2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cgvsrm.cj.net:8001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96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93"/>
          <p:cNvSpPr>
            <a:spLocks noChangeArrowheads="1"/>
          </p:cNvSpPr>
          <p:nvPr/>
        </p:nvSpPr>
        <p:spPr bwMode="auto">
          <a:xfrm>
            <a:off x="4034834" y="836712"/>
            <a:ext cx="10743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개정 이력</a:t>
            </a:r>
          </a:p>
        </p:txBody>
      </p:sp>
      <p:sp>
        <p:nvSpPr>
          <p:cNvPr id="5" name="Rectangle 659"/>
          <p:cNvSpPr>
            <a:spLocks noChangeArrowheads="1"/>
          </p:cNvSpPr>
          <p:nvPr/>
        </p:nvSpPr>
        <p:spPr bwMode="auto">
          <a:xfrm>
            <a:off x="400050" y="5987026"/>
            <a:ext cx="45672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altLang="ko-KR" sz="900" baseline="30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  <a:hlinkClick r:id="" action="ppaction://noaction"/>
              </a:rPr>
              <a:t>[1]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개정 사유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제정 또는 개정 내용이 이전 문서에 대해 추가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/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수정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/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삭제인지 선택 기입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0" latinLnBrk="0" hangingPunct="0"/>
            <a:r>
              <a:rPr lang="en-US" altLang="ko-KR" sz="900" baseline="30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  <a:hlinkClick r:id="" action="ppaction://noaction"/>
              </a:rPr>
              <a:t>[2]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개정 내역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개정이 발생하는 페이지 번호와 변경 내용을 기술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Rectangle 392"/>
          <p:cNvSpPr>
            <a:spLocks noChangeArrowheads="1"/>
          </p:cNvSpPr>
          <p:nvPr/>
        </p:nvSpPr>
        <p:spPr bwMode="auto">
          <a:xfrm>
            <a:off x="400050" y="5949280"/>
            <a:ext cx="3268663" cy="952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aphicFrame>
        <p:nvGraphicFramePr>
          <p:cNvPr id="8" name="Group 923">
            <a:extLst>
              <a:ext uri="{FF2B5EF4-FFF2-40B4-BE49-F238E27FC236}">
                <a16:creationId xmlns:a16="http://schemas.microsoft.com/office/drawing/2014/main" id="{12E5DB2C-015C-485A-A7D1-CAC7D3A67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956870"/>
              </p:ext>
            </p:extLst>
          </p:nvPr>
        </p:nvGraphicFramePr>
        <p:xfrm>
          <a:off x="392113" y="1665288"/>
          <a:ext cx="8356351" cy="3898714"/>
        </p:xfrm>
        <a:graphic>
          <a:graphicData uri="http://schemas.openxmlformats.org/drawingml/2006/table">
            <a:tbl>
              <a:tblPr/>
              <a:tblGrid>
                <a:gridCol w="845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6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5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버전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개정일자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  <a:hlinkClick r:id="" action="ppaction://noaction"/>
                        </a:rPr>
                        <a:t>[1]</a:t>
                      </a: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개정사유</a:t>
                      </a:r>
                      <a:endParaRPr kumimoji="1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  <a:hlinkClick r:id="" action="ppaction://noaction"/>
                        </a:rPr>
                        <a:t>[2]</a:t>
                      </a: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개정내역</a:t>
                      </a:r>
                      <a:endParaRPr kumimoji="1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작성자</a:t>
                      </a:r>
                      <a:endParaRPr kumimoji="1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  <a:cs typeface="Times New Roman" pitchFamily="18" charset="0"/>
                        </a:rPr>
                        <a:t>승인자</a:t>
                      </a:r>
                      <a:endParaRPr kumimoji="1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2025-03-20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 제정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서정만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오승헌</a:t>
                      </a:r>
                      <a:endParaRPr lang="ko-KR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453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6126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221B26-1EFC-4657-92AB-2E7D81C48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34B9E3-438E-403B-9880-229DCD6A6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8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/>
          <p:cNvSpPr>
            <a:spLocks noChangeShapeType="1"/>
          </p:cNvSpPr>
          <p:nvPr/>
        </p:nvSpPr>
        <p:spPr bwMode="auto">
          <a:xfrm>
            <a:off x="2189163" y="1447800"/>
            <a:ext cx="0" cy="4718050"/>
          </a:xfrm>
          <a:prstGeom prst="line">
            <a:avLst/>
          </a:prstGeom>
          <a:noFill/>
          <a:ln w="16510">
            <a:solidFill>
              <a:srgbClr val="C0C0C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411834" y="1314450"/>
            <a:ext cx="17395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C o n t e n t s</a:t>
            </a:r>
          </a:p>
        </p:txBody>
      </p:sp>
      <p:sp>
        <p:nvSpPr>
          <p:cNvPr id="6" name="Text Box 32"/>
          <p:cNvSpPr txBox="1">
            <a:spLocks noChangeArrowheads="1"/>
          </p:cNvSpPr>
          <p:nvPr/>
        </p:nvSpPr>
        <p:spPr bwMode="auto">
          <a:xfrm>
            <a:off x="2468724" y="1232756"/>
            <a:ext cx="558165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algn="l">
              <a:lnSpc>
                <a:spcPct val="150000"/>
              </a:lnSpc>
              <a:buFontTx/>
              <a:buAutoNum type="arabicPeriod"/>
            </a:pP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목적 및 전략</a:t>
            </a:r>
          </a:p>
          <a:p>
            <a:pPr marL="342900" indent="-342900" algn="l">
              <a:lnSpc>
                <a:spcPct val="150000"/>
              </a:lnSpc>
              <a:buFontTx/>
              <a:buAutoNum type="arabicPeriod"/>
            </a:pP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범위 및 일정</a:t>
            </a:r>
          </a:p>
          <a:p>
            <a:pPr marL="342900" indent="-342900" algn="l">
              <a:lnSpc>
                <a:spcPct val="150000"/>
              </a:lnSpc>
              <a:buFontTx/>
              <a:buAutoNum type="arabicPeriod"/>
            </a:pP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조직 및 역할</a:t>
            </a:r>
            <a:endParaRPr lang="en-US" altLang="ko-KR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l">
              <a:lnSpc>
                <a:spcPct val="150000"/>
              </a:lnSpc>
              <a:buFontTx/>
              <a:buAutoNum type="arabicPeriod"/>
            </a:pP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착수</a:t>
            </a:r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완료 기준</a:t>
            </a:r>
            <a:endParaRPr lang="en-US" altLang="ko-KR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l">
              <a:lnSpc>
                <a:spcPct val="150000"/>
              </a:lnSpc>
              <a:buFontTx/>
              <a:buAutoNum type="arabicPeriod"/>
            </a:pP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수행 방안</a:t>
            </a:r>
            <a:endParaRPr lang="en-US" altLang="ko-KR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l">
              <a:lnSpc>
                <a:spcPct val="150000"/>
              </a:lnSpc>
              <a:buFontTx/>
              <a:buAutoNum type="arabicPeriod"/>
            </a:pP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환경 및 준비사항</a:t>
            </a:r>
            <a:endParaRPr lang="en-US" altLang="ko-KR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l">
              <a:lnSpc>
                <a:spcPct val="150000"/>
              </a:lnSpc>
              <a:buFontTx/>
              <a:buAutoNum type="arabicPeriod"/>
            </a:pP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관리 방안</a:t>
            </a:r>
            <a:endParaRPr lang="en-US" altLang="ko-KR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별첨</a:t>
            </a:r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1446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목적 및 전략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시스템의 기능 및 성능 시험을 통해 신뢰성</a:t>
            </a:r>
            <a:r>
              <a:rPr lang="en-US" altLang="ko-KR" dirty="0"/>
              <a:t>, </a:t>
            </a:r>
            <a:r>
              <a:rPr lang="ko-KR" altLang="en-US" dirty="0" err="1"/>
              <a:t>사용성</a:t>
            </a:r>
            <a:r>
              <a:rPr lang="en-US" altLang="ko-KR" dirty="0"/>
              <a:t>, </a:t>
            </a:r>
            <a:r>
              <a:rPr lang="ko-KR" altLang="en-US" dirty="0"/>
              <a:t>안정성을 검증하고</a:t>
            </a:r>
            <a:r>
              <a:rPr lang="en-US" altLang="ko-KR" dirty="0"/>
              <a:t>, </a:t>
            </a:r>
            <a:r>
              <a:rPr lang="ko-KR" altLang="en-US" dirty="0"/>
              <a:t>향후 유지보수의 용이성에 대한 검증 실시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5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15925" y="1628799"/>
            <a:ext cx="8404547" cy="4537051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80975" indent="-180975" algn="ctr">
              <a:lnSpc>
                <a:spcPct val="110000"/>
              </a:lnSpc>
              <a:buFontTx/>
              <a:buBlip>
                <a:blip r:embed="rId3"/>
              </a:buBlip>
            </a:pPr>
            <a:endParaRPr lang="ko-KR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2644237" y="1952625"/>
            <a:ext cx="3889284" cy="1135063"/>
            <a:chOff x="498" y="3527"/>
            <a:chExt cx="3422" cy="718"/>
          </a:xfrm>
        </p:grpSpPr>
        <p:sp>
          <p:nvSpPr>
            <p:cNvPr id="7" name="Arc 47"/>
            <p:cNvSpPr>
              <a:spLocks/>
            </p:cNvSpPr>
            <p:nvPr/>
          </p:nvSpPr>
          <p:spPr bwMode="auto">
            <a:xfrm rot="-5400000">
              <a:off x="1856" y="2169"/>
              <a:ext cx="706" cy="3422"/>
            </a:xfrm>
            <a:custGeom>
              <a:avLst/>
              <a:gdLst>
                <a:gd name="T0" fmla="*/ 0 w 21786"/>
                <a:gd name="T1" fmla="*/ 0 h 43200"/>
                <a:gd name="T2" fmla="*/ 0 w 21786"/>
                <a:gd name="T3" fmla="*/ 0 h 43200"/>
                <a:gd name="T4" fmla="*/ 0 w 21786"/>
                <a:gd name="T5" fmla="*/ 0 h 43200"/>
                <a:gd name="T6" fmla="*/ 0 60000 65536"/>
                <a:gd name="T7" fmla="*/ 0 60000 65536"/>
                <a:gd name="T8" fmla="*/ 0 60000 65536"/>
                <a:gd name="T9" fmla="*/ 0 w 21786"/>
                <a:gd name="T10" fmla="*/ 0 h 43200"/>
                <a:gd name="T11" fmla="*/ 21786 w 21786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86" h="43200" fill="none" extrusionOk="0">
                  <a:moveTo>
                    <a:pt x="185" y="0"/>
                  </a:moveTo>
                  <a:cubicBezTo>
                    <a:pt x="12115" y="0"/>
                    <a:pt x="21786" y="9670"/>
                    <a:pt x="21786" y="21600"/>
                  </a:cubicBezTo>
                  <a:cubicBezTo>
                    <a:pt x="21786" y="33529"/>
                    <a:pt x="12115" y="43200"/>
                    <a:pt x="186" y="43200"/>
                  </a:cubicBezTo>
                  <a:cubicBezTo>
                    <a:pt x="123" y="43200"/>
                    <a:pt x="61" y="43199"/>
                    <a:pt x="-1" y="43199"/>
                  </a:cubicBezTo>
                </a:path>
                <a:path w="21786" h="43200" stroke="0" extrusionOk="0">
                  <a:moveTo>
                    <a:pt x="185" y="0"/>
                  </a:moveTo>
                  <a:cubicBezTo>
                    <a:pt x="12115" y="0"/>
                    <a:pt x="21786" y="9670"/>
                    <a:pt x="21786" y="21600"/>
                  </a:cubicBezTo>
                  <a:cubicBezTo>
                    <a:pt x="21786" y="33529"/>
                    <a:pt x="12115" y="43200"/>
                    <a:pt x="186" y="43200"/>
                  </a:cubicBezTo>
                  <a:cubicBezTo>
                    <a:pt x="123" y="43200"/>
                    <a:pt x="61" y="43199"/>
                    <a:pt x="-1" y="43199"/>
                  </a:cubicBezTo>
                  <a:lnTo>
                    <a:pt x="186" y="2160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lumMod val="75000"/>
                  </a:schemeClr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Arc 48"/>
            <p:cNvSpPr>
              <a:spLocks/>
            </p:cNvSpPr>
            <p:nvPr/>
          </p:nvSpPr>
          <p:spPr bwMode="auto">
            <a:xfrm rot="-5400000">
              <a:off x="1856" y="2469"/>
              <a:ext cx="706" cy="2846"/>
            </a:xfrm>
            <a:custGeom>
              <a:avLst/>
              <a:gdLst>
                <a:gd name="T0" fmla="*/ 0 w 21786"/>
                <a:gd name="T1" fmla="*/ 0 h 43200"/>
                <a:gd name="T2" fmla="*/ 0 w 21786"/>
                <a:gd name="T3" fmla="*/ 0 h 43200"/>
                <a:gd name="T4" fmla="*/ 0 w 21786"/>
                <a:gd name="T5" fmla="*/ 0 h 43200"/>
                <a:gd name="T6" fmla="*/ 0 60000 65536"/>
                <a:gd name="T7" fmla="*/ 0 60000 65536"/>
                <a:gd name="T8" fmla="*/ 0 60000 65536"/>
                <a:gd name="T9" fmla="*/ 0 w 21786"/>
                <a:gd name="T10" fmla="*/ 0 h 43200"/>
                <a:gd name="T11" fmla="*/ 21786 w 21786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86" h="43200" fill="none" extrusionOk="0">
                  <a:moveTo>
                    <a:pt x="185" y="0"/>
                  </a:moveTo>
                  <a:cubicBezTo>
                    <a:pt x="12115" y="0"/>
                    <a:pt x="21786" y="9670"/>
                    <a:pt x="21786" y="21600"/>
                  </a:cubicBezTo>
                  <a:cubicBezTo>
                    <a:pt x="21786" y="33529"/>
                    <a:pt x="12115" y="43200"/>
                    <a:pt x="186" y="43200"/>
                  </a:cubicBezTo>
                  <a:cubicBezTo>
                    <a:pt x="123" y="43200"/>
                    <a:pt x="61" y="43199"/>
                    <a:pt x="-1" y="43199"/>
                  </a:cubicBezTo>
                </a:path>
                <a:path w="21786" h="43200" stroke="0" extrusionOk="0">
                  <a:moveTo>
                    <a:pt x="185" y="0"/>
                  </a:moveTo>
                  <a:cubicBezTo>
                    <a:pt x="12115" y="0"/>
                    <a:pt x="21786" y="9670"/>
                    <a:pt x="21786" y="21600"/>
                  </a:cubicBezTo>
                  <a:cubicBezTo>
                    <a:pt x="21786" y="33529"/>
                    <a:pt x="12115" y="43200"/>
                    <a:pt x="186" y="43200"/>
                  </a:cubicBezTo>
                  <a:cubicBezTo>
                    <a:pt x="123" y="43200"/>
                    <a:pt x="61" y="43199"/>
                    <a:pt x="-1" y="43199"/>
                  </a:cubicBezTo>
                  <a:lnTo>
                    <a:pt x="186" y="2160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9" name="Oval 52"/>
          <p:cNvSpPr>
            <a:spLocks noChangeArrowheads="1"/>
          </p:cNvSpPr>
          <p:nvPr/>
        </p:nvSpPr>
        <p:spPr bwMode="auto">
          <a:xfrm>
            <a:off x="2745391" y="2066925"/>
            <a:ext cx="3808654" cy="893763"/>
          </a:xfrm>
          <a:prstGeom prst="ellipse">
            <a:avLst/>
          </a:prstGeom>
          <a:gradFill rotWithShape="0">
            <a:gsLst>
              <a:gs pos="0">
                <a:schemeClr val="bg1">
                  <a:lumMod val="75000"/>
                </a:schemeClr>
              </a:gs>
              <a:gs pos="50000">
                <a:srgbClr val="F9FAFD"/>
              </a:gs>
              <a:gs pos="100000">
                <a:schemeClr val="bg1">
                  <a:lumMod val="75000"/>
                </a:schemeClr>
              </a:gs>
            </a:gsLst>
            <a:lin ang="0" scaled="1"/>
          </a:gradFill>
          <a:ln w="12700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Oval 53"/>
          <p:cNvSpPr>
            <a:spLocks noChangeArrowheads="1"/>
          </p:cNvSpPr>
          <p:nvPr/>
        </p:nvSpPr>
        <p:spPr bwMode="auto">
          <a:xfrm>
            <a:off x="2777643" y="2060575"/>
            <a:ext cx="3732422" cy="7874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bg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None/>
              <a:defRPr/>
            </a:pPr>
            <a:endParaRPr lang="ko-KR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AutoShape 54"/>
          <p:cNvSpPr>
            <a:spLocks noChangeArrowheads="1"/>
          </p:cNvSpPr>
          <p:nvPr/>
        </p:nvSpPr>
        <p:spPr bwMode="auto">
          <a:xfrm>
            <a:off x="515613" y="3987800"/>
            <a:ext cx="2027471" cy="1847850"/>
          </a:xfrm>
          <a:prstGeom prst="bevel">
            <a:avLst>
              <a:gd name="adj" fmla="val 1810"/>
            </a:avLst>
          </a:prstGeom>
          <a:solidFill>
            <a:schemeClr val="bg1">
              <a:lumMod val="7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fontAlgn="ctr" latinLnBrk="0" hangingPunct="0">
              <a:lnSpc>
                <a:spcPct val="125000"/>
              </a:lnSpc>
              <a:buFont typeface="Symbol" pitchFamily="18" charset="2"/>
              <a:buNone/>
              <a:defRPr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2" name="AutoShape 55"/>
          <p:cNvSpPr>
            <a:spLocks noChangeArrowheads="1"/>
          </p:cNvSpPr>
          <p:nvPr/>
        </p:nvSpPr>
        <p:spPr bwMode="auto">
          <a:xfrm>
            <a:off x="4639456" y="3987800"/>
            <a:ext cx="2027470" cy="1847850"/>
          </a:xfrm>
          <a:prstGeom prst="bevel">
            <a:avLst>
              <a:gd name="adj" fmla="val 1810"/>
            </a:avLst>
          </a:prstGeom>
          <a:solidFill>
            <a:schemeClr val="bg1">
              <a:lumMod val="7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fontAlgn="ctr" latinLnBrk="0" hangingPunct="0">
              <a:lnSpc>
                <a:spcPct val="125000"/>
              </a:lnSpc>
              <a:buFont typeface="Symbol" pitchFamily="18" charset="2"/>
              <a:buNone/>
              <a:defRPr/>
            </a:pP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AutoShape 56"/>
          <p:cNvSpPr>
            <a:spLocks noChangeArrowheads="1"/>
          </p:cNvSpPr>
          <p:nvPr/>
        </p:nvSpPr>
        <p:spPr bwMode="auto">
          <a:xfrm>
            <a:off x="6700644" y="3983038"/>
            <a:ext cx="2027470" cy="1847850"/>
          </a:xfrm>
          <a:prstGeom prst="bevel">
            <a:avLst>
              <a:gd name="adj" fmla="val 1810"/>
            </a:avLst>
          </a:prstGeom>
          <a:solidFill>
            <a:schemeClr val="bg1">
              <a:lumMod val="7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fontAlgn="ctr" latinLnBrk="0" hangingPunct="0">
              <a:lnSpc>
                <a:spcPct val="125000"/>
              </a:lnSpc>
              <a:buFont typeface="Symbol" pitchFamily="18" charset="2"/>
              <a:buNone/>
              <a:defRPr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pic>
        <p:nvPicPr>
          <p:cNvPr id="14" name="Picture 57" descr="버튼1"/>
          <p:cNvPicPr>
            <a:picLocks noChangeAspect="1" noChangeArrowheads="1"/>
          </p:cNvPicPr>
          <p:nvPr/>
        </p:nvPicPr>
        <p:blipFill>
          <a:blip r:embed="rId4" cstate="print">
            <a:grayscl/>
          </a:blip>
          <a:srcRect/>
          <a:stretch>
            <a:fillRect/>
          </a:stretch>
        </p:blipFill>
        <p:spPr bwMode="auto">
          <a:xfrm>
            <a:off x="515613" y="3567113"/>
            <a:ext cx="2027471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59" descr="버튼1"/>
          <p:cNvPicPr>
            <a:picLocks noChangeAspect="1" noChangeArrowheads="1"/>
          </p:cNvPicPr>
          <p:nvPr/>
        </p:nvPicPr>
        <p:blipFill>
          <a:blip r:embed="rId5" cstate="print">
            <a:grayscl/>
          </a:blip>
          <a:srcRect/>
          <a:stretch>
            <a:fillRect/>
          </a:stretch>
        </p:blipFill>
        <p:spPr bwMode="auto">
          <a:xfrm>
            <a:off x="4636524" y="3552825"/>
            <a:ext cx="2027470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60" descr="버튼1"/>
          <p:cNvPicPr>
            <a:picLocks noChangeAspect="1" noChangeArrowheads="1"/>
          </p:cNvPicPr>
          <p:nvPr/>
        </p:nvPicPr>
        <p:blipFill>
          <a:blip r:embed="rId5" cstate="print">
            <a:grayscl/>
          </a:blip>
          <a:srcRect/>
          <a:stretch>
            <a:fillRect/>
          </a:stretch>
        </p:blipFill>
        <p:spPr bwMode="auto">
          <a:xfrm>
            <a:off x="6700644" y="3562350"/>
            <a:ext cx="202747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Rectangle 63"/>
          <p:cNvSpPr>
            <a:spLocks noChangeArrowheads="1"/>
          </p:cNvSpPr>
          <p:nvPr/>
        </p:nvSpPr>
        <p:spPr bwMode="auto">
          <a:xfrm>
            <a:off x="622631" y="3998912"/>
            <a:ext cx="1795843" cy="1751013"/>
          </a:xfrm>
          <a:prstGeom prst="rect">
            <a:avLst/>
          </a:prstGeom>
          <a:solidFill>
            <a:schemeClr val="bg1">
              <a:alpha val="74117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36000" rIns="0" bIns="36000"/>
          <a:lstStyle/>
          <a:p>
            <a:pPr marL="90488" indent="-90488" latinLnBrk="0">
              <a:lnSpc>
                <a:spcPct val="13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개발표준에 따른 개발품질 제고</a:t>
            </a:r>
          </a:p>
          <a:p>
            <a:pPr marL="90488" indent="-90488" latinLnBrk="0">
              <a:lnSpc>
                <a:spcPct val="13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파트 설계자의 테스트를 통한 요구사항 반영 및 기능 검증</a:t>
            </a:r>
          </a:p>
          <a:p>
            <a:pPr marL="90488" indent="-90488" latinLnBrk="0">
              <a:lnSpc>
                <a:spcPct val="13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BPO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참여를 통한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검증</a:t>
            </a:r>
          </a:p>
        </p:txBody>
      </p:sp>
      <p:sp>
        <p:nvSpPr>
          <p:cNvPr id="18" name="Rectangle 64"/>
          <p:cNvSpPr>
            <a:spLocks noChangeArrowheads="1"/>
          </p:cNvSpPr>
          <p:nvPr/>
        </p:nvSpPr>
        <p:spPr bwMode="auto">
          <a:xfrm>
            <a:off x="4746473" y="3998912"/>
            <a:ext cx="1795844" cy="1751013"/>
          </a:xfrm>
          <a:prstGeom prst="rect">
            <a:avLst/>
          </a:prstGeom>
          <a:solidFill>
            <a:schemeClr val="bg1">
              <a:alpha val="74117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36000" rIns="0" bIns="36000"/>
          <a:lstStyle/>
          <a:p>
            <a:pPr marL="90488" indent="-90488" latinLnBrk="0">
              <a:lnSpc>
                <a:spcPct val="13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IF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표준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 정의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0488" indent="-90488" latinLnBrk="0">
              <a:lnSpc>
                <a:spcPct val="13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외부업체의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I/F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프로그램에 대한 검증 수행</a:t>
            </a:r>
          </a:p>
          <a:p>
            <a:pPr marL="90488" indent="-90488" latinLnBrk="0">
              <a:lnSpc>
                <a:spcPct val="13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BPO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및 현업담당자와 공동 검증 수행</a:t>
            </a:r>
          </a:p>
        </p:txBody>
      </p:sp>
      <p:sp>
        <p:nvSpPr>
          <p:cNvPr id="19" name="Rectangle 65"/>
          <p:cNvSpPr>
            <a:spLocks noChangeArrowheads="1"/>
          </p:cNvSpPr>
          <p:nvPr/>
        </p:nvSpPr>
        <p:spPr bwMode="auto">
          <a:xfrm>
            <a:off x="6807661" y="3994150"/>
            <a:ext cx="1795844" cy="1751013"/>
          </a:xfrm>
          <a:prstGeom prst="rect">
            <a:avLst/>
          </a:prstGeom>
          <a:solidFill>
            <a:schemeClr val="bg1">
              <a:alpha val="74117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36000" rIns="0" bIns="36000"/>
          <a:lstStyle/>
          <a:p>
            <a:pPr marL="90488" indent="-90488" latinLnBrk="0">
              <a:lnSpc>
                <a:spcPct val="13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BPO/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현업 및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IT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구축팀과의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공동 수행</a:t>
            </a:r>
          </a:p>
          <a:p>
            <a:pPr marL="90488" indent="-90488" latinLnBrk="0">
              <a:lnSpc>
                <a:spcPct val="13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업무별 단위의 현업 테스트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참여자 지정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참여</a:t>
            </a:r>
          </a:p>
          <a:p>
            <a:pPr marL="90488" indent="-90488" latinLnBrk="0">
              <a:lnSpc>
                <a:spcPct val="13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 결과에 대한 공동 대응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0">
              <a:lnSpc>
                <a:spcPct val="130000"/>
              </a:lnSpc>
              <a:spcAft>
                <a:spcPts val="100"/>
              </a:spcAft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 Box 187"/>
          <p:cNvSpPr txBox="1">
            <a:spLocks noChangeArrowheads="1"/>
          </p:cNvSpPr>
          <p:nvPr/>
        </p:nvSpPr>
        <p:spPr bwMode="auto">
          <a:xfrm>
            <a:off x="3210111" y="2097088"/>
            <a:ext cx="2858689" cy="683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latinLnBrk="0">
              <a:lnSpc>
                <a:spcPct val="120000"/>
              </a:lnSpc>
              <a:defRPr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사용자의 안정성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신뢰성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algn="ctr" latinLnBrk="0">
              <a:lnSpc>
                <a:spcPct val="120000"/>
              </a:lnSpc>
              <a:defRPr/>
            </a:pP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사용성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유지보수성 검증</a:t>
            </a:r>
          </a:p>
        </p:txBody>
      </p:sp>
      <p:sp>
        <p:nvSpPr>
          <p:cNvPr id="21" name="Text Box 156"/>
          <p:cNvSpPr txBox="1">
            <a:spLocks noChangeArrowheads="1"/>
          </p:cNvSpPr>
          <p:nvPr/>
        </p:nvSpPr>
        <p:spPr bwMode="auto">
          <a:xfrm>
            <a:off x="725250" y="3644900"/>
            <a:ext cx="1753329" cy="288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190500" indent="-190500" algn="ctr" eaLnBrk="0" latinLnBrk="0" hangingPunct="0">
              <a:lnSpc>
                <a:spcPct val="110000"/>
              </a:lnSpc>
              <a:spcBef>
                <a:spcPct val="10000"/>
              </a:spcBef>
              <a:defRPr/>
            </a:pP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 시스템 기능 검증</a:t>
            </a:r>
          </a:p>
        </p:txBody>
      </p:sp>
      <p:sp>
        <p:nvSpPr>
          <p:cNvPr id="22" name="Text Box 156"/>
          <p:cNvSpPr txBox="1">
            <a:spLocks noChangeArrowheads="1"/>
          </p:cNvSpPr>
          <p:nvPr/>
        </p:nvSpPr>
        <p:spPr bwMode="auto">
          <a:xfrm>
            <a:off x="4788987" y="3644900"/>
            <a:ext cx="1753329" cy="288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190500" indent="-190500" algn="ctr" eaLnBrk="0" latinLnBrk="0" hangingPunct="0">
              <a:lnSpc>
                <a:spcPct val="110000"/>
              </a:lnSpc>
              <a:spcBef>
                <a:spcPct val="10000"/>
              </a:spcBef>
              <a:defRPr/>
            </a:pP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내</a:t>
            </a:r>
            <a:r>
              <a:rPr lang="en-US" altLang="ko-KR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외부 </a:t>
            </a:r>
            <a:r>
              <a:rPr lang="en-US" altLang="ko-KR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I/F </a:t>
            </a: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검증</a:t>
            </a:r>
          </a:p>
        </p:txBody>
      </p:sp>
      <p:sp>
        <p:nvSpPr>
          <p:cNvPr id="23" name="Text Box 156"/>
          <p:cNvSpPr txBox="1">
            <a:spLocks noChangeArrowheads="1"/>
          </p:cNvSpPr>
          <p:nvPr/>
        </p:nvSpPr>
        <p:spPr bwMode="auto">
          <a:xfrm>
            <a:off x="6941067" y="3640138"/>
            <a:ext cx="1753329" cy="288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190500" indent="-190500" algn="ctr" eaLnBrk="0" latinLnBrk="0" hangingPunct="0">
              <a:lnSpc>
                <a:spcPct val="110000"/>
              </a:lnSpc>
              <a:spcBef>
                <a:spcPct val="10000"/>
              </a:spcBef>
              <a:defRPr/>
            </a:pP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시스템 통합 검증</a:t>
            </a:r>
          </a:p>
        </p:txBody>
      </p:sp>
      <p:grpSp>
        <p:nvGrpSpPr>
          <p:cNvPr id="24" name="Group 180"/>
          <p:cNvGrpSpPr>
            <a:grpSpLocks/>
          </p:cNvGrpSpPr>
          <p:nvPr/>
        </p:nvGrpSpPr>
        <p:grpSpPr bwMode="auto">
          <a:xfrm>
            <a:off x="2412610" y="2990850"/>
            <a:ext cx="4455158" cy="539750"/>
            <a:chOff x="1288" y="1229"/>
            <a:chExt cx="3254" cy="580"/>
          </a:xfrm>
        </p:grpSpPr>
        <p:sp>
          <p:nvSpPr>
            <p:cNvPr id="25" name="Freeform 181"/>
            <p:cNvSpPr>
              <a:spLocks/>
            </p:cNvSpPr>
            <p:nvPr/>
          </p:nvSpPr>
          <p:spPr bwMode="auto">
            <a:xfrm flipH="1">
              <a:off x="3348" y="1360"/>
              <a:ext cx="1194" cy="440"/>
            </a:xfrm>
            <a:custGeom>
              <a:avLst/>
              <a:gdLst>
                <a:gd name="T0" fmla="*/ 0 w 1173"/>
                <a:gd name="T1" fmla="*/ 0 h 1083"/>
                <a:gd name="T2" fmla="*/ 780 w 1173"/>
                <a:gd name="T3" fmla="*/ 0 h 1083"/>
                <a:gd name="T4" fmla="*/ 353 w 1173"/>
                <a:gd name="T5" fmla="*/ 0 h 1083"/>
                <a:gd name="T6" fmla="*/ 1376 w 1173"/>
                <a:gd name="T7" fmla="*/ 0 h 1083"/>
                <a:gd name="T8" fmla="*/ 695 w 1173"/>
                <a:gd name="T9" fmla="*/ 0 h 1083"/>
                <a:gd name="T10" fmla="*/ 0 w 1173"/>
                <a:gd name="T11" fmla="*/ 0 h 10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73"/>
                <a:gd name="T19" fmla="*/ 0 h 1083"/>
                <a:gd name="T20" fmla="*/ 1173 w 1173"/>
                <a:gd name="T21" fmla="*/ 1083 h 108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73" h="1083">
                  <a:moveTo>
                    <a:pt x="0" y="1083"/>
                  </a:moveTo>
                  <a:lnTo>
                    <a:pt x="665" y="292"/>
                  </a:lnTo>
                  <a:lnTo>
                    <a:pt x="301" y="292"/>
                  </a:lnTo>
                  <a:lnTo>
                    <a:pt x="1173" y="0"/>
                  </a:lnTo>
                  <a:lnTo>
                    <a:pt x="592" y="1050"/>
                  </a:lnTo>
                  <a:lnTo>
                    <a:pt x="0" y="108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" name="Freeform 182"/>
            <p:cNvSpPr>
              <a:spLocks/>
            </p:cNvSpPr>
            <p:nvPr/>
          </p:nvSpPr>
          <p:spPr bwMode="auto">
            <a:xfrm flipH="1">
              <a:off x="1288" y="1360"/>
              <a:ext cx="1208" cy="449"/>
            </a:xfrm>
            <a:custGeom>
              <a:avLst/>
              <a:gdLst>
                <a:gd name="T0" fmla="*/ 1372 w 1189"/>
                <a:gd name="T1" fmla="*/ 0 h 1103"/>
                <a:gd name="T2" fmla="*/ 589 w 1189"/>
                <a:gd name="T3" fmla="*/ 0 h 1103"/>
                <a:gd name="T4" fmla="*/ 1009 w 1189"/>
                <a:gd name="T5" fmla="*/ 0 h 1103"/>
                <a:gd name="T6" fmla="*/ 0 w 1189"/>
                <a:gd name="T7" fmla="*/ 0 h 1103"/>
                <a:gd name="T8" fmla="*/ 673 w 1189"/>
                <a:gd name="T9" fmla="*/ 0 h 1103"/>
                <a:gd name="T10" fmla="*/ 1372 w 1189"/>
                <a:gd name="T11" fmla="*/ 0 h 11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89"/>
                <a:gd name="T19" fmla="*/ 0 h 1103"/>
                <a:gd name="T20" fmla="*/ 1189 w 1189"/>
                <a:gd name="T21" fmla="*/ 1103 h 110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89" h="1103">
                  <a:moveTo>
                    <a:pt x="1189" y="1103"/>
                  </a:moveTo>
                  <a:lnTo>
                    <a:pt x="511" y="292"/>
                  </a:lnTo>
                  <a:lnTo>
                    <a:pt x="875" y="292"/>
                  </a:lnTo>
                  <a:lnTo>
                    <a:pt x="0" y="0"/>
                  </a:lnTo>
                  <a:lnTo>
                    <a:pt x="584" y="1050"/>
                  </a:lnTo>
                  <a:lnTo>
                    <a:pt x="1189" y="110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Freeform 183"/>
            <p:cNvSpPr>
              <a:spLocks/>
            </p:cNvSpPr>
            <p:nvPr/>
          </p:nvSpPr>
          <p:spPr bwMode="auto">
            <a:xfrm flipH="1">
              <a:off x="1974" y="1344"/>
              <a:ext cx="1904" cy="443"/>
            </a:xfrm>
            <a:custGeom>
              <a:avLst/>
              <a:gdLst>
                <a:gd name="T0" fmla="*/ 0 w 1260"/>
                <a:gd name="T1" fmla="*/ 3 h 846"/>
                <a:gd name="T2" fmla="*/ 51754 w 1260"/>
                <a:gd name="T3" fmla="*/ 3 h 846"/>
                <a:gd name="T4" fmla="*/ 36495 w 1260"/>
                <a:gd name="T5" fmla="*/ 0 h 846"/>
                <a:gd name="T6" fmla="*/ 15770 w 1260"/>
                <a:gd name="T7" fmla="*/ 0 h 846"/>
                <a:gd name="T8" fmla="*/ 0 w 1260"/>
                <a:gd name="T9" fmla="*/ 3 h 8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60"/>
                <a:gd name="T16" fmla="*/ 0 h 846"/>
                <a:gd name="T17" fmla="*/ 1260 w 1260"/>
                <a:gd name="T18" fmla="*/ 846 h 8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60" h="846">
                  <a:moveTo>
                    <a:pt x="0" y="846"/>
                  </a:moveTo>
                  <a:lnTo>
                    <a:pt x="1260" y="846"/>
                  </a:lnTo>
                  <a:lnTo>
                    <a:pt x="888" y="0"/>
                  </a:lnTo>
                  <a:lnTo>
                    <a:pt x="384" y="0"/>
                  </a:lnTo>
                  <a:lnTo>
                    <a:pt x="0" y="84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" name="AutoShape 184"/>
            <p:cNvSpPr>
              <a:spLocks noChangeArrowheads="1"/>
            </p:cNvSpPr>
            <p:nvPr/>
          </p:nvSpPr>
          <p:spPr bwMode="auto">
            <a:xfrm flipH="1">
              <a:off x="2466" y="1229"/>
              <a:ext cx="910" cy="115"/>
            </a:xfrm>
            <a:prstGeom prst="triangle">
              <a:avLst>
                <a:gd name="adj" fmla="val 50000"/>
              </a:avLst>
            </a:prstGeom>
            <a:gradFill rotWithShape="0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9" name="AutoShape 71"/>
          <p:cNvSpPr>
            <a:spLocks noChangeArrowheads="1"/>
          </p:cNvSpPr>
          <p:nvPr/>
        </p:nvSpPr>
        <p:spPr bwMode="auto">
          <a:xfrm>
            <a:off x="2578267" y="3994150"/>
            <a:ext cx="2027470" cy="1847850"/>
          </a:xfrm>
          <a:prstGeom prst="bevel">
            <a:avLst>
              <a:gd name="adj" fmla="val 1810"/>
            </a:avLst>
          </a:prstGeom>
          <a:solidFill>
            <a:schemeClr val="bg1">
              <a:lumMod val="7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fontAlgn="ctr" latinLnBrk="0" hangingPunct="0">
              <a:lnSpc>
                <a:spcPct val="125000"/>
              </a:lnSpc>
              <a:buFont typeface="Symbol" pitchFamily="18" charset="2"/>
              <a:buNone/>
              <a:defRPr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pic>
        <p:nvPicPr>
          <p:cNvPr id="30" name="Picture 72" descr="버튼1"/>
          <p:cNvPicPr>
            <a:picLocks noChangeAspect="1" noChangeArrowheads="1"/>
          </p:cNvPicPr>
          <p:nvPr/>
        </p:nvPicPr>
        <p:blipFill>
          <a:blip r:embed="rId5" cstate="print">
            <a:grayscl/>
          </a:blip>
          <a:srcRect/>
          <a:stretch>
            <a:fillRect/>
          </a:stretch>
        </p:blipFill>
        <p:spPr bwMode="auto">
          <a:xfrm>
            <a:off x="2578267" y="3573463"/>
            <a:ext cx="2027470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Rectangle 73"/>
          <p:cNvSpPr>
            <a:spLocks noChangeArrowheads="1"/>
          </p:cNvSpPr>
          <p:nvPr/>
        </p:nvSpPr>
        <p:spPr bwMode="auto">
          <a:xfrm>
            <a:off x="2685285" y="4005262"/>
            <a:ext cx="1795844" cy="1751013"/>
          </a:xfrm>
          <a:prstGeom prst="rect">
            <a:avLst/>
          </a:prstGeom>
          <a:solidFill>
            <a:schemeClr val="bg1">
              <a:alpha val="74117"/>
            </a:schemeClr>
          </a:solidFill>
          <a:ln w="9525">
            <a:noFill/>
            <a:miter lim="800000"/>
            <a:headEnd/>
            <a:tailEnd/>
          </a:ln>
        </p:spPr>
        <p:txBody>
          <a:bodyPr lIns="0" tIns="36000" rIns="0" bIns="36000"/>
          <a:lstStyle/>
          <a:p>
            <a:pPr marL="90488" indent="-90488" latinLnBrk="0">
              <a:lnSpc>
                <a:spcPct val="13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시스템별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성능 검증</a:t>
            </a:r>
          </a:p>
          <a:p>
            <a:pPr marL="90488" indent="-90488" latinLnBrk="0">
              <a:lnSpc>
                <a:spcPct val="13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검증된 테스트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Tool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사용</a:t>
            </a:r>
          </a:p>
          <a:p>
            <a:pPr marL="90488" indent="-90488" latinLnBrk="0">
              <a:lnSpc>
                <a:spcPct val="13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현실에 근접한 충분한 테스트</a:t>
            </a:r>
          </a:p>
          <a:p>
            <a:pPr marL="90488" indent="-90488" latinLnBrk="0">
              <a:lnSpc>
                <a:spcPct val="13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케이스 및 건수 확보</a:t>
            </a:r>
          </a:p>
          <a:p>
            <a:pPr marL="90488" indent="-90488" latinLnBrk="0">
              <a:lnSpc>
                <a:spcPct val="13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 이상의 반복 테스트</a:t>
            </a:r>
          </a:p>
        </p:txBody>
      </p:sp>
      <p:sp>
        <p:nvSpPr>
          <p:cNvPr id="32" name="Text Box 156"/>
          <p:cNvSpPr txBox="1">
            <a:spLocks noChangeArrowheads="1"/>
          </p:cNvSpPr>
          <p:nvPr/>
        </p:nvSpPr>
        <p:spPr bwMode="auto">
          <a:xfrm>
            <a:off x="2787904" y="3651250"/>
            <a:ext cx="1753329" cy="288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190500" indent="-190500" algn="ctr" eaLnBrk="0" latinLnBrk="0" hangingPunct="0">
              <a:lnSpc>
                <a:spcPct val="110000"/>
              </a:lnSpc>
              <a:spcBef>
                <a:spcPct val="10000"/>
              </a:spcBef>
              <a:defRPr/>
            </a:pPr>
            <a:r>
              <a:rPr lang="ko-KR" altLang="en-US" sz="1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 시스템 성능 검증</a:t>
            </a:r>
          </a:p>
        </p:txBody>
      </p:sp>
    </p:spTree>
    <p:extLst>
      <p:ext uri="{BB962C8B-B14F-4D97-AF65-F5344CB8AC3E}">
        <p14:creationId xmlns:p14="http://schemas.microsoft.com/office/powerpoint/2010/main" val="491303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목적 및 전략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시스템 개발에 대한 테스트는 단위 테스트</a:t>
            </a:r>
            <a:r>
              <a:rPr lang="en-US" altLang="ko-KR" dirty="0"/>
              <a:t>, </a:t>
            </a:r>
            <a:r>
              <a:rPr lang="ko-KR" altLang="en-US" dirty="0"/>
              <a:t>통합테스트</a:t>
            </a:r>
            <a:r>
              <a:rPr lang="en-US" altLang="ko-KR" dirty="0"/>
              <a:t>(IF </a:t>
            </a:r>
            <a:r>
              <a:rPr lang="ko-KR" altLang="en-US" dirty="0"/>
              <a:t>테스트 포함</a:t>
            </a:r>
            <a:r>
              <a:rPr lang="en-US" altLang="ko-KR" dirty="0"/>
              <a:t>), </a:t>
            </a:r>
            <a:r>
              <a:rPr lang="ko-KR" altLang="en-US" dirty="0"/>
              <a:t>시스템</a:t>
            </a:r>
            <a:r>
              <a:rPr lang="en-US" altLang="ko-KR" dirty="0"/>
              <a:t>(</a:t>
            </a:r>
            <a:r>
              <a:rPr lang="ko-KR" altLang="en-US" dirty="0"/>
              <a:t>성능</a:t>
            </a:r>
            <a:r>
              <a:rPr lang="en-US" altLang="ko-KR" dirty="0"/>
              <a:t>)</a:t>
            </a:r>
            <a:r>
              <a:rPr lang="ko-KR" altLang="en-US" dirty="0"/>
              <a:t>테스트로 구분하며</a:t>
            </a:r>
            <a:r>
              <a:rPr lang="en-US" altLang="ko-KR" dirty="0"/>
              <a:t>, </a:t>
            </a:r>
            <a:r>
              <a:rPr lang="ko-KR" altLang="en-US" dirty="0"/>
              <a:t>단위</a:t>
            </a:r>
            <a:r>
              <a:rPr lang="en-US" altLang="ko-KR" dirty="0"/>
              <a:t>/</a:t>
            </a:r>
            <a:r>
              <a:rPr lang="ko-KR" altLang="en-US" dirty="0"/>
              <a:t>통합 테스트는 </a:t>
            </a:r>
            <a:r>
              <a:rPr lang="en-US" altLang="ko-KR" dirty="0"/>
              <a:t>BPO, </a:t>
            </a:r>
            <a:r>
              <a:rPr lang="ko-KR" altLang="en-US" dirty="0"/>
              <a:t>현업까지 참여함</a:t>
            </a:r>
            <a:r>
              <a:rPr lang="en-US" altLang="ko-KR" dirty="0"/>
              <a:t>. </a:t>
            </a:r>
            <a:r>
              <a:rPr lang="ko-KR" altLang="en-US" dirty="0"/>
              <a:t>테스트에 대한 결함 및 결과는 </a:t>
            </a:r>
            <a:r>
              <a:rPr lang="en-US" altLang="ko-KR" dirty="0"/>
              <a:t>BTS</a:t>
            </a:r>
            <a:r>
              <a:rPr lang="ko-KR" altLang="en-US" dirty="0"/>
              <a:t>로 관리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6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graphicFrame>
        <p:nvGraphicFramePr>
          <p:cNvPr id="33" name="Group 1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094785"/>
              </p:ext>
            </p:extLst>
          </p:nvPr>
        </p:nvGraphicFramePr>
        <p:xfrm>
          <a:off x="523875" y="1899632"/>
          <a:ext cx="8080573" cy="4121656"/>
        </p:xfrm>
        <a:graphic>
          <a:graphicData uri="http://schemas.openxmlformats.org/drawingml/2006/table">
            <a:tbl>
              <a:tblPr/>
              <a:tblGrid>
                <a:gridCol w="879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8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0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종류</a:t>
                      </a:r>
                    </a:p>
                  </a:txBody>
                  <a:tcPr marL="72000" marR="72000" marT="35997" marB="35997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활동 내용 </a:t>
                      </a:r>
                    </a:p>
                  </a:txBody>
                  <a:tcPr marL="72000" marR="72000" marT="35997" marB="35997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대상 환경</a:t>
                      </a:r>
                    </a:p>
                  </a:txBody>
                  <a:tcPr marL="72000" marR="72000" marT="35997" marB="35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92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 테스트</a:t>
                      </a:r>
                      <a:endParaRPr kumimoji="0" lang="en-US" altLang="ko-KR" sz="1200" b="1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97" marB="35997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각 업무 영역에서 단위 시스템 내에서의 동작 흐름을 확인 하는 테스트임</a:t>
                      </a:r>
                    </a:p>
                    <a:p>
                      <a:pPr marL="95250" marR="0" lvl="0" indent="-95250" algn="l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단위업무 흐름을 기준으로 데이터의 흐름 및 연관 화면의 업무 테스트</a:t>
                      </a: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단위 업무에 대한 시나리오 및 </a:t>
                      </a: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case</a:t>
                      </a: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 필요함</a:t>
                      </a:r>
                    </a:p>
                    <a:p>
                      <a:pPr marL="95250" marR="0" lvl="0" indent="-95250" algn="l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BPO </a:t>
                      </a: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및 일부 현업 담당자를 까지 포함해 테스트에 참여함</a:t>
                      </a:r>
                      <a:endParaRPr kumimoji="1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35997" marB="35997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환경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프로그램명세서 및 화면설계서 기준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97" marB="35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20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테스트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97" marB="35997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 및 서비스를 중심으로 종합적인 기능을 확인하는 테스트</a:t>
                      </a: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시스템 간 </a:t>
                      </a: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IF</a:t>
                      </a: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기능까지 같이 확인하는 테스트임</a:t>
                      </a:r>
                    </a:p>
                    <a:p>
                      <a:pPr marL="95250" marR="0" lvl="0" indent="-9525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테스트를 위한 종합적인 테스트 업무 시나리오가 필요하며</a:t>
                      </a: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BPO </a:t>
                      </a: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및 현장 담당자까지 참여 하에 테스트를 수행함</a:t>
                      </a:r>
                    </a:p>
                  </a:txBody>
                  <a:tcPr marL="72000" marR="72000" marT="35997" marB="35997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환경</a:t>
                      </a:r>
                    </a:p>
                  </a:txBody>
                  <a:tcPr marL="72000" marR="72000" marT="35997" marB="35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401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성능 테스트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97" marB="35997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시스템 테스트</a:t>
                      </a: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개발 및 운영에 공급되는 시스템이 정상인지 확인하는 테스트</a:t>
                      </a: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공급업체의 테스트 결과를 확인</a:t>
                      </a: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검증 함</a:t>
                      </a:r>
                    </a:p>
                  </a:txBody>
                  <a:tcPr marL="72000" marR="72000" marT="35997" marB="35997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5250" marR="0" lvl="0" indent="-9525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환경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97" marB="35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49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lvl="0" indent="-9525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성능</a:t>
                      </a: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부하 테스트</a:t>
                      </a: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시스템의 운영환경을 기준으로 </a:t>
                      </a: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Setting </a:t>
                      </a: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후 특정 부하에 견디는지</a:t>
                      </a:r>
                      <a:r>
                        <a:rPr kumimoji="1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부하 시 성능이 유지되는지 테스트 함</a:t>
                      </a:r>
                    </a:p>
                  </a:txBody>
                  <a:tcPr marL="72000" marR="72000" marT="35997" marB="35997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306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범위 및 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테스트 범위</a:t>
            </a:r>
            <a:endParaRPr lang="en-US" altLang="ko-KR" dirty="0"/>
          </a:p>
          <a:p>
            <a:pPr lvl="1"/>
            <a:r>
              <a:rPr lang="ko-KR" altLang="en-US" dirty="0"/>
              <a:t>테스트 하고자 하는 대상 범위에 대해 기술한다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7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601785"/>
              </p:ext>
            </p:extLst>
          </p:nvPr>
        </p:nvGraphicFramePr>
        <p:xfrm>
          <a:off x="755576" y="1556793"/>
          <a:ext cx="7776865" cy="2575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4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0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공통업무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멀티첨부기능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검색정보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문서분류 체계관리 모듈에 대한 기능 테스트 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659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659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659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760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Group 18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168961"/>
              </p:ext>
            </p:extLst>
          </p:nvPr>
        </p:nvGraphicFramePr>
        <p:xfrm>
          <a:off x="344680" y="1965387"/>
          <a:ext cx="8440546" cy="4349804"/>
        </p:xfrm>
        <a:graphic>
          <a:graphicData uri="http://schemas.openxmlformats.org/drawingml/2006/table">
            <a:tbl>
              <a:tblPr/>
              <a:tblGrid>
                <a:gridCol w="1075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3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3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75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900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J ONLYONE Medium" panose="02020603020101020101" pitchFamily="18" charset="-127"/>
                          <a:ea typeface="CJ ONLYONE Medium" panose="02020603020101020101" pitchFamily="18" charset="-127"/>
                        </a:rPr>
                        <a:t>구분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J ONLYONE Medium" panose="02020603020101020101" pitchFamily="18" charset="-127"/>
                          <a:ea typeface="CJ ONLYONE Medium" panose="02020603020101020101" pitchFamily="18" charset="-127"/>
                        </a:rPr>
                        <a:t>Sprint #0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16615" marR="1661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J ONLYONE Medium" panose="02020603020101020101" pitchFamily="18" charset="-127"/>
                          <a:ea typeface="CJ ONLYONE Medium" panose="02020603020101020101" pitchFamily="18" charset="-127"/>
                        </a:rPr>
                        <a:t>Sprint #1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16615" marR="1661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J ONLYONE Medium" panose="02020603020101020101" pitchFamily="18" charset="-127"/>
                          <a:ea typeface="CJ ONLYONE Medium" panose="02020603020101020101" pitchFamily="18" charset="-127"/>
                        </a:rPr>
                        <a:t>Spinrt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J ONLYONE Medium" panose="02020603020101020101" pitchFamily="18" charset="-127"/>
                          <a:ea typeface="CJ ONLYONE Medium" panose="02020603020101020101" pitchFamily="18" charset="-127"/>
                        </a:rPr>
                        <a:t> #2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16615" marR="1661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J ONLYONE Medium" panose="02020603020101020101" pitchFamily="18" charset="-127"/>
                          <a:ea typeface="CJ ONLYONE Medium" panose="02020603020101020101" pitchFamily="18" charset="-127"/>
                        </a:rPr>
                        <a:t>Sprint #3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16615" marR="1661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J ONLYONE Medium" panose="02020603020101020101" pitchFamily="18" charset="-127"/>
                          <a:ea typeface="CJ ONLYONE Medium" panose="02020603020101020101" pitchFamily="18" charset="-127"/>
                        </a:rPr>
                        <a:t>Sprint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J ONLYONE Medium" panose="02020603020101020101" pitchFamily="18" charset="-127"/>
                          <a:ea typeface="CJ ONLYONE Medium" panose="02020603020101020101" pitchFamily="18" charset="-127"/>
                        </a:rPr>
                        <a:t>통합</a:t>
                      </a:r>
                    </a:p>
                  </a:txBody>
                  <a:tcPr marL="16615" marR="1661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J ONLYONE Medium" panose="02020603020101020101" pitchFamily="18" charset="-127"/>
                          <a:ea typeface="CJ ONLYONE Medium" panose="02020603020101020101" pitchFamily="18" charset="-127"/>
                        </a:rPr>
                        <a:t>Transition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16615" marR="1661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00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J ONLYONE Medium" panose="02020603020101020101" pitchFamily="18" charset="-127"/>
                          <a:ea typeface="CJ ONLYONE Medium" panose="02020603020101020101" pitchFamily="18" charset="-127"/>
                        </a:rPr>
                        <a:t>2017.02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16615" marR="1661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J ONLYONE Medium" panose="02020603020101020101" pitchFamily="18" charset="-127"/>
                          <a:ea typeface="CJ ONLYONE Medium" panose="02020603020101020101" pitchFamily="18" charset="-127"/>
                        </a:rPr>
                        <a:t>2017.03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16615" marR="1661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J ONLYONE Medium" panose="02020603020101020101" pitchFamily="18" charset="-127"/>
                          <a:ea typeface="CJ ONLYONE Medium" panose="02020603020101020101" pitchFamily="18" charset="-127"/>
                        </a:rPr>
                        <a:t>2017.04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16615" marR="1661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J ONLYONE Medium" panose="02020603020101020101" pitchFamily="18" charset="-127"/>
                          <a:ea typeface="CJ ONLYONE Medium" panose="02020603020101020101" pitchFamily="18" charset="-127"/>
                        </a:rPr>
                        <a:t>2017.05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16615" marR="1661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J ONLYONE Medium" panose="02020603020101020101" pitchFamily="18" charset="-127"/>
                          <a:ea typeface="CJ ONLYONE Medium" panose="02020603020101020101" pitchFamily="18" charset="-127"/>
                        </a:rPr>
                        <a:t>2017.06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16615" marR="1661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J ONLYONE Medium" panose="02020603020101020101" pitchFamily="18" charset="-127"/>
                          <a:ea typeface="CJ ONLYONE Medium" panose="02020603020101020101" pitchFamily="18" charset="-127"/>
                        </a:rPr>
                        <a:t>2017.07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16615" marR="16615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646038824"/>
                  </a:ext>
                </a:extLst>
              </a:tr>
              <a:tr h="8536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J ONLYONE Medium" panose="02020603020101020101" pitchFamily="18" charset="-127"/>
                          <a:ea typeface="CJ ONLYONE Medium" panose="02020603020101020101" pitchFamily="18" charset="-127"/>
                        </a:rPr>
                        <a:t>주요 </a:t>
                      </a:r>
                      <a:r>
                        <a:rPr kumimoji="1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J ONLYONE Medium" panose="02020603020101020101" pitchFamily="18" charset="-127"/>
                          <a:ea typeface="CJ ONLYONE Medium" panose="02020603020101020101" pitchFamily="18" charset="-127"/>
                        </a:rPr>
                        <a:t>마일스톤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84406" marR="84406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84406" marR="84406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84406" marR="84406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84406" marR="84406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84406" marR="84406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84406" marR="84406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819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J ONLYONE Medium" panose="02020603020101020101" pitchFamily="18" charset="-127"/>
                          <a:ea typeface="CJ ONLYONE Medium" panose="02020603020101020101" pitchFamily="18" charset="-127"/>
                        </a:rPr>
                        <a:t>테스트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84406" marR="84406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84406" marR="84406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84406" marR="84406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84406" marR="84406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84406" marR="84406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J ONLYONE Medium" panose="02020603020101020101" pitchFamily="18" charset="-127"/>
                        <a:ea typeface="CJ ONLYONE Medium" panose="02020603020101020101" pitchFamily="18" charset="-127"/>
                      </a:endParaRPr>
                    </a:p>
                  </a:txBody>
                  <a:tcPr marL="84406" marR="84406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범위 및 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1152127"/>
          </a:xfrm>
        </p:spPr>
        <p:txBody>
          <a:bodyPr>
            <a:normAutofit/>
          </a:bodyPr>
          <a:lstStyle/>
          <a:p>
            <a:r>
              <a:rPr lang="ko-KR" altLang="en-US" dirty="0"/>
              <a:t>테스트 일정</a:t>
            </a:r>
            <a:endParaRPr lang="en-US" altLang="ko-KR" dirty="0"/>
          </a:p>
          <a:p>
            <a:pPr lvl="1"/>
            <a:r>
              <a:rPr lang="ko-KR" altLang="en-US" dirty="0"/>
              <a:t>각 </a:t>
            </a:r>
            <a:r>
              <a:rPr lang="en-US" altLang="ko-KR" dirty="0"/>
              <a:t>Sprint</a:t>
            </a:r>
            <a:r>
              <a:rPr lang="ko-KR" altLang="en-US" dirty="0"/>
              <a:t>마다 단위 테스트가 반복되며</a:t>
            </a:r>
            <a:r>
              <a:rPr lang="en-US" altLang="ko-KR" dirty="0"/>
              <a:t>, Sprint </a:t>
            </a:r>
            <a:r>
              <a:rPr lang="ko-KR" altLang="en-US" dirty="0"/>
              <a:t>통합 단계에 통합 테스트</a:t>
            </a:r>
            <a:r>
              <a:rPr lang="en-US" altLang="ko-KR" dirty="0"/>
              <a:t>(IF </a:t>
            </a:r>
            <a:r>
              <a:rPr lang="ko-KR" altLang="en-US" dirty="0"/>
              <a:t>테스트 포함</a:t>
            </a:r>
            <a:r>
              <a:rPr lang="en-US" altLang="ko-KR" dirty="0"/>
              <a:t>)</a:t>
            </a:r>
            <a:r>
              <a:rPr lang="ko-KR" altLang="en-US" dirty="0"/>
              <a:t>를 수행한다</a:t>
            </a:r>
            <a:r>
              <a:rPr lang="en-US" altLang="ko-KR" dirty="0"/>
              <a:t>.</a:t>
            </a:r>
            <a:r>
              <a:rPr lang="ko-KR" altLang="en-US" dirty="0"/>
              <a:t> 시까지 반복 수행함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8</a:t>
            </a:fld>
            <a:r>
              <a:rPr lang="en-US" altLang="ko-KR" dirty="0">
                <a:solidFill>
                  <a:schemeClr val="tx1"/>
                </a:solidFill>
              </a:rPr>
              <a:t> -</a:t>
            </a:r>
          </a:p>
        </p:txBody>
      </p:sp>
      <p:sp>
        <p:nvSpPr>
          <p:cNvPr id="5" name="오각형 4"/>
          <p:cNvSpPr/>
          <p:nvPr/>
        </p:nvSpPr>
        <p:spPr>
          <a:xfrm>
            <a:off x="2483768" y="2750089"/>
            <a:ext cx="1080000" cy="180000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100" dirty="0"/>
              <a:t>#1 </a:t>
            </a:r>
            <a:r>
              <a:rPr lang="ko-KR" altLang="en-US" sz="1100" dirty="0" err="1"/>
              <a:t>기능개발</a:t>
            </a:r>
            <a:endParaRPr lang="ko-KR" altLang="en-US" sz="1100" dirty="0"/>
          </a:p>
        </p:txBody>
      </p:sp>
      <p:sp>
        <p:nvSpPr>
          <p:cNvPr id="34" name="오각형 33"/>
          <p:cNvSpPr/>
          <p:nvPr/>
        </p:nvSpPr>
        <p:spPr>
          <a:xfrm>
            <a:off x="2838281" y="3803523"/>
            <a:ext cx="1044000" cy="18000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#1 </a:t>
            </a:r>
            <a:r>
              <a:rPr lang="ko-KR" altLang="en-US" sz="1100" b="1" dirty="0" err="1">
                <a:solidFill>
                  <a:schemeClr val="tx1"/>
                </a:solidFill>
              </a:rPr>
              <a:t>단위테스트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36" name="오각형 35"/>
          <p:cNvSpPr/>
          <p:nvPr/>
        </p:nvSpPr>
        <p:spPr>
          <a:xfrm>
            <a:off x="1440822" y="2723963"/>
            <a:ext cx="1042946" cy="360040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100" dirty="0"/>
              <a:t>Product</a:t>
            </a:r>
          </a:p>
          <a:p>
            <a:pPr algn="ctr"/>
            <a:r>
              <a:rPr lang="en-US" altLang="ko-KR" sz="1100" dirty="0"/>
              <a:t>Backlog </a:t>
            </a:r>
            <a:r>
              <a:rPr lang="ko-KR" altLang="en-US" sz="1100" dirty="0"/>
              <a:t>수집</a:t>
            </a:r>
          </a:p>
        </p:txBody>
      </p:sp>
      <p:sp>
        <p:nvSpPr>
          <p:cNvPr id="37" name="오각형 36"/>
          <p:cNvSpPr/>
          <p:nvPr/>
        </p:nvSpPr>
        <p:spPr>
          <a:xfrm>
            <a:off x="1991737" y="3488437"/>
            <a:ext cx="984062" cy="398639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단위테스트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케이스작성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8" name="오각형 37"/>
          <p:cNvSpPr/>
          <p:nvPr/>
        </p:nvSpPr>
        <p:spPr>
          <a:xfrm>
            <a:off x="4231190" y="4405802"/>
            <a:ext cx="1044000" cy="18000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#2 </a:t>
            </a:r>
            <a:r>
              <a:rPr lang="ko-KR" altLang="en-US" sz="1100" b="1" dirty="0" err="1">
                <a:solidFill>
                  <a:schemeClr val="tx1"/>
                </a:solidFill>
              </a:rPr>
              <a:t>단위테스트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39" name="오각형 38"/>
          <p:cNvSpPr/>
          <p:nvPr/>
        </p:nvSpPr>
        <p:spPr>
          <a:xfrm>
            <a:off x="3834503" y="4007163"/>
            <a:ext cx="1008112" cy="398639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단위테스트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케이스작성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67" name="오각형 66"/>
          <p:cNvSpPr/>
          <p:nvPr/>
        </p:nvSpPr>
        <p:spPr>
          <a:xfrm>
            <a:off x="3822343" y="2874464"/>
            <a:ext cx="1080000" cy="180000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100" dirty="0"/>
              <a:t>#2 </a:t>
            </a:r>
            <a:r>
              <a:rPr lang="ko-KR" altLang="en-US" sz="1100" dirty="0" err="1"/>
              <a:t>기능개발</a:t>
            </a:r>
            <a:endParaRPr lang="ko-KR" altLang="en-US" sz="1100" dirty="0"/>
          </a:p>
        </p:txBody>
      </p:sp>
      <p:sp>
        <p:nvSpPr>
          <p:cNvPr id="68" name="오각형 67"/>
          <p:cNvSpPr/>
          <p:nvPr/>
        </p:nvSpPr>
        <p:spPr>
          <a:xfrm>
            <a:off x="5183981" y="3002694"/>
            <a:ext cx="1080000" cy="180000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100" dirty="0"/>
              <a:t>#3 </a:t>
            </a:r>
            <a:r>
              <a:rPr lang="ko-KR" altLang="en-US" sz="1100" dirty="0" err="1"/>
              <a:t>기능개발</a:t>
            </a:r>
            <a:endParaRPr lang="ko-KR" altLang="en-US" sz="1100" dirty="0"/>
          </a:p>
        </p:txBody>
      </p:sp>
      <p:sp>
        <p:nvSpPr>
          <p:cNvPr id="70" name="오각형 69"/>
          <p:cNvSpPr/>
          <p:nvPr/>
        </p:nvSpPr>
        <p:spPr>
          <a:xfrm>
            <a:off x="5582451" y="5007024"/>
            <a:ext cx="1044000" cy="18000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#3 </a:t>
            </a:r>
            <a:r>
              <a:rPr lang="ko-KR" altLang="en-US" sz="1100" b="1" dirty="0" err="1">
                <a:solidFill>
                  <a:schemeClr val="tx1"/>
                </a:solidFill>
              </a:rPr>
              <a:t>단위테스트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71" name="오각형 70"/>
          <p:cNvSpPr/>
          <p:nvPr/>
        </p:nvSpPr>
        <p:spPr>
          <a:xfrm>
            <a:off x="5185764" y="4608385"/>
            <a:ext cx="1008112" cy="398639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단위테스트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케이스작성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72" name="오각형 71"/>
          <p:cNvSpPr/>
          <p:nvPr/>
        </p:nvSpPr>
        <p:spPr>
          <a:xfrm>
            <a:off x="1932303" y="5371113"/>
            <a:ext cx="4812511" cy="280068"/>
          </a:xfrm>
          <a:prstGeom prst="homePlate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통합테스트</a:t>
            </a:r>
            <a:r>
              <a:rPr lang="ko-KR" altLang="en-US" sz="1100" dirty="0">
                <a:solidFill>
                  <a:schemeClr val="tx1"/>
                </a:solidFill>
              </a:rPr>
              <a:t> 시나리오 및 케이스 작성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73" name="오각형 72"/>
          <p:cNvSpPr/>
          <p:nvPr/>
        </p:nvSpPr>
        <p:spPr>
          <a:xfrm>
            <a:off x="6777985" y="5410922"/>
            <a:ext cx="1155523" cy="179883"/>
          </a:xfrm>
          <a:prstGeom prst="homePlate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 err="1">
                <a:solidFill>
                  <a:schemeClr val="tx1"/>
                </a:solidFill>
              </a:rPr>
              <a:t>통합테스트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4" name="오각형 73"/>
          <p:cNvSpPr/>
          <p:nvPr/>
        </p:nvSpPr>
        <p:spPr>
          <a:xfrm>
            <a:off x="6777985" y="5654659"/>
            <a:ext cx="1155523" cy="179883"/>
          </a:xfrm>
          <a:prstGeom prst="homePlate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I/F </a:t>
            </a:r>
            <a:r>
              <a:rPr lang="ko-KR" altLang="en-US" sz="1100" b="1" dirty="0">
                <a:solidFill>
                  <a:schemeClr val="tx1"/>
                </a:solidFill>
              </a:rPr>
              <a:t>테스트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5" name="오각형 74"/>
          <p:cNvSpPr/>
          <p:nvPr/>
        </p:nvSpPr>
        <p:spPr>
          <a:xfrm>
            <a:off x="6777985" y="5898396"/>
            <a:ext cx="1155523" cy="179883"/>
          </a:xfrm>
          <a:prstGeom prst="homePlate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시스템 테스트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6" name="오각형 75"/>
          <p:cNvSpPr/>
          <p:nvPr/>
        </p:nvSpPr>
        <p:spPr>
          <a:xfrm>
            <a:off x="6516216" y="2794221"/>
            <a:ext cx="1080000" cy="180000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b="1" dirty="0"/>
              <a:t>기능 통합</a:t>
            </a:r>
          </a:p>
        </p:txBody>
      </p:sp>
      <p:sp>
        <p:nvSpPr>
          <p:cNvPr id="77" name="오각형 76"/>
          <p:cNvSpPr/>
          <p:nvPr/>
        </p:nvSpPr>
        <p:spPr>
          <a:xfrm>
            <a:off x="8093833" y="2636912"/>
            <a:ext cx="720000" cy="180000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100" b="1" dirty="0">
                <a:solidFill>
                  <a:srgbClr val="C00000"/>
                </a:solidFill>
              </a:rPr>
              <a:t>OPEN</a:t>
            </a:r>
            <a:endParaRPr lang="ko-KR" altLang="en-US" sz="1100" b="1" dirty="0">
              <a:solidFill>
                <a:srgbClr val="C00000"/>
              </a:solidFill>
            </a:endParaRPr>
          </a:p>
        </p:txBody>
      </p:sp>
      <p:sp>
        <p:nvSpPr>
          <p:cNvPr id="81" name="순서도: 추출 80"/>
          <p:cNvSpPr/>
          <p:nvPr/>
        </p:nvSpPr>
        <p:spPr>
          <a:xfrm>
            <a:off x="5548549" y="5655541"/>
            <a:ext cx="146295" cy="89235"/>
          </a:xfrm>
          <a:prstGeom prst="flowChartExtra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dirty="0">
              <a:solidFill>
                <a:srgbClr val="3939A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TextBox 15"/>
          <p:cNvSpPr txBox="1">
            <a:spLocks noChangeArrowheads="1"/>
          </p:cNvSpPr>
          <p:nvPr/>
        </p:nvSpPr>
        <p:spPr bwMode="auto">
          <a:xfrm>
            <a:off x="5405983" y="5752354"/>
            <a:ext cx="1040568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현장 </a:t>
            </a: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BPO 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참여</a:t>
            </a:r>
          </a:p>
        </p:txBody>
      </p:sp>
      <p:sp>
        <p:nvSpPr>
          <p:cNvPr id="83" name="직사각형 82"/>
          <p:cNvSpPr/>
          <p:nvPr/>
        </p:nvSpPr>
        <p:spPr>
          <a:xfrm rot="20208410">
            <a:off x="3076851" y="3852845"/>
            <a:ext cx="4298950" cy="6667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  <p:sp>
        <p:nvSpPr>
          <p:cNvPr id="84" name="오각형 83"/>
          <p:cNvSpPr/>
          <p:nvPr/>
        </p:nvSpPr>
        <p:spPr>
          <a:xfrm>
            <a:off x="7308358" y="2983826"/>
            <a:ext cx="900000" cy="180000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100" dirty="0"/>
              <a:t>사용자 교육</a:t>
            </a:r>
          </a:p>
        </p:txBody>
      </p:sp>
      <p:sp>
        <p:nvSpPr>
          <p:cNvPr id="85" name="AutoShape 1272"/>
          <p:cNvSpPr>
            <a:spLocks noChangeArrowheads="1"/>
          </p:cNvSpPr>
          <p:nvPr/>
        </p:nvSpPr>
        <p:spPr bwMode="auto">
          <a:xfrm>
            <a:off x="8324643" y="2528015"/>
            <a:ext cx="129190" cy="93075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6350" algn="ctr">
            <a:solidFill>
              <a:srgbClr val="D03675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rgbClr val="C00000"/>
                </a:solidFill>
                <a:latin typeface="나눔고딕 Bold" pitchFamily="50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rgbClr val="C00000"/>
                </a:solidFill>
                <a:latin typeface="나눔고딕 Bold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rgbClr val="C00000"/>
                </a:solidFill>
                <a:latin typeface="나눔고딕 Bold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rgbClr val="C00000"/>
                </a:solidFill>
                <a:latin typeface="나눔고딕 Bold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rgbClr val="C00000"/>
                </a:solidFill>
                <a:latin typeface="나눔고딕 Bold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1100" kern="1200">
                <a:solidFill>
                  <a:srgbClr val="C00000"/>
                </a:solidFill>
                <a:latin typeface="나눔고딕 Bold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1100" kern="1200">
                <a:solidFill>
                  <a:srgbClr val="C00000"/>
                </a:solidFill>
                <a:latin typeface="나눔고딕 Bold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1100" kern="1200">
                <a:solidFill>
                  <a:srgbClr val="C00000"/>
                </a:solidFill>
                <a:latin typeface="나눔고딕 Bold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1100" kern="1200">
                <a:solidFill>
                  <a:srgbClr val="C00000"/>
                </a:solidFill>
                <a:latin typeface="나눔고딕 Bold" pitchFamily="50" charset="-127"/>
                <a:ea typeface="굴림" charset="-127"/>
                <a:cs typeface="+mn-cs"/>
              </a:defRPr>
            </a:lvl9pPr>
          </a:lstStyle>
          <a:p>
            <a:endParaRPr lang="ko-KR" altLang="en-US" sz="1050" dirty="0">
              <a:solidFill>
                <a:srgbClr val="000000"/>
              </a:solidFill>
              <a:latin typeface="CJ ONLYONE Medium" panose="02020603020101020101" pitchFamily="18" charset="-127"/>
              <a:ea typeface="CJ ONLYONE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6114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범위 및 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테스트 일정</a:t>
            </a:r>
            <a:endParaRPr lang="en-US" altLang="ko-KR" dirty="0"/>
          </a:p>
          <a:p>
            <a:pPr lvl="1"/>
            <a:r>
              <a:rPr lang="ko-KR" altLang="en-US" dirty="0"/>
              <a:t>테스트 활동 별로 시작일</a:t>
            </a:r>
            <a:r>
              <a:rPr lang="en-US" altLang="ko-KR" dirty="0"/>
              <a:t>/</a:t>
            </a:r>
            <a:r>
              <a:rPr lang="ko-KR" altLang="en-US" dirty="0"/>
              <a:t>종료일 및 담당자를 기술한다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9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913273"/>
              </p:ext>
            </p:extLst>
          </p:nvPr>
        </p:nvGraphicFramePr>
        <p:xfrm>
          <a:off x="755576" y="1556793"/>
          <a:ext cx="7776865" cy="2540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40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시작일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단위테스트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YYYY/MM/DD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YYYY/MM/DD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659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659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659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392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조직 및 역할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테스트 수행 조직 구성</a:t>
            </a:r>
            <a:endParaRPr lang="en-US" altLang="ko-KR" dirty="0"/>
          </a:p>
          <a:p>
            <a:pPr lvl="1"/>
            <a:r>
              <a:rPr lang="ko-KR" altLang="en-US" dirty="0"/>
              <a:t>테스트의 종류에 따라 기능테스트는 개발자</a:t>
            </a:r>
            <a:r>
              <a:rPr lang="en-US" altLang="ko-KR" dirty="0"/>
              <a:t>, PL, BPO, </a:t>
            </a:r>
            <a:r>
              <a:rPr lang="ko-KR" altLang="en-US" dirty="0"/>
              <a:t>단위</a:t>
            </a:r>
            <a:r>
              <a:rPr lang="en-US" altLang="ko-KR" dirty="0"/>
              <a:t>/</a:t>
            </a:r>
            <a:r>
              <a:rPr lang="ko-KR" altLang="en-US" dirty="0"/>
              <a:t>통합 테스트는</a:t>
            </a:r>
            <a:r>
              <a:rPr lang="en-US" altLang="ko-KR" dirty="0"/>
              <a:t> PL, BPO, </a:t>
            </a:r>
            <a:r>
              <a:rPr lang="ko-KR" altLang="en-US" dirty="0"/>
              <a:t>현업에서 참여하게 되며</a:t>
            </a:r>
            <a:r>
              <a:rPr lang="en-US" altLang="ko-KR" dirty="0"/>
              <a:t>, </a:t>
            </a:r>
            <a:r>
              <a:rPr lang="ko-KR" altLang="en-US" dirty="0"/>
              <a:t>시스템 테스트 시 개발팀 외 장비 및 </a:t>
            </a:r>
            <a:r>
              <a:rPr lang="en-US" altLang="ko-KR" dirty="0"/>
              <a:t>SW </a:t>
            </a:r>
            <a:r>
              <a:rPr lang="ko-KR" altLang="en-US" dirty="0"/>
              <a:t>공급업체까지 전체가 참여하게 됨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10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sp>
        <p:nvSpPr>
          <p:cNvPr id="23" name="AutoShape 124"/>
          <p:cNvSpPr>
            <a:spLocks noChangeArrowheads="1"/>
          </p:cNvSpPr>
          <p:nvPr/>
        </p:nvSpPr>
        <p:spPr bwMode="auto">
          <a:xfrm>
            <a:off x="1653604" y="2615676"/>
            <a:ext cx="5791200" cy="3240955"/>
          </a:xfrm>
          <a:prstGeom prst="diamond">
            <a:avLst/>
          </a:prstGeom>
          <a:gradFill rotWithShape="0">
            <a:gsLst>
              <a:gs pos="0">
                <a:schemeClr val="bg1">
                  <a:lumMod val="95000"/>
                </a:schemeClr>
              </a:gs>
              <a:gs pos="5000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Line 125"/>
          <p:cNvSpPr>
            <a:spLocks noChangeShapeType="1"/>
          </p:cNvSpPr>
          <p:nvPr/>
        </p:nvSpPr>
        <p:spPr bwMode="auto">
          <a:xfrm>
            <a:off x="4549204" y="2591123"/>
            <a:ext cx="0" cy="32409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Line 126"/>
          <p:cNvSpPr>
            <a:spLocks noChangeShapeType="1"/>
          </p:cNvSpPr>
          <p:nvPr/>
        </p:nvSpPr>
        <p:spPr bwMode="auto">
          <a:xfrm>
            <a:off x="1653604" y="4236153"/>
            <a:ext cx="579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AutoShape 127"/>
          <p:cNvSpPr>
            <a:spLocks noChangeArrowheads="1"/>
          </p:cNvSpPr>
          <p:nvPr/>
        </p:nvSpPr>
        <p:spPr bwMode="auto">
          <a:xfrm>
            <a:off x="3282379" y="2307231"/>
            <a:ext cx="2548800" cy="1080000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107763" dir="13500000" sx="75000" sy="75000" algn="tl" rotWithShape="0">
              <a:srgbClr val="808080">
                <a:alpha val="50000"/>
              </a:srgbClr>
            </a:outerShdw>
          </a:effectLst>
        </p:spPr>
        <p:txBody>
          <a:bodyPr rot="10800000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AutoShape 128"/>
          <p:cNvSpPr>
            <a:spLocks noChangeArrowheads="1"/>
          </p:cNvSpPr>
          <p:nvPr/>
        </p:nvSpPr>
        <p:spPr bwMode="auto">
          <a:xfrm>
            <a:off x="3282379" y="5159948"/>
            <a:ext cx="2548800" cy="1080000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107763" dir="13500000" sx="75000" sy="75000" algn="tl" rotWithShape="0">
              <a:srgbClr val="808080">
                <a:alpha val="50000"/>
              </a:srgbClr>
            </a:outerShdw>
          </a:effectLst>
        </p:spPr>
        <p:txBody>
          <a:bodyPr rot="10800000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AutoShape 129"/>
          <p:cNvSpPr>
            <a:spLocks noChangeArrowheads="1"/>
          </p:cNvSpPr>
          <p:nvPr/>
        </p:nvSpPr>
        <p:spPr bwMode="auto">
          <a:xfrm>
            <a:off x="6365304" y="3630008"/>
            <a:ext cx="2548800" cy="1080000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107763" dir="13500000" sx="75000" sy="75000" algn="tl" rotWithShape="0">
              <a:srgbClr val="808080">
                <a:alpha val="50000"/>
              </a:srgbClr>
            </a:outerShdw>
          </a:effectLst>
        </p:spPr>
        <p:txBody>
          <a:bodyPr rot="10800000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AutoShape 130"/>
          <p:cNvSpPr>
            <a:spLocks noChangeArrowheads="1"/>
          </p:cNvSpPr>
          <p:nvPr/>
        </p:nvSpPr>
        <p:spPr bwMode="auto">
          <a:xfrm>
            <a:off x="363760" y="3630008"/>
            <a:ext cx="2548800" cy="1080000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107763" dir="13500000" sx="75000" sy="75000" algn="tl" rotWithShape="0">
              <a:srgbClr val="808080">
                <a:alpha val="50000"/>
              </a:srgbClr>
            </a:outerShdw>
          </a:effectLst>
        </p:spPr>
        <p:txBody>
          <a:bodyPr rot="10800000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 Box 122"/>
          <p:cNvSpPr txBox="1">
            <a:spLocks noChangeArrowheads="1"/>
          </p:cNvSpPr>
          <p:nvPr/>
        </p:nvSpPr>
        <p:spPr bwMode="auto">
          <a:xfrm>
            <a:off x="4103300" y="2307232"/>
            <a:ext cx="91403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latinLnBrk="0" hangingPunct="0"/>
            <a:r>
              <a:rPr kumimoji="0"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BPO </a:t>
            </a:r>
            <a:r>
              <a:rPr kumimoji="0"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그룹 </a:t>
            </a:r>
          </a:p>
        </p:txBody>
      </p:sp>
      <p:sp>
        <p:nvSpPr>
          <p:cNvPr id="32" name="Text Box 121"/>
          <p:cNvSpPr txBox="1">
            <a:spLocks noChangeArrowheads="1"/>
          </p:cNvSpPr>
          <p:nvPr/>
        </p:nvSpPr>
        <p:spPr bwMode="auto">
          <a:xfrm>
            <a:off x="4213869" y="5161482"/>
            <a:ext cx="70083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latinLnBrk="0" hangingPunct="0"/>
            <a:r>
              <a:rPr kumimoji="0"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개발팀 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 Box 122"/>
          <p:cNvSpPr txBox="1">
            <a:spLocks noChangeArrowheads="1"/>
          </p:cNvSpPr>
          <p:nvPr/>
        </p:nvSpPr>
        <p:spPr bwMode="auto">
          <a:xfrm>
            <a:off x="904887" y="3630008"/>
            <a:ext cx="143552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latinLnBrk="0" hangingPunct="0"/>
            <a:r>
              <a:rPr kumimoji="0"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Power User </a:t>
            </a:r>
            <a:r>
              <a:rPr kumimoji="0"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그룹 </a:t>
            </a:r>
          </a:p>
        </p:txBody>
      </p:sp>
      <p:sp>
        <p:nvSpPr>
          <p:cNvPr id="34" name="Text Box 123"/>
          <p:cNvSpPr txBox="1">
            <a:spLocks noChangeArrowheads="1"/>
          </p:cNvSpPr>
          <p:nvPr/>
        </p:nvSpPr>
        <p:spPr bwMode="auto">
          <a:xfrm>
            <a:off x="6827847" y="3630008"/>
            <a:ext cx="16237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latinLnBrk="0" hangingPunct="0"/>
            <a:r>
              <a:rPr kumimoji="0"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 </a:t>
            </a:r>
            <a:r>
              <a:rPr kumimoji="0"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kumimoji="0"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HW/SW </a:t>
            </a:r>
            <a:r>
              <a:rPr kumimoji="0"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업체 </a:t>
            </a:r>
          </a:p>
        </p:txBody>
      </p:sp>
      <p:sp>
        <p:nvSpPr>
          <p:cNvPr id="35" name="AutoShape 138"/>
          <p:cNvSpPr>
            <a:spLocks noChangeArrowheads="1"/>
          </p:cNvSpPr>
          <p:nvPr/>
        </p:nvSpPr>
        <p:spPr bwMode="auto">
          <a:xfrm>
            <a:off x="3386779" y="2551225"/>
            <a:ext cx="2340000" cy="730800"/>
          </a:xfrm>
          <a:prstGeom prst="flowChartTerminator">
            <a:avLst/>
          </a:prstGeom>
          <a:solidFill>
            <a:schemeClr val="bg1">
              <a:alpha val="5294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18000" tIns="10800" rIns="18000" bIns="10800"/>
          <a:lstStyle/>
          <a:p>
            <a:pPr>
              <a:lnSpc>
                <a:spcPct val="110000"/>
              </a:lnSpc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AutoShape 139"/>
          <p:cNvSpPr>
            <a:spLocks noChangeArrowheads="1"/>
          </p:cNvSpPr>
          <p:nvPr/>
        </p:nvSpPr>
        <p:spPr bwMode="auto">
          <a:xfrm>
            <a:off x="468160" y="3943055"/>
            <a:ext cx="2340000" cy="730800"/>
          </a:xfrm>
          <a:prstGeom prst="flowChartTerminator">
            <a:avLst/>
          </a:prstGeom>
          <a:solidFill>
            <a:schemeClr val="bg1">
              <a:alpha val="5294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18000" tIns="10800" rIns="18000" bIns="10800" anchor="ctr"/>
          <a:lstStyle/>
          <a:p>
            <a:pPr>
              <a:lnSpc>
                <a:spcPct val="110000"/>
              </a:lnSpc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AutoShape 140"/>
          <p:cNvSpPr>
            <a:spLocks noChangeArrowheads="1"/>
          </p:cNvSpPr>
          <p:nvPr/>
        </p:nvSpPr>
        <p:spPr bwMode="auto">
          <a:xfrm>
            <a:off x="6469704" y="3943055"/>
            <a:ext cx="2340000" cy="730800"/>
          </a:xfrm>
          <a:prstGeom prst="flowChartTerminator">
            <a:avLst/>
          </a:prstGeom>
          <a:solidFill>
            <a:schemeClr val="bg1">
              <a:alpha val="5294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18000" tIns="10800" rIns="18000" bIns="10800"/>
          <a:lstStyle/>
          <a:p>
            <a:pPr>
              <a:lnSpc>
                <a:spcPct val="110000"/>
              </a:lnSpc>
            </a:pP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10000"/>
              </a:lnSpc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AutoShape 141"/>
          <p:cNvSpPr>
            <a:spLocks noChangeArrowheads="1"/>
          </p:cNvSpPr>
          <p:nvPr/>
        </p:nvSpPr>
        <p:spPr bwMode="auto">
          <a:xfrm>
            <a:off x="3386779" y="5403940"/>
            <a:ext cx="2340000" cy="730800"/>
          </a:xfrm>
          <a:prstGeom prst="flowChartTerminator">
            <a:avLst/>
          </a:prstGeom>
          <a:solidFill>
            <a:schemeClr val="bg1">
              <a:alpha val="5294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lIns="18000" tIns="0" rIns="18000" bIns="10800"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 Box 182"/>
          <p:cNvSpPr txBox="1">
            <a:spLocks noChangeArrowheads="1"/>
          </p:cNvSpPr>
          <p:nvPr/>
        </p:nvSpPr>
        <p:spPr bwMode="auto">
          <a:xfrm>
            <a:off x="3476779" y="5411613"/>
            <a:ext cx="2160000" cy="837152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98425" indent="-98425">
              <a:lnSpc>
                <a:spcPct val="110000"/>
              </a:lnSpc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시험 계획서 작성</a:t>
            </a:r>
          </a:p>
          <a:p>
            <a:pPr marL="98425" indent="-98425">
              <a:lnSpc>
                <a:spcPct val="110000"/>
              </a:lnSpc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교육 지원</a:t>
            </a:r>
          </a:p>
          <a:p>
            <a:pPr marL="98425" indent="-98425">
              <a:lnSpc>
                <a:spcPct val="110000"/>
              </a:lnSpc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시험 시행 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BPO,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협업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지원</a:t>
            </a:r>
          </a:p>
          <a:p>
            <a:pPr marL="98425" indent="-98425">
              <a:lnSpc>
                <a:spcPct val="110000"/>
              </a:lnSpc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시험 결과서 작성 </a:t>
            </a:r>
          </a:p>
        </p:txBody>
      </p:sp>
      <p:sp>
        <p:nvSpPr>
          <p:cNvPr id="40" name="Text Box 183"/>
          <p:cNvSpPr txBox="1">
            <a:spLocks noChangeArrowheads="1"/>
          </p:cNvSpPr>
          <p:nvPr/>
        </p:nvSpPr>
        <p:spPr bwMode="auto">
          <a:xfrm>
            <a:off x="6559704" y="3947659"/>
            <a:ext cx="2160000" cy="756000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marL="98425" indent="-98425">
              <a:lnSpc>
                <a:spcPct val="130000"/>
              </a:lnSpc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시험 기술 지원</a:t>
            </a:r>
          </a:p>
          <a:p>
            <a:pPr marL="98425" indent="-98425">
              <a:lnSpc>
                <a:spcPct val="130000"/>
              </a:lnSpc>
              <a:buFontTx/>
              <a:buChar char="•"/>
            </a:pP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HW/SW 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성능 점검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조치</a:t>
            </a:r>
          </a:p>
          <a:p>
            <a:pPr marL="98425" indent="-98425">
              <a:lnSpc>
                <a:spcPct val="130000"/>
              </a:lnSpc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시험결과서 작성 </a:t>
            </a:r>
          </a:p>
        </p:txBody>
      </p:sp>
      <p:sp>
        <p:nvSpPr>
          <p:cNvPr id="41" name="Text Box 184"/>
          <p:cNvSpPr txBox="1">
            <a:spLocks noChangeArrowheads="1"/>
          </p:cNvSpPr>
          <p:nvPr/>
        </p:nvSpPr>
        <p:spPr bwMode="auto">
          <a:xfrm>
            <a:off x="3476779" y="2543552"/>
            <a:ext cx="2160000" cy="769441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98425" indent="-98425"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비즈니스 </a:t>
            </a:r>
            <a:r>
              <a:rPr lang="ko-KR" altLang="en-US" sz="11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로직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검증</a:t>
            </a:r>
          </a:p>
          <a:p>
            <a:pPr marL="98425" indent="-98425"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시험 참여 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오류 검증</a:t>
            </a:r>
          </a:p>
          <a:p>
            <a:pPr marL="98425" indent="-98425"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시험 결과 확인</a:t>
            </a:r>
          </a:p>
          <a:p>
            <a:pPr marL="98425" indent="-98425"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교육</a:t>
            </a:r>
          </a:p>
        </p:txBody>
      </p:sp>
      <p:sp>
        <p:nvSpPr>
          <p:cNvPr id="42" name="Text Box 185"/>
          <p:cNvSpPr txBox="1">
            <a:spLocks noChangeArrowheads="1"/>
          </p:cNvSpPr>
          <p:nvPr/>
        </p:nvSpPr>
        <p:spPr bwMode="auto">
          <a:xfrm>
            <a:off x="558160" y="3934219"/>
            <a:ext cx="2160000" cy="769441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marL="98425" indent="-98425"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교육 준비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시행</a:t>
            </a:r>
          </a:p>
          <a:p>
            <a:pPr marL="98425" indent="-98425"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현장 테스트 관리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지원</a:t>
            </a:r>
          </a:p>
          <a:p>
            <a:pPr marL="98425" indent="-98425"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시험 결과 취합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전달</a:t>
            </a:r>
          </a:p>
          <a:p>
            <a:pPr marL="98425" indent="-98425"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조치 결과 확인</a:t>
            </a:r>
          </a:p>
        </p:txBody>
      </p:sp>
      <p:sp>
        <p:nvSpPr>
          <p:cNvPr id="44" name="AutoShape 199"/>
          <p:cNvSpPr>
            <a:spLocks noChangeArrowheads="1"/>
          </p:cNvSpPr>
          <p:nvPr/>
        </p:nvSpPr>
        <p:spPr bwMode="auto">
          <a:xfrm rot="18474690">
            <a:off x="6133401" y="4378554"/>
            <a:ext cx="360618" cy="1490663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chemeClr val="bg1">
                  <a:lumMod val="50000"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AutoShape 186"/>
          <p:cNvSpPr>
            <a:spLocks noChangeArrowheads="1"/>
          </p:cNvSpPr>
          <p:nvPr/>
        </p:nvSpPr>
        <p:spPr bwMode="auto">
          <a:xfrm>
            <a:off x="6365304" y="5126188"/>
            <a:ext cx="2548800" cy="108000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107763" dir="13500000" sx="75000" sy="75000" algn="tl" rotWithShape="0">
              <a:srgbClr val="808080">
                <a:alpha val="50000"/>
              </a:srgbClr>
            </a:outerShdw>
          </a:effectLst>
        </p:spPr>
        <p:txBody>
          <a:bodyPr rot="10800000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 Box 123"/>
          <p:cNvSpPr txBox="1">
            <a:spLocks noChangeArrowheads="1"/>
          </p:cNvSpPr>
          <p:nvPr/>
        </p:nvSpPr>
        <p:spPr bwMode="auto">
          <a:xfrm>
            <a:off x="7135401" y="5126188"/>
            <a:ext cx="100861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latinLnBrk="0" hangingPunct="0"/>
            <a:r>
              <a:rPr kumimoji="0" lang="ko-KR" altLang="en-US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품질혁신팀</a:t>
            </a:r>
            <a:r>
              <a:rPr kumimoji="0"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47" name="AutoShape 188"/>
          <p:cNvSpPr>
            <a:spLocks noChangeArrowheads="1"/>
          </p:cNvSpPr>
          <p:nvPr/>
        </p:nvSpPr>
        <p:spPr bwMode="auto">
          <a:xfrm>
            <a:off x="6469704" y="5439235"/>
            <a:ext cx="2340000" cy="730800"/>
          </a:xfrm>
          <a:prstGeom prst="flowChartTerminator">
            <a:avLst/>
          </a:prstGeom>
          <a:solidFill>
            <a:schemeClr val="bg1">
              <a:alpha val="5294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18000" tIns="10800" rIns="18000" bIns="10800"/>
          <a:lstStyle/>
          <a:p>
            <a:pPr>
              <a:lnSpc>
                <a:spcPct val="110000"/>
              </a:lnSpc>
            </a:pP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10000"/>
              </a:lnSpc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 Box 190"/>
          <p:cNvSpPr txBox="1">
            <a:spLocks noChangeArrowheads="1"/>
          </p:cNvSpPr>
          <p:nvPr/>
        </p:nvSpPr>
        <p:spPr bwMode="auto">
          <a:xfrm>
            <a:off x="6559704" y="5439235"/>
            <a:ext cx="2160000" cy="701731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98425" indent="-98425">
              <a:lnSpc>
                <a:spcPct val="120000"/>
              </a:lnSpc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품질보증 활동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8425" indent="-98425">
              <a:lnSpc>
                <a:spcPct val="120000"/>
              </a:lnSpc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 수행 가이드</a:t>
            </a:r>
          </a:p>
          <a:p>
            <a:pPr marL="98425" indent="-98425">
              <a:lnSpc>
                <a:spcPct val="120000"/>
              </a:lnSpc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품질보증 결과 작성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보고</a:t>
            </a:r>
          </a:p>
        </p:txBody>
      </p:sp>
      <p:sp>
        <p:nvSpPr>
          <p:cNvPr id="49" name="AutoShape 131"/>
          <p:cNvSpPr>
            <a:spLocks noChangeArrowheads="1"/>
          </p:cNvSpPr>
          <p:nvPr/>
        </p:nvSpPr>
        <p:spPr bwMode="auto">
          <a:xfrm>
            <a:off x="3282379" y="3630007"/>
            <a:ext cx="2548800" cy="1080000"/>
          </a:xfrm>
          <a:prstGeom prst="flowChartTerminator">
            <a:avLst/>
          </a:prstGeom>
          <a:solidFill>
            <a:schemeClr val="bg1">
              <a:lumMod val="50000"/>
            </a:schemeClr>
          </a:solidFill>
          <a:ln w="15875" algn="ctr">
            <a:noFill/>
            <a:miter lim="800000"/>
            <a:headEnd/>
            <a:tailEnd/>
          </a:ln>
          <a:effectLst>
            <a:outerShdw dist="107763" dir="13500000" algn="ctr" rotWithShape="0">
              <a:srgbClr val="808080">
                <a:alpha val="50000"/>
              </a:srgbClr>
            </a:outerShdw>
          </a:effectLst>
        </p:spPr>
        <p:txBody>
          <a:bodyPr rot="10800000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Rectangle 118"/>
          <p:cNvSpPr>
            <a:spLocks noChangeArrowheads="1"/>
          </p:cNvSpPr>
          <p:nvPr/>
        </p:nvSpPr>
        <p:spPr bwMode="auto">
          <a:xfrm>
            <a:off x="4084550" y="3648423"/>
            <a:ext cx="884859" cy="308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eaLnBrk="0" latinLnBrk="0" hangingPunct="0"/>
            <a:r>
              <a:rPr lang="en-US" altLang="ko-KR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PM </a:t>
            </a:r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그룹</a:t>
            </a:r>
          </a:p>
        </p:txBody>
      </p:sp>
      <p:sp>
        <p:nvSpPr>
          <p:cNvPr id="51" name="AutoShape 142"/>
          <p:cNvSpPr>
            <a:spLocks noChangeArrowheads="1"/>
          </p:cNvSpPr>
          <p:nvPr/>
        </p:nvSpPr>
        <p:spPr bwMode="auto">
          <a:xfrm>
            <a:off x="3386779" y="3907761"/>
            <a:ext cx="2340000" cy="730800"/>
          </a:xfrm>
          <a:prstGeom prst="flowChartTerminator">
            <a:avLst/>
          </a:prstGeom>
          <a:solidFill>
            <a:schemeClr val="bg1">
              <a:lumMod val="7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126000" tIns="0" rIns="18000" bIns="10800"/>
          <a:lstStyle/>
          <a:p>
            <a:pPr>
              <a:lnSpc>
                <a:spcPct val="110000"/>
              </a:lnSpc>
            </a:pPr>
            <a:endParaRPr lang="ko-KR" altLang="en-US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AutoShape 209"/>
          <p:cNvSpPr>
            <a:spLocks noChangeArrowheads="1"/>
          </p:cNvSpPr>
          <p:nvPr/>
        </p:nvSpPr>
        <p:spPr bwMode="auto">
          <a:xfrm>
            <a:off x="3476779" y="3947659"/>
            <a:ext cx="2160000" cy="756000"/>
          </a:xfrm>
          <a:prstGeom prst="flowChartTerminator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18000" bIns="10800" anchor="ctr"/>
          <a:lstStyle/>
          <a:p>
            <a:pPr>
              <a:lnSpc>
                <a:spcPct val="120000"/>
              </a:lnSpc>
              <a:buFontTx/>
              <a:buChar char="•"/>
            </a:pP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교육 계획 수립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교육 장소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교육 환경 준비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교육 교재 준비 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교육 지원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AutoShape 199"/>
          <p:cNvSpPr>
            <a:spLocks noChangeArrowheads="1"/>
          </p:cNvSpPr>
          <p:nvPr/>
        </p:nvSpPr>
        <p:spPr bwMode="auto">
          <a:xfrm rot="2826057">
            <a:off x="2685351" y="4350933"/>
            <a:ext cx="360618" cy="1490663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chemeClr val="bg1">
                  <a:lumMod val="50000"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AutoShape 186"/>
          <p:cNvSpPr>
            <a:spLocks noChangeArrowheads="1"/>
          </p:cNvSpPr>
          <p:nvPr/>
        </p:nvSpPr>
        <p:spPr bwMode="auto">
          <a:xfrm>
            <a:off x="363760" y="5098566"/>
            <a:ext cx="2548800" cy="108000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107763" dir="13500000" sx="75000" sy="75000" algn="tl" rotWithShape="0">
              <a:srgbClr val="808080">
                <a:alpha val="50000"/>
              </a:srgbClr>
            </a:outerShdw>
          </a:effectLst>
        </p:spPr>
        <p:txBody>
          <a:bodyPr rot="10800000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 Box 123"/>
          <p:cNvSpPr txBox="1">
            <a:spLocks noChangeArrowheads="1"/>
          </p:cNvSpPr>
          <p:nvPr/>
        </p:nvSpPr>
        <p:spPr bwMode="auto">
          <a:xfrm>
            <a:off x="1372508" y="5098566"/>
            <a:ext cx="64633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latinLnBrk="0" hangingPunct="0"/>
            <a:r>
              <a:rPr kumimoji="0" lang="ko-KR" altLang="en-US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운영팀</a:t>
            </a:r>
            <a:endParaRPr kumimoji="0"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AutoShape 188"/>
          <p:cNvSpPr>
            <a:spLocks noChangeArrowheads="1"/>
          </p:cNvSpPr>
          <p:nvPr/>
        </p:nvSpPr>
        <p:spPr bwMode="auto">
          <a:xfrm>
            <a:off x="468160" y="5411613"/>
            <a:ext cx="2340000" cy="730800"/>
          </a:xfrm>
          <a:prstGeom prst="flowChartTerminator">
            <a:avLst/>
          </a:prstGeom>
          <a:solidFill>
            <a:schemeClr val="bg1">
              <a:alpha val="5294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18000" tIns="10800" rIns="18000" bIns="10800"/>
          <a:lstStyle/>
          <a:p>
            <a:pPr>
              <a:lnSpc>
                <a:spcPct val="110000"/>
              </a:lnSpc>
            </a:pP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10000"/>
              </a:lnSpc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Text Box 190"/>
          <p:cNvSpPr txBox="1">
            <a:spLocks noChangeArrowheads="1"/>
          </p:cNvSpPr>
          <p:nvPr/>
        </p:nvSpPr>
        <p:spPr bwMode="auto">
          <a:xfrm>
            <a:off x="558160" y="5414681"/>
            <a:ext cx="2160000" cy="701731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98425" indent="-98425">
              <a:lnSpc>
                <a:spcPct val="120000"/>
              </a:lnSpc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지원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 참여 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8425" indent="-98425">
              <a:lnSpc>
                <a:spcPct val="120000"/>
              </a:lnSpc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 시나리오 검토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8425" indent="-98425">
              <a:lnSpc>
                <a:spcPct val="120000"/>
              </a:lnSpc>
              <a:buFontTx/>
              <a:buChar char="•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 장비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환경준비 지원</a:t>
            </a:r>
          </a:p>
        </p:txBody>
      </p:sp>
      <p:sp>
        <p:nvSpPr>
          <p:cNvPr id="58" name="TextBox 48"/>
          <p:cNvSpPr txBox="1">
            <a:spLocks noChangeArrowheads="1"/>
          </p:cNvSpPr>
          <p:nvPr/>
        </p:nvSpPr>
        <p:spPr bwMode="auto">
          <a:xfrm>
            <a:off x="434404" y="4746166"/>
            <a:ext cx="136447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 수행 지원</a:t>
            </a:r>
          </a:p>
        </p:txBody>
      </p:sp>
      <p:sp>
        <p:nvSpPr>
          <p:cNvPr id="59" name="TextBox 50"/>
          <p:cNvSpPr txBox="1">
            <a:spLocks noChangeArrowheads="1"/>
          </p:cNvSpPr>
          <p:nvPr/>
        </p:nvSpPr>
        <p:spPr bwMode="auto">
          <a:xfrm>
            <a:off x="434404" y="3284984"/>
            <a:ext cx="178766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단위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통합 테스트 참여</a:t>
            </a:r>
          </a:p>
        </p:txBody>
      </p:sp>
      <p:sp>
        <p:nvSpPr>
          <p:cNvPr id="60" name="TextBox 51"/>
          <p:cNvSpPr txBox="1">
            <a:spLocks noChangeArrowheads="1"/>
          </p:cNvSpPr>
          <p:nvPr/>
        </p:nvSpPr>
        <p:spPr bwMode="auto">
          <a:xfrm>
            <a:off x="7152704" y="3284984"/>
            <a:ext cx="194155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성능 테스트 참여</a:t>
            </a:r>
          </a:p>
        </p:txBody>
      </p:sp>
      <p:sp>
        <p:nvSpPr>
          <p:cNvPr id="61" name="TextBox 52"/>
          <p:cNvSpPr txBox="1">
            <a:spLocks noChangeArrowheads="1"/>
          </p:cNvSpPr>
          <p:nvPr/>
        </p:nvSpPr>
        <p:spPr bwMode="auto">
          <a:xfrm>
            <a:off x="7736904" y="4797152"/>
            <a:ext cx="136447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 수행 지원</a:t>
            </a:r>
          </a:p>
        </p:txBody>
      </p:sp>
    </p:spTree>
    <p:extLst>
      <p:ext uri="{BB962C8B-B14F-4D97-AF65-F5344CB8AC3E}">
        <p14:creationId xmlns:p14="http://schemas.microsoft.com/office/powerpoint/2010/main" val="1353769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조직 및 역할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책임 및 역할</a:t>
            </a:r>
            <a:endParaRPr lang="en-US" altLang="ko-KR" dirty="0"/>
          </a:p>
          <a:p>
            <a:pPr lvl="1"/>
            <a:r>
              <a:rPr lang="ko-KR" altLang="en-US" dirty="0"/>
              <a:t>각 역할 별로 책임 및 담당자를 기술한다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395313"/>
              </p:ext>
            </p:extLst>
          </p:nvPr>
        </p:nvGraphicFramePr>
        <p:xfrm>
          <a:off x="755576" y="1556793"/>
          <a:ext cx="7776865" cy="41962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40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전단계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관리자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계획수립</a:t>
                      </a:r>
                      <a:endParaRPr lang="en-US" altLang="ko-KR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시나리오 작성 가이드 제공</a:t>
                      </a:r>
                      <a:endParaRPr lang="en-US" altLang="ko-KR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시나리오 검증</a:t>
                      </a:r>
                      <a:endParaRPr lang="en-US" altLang="ko-KR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관리도구 적용</a:t>
                      </a:r>
                      <a:endParaRPr lang="en-US" altLang="ko-KR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기법 교육</a:t>
                      </a:r>
                      <a:endParaRPr lang="en-US" altLang="ko-KR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진척관리</a:t>
                      </a:r>
                      <a:endParaRPr lang="en-US" altLang="ko-KR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결함관리</a:t>
                      </a:r>
                      <a:endParaRPr lang="en-US" altLang="ko-KR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빈발 결함 분석 및 피드백</a:t>
                      </a:r>
                      <a:endParaRPr lang="en-US" altLang="ko-KR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결과 분석 및 보고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65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전단계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설계자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테스트 시나리오 작성</a:t>
                      </a:r>
                    </a:p>
                    <a:p>
                      <a:pPr marL="0" algn="l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단위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통합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시스템 테스트 수행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업무 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65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전단계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 </a:t>
                      </a:r>
                      <a:r>
                        <a:rPr lang="ko-KR" altLang="en-US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아키텍쳐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테스트 환경 구축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(Daily Build 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환경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ko-KR" sz="14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시스템 테스트 수행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65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전단계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코딩 및 단위 테스트</a:t>
                      </a:r>
                    </a:p>
                    <a:p>
                      <a:pPr marL="0" algn="l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단위 </a:t>
                      </a:r>
                      <a:r>
                        <a:rPr lang="ko-KR" altLang="ko-KR" sz="1400" kern="120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빌드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수행</a:t>
                      </a:r>
                    </a:p>
                    <a:p>
                      <a:pPr marL="0" algn="l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단위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통합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ko-KR" sz="1400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시스템 테스트 수행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11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375359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조직 및 역할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테스트 수행 조직</a:t>
            </a:r>
            <a:endParaRPr lang="en-US" altLang="ko-KR" dirty="0"/>
          </a:p>
          <a:p>
            <a:pPr lvl="1"/>
            <a:r>
              <a:rPr lang="ko-KR" altLang="en-US" dirty="0"/>
              <a:t>테스트 수행 조직을 도표를 이용하여 기술한다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12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sp>
        <p:nvSpPr>
          <p:cNvPr id="5" name="Rectangle 422"/>
          <p:cNvSpPr>
            <a:spLocks noChangeArrowheads="1"/>
          </p:cNvSpPr>
          <p:nvPr/>
        </p:nvSpPr>
        <p:spPr bwMode="auto">
          <a:xfrm>
            <a:off x="3890201" y="1981200"/>
            <a:ext cx="1281171" cy="368300"/>
          </a:xfrm>
          <a:prstGeom prst="rect">
            <a:avLst/>
          </a:prstGeom>
          <a:noFill/>
          <a:ln w="3175" algn="ctr">
            <a:solidFill>
              <a:srgbClr val="B2B2B2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marL="457200" indent="-457200" algn="ctr"/>
            <a:r>
              <a:rPr lang="en-US" altLang="ko-KR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BPO</a:t>
            </a:r>
            <a:r>
              <a:rPr lang="ko-KR" altLang="en-US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관리총괄</a:t>
            </a:r>
            <a:endParaRPr lang="en-US" altLang="ko-KR" sz="14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Rectangle 423"/>
          <p:cNvSpPr>
            <a:spLocks noChangeArrowheads="1"/>
          </p:cNvSpPr>
          <p:nvPr/>
        </p:nvSpPr>
        <p:spPr bwMode="auto">
          <a:xfrm>
            <a:off x="3890201" y="2636838"/>
            <a:ext cx="1281171" cy="358775"/>
          </a:xfrm>
          <a:prstGeom prst="rect">
            <a:avLst/>
          </a:prstGeom>
          <a:noFill/>
          <a:ln w="3175" algn="ctr">
            <a:solidFill>
              <a:srgbClr val="B2B2B2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marL="457200" indent="-457200" algn="ctr"/>
            <a:r>
              <a:rPr lang="ko-KR" altLang="en-US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</a:t>
            </a:r>
            <a:r>
              <a:rPr lang="en-US" altLang="ko-KR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PM</a:t>
            </a:r>
          </a:p>
        </p:txBody>
      </p:sp>
      <p:cxnSp>
        <p:nvCxnSpPr>
          <p:cNvPr id="7" name="AutoShape 427"/>
          <p:cNvCxnSpPr>
            <a:cxnSpLocks noChangeShapeType="1"/>
            <a:stCxn id="5" idx="2"/>
            <a:endCxn id="6" idx="0"/>
          </p:cNvCxnSpPr>
          <p:nvPr/>
        </p:nvCxnSpPr>
        <p:spPr bwMode="auto">
          <a:xfrm>
            <a:off x="4530787" y="2349500"/>
            <a:ext cx="0" cy="287338"/>
          </a:xfrm>
          <a:prstGeom prst="straightConnector1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</p:cxn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51520" y="3068638"/>
            <a:ext cx="2304565" cy="936625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endParaRPr kumimoji="0" lang="ko-KR" altLang="en-US" sz="1400" b="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AutoShape 444"/>
          <p:cNvSpPr>
            <a:spLocks noChangeArrowheads="1"/>
          </p:cNvSpPr>
          <p:nvPr/>
        </p:nvSpPr>
        <p:spPr bwMode="auto">
          <a:xfrm>
            <a:off x="603456" y="2883252"/>
            <a:ext cx="1600692" cy="43585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algn="ctr">
            <a:solidFill>
              <a:srgbClr val="000000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marL="457200" indent="-457200" algn="ctr"/>
            <a:r>
              <a:rPr lang="ko-KR" altLang="en-US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테스트 관리</a:t>
            </a:r>
          </a:p>
        </p:txBody>
      </p:sp>
      <p:sp>
        <p:nvSpPr>
          <p:cNvPr id="11" name="Rectangle 442"/>
          <p:cNvSpPr>
            <a:spLocks noChangeArrowheads="1"/>
          </p:cNvSpPr>
          <p:nvPr/>
        </p:nvSpPr>
        <p:spPr bwMode="auto">
          <a:xfrm>
            <a:off x="329471" y="3321050"/>
            <a:ext cx="2148663" cy="6127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400" u="sng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테스트 관리자</a:t>
            </a:r>
            <a:br>
              <a:rPr lang="ko-KR" altLang="en-US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업무 </a:t>
            </a:r>
            <a:r>
              <a:rPr lang="en-US" altLang="ko-KR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 </a:t>
            </a:r>
            <a:r>
              <a:rPr lang="ko-KR" altLang="en-US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겸임</a:t>
            </a:r>
            <a:r>
              <a:rPr lang="en-US" altLang="ko-KR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6587916" y="3068638"/>
            <a:ext cx="2304564" cy="936625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endParaRPr kumimoji="0" lang="ko-KR" altLang="en-US" sz="1400" b="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Rectangle 424"/>
          <p:cNvSpPr>
            <a:spLocks noChangeArrowheads="1"/>
          </p:cNvSpPr>
          <p:nvPr/>
        </p:nvSpPr>
        <p:spPr bwMode="auto">
          <a:xfrm>
            <a:off x="6665867" y="3349625"/>
            <a:ext cx="2148663" cy="584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/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사업부문 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BPO</a:t>
            </a:r>
            <a:endParaRPr lang="en-US" altLang="ko-KR" sz="14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AutoShape 426"/>
          <p:cNvSpPr>
            <a:spLocks noChangeArrowheads="1"/>
          </p:cNvSpPr>
          <p:nvPr/>
        </p:nvSpPr>
        <p:spPr bwMode="auto">
          <a:xfrm>
            <a:off x="6939852" y="2883252"/>
            <a:ext cx="1600693" cy="43585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algn="ctr">
            <a:solidFill>
              <a:srgbClr val="000000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marL="457200" indent="-457200" algn="ctr"/>
            <a:r>
              <a:rPr lang="ko-KR" altLang="en-US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테스트 평가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2185317" y="5229225"/>
            <a:ext cx="4690939" cy="71913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latinLnBrk="0"/>
            <a:endParaRPr kumimoji="0" lang="ko-KR" altLang="en-US" sz="1400" b="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Rectangle 436"/>
          <p:cNvSpPr>
            <a:spLocks noChangeArrowheads="1"/>
          </p:cNvSpPr>
          <p:nvPr/>
        </p:nvSpPr>
        <p:spPr bwMode="auto">
          <a:xfrm>
            <a:off x="2250070" y="5459413"/>
            <a:ext cx="1251843" cy="39846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/>
            <a:r>
              <a:rPr lang="en-US" altLang="ko-KR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BPO</a:t>
            </a:r>
            <a:endParaRPr lang="ko-KR" altLang="en-US" sz="14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Rectangle 438"/>
          <p:cNvSpPr>
            <a:spLocks noChangeArrowheads="1"/>
          </p:cNvSpPr>
          <p:nvPr/>
        </p:nvSpPr>
        <p:spPr bwMode="auto">
          <a:xfrm>
            <a:off x="4691036" y="5459413"/>
            <a:ext cx="1007957" cy="39846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 algn="ctr"/>
            <a:r>
              <a:rPr lang="ko-KR" altLang="en-US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설계자 </a:t>
            </a:r>
            <a:r>
              <a:rPr lang="en-US" altLang="ko-KR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br>
              <a:rPr lang="ko-KR" altLang="en-US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개발자</a:t>
            </a:r>
          </a:p>
        </p:txBody>
      </p:sp>
      <p:sp>
        <p:nvSpPr>
          <p:cNvPr id="18" name="AutoShape 439"/>
          <p:cNvSpPr>
            <a:spLocks noChangeArrowheads="1"/>
          </p:cNvSpPr>
          <p:nvPr/>
        </p:nvSpPr>
        <p:spPr bwMode="auto">
          <a:xfrm>
            <a:off x="3955803" y="4977164"/>
            <a:ext cx="1149967" cy="43585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algn="ctr">
            <a:solidFill>
              <a:srgbClr val="000000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marL="457200" indent="-457200" algn="ctr"/>
            <a:r>
              <a:rPr lang="ko-KR" altLang="en-US" sz="14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 팀</a:t>
            </a:r>
          </a:p>
        </p:txBody>
      </p:sp>
      <p:sp>
        <p:nvSpPr>
          <p:cNvPr id="19" name="Rectangle 440"/>
          <p:cNvSpPr>
            <a:spLocks noChangeArrowheads="1"/>
          </p:cNvSpPr>
          <p:nvPr/>
        </p:nvSpPr>
        <p:spPr bwMode="auto">
          <a:xfrm>
            <a:off x="5789576" y="5459413"/>
            <a:ext cx="1007958" cy="39846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 marL="457200" indent="-457200" algn="ctr"/>
            <a:r>
              <a:rPr lang="en-US" altLang="ko-KR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</a:t>
            </a:r>
          </a:p>
        </p:txBody>
      </p:sp>
      <p:sp>
        <p:nvSpPr>
          <p:cNvPr id="20" name="Rectangle 441"/>
          <p:cNvSpPr>
            <a:spLocks noChangeArrowheads="1"/>
          </p:cNvSpPr>
          <p:nvPr/>
        </p:nvSpPr>
        <p:spPr bwMode="auto">
          <a:xfrm>
            <a:off x="3592496" y="5459413"/>
            <a:ext cx="1007957" cy="39846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 algn="ctr"/>
            <a:r>
              <a:rPr lang="en-US" altLang="ko-KR" sz="14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IT</a:t>
            </a:r>
            <a:r>
              <a:rPr lang="ko-KR" altLang="en-US" sz="1400" b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운영팀</a:t>
            </a:r>
            <a:endParaRPr lang="ko-KR" altLang="en-US" sz="14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1" name="직선 연결선 50"/>
          <p:cNvCxnSpPr>
            <a:cxnSpLocks noChangeShapeType="1"/>
            <a:stCxn id="9" idx="3"/>
            <a:endCxn id="12" idx="1"/>
          </p:cNvCxnSpPr>
          <p:nvPr/>
        </p:nvCxnSpPr>
        <p:spPr bwMode="auto">
          <a:xfrm>
            <a:off x="2556085" y="3536951"/>
            <a:ext cx="4031831" cy="0"/>
          </a:xfrm>
          <a:prstGeom prst="line">
            <a:avLst/>
          </a:prstGeom>
          <a:noFill/>
          <a:ln w="19050" algn="ctr">
            <a:solidFill>
              <a:srgbClr val="808080"/>
            </a:solidFill>
            <a:round/>
            <a:headEnd/>
            <a:tailEnd/>
          </a:ln>
        </p:spPr>
      </p:cxnSp>
      <p:cxnSp>
        <p:nvCxnSpPr>
          <p:cNvPr id="28" name="직선 연결선 27"/>
          <p:cNvCxnSpPr>
            <a:stCxn id="6" idx="2"/>
            <a:endCxn id="18" idx="0"/>
          </p:cNvCxnSpPr>
          <p:nvPr/>
        </p:nvCxnSpPr>
        <p:spPr>
          <a:xfrm>
            <a:off x="4530787" y="2995613"/>
            <a:ext cx="0" cy="1981551"/>
          </a:xfrm>
          <a:prstGeom prst="lin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</p:cxnSp>
      <p:sp>
        <p:nvSpPr>
          <p:cNvPr id="24" name="직사각형 23"/>
          <p:cNvSpPr/>
          <p:nvPr/>
        </p:nvSpPr>
        <p:spPr>
          <a:xfrm rot="20208410">
            <a:off x="2593883" y="3308350"/>
            <a:ext cx="4298950" cy="6667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</p:spTree>
    <p:extLst>
      <p:ext uri="{BB962C8B-B14F-4D97-AF65-F5344CB8AC3E}">
        <p14:creationId xmlns:p14="http://schemas.microsoft.com/office/powerpoint/2010/main" val="113781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직선 연결선 31"/>
          <p:cNvCxnSpPr>
            <a:stCxn id="23" idx="2"/>
            <a:endCxn id="25" idx="0"/>
          </p:cNvCxnSpPr>
          <p:nvPr/>
        </p:nvCxnSpPr>
        <p:spPr>
          <a:xfrm>
            <a:off x="4540047" y="2102173"/>
            <a:ext cx="0" cy="9667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조직 및 역할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테스트 수행 조직</a:t>
            </a:r>
          </a:p>
          <a:p>
            <a:pPr lvl="1"/>
            <a:r>
              <a:rPr lang="ko-KR" altLang="en-US" dirty="0"/>
              <a:t>테스트 수행 조직을 도표를 이용하여 기술한다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13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2972" y="1578298"/>
            <a:ext cx="1454150" cy="5238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테스트 총괄</a:t>
            </a:r>
            <a:endParaRPr lang="en-US" altLang="ko-KR" sz="1400" dirty="0">
              <a:latin typeface="맑은 고딕" pitchFamily="50" charset="-127"/>
              <a:ea typeface="맑은 고딕" pitchFamily="50" charset="-127"/>
            </a:endParaRPr>
          </a:p>
          <a:p>
            <a:pPr algn="ctr">
              <a:defRPr/>
            </a:pP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OOO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0685" y="2386335"/>
            <a:ext cx="2498725" cy="307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BPO(OOO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님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4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146405"/>
              </p:ext>
            </p:extLst>
          </p:nvPr>
        </p:nvGraphicFramePr>
        <p:xfrm>
          <a:off x="523875" y="3068961"/>
          <a:ext cx="8032344" cy="3204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0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401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대상 업무</a:t>
                      </a: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테스트 참여자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en-US" altLang="ko-KR" sz="12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PU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테스트 참여자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en-US" altLang="ko-KR" sz="12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20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운영팀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개발 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PL</a:t>
                      </a:r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OO</a:t>
                      </a:r>
                      <a:r>
                        <a:rPr lang="ko-KR" altLang="en-US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</a:t>
                      </a: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OO</a:t>
                      </a:r>
                      <a:r>
                        <a:rPr lang="ko-KR" altLang="en-US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</a:t>
                      </a: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OO</a:t>
                      </a:r>
                      <a:r>
                        <a:rPr lang="ko-KR" altLang="en-US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</a:t>
                      </a: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OO</a:t>
                      </a:r>
                      <a:r>
                        <a:rPr lang="ko-KR" altLang="en-US" sz="1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</a:t>
                      </a: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85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JBold" pitchFamily="18" charset="-127"/>
                        </a:rPr>
                        <a:t>기준정보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JBold" pitchFamily="18" charset="-127"/>
                      </a:endParaRPr>
                    </a:p>
                  </a:txBody>
                  <a:tcPr marL="91445" marR="91445"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OO</a:t>
                      </a:r>
                      <a:r>
                        <a:rPr lang="ko-KR" altLang="en-US" sz="1400" dirty="0">
                          <a:latin typeface="맑은 고딕" pitchFamily="50" charset="-127"/>
                          <a:ea typeface="맑은 고딕" pitchFamily="50" charset="-127"/>
                        </a:rPr>
                        <a:t>님</a:t>
                      </a: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itchFamily="50" charset="-127"/>
                          <a:ea typeface="맑은 고딕" pitchFamily="50" charset="-127"/>
                        </a:rPr>
                        <a:t>팀</a:t>
                      </a: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OO</a:t>
                      </a:r>
                      <a:r>
                        <a:rPr lang="ko-KR" altLang="en-US" sz="1400" dirty="0">
                          <a:latin typeface="맑은 고딕" pitchFamily="50" charset="-127"/>
                          <a:ea typeface="맑은 고딕" pitchFamily="50" charset="-127"/>
                        </a:rPr>
                        <a:t>님</a:t>
                      </a: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itchFamily="50" charset="-127"/>
                          <a:ea typeface="맑은 고딕" pitchFamily="50" charset="-127"/>
                        </a:rPr>
                        <a:t>팀</a:t>
                      </a: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91445" marR="91445"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        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4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JBold" pitchFamily="18" charset="-127"/>
                        </a:rPr>
                        <a:t>정산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JBold" pitchFamily="18" charset="-127"/>
                      </a:endParaRPr>
                    </a:p>
                  </a:txBody>
                  <a:tcPr marL="91445" marR="91445"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OO</a:t>
                      </a:r>
                      <a:r>
                        <a:rPr lang="ko-KR" altLang="en-US" sz="1400" dirty="0">
                          <a:latin typeface="맑은 고딕" pitchFamily="50" charset="-127"/>
                          <a:ea typeface="맑은 고딕" pitchFamily="50" charset="-127"/>
                        </a:rPr>
                        <a:t>님</a:t>
                      </a: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itchFamily="50" charset="-127"/>
                          <a:ea typeface="맑은 고딕" pitchFamily="50" charset="-127"/>
                        </a:rPr>
                        <a:t>팀</a:t>
                      </a: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OO</a:t>
                      </a:r>
                      <a:r>
                        <a:rPr lang="ko-KR" altLang="en-US" sz="1400" dirty="0">
                          <a:latin typeface="맑은 고딕" pitchFamily="50" charset="-127"/>
                          <a:ea typeface="맑은 고딕" pitchFamily="50" charset="-127"/>
                        </a:rPr>
                        <a:t>님</a:t>
                      </a: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itchFamily="50" charset="-127"/>
                          <a:ea typeface="맑은 고딕" pitchFamily="50" charset="-127"/>
                        </a:rPr>
                        <a:t>팀</a:t>
                      </a: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91445" marR="91445"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r>
                        <a:rPr lang="en-US" altLang="ko-KR" sz="1400" u="sng" dirty="0">
                          <a:latin typeface="맑은 고딕" pitchFamily="50" charset="-127"/>
                          <a:ea typeface="맑은 고딕" pitchFamily="50" charset="-127"/>
                        </a:rPr>
                        <a:t>         </a:t>
                      </a:r>
                      <a:endParaRPr lang="ko-KR" altLang="en-US" sz="1400" u="sng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           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4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JBold" pitchFamily="18" charset="-127"/>
                        </a:rPr>
                        <a:t>CS</a:t>
                      </a:r>
                    </a:p>
                  </a:txBody>
                  <a:tcPr marL="91445" marR="91445"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OO</a:t>
                      </a:r>
                      <a:r>
                        <a:rPr lang="ko-KR" altLang="en-US" sz="1400" dirty="0">
                          <a:latin typeface="맑은 고딕" pitchFamily="50" charset="-127"/>
                          <a:ea typeface="맑은 고딕" pitchFamily="50" charset="-127"/>
                        </a:rPr>
                        <a:t>님</a:t>
                      </a: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itchFamily="50" charset="-127"/>
                          <a:ea typeface="맑은 고딕" pitchFamily="50" charset="-127"/>
                        </a:rPr>
                        <a:t>팀</a:t>
                      </a: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OO</a:t>
                      </a:r>
                      <a:r>
                        <a:rPr lang="ko-KR" altLang="en-US" sz="1400" dirty="0">
                          <a:latin typeface="맑은 고딕" pitchFamily="50" charset="-127"/>
                          <a:ea typeface="맑은 고딕" pitchFamily="50" charset="-127"/>
                        </a:rPr>
                        <a:t>님</a:t>
                      </a: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itchFamily="50" charset="-127"/>
                          <a:ea typeface="맑은 고딕" pitchFamily="50" charset="-127"/>
                        </a:rPr>
                        <a:t>팀</a:t>
                      </a: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91445" marR="91445"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4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JBold" pitchFamily="18" charset="-127"/>
                      </a:endParaRPr>
                    </a:p>
                  </a:txBody>
                  <a:tcPr marL="91445" marR="91445"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None/>
                      </a:pPr>
                      <a:endParaRPr lang="en-US" altLang="ko-KR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JBold" pitchFamily="18" charset="-127"/>
                      </a:endParaRPr>
                    </a:p>
                  </a:txBody>
                  <a:tcPr marL="91445" marR="91445"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4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JBold" pitchFamily="18" charset="-127"/>
                      </a:endParaRPr>
                    </a:p>
                  </a:txBody>
                  <a:tcPr marL="91445" marR="91445"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None/>
                      </a:pP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JBold" pitchFamily="18" charset="-127"/>
                      </a:endParaRPr>
                    </a:p>
                  </a:txBody>
                  <a:tcPr marL="91445" marR="91445"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85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JBold" pitchFamily="18" charset="-127"/>
                      </a:endParaRPr>
                    </a:p>
                  </a:txBody>
                  <a:tcPr marL="91445" marR="91445"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None/>
                      </a:pPr>
                      <a:endParaRPr lang="en-US" altLang="ko-KR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JBold" pitchFamily="18" charset="-127"/>
                      </a:endParaRPr>
                    </a:p>
                  </a:txBody>
                  <a:tcPr marL="91445" marR="91445"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4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JBold" pitchFamily="18" charset="-127"/>
                      </a:endParaRPr>
                    </a:p>
                  </a:txBody>
                  <a:tcPr marL="91445" marR="91445"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None/>
                      </a:pPr>
                      <a:endParaRPr lang="en-US" altLang="ko-KR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JBold" pitchFamily="18" charset="-127"/>
                      </a:endParaRPr>
                    </a:p>
                  </a:txBody>
                  <a:tcPr marL="91445" marR="91445" marT="45743" marB="4574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Arial" pitchFamily="34" charset="0"/>
                        <a:buChar char="•"/>
                      </a:pP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5" marR="91445" marT="45743" marB="457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442726" y="2222823"/>
            <a:ext cx="210013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PM    : OOO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님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>
              <a:defRPr/>
            </a:pP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PMO  : OOO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님</a:t>
            </a:r>
            <a:endParaRPr lang="en-US" altLang="ko-KR" sz="1400" dirty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r>
              <a:rPr lang="ko-KR" altLang="en-US" sz="1400" dirty="0" err="1">
                <a:latin typeface="맑은 고딕" pitchFamily="50" charset="-127"/>
                <a:ea typeface="맑은 고딕" pitchFamily="50" charset="-127"/>
              </a:rPr>
              <a:t>품질관리팀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400" dirty="0">
                <a:latin typeface="맑은 고딕" pitchFamily="50" charset="-127"/>
                <a:ea typeface="맑은 고딕" pitchFamily="50" charset="-127"/>
              </a:rPr>
              <a:t>: OOO</a:t>
            </a:r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님</a:t>
            </a:r>
          </a:p>
        </p:txBody>
      </p:sp>
      <p:sp>
        <p:nvSpPr>
          <p:cNvPr id="30" name="TextBox 10"/>
          <p:cNvSpPr txBox="1">
            <a:spLocks noChangeArrowheads="1"/>
          </p:cNvSpPr>
          <p:nvPr/>
        </p:nvSpPr>
        <p:spPr bwMode="auto">
          <a:xfrm>
            <a:off x="6115700" y="2313310"/>
            <a:ext cx="363538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지</a:t>
            </a:r>
            <a:endParaRPr lang="en-US" altLang="ko-KR" sz="1400" dirty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400" dirty="0">
                <a:latin typeface="맑은 고딕" pitchFamily="50" charset="-127"/>
                <a:ea typeface="맑은 고딕" pitchFamily="50" charset="-127"/>
              </a:rPr>
              <a:t>원</a:t>
            </a:r>
          </a:p>
        </p:txBody>
      </p:sp>
      <p:sp>
        <p:nvSpPr>
          <p:cNvPr id="12" name="직사각형 11"/>
          <p:cNvSpPr/>
          <p:nvPr/>
        </p:nvSpPr>
        <p:spPr>
          <a:xfrm rot="20208410">
            <a:off x="2577237" y="3445638"/>
            <a:ext cx="4298950" cy="6667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</p:spTree>
    <p:extLst>
      <p:ext uri="{BB962C8B-B14F-4D97-AF65-F5344CB8AC3E}">
        <p14:creationId xmlns:p14="http://schemas.microsoft.com/office/powerpoint/2010/main" val="2939254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착수</a:t>
            </a:r>
            <a:r>
              <a:rPr lang="en-US" altLang="ko-KR" dirty="0"/>
              <a:t>/</a:t>
            </a:r>
            <a:r>
              <a:rPr lang="ko-KR" altLang="en-US" dirty="0"/>
              <a:t>완료 기준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착수 기준 및 완료 기준</a:t>
            </a:r>
            <a:endParaRPr lang="en-US" altLang="ko-KR" dirty="0"/>
          </a:p>
          <a:p>
            <a:pPr lvl="1"/>
            <a:r>
              <a:rPr lang="ko-KR" altLang="en-US" dirty="0"/>
              <a:t>테스트 착수 시 선행되어야 할 환경 및 상호 인정 가능한 완료 기준을 기술한다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14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graphicFrame>
        <p:nvGraphicFramePr>
          <p:cNvPr id="6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626981"/>
              </p:ext>
            </p:extLst>
          </p:nvPr>
        </p:nvGraphicFramePr>
        <p:xfrm>
          <a:off x="323850" y="1772053"/>
          <a:ext cx="8712646" cy="45092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7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8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8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8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Sprint #1~#N </a:t>
                      </a:r>
                      <a:r>
                        <a:rPr kumimoji="1" lang="ko-KR" altLang="en-US" sz="12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단위테스트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4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Sprint </a:t>
                      </a:r>
                      <a:r>
                        <a:rPr kumimoji="1" lang="ko-KR" altLang="en-US" sz="12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통합테스트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4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User Acceptance Test</a:t>
                      </a: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44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시작 기준</a:t>
                      </a:r>
                      <a:endParaRPr kumimoji="1" lang="en-US" altLang="ko-KR" sz="1200" b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Sprint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단계 내에 기능 구현 완료</a:t>
                      </a: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단위테스트 검증 완료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통합테스트 시나리오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케이스 및 주요 체크포인트 작성 및 검토 완료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시나리오별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테스트 일정 계획 수립 완료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차수별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통합테스트용 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Data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적재 완료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통합테스트 환경 구축</a:t>
                      </a: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통합테스트 검증 완료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교육환경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(QA)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구축</a:t>
                      </a: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07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종료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 기준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Sprint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개발 기능 </a:t>
                      </a:r>
                      <a:r>
                        <a:rPr kumimoji="1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단위테스트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완료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결함조치율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100%</a:t>
                      </a: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통합테스트 진척 </a:t>
                      </a:r>
                      <a:r>
                        <a:rPr kumimoji="1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완료율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100%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중대 </a:t>
                      </a:r>
                      <a:r>
                        <a:rPr kumimoji="1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결함조치율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100%(Critical, Major)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Major </a:t>
                      </a:r>
                      <a:r>
                        <a:rPr kumimoji="1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결함조치율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80%, 2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90%</a:t>
                      </a: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교육 커리큘럼에 따른 해당 업무 프로그램 개별 테스트 완료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핵심 기능 중 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BPO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가 선정한 핵심 테스트 케이스 수행 완료</a:t>
                      </a: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8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중단기준</a:t>
                      </a: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85725" marR="0" lvl="0" indent="-8572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테스트 진행이나 결과에 심각한 영향을 줄 수 있는 결함이 발견된 경우에는 </a:t>
                      </a:r>
                      <a:endParaRPr kumimoji="0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PM</a:t>
                      </a:r>
                      <a:r>
                        <a:rPr kumimoji="0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그룹</a:t>
                      </a:r>
                      <a:r>
                        <a:rPr kumimoji="0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개발팀</a:t>
                      </a:r>
                      <a:r>
                        <a:rPr kumimoji="0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고객과의 협의 하에 테스트 일시 중지</a:t>
                      </a: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</a:pP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8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재개기준</a:t>
                      </a: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심각한 결함이 발견된 단위테스트 케이스를 수행하여 결함 조치가 완료된 것을 확인 한 후 테스트 재개</a:t>
                      </a: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심각한 결함이 발견된</a:t>
                      </a:r>
                      <a:r>
                        <a:rPr kumimoji="0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통합테스트 시나리오와 케이스를 수행하여 결함 조치가 완료된 것을 확인 한 후 테스트 재개</a:t>
                      </a: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결함조치 완료</a:t>
                      </a:r>
                    </a:p>
                  </a:txBody>
                  <a:tcPr marL="17746" marR="17746" marT="48831" marB="48831" anchor="ctr" horzOverflow="overflow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6121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수행 방안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단위</a:t>
            </a:r>
            <a:r>
              <a:rPr lang="en-US" altLang="ko-KR" b="0" dirty="0"/>
              <a:t>/</a:t>
            </a:r>
            <a:r>
              <a:rPr lang="ko-KR" altLang="en-US" b="0" dirty="0"/>
              <a:t>통합 테스트는 </a:t>
            </a:r>
            <a:r>
              <a:rPr lang="en-US" altLang="ko-KR" b="0" dirty="0"/>
              <a:t>Power User(</a:t>
            </a:r>
            <a:r>
              <a:rPr lang="ko-KR" altLang="en-US" b="0" dirty="0"/>
              <a:t>혹은 현업 </a:t>
            </a:r>
            <a:r>
              <a:rPr lang="en-US" altLang="ko-KR" b="0" dirty="0"/>
              <a:t>BPO), BPO, </a:t>
            </a:r>
            <a:r>
              <a:rPr lang="ko-KR" altLang="en-US" b="0" dirty="0" err="1"/>
              <a:t>운영팀</a:t>
            </a:r>
            <a:r>
              <a:rPr lang="en-US" altLang="ko-KR" b="0" dirty="0"/>
              <a:t>, </a:t>
            </a:r>
            <a:r>
              <a:rPr lang="ko-KR" altLang="en-US" b="0" dirty="0"/>
              <a:t>개발팀이 모두 참여하며</a:t>
            </a:r>
            <a:r>
              <a:rPr lang="en-US" altLang="ko-KR" b="0" dirty="0"/>
              <a:t>, </a:t>
            </a:r>
            <a:r>
              <a:rPr lang="ko-KR" altLang="en-US" b="0" dirty="0"/>
              <a:t>테스트 전에 테스트 참여 조직이 구성되어야 하고</a:t>
            </a:r>
            <a:r>
              <a:rPr lang="en-US" altLang="ko-KR" b="0" dirty="0"/>
              <a:t>, </a:t>
            </a:r>
            <a:r>
              <a:rPr lang="ko-KR" altLang="en-US" b="0" dirty="0"/>
              <a:t>테스트 관련 교육을 수행 후 진행 함</a:t>
            </a:r>
            <a:endParaRPr lang="en-US" altLang="ko-KR" b="0" dirty="0"/>
          </a:p>
          <a:p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15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graphicFrame>
        <p:nvGraphicFramePr>
          <p:cNvPr id="99" name="Group 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529681"/>
              </p:ext>
            </p:extLst>
          </p:nvPr>
        </p:nvGraphicFramePr>
        <p:xfrm>
          <a:off x="467544" y="1883880"/>
          <a:ext cx="8224589" cy="4392400"/>
        </p:xfrm>
        <a:graphic>
          <a:graphicData uri="http://schemas.openxmlformats.org/drawingml/2006/table">
            <a:tbl>
              <a:tblPr/>
              <a:tblGrid>
                <a:gridCol w="667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7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409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현업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BPO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7150" marB="57150" anchor="ctr" horzOverflow="overflow">
                    <a:lnL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198" marR="76198" marT="57150" marB="57150" anchor="ctr" horzOverflow="overflow">
                    <a:lnL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14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BPO</a:t>
                      </a:r>
                    </a:p>
                  </a:txBody>
                  <a:tcPr marL="36000" marR="36000" marT="57150" marB="57150" anchor="ctr" horzOverflow="overflow">
                    <a:lnL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5250" marR="0" lvl="0" indent="-95250" algn="just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1D4D93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198" marR="76198" marT="57150" marB="57150" anchor="ctr" horzOverflow="overflow">
                    <a:lnL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1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개발팀</a:t>
                      </a:r>
                    </a:p>
                  </a:txBody>
                  <a:tcPr marL="36000" marR="36000" marT="57150" marB="57150" anchor="ctr" horzOverflow="overflow">
                    <a:lnL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5250" marR="0" lvl="0" indent="-95250" algn="just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198" marR="76198" marT="57150" marB="57150" anchor="ctr" horzOverflow="overflow">
                    <a:lnL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운영팀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7150" marB="57150" anchor="ctr" horzOverflow="overflow">
                    <a:lnL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5250" marR="0" lvl="0" indent="-95250" algn="just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198" marR="76198" marT="57150" marB="57150" anchor="ctr" horzOverflow="overflow">
                    <a:lnL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46" name="그룹 145"/>
          <p:cNvGrpSpPr/>
          <p:nvPr/>
        </p:nvGrpSpPr>
        <p:grpSpPr>
          <a:xfrm>
            <a:off x="1259706" y="1772816"/>
            <a:ext cx="7370415" cy="4514069"/>
            <a:chOff x="1316037" y="1665288"/>
            <a:chExt cx="8184676" cy="4654550"/>
          </a:xfrm>
        </p:grpSpPr>
        <p:sp>
          <p:nvSpPr>
            <p:cNvPr id="100" name="Rectangle 116"/>
            <p:cNvSpPr>
              <a:spLocks noChangeArrowheads="1"/>
            </p:cNvSpPr>
            <p:nvPr/>
          </p:nvSpPr>
          <p:spPr bwMode="auto">
            <a:xfrm>
              <a:off x="3813659" y="3893322"/>
              <a:ext cx="756000" cy="572400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wrap="none" anchor="ctr"/>
            <a:lstStyle/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테스트</a:t>
              </a: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환경 준비</a:t>
              </a:r>
            </a:p>
          </p:txBody>
        </p:sp>
        <p:sp>
          <p:nvSpPr>
            <p:cNvPr id="101" name="Rectangle 118"/>
            <p:cNvSpPr>
              <a:spLocks noChangeArrowheads="1"/>
            </p:cNvSpPr>
            <p:nvPr/>
          </p:nvSpPr>
          <p:spPr bwMode="auto">
            <a:xfrm>
              <a:off x="1316037" y="2909534"/>
              <a:ext cx="756000" cy="792000"/>
            </a:xfrm>
            <a:prstGeom prst="rect">
              <a:avLst/>
            </a:prstGeom>
            <a:gradFill rotWithShape="1">
              <a:gsLst>
                <a:gs pos="0">
                  <a:srgbClr val="000000">
                    <a:shade val="51000"/>
                    <a:satMod val="130000"/>
                  </a:srgbClr>
                </a:gs>
                <a:gs pos="80000">
                  <a:srgbClr val="000000">
                    <a:shade val="93000"/>
                    <a:satMod val="130000"/>
                  </a:srgbClr>
                </a:gs>
                <a:gs pos="100000">
                  <a:srgbClr val="0000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wrap="none" anchor="ctr"/>
            <a:lstStyle/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테스트</a:t>
              </a: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참여자</a:t>
              </a:r>
              <a:endPara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선정</a:t>
              </a:r>
            </a:p>
          </p:txBody>
        </p:sp>
        <p:sp>
          <p:nvSpPr>
            <p:cNvPr id="102" name="Rectangle 122"/>
            <p:cNvSpPr>
              <a:spLocks noChangeArrowheads="1"/>
            </p:cNvSpPr>
            <p:nvPr/>
          </p:nvSpPr>
          <p:spPr bwMode="auto">
            <a:xfrm>
              <a:off x="1316037" y="3789040"/>
              <a:ext cx="756000" cy="1296000"/>
            </a:xfrm>
            <a:prstGeom prst="rect">
              <a:avLst/>
            </a:prstGeom>
            <a:gradFill rotWithShape="1">
              <a:gsLst>
                <a:gs pos="0">
                  <a:srgbClr val="000000">
                    <a:shade val="51000"/>
                    <a:satMod val="130000"/>
                  </a:srgbClr>
                </a:gs>
                <a:gs pos="80000">
                  <a:srgbClr val="000000">
                    <a:shade val="93000"/>
                    <a:satMod val="130000"/>
                  </a:srgbClr>
                </a:gs>
                <a:gs pos="100000">
                  <a:srgbClr val="0000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wrap="none" anchor="ctr"/>
            <a:lstStyle/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테스트</a:t>
              </a: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계획수립</a:t>
              </a:r>
            </a:p>
          </p:txBody>
        </p:sp>
        <p:sp>
          <p:nvSpPr>
            <p:cNvPr id="103" name="Rectangle 124"/>
            <p:cNvSpPr>
              <a:spLocks noChangeArrowheads="1"/>
            </p:cNvSpPr>
            <p:nvPr/>
          </p:nvSpPr>
          <p:spPr bwMode="auto">
            <a:xfrm>
              <a:off x="2287250" y="3789040"/>
              <a:ext cx="756000" cy="1296000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wrap="none" anchor="ctr"/>
            <a:lstStyle/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테스트</a:t>
              </a: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시나리오</a:t>
              </a:r>
              <a:endPara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준비</a:t>
              </a:r>
            </a:p>
          </p:txBody>
        </p:sp>
        <p:sp>
          <p:nvSpPr>
            <p:cNvPr id="104" name="Rectangle 124"/>
            <p:cNvSpPr>
              <a:spLocks noChangeArrowheads="1"/>
            </p:cNvSpPr>
            <p:nvPr/>
          </p:nvSpPr>
          <p:spPr bwMode="auto">
            <a:xfrm>
              <a:off x="3404828" y="4627657"/>
              <a:ext cx="756000" cy="572400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wrap="none" anchor="ctr"/>
            <a:lstStyle/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테스트</a:t>
              </a: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대상 선정</a:t>
              </a:r>
            </a:p>
          </p:txBody>
        </p:sp>
        <p:sp>
          <p:nvSpPr>
            <p:cNvPr id="105" name="Rectangle 124"/>
            <p:cNvSpPr>
              <a:spLocks noChangeArrowheads="1"/>
            </p:cNvSpPr>
            <p:nvPr/>
          </p:nvSpPr>
          <p:spPr bwMode="auto">
            <a:xfrm>
              <a:off x="5408893" y="1805769"/>
              <a:ext cx="756000" cy="792000"/>
            </a:xfrm>
            <a:prstGeom prst="rect">
              <a:avLst/>
            </a:prstGeom>
            <a:gradFill rotWithShape="1">
              <a:gsLst>
                <a:gs pos="0">
                  <a:srgbClr val="000000">
                    <a:shade val="51000"/>
                    <a:satMod val="130000"/>
                  </a:srgbClr>
                </a:gs>
                <a:gs pos="80000">
                  <a:srgbClr val="000000">
                    <a:shade val="93000"/>
                    <a:satMod val="130000"/>
                  </a:srgbClr>
                </a:gs>
                <a:gs pos="100000">
                  <a:srgbClr val="0000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wrap="none" anchor="ctr"/>
            <a:lstStyle/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시나리오</a:t>
              </a: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검토</a:t>
              </a:r>
            </a:p>
          </p:txBody>
        </p:sp>
        <p:sp>
          <p:nvSpPr>
            <p:cNvPr id="106" name="Rectangle 156"/>
            <p:cNvSpPr>
              <a:spLocks noChangeArrowheads="1"/>
            </p:cNvSpPr>
            <p:nvPr/>
          </p:nvSpPr>
          <p:spPr bwMode="auto">
            <a:xfrm>
              <a:off x="7329264" y="1805769"/>
              <a:ext cx="756000" cy="785427"/>
            </a:xfrm>
            <a:prstGeom prst="rect">
              <a:avLst/>
            </a:prstGeom>
            <a:gradFill rotWithShape="1">
              <a:gsLst>
                <a:gs pos="0">
                  <a:srgbClr val="000000">
                    <a:shade val="51000"/>
                    <a:satMod val="130000"/>
                  </a:srgbClr>
                </a:gs>
                <a:gs pos="80000">
                  <a:srgbClr val="000000">
                    <a:shade val="93000"/>
                    <a:satMod val="130000"/>
                  </a:srgbClr>
                </a:gs>
                <a:gs pos="100000">
                  <a:srgbClr val="0000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wrap="none" anchor="ctr"/>
            <a:lstStyle/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테스트</a:t>
              </a:r>
              <a:endPara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수행</a:t>
              </a:r>
            </a:p>
          </p:txBody>
        </p:sp>
        <p:sp>
          <p:nvSpPr>
            <p:cNvPr id="107" name="Rectangle 124"/>
            <p:cNvSpPr>
              <a:spLocks noChangeArrowheads="1"/>
            </p:cNvSpPr>
            <p:nvPr/>
          </p:nvSpPr>
          <p:spPr bwMode="auto">
            <a:xfrm>
              <a:off x="6484110" y="2024441"/>
              <a:ext cx="756000" cy="3144685"/>
            </a:xfrm>
            <a:prstGeom prst="rect">
              <a:avLst/>
            </a:prstGeom>
            <a:gradFill rotWithShape="1">
              <a:gsLst>
                <a:gs pos="0">
                  <a:srgbClr val="000000">
                    <a:shade val="51000"/>
                    <a:satMod val="130000"/>
                  </a:srgbClr>
                </a:gs>
                <a:gs pos="80000">
                  <a:srgbClr val="000000">
                    <a:shade val="93000"/>
                    <a:satMod val="130000"/>
                  </a:srgbClr>
                </a:gs>
                <a:gs pos="100000">
                  <a:srgbClr val="0000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wrap="none" anchor="ctr"/>
            <a:lstStyle/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사전</a:t>
              </a: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교육</a:t>
              </a: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실시</a:t>
              </a:r>
            </a:p>
          </p:txBody>
        </p:sp>
        <p:cxnSp>
          <p:nvCxnSpPr>
            <p:cNvPr id="108" name="AutoShape 123"/>
            <p:cNvCxnSpPr>
              <a:cxnSpLocks noChangeShapeType="1"/>
            </p:cNvCxnSpPr>
            <p:nvPr/>
          </p:nvCxnSpPr>
          <p:spPr bwMode="auto">
            <a:xfrm flipV="1">
              <a:off x="6900495" y="2198714"/>
              <a:ext cx="277739" cy="1397911"/>
            </a:xfrm>
            <a:prstGeom prst="bentConnector3">
              <a:avLst>
                <a:gd name="adj1" fmla="val 50000"/>
              </a:avLst>
            </a:prstGeom>
            <a:noFill/>
            <a:ln w="19050">
              <a:solidFill>
                <a:srgbClr val="000000"/>
              </a:solidFill>
              <a:miter lim="800000"/>
              <a:headEnd/>
              <a:tailEnd type="triangle" w="med" len="med"/>
            </a:ln>
          </p:spPr>
        </p:cxnSp>
        <p:sp>
          <p:nvSpPr>
            <p:cNvPr id="109" name="Rectangle 156"/>
            <p:cNvSpPr>
              <a:spLocks noChangeArrowheads="1"/>
            </p:cNvSpPr>
            <p:nvPr/>
          </p:nvSpPr>
          <p:spPr bwMode="auto">
            <a:xfrm>
              <a:off x="8368415" y="4786825"/>
              <a:ext cx="756000" cy="572400"/>
            </a:xfrm>
            <a:prstGeom prst="rect">
              <a:avLst/>
            </a:prstGeom>
            <a:gradFill rotWithShape="1">
              <a:gsLst>
                <a:gs pos="0">
                  <a:srgbClr val="000000">
                    <a:shade val="51000"/>
                    <a:satMod val="130000"/>
                  </a:srgbClr>
                </a:gs>
                <a:gs pos="80000">
                  <a:srgbClr val="000000">
                    <a:shade val="93000"/>
                    <a:satMod val="130000"/>
                  </a:srgbClr>
                </a:gs>
                <a:gs pos="100000">
                  <a:srgbClr val="0000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wrap="none" anchor="ctr"/>
            <a:lstStyle/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오류</a:t>
              </a:r>
              <a:endPara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조치</a:t>
              </a:r>
            </a:p>
          </p:txBody>
        </p:sp>
        <p:sp>
          <p:nvSpPr>
            <p:cNvPr id="110" name="Rectangle 124"/>
            <p:cNvSpPr>
              <a:spLocks noChangeArrowheads="1"/>
            </p:cNvSpPr>
            <p:nvPr/>
          </p:nvSpPr>
          <p:spPr bwMode="auto">
            <a:xfrm>
              <a:off x="8368415" y="1805769"/>
              <a:ext cx="756000" cy="751214"/>
            </a:xfrm>
            <a:prstGeom prst="rect">
              <a:avLst/>
            </a:prstGeom>
            <a:gradFill rotWithShape="1">
              <a:gsLst>
                <a:gs pos="0">
                  <a:srgbClr val="000000">
                    <a:shade val="51000"/>
                    <a:satMod val="130000"/>
                  </a:srgbClr>
                </a:gs>
                <a:gs pos="80000">
                  <a:srgbClr val="000000">
                    <a:shade val="93000"/>
                    <a:satMod val="130000"/>
                  </a:srgbClr>
                </a:gs>
                <a:gs pos="100000">
                  <a:srgbClr val="0000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wrap="none" anchor="ctr"/>
            <a:lstStyle/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조치</a:t>
              </a: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결과</a:t>
              </a: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확인</a:t>
              </a:r>
            </a:p>
          </p:txBody>
        </p:sp>
        <p:sp>
          <p:nvSpPr>
            <p:cNvPr id="111" name="Text Box 139"/>
            <p:cNvSpPr txBox="1">
              <a:spLocks noChangeArrowheads="1"/>
            </p:cNvSpPr>
            <p:nvPr/>
          </p:nvSpPr>
          <p:spPr bwMode="auto">
            <a:xfrm>
              <a:off x="8164885" y="3106359"/>
              <a:ext cx="570153" cy="809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8" dist="17961" dir="13500000">
                <a:srgbClr val="BBE0E3">
                  <a:gamma/>
                  <a:shade val="60000"/>
                  <a:invGamma/>
                </a:srgbClr>
              </a:prstShdw>
            </a:effec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오류</a:t>
              </a:r>
              <a:endPara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  <a:p>
              <a:pPr marL="0" marR="0" lvl="0" indent="0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사항</a:t>
              </a:r>
              <a:endPara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  <a:p>
              <a:pPr marL="0" marR="0" lvl="0" indent="0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등록</a:t>
              </a:r>
            </a:p>
          </p:txBody>
        </p:sp>
        <p:sp>
          <p:nvSpPr>
            <p:cNvPr id="112" name="TextBox 50"/>
            <p:cNvSpPr txBox="1">
              <a:spLocks noChangeArrowheads="1"/>
            </p:cNvSpPr>
            <p:nvPr/>
          </p:nvSpPr>
          <p:spPr bwMode="auto">
            <a:xfrm>
              <a:off x="1316596" y="2397125"/>
              <a:ext cx="1179512" cy="606425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wrap="none" lIns="0" rIns="0" anchor="ctr"/>
            <a:lstStyle/>
            <a:p>
              <a:pPr marL="190500" marR="0" lvl="0" indent="-19050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명단확보</a:t>
              </a:r>
              <a:endPara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  <a:p>
              <a:pPr marL="190500" marR="0" lvl="0" indent="-19050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BTS </a:t>
              </a: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등록</a:t>
              </a:r>
              <a:r>
                <a:rPr kumimoji="1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(PMO)</a:t>
              </a:r>
              <a:endPara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</p:txBody>
        </p:sp>
        <p:sp>
          <p:nvSpPr>
            <p:cNvPr id="113" name="TextBox 50"/>
            <p:cNvSpPr txBox="1">
              <a:spLocks noChangeArrowheads="1"/>
            </p:cNvSpPr>
            <p:nvPr/>
          </p:nvSpPr>
          <p:spPr bwMode="auto">
            <a:xfrm>
              <a:off x="1316594" y="5121188"/>
              <a:ext cx="589755" cy="304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fontAlgn="base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JBold"/>
                </a:rPr>
                <a:t>PMO</a:t>
              </a:r>
              <a:endParaRPr kumimoji="1" lang="ko-KR" altLang="en-US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/>
              </a:endParaRPr>
            </a:p>
          </p:txBody>
        </p:sp>
        <p:sp>
          <p:nvSpPr>
            <p:cNvPr id="114" name="Rectangle 124"/>
            <p:cNvSpPr>
              <a:spLocks noChangeArrowheads="1"/>
            </p:cNvSpPr>
            <p:nvPr/>
          </p:nvSpPr>
          <p:spPr bwMode="auto">
            <a:xfrm>
              <a:off x="3836876" y="2999036"/>
              <a:ext cx="935038" cy="86201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wrap="none" lIns="0" rIns="0" anchor="ctr"/>
            <a:lstStyle/>
            <a:p>
              <a:pPr marL="190500" marR="0" lvl="0" indent="-19050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휴대 장비</a:t>
              </a:r>
              <a:endPara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  <a:p>
              <a:pPr marL="190500" marR="0" lvl="0" indent="-19050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테스트 장소</a:t>
              </a:r>
            </a:p>
            <a:p>
              <a:pPr marL="190500" marR="0" lvl="0" indent="-19050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LAN</a:t>
              </a:r>
            </a:p>
            <a:p>
              <a:pPr marL="190500" marR="0" lvl="0" indent="-19050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프린터</a:t>
              </a:r>
              <a:endPara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  <a:p>
              <a:pPr marL="190500" marR="0" lvl="0" indent="-19050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PC</a:t>
              </a: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 등</a:t>
              </a:r>
              <a:endPara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</p:txBody>
        </p:sp>
        <p:sp>
          <p:nvSpPr>
            <p:cNvPr id="115" name="Rectangle 124"/>
            <p:cNvSpPr>
              <a:spLocks noChangeArrowheads="1"/>
            </p:cNvSpPr>
            <p:nvPr/>
          </p:nvSpPr>
          <p:spPr bwMode="auto">
            <a:xfrm>
              <a:off x="5408893" y="3789040"/>
              <a:ext cx="756000" cy="780965"/>
            </a:xfrm>
            <a:prstGeom prst="rect">
              <a:avLst/>
            </a:prstGeom>
            <a:gradFill rotWithShape="1">
              <a:gsLst>
                <a:gs pos="0">
                  <a:srgbClr val="000000">
                    <a:shade val="51000"/>
                    <a:satMod val="130000"/>
                  </a:srgbClr>
                </a:gs>
                <a:gs pos="80000">
                  <a:srgbClr val="000000">
                    <a:shade val="93000"/>
                    <a:satMod val="130000"/>
                  </a:srgbClr>
                </a:gs>
                <a:gs pos="100000">
                  <a:srgbClr val="0000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wrap="none" anchor="ctr"/>
            <a:lstStyle/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시나리오</a:t>
              </a: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테스트</a:t>
              </a:r>
            </a:p>
          </p:txBody>
        </p:sp>
        <p:sp>
          <p:nvSpPr>
            <p:cNvPr id="116" name="TextBox 50"/>
            <p:cNvSpPr txBox="1">
              <a:spLocks noChangeArrowheads="1"/>
            </p:cNvSpPr>
            <p:nvPr/>
          </p:nvSpPr>
          <p:spPr bwMode="auto">
            <a:xfrm>
              <a:off x="2252602" y="5085184"/>
              <a:ext cx="971435" cy="304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fontAlgn="base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JBold"/>
                </a:rPr>
                <a:t>PL / BPO</a:t>
              </a:r>
              <a:endParaRPr kumimoji="1" lang="ko-KR" altLang="en-US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JBold"/>
              </a:endParaRPr>
            </a:p>
          </p:txBody>
        </p:sp>
        <p:cxnSp>
          <p:nvCxnSpPr>
            <p:cNvPr id="117" name="AutoShape 123"/>
            <p:cNvCxnSpPr>
              <a:cxnSpLocks noChangeShapeType="1"/>
              <a:stCxn id="103" idx="3"/>
              <a:endCxn id="104" idx="1"/>
            </p:cNvCxnSpPr>
            <p:nvPr/>
          </p:nvCxnSpPr>
          <p:spPr bwMode="auto">
            <a:xfrm>
              <a:off x="3043250" y="4437040"/>
              <a:ext cx="361578" cy="476817"/>
            </a:xfrm>
            <a:prstGeom prst="bentConnector3">
              <a:avLst>
                <a:gd name="adj1" fmla="val 50000"/>
              </a:avLst>
            </a:prstGeom>
            <a:noFill/>
            <a:ln w="19050">
              <a:solidFill>
                <a:srgbClr val="000000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118" name="AutoShape 123"/>
            <p:cNvCxnSpPr>
              <a:cxnSpLocks noChangeShapeType="1"/>
              <a:stCxn id="120" idx="3"/>
              <a:endCxn id="115" idx="1"/>
            </p:cNvCxnSpPr>
            <p:nvPr/>
          </p:nvCxnSpPr>
          <p:spPr bwMode="auto">
            <a:xfrm flipV="1">
              <a:off x="5167216" y="4179523"/>
              <a:ext cx="241677" cy="734334"/>
            </a:xfrm>
            <a:prstGeom prst="bentConnector3">
              <a:avLst>
                <a:gd name="adj1" fmla="val 50000"/>
              </a:avLst>
            </a:prstGeom>
            <a:noFill/>
            <a:ln w="19050">
              <a:solidFill>
                <a:srgbClr val="000000"/>
              </a:solidFill>
              <a:miter lim="800000"/>
              <a:headEnd/>
              <a:tailEnd type="triangle" w="med" len="med"/>
            </a:ln>
          </p:spPr>
        </p:cxnSp>
        <p:sp>
          <p:nvSpPr>
            <p:cNvPr id="119" name="Rectangle 124"/>
            <p:cNvSpPr>
              <a:spLocks noChangeArrowheads="1"/>
            </p:cNvSpPr>
            <p:nvPr/>
          </p:nvSpPr>
          <p:spPr bwMode="auto">
            <a:xfrm>
              <a:off x="3441898" y="5225703"/>
              <a:ext cx="935038" cy="36353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wrap="none" lIns="0" rIns="0" anchor="ctr"/>
            <a:lstStyle/>
            <a:p>
              <a:pPr marL="190500" marR="0" lvl="0" indent="-19050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대상 고객</a:t>
              </a:r>
              <a:endPara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  <a:p>
              <a:pPr marL="190500" marR="0" lvl="0" indent="-19050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기준 정보</a:t>
              </a:r>
              <a:endPara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</p:txBody>
        </p:sp>
        <p:sp>
          <p:nvSpPr>
            <p:cNvPr id="120" name="Rectangle 124"/>
            <p:cNvSpPr>
              <a:spLocks noChangeArrowheads="1"/>
            </p:cNvSpPr>
            <p:nvPr/>
          </p:nvSpPr>
          <p:spPr bwMode="auto">
            <a:xfrm>
              <a:off x="4411216" y="4627657"/>
              <a:ext cx="756000" cy="572400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wrap="none" anchor="ctr"/>
            <a:lstStyle/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테스트</a:t>
              </a: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자료 추출</a:t>
              </a:r>
            </a:p>
          </p:txBody>
        </p:sp>
        <p:sp>
          <p:nvSpPr>
            <p:cNvPr id="121" name="Rectangle 124"/>
            <p:cNvSpPr>
              <a:spLocks noChangeArrowheads="1"/>
            </p:cNvSpPr>
            <p:nvPr/>
          </p:nvSpPr>
          <p:spPr bwMode="auto">
            <a:xfrm>
              <a:off x="4412940" y="5225703"/>
              <a:ext cx="868362" cy="36353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headEnd/>
              <a:tailEnd/>
            </a:ln>
            <a:effectLst/>
          </p:spPr>
          <p:txBody>
            <a:bodyPr wrap="none" lIns="0" rIns="0" anchor="ctr"/>
            <a:lstStyle/>
            <a:p>
              <a:pPr marL="190500" marR="0" lvl="0" indent="-19050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예약 데이터</a:t>
              </a:r>
              <a:endPara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</p:txBody>
        </p:sp>
        <p:cxnSp>
          <p:nvCxnSpPr>
            <p:cNvPr id="122" name="AutoShape 123"/>
            <p:cNvCxnSpPr>
              <a:cxnSpLocks noChangeShapeType="1"/>
              <a:stCxn id="105" idx="3"/>
              <a:endCxn id="107" idx="1"/>
            </p:cNvCxnSpPr>
            <p:nvPr/>
          </p:nvCxnSpPr>
          <p:spPr bwMode="auto">
            <a:xfrm>
              <a:off x="6164893" y="2201769"/>
              <a:ext cx="319217" cy="1395015"/>
            </a:xfrm>
            <a:prstGeom prst="bentConnector3">
              <a:avLst>
                <a:gd name="adj1" fmla="val 50000"/>
              </a:avLst>
            </a:prstGeom>
            <a:noFill/>
            <a:ln w="19050">
              <a:solidFill>
                <a:srgbClr val="000000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123" name="AutoShape 123"/>
            <p:cNvCxnSpPr>
              <a:cxnSpLocks noChangeShapeType="1"/>
              <a:stCxn id="115" idx="3"/>
              <a:endCxn id="107" idx="1"/>
            </p:cNvCxnSpPr>
            <p:nvPr/>
          </p:nvCxnSpPr>
          <p:spPr bwMode="auto">
            <a:xfrm flipV="1">
              <a:off x="6164893" y="3596784"/>
              <a:ext cx="319217" cy="582739"/>
            </a:xfrm>
            <a:prstGeom prst="bentConnector3">
              <a:avLst>
                <a:gd name="adj1" fmla="val 50000"/>
              </a:avLst>
            </a:prstGeom>
            <a:noFill/>
            <a:ln w="19050">
              <a:solidFill>
                <a:srgbClr val="000000"/>
              </a:solidFill>
              <a:miter lim="800000"/>
              <a:headEnd/>
              <a:tailEnd type="triangle" w="med" len="med"/>
            </a:ln>
          </p:spPr>
        </p:cxnSp>
        <p:sp>
          <p:nvSpPr>
            <p:cNvPr id="124" name="Rectangle 156"/>
            <p:cNvSpPr>
              <a:spLocks noChangeArrowheads="1"/>
            </p:cNvSpPr>
            <p:nvPr/>
          </p:nvSpPr>
          <p:spPr bwMode="auto">
            <a:xfrm>
              <a:off x="7329264" y="4423862"/>
              <a:ext cx="756000" cy="804767"/>
            </a:xfrm>
            <a:prstGeom prst="rect">
              <a:avLst/>
            </a:prstGeom>
            <a:gradFill rotWithShape="1">
              <a:gsLst>
                <a:gs pos="0">
                  <a:srgbClr val="000000">
                    <a:shade val="51000"/>
                    <a:satMod val="130000"/>
                  </a:srgbClr>
                </a:gs>
                <a:gs pos="80000">
                  <a:srgbClr val="000000">
                    <a:shade val="93000"/>
                    <a:satMod val="130000"/>
                  </a:srgbClr>
                </a:gs>
                <a:gs pos="100000">
                  <a:srgbClr val="0000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wrap="none" anchor="ctr"/>
            <a:lstStyle/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테스트</a:t>
              </a:r>
              <a:endPara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지원</a:t>
              </a:r>
            </a:p>
          </p:txBody>
        </p:sp>
        <p:sp>
          <p:nvSpPr>
            <p:cNvPr id="125" name="Text Box 139"/>
            <p:cNvSpPr txBox="1">
              <a:spLocks noChangeArrowheads="1"/>
            </p:cNvSpPr>
            <p:nvPr/>
          </p:nvSpPr>
          <p:spPr bwMode="auto">
            <a:xfrm>
              <a:off x="8958263" y="2946400"/>
              <a:ext cx="542450" cy="809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8" dist="17961" dir="13500000">
                <a:srgbClr val="BBE0E3">
                  <a:gamma/>
                  <a:shade val="60000"/>
                  <a:invGamma/>
                </a:srgbClr>
              </a:prstShdw>
            </a:effec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결과</a:t>
              </a:r>
              <a:endPara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  <a:p>
              <a:pPr marL="0" marR="0" lvl="0" indent="0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확인</a:t>
              </a:r>
              <a:endPara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  <a:p>
              <a:pPr marL="0" marR="0" lvl="0" indent="0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등록</a:t>
              </a:r>
            </a:p>
          </p:txBody>
        </p:sp>
        <p:sp>
          <p:nvSpPr>
            <p:cNvPr id="126" name="Rectangle 124"/>
            <p:cNvSpPr>
              <a:spLocks noChangeArrowheads="1"/>
            </p:cNvSpPr>
            <p:nvPr/>
          </p:nvSpPr>
          <p:spPr bwMode="auto">
            <a:xfrm>
              <a:off x="2287250" y="5649605"/>
              <a:ext cx="756000" cy="572400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wrap="none" anchor="ctr"/>
            <a:lstStyle/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시나리오</a:t>
              </a: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검토</a:t>
              </a:r>
            </a:p>
          </p:txBody>
        </p:sp>
        <p:sp>
          <p:nvSpPr>
            <p:cNvPr id="127" name="Rectangle 124"/>
            <p:cNvSpPr>
              <a:spLocks noChangeArrowheads="1"/>
            </p:cNvSpPr>
            <p:nvPr/>
          </p:nvSpPr>
          <p:spPr bwMode="auto">
            <a:xfrm>
              <a:off x="4411216" y="5649605"/>
              <a:ext cx="756000" cy="572400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wrap="none" anchor="ctr"/>
            <a:lstStyle/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데이터</a:t>
              </a:r>
              <a:endPara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추출 지원</a:t>
              </a:r>
            </a:p>
          </p:txBody>
        </p:sp>
        <p:sp>
          <p:nvSpPr>
            <p:cNvPr id="128" name="Rectangle 124"/>
            <p:cNvSpPr>
              <a:spLocks noChangeArrowheads="1"/>
            </p:cNvSpPr>
            <p:nvPr/>
          </p:nvSpPr>
          <p:spPr bwMode="auto">
            <a:xfrm>
              <a:off x="5444072" y="5649604"/>
              <a:ext cx="756000" cy="572400"/>
            </a:xfrm>
            <a:prstGeom prst="rect">
              <a:avLst/>
            </a:prstGeom>
            <a:gradFill rotWithShape="1">
              <a:gsLst>
                <a:gs pos="0">
                  <a:srgbClr val="000000">
                    <a:shade val="51000"/>
                    <a:satMod val="130000"/>
                  </a:srgbClr>
                </a:gs>
                <a:gs pos="80000">
                  <a:srgbClr val="000000">
                    <a:shade val="93000"/>
                    <a:satMod val="130000"/>
                  </a:srgbClr>
                </a:gs>
                <a:gs pos="100000">
                  <a:srgbClr val="0000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wrap="none" anchor="ctr"/>
            <a:lstStyle/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담당 업무</a:t>
              </a:r>
              <a:endPara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테스트</a:t>
              </a:r>
              <a:endPara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</p:txBody>
        </p:sp>
        <p:cxnSp>
          <p:nvCxnSpPr>
            <p:cNvPr id="129" name="AutoShape 123"/>
            <p:cNvCxnSpPr>
              <a:cxnSpLocks noChangeShapeType="1"/>
              <a:stCxn id="128" idx="3"/>
              <a:endCxn id="107" idx="2"/>
            </p:cNvCxnSpPr>
            <p:nvPr/>
          </p:nvCxnSpPr>
          <p:spPr bwMode="auto">
            <a:xfrm flipV="1">
              <a:off x="6200072" y="5169126"/>
              <a:ext cx="662038" cy="766678"/>
            </a:xfrm>
            <a:prstGeom prst="bentConnector2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130" name="직선 연결선 129"/>
            <p:cNvCxnSpPr/>
            <p:nvPr/>
          </p:nvCxnSpPr>
          <p:spPr bwMode="auto">
            <a:xfrm>
              <a:off x="6380163" y="1665288"/>
              <a:ext cx="34925" cy="465455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ysDash"/>
            </a:ln>
            <a:effectLst/>
          </p:spPr>
        </p:cxnSp>
        <p:sp>
          <p:nvSpPr>
            <p:cNvPr id="131" name="Rectangle 124"/>
            <p:cNvSpPr>
              <a:spLocks noChangeArrowheads="1"/>
            </p:cNvSpPr>
            <p:nvPr/>
          </p:nvSpPr>
          <p:spPr bwMode="auto">
            <a:xfrm>
              <a:off x="3787374" y="1805769"/>
              <a:ext cx="756000" cy="792000"/>
            </a:xfrm>
            <a:prstGeom prst="rect">
              <a:avLst/>
            </a:prstGeom>
            <a:gradFill rotWithShape="1">
              <a:gsLst>
                <a:gs pos="0">
                  <a:srgbClr val="000000">
                    <a:shade val="51000"/>
                    <a:satMod val="130000"/>
                  </a:srgbClr>
                </a:gs>
                <a:gs pos="80000">
                  <a:srgbClr val="000000">
                    <a:shade val="93000"/>
                    <a:satMod val="130000"/>
                  </a:srgbClr>
                </a:gs>
                <a:gs pos="100000">
                  <a:srgbClr val="000000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wrap="none" anchor="ctr"/>
            <a:lstStyle/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시나리오</a:t>
              </a:r>
            </a:p>
            <a:p>
              <a:pPr marL="190500" marR="0" lvl="0" indent="-190500" algn="ctr" defTabSz="91440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배포</a:t>
              </a:r>
            </a:p>
          </p:txBody>
        </p:sp>
        <p:cxnSp>
          <p:nvCxnSpPr>
            <p:cNvPr id="132" name="AutoShape 123"/>
            <p:cNvCxnSpPr>
              <a:cxnSpLocks noChangeShapeType="1"/>
              <a:stCxn id="103" idx="3"/>
              <a:endCxn id="131" idx="1"/>
            </p:cNvCxnSpPr>
            <p:nvPr/>
          </p:nvCxnSpPr>
          <p:spPr bwMode="auto">
            <a:xfrm flipV="1">
              <a:off x="3043250" y="2201769"/>
              <a:ext cx="744124" cy="2235271"/>
            </a:xfrm>
            <a:prstGeom prst="bentConnector3">
              <a:avLst>
                <a:gd name="adj1" fmla="val 50000"/>
              </a:avLst>
            </a:prstGeom>
            <a:noFill/>
            <a:ln w="19050">
              <a:solidFill>
                <a:srgbClr val="000000"/>
              </a:solidFill>
              <a:miter lim="800000"/>
              <a:headEnd/>
              <a:tailEnd type="triangle" w="med" len="med"/>
            </a:ln>
          </p:spPr>
        </p:cxnSp>
        <p:sp>
          <p:nvSpPr>
            <p:cNvPr id="133" name="Rectangle 124"/>
            <p:cNvSpPr>
              <a:spLocks noChangeArrowheads="1"/>
            </p:cNvSpPr>
            <p:nvPr/>
          </p:nvSpPr>
          <p:spPr bwMode="auto">
            <a:xfrm>
              <a:off x="6673491" y="5533489"/>
              <a:ext cx="2827222" cy="704850"/>
            </a:xfrm>
            <a:prstGeom prst="rect">
              <a:avLst/>
            </a:prstGeom>
            <a:solidFill>
              <a:srgbClr val="FFFFFF">
                <a:lumMod val="75000"/>
              </a:srgbClr>
            </a:solidFill>
            <a:ln w="9525" cap="flat" cmpd="sng" algn="ctr">
              <a:noFill/>
              <a:prstDash val="solid"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0" rIns="0" anchor="ctr"/>
            <a:lstStyle/>
            <a:p>
              <a:pPr marL="0" marR="0" lvl="0" indent="0" defTabSz="914400" eaLnBrk="1" fontAlgn="base" latinLnBrk="0" hangingPunct="1">
                <a:lnSpc>
                  <a:spcPts val="1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테스트 데이터 확보 방안</a:t>
              </a:r>
              <a:endPara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  <a:p>
              <a:pPr marL="0" marR="0" lvl="0" indent="0" defTabSz="914400" eaLnBrk="1" fontAlgn="base" latinLnBrk="0" hangingPunct="1">
                <a:lnSpc>
                  <a:spcPts val="1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   1) </a:t>
              </a: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각 참여자가 예약 자료 확보</a:t>
              </a:r>
              <a:r>
                <a:rPr kumimoji="1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(Excel)</a:t>
              </a:r>
            </a:p>
            <a:p>
              <a:pPr marL="0" marR="0" lvl="0" indent="0" defTabSz="914400" eaLnBrk="1" fontAlgn="base" latinLnBrk="0" hangingPunct="1">
                <a:lnSpc>
                  <a:spcPts val="1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   2) </a:t>
              </a: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고객의 경우 사전 취합해 시스템</a:t>
              </a:r>
              <a:endPara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endParaRPr>
            </a:p>
            <a:p>
              <a:pPr marL="0" marR="0" lvl="0" indent="0" defTabSz="914400" eaLnBrk="1" fontAlgn="base" latinLnBrk="0" hangingPunct="1">
                <a:lnSpc>
                  <a:spcPts val="14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       </a:t>
              </a: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JBold" pitchFamily="18" charset="-127"/>
                </a:rPr>
                <a:t>으로 준비</a:t>
              </a:r>
            </a:p>
          </p:txBody>
        </p:sp>
        <p:cxnSp>
          <p:nvCxnSpPr>
            <p:cNvPr id="134" name="직선 화살표 연결선 133"/>
            <p:cNvCxnSpPr>
              <a:stCxn id="131" idx="3"/>
              <a:endCxn id="105" idx="1"/>
            </p:cNvCxnSpPr>
            <p:nvPr/>
          </p:nvCxnSpPr>
          <p:spPr>
            <a:xfrm>
              <a:off x="4543374" y="2201769"/>
              <a:ext cx="865519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headEnd type="none"/>
              <a:tailEnd type="triangle"/>
            </a:ln>
            <a:effectLst/>
          </p:spPr>
        </p:cxnSp>
        <p:cxnSp>
          <p:nvCxnSpPr>
            <p:cNvPr id="135" name="직선 화살표 연결선 134"/>
            <p:cNvCxnSpPr>
              <a:stCxn id="100" idx="3"/>
              <a:endCxn id="115" idx="1"/>
            </p:cNvCxnSpPr>
            <p:nvPr/>
          </p:nvCxnSpPr>
          <p:spPr>
            <a:xfrm>
              <a:off x="4569659" y="4179522"/>
              <a:ext cx="839234" cy="1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headEnd type="none"/>
              <a:tailEnd type="triangle"/>
            </a:ln>
            <a:effectLst/>
          </p:spPr>
        </p:cxnSp>
        <p:cxnSp>
          <p:nvCxnSpPr>
            <p:cNvPr id="136" name="직선 화살표 연결선 135"/>
            <p:cNvCxnSpPr>
              <a:stCxn id="104" idx="3"/>
              <a:endCxn id="120" idx="1"/>
            </p:cNvCxnSpPr>
            <p:nvPr/>
          </p:nvCxnSpPr>
          <p:spPr>
            <a:xfrm>
              <a:off x="4160828" y="4913857"/>
              <a:ext cx="250388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headEnd type="none"/>
              <a:tailEnd type="triangle"/>
            </a:ln>
            <a:effectLst/>
          </p:spPr>
        </p:cxnSp>
        <p:cxnSp>
          <p:nvCxnSpPr>
            <p:cNvPr id="137" name="직선 화살표 연결선 136"/>
            <p:cNvCxnSpPr>
              <a:endCxn id="103" idx="1"/>
            </p:cNvCxnSpPr>
            <p:nvPr/>
          </p:nvCxnSpPr>
          <p:spPr>
            <a:xfrm flipV="1">
              <a:off x="2102009" y="4437040"/>
              <a:ext cx="185241" cy="1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headEnd type="none"/>
              <a:tailEnd type="triangle"/>
            </a:ln>
            <a:effectLst/>
          </p:spPr>
        </p:cxnSp>
        <p:cxnSp>
          <p:nvCxnSpPr>
            <p:cNvPr id="138" name="직선 화살표 연결선 137"/>
            <p:cNvCxnSpPr>
              <a:stCxn id="126" idx="0"/>
              <a:endCxn id="103" idx="2"/>
            </p:cNvCxnSpPr>
            <p:nvPr/>
          </p:nvCxnSpPr>
          <p:spPr>
            <a:xfrm flipV="1">
              <a:off x="2665250" y="5085040"/>
              <a:ext cx="0" cy="564565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headEnd type="none"/>
              <a:tailEnd type="triangle"/>
            </a:ln>
            <a:effectLst/>
          </p:spPr>
        </p:cxnSp>
        <p:cxnSp>
          <p:nvCxnSpPr>
            <p:cNvPr id="139" name="직선 화살표 연결선 138"/>
            <p:cNvCxnSpPr/>
            <p:nvPr/>
          </p:nvCxnSpPr>
          <p:spPr>
            <a:xfrm>
              <a:off x="7905328" y="2591196"/>
              <a:ext cx="0" cy="183266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headEnd type="none"/>
              <a:tailEnd type="triangle"/>
            </a:ln>
            <a:effectLst/>
          </p:spPr>
        </p:cxnSp>
        <p:cxnSp>
          <p:nvCxnSpPr>
            <p:cNvPr id="140" name="직선 화살표 연결선 139"/>
            <p:cNvCxnSpPr/>
            <p:nvPr/>
          </p:nvCxnSpPr>
          <p:spPr>
            <a:xfrm flipV="1">
              <a:off x="7509284" y="2591196"/>
              <a:ext cx="0" cy="183266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headEnd type="none"/>
              <a:tailEnd type="triangle"/>
            </a:ln>
            <a:effectLst/>
          </p:spPr>
        </p:cxnSp>
        <p:cxnSp>
          <p:nvCxnSpPr>
            <p:cNvPr id="142" name="직선 화살표 연결선 141"/>
            <p:cNvCxnSpPr/>
            <p:nvPr/>
          </p:nvCxnSpPr>
          <p:spPr>
            <a:xfrm flipV="1">
              <a:off x="8949444" y="4259232"/>
              <a:ext cx="0" cy="654625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headEnd type="none"/>
              <a:tailEnd type="triangle"/>
            </a:ln>
            <a:effectLst/>
          </p:spPr>
        </p:cxnSp>
        <p:cxnSp>
          <p:nvCxnSpPr>
            <p:cNvPr id="143" name="직선 화살표 연결선 142"/>
            <p:cNvCxnSpPr/>
            <p:nvPr/>
          </p:nvCxnSpPr>
          <p:spPr>
            <a:xfrm flipV="1">
              <a:off x="8589404" y="4259232"/>
              <a:ext cx="0" cy="527594"/>
            </a:xfrm>
            <a:prstGeom prst="straightConnector1">
              <a:avLst/>
            </a:prstGeom>
            <a:noFill/>
            <a:ln w="9525" cap="flat" cmpd="sng" algn="ctr">
              <a:solidFill>
                <a:srgbClr val="0000FF"/>
              </a:solidFill>
              <a:prstDash val="dash"/>
              <a:headEnd type="triangle"/>
              <a:tailEnd type="none"/>
            </a:ln>
            <a:effectLst/>
          </p:spPr>
        </p:cxnSp>
        <p:cxnSp>
          <p:nvCxnSpPr>
            <p:cNvPr id="144" name="직선 화살표 연결선 143"/>
            <p:cNvCxnSpPr/>
            <p:nvPr/>
          </p:nvCxnSpPr>
          <p:spPr>
            <a:xfrm>
              <a:off x="8625407" y="2556376"/>
              <a:ext cx="1" cy="1272105"/>
            </a:xfrm>
            <a:prstGeom prst="straightConnector1">
              <a:avLst/>
            </a:prstGeom>
            <a:noFill/>
            <a:ln w="9525" cap="flat" cmpd="sng" algn="ctr">
              <a:solidFill>
                <a:srgbClr val="0000FF"/>
              </a:solidFill>
              <a:prstDash val="dash"/>
              <a:headEnd type="triangle"/>
              <a:tailEnd type="none"/>
            </a:ln>
            <a:effectLst/>
          </p:spPr>
        </p:cxnSp>
        <p:cxnSp>
          <p:nvCxnSpPr>
            <p:cNvPr id="145" name="직선 화살표 연결선 144"/>
            <p:cNvCxnSpPr/>
            <p:nvPr/>
          </p:nvCxnSpPr>
          <p:spPr>
            <a:xfrm>
              <a:off x="8949444" y="2591196"/>
              <a:ext cx="0" cy="1296957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headEnd type="none"/>
              <a:tailEnd type="triangle"/>
            </a:ln>
            <a:effectLst/>
          </p:spPr>
        </p:cxnSp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484" y="3949802"/>
            <a:ext cx="1389648" cy="22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02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수행 방안</a:t>
            </a:r>
            <a:r>
              <a:rPr lang="en-US" altLang="ko-KR" sz="2000" dirty="0"/>
              <a:t>(</a:t>
            </a:r>
            <a:r>
              <a:rPr lang="ko-KR" altLang="en-US" sz="2000" dirty="0"/>
              <a:t>단위테스트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개발 완료된 프로그램은 응용시스템 개발자</a:t>
            </a:r>
            <a:r>
              <a:rPr lang="en-US" altLang="ko-KR" b="0" dirty="0"/>
              <a:t>, PL, Tester, </a:t>
            </a:r>
            <a:r>
              <a:rPr lang="ko-KR" altLang="en-US" b="0" dirty="0" err="1"/>
              <a:t>운영팀</a:t>
            </a:r>
            <a:r>
              <a:rPr lang="en-US" altLang="ko-KR" b="0" dirty="0"/>
              <a:t>, BPO </a:t>
            </a:r>
            <a:r>
              <a:rPr lang="ko-KR" altLang="en-US" b="0" dirty="0"/>
              <a:t>의 </a:t>
            </a:r>
            <a:r>
              <a:rPr lang="en-US" altLang="ko-KR" b="0" dirty="0"/>
              <a:t>5</a:t>
            </a:r>
            <a:r>
              <a:rPr lang="ko-KR" altLang="en-US" b="0" dirty="0"/>
              <a:t>단계를 거쳐 화면 기능 및 단위 업무 기능을 검증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16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graphicFrame>
        <p:nvGraphicFramePr>
          <p:cNvPr id="5" name="Group 3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680884"/>
              </p:ext>
            </p:extLst>
          </p:nvPr>
        </p:nvGraphicFramePr>
        <p:xfrm>
          <a:off x="523875" y="1643608"/>
          <a:ext cx="8152581" cy="4551363"/>
        </p:xfrm>
        <a:graphic>
          <a:graphicData uri="http://schemas.openxmlformats.org/drawingml/2006/table">
            <a:tbl>
              <a:tblPr/>
              <a:tblGrid>
                <a:gridCol w="694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1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06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 내역</a:t>
                      </a:r>
                    </a:p>
                  </a:txBody>
                  <a:tcPr marL="76200" marR="76200" marT="57149" marB="57149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 절차</a:t>
                      </a: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506">
                <a:tc gridSpan="2"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3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 계획 수립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시험순서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일정표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0" marR="76200" marT="57149" marB="57149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1D4D93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4758">
                <a:tc gridSpan="2"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3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 준비 사항</a:t>
                      </a: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3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Test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(Test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필요한 초기데이터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Load)</a:t>
                      </a:r>
                    </a:p>
                    <a:p>
                      <a:pPr marL="95250" marR="0" lvl="0" indent="-95250" algn="just" defTabSz="855663" rtl="0" eaLnBrk="0" fontAlgn="base" latinLnBrk="0" hangingPunct="0">
                        <a:lnSpc>
                          <a:spcPct val="13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완료된 프로그램 모듈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5250" marR="0" lvl="0" indent="-95250" algn="just" defTabSz="855663" rtl="0" eaLnBrk="0" fontAlgn="base" latinLnBrk="0" hangingPunct="0">
                        <a:lnSpc>
                          <a:spcPct val="13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BTS Tool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en-US" altLang="ko-KR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Redmine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itchFamily="2" charset="2"/>
                        </a:rPr>
                        <a:t>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itchFamily="2" charset="2"/>
                        </a:rPr>
                        <a:t>단위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테스트부터 적용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9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289">
                <a:tc rowSpan="2" gridSpan="2"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3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설계서 변경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</a:t>
                      </a:r>
                      <a:r>
                        <a:rPr kumimoji="1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재실시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3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모든 오류 내역은 오류목록에 기록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추적 관리</a:t>
                      </a:r>
                    </a:p>
                  </a:txBody>
                  <a:tcPr marL="76200" marR="76200" marT="57149" marB="57149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543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2204"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3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결과물</a:t>
                      </a:r>
                    </a:p>
                  </a:txBody>
                  <a:tcPr marL="76200" marR="76200" marT="57149" marB="57149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3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단위시험 결과 체크리스트</a:t>
                      </a: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3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수정요청 목록 및 처리 결과</a:t>
                      </a: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156"/>
          <p:cNvSpPr>
            <a:spLocks noChangeArrowheads="1"/>
          </p:cNvSpPr>
          <p:nvPr/>
        </p:nvSpPr>
        <p:spPr bwMode="auto">
          <a:xfrm>
            <a:off x="7598122" y="4245520"/>
            <a:ext cx="357187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190500" indent="-190500" algn="just">
              <a:buFont typeface="Wingdings 2" pitchFamily="18" charset="2"/>
              <a:buNone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YES</a:t>
            </a:r>
          </a:p>
        </p:txBody>
      </p:sp>
      <p:sp>
        <p:nvSpPr>
          <p:cNvPr id="7" name="Rectangle 157"/>
          <p:cNvSpPr>
            <a:spLocks noChangeArrowheads="1"/>
          </p:cNvSpPr>
          <p:nvPr/>
        </p:nvSpPr>
        <p:spPr bwMode="auto">
          <a:xfrm>
            <a:off x="7648922" y="3634333"/>
            <a:ext cx="306387" cy="25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190500" indent="-190500" algn="just">
              <a:buFont typeface="Wingdings 2" pitchFamily="18" charset="2"/>
              <a:buNone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NO</a:t>
            </a:r>
          </a:p>
        </p:txBody>
      </p:sp>
      <p:sp>
        <p:nvSpPr>
          <p:cNvPr id="8" name="Rectangle 158"/>
          <p:cNvSpPr>
            <a:spLocks noChangeArrowheads="1"/>
          </p:cNvSpPr>
          <p:nvPr/>
        </p:nvSpPr>
        <p:spPr bwMode="auto">
          <a:xfrm>
            <a:off x="5651277" y="2230983"/>
            <a:ext cx="1295400" cy="2555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단위시험 계획수립</a:t>
            </a:r>
          </a:p>
        </p:txBody>
      </p:sp>
      <p:sp>
        <p:nvSpPr>
          <p:cNvPr id="9" name="Rectangle 159"/>
          <p:cNvSpPr>
            <a:spLocks noChangeArrowheads="1"/>
          </p:cNvSpPr>
          <p:nvPr/>
        </p:nvSpPr>
        <p:spPr bwMode="auto">
          <a:xfrm>
            <a:off x="5651277" y="2626270"/>
            <a:ext cx="1295400" cy="2555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시험데이터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준비</a:t>
            </a:r>
          </a:p>
        </p:txBody>
      </p:sp>
      <p:sp>
        <p:nvSpPr>
          <p:cNvPr id="10" name="Rectangle 160"/>
          <p:cNvSpPr>
            <a:spLocks noChangeArrowheads="1"/>
          </p:cNvSpPr>
          <p:nvPr/>
        </p:nvSpPr>
        <p:spPr bwMode="auto">
          <a:xfrm>
            <a:off x="5651277" y="3021558"/>
            <a:ext cx="1295400" cy="2555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개발자 테스트</a:t>
            </a:r>
          </a:p>
        </p:txBody>
      </p:sp>
      <p:sp>
        <p:nvSpPr>
          <p:cNvPr id="11" name="AutoShape 162"/>
          <p:cNvSpPr>
            <a:spLocks noChangeArrowheads="1"/>
          </p:cNvSpPr>
          <p:nvPr/>
        </p:nvSpPr>
        <p:spPr bwMode="auto">
          <a:xfrm>
            <a:off x="7199659" y="3885158"/>
            <a:ext cx="1349375" cy="323850"/>
          </a:xfrm>
          <a:prstGeom prst="flowChartDecision">
            <a:avLst/>
          </a:prstGeom>
          <a:solidFill>
            <a:schemeClr val="bg1">
              <a:lumMod val="6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요건충족</a:t>
            </a:r>
          </a:p>
        </p:txBody>
      </p:sp>
      <p:sp>
        <p:nvSpPr>
          <p:cNvPr id="12" name="Rectangle 164"/>
          <p:cNvSpPr>
            <a:spLocks noChangeArrowheads="1"/>
          </p:cNvSpPr>
          <p:nvPr/>
        </p:nvSpPr>
        <p:spPr bwMode="auto">
          <a:xfrm>
            <a:off x="5652864" y="5464720"/>
            <a:ext cx="1295400" cy="2555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 결과 보고</a:t>
            </a:r>
          </a:p>
        </p:txBody>
      </p:sp>
      <p:sp>
        <p:nvSpPr>
          <p:cNvPr id="13" name="Rectangle 166"/>
          <p:cNvSpPr>
            <a:spLocks noChangeArrowheads="1"/>
          </p:cNvSpPr>
          <p:nvPr/>
        </p:nvSpPr>
        <p:spPr bwMode="auto">
          <a:xfrm>
            <a:off x="7299672" y="3242220"/>
            <a:ext cx="1150937" cy="3190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90000"/>
              </a:lnSpc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 및 수정 요청</a:t>
            </a:r>
          </a:p>
        </p:txBody>
      </p:sp>
      <p:cxnSp>
        <p:nvCxnSpPr>
          <p:cNvPr id="14" name="AutoShape 178"/>
          <p:cNvCxnSpPr>
            <a:cxnSpLocks noChangeShapeType="1"/>
            <a:stCxn id="8" idx="2"/>
            <a:endCxn id="9" idx="0"/>
          </p:cNvCxnSpPr>
          <p:nvPr/>
        </p:nvCxnSpPr>
        <p:spPr bwMode="auto">
          <a:xfrm>
            <a:off x="6298977" y="2486570"/>
            <a:ext cx="0" cy="139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5" name="AutoShape 181"/>
          <p:cNvCxnSpPr>
            <a:cxnSpLocks noChangeShapeType="1"/>
            <a:stCxn id="9" idx="2"/>
            <a:endCxn id="10" idx="0"/>
          </p:cNvCxnSpPr>
          <p:nvPr/>
        </p:nvCxnSpPr>
        <p:spPr bwMode="auto">
          <a:xfrm>
            <a:off x="6298977" y="2881858"/>
            <a:ext cx="0" cy="139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" name="AutoShape 182"/>
          <p:cNvCxnSpPr>
            <a:cxnSpLocks noChangeShapeType="1"/>
            <a:stCxn id="10" idx="2"/>
            <a:endCxn id="27" idx="0"/>
          </p:cNvCxnSpPr>
          <p:nvPr/>
        </p:nvCxnSpPr>
        <p:spPr bwMode="auto">
          <a:xfrm>
            <a:off x="6298977" y="3277145"/>
            <a:ext cx="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" name="Rectangle 185"/>
          <p:cNvSpPr>
            <a:spLocks noChangeArrowheads="1"/>
          </p:cNvSpPr>
          <p:nvPr/>
        </p:nvSpPr>
        <p:spPr bwMode="auto">
          <a:xfrm>
            <a:off x="5651277" y="4205833"/>
            <a:ext cx="1295400" cy="2555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테스트</a:t>
            </a:r>
          </a:p>
        </p:txBody>
      </p:sp>
      <p:cxnSp>
        <p:nvCxnSpPr>
          <p:cNvPr id="18" name="AutoShape 186"/>
          <p:cNvCxnSpPr>
            <a:cxnSpLocks noChangeShapeType="1"/>
            <a:stCxn id="30" idx="3"/>
            <a:endCxn id="11" idx="1"/>
          </p:cNvCxnSpPr>
          <p:nvPr/>
        </p:nvCxnSpPr>
        <p:spPr bwMode="auto">
          <a:xfrm flipV="1">
            <a:off x="6946677" y="4047083"/>
            <a:ext cx="252982" cy="107870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9" name="Rectangle 196"/>
          <p:cNvSpPr>
            <a:spLocks noChangeArrowheads="1"/>
          </p:cNvSpPr>
          <p:nvPr/>
        </p:nvSpPr>
        <p:spPr bwMode="auto">
          <a:xfrm>
            <a:off x="7299672" y="2775495"/>
            <a:ext cx="1150937" cy="3190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90000"/>
              </a:lnSpc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 및 수정</a:t>
            </a:r>
          </a:p>
        </p:txBody>
      </p:sp>
      <p:cxnSp>
        <p:nvCxnSpPr>
          <p:cNvPr id="20" name="AutoShape 198"/>
          <p:cNvCxnSpPr>
            <a:cxnSpLocks noChangeShapeType="1"/>
            <a:stCxn id="11" idx="0"/>
            <a:endCxn id="13" idx="2"/>
          </p:cNvCxnSpPr>
          <p:nvPr/>
        </p:nvCxnSpPr>
        <p:spPr bwMode="auto">
          <a:xfrm rot="5400000" flipH="1" flipV="1">
            <a:off x="7712819" y="3722836"/>
            <a:ext cx="323850" cy="79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21" name="AutoShape 199"/>
          <p:cNvCxnSpPr>
            <a:cxnSpLocks noChangeShapeType="1"/>
            <a:stCxn id="13" idx="0"/>
            <a:endCxn id="19" idx="2"/>
          </p:cNvCxnSpPr>
          <p:nvPr/>
        </p:nvCxnSpPr>
        <p:spPr bwMode="auto">
          <a:xfrm flipV="1">
            <a:off x="7875141" y="3094583"/>
            <a:ext cx="0" cy="1476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2" name="AutoShape 200"/>
          <p:cNvCxnSpPr>
            <a:cxnSpLocks noChangeShapeType="1"/>
            <a:stCxn id="19" idx="1"/>
            <a:endCxn id="10" idx="0"/>
          </p:cNvCxnSpPr>
          <p:nvPr/>
        </p:nvCxnSpPr>
        <p:spPr bwMode="auto">
          <a:xfrm rot="10800000" flipV="1">
            <a:off x="6298978" y="2935038"/>
            <a:ext cx="1000695" cy="86519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3" name="Rectangle 201"/>
          <p:cNvSpPr>
            <a:spLocks noChangeArrowheads="1"/>
          </p:cNvSpPr>
          <p:nvPr/>
        </p:nvSpPr>
        <p:spPr bwMode="auto">
          <a:xfrm>
            <a:off x="7955309" y="3634333"/>
            <a:ext cx="828675" cy="25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오류 목록에 </a:t>
            </a:r>
            <a:endParaRPr lang="en-US" altLang="ko-KR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90500" indent="-190500" algn="ctr">
              <a:buFont typeface="Wingdings 2" pitchFamily="18" charset="2"/>
              <a:buNone/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</a:p>
        </p:txBody>
      </p:sp>
      <p:sp>
        <p:nvSpPr>
          <p:cNvPr id="24" name="Rectangle 330"/>
          <p:cNvSpPr>
            <a:spLocks noChangeArrowheads="1"/>
          </p:cNvSpPr>
          <p:nvPr/>
        </p:nvSpPr>
        <p:spPr bwMode="auto">
          <a:xfrm>
            <a:off x="7020272" y="5650458"/>
            <a:ext cx="1295400" cy="2555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품질 검토</a:t>
            </a:r>
          </a:p>
        </p:txBody>
      </p:sp>
      <p:cxnSp>
        <p:nvCxnSpPr>
          <p:cNvPr id="25" name="AutoShape 331"/>
          <p:cNvCxnSpPr>
            <a:cxnSpLocks noChangeShapeType="1"/>
            <a:stCxn id="12" idx="2"/>
            <a:endCxn id="24" idx="1"/>
          </p:cNvCxnSpPr>
          <p:nvPr/>
        </p:nvCxnSpPr>
        <p:spPr bwMode="auto">
          <a:xfrm rot="16200000" flipH="1">
            <a:off x="6631446" y="5389426"/>
            <a:ext cx="57944" cy="71970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6" name="Rectangle 332"/>
          <p:cNvSpPr>
            <a:spLocks noChangeArrowheads="1"/>
          </p:cNvSpPr>
          <p:nvPr/>
        </p:nvSpPr>
        <p:spPr bwMode="auto">
          <a:xfrm>
            <a:off x="7812360" y="5394870"/>
            <a:ext cx="858838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26" tIns="45714" rIns="91426" bIns="45714" anchor="ctr"/>
          <a:lstStyle/>
          <a:p>
            <a:pPr marL="190500" indent="-190500" algn="just">
              <a:buFont typeface="Wingdings 2" pitchFamily="18" charset="2"/>
              <a:buNone/>
            </a:pPr>
            <a:r>
              <a:rPr lang="ko-KR" altLang="en-US" sz="1000" b="1" dirty="0" err="1">
                <a:solidFill>
                  <a:srgbClr val="1D4D9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품질관리팀</a:t>
            </a:r>
            <a:endParaRPr lang="ko-KR" altLang="en-US" sz="1000" b="1" dirty="0">
              <a:solidFill>
                <a:srgbClr val="1D4D9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Rectangle 160"/>
          <p:cNvSpPr>
            <a:spLocks noChangeArrowheads="1"/>
          </p:cNvSpPr>
          <p:nvPr/>
        </p:nvSpPr>
        <p:spPr bwMode="auto">
          <a:xfrm>
            <a:off x="5651277" y="3810545"/>
            <a:ext cx="1295400" cy="2555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Tester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테스트</a:t>
            </a:r>
          </a:p>
        </p:txBody>
      </p:sp>
      <p:cxnSp>
        <p:nvCxnSpPr>
          <p:cNvPr id="28" name="AutoShape 182"/>
          <p:cNvCxnSpPr>
            <a:cxnSpLocks noChangeShapeType="1"/>
            <a:stCxn id="27" idx="2"/>
            <a:endCxn id="17" idx="0"/>
          </p:cNvCxnSpPr>
          <p:nvPr/>
        </p:nvCxnSpPr>
        <p:spPr bwMode="auto">
          <a:xfrm>
            <a:off x="6298977" y="4066133"/>
            <a:ext cx="0" cy="139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9" name="Rectangle 185"/>
          <p:cNvSpPr>
            <a:spLocks noChangeArrowheads="1"/>
          </p:cNvSpPr>
          <p:nvPr/>
        </p:nvSpPr>
        <p:spPr bwMode="auto">
          <a:xfrm>
            <a:off x="5651277" y="4602708"/>
            <a:ext cx="1295400" cy="2555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운영팀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테스트</a:t>
            </a:r>
          </a:p>
        </p:txBody>
      </p:sp>
      <p:sp>
        <p:nvSpPr>
          <p:cNvPr id="30" name="Rectangle 185"/>
          <p:cNvSpPr>
            <a:spLocks noChangeArrowheads="1"/>
          </p:cNvSpPr>
          <p:nvPr/>
        </p:nvSpPr>
        <p:spPr bwMode="auto">
          <a:xfrm>
            <a:off x="5651277" y="4997995"/>
            <a:ext cx="1295400" cy="2555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BPO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테스트</a:t>
            </a:r>
          </a:p>
        </p:txBody>
      </p:sp>
      <p:cxnSp>
        <p:nvCxnSpPr>
          <p:cNvPr id="31" name="AutoShape 198"/>
          <p:cNvCxnSpPr>
            <a:cxnSpLocks noChangeShapeType="1"/>
            <a:stCxn id="17" idx="3"/>
            <a:endCxn id="11" idx="1"/>
          </p:cNvCxnSpPr>
          <p:nvPr/>
        </p:nvCxnSpPr>
        <p:spPr bwMode="auto">
          <a:xfrm flipV="1">
            <a:off x="6946677" y="4047083"/>
            <a:ext cx="252982" cy="28654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2" name="AutoShape 198"/>
          <p:cNvCxnSpPr>
            <a:cxnSpLocks noChangeShapeType="1"/>
            <a:stCxn id="27" idx="3"/>
            <a:endCxn id="11" idx="1"/>
          </p:cNvCxnSpPr>
          <p:nvPr/>
        </p:nvCxnSpPr>
        <p:spPr bwMode="auto">
          <a:xfrm>
            <a:off x="6946677" y="3938339"/>
            <a:ext cx="252982" cy="10874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3" name="AutoShape 198"/>
          <p:cNvCxnSpPr>
            <a:cxnSpLocks noChangeShapeType="1"/>
            <a:stCxn id="29" idx="3"/>
            <a:endCxn id="11" idx="1"/>
          </p:cNvCxnSpPr>
          <p:nvPr/>
        </p:nvCxnSpPr>
        <p:spPr bwMode="auto">
          <a:xfrm flipV="1">
            <a:off x="6946677" y="4047083"/>
            <a:ext cx="252982" cy="68341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34" name="AutoShape 182"/>
          <p:cNvCxnSpPr>
            <a:cxnSpLocks noChangeShapeType="1"/>
            <a:stCxn id="17" idx="2"/>
            <a:endCxn id="29" idx="0"/>
          </p:cNvCxnSpPr>
          <p:nvPr/>
        </p:nvCxnSpPr>
        <p:spPr bwMode="auto">
          <a:xfrm>
            <a:off x="6298977" y="4461420"/>
            <a:ext cx="0" cy="1412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5" name="AutoShape 182"/>
          <p:cNvCxnSpPr>
            <a:cxnSpLocks noChangeShapeType="1"/>
            <a:stCxn id="29" idx="2"/>
            <a:endCxn id="30" idx="0"/>
          </p:cNvCxnSpPr>
          <p:nvPr/>
        </p:nvCxnSpPr>
        <p:spPr bwMode="auto">
          <a:xfrm>
            <a:off x="6298977" y="4858295"/>
            <a:ext cx="0" cy="139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6" name="AutoShape 198"/>
          <p:cNvCxnSpPr>
            <a:cxnSpLocks noChangeShapeType="1"/>
            <a:stCxn id="11" idx="2"/>
            <a:endCxn id="12" idx="0"/>
          </p:cNvCxnSpPr>
          <p:nvPr/>
        </p:nvCxnSpPr>
        <p:spPr bwMode="auto">
          <a:xfrm rot="5400000">
            <a:off x="6459600" y="4049973"/>
            <a:ext cx="1255712" cy="1573783"/>
          </a:xfrm>
          <a:prstGeom prst="bentConnector3">
            <a:avLst>
              <a:gd name="adj1" fmla="val 90176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37" name="Rectangle 201"/>
          <p:cNvSpPr>
            <a:spLocks noChangeArrowheads="1"/>
          </p:cNvSpPr>
          <p:nvPr/>
        </p:nvSpPr>
        <p:spPr bwMode="auto">
          <a:xfrm>
            <a:off x="4848156" y="3813720"/>
            <a:ext cx="803122" cy="23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>
              <a:buFont typeface="Wingdings 2" pitchFamily="18" charset="2"/>
              <a:buNone/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점검리스트</a:t>
            </a:r>
            <a:endParaRPr lang="en-US" altLang="ko-KR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buFont typeface="Wingdings 2" pitchFamily="18" charset="2"/>
              <a:buNone/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이용</a:t>
            </a:r>
          </a:p>
        </p:txBody>
      </p:sp>
      <p:sp>
        <p:nvSpPr>
          <p:cNvPr id="38" name="Rectangle 201"/>
          <p:cNvSpPr>
            <a:spLocks noChangeArrowheads="1"/>
          </p:cNvSpPr>
          <p:nvPr/>
        </p:nvSpPr>
        <p:spPr bwMode="auto">
          <a:xfrm>
            <a:off x="4848156" y="4205834"/>
            <a:ext cx="803122" cy="233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>
              <a:buFont typeface="Wingdings 2" pitchFamily="18" charset="2"/>
              <a:buNone/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테스트계획서 이용</a:t>
            </a:r>
          </a:p>
        </p:txBody>
      </p:sp>
      <p:sp>
        <p:nvSpPr>
          <p:cNvPr id="39" name="Rectangle 201"/>
          <p:cNvSpPr>
            <a:spLocks noChangeArrowheads="1"/>
          </p:cNvSpPr>
          <p:nvPr/>
        </p:nvSpPr>
        <p:spPr bwMode="auto">
          <a:xfrm>
            <a:off x="4848156" y="4602709"/>
            <a:ext cx="803122" cy="233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>
              <a:buFont typeface="Wingdings 2" pitchFamily="18" charset="2"/>
              <a:buNone/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테스트계획서 이용</a:t>
            </a:r>
          </a:p>
        </p:txBody>
      </p:sp>
      <p:sp>
        <p:nvSpPr>
          <p:cNvPr id="40" name="Rectangle 201"/>
          <p:cNvSpPr>
            <a:spLocks noChangeArrowheads="1"/>
          </p:cNvSpPr>
          <p:nvPr/>
        </p:nvSpPr>
        <p:spPr bwMode="auto">
          <a:xfrm>
            <a:off x="4848156" y="4997995"/>
            <a:ext cx="803122" cy="23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>
              <a:buFont typeface="Wingdings 2" pitchFamily="18" charset="2"/>
              <a:buNone/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테스트계획서 이용</a:t>
            </a:r>
          </a:p>
        </p:txBody>
      </p:sp>
    </p:spTree>
    <p:extLst>
      <p:ext uri="{BB962C8B-B14F-4D97-AF65-F5344CB8AC3E}">
        <p14:creationId xmlns:p14="http://schemas.microsoft.com/office/powerpoint/2010/main" val="3564326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수행 방안</a:t>
            </a:r>
            <a:r>
              <a:rPr lang="en-US" altLang="ko-KR" sz="2000" dirty="0"/>
              <a:t>(</a:t>
            </a:r>
            <a:r>
              <a:rPr lang="ko-KR" altLang="en-US" sz="2000" dirty="0"/>
              <a:t>단위테스트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블라인드 </a:t>
            </a:r>
            <a:r>
              <a:rPr lang="en-US" altLang="ko-KR" b="0" dirty="0"/>
              <a:t>Tester</a:t>
            </a:r>
            <a:r>
              <a:rPr lang="ko-KR" altLang="en-US" b="0" dirty="0"/>
              <a:t>를</a:t>
            </a:r>
            <a:r>
              <a:rPr lang="en-US" altLang="ko-KR" b="0" dirty="0"/>
              <a:t> </a:t>
            </a:r>
            <a:r>
              <a:rPr lang="ko-KR" altLang="en-US" b="0" dirty="0"/>
              <a:t>투입하여 프로그램 별 기본 기능</a:t>
            </a:r>
            <a:r>
              <a:rPr lang="en-US" altLang="ko-KR" b="0" dirty="0"/>
              <a:t>,</a:t>
            </a:r>
            <a:r>
              <a:rPr lang="ko-KR" altLang="en-US" b="0" dirty="0"/>
              <a:t>단순 </a:t>
            </a:r>
            <a:r>
              <a:rPr lang="en-US" altLang="ko-KR" b="0" dirty="0"/>
              <a:t>Validation </a:t>
            </a:r>
            <a:r>
              <a:rPr lang="ko-KR" altLang="en-US" b="0" dirty="0"/>
              <a:t>체크 등 반복 작업을 수행함으로써 </a:t>
            </a:r>
            <a:r>
              <a:rPr lang="en-US" altLang="ko-KR" b="0" dirty="0"/>
              <a:t>PL </a:t>
            </a:r>
            <a:r>
              <a:rPr lang="ko-KR" altLang="en-US" b="0" dirty="0"/>
              <a:t>및 운영</a:t>
            </a:r>
            <a:r>
              <a:rPr lang="en-US" altLang="ko-KR" b="0" dirty="0"/>
              <a:t>, BPO</a:t>
            </a:r>
            <a:r>
              <a:rPr lang="ko-KR" altLang="en-US" b="0" dirty="0"/>
              <a:t>들이 핵심 기능 점검에 집중할 수 있도록 유도</a:t>
            </a:r>
            <a:r>
              <a:rPr lang="en-US" altLang="ko-KR" b="0" dirty="0"/>
              <a:t>. </a:t>
            </a:r>
            <a:r>
              <a:rPr lang="ko-KR" altLang="en-US" b="0" dirty="0"/>
              <a:t>체크 결과는 </a:t>
            </a:r>
            <a:r>
              <a:rPr lang="ko-KR" altLang="en-US" b="0" dirty="0" err="1"/>
              <a:t>결함관리</a:t>
            </a:r>
            <a:r>
              <a:rPr lang="ko-KR" altLang="en-US" b="0" dirty="0"/>
              <a:t> 시스템 </a:t>
            </a:r>
            <a:r>
              <a:rPr lang="en-US" altLang="ko-KR" b="0" dirty="0"/>
              <a:t>or </a:t>
            </a:r>
            <a:r>
              <a:rPr lang="ko-KR" altLang="en-US" b="0" dirty="0" err="1"/>
              <a:t>결함관리</a:t>
            </a:r>
            <a:r>
              <a:rPr lang="ko-KR" altLang="en-US" b="0" dirty="0"/>
              <a:t> 대장을 이용해 관리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17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sp>
        <p:nvSpPr>
          <p:cNvPr id="41" name="직사각형 40"/>
          <p:cNvSpPr/>
          <p:nvPr/>
        </p:nvSpPr>
        <p:spPr>
          <a:xfrm rot="20208410">
            <a:off x="2585051" y="3384558"/>
            <a:ext cx="4298950" cy="665163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공통체크리스트 추가</a:t>
            </a:r>
          </a:p>
        </p:txBody>
      </p:sp>
    </p:spTree>
    <p:extLst>
      <p:ext uri="{BB962C8B-B14F-4D97-AF65-F5344CB8AC3E}">
        <p14:creationId xmlns:p14="http://schemas.microsoft.com/office/powerpoint/2010/main" val="298328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Group 3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346820"/>
              </p:ext>
            </p:extLst>
          </p:nvPr>
        </p:nvGraphicFramePr>
        <p:xfrm>
          <a:off x="523875" y="1647507"/>
          <a:ext cx="8152581" cy="4593002"/>
        </p:xfrm>
        <a:graphic>
          <a:graphicData uri="http://schemas.openxmlformats.org/drawingml/2006/table">
            <a:tbl>
              <a:tblPr/>
              <a:tblGrid>
                <a:gridCol w="694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3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28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 내역</a:t>
                      </a:r>
                    </a:p>
                  </a:txBody>
                  <a:tcPr marL="76200" marR="76200" marT="57149" marB="57149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 절차</a:t>
                      </a: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354">
                <a:tc gridSpan="2"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 계획 수립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시험순서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일정표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0" marR="76200" marT="57151" marB="57151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1D4D93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244">
                <a:tc gridSpan="2"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 준비 사항</a:t>
                      </a: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Test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(Test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필요한 초기데이터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Load)</a:t>
                      </a:r>
                    </a:p>
                    <a:p>
                      <a:pPr marL="273050" marR="0" lvl="0" indent="-273050" algn="just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IF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단위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 작성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통합목록 작성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itchFamily="2" charset="2"/>
                        </a:rPr>
                        <a:t>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itchFamily="2" charset="2"/>
                        </a:rPr>
                        <a:t>업무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시스템 별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95250" marR="0" lvl="0" indent="-95250" algn="just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IF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단위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 검토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시스템의 개발 완료된 프로그램 모듈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1" marB="57151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9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280">
                <a:tc rowSpan="2" gridSpan="2"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 항목 목록에 근거하여 테스트 실시</a:t>
                      </a: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모든 오류 내역은 </a:t>
                      </a:r>
                      <a:r>
                        <a:rPr kumimoji="1" lang="en-US" altLang="ko-KR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Redmine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기록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추적 관리</a:t>
                      </a:r>
                    </a:p>
                  </a:txBody>
                  <a:tcPr marL="76200" marR="76200" marT="57151" marB="57151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06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92432"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3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결과물</a:t>
                      </a:r>
                    </a:p>
                  </a:txBody>
                  <a:tcPr marL="76200" marR="76200" marT="57151" marB="57151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 계획서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통합테스트계획서 內 포함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 결과서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통합테스트계획서 內 포함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en-US" altLang="ko-KR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Redmine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수정요청 목록 및 처리 결과</a:t>
                      </a:r>
                    </a:p>
                  </a:txBody>
                  <a:tcPr marL="76200" marR="76200" marT="57151" marB="57151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수행 방안</a:t>
            </a:r>
            <a:r>
              <a:rPr lang="en-US" altLang="ko-KR" sz="2000" dirty="0"/>
              <a:t>(</a:t>
            </a:r>
            <a:r>
              <a:rPr lang="ko-KR" altLang="en-US" sz="2000" dirty="0"/>
              <a:t>인터페이스 테스트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인터페이스 테스트는 </a:t>
            </a:r>
            <a:r>
              <a:rPr lang="ko-KR" altLang="en-US" b="0" dirty="0" err="1"/>
              <a:t>프로젝트팀</a:t>
            </a:r>
            <a:r>
              <a:rPr lang="ko-KR" altLang="en-US" b="0" dirty="0"/>
              <a:t> 주도로 이루어지며</a:t>
            </a:r>
            <a:r>
              <a:rPr lang="en-US" altLang="ko-KR" b="0" dirty="0"/>
              <a:t>, </a:t>
            </a:r>
            <a:r>
              <a:rPr lang="ko-KR" altLang="en-US" b="0" dirty="0"/>
              <a:t>통합테스트에 포함하여 실시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18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sp>
        <p:nvSpPr>
          <p:cNvPr id="7" name="Rectangle 29"/>
          <p:cNvSpPr>
            <a:spLocks noChangeArrowheads="1"/>
          </p:cNvSpPr>
          <p:nvPr/>
        </p:nvSpPr>
        <p:spPr bwMode="auto">
          <a:xfrm>
            <a:off x="6960295" y="4327525"/>
            <a:ext cx="306387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190500" indent="-190500" algn="just">
              <a:buFont typeface="Wingdings 2" pitchFamily="18" charset="2"/>
              <a:buNone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NO</a:t>
            </a:r>
          </a:p>
        </p:txBody>
      </p:sp>
      <p:sp>
        <p:nvSpPr>
          <p:cNvPr id="8" name="Rectangle 30"/>
          <p:cNvSpPr>
            <a:spLocks noChangeArrowheads="1"/>
          </p:cNvSpPr>
          <p:nvPr/>
        </p:nvSpPr>
        <p:spPr bwMode="auto">
          <a:xfrm>
            <a:off x="5358507" y="2189163"/>
            <a:ext cx="1765300" cy="2555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IF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시험 계획수립</a:t>
            </a:r>
          </a:p>
        </p:txBody>
      </p:sp>
      <p:sp>
        <p:nvSpPr>
          <p:cNvPr id="9" name="Rectangle 31"/>
          <p:cNvSpPr>
            <a:spLocks noChangeArrowheads="1"/>
          </p:cNvSpPr>
          <p:nvPr/>
        </p:nvSpPr>
        <p:spPr bwMode="auto">
          <a:xfrm>
            <a:off x="5358507" y="3208338"/>
            <a:ext cx="1765300" cy="2555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시험 데이터 준비</a:t>
            </a:r>
          </a:p>
        </p:txBody>
      </p:sp>
      <p:sp>
        <p:nvSpPr>
          <p:cNvPr id="10" name="Rectangle 32"/>
          <p:cNvSpPr>
            <a:spLocks noChangeArrowheads="1"/>
          </p:cNvSpPr>
          <p:nvPr/>
        </p:nvSpPr>
        <p:spPr bwMode="auto">
          <a:xfrm>
            <a:off x="5358507" y="3856038"/>
            <a:ext cx="1765300" cy="2555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IF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</a:t>
            </a:r>
          </a:p>
        </p:txBody>
      </p:sp>
      <p:sp>
        <p:nvSpPr>
          <p:cNvPr id="11" name="AutoShape 33"/>
          <p:cNvSpPr>
            <a:spLocks noChangeArrowheads="1"/>
          </p:cNvSpPr>
          <p:nvPr/>
        </p:nvSpPr>
        <p:spPr bwMode="auto">
          <a:xfrm>
            <a:off x="5323582" y="4400550"/>
            <a:ext cx="1839913" cy="323850"/>
          </a:xfrm>
          <a:prstGeom prst="flowChartDecision">
            <a:avLst/>
          </a:prstGeom>
          <a:solidFill>
            <a:schemeClr val="bg1">
              <a:lumMod val="6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요건충족</a:t>
            </a:r>
          </a:p>
        </p:txBody>
      </p:sp>
      <p:sp>
        <p:nvSpPr>
          <p:cNvPr id="12" name="Rectangle 34"/>
          <p:cNvSpPr>
            <a:spLocks noChangeArrowheads="1"/>
          </p:cNvSpPr>
          <p:nvPr/>
        </p:nvSpPr>
        <p:spPr bwMode="auto">
          <a:xfrm>
            <a:off x="5358507" y="5021263"/>
            <a:ext cx="1765300" cy="2555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 보고</a:t>
            </a:r>
          </a:p>
        </p:txBody>
      </p:sp>
      <p:sp>
        <p:nvSpPr>
          <p:cNvPr id="13" name="Rectangle 35"/>
          <p:cNvSpPr>
            <a:spLocks noChangeArrowheads="1"/>
          </p:cNvSpPr>
          <p:nvPr/>
        </p:nvSpPr>
        <p:spPr bwMode="auto">
          <a:xfrm>
            <a:off x="7412732" y="4005263"/>
            <a:ext cx="1150938" cy="2873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9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오류 수정 요청</a:t>
            </a:r>
          </a:p>
        </p:txBody>
      </p:sp>
      <p:cxnSp>
        <p:nvCxnSpPr>
          <p:cNvPr id="14" name="AutoShape 37"/>
          <p:cNvCxnSpPr>
            <a:cxnSpLocks noChangeShapeType="1"/>
            <a:stCxn id="8" idx="2"/>
            <a:endCxn id="28" idx="0"/>
          </p:cNvCxnSpPr>
          <p:nvPr/>
        </p:nvCxnSpPr>
        <p:spPr bwMode="auto">
          <a:xfrm rot="5400000">
            <a:off x="6115744" y="2570163"/>
            <a:ext cx="2508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5" name="AutoShape 38"/>
          <p:cNvCxnSpPr>
            <a:cxnSpLocks noChangeShapeType="1"/>
            <a:stCxn id="9" idx="2"/>
            <a:endCxn id="10" idx="0"/>
          </p:cNvCxnSpPr>
          <p:nvPr/>
        </p:nvCxnSpPr>
        <p:spPr bwMode="auto">
          <a:xfrm rot="5400000">
            <a:off x="6045100" y="3659982"/>
            <a:ext cx="3921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" name="AutoShape 43"/>
          <p:cNvCxnSpPr>
            <a:cxnSpLocks noChangeShapeType="1"/>
            <a:stCxn id="10" idx="2"/>
            <a:endCxn id="11" idx="0"/>
          </p:cNvCxnSpPr>
          <p:nvPr/>
        </p:nvCxnSpPr>
        <p:spPr bwMode="auto">
          <a:xfrm rot="16200000" flipH="1">
            <a:off x="6098282" y="4254500"/>
            <a:ext cx="288925" cy="31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7" name="Rectangle 46"/>
          <p:cNvSpPr>
            <a:spLocks noChangeArrowheads="1"/>
          </p:cNvSpPr>
          <p:nvPr/>
        </p:nvSpPr>
        <p:spPr bwMode="auto">
          <a:xfrm>
            <a:off x="6341170" y="4773613"/>
            <a:ext cx="48577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190500" indent="-190500" algn="just">
              <a:buFont typeface="Wingdings 2" pitchFamily="18" charset="2"/>
              <a:buNone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YES</a:t>
            </a:r>
          </a:p>
        </p:txBody>
      </p:sp>
      <p:cxnSp>
        <p:nvCxnSpPr>
          <p:cNvPr id="18" name="AutoShape 49"/>
          <p:cNvCxnSpPr>
            <a:cxnSpLocks noChangeShapeType="1"/>
            <a:stCxn id="11" idx="2"/>
            <a:endCxn id="12" idx="0"/>
          </p:cNvCxnSpPr>
          <p:nvPr/>
        </p:nvCxnSpPr>
        <p:spPr bwMode="auto">
          <a:xfrm rot="5400000">
            <a:off x="6094313" y="4871244"/>
            <a:ext cx="296863" cy="31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9" name="Rectangle 50"/>
          <p:cNvSpPr>
            <a:spLocks noChangeArrowheads="1"/>
          </p:cNvSpPr>
          <p:nvPr/>
        </p:nvSpPr>
        <p:spPr bwMode="auto">
          <a:xfrm>
            <a:off x="4860032" y="3840163"/>
            <a:ext cx="481013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26" tIns="45714" rIns="91426" bIns="45714" anchor="ctr"/>
          <a:lstStyle/>
          <a:p>
            <a:pPr marL="190500" indent="-190500" algn="just">
              <a:lnSpc>
                <a:spcPct val="110000"/>
              </a:lnSpc>
              <a:buFont typeface="Wingdings 2" pitchFamily="18" charset="2"/>
              <a:buNone/>
            </a:pPr>
            <a:r>
              <a:rPr lang="ko-KR" altLang="en-US" sz="1000" b="1" dirty="0">
                <a:solidFill>
                  <a:srgbClr val="1D4D9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개발팀</a:t>
            </a:r>
          </a:p>
        </p:txBody>
      </p:sp>
      <p:sp>
        <p:nvSpPr>
          <p:cNvPr id="20" name="Rectangle 52"/>
          <p:cNvSpPr>
            <a:spLocks noChangeArrowheads="1"/>
          </p:cNvSpPr>
          <p:nvPr/>
        </p:nvSpPr>
        <p:spPr bwMode="auto">
          <a:xfrm>
            <a:off x="7412732" y="3535363"/>
            <a:ext cx="1150938" cy="2524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9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 및 수정</a:t>
            </a:r>
          </a:p>
        </p:txBody>
      </p:sp>
      <p:cxnSp>
        <p:nvCxnSpPr>
          <p:cNvPr id="21" name="AutoShape 54"/>
          <p:cNvCxnSpPr>
            <a:cxnSpLocks noChangeShapeType="1"/>
            <a:stCxn id="11" idx="3"/>
            <a:endCxn id="13" idx="2"/>
          </p:cNvCxnSpPr>
          <p:nvPr/>
        </p:nvCxnSpPr>
        <p:spPr bwMode="auto">
          <a:xfrm flipV="1">
            <a:off x="7163495" y="4292600"/>
            <a:ext cx="825500" cy="269875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22" name="AutoShape 55"/>
          <p:cNvCxnSpPr>
            <a:cxnSpLocks noChangeShapeType="1"/>
            <a:stCxn id="13" idx="0"/>
            <a:endCxn id="20" idx="2"/>
          </p:cNvCxnSpPr>
          <p:nvPr/>
        </p:nvCxnSpPr>
        <p:spPr bwMode="auto">
          <a:xfrm rot="-5400000">
            <a:off x="7880251" y="3896519"/>
            <a:ext cx="2174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" name="AutoShape 56"/>
          <p:cNvCxnSpPr>
            <a:cxnSpLocks noChangeShapeType="1"/>
            <a:stCxn id="20" idx="1"/>
            <a:endCxn id="10" idx="0"/>
          </p:cNvCxnSpPr>
          <p:nvPr/>
        </p:nvCxnSpPr>
        <p:spPr bwMode="auto">
          <a:xfrm rot="10800000" flipV="1">
            <a:off x="6241157" y="3662363"/>
            <a:ext cx="1171575" cy="193675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4" name="Rectangle 57"/>
          <p:cNvSpPr>
            <a:spLocks noChangeArrowheads="1"/>
          </p:cNvSpPr>
          <p:nvPr/>
        </p:nvSpPr>
        <p:spPr bwMode="auto">
          <a:xfrm>
            <a:off x="7559576" y="4562475"/>
            <a:ext cx="973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190500" indent="-190500" algn="just">
              <a:buFont typeface="Wingdings 2" pitchFamily="18" charset="2"/>
              <a:buNone/>
            </a:pPr>
            <a:r>
              <a:rPr lang="en-US" altLang="ko-KR" sz="9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Redmine</a:t>
            </a: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등록</a:t>
            </a:r>
          </a:p>
        </p:txBody>
      </p:sp>
      <p:sp>
        <p:nvSpPr>
          <p:cNvPr id="25" name="Rectangle 59"/>
          <p:cNvSpPr>
            <a:spLocks noChangeArrowheads="1"/>
          </p:cNvSpPr>
          <p:nvPr/>
        </p:nvSpPr>
        <p:spPr bwMode="auto">
          <a:xfrm>
            <a:off x="5358507" y="5570538"/>
            <a:ext cx="1765300" cy="2555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품질 검토</a:t>
            </a:r>
          </a:p>
        </p:txBody>
      </p:sp>
      <p:cxnSp>
        <p:nvCxnSpPr>
          <p:cNvPr id="26" name="AutoShape 60"/>
          <p:cNvCxnSpPr>
            <a:cxnSpLocks noChangeShapeType="1"/>
            <a:stCxn id="12" idx="2"/>
            <a:endCxn id="25" idx="0"/>
          </p:cNvCxnSpPr>
          <p:nvPr/>
        </p:nvCxnSpPr>
        <p:spPr bwMode="auto">
          <a:xfrm rot="5400000">
            <a:off x="6094313" y="5423694"/>
            <a:ext cx="2936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7" name="Rectangle 61"/>
          <p:cNvSpPr>
            <a:spLocks noChangeArrowheads="1"/>
          </p:cNvSpPr>
          <p:nvPr/>
        </p:nvSpPr>
        <p:spPr bwMode="auto">
          <a:xfrm>
            <a:off x="7187307" y="5570538"/>
            <a:ext cx="944563" cy="25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26" tIns="45714" rIns="91426" bIns="45714" anchor="ctr"/>
          <a:lstStyle/>
          <a:p>
            <a:pPr marL="190500" indent="-190500" algn="just">
              <a:buFont typeface="Wingdings 2" pitchFamily="18" charset="2"/>
              <a:buNone/>
            </a:pPr>
            <a:r>
              <a:rPr lang="ko-KR" altLang="en-US" sz="1000" b="1" dirty="0" err="1">
                <a:solidFill>
                  <a:srgbClr val="1D4D9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품질관리팀</a:t>
            </a:r>
            <a:endParaRPr lang="ko-KR" altLang="en-US" sz="1000" b="1" dirty="0">
              <a:solidFill>
                <a:srgbClr val="1D4D9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Rectangle 62"/>
          <p:cNvSpPr>
            <a:spLocks noChangeArrowheads="1"/>
          </p:cNvSpPr>
          <p:nvPr/>
        </p:nvSpPr>
        <p:spPr bwMode="auto">
          <a:xfrm>
            <a:off x="5358507" y="2695575"/>
            <a:ext cx="1765300" cy="2555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통합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IF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 목록 작성</a:t>
            </a:r>
          </a:p>
        </p:txBody>
      </p:sp>
      <p:cxnSp>
        <p:nvCxnSpPr>
          <p:cNvPr id="29" name="AutoShape 63"/>
          <p:cNvCxnSpPr>
            <a:cxnSpLocks noChangeShapeType="1"/>
            <a:stCxn id="28" idx="2"/>
            <a:endCxn id="9" idx="0"/>
          </p:cNvCxnSpPr>
          <p:nvPr/>
        </p:nvCxnSpPr>
        <p:spPr bwMode="auto">
          <a:xfrm rot="5400000">
            <a:off x="6112569" y="3079751"/>
            <a:ext cx="2571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785188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Group 3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864315"/>
              </p:ext>
            </p:extLst>
          </p:nvPr>
        </p:nvGraphicFramePr>
        <p:xfrm>
          <a:off x="523875" y="1647507"/>
          <a:ext cx="8152581" cy="4658443"/>
        </p:xfrm>
        <a:graphic>
          <a:graphicData uri="http://schemas.openxmlformats.org/drawingml/2006/table">
            <a:tbl>
              <a:tblPr/>
              <a:tblGrid>
                <a:gridCol w="694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1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04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 내역</a:t>
                      </a:r>
                    </a:p>
                  </a:txBody>
                  <a:tcPr marL="76200" marR="76200" marT="57149" marB="57149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 절차</a:t>
                      </a: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855">
                <a:tc gridSpan="2"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 계획 수립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시험순서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일정표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95250" marR="0" lvl="0" indent="-95250" algn="just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조직 구성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현업 테스터 선정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0" marR="76200" marT="57148" marB="57148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1D4D93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394">
                <a:tc gridSpan="2"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 준비 사항</a:t>
                      </a:r>
                    </a:p>
                    <a:p>
                      <a:pPr marL="249238" marR="0" lvl="0" indent="-249238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Test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(Test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필요한 초기데이터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Load)</a:t>
                      </a: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환경 구축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장소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장비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참여인력 등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 작성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검토</a:t>
                      </a:r>
                    </a:p>
                  </a:txBody>
                  <a:tcPr marL="76200" marR="76200" marT="57148" marB="57148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9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186">
                <a:tc rowSpan="2" gridSpan="2"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통합시험 시나리오에 의거 실시</a:t>
                      </a: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모든 오류 내역은 </a:t>
                      </a:r>
                      <a:r>
                        <a:rPr kumimoji="1" lang="en-US" altLang="ko-KR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Redmine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기록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추적 관리</a:t>
                      </a:r>
                    </a:p>
                  </a:txBody>
                  <a:tcPr marL="76200" marR="76200" marT="57148" marB="57148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92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68384"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결과물</a:t>
                      </a:r>
                    </a:p>
                  </a:txBody>
                  <a:tcPr marL="76200" marR="76200" marT="57148" marB="57148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통합시험 계획서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</a:t>
                      </a: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통합시험 결과서</a:t>
                      </a: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en-US" altLang="ko-KR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Redmine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 요청 목록 및 처리 결과</a:t>
                      </a:r>
                    </a:p>
                  </a:txBody>
                  <a:tcPr marL="76200" marR="76200" marT="57148" marB="5714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수행 방안</a:t>
            </a:r>
            <a:r>
              <a:rPr lang="en-US" altLang="ko-KR" sz="2000" dirty="0"/>
              <a:t>(</a:t>
            </a:r>
            <a:r>
              <a:rPr lang="ko-KR" altLang="en-US" sz="2000" dirty="0"/>
              <a:t>통합 테스트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통합테스트는 </a:t>
            </a:r>
            <a:r>
              <a:rPr lang="ko-KR" altLang="en-US" b="0" dirty="0" err="1"/>
              <a:t>프로젝트팀</a:t>
            </a:r>
            <a:r>
              <a:rPr lang="ko-KR" altLang="en-US" b="0" dirty="0"/>
              <a:t> 과 </a:t>
            </a:r>
            <a:r>
              <a:rPr lang="en-US" altLang="ko-KR" b="0" dirty="0"/>
              <a:t>BPO, </a:t>
            </a:r>
            <a:r>
              <a:rPr lang="ko-KR" altLang="en-US" b="0" dirty="0"/>
              <a:t>협업과의 유기적인 협조체계가 필요함</a:t>
            </a:r>
            <a:r>
              <a:rPr lang="en-US" altLang="ko-KR" b="0" dirty="0"/>
              <a:t>. </a:t>
            </a:r>
            <a:r>
              <a:rPr lang="ko-KR" altLang="en-US" b="0" dirty="0"/>
              <a:t>따라서 계획</a:t>
            </a:r>
            <a:r>
              <a:rPr lang="en-US" altLang="ko-KR" b="0" dirty="0"/>
              <a:t>/</a:t>
            </a:r>
            <a:r>
              <a:rPr lang="ko-KR" altLang="en-US" b="0" dirty="0"/>
              <a:t>테스트케이스</a:t>
            </a:r>
            <a:r>
              <a:rPr lang="en-US" altLang="ko-KR" b="0" dirty="0"/>
              <a:t>/</a:t>
            </a:r>
            <a:r>
              <a:rPr lang="ko-KR" altLang="en-US" b="0" dirty="0"/>
              <a:t>시나리오에 대한 공동 검토 필수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19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sp>
        <p:nvSpPr>
          <p:cNvPr id="30" name="Rectangle 308"/>
          <p:cNvSpPr>
            <a:spLocks noChangeArrowheads="1"/>
          </p:cNvSpPr>
          <p:nvPr/>
        </p:nvSpPr>
        <p:spPr bwMode="auto">
          <a:xfrm>
            <a:off x="6250756" y="5519565"/>
            <a:ext cx="446088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190500" indent="-190500" algn="just">
              <a:buFont typeface="Wingdings 2" pitchFamily="18" charset="2"/>
              <a:buNone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YES</a:t>
            </a:r>
          </a:p>
        </p:txBody>
      </p:sp>
      <p:sp>
        <p:nvSpPr>
          <p:cNvPr id="32" name="Rectangle 309"/>
          <p:cNvSpPr>
            <a:spLocks noChangeArrowheads="1"/>
          </p:cNvSpPr>
          <p:nvPr/>
        </p:nvSpPr>
        <p:spPr bwMode="auto">
          <a:xfrm>
            <a:off x="6858769" y="5195715"/>
            <a:ext cx="306387" cy="25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190500" indent="-190500" algn="just">
              <a:buFont typeface="Wingdings 2" pitchFamily="18" charset="2"/>
              <a:buNone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NO</a:t>
            </a:r>
          </a:p>
        </p:txBody>
      </p:sp>
      <p:sp>
        <p:nvSpPr>
          <p:cNvPr id="33" name="Rectangle 310"/>
          <p:cNvSpPr>
            <a:spLocks noChangeArrowheads="1"/>
          </p:cNvSpPr>
          <p:nvPr/>
        </p:nvSpPr>
        <p:spPr bwMode="auto">
          <a:xfrm>
            <a:off x="6290444" y="2284240"/>
            <a:ext cx="1692000" cy="2555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통합시험 계획수립</a:t>
            </a:r>
          </a:p>
        </p:txBody>
      </p:sp>
      <p:sp>
        <p:nvSpPr>
          <p:cNvPr id="34" name="Rectangle 311"/>
          <p:cNvSpPr>
            <a:spLocks noChangeArrowheads="1"/>
          </p:cNvSpPr>
          <p:nvPr/>
        </p:nvSpPr>
        <p:spPr bwMode="auto">
          <a:xfrm>
            <a:off x="5265714" y="4203527"/>
            <a:ext cx="1746000" cy="255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통합시험 데이터 준비</a:t>
            </a:r>
          </a:p>
        </p:txBody>
      </p:sp>
      <p:sp>
        <p:nvSpPr>
          <p:cNvPr id="35" name="Rectangle 312"/>
          <p:cNvSpPr>
            <a:spLocks noChangeArrowheads="1"/>
          </p:cNvSpPr>
          <p:nvPr/>
        </p:nvSpPr>
        <p:spPr bwMode="auto">
          <a:xfrm>
            <a:off x="5265714" y="4728989"/>
            <a:ext cx="1746000" cy="255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통합 테스트 실시</a:t>
            </a:r>
          </a:p>
        </p:txBody>
      </p:sp>
      <p:sp>
        <p:nvSpPr>
          <p:cNvPr id="36" name="AutoShape 313"/>
          <p:cNvSpPr>
            <a:spLocks noChangeArrowheads="1"/>
          </p:cNvSpPr>
          <p:nvPr/>
        </p:nvSpPr>
        <p:spPr bwMode="auto">
          <a:xfrm>
            <a:off x="5464944" y="5233815"/>
            <a:ext cx="1349375" cy="323850"/>
          </a:xfrm>
          <a:prstGeom prst="flowChartDecision">
            <a:avLst/>
          </a:prstGeom>
          <a:solidFill>
            <a:schemeClr val="bg1">
              <a:lumMod val="6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요건충족</a:t>
            </a:r>
          </a:p>
        </p:txBody>
      </p:sp>
      <p:sp>
        <p:nvSpPr>
          <p:cNvPr id="37" name="Rectangle 314"/>
          <p:cNvSpPr>
            <a:spLocks noChangeArrowheads="1"/>
          </p:cNvSpPr>
          <p:nvPr/>
        </p:nvSpPr>
        <p:spPr bwMode="auto">
          <a:xfrm>
            <a:off x="5328419" y="5737052"/>
            <a:ext cx="1620837" cy="2555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 보고</a:t>
            </a:r>
          </a:p>
        </p:txBody>
      </p:sp>
      <p:sp>
        <p:nvSpPr>
          <p:cNvPr id="38" name="Rectangle 315"/>
          <p:cNvSpPr>
            <a:spLocks noChangeArrowheads="1"/>
          </p:cNvSpPr>
          <p:nvPr/>
        </p:nvSpPr>
        <p:spPr bwMode="auto">
          <a:xfrm>
            <a:off x="7309619" y="4881390"/>
            <a:ext cx="1295401" cy="3190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9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 및 수정 요청</a:t>
            </a:r>
          </a:p>
        </p:txBody>
      </p:sp>
      <p:cxnSp>
        <p:nvCxnSpPr>
          <p:cNvPr id="39" name="AutoShape 317"/>
          <p:cNvCxnSpPr>
            <a:cxnSpLocks noChangeShapeType="1"/>
            <a:stCxn id="33" idx="2"/>
            <a:endCxn id="49" idx="0"/>
          </p:cNvCxnSpPr>
          <p:nvPr/>
        </p:nvCxnSpPr>
        <p:spPr bwMode="auto">
          <a:xfrm>
            <a:off x="7136444" y="2539827"/>
            <a:ext cx="0" cy="130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0" name="AutoShape 318"/>
          <p:cNvCxnSpPr>
            <a:cxnSpLocks noChangeShapeType="1"/>
            <a:stCxn id="34" idx="2"/>
            <a:endCxn id="35" idx="0"/>
          </p:cNvCxnSpPr>
          <p:nvPr/>
        </p:nvCxnSpPr>
        <p:spPr bwMode="auto">
          <a:xfrm>
            <a:off x="6138714" y="4459127"/>
            <a:ext cx="0" cy="269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1" name="AutoShape 319"/>
          <p:cNvCxnSpPr>
            <a:cxnSpLocks noChangeShapeType="1"/>
            <a:stCxn id="35" idx="2"/>
            <a:endCxn id="36" idx="0"/>
          </p:cNvCxnSpPr>
          <p:nvPr/>
        </p:nvCxnSpPr>
        <p:spPr bwMode="auto">
          <a:xfrm rot="16200000" flipH="1">
            <a:off x="6014560" y="5108743"/>
            <a:ext cx="249226" cy="91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2" name="AutoShape 320"/>
          <p:cNvCxnSpPr>
            <a:cxnSpLocks noChangeShapeType="1"/>
            <a:stCxn id="36" idx="2"/>
            <a:endCxn id="37" idx="0"/>
          </p:cNvCxnSpPr>
          <p:nvPr/>
        </p:nvCxnSpPr>
        <p:spPr bwMode="auto">
          <a:xfrm rot="5400000">
            <a:off x="6049937" y="5647359"/>
            <a:ext cx="179387" cy="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43" name="Rectangle 325"/>
          <p:cNvSpPr>
            <a:spLocks noChangeArrowheads="1"/>
          </p:cNvSpPr>
          <p:nvPr/>
        </p:nvSpPr>
        <p:spPr bwMode="auto">
          <a:xfrm>
            <a:off x="4793625" y="5020370"/>
            <a:ext cx="1042987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26" tIns="45714" rIns="91426" bIns="45714" anchor="ctr"/>
          <a:lstStyle/>
          <a:p>
            <a:pPr marL="190500" indent="-190500" algn="just">
              <a:lnSpc>
                <a:spcPct val="110000"/>
              </a:lnSpc>
              <a:buFont typeface="Wingdings 2" pitchFamily="18" charset="2"/>
              <a:buNone/>
            </a:pPr>
            <a:r>
              <a:rPr lang="en-US" altLang="ko-KR" sz="1000" b="1" dirty="0">
                <a:solidFill>
                  <a:srgbClr val="1D4D9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BPO, </a:t>
            </a:r>
            <a:r>
              <a:rPr lang="ko-KR" altLang="en-US" sz="1000" b="1" dirty="0">
                <a:solidFill>
                  <a:srgbClr val="1D4D9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</a:t>
            </a:r>
            <a:r>
              <a:rPr lang="en-US" altLang="ko-KR" sz="1000" b="1" dirty="0">
                <a:solidFill>
                  <a:srgbClr val="1D4D9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b="1" dirty="0">
                <a:solidFill>
                  <a:srgbClr val="1D4D9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현업</a:t>
            </a:r>
            <a:endParaRPr lang="en-US" altLang="ko-KR" sz="1000" b="1" dirty="0">
              <a:solidFill>
                <a:srgbClr val="1D4D9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90500" indent="-190500" algn="just">
              <a:lnSpc>
                <a:spcPct val="110000"/>
              </a:lnSpc>
              <a:buFont typeface="Wingdings 2" pitchFamily="18" charset="2"/>
              <a:buNone/>
            </a:pPr>
            <a:r>
              <a:rPr lang="en-US" altLang="ko-KR" sz="1000" b="1" dirty="0">
                <a:solidFill>
                  <a:srgbClr val="1D4D9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b="1" dirty="0">
                <a:solidFill>
                  <a:srgbClr val="1D4D9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공동 참여</a:t>
            </a:r>
          </a:p>
        </p:txBody>
      </p:sp>
      <p:sp>
        <p:nvSpPr>
          <p:cNvPr id="44" name="Rectangle 332"/>
          <p:cNvSpPr>
            <a:spLocks noChangeArrowheads="1"/>
          </p:cNvSpPr>
          <p:nvPr/>
        </p:nvSpPr>
        <p:spPr bwMode="auto">
          <a:xfrm>
            <a:off x="7309619" y="4422602"/>
            <a:ext cx="1295401" cy="3190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9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 및 수정</a:t>
            </a:r>
          </a:p>
        </p:txBody>
      </p:sp>
      <p:cxnSp>
        <p:nvCxnSpPr>
          <p:cNvPr id="45" name="AutoShape 334"/>
          <p:cNvCxnSpPr>
            <a:cxnSpLocks noChangeShapeType="1"/>
            <a:stCxn id="36" idx="3"/>
            <a:endCxn id="38" idx="2"/>
          </p:cNvCxnSpPr>
          <p:nvPr/>
        </p:nvCxnSpPr>
        <p:spPr bwMode="auto">
          <a:xfrm flipV="1">
            <a:off x="6814319" y="5200477"/>
            <a:ext cx="1143001" cy="195263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6" name="AutoShape 335"/>
          <p:cNvCxnSpPr>
            <a:cxnSpLocks noChangeShapeType="1"/>
            <a:stCxn id="38" idx="0"/>
            <a:endCxn id="44" idx="2"/>
          </p:cNvCxnSpPr>
          <p:nvPr/>
        </p:nvCxnSpPr>
        <p:spPr bwMode="auto">
          <a:xfrm flipV="1">
            <a:off x="7957320" y="4741690"/>
            <a:ext cx="0" cy="139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7" name="AutoShape 336"/>
          <p:cNvCxnSpPr>
            <a:cxnSpLocks noChangeShapeType="1"/>
            <a:stCxn id="44" idx="1"/>
            <a:endCxn id="35" idx="0"/>
          </p:cNvCxnSpPr>
          <p:nvPr/>
        </p:nvCxnSpPr>
        <p:spPr bwMode="auto">
          <a:xfrm rot="10800000" flipV="1">
            <a:off x="6138715" y="4582145"/>
            <a:ext cx="1170905" cy="146843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48" name="Rectangle 337"/>
          <p:cNvSpPr>
            <a:spLocks noChangeArrowheads="1"/>
          </p:cNvSpPr>
          <p:nvPr/>
        </p:nvSpPr>
        <p:spPr bwMode="auto">
          <a:xfrm>
            <a:off x="7015932" y="5351170"/>
            <a:ext cx="941387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190500" indent="-190500" algn="just">
              <a:buFont typeface="Wingdings 2" pitchFamily="18" charset="2"/>
              <a:buNone/>
            </a:pPr>
            <a:r>
              <a:rPr lang="en-US" altLang="ko-KR" sz="9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Redmine</a:t>
            </a: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등록</a:t>
            </a:r>
          </a:p>
        </p:txBody>
      </p:sp>
      <p:sp>
        <p:nvSpPr>
          <p:cNvPr id="49" name="Rectangle 369"/>
          <p:cNvSpPr>
            <a:spLocks noChangeArrowheads="1"/>
          </p:cNvSpPr>
          <p:nvPr/>
        </p:nvSpPr>
        <p:spPr bwMode="auto">
          <a:xfrm>
            <a:off x="6290444" y="2670002"/>
            <a:ext cx="1692000" cy="2555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통합시험 시나리오 준비</a:t>
            </a:r>
          </a:p>
        </p:txBody>
      </p:sp>
      <p:sp>
        <p:nvSpPr>
          <p:cNvPr id="50" name="Rectangle 371"/>
          <p:cNvSpPr>
            <a:spLocks noChangeArrowheads="1"/>
          </p:cNvSpPr>
          <p:nvPr/>
        </p:nvSpPr>
        <p:spPr bwMode="auto">
          <a:xfrm>
            <a:off x="5265714" y="3181177"/>
            <a:ext cx="1746248" cy="2555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통합시나리오 공동 검토</a:t>
            </a:r>
          </a:p>
        </p:txBody>
      </p:sp>
      <p:cxnSp>
        <p:nvCxnSpPr>
          <p:cNvPr id="51" name="AutoShape 374"/>
          <p:cNvCxnSpPr>
            <a:cxnSpLocks noChangeShapeType="1"/>
            <a:stCxn id="49" idx="2"/>
            <a:endCxn id="50" idx="0"/>
          </p:cNvCxnSpPr>
          <p:nvPr/>
        </p:nvCxnSpPr>
        <p:spPr bwMode="auto">
          <a:xfrm rot="5400000">
            <a:off x="6509848" y="2554580"/>
            <a:ext cx="255587" cy="99760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52" name="AutoShape 375"/>
          <p:cNvCxnSpPr>
            <a:cxnSpLocks noChangeShapeType="1"/>
            <a:stCxn id="50" idx="2"/>
            <a:endCxn id="59" idx="0"/>
          </p:cNvCxnSpPr>
          <p:nvPr/>
        </p:nvCxnSpPr>
        <p:spPr bwMode="auto">
          <a:xfrm flipH="1">
            <a:off x="6138714" y="3436765"/>
            <a:ext cx="124" cy="255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3" name="Rectangle 391"/>
          <p:cNvSpPr>
            <a:spLocks noChangeArrowheads="1"/>
          </p:cNvSpPr>
          <p:nvPr/>
        </p:nvSpPr>
        <p:spPr bwMode="auto">
          <a:xfrm>
            <a:off x="7309619" y="5737052"/>
            <a:ext cx="1295400" cy="2555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품질 검토</a:t>
            </a:r>
          </a:p>
        </p:txBody>
      </p:sp>
      <p:cxnSp>
        <p:nvCxnSpPr>
          <p:cNvPr id="54" name="AutoShape 392"/>
          <p:cNvCxnSpPr>
            <a:cxnSpLocks noChangeShapeType="1"/>
            <a:stCxn id="37" idx="3"/>
            <a:endCxn id="53" idx="1"/>
          </p:cNvCxnSpPr>
          <p:nvPr/>
        </p:nvCxnSpPr>
        <p:spPr bwMode="auto">
          <a:xfrm>
            <a:off x="6949256" y="5865640"/>
            <a:ext cx="3603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5" name="Rectangle 393"/>
          <p:cNvSpPr>
            <a:spLocks noChangeArrowheads="1"/>
          </p:cNvSpPr>
          <p:nvPr/>
        </p:nvSpPr>
        <p:spPr bwMode="auto">
          <a:xfrm>
            <a:off x="7884368" y="5487815"/>
            <a:ext cx="839787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26" tIns="45714" rIns="91426" bIns="45714" anchor="ctr"/>
          <a:lstStyle/>
          <a:p>
            <a:pPr marL="190500" indent="-190500" algn="just">
              <a:buFont typeface="Wingdings 2" pitchFamily="18" charset="2"/>
              <a:buNone/>
            </a:pPr>
            <a:r>
              <a:rPr lang="ko-KR" altLang="en-US" sz="1000" b="1" dirty="0" err="1">
                <a:solidFill>
                  <a:srgbClr val="1D4D9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품질관리팀</a:t>
            </a:r>
            <a:endParaRPr lang="ko-KR" altLang="en-US" sz="1000" b="1" dirty="0">
              <a:solidFill>
                <a:srgbClr val="1D4D9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Rectangle 395"/>
          <p:cNvSpPr>
            <a:spLocks noChangeArrowheads="1"/>
          </p:cNvSpPr>
          <p:nvPr/>
        </p:nvSpPr>
        <p:spPr bwMode="auto">
          <a:xfrm>
            <a:off x="4932040" y="2463627"/>
            <a:ext cx="1206674" cy="2555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현업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Tester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선정</a:t>
            </a:r>
          </a:p>
        </p:txBody>
      </p:sp>
      <p:cxnSp>
        <p:nvCxnSpPr>
          <p:cNvPr id="57" name="AutoShape 396"/>
          <p:cNvCxnSpPr>
            <a:cxnSpLocks noChangeShapeType="1"/>
            <a:stCxn id="56" idx="2"/>
            <a:endCxn id="50" idx="0"/>
          </p:cNvCxnSpPr>
          <p:nvPr/>
        </p:nvCxnSpPr>
        <p:spPr bwMode="auto">
          <a:xfrm rot="16200000" flipH="1">
            <a:off x="5606126" y="2648464"/>
            <a:ext cx="461963" cy="60346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58" name="Rectangle 398"/>
          <p:cNvSpPr>
            <a:spLocks noChangeArrowheads="1"/>
          </p:cNvSpPr>
          <p:nvPr/>
        </p:nvSpPr>
        <p:spPr bwMode="auto">
          <a:xfrm>
            <a:off x="4828872" y="2204864"/>
            <a:ext cx="647700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26" tIns="45714" rIns="91426" bIns="45714" anchor="ctr"/>
          <a:lstStyle/>
          <a:p>
            <a:pPr marL="190500" indent="-190500">
              <a:buFont typeface="Wingdings 2" pitchFamily="18" charset="2"/>
              <a:buNone/>
            </a:pPr>
            <a:r>
              <a:rPr lang="ko-KR" altLang="en-US" sz="1000" b="1" dirty="0" err="1">
                <a:solidFill>
                  <a:srgbClr val="1D4D9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  <a:endParaRPr lang="en-US" altLang="ko-KR" sz="1000" b="1" dirty="0">
              <a:solidFill>
                <a:srgbClr val="1D4D9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Rectangle 401"/>
          <p:cNvSpPr>
            <a:spLocks noChangeArrowheads="1"/>
          </p:cNvSpPr>
          <p:nvPr/>
        </p:nvSpPr>
        <p:spPr bwMode="auto">
          <a:xfrm>
            <a:off x="5265714" y="3692352"/>
            <a:ext cx="1746000" cy="255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통합시험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환경준비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0" name="AutoShape 402"/>
          <p:cNvCxnSpPr>
            <a:cxnSpLocks noChangeShapeType="1"/>
            <a:stCxn id="59" idx="2"/>
            <a:endCxn id="34" idx="0"/>
          </p:cNvCxnSpPr>
          <p:nvPr/>
        </p:nvCxnSpPr>
        <p:spPr bwMode="auto">
          <a:xfrm>
            <a:off x="6138714" y="3947952"/>
            <a:ext cx="0" cy="255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1" name="Rectangle 403"/>
          <p:cNvSpPr>
            <a:spLocks noChangeArrowheads="1"/>
          </p:cNvSpPr>
          <p:nvPr/>
        </p:nvSpPr>
        <p:spPr bwMode="auto">
          <a:xfrm>
            <a:off x="4849738" y="4203527"/>
            <a:ext cx="514350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26" tIns="45714" rIns="91426" bIns="45714" anchor="ctr"/>
          <a:lstStyle/>
          <a:p>
            <a:pPr marL="190500" indent="-190500" algn="r">
              <a:buFont typeface="Wingdings 2" pitchFamily="18" charset="2"/>
              <a:buNone/>
            </a:pPr>
            <a:r>
              <a:rPr lang="ko-KR" altLang="en-US" sz="1000" b="1" dirty="0">
                <a:solidFill>
                  <a:srgbClr val="1D4D9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개발팀</a:t>
            </a:r>
          </a:p>
        </p:txBody>
      </p:sp>
    </p:spTree>
    <p:extLst>
      <p:ext uri="{BB962C8B-B14F-4D97-AF65-F5344CB8AC3E}">
        <p14:creationId xmlns:p14="http://schemas.microsoft.com/office/powerpoint/2010/main" val="232957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Group 3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949560"/>
              </p:ext>
            </p:extLst>
          </p:nvPr>
        </p:nvGraphicFramePr>
        <p:xfrm>
          <a:off x="523875" y="1647507"/>
          <a:ext cx="8152581" cy="4553469"/>
        </p:xfrm>
        <a:graphic>
          <a:graphicData uri="http://schemas.openxmlformats.org/drawingml/2006/table">
            <a:tbl>
              <a:tblPr/>
              <a:tblGrid>
                <a:gridCol w="2717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BPO /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현업</a:t>
                      </a:r>
                    </a:p>
                  </a:txBody>
                  <a:tcPr marL="76200" marR="76200" marT="57149" marB="57149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공동작업</a:t>
                      </a: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개발팀</a:t>
                      </a: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PL/ 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4406">
                <a:tc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8" marB="57148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8" marB="57148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8" marB="57148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8000"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8" marB="57148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8" marB="57148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8" marB="57148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수행 방안</a:t>
            </a:r>
            <a:r>
              <a:rPr lang="en-US" altLang="ko-KR" sz="2000" dirty="0"/>
              <a:t>(</a:t>
            </a:r>
            <a:r>
              <a:rPr lang="ko-KR" altLang="en-US" sz="2000" dirty="0"/>
              <a:t>통합 테스트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통합테스트는 </a:t>
            </a:r>
            <a:r>
              <a:rPr lang="ko-KR" altLang="en-US" b="0" dirty="0" err="1"/>
              <a:t>프로젝트팀</a:t>
            </a:r>
            <a:r>
              <a:rPr lang="ko-KR" altLang="en-US" b="0" dirty="0"/>
              <a:t> 과 </a:t>
            </a:r>
            <a:r>
              <a:rPr lang="en-US" altLang="ko-KR" b="0" dirty="0"/>
              <a:t>BPO, </a:t>
            </a:r>
            <a:r>
              <a:rPr lang="ko-KR" altLang="en-US" b="0" dirty="0"/>
              <a:t>협업과의 유기적인 협조체계가 필요함</a:t>
            </a:r>
            <a:r>
              <a:rPr lang="en-US" altLang="ko-KR" b="0" dirty="0"/>
              <a:t>. </a:t>
            </a:r>
            <a:r>
              <a:rPr lang="ko-KR" altLang="en-US" b="0" dirty="0"/>
              <a:t>따라서 계획</a:t>
            </a:r>
            <a:r>
              <a:rPr lang="en-US" altLang="ko-KR" b="0" dirty="0"/>
              <a:t>/</a:t>
            </a:r>
            <a:r>
              <a:rPr lang="ko-KR" altLang="en-US" b="0" dirty="0"/>
              <a:t>테스트케이스</a:t>
            </a:r>
            <a:r>
              <a:rPr lang="en-US" altLang="ko-KR" b="0" dirty="0"/>
              <a:t>/</a:t>
            </a:r>
            <a:r>
              <a:rPr lang="ko-KR" altLang="en-US" b="0" dirty="0"/>
              <a:t>시나리오에 대한 공동 검토 필수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20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sp>
        <p:nvSpPr>
          <p:cNvPr id="107" name="Rectangle 57"/>
          <p:cNvSpPr>
            <a:spLocks noChangeArrowheads="1"/>
          </p:cNvSpPr>
          <p:nvPr/>
        </p:nvSpPr>
        <p:spPr bwMode="auto">
          <a:xfrm>
            <a:off x="3780112" y="2341909"/>
            <a:ext cx="1800000" cy="27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 조직 구성</a:t>
            </a:r>
          </a:p>
        </p:txBody>
      </p:sp>
      <p:sp>
        <p:nvSpPr>
          <p:cNvPr id="108" name="Rectangle 60"/>
          <p:cNvSpPr>
            <a:spLocks noChangeArrowheads="1"/>
          </p:cNvSpPr>
          <p:nvPr/>
        </p:nvSpPr>
        <p:spPr bwMode="auto">
          <a:xfrm>
            <a:off x="3780112" y="2840385"/>
            <a:ext cx="1800000" cy="27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 절차서 검토</a:t>
            </a:r>
          </a:p>
        </p:txBody>
      </p:sp>
      <p:sp>
        <p:nvSpPr>
          <p:cNvPr id="109" name="Rectangle 116"/>
          <p:cNvSpPr>
            <a:spLocks noChangeArrowheads="1"/>
          </p:cNvSpPr>
          <p:nvPr/>
        </p:nvSpPr>
        <p:spPr bwMode="auto">
          <a:xfrm>
            <a:off x="1042220" y="2840385"/>
            <a:ext cx="1800000" cy="27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 케이스 준비</a:t>
            </a:r>
          </a:p>
        </p:txBody>
      </p:sp>
      <p:sp>
        <p:nvSpPr>
          <p:cNvPr id="110" name="Rectangle 118"/>
          <p:cNvSpPr>
            <a:spLocks noChangeArrowheads="1"/>
          </p:cNvSpPr>
          <p:nvPr/>
        </p:nvSpPr>
        <p:spPr bwMode="auto">
          <a:xfrm>
            <a:off x="1042220" y="2341909"/>
            <a:ext cx="1800000" cy="27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 참여자 선정</a:t>
            </a:r>
          </a:p>
        </p:txBody>
      </p:sp>
      <p:sp>
        <p:nvSpPr>
          <p:cNvPr id="112" name="Rectangle 121"/>
          <p:cNvSpPr>
            <a:spLocks noChangeArrowheads="1"/>
          </p:cNvSpPr>
          <p:nvPr/>
        </p:nvSpPr>
        <p:spPr bwMode="auto">
          <a:xfrm>
            <a:off x="6129264" y="3496022"/>
            <a:ext cx="1800000" cy="27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통합시험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데이터 준비</a:t>
            </a:r>
          </a:p>
        </p:txBody>
      </p:sp>
      <p:sp>
        <p:nvSpPr>
          <p:cNvPr id="115" name="Rectangle 149"/>
          <p:cNvSpPr>
            <a:spLocks noChangeArrowheads="1"/>
          </p:cNvSpPr>
          <p:nvPr/>
        </p:nvSpPr>
        <p:spPr bwMode="auto">
          <a:xfrm>
            <a:off x="3780112" y="3534121"/>
            <a:ext cx="1800000" cy="27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  <a:defRPr/>
            </a:pP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통합시험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공간 확보</a:t>
            </a:r>
          </a:p>
        </p:txBody>
      </p:sp>
      <p:sp>
        <p:nvSpPr>
          <p:cNvPr id="117" name="Rectangle 151"/>
          <p:cNvSpPr>
            <a:spLocks noChangeArrowheads="1"/>
          </p:cNvSpPr>
          <p:nvPr/>
        </p:nvSpPr>
        <p:spPr bwMode="auto">
          <a:xfrm>
            <a:off x="3780112" y="3930996"/>
            <a:ext cx="1800000" cy="27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  <a:defRPr/>
            </a:pP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통합시험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장비 확보</a:t>
            </a:r>
          </a:p>
        </p:txBody>
      </p:sp>
      <p:sp>
        <p:nvSpPr>
          <p:cNvPr id="119" name="Rectangle 156"/>
          <p:cNvSpPr>
            <a:spLocks noChangeArrowheads="1"/>
          </p:cNvSpPr>
          <p:nvPr/>
        </p:nvSpPr>
        <p:spPr bwMode="auto">
          <a:xfrm>
            <a:off x="3780112" y="4778721"/>
            <a:ext cx="1800000" cy="27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통합 테스트 수행</a:t>
            </a:r>
          </a:p>
        </p:txBody>
      </p:sp>
      <p:sp>
        <p:nvSpPr>
          <p:cNvPr id="121" name="Rectangle 162"/>
          <p:cNvSpPr>
            <a:spLocks noChangeArrowheads="1"/>
          </p:cNvSpPr>
          <p:nvPr/>
        </p:nvSpPr>
        <p:spPr bwMode="auto">
          <a:xfrm>
            <a:off x="3780112" y="5224810"/>
            <a:ext cx="1800000" cy="27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오류 내역 공동 검토</a:t>
            </a:r>
          </a:p>
        </p:txBody>
      </p:sp>
      <p:sp>
        <p:nvSpPr>
          <p:cNvPr id="123" name="Rectangle 164"/>
          <p:cNvSpPr>
            <a:spLocks noChangeArrowheads="1"/>
          </p:cNvSpPr>
          <p:nvPr/>
        </p:nvSpPr>
        <p:spPr bwMode="auto">
          <a:xfrm>
            <a:off x="6129264" y="5224810"/>
            <a:ext cx="1800000" cy="27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보완 작업</a:t>
            </a:r>
          </a:p>
        </p:txBody>
      </p:sp>
      <p:sp>
        <p:nvSpPr>
          <p:cNvPr id="125" name="Rectangle 168"/>
          <p:cNvSpPr>
            <a:spLocks noChangeArrowheads="1"/>
          </p:cNvSpPr>
          <p:nvPr/>
        </p:nvSpPr>
        <p:spPr bwMode="auto">
          <a:xfrm>
            <a:off x="3780112" y="5624860"/>
            <a:ext cx="1800000" cy="27000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결과 확인</a:t>
            </a:r>
          </a:p>
        </p:txBody>
      </p:sp>
      <p:cxnSp>
        <p:nvCxnSpPr>
          <p:cNvPr id="126" name="AutoShape 170"/>
          <p:cNvCxnSpPr>
            <a:cxnSpLocks noChangeShapeType="1"/>
            <a:stCxn id="123" idx="2"/>
            <a:endCxn id="125" idx="3"/>
          </p:cNvCxnSpPr>
          <p:nvPr/>
        </p:nvCxnSpPr>
        <p:spPr bwMode="auto">
          <a:xfrm rot="5400000">
            <a:off x="6172163" y="4902759"/>
            <a:ext cx="265050" cy="1449152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27" name="Oval 174"/>
          <p:cNvSpPr>
            <a:spLocks noChangeArrowheads="1"/>
          </p:cNvSpPr>
          <p:nvPr/>
        </p:nvSpPr>
        <p:spPr bwMode="auto">
          <a:xfrm>
            <a:off x="3600725" y="2186335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</a:p>
        </p:txBody>
      </p:sp>
      <p:sp>
        <p:nvSpPr>
          <p:cNvPr id="128" name="Oval 175"/>
          <p:cNvSpPr>
            <a:spLocks noChangeArrowheads="1"/>
          </p:cNvSpPr>
          <p:nvPr/>
        </p:nvSpPr>
        <p:spPr bwMode="auto">
          <a:xfrm>
            <a:off x="897758" y="2631257"/>
            <a:ext cx="252000" cy="252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  <p:sp>
        <p:nvSpPr>
          <p:cNvPr id="129" name="Oval 183"/>
          <p:cNvSpPr>
            <a:spLocks noChangeArrowheads="1"/>
          </p:cNvSpPr>
          <p:nvPr/>
        </p:nvSpPr>
        <p:spPr bwMode="auto">
          <a:xfrm>
            <a:off x="3600725" y="2670522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</a:p>
        </p:txBody>
      </p:sp>
      <p:sp>
        <p:nvSpPr>
          <p:cNvPr id="130" name="Oval 184"/>
          <p:cNvSpPr>
            <a:spLocks noChangeArrowheads="1"/>
          </p:cNvSpPr>
          <p:nvPr/>
        </p:nvSpPr>
        <p:spPr bwMode="auto">
          <a:xfrm>
            <a:off x="3600725" y="3393024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</a:p>
        </p:txBody>
      </p:sp>
      <p:sp>
        <p:nvSpPr>
          <p:cNvPr id="131" name="Oval 188"/>
          <p:cNvSpPr>
            <a:spLocks noChangeArrowheads="1"/>
          </p:cNvSpPr>
          <p:nvPr/>
        </p:nvSpPr>
        <p:spPr bwMode="auto">
          <a:xfrm>
            <a:off x="6012160" y="3356992"/>
            <a:ext cx="252000" cy="25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</a:p>
        </p:txBody>
      </p:sp>
      <p:sp>
        <p:nvSpPr>
          <p:cNvPr id="132" name="Oval 189"/>
          <p:cNvSpPr>
            <a:spLocks noChangeArrowheads="1"/>
          </p:cNvSpPr>
          <p:nvPr/>
        </p:nvSpPr>
        <p:spPr bwMode="auto">
          <a:xfrm>
            <a:off x="3600725" y="3825072"/>
            <a:ext cx="252412" cy="2159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</a:p>
        </p:txBody>
      </p:sp>
      <p:sp>
        <p:nvSpPr>
          <p:cNvPr id="133" name="Oval 191"/>
          <p:cNvSpPr>
            <a:spLocks noChangeArrowheads="1"/>
          </p:cNvSpPr>
          <p:nvPr/>
        </p:nvSpPr>
        <p:spPr bwMode="auto">
          <a:xfrm>
            <a:off x="3600725" y="4689168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</a:p>
        </p:txBody>
      </p:sp>
      <p:sp>
        <p:nvSpPr>
          <p:cNvPr id="134" name="Oval 192"/>
          <p:cNvSpPr>
            <a:spLocks noChangeArrowheads="1"/>
          </p:cNvSpPr>
          <p:nvPr/>
        </p:nvSpPr>
        <p:spPr bwMode="auto">
          <a:xfrm>
            <a:off x="3600725" y="5121216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</a:p>
        </p:txBody>
      </p:sp>
      <p:sp>
        <p:nvSpPr>
          <p:cNvPr id="135" name="Oval 194"/>
          <p:cNvSpPr>
            <a:spLocks noChangeArrowheads="1"/>
          </p:cNvSpPr>
          <p:nvPr/>
        </p:nvSpPr>
        <p:spPr bwMode="auto">
          <a:xfrm>
            <a:off x="6012160" y="5125467"/>
            <a:ext cx="252000" cy="25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</a:p>
        </p:txBody>
      </p:sp>
      <p:sp>
        <p:nvSpPr>
          <p:cNvPr id="136" name="Oval 195"/>
          <p:cNvSpPr>
            <a:spLocks noChangeArrowheads="1"/>
          </p:cNvSpPr>
          <p:nvPr/>
        </p:nvSpPr>
        <p:spPr bwMode="auto">
          <a:xfrm>
            <a:off x="3600725" y="5481256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r>
          </a:p>
        </p:txBody>
      </p:sp>
      <p:cxnSp>
        <p:nvCxnSpPr>
          <p:cNvPr id="137" name="AutoShape 198"/>
          <p:cNvCxnSpPr>
            <a:cxnSpLocks noChangeShapeType="1"/>
            <a:stCxn id="108" idx="2"/>
            <a:endCxn id="112" idx="0"/>
          </p:cNvCxnSpPr>
          <p:nvPr/>
        </p:nvCxnSpPr>
        <p:spPr bwMode="auto">
          <a:xfrm rot="16200000" flipH="1">
            <a:off x="5661870" y="2128627"/>
            <a:ext cx="385637" cy="2349152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38" name="Rectangle 200"/>
          <p:cNvSpPr>
            <a:spLocks noChangeArrowheads="1"/>
          </p:cNvSpPr>
          <p:nvPr/>
        </p:nvSpPr>
        <p:spPr bwMode="auto">
          <a:xfrm>
            <a:off x="3780112" y="4362796"/>
            <a:ext cx="1800000" cy="27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참여자 이동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교육</a:t>
            </a:r>
          </a:p>
        </p:txBody>
      </p:sp>
      <p:sp>
        <p:nvSpPr>
          <p:cNvPr id="139" name="Oval 201"/>
          <p:cNvSpPr>
            <a:spLocks noChangeArrowheads="1"/>
          </p:cNvSpPr>
          <p:nvPr/>
        </p:nvSpPr>
        <p:spPr bwMode="auto">
          <a:xfrm>
            <a:off x="3600725" y="4257120"/>
            <a:ext cx="252000" cy="25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</a:p>
        </p:txBody>
      </p:sp>
      <p:sp>
        <p:nvSpPr>
          <p:cNvPr id="140" name="Rectangle 122"/>
          <p:cNvSpPr>
            <a:spLocks noChangeArrowheads="1"/>
          </p:cNvSpPr>
          <p:nvPr/>
        </p:nvSpPr>
        <p:spPr bwMode="auto">
          <a:xfrm>
            <a:off x="6803900" y="2330797"/>
            <a:ext cx="1800000" cy="27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  <a:defRPr/>
            </a:pP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통합시험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계획수립</a:t>
            </a:r>
          </a:p>
        </p:txBody>
      </p:sp>
      <p:sp>
        <p:nvSpPr>
          <p:cNvPr id="142" name="Rectangle 124"/>
          <p:cNvSpPr>
            <a:spLocks noChangeArrowheads="1"/>
          </p:cNvSpPr>
          <p:nvPr/>
        </p:nvSpPr>
        <p:spPr bwMode="auto">
          <a:xfrm>
            <a:off x="6803900" y="2843560"/>
            <a:ext cx="1800000" cy="27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 시나리오 준비</a:t>
            </a:r>
          </a:p>
        </p:txBody>
      </p:sp>
      <p:sp>
        <p:nvSpPr>
          <p:cNvPr id="144" name="Oval 180"/>
          <p:cNvSpPr>
            <a:spLocks noChangeArrowheads="1"/>
          </p:cNvSpPr>
          <p:nvPr/>
        </p:nvSpPr>
        <p:spPr bwMode="auto">
          <a:xfrm>
            <a:off x="6660232" y="2702272"/>
            <a:ext cx="252000" cy="25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</a:p>
        </p:txBody>
      </p:sp>
      <p:sp>
        <p:nvSpPr>
          <p:cNvPr id="145" name="Oval 182"/>
          <p:cNvSpPr>
            <a:spLocks noChangeArrowheads="1"/>
          </p:cNvSpPr>
          <p:nvPr/>
        </p:nvSpPr>
        <p:spPr bwMode="auto">
          <a:xfrm>
            <a:off x="6660232" y="2204864"/>
            <a:ext cx="252000" cy="25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</a:p>
        </p:txBody>
      </p:sp>
      <p:sp>
        <p:nvSpPr>
          <p:cNvPr id="146" name="Oval 175"/>
          <p:cNvSpPr>
            <a:spLocks noChangeArrowheads="1"/>
          </p:cNvSpPr>
          <p:nvPr/>
        </p:nvSpPr>
        <p:spPr bwMode="auto">
          <a:xfrm>
            <a:off x="897758" y="2132856"/>
            <a:ext cx="252000" cy="252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sp>
        <p:nvSpPr>
          <p:cNvPr id="147" name="Rectangle 116"/>
          <p:cNvSpPr>
            <a:spLocks noChangeArrowheads="1"/>
          </p:cNvSpPr>
          <p:nvPr/>
        </p:nvSpPr>
        <p:spPr bwMode="auto">
          <a:xfrm>
            <a:off x="1042220" y="3930996"/>
            <a:ext cx="1800000" cy="27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  <a:defRPr/>
            </a:pP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테스트장비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제공</a:t>
            </a:r>
          </a:p>
        </p:txBody>
      </p:sp>
      <p:sp>
        <p:nvSpPr>
          <p:cNvPr id="149" name="Oval 175"/>
          <p:cNvSpPr>
            <a:spLocks noChangeArrowheads="1"/>
          </p:cNvSpPr>
          <p:nvPr/>
        </p:nvSpPr>
        <p:spPr bwMode="auto">
          <a:xfrm>
            <a:off x="897758" y="3691111"/>
            <a:ext cx="252000" cy="252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</a:p>
        </p:txBody>
      </p:sp>
      <p:cxnSp>
        <p:nvCxnSpPr>
          <p:cNvPr id="6" name="직선 화살표 연결선 5"/>
          <p:cNvCxnSpPr>
            <a:stCxn id="110" idx="3"/>
            <a:endCxn id="107" idx="1"/>
          </p:cNvCxnSpPr>
          <p:nvPr/>
        </p:nvCxnSpPr>
        <p:spPr>
          <a:xfrm>
            <a:off x="2842220" y="2476909"/>
            <a:ext cx="937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직선 화살표 연결선 238"/>
          <p:cNvCxnSpPr>
            <a:stCxn id="109" idx="3"/>
            <a:endCxn id="108" idx="1"/>
          </p:cNvCxnSpPr>
          <p:nvPr/>
        </p:nvCxnSpPr>
        <p:spPr>
          <a:xfrm>
            <a:off x="2842220" y="2975385"/>
            <a:ext cx="937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화살표 연결선 239"/>
          <p:cNvCxnSpPr>
            <a:stCxn id="147" idx="3"/>
            <a:endCxn id="117" idx="1"/>
          </p:cNvCxnSpPr>
          <p:nvPr/>
        </p:nvCxnSpPr>
        <p:spPr>
          <a:xfrm>
            <a:off x="2842220" y="4065996"/>
            <a:ext cx="937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직선 화살표 연결선 240"/>
          <p:cNvCxnSpPr>
            <a:stCxn id="107" idx="2"/>
            <a:endCxn id="108" idx="0"/>
          </p:cNvCxnSpPr>
          <p:nvPr/>
        </p:nvCxnSpPr>
        <p:spPr>
          <a:xfrm>
            <a:off x="4680112" y="2611909"/>
            <a:ext cx="0" cy="2284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화살표 연결선 241"/>
          <p:cNvCxnSpPr>
            <a:stCxn id="108" idx="2"/>
            <a:endCxn id="115" idx="0"/>
          </p:cNvCxnSpPr>
          <p:nvPr/>
        </p:nvCxnSpPr>
        <p:spPr>
          <a:xfrm>
            <a:off x="4680112" y="3110385"/>
            <a:ext cx="0" cy="4237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직선 화살표 연결선 242"/>
          <p:cNvCxnSpPr>
            <a:stCxn id="115" idx="2"/>
            <a:endCxn id="117" idx="0"/>
          </p:cNvCxnSpPr>
          <p:nvPr/>
        </p:nvCxnSpPr>
        <p:spPr>
          <a:xfrm>
            <a:off x="4680112" y="3804121"/>
            <a:ext cx="0" cy="126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직선 화살표 연결선 243"/>
          <p:cNvCxnSpPr>
            <a:stCxn id="117" idx="2"/>
            <a:endCxn id="138" idx="0"/>
          </p:cNvCxnSpPr>
          <p:nvPr/>
        </p:nvCxnSpPr>
        <p:spPr>
          <a:xfrm>
            <a:off x="4680112" y="4200996"/>
            <a:ext cx="0" cy="161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화살표 연결선 244"/>
          <p:cNvCxnSpPr>
            <a:stCxn id="138" idx="2"/>
            <a:endCxn id="119" idx="0"/>
          </p:cNvCxnSpPr>
          <p:nvPr/>
        </p:nvCxnSpPr>
        <p:spPr>
          <a:xfrm>
            <a:off x="4680112" y="4632796"/>
            <a:ext cx="0" cy="1459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화살표 연결선 245"/>
          <p:cNvCxnSpPr>
            <a:stCxn id="119" idx="2"/>
            <a:endCxn id="121" idx="0"/>
          </p:cNvCxnSpPr>
          <p:nvPr/>
        </p:nvCxnSpPr>
        <p:spPr>
          <a:xfrm>
            <a:off x="4680112" y="5048721"/>
            <a:ext cx="0" cy="1760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/>
          <p:cNvCxnSpPr>
            <a:stCxn id="121" idx="3"/>
            <a:endCxn id="123" idx="1"/>
          </p:cNvCxnSpPr>
          <p:nvPr/>
        </p:nvCxnSpPr>
        <p:spPr>
          <a:xfrm>
            <a:off x="5580112" y="5359810"/>
            <a:ext cx="5491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직선 화살표 연결선 248"/>
          <p:cNvCxnSpPr>
            <a:stCxn id="142" idx="1"/>
            <a:endCxn id="108" idx="3"/>
          </p:cNvCxnSpPr>
          <p:nvPr/>
        </p:nvCxnSpPr>
        <p:spPr>
          <a:xfrm flipH="1" flipV="1">
            <a:off x="5580112" y="2975385"/>
            <a:ext cx="1223788" cy="3175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251" name="직선 화살표 연결선 250"/>
          <p:cNvCxnSpPr>
            <a:stCxn id="140" idx="2"/>
            <a:endCxn id="142" idx="0"/>
          </p:cNvCxnSpPr>
          <p:nvPr/>
        </p:nvCxnSpPr>
        <p:spPr>
          <a:xfrm>
            <a:off x="7703900" y="2600797"/>
            <a:ext cx="0" cy="242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0421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Group 3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412710"/>
              </p:ext>
            </p:extLst>
          </p:nvPr>
        </p:nvGraphicFramePr>
        <p:xfrm>
          <a:off x="523875" y="1647507"/>
          <a:ext cx="8152581" cy="4719847"/>
        </p:xfrm>
        <a:graphic>
          <a:graphicData uri="http://schemas.openxmlformats.org/drawingml/2006/table">
            <a:tbl>
              <a:tblPr/>
              <a:tblGrid>
                <a:gridCol w="694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1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06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 내역</a:t>
                      </a:r>
                    </a:p>
                  </a:txBody>
                  <a:tcPr marL="76200" marR="76200" marT="57149" marB="57149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 절차</a:t>
                      </a: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506">
                <a:tc gridSpan="2"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 계획 수립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시험순서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일정표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0" marR="76200" marT="57148" marB="57148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1D4D93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4758">
                <a:tc gridSpan="2"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 준비 사항</a:t>
                      </a: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대상 시스템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선정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 Test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자료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Load</a:t>
                      </a:r>
                    </a:p>
                    <a:p>
                      <a:pPr marL="95250" marR="0" lvl="0" indent="-95250" algn="just" defTabSz="855663" rtl="0" eaLnBrk="0" fontAlgn="base" latinLnBrk="0" hangingPunct="0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성능테스트 계획 작성 및 검토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5250" marR="0" lvl="0" indent="-95250" algn="just" defTabSz="855663" rtl="0" eaLnBrk="0" fontAlgn="base" latinLnBrk="0" hangingPunct="0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툴 설치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8" marB="57148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9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289">
                <a:tc rowSpan="2" gridSpan="2"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 계획에 의거 실시</a:t>
                      </a: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 결과에 따라 시스템 설정 조정 및 필요 시 업체에 조치 의뢰</a:t>
                      </a: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모든 오류 내역은 </a:t>
                      </a:r>
                      <a:r>
                        <a:rPr kumimoji="1" lang="en-US" altLang="ko-KR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Redmine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기록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추적 관리</a:t>
                      </a:r>
                    </a:p>
                  </a:txBody>
                  <a:tcPr marL="76200" marR="76200" marT="57148" marB="57148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543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9537"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결과물</a:t>
                      </a:r>
                    </a:p>
                  </a:txBody>
                  <a:tcPr marL="76200" marR="76200" marT="57148" marB="57148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 계획서</a:t>
                      </a: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 결과서</a:t>
                      </a:r>
                    </a:p>
                    <a:p>
                      <a:pPr marL="95250" marR="0" lvl="0" indent="-95250" algn="l" defTabSz="855663" rtl="0" eaLnBrk="0" fontAlgn="base" latinLnBrk="0" hangingPunct="0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1" lang="en-US" altLang="ko-KR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Redmine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수정요청 목록 및 처리 결과</a:t>
                      </a:r>
                    </a:p>
                  </a:txBody>
                  <a:tcPr marL="76200" marR="76200" marT="57148" marB="5714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"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49" marB="57149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수행 방안</a:t>
            </a:r>
            <a:r>
              <a:rPr lang="en-US" altLang="ko-KR" sz="2000" dirty="0"/>
              <a:t>(</a:t>
            </a:r>
            <a:r>
              <a:rPr lang="ko-KR" altLang="en-US" sz="2000" dirty="0"/>
              <a:t>성능 테스트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실 운영 환경과 유사한 데이터 </a:t>
            </a:r>
            <a:r>
              <a:rPr lang="en-US" altLang="ko-KR" b="0" dirty="0"/>
              <a:t>Load </a:t>
            </a:r>
            <a:r>
              <a:rPr lang="ko-KR" altLang="en-US" b="0" dirty="0"/>
              <a:t>후 검증된 툴을 이용한 성능 테스트 실시로 시스템 성능에 대한 안정성 검증을 수행</a:t>
            </a:r>
            <a:endParaRPr lang="en-US" altLang="ko-KR" b="0" dirty="0"/>
          </a:p>
          <a:p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21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sp>
        <p:nvSpPr>
          <p:cNvPr id="62" name="Rectangle 146"/>
          <p:cNvSpPr>
            <a:spLocks noChangeArrowheads="1"/>
          </p:cNvSpPr>
          <p:nvPr/>
        </p:nvSpPr>
        <p:spPr bwMode="auto">
          <a:xfrm>
            <a:off x="5562848" y="2276872"/>
            <a:ext cx="1549400" cy="25558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시험 계획수립</a:t>
            </a:r>
          </a:p>
        </p:txBody>
      </p:sp>
      <p:sp>
        <p:nvSpPr>
          <p:cNvPr id="63" name="Rectangle 147"/>
          <p:cNvSpPr>
            <a:spLocks noChangeArrowheads="1"/>
          </p:cNvSpPr>
          <p:nvPr/>
        </p:nvSpPr>
        <p:spPr bwMode="auto">
          <a:xfrm>
            <a:off x="5562848" y="3453210"/>
            <a:ext cx="1549400" cy="255587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시험 데이터 준비</a:t>
            </a:r>
          </a:p>
        </p:txBody>
      </p:sp>
      <p:sp>
        <p:nvSpPr>
          <p:cNvPr id="64" name="Rectangle 148"/>
          <p:cNvSpPr>
            <a:spLocks noChangeArrowheads="1"/>
          </p:cNvSpPr>
          <p:nvPr/>
        </p:nvSpPr>
        <p:spPr bwMode="auto">
          <a:xfrm>
            <a:off x="5562848" y="3972322"/>
            <a:ext cx="1549400" cy="25558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 수행</a:t>
            </a:r>
          </a:p>
        </p:txBody>
      </p:sp>
      <p:sp>
        <p:nvSpPr>
          <p:cNvPr id="65" name="Rectangle 150"/>
          <p:cNvSpPr>
            <a:spLocks noChangeArrowheads="1"/>
          </p:cNvSpPr>
          <p:nvPr/>
        </p:nvSpPr>
        <p:spPr bwMode="auto">
          <a:xfrm>
            <a:off x="5564436" y="5031185"/>
            <a:ext cx="1549400" cy="255587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 보고</a:t>
            </a:r>
          </a:p>
        </p:txBody>
      </p:sp>
      <p:sp>
        <p:nvSpPr>
          <p:cNvPr id="66" name="Rectangle 151"/>
          <p:cNvSpPr>
            <a:spLocks noChangeArrowheads="1"/>
          </p:cNvSpPr>
          <p:nvPr/>
        </p:nvSpPr>
        <p:spPr bwMode="auto">
          <a:xfrm>
            <a:off x="7380312" y="3842147"/>
            <a:ext cx="1240358" cy="6754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9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설정 변경</a:t>
            </a:r>
          </a:p>
          <a:p>
            <a:pPr algn="ctr">
              <a:lnSpc>
                <a:spcPct val="90000"/>
              </a:lnSpc>
            </a:pP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공급사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의뢰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</a:p>
          <a:p>
            <a:pPr algn="ctr">
              <a:lnSpc>
                <a:spcPct val="90000"/>
              </a:lnSpc>
            </a:pPr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Pgm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</a:p>
        </p:txBody>
      </p:sp>
      <p:cxnSp>
        <p:nvCxnSpPr>
          <p:cNvPr id="67" name="AutoShape 153"/>
          <p:cNvCxnSpPr>
            <a:cxnSpLocks noChangeShapeType="1"/>
            <a:stCxn id="62" idx="2"/>
            <a:endCxn id="77" idx="0"/>
          </p:cNvCxnSpPr>
          <p:nvPr/>
        </p:nvCxnSpPr>
        <p:spPr bwMode="auto">
          <a:xfrm rot="5400000">
            <a:off x="6271667" y="2598341"/>
            <a:ext cx="13176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8" name="AutoShape 154"/>
          <p:cNvCxnSpPr>
            <a:cxnSpLocks noChangeShapeType="1"/>
            <a:stCxn id="63" idx="2"/>
            <a:endCxn id="64" idx="0"/>
          </p:cNvCxnSpPr>
          <p:nvPr/>
        </p:nvCxnSpPr>
        <p:spPr bwMode="auto">
          <a:xfrm rot="5400000">
            <a:off x="6205786" y="3840560"/>
            <a:ext cx="263525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9" name="AutoShape 155"/>
          <p:cNvCxnSpPr>
            <a:cxnSpLocks noChangeShapeType="1"/>
            <a:stCxn id="64" idx="2"/>
            <a:endCxn id="72" idx="0"/>
          </p:cNvCxnSpPr>
          <p:nvPr/>
        </p:nvCxnSpPr>
        <p:spPr bwMode="auto">
          <a:xfrm rot="5400000">
            <a:off x="6235155" y="4328716"/>
            <a:ext cx="203200" cy="158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70" name="AutoShape 157"/>
          <p:cNvCxnSpPr>
            <a:cxnSpLocks noChangeShapeType="1"/>
            <a:stCxn id="72" idx="2"/>
            <a:endCxn id="65" idx="0"/>
          </p:cNvCxnSpPr>
          <p:nvPr/>
        </p:nvCxnSpPr>
        <p:spPr bwMode="auto">
          <a:xfrm rot="16200000" flipH="1">
            <a:off x="6217692" y="4909741"/>
            <a:ext cx="239713" cy="31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71" name="Rectangle 162"/>
          <p:cNvSpPr>
            <a:spLocks noChangeArrowheads="1"/>
          </p:cNvSpPr>
          <p:nvPr/>
        </p:nvSpPr>
        <p:spPr bwMode="auto">
          <a:xfrm>
            <a:off x="6389936" y="4812110"/>
            <a:ext cx="427037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190500" indent="-190500" algn="just">
              <a:buFont typeface="Wingdings 2" pitchFamily="18" charset="2"/>
              <a:buNone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YES</a:t>
            </a:r>
          </a:p>
        </p:txBody>
      </p:sp>
      <p:sp>
        <p:nvSpPr>
          <p:cNvPr id="72" name="AutoShape 163"/>
          <p:cNvSpPr>
            <a:spLocks noChangeArrowheads="1"/>
          </p:cNvSpPr>
          <p:nvPr/>
        </p:nvSpPr>
        <p:spPr bwMode="auto">
          <a:xfrm>
            <a:off x="5527923" y="4431110"/>
            <a:ext cx="1614488" cy="360362"/>
          </a:xfrm>
          <a:prstGeom prst="flowChartDecision">
            <a:avLst/>
          </a:prstGeom>
          <a:solidFill>
            <a:schemeClr val="bg1">
              <a:lumMod val="6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요건충족</a:t>
            </a:r>
          </a:p>
        </p:txBody>
      </p:sp>
      <p:sp>
        <p:nvSpPr>
          <p:cNvPr id="73" name="Rectangle 167"/>
          <p:cNvSpPr>
            <a:spLocks noChangeArrowheads="1"/>
          </p:cNvSpPr>
          <p:nvPr/>
        </p:nvSpPr>
        <p:spPr bwMode="auto">
          <a:xfrm>
            <a:off x="7131298" y="4389835"/>
            <a:ext cx="306388" cy="25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190500" indent="-190500" algn="just">
              <a:buFont typeface="Wingdings 2" pitchFamily="18" charset="2"/>
              <a:buNone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NO</a:t>
            </a:r>
          </a:p>
        </p:txBody>
      </p:sp>
      <p:cxnSp>
        <p:nvCxnSpPr>
          <p:cNvPr id="74" name="AutoShape 169"/>
          <p:cNvCxnSpPr>
            <a:cxnSpLocks noChangeShapeType="1"/>
            <a:stCxn id="72" idx="3"/>
            <a:endCxn id="66" idx="2"/>
          </p:cNvCxnSpPr>
          <p:nvPr/>
        </p:nvCxnSpPr>
        <p:spPr bwMode="auto">
          <a:xfrm flipV="1">
            <a:off x="7142411" y="4517628"/>
            <a:ext cx="858080" cy="93663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75" name="AutoShape 172"/>
          <p:cNvCxnSpPr>
            <a:cxnSpLocks noChangeShapeType="1"/>
            <a:stCxn id="66" idx="0"/>
            <a:endCxn id="64" idx="0"/>
          </p:cNvCxnSpPr>
          <p:nvPr/>
        </p:nvCxnSpPr>
        <p:spPr bwMode="auto">
          <a:xfrm rot="16200000" flipH="1" flipV="1">
            <a:off x="7103932" y="3075762"/>
            <a:ext cx="130175" cy="1662943"/>
          </a:xfrm>
          <a:prstGeom prst="bentConnector3">
            <a:avLst>
              <a:gd name="adj1" fmla="val -545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76" name="Rectangle 174"/>
          <p:cNvSpPr>
            <a:spLocks noChangeArrowheads="1"/>
          </p:cNvSpPr>
          <p:nvPr/>
        </p:nvSpPr>
        <p:spPr bwMode="auto">
          <a:xfrm>
            <a:off x="5004048" y="3453210"/>
            <a:ext cx="450850" cy="25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26" tIns="45714" rIns="91426" bIns="45714" anchor="ctr"/>
          <a:lstStyle/>
          <a:p>
            <a:pPr marL="190500" indent="-190500" algn="just">
              <a:buFont typeface="Wingdings 2" pitchFamily="18" charset="2"/>
              <a:buNone/>
            </a:pPr>
            <a:r>
              <a:rPr lang="en-US" altLang="ko-KR" sz="1000" b="1" dirty="0">
                <a:solidFill>
                  <a:srgbClr val="1D4D9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DA+PL</a:t>
            </a:r>
          </a:p>
        </p:txBody>
      </p:sp>
      <p:sp>
        <p:nvSpPr>
          <p:cNvPr id="77" name="Rectangle 177"/>
          <p:cNvSpPr>
            <a:spLocks noChangeArrowheads="1"/>
          </p:cNvSpPr>
          <p:nvPr/>
        </p:nvSpPr>
        <p:spPr bwMode="auto">
          <a:xfrm>
            <a:off x="5562848" y="2664222"/>
            <a:ext cx="1549400" cy="25558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대상시스템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/PGM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선정</a:t>
            </a:r>
          </a:p>
        </p:txBody>
      </p:sp>
      <p:cxnSp>
        <p:nvCxnSpPr>
          <p:cNvPr id="78" name="AutoShape 178"/>
          <p:cNvCxnSpPr>
            <a:cxnSpLocks noChangeShapeType="1"/>
            <a:stCxn id="77" idx="2"/>
            <a:endCxn id="82" idx="0"/>
          </p:cNvCxnSpPr>
          <p:nvPr/>
        </p:nvCxnSpPr>
        <p:spPr bwMode="auto">
          <a:xfrm rot="5400000">
            <a:off x="6266904" y="2990454"/>
            <a:ext cx="141287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79" name="Rectangle 179"/>
          <p:cNvSpPr>
            <a:spLocks noChangeArrowheads="1"/>
          </p:cNvSpPr>
          <p:nvPr/>
        </p:nvSpPr>
        <p:spPr bwMode="auto">
          <a:xfrm>
            <a:off x="5562848" y="5469335"/>
            <a:ext cx="1549400" cy="255587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품질 검토</a:t>
            </a:r>
          </a:p>
        </p:txBody>
      </p:sp>
      <p:cxnSp>
        <p:nvCxnSpPr>
          <p:cNvPr id="80" name="AutoShape 180"/>
          <p:cNvCxnSpPr>
            <a:cxnSpLocks noChangeShapeType="1"/>
            <a:stCxn id="65" idx="2"/>
            <a:endCxn id="79" idx="0"/>
          </p:cNvCxnSpPr>
          <p:nvPr/>
        </p:nvCxnSpPr>
        <p:spPr bwMode="auto">
          <a:xfrm rot="5400000">
            <a:off x="6247060" y="5377260"/>
            <a:ext cx="182563" cy="15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81" name="Rectangle 181"/>
          <p:cNvSpPr>
            <a:spLocks noChangeArrowheads="1"/>
          </p:cNvSpPr>
          <p:nvPr/>
        </p:nvSpPr>
        <p:spPr bwMode="auto">
          <a:xfrm>
            <a:off x="5023098" y="5469335"/>
            <a:ext cx="450850" cy="25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26" tIns="45714" rIns="91426" bIns="45714" anchor="ctr"/>
          <a:lstStyle/>
          <a:p>
            <a:pPr marL="190500" indent="-190500" algn="just">
              <a:buFont typeface="Wingdings 2" pitchFamily="18" charset="2"/>
              <a:buNone/>
            </a:pPr>
            <a:r>
              <a:rPr lang="en-US" altLang="ko-KR" sz="1000" b="1" dirty="0">
                <a:solidFill>
                  <a:srgbClr val="1D4D9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QA</a:t>
            </a:r>
            <a:endParaRPr lang="ko-KR" altLang="en-US" sz="1000" b="1" dirty="0">
              <a:solidFill>
                <a:srgbClr val="1D4D9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Rectangle 183"/>
          <p:cNvSpPr>
            <a:spLocks noChangeArrowheads="1"/>
          </p:cNvSpPr>
          <p:nvPr/>
        </p:nvSpPr>
        <p:spPr bwMode="auto">
          <a:xfrm>
            <a:off x="5562848" y="3061097"/>
            <a:ext cx="1549400" cy="25558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90500" indent="-190500" algn="ctr">
              <a:buFont typeface="Wingdings 2" pitchFamily="18" charset="2"/>
              <a:buNone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Test Script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</a:p>
        </p:txBody>
      </p:sp>
      <p:cxnSp>
        <p:nvCxnSpPr>
          <p:cNvPr id="83" name="AutoShape 185"/>
          <p:cNvCxnSpPr>
            <a:cxnSpLocks noChangeShapeType="1"/>
            <a:stCxn id="82" idx="2"/>
            <a:endCxn id="63" idx="0"/>
          </p:cNvCxnSpPr>
          <p:nvPr/>
        </p:nvCxnSpPr>
        <p:spPr bwMode="auto">
          <a:xfrm rot="5400000">
            <a:off x="6269285" y="3384948"/>
            <a:ext cx="1365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84" name="Rectangle 181"/>
          <p:cNvSpPr>
            <a:spLocks noChangeArrowheads="1"/>
          </p:cNvSpPr>
          <p:nvPr/>
        </p:nvSpPr>
        <p:spPr bwMode="auto">
          <a:xfrm>
            <a:off x="5027861" y="3059510"/>
            <a:ext cx="450850" cy="25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26" tIns="45714" rIns="91426" bIns="45714" anchor="ctr"/>
          <a:lstStyle/>
          <a:p>
            <a:pPr marL="190500" indent="-190500" algn="just">
              <a:buFont typeface="Wingdings 2" pitchFamily="18" charset="2"/>
              <a:buNone/>
            </a:pPr>
            <a:r>
              <a:rPr lang="en-US" altLang="ko-KR" sz="1000" b="1" dirty="0">
                <a:solidFill>
                  <a:srgbClr val="1D4D9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QA</a:t>
            </a:r>
            <a:endParaRPr lang="ko-KR" altLang="en-US" sz="1000" b="1" dirty="0">
              <a:solidFill>
                <a:srgbClr val="1D4D9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1150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환경 및 준비사항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테스트 준비사항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22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graphicFrame>
        <p:nvGraphicFramePr>
          <p:cNvPr id="5" name="Group 2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205424"/>
              </p:ext>
            </p:extLst>
          </p:nvPr>
        </p:nvGraphicFramePr>
        <p:xfrm>
          <a:off x="467544" y="1413584"/>
          <a:ext cx="8173664" cy="3959631"/>
        </p:xfrm>
        <a:graphic>
          <a:graphicData uri="http://schemas.openxmlformats.org/drawingml/2006/table">
            <a:tbl>
              <a:tblPr/>
              <a:tblGrid>
                <a:gridCol w="2304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4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준비 사항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15">
                <a:tc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서버 준비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 테스트는 개발 환경 사용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테스트 시는 임대 서버 사용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15">
                <a:tc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장소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전원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/LAN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??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참여자 및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PC,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장비 등을 모두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 수 있는 장소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727">
                <a:tc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테스트용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/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프린터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??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인원별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각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대씩 구성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 노트북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부족시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임대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)(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가이드 준비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115">
                <a:tc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테스트용 휴대 장비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장비 종류별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대씩 준비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115">
                <a:tc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전화기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2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장소에 위치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115">
                <a:tc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빔 프로젝터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 교육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필요시 테스트 내용 공유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8392">
                <a:tc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시나리오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담당자별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문서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당일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/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파일은 사전 배포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115">
                <a:tc>
                  <a:txBody>
                    <a:bodyPr/>
                    <a:lstStyle/>
                    <a:p>
                      <a:pPr marL="95250" marR="0" lvl="0" indent="-95250" algn="just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데이터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0" fontAlgn="base" latinLnBrk="0" hangingPunct="0">
                        <a:lnSpc>
                          <a:spcPct val="115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운영팀의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협조를 통해 사전 예약 대상 고객 자료 및 입력용 자료 준비</a:t>
                      </a:r>
                    </a:p>
                  </a:txBody>
                  <a:tcPr marL="76200" marR="76200" marT="57153" marB="57153" anchor="ctr" horzOverflow="overflow">
                    <a:lnL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 rot="20208410">
            <a:off x="2225387" y="3156637"/>
            <a:ext cx="4297362" cy="6667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</p:spTree>
    <p:extLst>
      <p:ext uri="{BB962C8B-B14F-4D97-AF65-F5344CB8AC3E}">
        <p14:creationId xmlns:p14="http://schemas.microsoft.com/office/powerpoint/2010/main" val="1456826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환경 및 준비사항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테스트 장소</a:t>
            </a:r>
            <a:r>
              <a:rPr lang="en-US" altLang="ko-KR" dirty="0">
                <a:solidFill>
                  <a:srgbClr val="000000"/>
                </a:solidFill>
              </a:rPr>
              <a:t>( OO</a:t>
            </a:r>
            <a:r>
              <a:rPr lang="ko-KR" altLang="en-US" dirty="0">
                <a:solidFill>
                  <a:srgbClr val="000000"/>
                </a:solidFill>
              </a:rPr>
              <a:t>빌딩 </a:t>
            </a:r>
            <a:r>
              <a:rPr lang="en-US" altLang="ko-KR" dirty="0">
                <a:solidFill>
                  <a:srgbClr val="000000"/>
                </a:solidFill>
              </a:rPr>
              <a:t>12</a:t>
            </a:r>
            <a:r>
              <a:rPr lang="ko-KR" altLang="en-US" dirty="0">
                <a:solidFill>
                  <a:srgbClr val="000000"/>
                </a:solidFill>
              </a:rPr>
              <a:t>층   </a:t>
            </a:r>
            <a:r>
              <a:rPr lang="en-US" altLang="ko-KR" dirty="0">
                <a:solidFill>
                  <a:srgbClr val="000000"/>
                </a:solidFill>
              </a:rPr>
              <a:t>C,D </a:t>
            </a:r>
            <a:r>
              <a:rPr lang="ko-KR" altLang="en-US" dirty="0">
                <a:solidFill>
                  <a:srgbClr val="000000"/>
                </a:solidFill>
              </a:rPr>
              <a:t>회의실 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23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980544" y="1736725"/>
            <a:ext cx="3167062" cy="250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층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C-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룸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137785"/>
              </p:ext>
            </p:extLst>
          </p:nvPr>
        </p:nvGraphicFramePr>
        <p:xfrm>
          <a:off x="1530970" y="2205038"/>
          <a:ext cx="971550" cy="146367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18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388" marR="91388" marT="45740" marB="457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8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388" marR="91388" marT="45740" marB="457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직사각형 30"/>
          <p:cNvSpPr>
            <a:spLocks noChangeArrowheads="1"/>
          </p:cNvSpPr>
          <p:nvPr/>
        </p:nvSpPr>
        <p:spPr bwMode="auto">
          <a:xfrm>
            <a:off x="1124570" y="2347913"/>
            <a:ext cx="4064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</a:t>
            </a:r>
            <a:r>
              <a:rPr kumimoji="0" lang="ko-KR" altLang="en-US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파트</a:t>
            </a: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028724"/>
              </p:ext>
            </p:extLst>
          </p:nvPr>
        </p:nvGraphicFramePr>
        <p:xfrm>
          <a:off x="1521445" y="3752850"/>
          <a:ext cx="971550" cy="146367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18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388" marR="91388" marT="45740" marB="457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8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388" marR="91388" marT="45740" marB="457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직사각형 32"/>
          <p:cNvSpPr>
            <a:spLocks noChangeArrowheads="1"/>
          </p:cNvSpPr>
          <p:nvPr/>
        </p:nvSpPr>
        <p:spPr bwMode="auto">
          <a:xfrm>
            <a:off x="1115045" y="3824288"/>
            <a:ext cx="4064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</a:t>
            </a:r>
            <a:r>
              <a:rPr kumimoji="0" lang="ko-KR" altLang="en-US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파트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835781"/>
              </p:ext>
            </p:extLst>
          </p:nvPr>
        </p:nvGraphicFramePr>
        <p:xfrm>
          <a:off x="2600945" y="2205038"/>
          <a:ext cx="971550" cy="146367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18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388" marR="91388" marT="45740" marB="457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8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388" marR="91388" marT="45740" marB="457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직사각형 34"/>
          <p:cNvSpPr>
            <a:spLocks noChangeArrowheads="1"/>
          </p:cNvSpPr>
          <p:nvPr/>
        </p:nvSpPr>
        <p:spPr bwMode="auto">
          <a:xfrm>
            <a:off x="3645520" y="2241550"/>
            <a:ext cx="4064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</a:t>
            </a:r>
            <a:r>
              <a:rPr kumimoji="0" lang="ko-KR" altLang="en-US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파트</a:t>
            </a: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914471"/>
              </p:ext>
            </p:extLst>
          </p:nvPr>
        </p:nvGraphicFramePr>
        <p:xfrm>
          <a:off x="5679108" y="2205038"/>
          <a:ext cx="971550" cy="146367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18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388" marR="91388" marT="45740" marB="457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8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388" marR="91388" marT="45740" marB="457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직사각형 36"/>
          <p:cNvSpPr>
            <a:spLocks noChangeArrowheads="1"/>
          </p:cNvSpPr>
          <p:nvPr/>
        </p:nvSpPr>
        <p:spPr bwMode="auto">
          <a:xfrm>
            <a:off x="5247308" y="2132013"/>
            <a:ext cx="4064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</a:t>
            </a:r>
            <a:r>
              <a:rPr kumimoji="0" lang="ko-KR" altLang="en-US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파트 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657618"/>
              </p:ext>
            </p:extLst>
          </p:nvPr>
        </p:nvGraphicFramePr>
        <p:xfrm>
          <a:off x="5688633" y="3752850"/>
          <a:ext cx="971550" cy="146367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18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388" marR="91388" marT="45740" marB="457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8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388" marR="91388" marT="45740" marB="457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직사각형 38"/>
          <p:cNvSpPr>
            <a:spLocks noChangeArrowheads="1"/>
          </p:cNvSpPr>
          <p:nvPr/>
        </p:nvSpPr>
        <p:spPr bwMode="auto">
          <a:xfrm>
            <a:off x="5247308" y="3932238"/>
            <a:ext cx="404812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</a:t>
            </a:r>
            <a:r>
              <a:rPr kumimoji="0" lang="ko-KR" altLang="en-US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파트</a:t>
            </a: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581776"/>
              </p:ext>
            </p:extLst>
          </p:nvPr>
        </p:nvGraphicFramePr>
        <p:xfrm>
          <a:off x="6768133" y="2205038"/>
          <a:ext cx="971550" cy="146367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18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388" marR="91388" marT="45740" marB="457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8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388" marR="91388" marT="45740" marB="457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직사각형 40"/>
          <p:cNvSpPr>
            <a:spLocks noChangeArrowheads="1"/>
          </p:cNvSpPr>
          <p:nvPr/>
        </p:nvSpPr>
        <p:spPr bwMode="auto">
          <a:xfrm>
            <a:off x="7849220" y="2205038"/>
            <a:ext cx="404813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</a:t>
            </a:r>
            <a:r>
              <a:rPr kumimoji="0" lang="ko-KR" altLang="en-US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파트</a:t>
            </a:r>
            <a:endParaRPr kumimoji="0" lang="en-US" altLang="ko-KR" sz="14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649968"/>
              </p:ext>
            </p:extLst>
          </p:nvPr>
        </p:nvGraphicFramePr>
        <p:xfrm>
          <a:off x="2593008" y="3752850"/>
          <a:ext cx="971550" cy="146367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18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388" marR="91388" marT="45740" marB="457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8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388" marR="91388" marT="45740" marB="457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직사각형 42"/>
          <p:cNvSpPr>
            <a:spLocks noChangeArrowheads="1"/>
          </p:cNvSpPr>
          <p:nvPr/>
        </p:nvSpPr>
        <p:spPr bwMode="auto">
          <a:xfrm>
            <a:off x="3635995" y="4113213"/>
            <a:ext cx="404813" cy="73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</a:p>
          <a:p>
            <a:pPr algn="ctr"/>
            <a:r>
              <a:rPr kumimoji="0"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</a:t>
            </a:r>
          </a:p>
          <a:p>
            <a:pPr algn="ctr"/>
            <a:r>
              <a:rPr kumimoji="0"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052458"/>
              </p:ext>
            </p:extLst>
          </p:nvPr>
        </p:nvGraphicFramePr>
        <p:xfrm>
          <a:off x="6768133" y="3752850"/>
          <a:ext cx="971550" cy="146367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18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388" marR="91388" marT="45740" marB="457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8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(OO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388" marR="91388" marT="45740" marB="457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Rectangle 38"/>
          <p:cNvSpPr>
            <a:spLocks noChangeArrowheads="1"/>
          </p:cNvSpPr>
          <p:nvPr/>
        </p:nvSpPr>
        <p:spPr bwMode="auto">
          <a:xfrm>
            <a:off x="5167942" y="1736725"/>
            <a:ext cx="3060700" cy="250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층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D-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룸</a:t>
            </a:r>
          </a:p>
        </p:txBody>
      </p:sp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838041"/>
              </p:ext>
            </p:extLst>
          </p:nvPr>
        </p:nvGraphicFramePr>
        <p:xfrm>
          <a:off x="1521445" y="5373688"/>
          <a:ext cx="2052638" cy="41120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26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16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58" marR="91458" marT="45583" marB="45583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PL/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58" marR="91458" marT="45583" marB="4558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77257"/>
              </p:ext>
            </p:extLst>
          </p:nvPr>
        </p:nvGraphicFramePr>
        <p:xfrm>
          <a:off x="5687045" y="5337175"/>
          <a:ext cx="2052638" cy="4112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26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58" marR="91458" marT="45582" marB="45582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PL/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58" marR="91458" marT="45582" marB="4558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직사각형 42"/>
          <p:cNvSpPr>
            <a:spLocks noChangeArrowheads="1"/>
          </p:cNvSpPr>
          <p:nvPr/>
        </p:nvSpPr>
        <p:spPr bwMode="auto">
          <a:xfrm>
            <a:off x="7847633" y="4040188"/>
            <a:ext cx="404812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</a:p>
          <a:p>
            <a:pPr algn="ctr"/>
            <a:r>
              <a:rPr kumimoji="0"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</a:t>
            </a:r>
          </a:p>
          <a:p>
            <a:pPr algn="ctr"/>
            <a:r>
              <a:rPr kumimoji="0"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</a:p>
        </p:txBody>
      </p:sp>
      <p:sp>
        <p:nvSpPr>
          <p:cNvPr id="30" name="직사각형 29"/>
          <p:cNvSpPr/>
          <p:nvPr/>
        </p:nvSpPr>
        <p:spPr>
          <a:xfrm rot="20208410">
            <a:off x="2116915" y="3636209"/>
            <a:ext cx="4297363" cy="6667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</p:spTree>
    <p:extLst>
      <p:ext uri="{BB962C8B-B14F-4D97-AF65-F5344CB8AC3E}">
        <p14:creationId xmlns:p14="http://schemas.microsoft.com/office/powerpoint/2010/main" val="4212508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환경 및 준비사항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테스트 환경</a:t>
            </a:r>
            <a:endParaRPr lang="en-US" altLang="ko-KR" dirty="0"/>
          </a:p>
          <a:p>
            <a:pPr lvl="1"/>
            <a:r>
              <a:rPr lang="en-US" altLang="ko-KR" dirty="0"/>
              <a:t>hosts </a:t>
            </a:r>
            <a:r>
              <a:rPr lang="ko-KR" altLang="en-US" dirty="0"/>
              <a:t>등록</a:t>
            </a:r>
            <a:r>
              <a:rPr lang="en-US" altLang="ko-KR" dirty="0"/>
              <a:t> : C:\WINDOWS\system32\drivers\etc</a:t>
            </a:r>
          </a:p>
          <a:p>
            <a:pPr marL="719138" lvl="1" indent="0">
              <a:buNone/>
            </a:pPr>
            <a:r>
              <a:rPr lang="en-US" altLang="ko-KR" dirty="0"/>
              <a:t>52.xx.xx.xx   xxxxcj.net</a:t>
            </a:r>
          </a:p>
          <a:p>
            <a:pPr marL="914400" lvl="2" indent="0">
              <a:buNone/>
            </a:pPr>
            <a:endParaRPr lang="en-US" altLang="ko-KR" dirty="0"/>
          </a:p>
          <a:p>
            <a:pPr lvl="1">
              <a:spcAft>
                <a:spcPts val="600"/>
              </a:spcAft>
            </a:pPr>
            <a:r>
              <a:rPr lang="en-US" altLang="ko-KR" dirty="0"/>
              <a:t>URL(</a:t>
            </a:r>
            <a:r>
              <a:rPr lang="ko-KR" altLang="en-US" dirty="0"/>
              <a:t>개발팀 </a:t>
            </a:r>
            <a:r>
              <a:rPr lang="en-US" altLang="ko-KR" dirty="0"/>
              <a:t>: </a:t>
            </a:r>
            <a:r>
              <a:rPr lang="ko-KR" altLang="en-US" dirty="0" err="1"/>
              <a:t>즐겨찾기</a:t>
            </a:r>
            <a:r>
              <a:rPr lang="ko-KR" altLang="en-US" dirty="0"/>
              <a:t> 등록</a:t>
            </a:r>
            <a:r>
              <a:rPr lang="en-US" altLang="ko-KR" dirty="0"/>
              <a:t>)</a:t>
            </a:r>
          </a:p>
          <a:p>
            <a:pPr marL="719138" lvl="1" indent="0">
              <a:spcAft>
                <a:spcPts val="600"/>
              </a:spcAft>
              <a:buNone/>
            </a:pPr>
            <a:r>
              <a:rPr lang="ko-KR" altLang="en-US" dirty="0"/>
              <a:t>시스템 </a:t>
            </a:r>
            <a:r>
              <a:rPr lang="en-US" altLang="ko-KR" dirty="0"/>
              <a:t>: http://...</a:t>
            </a:r>
          </a:p>
          <a:p>
            <a:pPr lvl="2">
              <a:spcAft>
                <a:spcPts val="600"/>
              </a:spcAft>
            </a:pPr>
            <a:endParaRPr lang="en-US" altLang="ko-KR" dirty="0">
              <a:hlinkClick r:id="rId3"/>
            </a:endParaRPr>
          </a:p>
          <a:p>
            <a:pPr lvl="1">
              <a:spcAft>
                <a:spcPts val="600"/>
              </a:spcAft>
            </a:pPr>
            <a:r>
              <a:rPr lang="ko-KR" altLang="en-US" dirty="0"/>
              <a:t>사용자 계정</a:t>
            </a:r>
            <a:endParaRPr lang="en-US" altLang="ko-KR" dirty="0"/>
          </a:p>
          <a:p>
            <a:pPr marL="719138" lvl="1" indent="0">
              <a:spcAft>
                <a:spcPts val="600"/>
              </a:spcAft>
              <a:buNone/>
            </a:pPr>
            <a:r>
              <a:rPr lang="en-US" altLang="ko-KR" dirty="0"/>
              <a:t>test01 / 1111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24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503452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관리 방안</a:t>
            </a:r>
            <a:r>
              <a:rPr lang="en-US" altLang="ko-KR" sz="2000" dirty="0"/>
              <a:t>(</a:t>
            </a:r>
            <a:r>
              <a:rPr lang="ko-KR" altLang="en-US" sz="2000" dirty="0"/>
              <a:t>진척관리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진척관리는 테스트 계획서 상의 수행일정에 의거하여 관리하며 테스트 결과의 중요도에 따라 이슈 및 위험관리를 수행함</a:t>
            </a:r>
            <a:r>
              <a:rPr lang="en-US" altLang="ko-KR" b="0" dirty="0"/>
              <a:t>. </a:t>
            </a:r>
            <a:r>
              <a:rPr lang="ko-KR" altLang="en-US" b="0" dirty="0"/>
              <a:t>또한 정기적인 보고를 통해 테스트의 진행현황을 보고하도록 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25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graphicFrame>
        <p:nvGraphicFramePr>
          <p:cNvPr id="6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732422"/>
              </p:ext>
            </p:extLst>
          </p:nvPr>
        </p:nvGraphicFramePr>
        <p:xfrm>
          <a:off x="683568" y="1988841"/>
          <a:ext cx="7950721" cy="4267280"/>
        </p:xfrm>
        <a:graphic>
          <a:graphicData uri="http://schemas.openxmlformats.org/drawingml/2006/table">
            <a:tbl>
              <a:tblPr/>
              <a:tblGrid>
                <a:gridCol w="1379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2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51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90000" marR="90000" marT="46805" marB="4680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90000" marR="90000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Owner</a:t>
                      </a:r>
                    </a:p>
                  </a:txBody>
                  <a:tcPr marL="90000" marR="90000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77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테스트의 수행 </a:t>
                      </a:r>
                    </a:p>
                  </a:txBody>
                  <a:tcPr marT="45726" marB="4572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4138" marR="0" lvl="0" indent="-84138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 테스트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개발자 및 업무 담당자들은 테스트 케이스에 의거하여 테스트를 진행하며 해당 테스트 케이스의 성공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실패 여부를 개발책임자에게 보고</a:t>
                      </a:r>
                    </a:p>
                    <a:p>
                      <a:pPr marL="84138" marR="0" lvl="0" indent="-84138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테스트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현업 테스트 담당자들은 테스트 케이스에 의거하여 테스트를 진행하며 해당 테스트 케이스의 성공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실패 여부를 개발책임자에게 보고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업무별 개발자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업무별 담당자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현업 테스트 담당자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136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테스트의 결함 관리 및 보고</a:t>
                      </a:r>
                    </a:p>
                  </a:txBody>
                  <a:tcPr marT="45726" marB="4572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4138" marR="0" lvl="0" indent="-84138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개발자 및 현업 테스트 담당자에게 보고 받은 테스트 케이스의 결과를 관리</a:t>
                      </a:r>
                    </a:p>
                    <a:p>
                      <a:pPr marL="84138" marR="0" lvl="0" indent="-84138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결함으로 발견된 케이스의 경우 조치계획을 수립하여 해당 케이스가 조치되어 다시 테스트될 수 있도록 관리</a:t>
                      </a:r>
                    </a:p>
                    <a:p>
                      <a:pPr marL="84138" marR="0" lvl="0" indent="-84138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테스트의 결과에 대해 프로젝트 테스트 관리자에게 보고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업무별 개발책임자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81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 관리 및 테스트 진행 관리 및 정기 보고</a:t>
                      </a:r>
                    </a:p>
                  </a:txBody>
                  <a:tcPr marT="45726" marB="4572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4138" marR="0" lvl="0" indent="-84138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개발책임자에게 보고 받은 결과를 취합하여 전체의 테스트 진행상황을 관리하며 결함의 중요도에 따라 위험 및 이슈를 관리함</a:t>
                      </a:r>
                    </a:p>
                    <a:p>
                      <a:pPr marL="84138" marR="0" lvl="0" indent="-84138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정기적인 보고를 통해 업무 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관리팀에게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테스트 진행현황을 보고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관리자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81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관리 방안</a:t>
            </a:r>
            <a:r>
              <a:rPr lang="en-US" altLang="ko-KR" sz="2000" dirty="0"/>
              <a:t>(</a:t>
            </a:r>
            <a:r>
              <a:rPr lang="ko-KR" altLang="en-US" sz="2000" dirty="0" err="1"/>
              <a:t>결함관리</a:t>
            </a:r>
            <a:r>
              <a:rPr lang="en-US" altLang="ko-KR" sz="2000" dirty="0"/>
              <a:t>_</a:t>
            </a:r>
            <a:r>
              <a:rPr lang="en-US" altLang="ko-KR" sz="2000" dirty="0" err="1"/>
              <a:t>Redmine</a:t>
            </a:r>
            <a:r>
              <a:rPr lang="en-US" altLang="ko-KR" sz="2000" dirty="0"/>
              <a:t> Tool)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/>
            <a:r>
              <a:rPr lang="ko-KR" altLang="en-US" dirty="0"/>
              <a:t>결함관리는 테스트 수행 후 도출되는 결함을 등록하고 이에 대한 분석 및 수정을 통하여 프로그램의 품질을 높이기 위함이며 다음의 절차에 따라 수행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26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3699202" y="1777339"/>
            <a:ext cx="2016488" cy="4404627"/>
          </a:xfrm>
          <a:prstGeom prst="rect">
            <a:avLst/>
          </a:prstGeom>
          <a:noFill/>
          <a:ln w="9525" cap="rnd" algn="ctr">
            <a:solidFill>
              <a:srgbClr val="333333"/>
            </a:solidFill>
            <a:prstDash val="sysDot"/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22"/>
          <p:cNvSpPr>
            <a:spLocks noChangeArrowheads="1"/>
          </p:cNvSpPr>
          <p:nvPr/>
        </p:nvSpPr>
        <p:spPr bwMode="auto">
          <a:xfrm>
            <a:off x="3767199" y="1634863"/>
            <a:ext cx="1880495" cy="251606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개발조직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리더</a:t>
            </a:r>
          </a:p>
        </p:txBody>
      </p:sp>
      <p:sp>
        <p:nvSpPr>
          <p:cNvPr id="10" name="Rectangle 25"/>
          <p:cNvSpPr>
            <a:spLocks noChangeArrowheads="1"/>
          </p:cNvSpPr>
          <p:nvPr/>
        </p:nvSpPr>
        <p:spPr bwMode="auto">
          <a:xfrm>
            <a:off x="5781492" y="1777339"/>
            <a:ext cx="1775211" cy="4404627"/>
          </a:xfrm>
          <a:prstGeom prst="rect">
            <a:avLst/>
          </a:prstGeom>
          <a:noFill/>
          <a:ln w="9525" cap="rnd" algn="ctr">
            <a:solidFill>
              <a:srgbClr val="333333"/>
            </a:solidFill>
            <a:prstDash val="sysDot"/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Rectangle 26"/>
          <p:cNvSpPr>
            <a:spLocks noChangeArrowheads="1"/>
          </p:cNvSpPr>
          <p:nvPr/>
        </p:nvSpPr>
        <p:spPr bwMode="auto">
          <a:xfrm>
            <a:off x="5839252" y="1634863"/>
            <a:ext cx="1659691" cy="251606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개발조직 결함해결담당자</a:t>
            </a:r>
          </a:p>
        </p:txBody>
      </p:sp>
      <p:sp>
        <p:nvSpPr>
          <p:cNvPr id="12" name="Rectangle 30"/>
          <p:cNvSpPr>
            <a:spLocks noChangeArrowheads="1"/>
          </p:cNvSpPr>
          <p:nvPr/>
        </p:nvSpPr>
        <p:spPr bwMode="auto">
          <a:xfrm>
            <a:off x="7591798" y="1777339"/>
            <a:ext cx="1144968" cy="1740025"/>
          </a:xfrm>
          <a:prstGeom prst="rect">
            <a:avLst/>
          </a:prstGeom>
          <a:noFill/>
          <a:ln w="9525" cap="rnd" algn="ctr">
            <a:solidFill>
              <a:srgbClr val="333333"/>
            </a:solidFill>
            <a:prstDash val="sysDot"/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Rectangle 31"/>
          <p:cNvSpPr>
            <a:spLocks noChangeArrowheads="1"/>
          </p:cNvSpPr>
          <p:nvPr/>
        </p:nvSpPr>
        <p:spPr bwMode="auto">
          <a:xfrm>
            <a:off x="7637130" y="1628800"/>
            <a:ext cx="1054305" cy="248575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품질관리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1707573" y="1777339"/>
            <a:ext cx="1953610" cy="4404627"/>
          </a:xfrm>
          <a:prstGeom prst="rect">
            <a:avLst/>
          </a:prstGeom>
          <a:noFill/>
          <a:ln w="9525" cap="rnd" algn="ctr">
            <a:solidFill>
              <a:srgbClr val="333333"/>
            </a:solidFill>
            <a:prstDash val="sysDot"/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Rectangle 39"/>
          <p:cNvSpPr>
            <a:spLocks noChangeArrowheads="1"/>
          </p:cNvSpPr>
          <p:nvPr/>
        </p:nvSpPr>
        <p:spPr bwMode="auto">
          <a:xfrm>
            <a:off x="1765334" y="1634863"/>
            <a:ext cx="1838089" cy="251606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테스터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(SI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조직 포함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AutoShape 62"/>
          <p:cNvSpPr>
            <a:spLocks noChangeArrowheads="1"/>
          </p:cNvSpPr>
          <p:nvPr/>
        </p:nvSpPr>
        <p:spPr bwMode="auto">
          <a:xfrm>
            <a:off x="2700142" y="3787158"/>
            <a:ext cx="926689" cy="203861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2.1 결함 등록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AutoShape 63"/>
          <p:cNvSpPr>
            <a:spLocks noChangeArrowheads="1"/>
          </p:cNvSpPr>
          <p:nvPr/>
        </p:nvSpPr>
        <p:spPr bwMode="auto">
          <a:xfrm>
            <a:off x="6129097" y="4150926"/>
            <a:ext cx="1080000" cy="1980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2.6 결함 수정</a:t>
            </a:r>
          </a:p>
        </p:txBody>
      </p:sp>
      <p:sp>
        <p:nvSpPr>
          <p:cNvPr id="18" name="AutoShape 64"/>
          <p:cNvSpPr>
            <a:spLocks noChangeArrowheads="1"/>
          </p:cNvSpPr>
          <p:nvPr/>
        </p:nvSpPr>
        <p:spPr bwMode="auto">
          <a:xfrm>
            <a:off x="6129097" y="3621946"/>
            <a:ext cx="1080000" cy="209167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2.5 결함 분석</a:t>
            </a:r>
          </a:p>
        </p:txBody>
      </p:sp>
      <p:sp>
        <p:nvSpPr>
          <p:cNvPr id="19" name="AutoShape 65"/>
          <p:cNvSpPr>
            <a:spLocks noChangeArrowheads="1"/>
          </p:cNvSpPr>
          <p:nvPr/>
        </p:nvSpPr>
        <p:spPr bwMode="auto">
          <a:xfrm>
            <a:off x="4167446" y="4150926"/>
            <a:ext cx="1080000" cy="1980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2.7 코드 검토</a:t>
            </a:r>
          </a:p>
        </p:txBody>
      </p:sp>
      <p:sp>
        <p:nvSpPr>
          <p:cNvPr id="20" name="AutoShape 66"/>
          <p:cNvSpPr>
            <a:spLocks noChangeArrowheads="1"/>
          </p:cNvSpPr>
          <p:nvPr/>
        </p:nvSpPr>
        <p:spPr bwMode="auto">
          <a:xfrm>
            <a:off x="4277535" y="5405927"/>
            <a:ext cx="859822" cy="281920"/>
          </a:xfrm>
          <a:prstGeom prst="flowChartDecision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 ?</a:t>
            </a:r>
          </a:p>
        </p:txBody>
      </p:sp>
      <p:cxnSp>
        <p:nvCxnSpPr>
          <p:cNvPr id="21" name="AutoShape 67"/>
          <p:cNvCxnSpPr>
            <a:cxnSpLocks noChangeShapeType="1"/>
            <a:stCxn id="84" idx="2"/>
            <a:endCxn id="92" idx="0"/>
          </p:cNvCxnSpPr>
          <p:nvPr/>
        </p:nvCxnSpPr>
        <p:spPr bwMode="auto">
          <a:xfrm>
            <a:off x="2684378" y="2592785"/>
            <a:ext cx="0" cy="545653"/>
          </a:xfrm>
          <a:prstGeom prst="straightConnector1">
            <a:avLst/>
          </a:prstGeom>
          <a:noFill/>
          <a:ln w="3175">
            <a:solidFill>
              <a:srgbClr val="3012AE"/>
            </a:solidFill>
            <a:round/>
            <a:headEnd/>
            <a:tailEnd type="triangle" w="med" len="med"/>
          </a:ln>
        </p:spPr>
      </p:cxnSp>
      <p:cxnSp>
        <p:nvCxnSpPr>
          <p:cNvPr id="22" name="AutoShape 68"/>
          <p:cNvCxnSpPr>
            <a:cxnSpLocks noChangeShapeType="1"/>
            <a:stCxn id="92" idx="2"/>
          </p:cNvCxnSpPr>
          <p:nvPr/>
        </p:nvCxnSpPr>
        <p:spPr bwMode="auto">
          <a:xfrm rot="16200000" flipH="1">
            <a:off x="2727674" y="3396765"/>
            <a:ext cx="1310841" cy="1397433"/>
          </a:xfrm>
          <a:prstGeom prst="bentConnector2">
            <a:avLst/>
          </a:prstGeom>
          <a:noFill/>
          <a:ln w="3175">
            <a:solidFill>
              <a:srgbClr val="3012AE"/>
            </a:solidFill>
            <a:miter lim="800000"/>
            <a:headEnd/>
            <a:tailEnd type="triangle" w="med" len="med"/>
          </a:ln>
        </p:spPr>
      </p:cxnSp>
      <p:cxnSp>
        <p:nvCxnSpPr>
          <p:cNvPr id="23" name="AutoShape 69"/>
          <p:cNvCxnSpPr>
            <a:cxnSpLocks noChangeShapeType="1"/>
            <a:stCxn id="89" idx="2"/>
            <a:endCxn id="20" idx="0"/>
          </p:cNvCxnSpPr>
          <p:nvPr/>
        </p:nvCxnSpPr>
        <p:spPr bwMode="auto">
          <a:xfrm flipH="1">
            <a:off x="4707446" y="4854220"/>
            <a:ext cx="2183" cy="551707"/>
          </a:xfrm>
          <a:prstGeom prst="straightConnector1">
            <a:avLst/>
          </a:prstGeom>
          <a:noFill/>
          <a:ln w="3175">
            <a:solidFill>
              <a:srgbClr val="3012AE"/>
            </a:solidFill>
            <a:round/>
            <a:headEnd/>
            <a:tailEnd type="triangle" w="med" len="med"/>
          </a:ln>
        </p:spPr>
      </p:cxnSp>
      <p:cxnSp>
        <p:nvCxnSpPr>
          <p:cNvPr id="24" name="AutoShape 70"/>
          <p:cNvCxnSpPr>
            <a:cxnSpLocks noChangeShapeType="1"/>
            <a:stCxn id="20" idx="2"/>
            <a:endCxn id="25" idx="0"/>
          </p:cNvCxnSpPr>
          <p:nvPr/>
        </p:nvCxnSpPr>
        <p:spPr bwMode="auto">
          <a:xfrm>
            <a:off x="4707446" y="5687847"/>
            <a:ext cx="0" cy="216745"/>
          </a:xfrm>
          <a:prstGeom prst="straightConnector1">
            <a:avLst/>
          </a:prstGeom>
          <a:noFill/>
          <a:ln w="3175">
            <a:solidFill>
              <a:srgbClr val="3012AE"/>
            </a:solidFill>
            <a:round/>
            <a:headEnd/>
            <a:tailEnd type="triangle" w="med" len="med"/>
          </a:ln>
        </p:spPr>
      </p:cxnSp>
      <p:sp>
        <p:nvSpPr>
          <p:cNvPr id="25" name="AutoShape 71"/>
          <p:cNvSpPr>
            <a:spLocks noChangeArrowheads="1"/>
          </p:cNvSpPr>
          <p:nvPr/>
        </p:nvSpPr>
        <p:spPr bwMode="auto">
          <a:xfrm>
            <a:off x="4077446" y="5904592"/>
            <a:ext cx="1260000" cy="224324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9.9 테스트 완료</a:t>
            </a:r>
          </a:p>
        </p:txBody>
      </p:sp>
      <p:cxnSp>
        <p:nvCxnSpPr>
          <p:cNvPr id="26" name="AutoShape 73"/>
          <p:cNvCxnSpPr>
            <a:cxnSpLocks noChangeShapeType="1"/>
            <a:stCxn id="16" idx="3"/>
            <a:endCxn id="45" idx="1"/>
          </p:cNvCxnSpPr>
          <p:nvPr/>
        </p:nvCxnSpPr>
        <p:spPr bwMode="auto">
          <a:xfrm>
            <a:off x="3626831" y="3889089"/>
            <a:ext cx="540615" cy="3410"/>
          </a:xfrm>
          <a:prstGeom prst="straightConnector1">
            <a:avLst/>
          </a:prstGeom>
          <a:noFill/>
          <a:ln w="3175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27" name="AutoShape 74"/>
          <p:cNvCxnSpPr>
            <a:cxnSpLocks noChangeShapeType="1"/>
            <a:stCxn id="18" idx="2"/>
            <a:endCxn id="17" idx="0"/>
          </p:cNvCxnSpPr>
          <p:nvPr/>
        </p:nvCxnSpPr>
        <p:spPr bwMode="auto">
          <a:xfrm>
            <a:off x="6669097" y="3831113"/>
            <a:ext cx="0" cy="319813"/>
          </a:xfrm>
          <a:prstGeom prst="straightConnector1">
            <a:avLst/>
          </a:prstGeom>
          <a:noFill/>
          <a:ln w="3175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28" name="AutoShape 75"/>
          <p:cNvCxnSpPr>
            <a:cxnSpLocks noChangeShapeType="1"/>
            <a:stCxn id="17" idx="1"/>
            <a:endCxn id="19" idx="3"/>
          </p:cNvCxnSpPr>
          <p:nvPr/>
        </p:nvCxnSpPr>
        <p:spPr bwMode="auto">
          <a:xfrm flipH="1">
            <a:off x="5247446" y="4249926"/>
            <a:ext cx="881651" cy="0"/>
          </a:xfrm>
          <a:prstGeom prst="straightConnector1">
            <a:avLst/>
          </a:prstGeom>
          <a:noFill/>
          <a:ln w="3175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29" name="AutoShape 76"/>
          <p:cNvCxnSpPr>
            <a:cxnSpLocks noChangeShapeType="1"/>
            <a:stCxn id="19" idx="1"/>
            <a:endCxn id="84" idx="1"/>
          </p:cNvCxnSpPr>
          <p:nvPr/>
        </p:nvCxnSpPr>
        <p:spPr bwMode="auto">
          <a:xfrm rot="10800000">
            <a:off x="2054378" y="2476834"/>
            <a:ext cx="2113068" cy="1773092"/>
          </a:xfrm>
          <a:prstGeom prst="bentConnector3">
            <a:avLst>
              <a:gd name="adj1" fmla="val 110818"/>
            </a:avLst>
          </a:prstGeom>
          <a:noFill/>
          <a:ln w="3175">
            <a:solidFill>
              <a:srgbClr val="FF0000"/>
            </a:solidFill>
            <a:miter lim="800000"/>
            <a:headEnd/>
            <a:tailEnd type="triangle" w="med" len="med"/>
          </a:ln>
        </p:spPr>
      </p:cxnSp>
      <p:grpSp>
        <p:nvGrpSpPr>
          <p:cNvPr id="30" name="Group 78"/>
          <p:cNvGrpSpPr>
            <a:grpSpLocks/>
          </p:cNvGrpSpPr>
          <p:nvPr/>
        </p:nvGrpSpPr>
        <p:grpSpPr bwMode="auto">
          <a:xfrm>
            <a:off x="2227415" y="3138438"/>
            <a:ext cx="913926" cy="301624"/>
            <a:chOff x="716" y="1480"/>
            <a:chExt cx="931" cy="226"/>
          </a:xfrm>
        </p:grpSpPr>
        <p:sp>
          <p:nvSpPr>
            <p:cNvPr id="92" name="AutoShape 79"/>
            <p:cNvSpPr>
              <a:spLocks noChangeArrowheads="1"/>
            </p:cNvSpPr>
            <p:nvPr/>
          </p:nvSpPr>
          <p:spPr bwMode="auto">
            <a:xfrm>
              <a:off x="716" y="1480"/>
              <a:ext cx="931" cy="226"/>
            </a:xfrm>
            <a:prstGeom prst="flowChartDecision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 defTabSz="785813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결함 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</a:p>
          </p:txBody>
        </p:sp>
        <p:sp>
          <p:nvSpPr>
            <p:cNvPr id="93" name="Rectangle 80"/>
            <p:cNvSpPr>
              <a:spLocks noChangeArrowheads="1"/>
            </p:cNvSpPr>
            <p:nvPr/>
          </p:nvSpPr>
          <p:spPr bwMode="auto">
            <a:xfrm>
              <a:off x="1127" y="1485"/>
              <a:ext cx="45" cy="4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4" name="Rectangle 81"/>
            <p:cNvSpPr>
              <a:spLocks noChangeArrowheads="1"/>
            </p:cNvSpPr>
            <p:nvPr/>
          </p:nvSpPr>
          <p:spPr bwMode="auto">
            <a:xfrm>
              <a:off x="1200" y="1485"/>
              <a:ext cx="45" cy="4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5" name="Rectangle 82"/>
            <p:cNvSpPr>
              <a:spLocks noChangeArrowheads="1"/>
            </p:cNvSpPr>
            <p:nvPr/>
          </p:nvSpPr>
          <p:spPr bwMode="auto">
            <a:xfrm>
              <a:off x="1127" y="1645"/>
              <a:ext cx="45" cy="4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6" name="Rectangle 83"/>
            <p:cNvSpPr>
              <a:spLocks noChangeArrowheads="1"/>
            </p:cNvSpPr>
            <p:nvPr/>
          </p:nvSpPr>
          <p:spPr bwMode="auto">
            <a:xfrm>
              <a:off x="1200" y="1645"/>
              <a:ext cx="45" cy="4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1" name="Group 84"/>
          <p:cNvGrpSpPr>
            <a:grpSpLocks/>
          </p:cNvGrpSpPr>
          <p:nvPr/>
        </p:nvGrpSpPr>
        <p:grpSpPr bwMode="auto">
          <a:xfrm>
            <a:off x="4077446" y="4396469"/>
            <a:ext cx="1260000" cy="457751"/>
            <a:chOff x="3300" y="2748"/>
            <a:chExt cx="866" cy="319"/>
          </a:xfrm>
        </p:grpSpPr>
        <p:sp>
          <p:nvSpPr>
            <p:cNvPr id="89" name="AutoShape 85"/>
            <p:cNvSpPr>
              <a:spLocks noChangeArrowheads="1"/>
            </p:cNvSpPr>
            <p:nvPr/>
          </p:nvSpPr>
          <p:spPr bwMode="auto">
            <a:xfrm>
              <a:off x="3303" y="2748"/>
              <a:ext cx="863" cy="319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Ins="36000" anchor="ctr">
              <a:noAutofit/>
            </a:bodyPr>
            <a:lstStyle/>
            <a:p>
              <a:pPr algn="ctr">
                <a:buClr>
                  <a:schemeClr val="tx1"/>
                </a:buClr>
                <a:buFont typeface="Wingdings" pitchFamily="2" charset="2"/>
                <a:buNone/>
              </a:pP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1.2 결과 확인 및 검수</a:t>
              </a:r>
            </a:p>
          </p:txBody>
        </p:sp>
        <p:sp>
          <p:nvSpPr>
            <p:cNvPr id="90" name="Rectangle 86"/>
            <p:cNvSpPr>
              <a:spLocks noChangeArrowheads="1"/>
            </p:cNvSpPr>
            <p:nvPr/>
          </p:nvSpPr>
          <p:spPr bwMode="auto">
            <a:xfrm>
              <a:off x="3300" y="2949"/>
              <a:ext cx="45" cy="4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1" name="Rectangle 87"/>
            <p:cNvSpPr>
              <a:spLocks noChangeArrowheads="1"/>
            </p:cNvSpPr>
            <p:nvPr/>
          </p:nvSpPr>
          <p:spPr bwMode="auto">
            <a:xfrm>
              <a:off x="3300" y="2859"/>
              <a:ext cx="45" cy="4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32" name="AutoShape 89"/>
          <p:cNvCxnSpPr>
            <a:cxnSpLocks noChangeShapeType="1"/>
            <a:stCxn id="20" idx="1"/>
            <a:endCxn id="75" idx="1"/>
          </p:cNvCxnSpPr>
          <p:nvPr/>
        </p:nvCxnSpPr>
        <p:spPr bwMode="auto">
          <a:xfrm rot="10800000">
            <a:off x="2054379" y="2873949"/>
            <a:ext cx="2223157" cy="2672939"/>
          </a:xfrm>
          <a:prstGeom prst="bentConnector3">
            <a:avLst>
              <a:gd name="adj1" fmla="val 113829"/>
            </a:avLst>
          </a:prstGeom>
          <a:noFill/>
          <a:ln w="3175">
            <a:solidFill>
              <a:srgbClr val="3012AE"/>
            </a:solidFill>
            <a:miter lim="800000"/>
            <a:headEnd/>
            <a:tailEnd type="triangle" w="med" len="med"/>
          </a:ln>
        </p:spPr>
      </p:cxnSp>
      <p:grpSp>
        <p:nvGrpSpPr>
          <p:cNvPr id="33" name="Group 90"/>
          <p:cNvGrpSpPr>
            <a:grpSpLocks/>
          </p:cNvGrpSpPr>
          <p:nvPr/>
        </p:nvGrpSpPr>
        <p:grpSpPr bwMode="auto">
          <a:xfrm>
            <a:off x="2054378" y="2360882"/>
            <a:ext cx="1260000" cy="231903"/>
            <a:chOff x="716" y="981"/>
            <a:chExt cx="931" cy="272"/>
          </a:xfrm>
          <a:solidFill>
            <a:schemeClr val="bg1">
              <a:lumMod val="50000"/>
            </a:schemeClr>
          </a:solidFill>
        </p:grpSpPr>
        <p:sp>
          <p:nvSpPr>
            <p:cNvPr id="84" name="AutoShape 91"/>
            <p:cNvSpPr>
              <a:spLocks noChangeArrowheads="1"/>
            </p:cNvSpPr>
            <p:nvPr/>
          </p:nvSpPr>
          <p:spPr bwMode="auto">
            <a:xfrm>
              <a:off x="716" y="981"/>
              <a:ext cx="931" cy="272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ko-KR" altLang="en-US" sz="1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0.0 테스트 수행</a:t>
              </a:r>
            </a:p>
          </p:txBody>
        </p:sp>
        <p:sp>
          <p:nvSpPr>
            <p:cNvPr id="85" name="Rectangle 92"/>
            <p:cNvSpPr>
              <a:spLocks noChangeArrowheads="1"/>
            </p:cNvSpPr>
            <p:nvPr/>
          </p:nvSpPr>
          <p:spPr bwMode="auto">
            <a:xfrm>
              <a:off x="1127" y="1207"/>
              <a:ext cx="45" cy="46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6" name="Rectangle 93"/>
            <p:cNvSpPr>
              <a:spLocks noChangeArrowheads="1"/>
            </p:cNvSpPr>
            <p:nvPr/>
          </p:nvSpPr>
          <p:spPr bwMode="auto">
            <a:xfrm>
              <a:off x="1200" y="1207"/>
              <a:ext cx="45" cy="46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7" name="Rectangle 94"/>
            <p:cNvSpPr>
              <a:spLocks noChangeArrowheads="1"/>
            </p:cNvSpPr>
            <p:nvPr/>
          </p:nvSpPr>
          <p:spPr bwMode="auto">
            <a:xfrm>
              <a:off x="722" y="1138"/>
              <a:ext cx="45" cy="46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8" name="Rectangle 95"/>
            <p:cNvSpPr>
              <a:spLocks noChangeArrowheads="1"/>
            </p:cNvSpPr>
            <p:nvPr/>
          </p:nvSpPr>
          <p:spPr bwMode="auto">
            <a:xfrm>
              <a:off x="722" y="1048"/>
              <a:ext cx="45" cy="46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4" name="Text Box 96"/>
          <p:cNvSpPr txBox="1">
            <a:spLocks noChangeArrowheads="1"/>
          </p:cNvSpPr>
          <p:nvPr/>
        </p:nvSpPr>
        <p:spPr bwMode="auto">
          <a:xfrm>
            <a:off x="2402948" y="3429000"/>
            <a:ext cx="296844" cy="17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</a:p>
        </p:txBody>
      </p:sp>
      <p:sp>
        <p:nvSpPr>
          <p:cNvPr id="35" name="Text Box 97"/>
          <p:cNvSpPr txBox="1">
            <a:spLocks noChangeArrowheads="1"/>
          </p:cNvSpPr>
          <p:nvPr/>
        </p:nvSpPr>
        <p:spPr bwMode="auto">
          <a:xfrm>
            <a:off x="4680394" y="5680268"/>
            <a:ext cx="1178600" cy="17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  <a:r>
              <a:rPr lang="ko-KR" altLang="en-US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“Closed”)</a:t>
            </a:r>
            <a:endParaRPr lang="ko-KR" altLang="en-US" sz="11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 Box 98"/>
          <p:cNvSpPr txBox="1">
            <a:spLocks noChangeArrowheads="1"/>
          </p:cNvSpPr>
          <p:nvPr/>
        </p:nvSpPr>
        <p:spPr bwMode="auto">
          <a:xfrm>
            <a:off x="2942153" y="5230447"/>
            <a:ext cx="440941" cy="3164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반려</a:t>
            </a:r>
          </a:p>
        </p:txBody>
      </p:sp>
      <p:sp>
        <p:nvSpPr>
          <p:cNvPr id="37" name="Text Box 99"/>
          <p:cNvSpPr txBox="1">
            <a:spLocks noChangeArrowheads="1"/>
          </p:cNvSpPr>
          <p:nvPr/>
        </p:nvSpPr>
        <p:spPr bwMode="auto">
          <a:xfrm>
            <a:off x="3152414" y="3389346"/>
            <a:ext cx="296843" cy="2893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</a:p>
        </p:txBody>
      </p:sp>
      <p:sp>
        <p:nvSpPr>
          <p:cNvPr id="38" name="Text Box 100"/>
          <p:cNvSpPr txBox="1">
            <a:spLocks noChangeArrowheads="1"/>
          </p:cNvSpPr>
          <p:nvPr/>
        </p:nvSpPr>
        <p:spPr bwMode="auto">
          <a:xfrm>
            <a:off x="3514025" y="3642614"/>
            <a:ext cx="600998" cy="2476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“New”</a:t>
            </a:r>
          </a:p>
        </p:txBody>
      </p:sp>
      <p:sp>
        <p:nvSpPr>
          <p:cNvPr id="39" name="Text Box 101"/>
          <p:cNvSpPr txBox="1">
            <a:spLocks noChangeArrowheads="1"/>
          </p:cNvSpPr>
          <p:nvPr/>
        </p:nvSpPr>
        <p:spPr bwMode="auto">
          <a:xfrm>
            <a:off x="5682057" y="1991052"/>
            <a:ext cx="978175" cy="3107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“In Progress”</a:t>
            </a:r>
          </a:p>
        </p:txBody>
      </p:sp>
      <p:sp>
        <p:nvSpPr>
          <p:cNvPr id="40" name="Text Box 102"/>
          <p:cNvSpPr txBox="1">
            <a:spLocks noChangeArrowheads="1"/>
          </p:cNvSpPr>
          <p:nvPr/>
        </p:nvSpPr>
        <p:spPr bwMode="auto">
          <a:xfrm>
            <a:off x="5503033" y="3896351"/>
            <a:ext cx="702959" cy="232281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lIns="0" tIns="0" rIns="0" bIns="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“Resolved”</a:t>
            </a:r>
          </a:p>
        </p:txBody>
      </p:sp>
      <p:sp>
        <p:nvSpPr>
          <p:cNvPr id="41" name="Text Box 103"/>
          <p:cNvSpPr txBox="1">
            <a:spLocks noChangeArrowheads="1"/>
          </p:cNvSpPr>
          <p:nvPr/>
        </p:nvSpPr>
        <p:spPr bwMode="auto">
          <a:xfrm>
            <a:off x="6720542" y="3889088"/>
            <a:ext cx="847860" cy="2272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“In Progress”</a:t>
            </a:r>
          </a:p>
        </p:txBody>
      </p:sp>
      <p:sp>
        <p:nvSpPr>
          <p:cNvPr id="42" name="AutoShape 111"/>
          <p:cNvSpPr>
            <a:spLocks noChangeArrowheads="1"/>
          </p:cNvSpPr>
          <p:nvPr/>
        </p:nvSpPr>
        <p:spPr bwMode="auto">
          <a:xfrm>
            <a:off x="4255601" y="2166873"/>
            <a:ext cx="903691" cy="292531"/>
          </a:xfrm>
          <a:prstGeom prst="flowChartDecision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중복결함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43" name="AutoShape 112"/>
          <p:cNvSpPr>
            <a:spLocks noChangeArrowheads="1"/>
          </p:cNvSpPr>
          <p:nvPr/>
        </p:nvSpPr>
        <p:spPr bwMode="auto">
          <a:xfrm>
            <a:off x="4255601" y="3000509"/>
            <a:ext cx="903691" cy="294046"/>
          </a:xfrm>
          <a:prstGeom prst="flowChartDecision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결함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cxnSp>
        <p:nvCxnSpPr>
          <p:cNvPr id="44" name="AutoShape 113"/>
          <p:cNvCxnSpPr>
            <a:cxnSpLocks noChangeShapeType="1"/>
            <a:stCxn id="45" idx="0"/>
            <a:endCxn id="43" idx="2"/>
          </p:cNvCxnSpPr>
          <p:nvPr/>
        </p:nvCxnSpPr>
        <p:spPr bwMode="auto">
          <a:xfrm flipV="1">
            <a:off x="4707446" y="3294555"/>
            <a:ext cx="1" cy="492603"/>
          </a:xfrm>
          <a:prstGeom prst="straightConnector1">
            <a:avLst/>
          </a:prstGeom>
          <a:noFill/>
          <a:ln w="3175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45" name="AutoShape 114"/>
          <p:cNvSpPr>
            <a:spLocks noChangeArrowheads="1"/>
          </p:cNvSpPr>
          <p:nvPr/>
        </p:nvSpPr>
        <p:spPr bwMode="auto">
          <a:xfrm>
            <a:off x="4167446" y="3787158"/>
            <a:ext cx="1080000" cy="210682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2.2 결함 검토</a:t>
            </a:r>
          </a:p>
        </p:txBody>
      </p:sp>
      <p:cxnSp>
        <p:nvCxnSpPr>
          <p:cNvPr id="46" name="AutoShape 115"/>
          <p:cNvCxnSpPr>
            <a:cxnSpLocks noChangeShapeType="1"/>
            <a:stCxn id="43" idx="1"/>
            <a:endCxn id="89" idx="1"/>
          </p:cNvCxnSpPr>
          <p:nvPr/>
        </p:nvCxnSpPr>
        <p:spPr bwMode="auto">
          <a:xfrm rot="10800000" flipV="1">
            <a:off x="4081811" y="3147531"/>
            <a:ext cx="173790" cy="1477813"/>
          </a:xfrm>
          <a:prstGeom prst="bentConnector3">
            <a:avLst>
              <a:gd name="adj1" fmla="val 158965"/>
            </a:avLst>
          </a:prstGeom>
          <a:noFill/>
          <a:ln w="3175">
            <a:solidFill>
              <a:srgbClr val="FF0000"/>
            </a:solidFill>
            <a:miter lim="800000"/>
            <a:headEnd/>
            <a:tailEnd type="triangle" w="med" len="med"/>
          </a:ln>
        </p:spPr>
      </p:cxnSp>
      <p:cxnSp>
        <p:nvCxnSpPr>
          <p:cNvPr id="47" name="AutoShape 117"/>
          <p:cNvCxnSpPr>
            <a:cxnSpLocks noChangeShapeType="1"/>
            <a:stCxn id="42" idx="0"/>
            <a:endCxn id="18" idx="0"/>
          </p:cNvCxnSpPr>
          <p:nvPr/>
        </p:nvCxnSpPr>
        <p:spPr bwMode="auto">
          <a:xfrm rot="16200000" flipH="1">
            <a:off x="4960735" y="1913584"/>
            <a:ext cx="1455073" cy="1961650"/>
          </a:xfrm>
          <a:prstGeom prst="bentConnector3">
            <a:avLst>
              <a:gd name="adj1" fmla="val -12461"/>
            </a:avLst>
          </a:prstGeom>
          <a:noFill/>
          <a:ln w="3175">
            <a:solidFill>
              <a:srgbClr val="FF0000"/>
            </a:solidFill>
            <a:miter lim="800000"/>
            <a:headEnd/>
            <a:tailEnd type="triangle" w="med" len="med"/>
          </a:ln>
        </p:spPr>
      </p:cxnSp>
      <p:sp>
        <p:nvSpPr>
          <p:cNvPr id="48" name="Text Box 118"/>
          <p:cNvSpPr txBox="1">
            <a:spLocks noChangeArrowheads="1"/>
          </p:cNvSpPr>
          <p:nvPr/>
        </p:nvSpPr>
        <p:spPr bwMode="auto">
          <a:xfrm>
            <a:off x="3463571" y="2901988"/>
            <a:ext cx="867133" cy="2455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en-US" altLang="ko-KR" sz="11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Rejectted</a:t>
            </a: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</a:p>
        </p:txBody>
      </p:sp>
      <p:sp>
        <p:nvSpPr>
          <p:cNvPr id="49" name="Text Box 119"/>
          <p:cNvSpPr txBox="1">
            <a:spLocks noChangeArrowheads="1"/>
          </p:cNvSpPr>
          <p:nvPr/>
        </p:nvSpPr>
        <p:spPr bwMode="auto">
          <a:xfrm>
            <a:off x="5536034" y="2938298"/>
            <a:ext cx="908174" cy="40324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lIns="0" tIns="0" rIns="0" bIns="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“Feedback</a:t>
            </a:r>
            <a:r>
              <a:rPr lang="ko-KR" altLang="en-US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  <a:b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중복의견작성</a:t>
            </a:r>
          </a:p>
        </p:txBody>
      </p:sp>
      <p:sp>
        <p:nvSpPr>
          <p:cNvPr id="50" name="Text Box 120"/>
          <p:cNvSpPr txBox="1">
            <a:spLocks noChangeArrowheads="1"/>
          </p:cNvSpPr>
          <p:nvPr/>
        </p:nvSpPr>
        <p:spPr bwMode="auto">
          <a:xfrm>
            <a:off x="4680394" y="2793454"/>
            <a:ext cx="296843" cy="17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</a:p>
        </p:txBody>
      </p:sp>
      <p:sp>
        <p:nvSpPr>
          <p:cNvPr id="51" name="Text Box 121"/>
          <p:cNvSpPr txBox="1">
            <a:spLocks noChangeArrowheads="1"/>
          </p:cNvSpPr>
          <p:nvPr/>
        </p:nvSpPr>
        <p:spPr bwMode="auto">
          <a:xfrm>
            <a:off x="5167733" y="2326016"/>
            <a:ext cx="296843" cy="17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</a:p>
        </p:txBody>
      </p:sp>
      <p:sp>
        <p:nvSpPr>
          <p:cNvPr id="52" name="Text Box 122"/>
          <p:cNvSpPr txBox="1">
            <a:spLocks noChangeArrowheads="1"/>
          </p:cNvSpPr>
          <p:nvPr/>
        </p:nvSpPr>
        <p:spPr bwMode="auto">
          <a:xfrm>
            <a:off x="4066761" y="3152776"/>
            <a:ext cx="296844" cy="17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</a:p>
        </p:txBody>
      </p:sp>
      <p:cxnSp>
        <p:nvCxnSpPr>
          <p:cNvPr id="53" name="AutoShape 123"/>
          <p:cNvCxnSpPr>
            <a:cxnSpLocks noChangeShapeType="1"/>
            <a:stCxn id="43" idx="0"/>
            <a:endCxn id="42" idx="2"/>
          </p:cNvCxnSpPr>
          <p:nvPr/>
        </p:nvCxnSpPr>
        <p:spPr bwMode="auto">
          <a:xfrm flipV="1">
            <a:off x="4707447" y="2459404"/>
            <a:ext cx="0" cy="541105"/>
          </a:xfrm>
          <a:prstGeom prst="straightConnector1">
            <a:avLst/>
          </a:prstGeom>
          <a:noFill/>
          <a:ln w="3175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54" name="Text Box 124"/>
          <p:cNvSpPr txBox="1">
            <a:spLocks noChangeArrowheads="1"/>
          </p:cNvSpPr>
          <p:nvPr/>
        </p:nvSpPr>
        <p:spPr bwMode="auto">
          <a:xfrm>
            <a:off x="4716016" y="1964130"/>
            <a:ext cx="296844" cy="17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</a:p>
        </p:txBody>
      </p:sp>
      <p:cxnSp>
        <p:nvCxnSpPr>
          <p:cNvPr id="55" name="AutoShape 125"/>
          <p:cNvCxnSpPr>
            <a:cxnSpLocks noChangeShapeType="1"/>
            <a:stCxn id="92" idx="3"/>
            <a:endCxn id="16" idx="0"/>
          </p:cNvCxnSpPr>
          <p:nvPr/>
        </p:nvCxnSpPr>
        <p:spPr bwMode="auto">
          <a:xfrm>
            <a:off x="3141341" y="3289250"/>
            <a:ext cx="22146" cy="497908"/>
          </a:xfrm>
          <a:prstGeom prst="bentConnector2">
            <a:avLst/>
          </a:prstGeom>
          <a:noFill/>
          <a:ln w="3175">
            <a:solidFill>
              <a:srgbClr val="FF0000"/>
            </a:solidFill>
            <a:miter lim="800000"/>
            <a:headEnd/>
            <a:tailEnd type="triangle" w="med" len="med"/>
          </a:ln>
        </p:spPr>
      </p:cxnSp>
      <p:grpSp>
        <p:nvGrpSpPr>
          <p:cNvPr id="56" name="Group 133"/>
          <p:cNvGrpSpPr>
            <a:grpSpLocks/>
          </p:cNvGrpSpPr>
          <p:nvPr/>
        </p:nvGrpSpPr>
        <p:grpSpPr bwMode="auto">
          <a:xfrm>
            <a:off x="5868144" y="5213796"/>
            <a:ext cx="1779598" cy="643809"/>
            <a:chOff x="1128" y="3646"/>
            <a:chExt cx="1223" cy="261"/>
          </a:xfrm>
        </p:grpSpPr>
        <p:sp>
          <p:nvSpPr>
            <p:cNvPr id="79" name="Rectangle 126"/>
            <p:cNvSpPr>
              <a:spLocks noChangeArrowheads="1"/>
            </p:cNvSpPr>
            <p:nvPr/>
          </p:nvSpPr>
          <p:spPr bwMode="auto">
            <a:xfrm>
              <a:off x="1128" y="3648"/>
              <a:ext cx="1080" cy="250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Line 105"/>
            <p:cNvSpPr>
              <a:spLocks noChangeShapeType="1"/>
            </p:cNvSpPr>
            <p:nvPr/>
          </p:nvSpPr>
          <p:spPr bwMode="auto">
            <a:xfrm flipV="1">
              <a:off x="1152" y="3705"/>
              <a:ext cx="240" cy="0"/>
            </a:xfrm>
            <a:prstGeom prst="line">
              <a:avLst/>
            </a:prstGeom>
            <a:noFill/>
            <a:ln w="19050">
              <a:solidFill>
                <a:srgbClr val="3012AE"/>
              </a:solidFill>
              <a:round/>
              <a:headEnd/>
              <a:tailEnd type="triangle" w="med" len="med"/>
            </a:ln>
          </p:spPr>
          <p:txBody>
            <a:bodyPr lIns="79200" tIns="39600" rIns="79200" bIns="39600" anchor="ctr">
              <a:noAutofit/>
            </a:bodyPr>
            <a:lstStyle/>
            <a:p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1" name="Line 106"/>
            <p:cNvSpPr>
              <a:spLocks noChangeShapeType="1"/>
            </p:cNvSpPr>
            <p:nvPr/>
          </p:nvSpPr>
          <p:spPr bwMode="auto">
            <a:xfrm>
              <a:off x="1152" y="3837"/>
              <a:ext cx="24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lIns="79200" tIns="39600" rIns="79200" bIns="39600" anchor="ctr">
              <a:noAutofit/>
            </a:bodyPr>
            <a:lstStyle/>
            <a:p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2" name="Text Box 107"/>
            <p:cNvSpPr txBox="1">
              <a:spLocks noChangeArrowheads="1"/>
            </p:cNvSpPr>
            <p:nvPr/>
          </p:nvSpPr>
          <p:spPr bwMode="auto">
            <a:xfrm>
              <a:off x="1366" y="3646"/>
              <a:ext cx="985" cy="1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79200" tIns="39600" rIns="79200" bIns="39600">
              <a:noAutofit/>
            </a:bodyPr>
            <a:lstStyle/>
            <a:p>
              <a:pPr defTabSz="785813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결함이 없을 경우</a:t>
              </a:r>
            </a:p>
          </p:txBody>
        </p:sp>
        <p:sp>
          <p:nvSpPr>
            <p:cNvPr id="83" name="Text Box 108"/>
            <p:cNvSpPr txBox="1">
              <a:spLocks noChangeArrowheads="1"/>
            </p:cNvSpPr>
            <p:nvPr/>
          </p:nvSpPr>
          <p:spPr bwMode="auto">
            <a:xfrm>
              <a:off x="1366" y="3774"/>
              <a:ext cx="985" cy="1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79200" tIns="39600" rIns="79200" bIns="39600">
              <a:noAutofit/>
            </a:bodyPr>
            <a:lstStyle/>
            <a:p>
              <a:pPr defTabSz="785813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결함이 있을 경우</a:t>
              </a:r>
            </a:p>
          </p:txBody>
        </p:sp>
      </p:grpSp>
      <p:sp>
        <p:nvSpPr>
          <p:cNvPr id="57" name="Rectangle 131"/>
          <p:cNvSpPr>
            <a:spLocks noChangeArrowheads="1"/>
          </p:cNvSpPr>
          <p:nvPr/>
        </p:nvSpPr>
        <p:spPr bwMode="auto">
          <a:xfrm>
            <a:off x="514350" y="1781885"/>
            <a:ext cx="1158128" cy="4404627"/>
          </a:xfrm>
          <a:prstGeom prst="rect">
            <a:avLst/>
          </a:prstGeom>
          <a:noFill/>
          <a:ln w="9525" cap="rnd" algn="ctr">
            <a:solidFill>
              <a:srgbClr val="333333"/>
            </a:solidFill>
            <a:prstDash val="sysDot"/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Rectangle 142"/>
          <p:cNvSpPr>
            <a:spLocks noChangeArrowheads="1"/>
          </p:cNvSpPr>
          <p:nvPr/>
        </p:nvSpPr>
        <p:spPr bwMode="auto">
          <a:xfrm>
            <a:off x="569917" y="1636378"/>
            <a:ext cx="1046994" cy="251606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관리팀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 Box 145"/>
          <p:cNvSpPr txBox="1">
            <a:spLocks noChangeArrowheads="1"/>
          </p:cNvSpPr>
          <p:nvPr/>
        </p:nvSpPr>
        <p:spPr bwMode="auto">
          <a:xfrm>
            <a:off x="577228" y="2941398"/>
            <a:ext cx="1032372" cy="82656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9200" tIns="39600" rIns="79200" bIns="39600">
            <a:noAutofit/>
          </a:bodyPr>
          <a:lstStyle/>
          <a:p>
            <a:pPr algn="ctr" defTabSz="785813"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785813"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수행관리</a:t>
            </a:r>
          </a:p>
          <a:p>
            <a:pPr algn="ctr" defTabSz="785813">
              <a:buClr>
                <a:schemeClr val="tx1"/>
              </a:buClr>
              <a:buFont typeface="Wingdings" pitchFamily="2" charset="2"/>
              <a:buNone/>
            </a:pP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785813">
              <a:buClr>
                <a:schemeClr val="tx1"/>
              </a:buClr>
              <a:buFont typeface="Wingdings" pitchFamily="2" charset="2"/>
              <a:buNone/>
            </a:pP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Rectangle 146"/>
          <p:cNvSpPr>
            <a:spLocks noChangeArrowheads="1"/>
          </p:cNvSpPr>
          <p:nvPr/>
        </p:nvSpPr>
        <p:spPr bwMode="auto">
          <a:xfrm>
            <a:off x="609399" y="3552429"/>
            <a:ext cx="968031" cy="180369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진행상황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Rectangle 147"/>
          <p:cNvSpPr>
            <a:spLocks noChangeArrowheads="1"/>
          </p:cNvSpPr>
          <p:nvPr/>
        </p:nvSpPr>
        <p:spPr bwMode="auto">
          <a:xfrm>
            <a:off x="609399" y="3329013"/>
            <a:ext cx="968031" cy="18036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시나리오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 Box 150"/>
          <p:cNvSpPr txBox="1">
            <a:spLocks noChangeArrowheads="1"/>
          </p:cNvSpPr>
          <p:nvPr/>
        </p:nvSpPr>
        <p:spPr bwMode="auto">
          <a:xfrm>
            <a:off x="573573" y="4276729"/>
            <a:ext cx="1039682" cy="7987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9200" tIns="39600" rIns="79200" bIns="39600">
            <a:noAutofit/>
          </a:bodyPr>
          <a:lstStyle/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결함관리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Rectangle 151"/>
          <p:cNvSpPr>
            <a:spLocks noChangeArrowheads="1"/>
          </p:cNvSpPr>
          <p:nvPr/>
        </p:nvSpPr>
        <p:spPr bwMode="auto">
          <a:xfrm>
            <a:off x="612323" y="4509120"/>
            <a:ext cx="962182" cy="18036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결함정보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4" name="AutoShape 160"/>
          <p:cNvCxnSpPr>
            <a:cxnSpLocks noChangeShapeType="1"/>
            <a:stCxn id="42" idx="3"/>
            <a:endCxn id="19" idx="3"/>
          </p:cNvCxnSpPr>
          <p:nvPr/>
        </p:nvCxnSpPr>
        <p:spPr bwMode="auto">
          <a:xfrm>
            <a:off x="5159292" y="2313139"/>
            <a:ext cx="88154" cy="1936787"/>
          </a:xfrm>
          <a:prstGeom prst="bentConnector3">
            <a:avLst>
              <a:gd name="adj1" fmla="val 359319"/>
            </a:avLst>
          </a:prstGeom>
          <a:noFill/>
          <a:ln w="3175">
            <a:solidFill>
              <a:srgbClr val="FF0000"/>
            </a:solidFill>
            <a:miter lim="800000"/>
            <a:headEnd/>
            <a:tailEnd type="triangle" w="med" len="med"/>
          </a:ln>
        </p:spPr>
      </p:cxnSp>
      <p:sp>
        <p:nvSpPr>
          <p:cNvPr id="65" name="Rectangle 151"/>
          <p:cNvSpPr>
            <a:spLocks noChangeArrowheads="1"/>
          </p:cNvSpPr>
          <p:nvPr/>
        </p:nvSpPr>
        <p:spPr bwMode="auto">
          <a:xfrm>
            <a:off x="612323" y="4712222"/>
            <a:ext cx="962182" cy="33274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9600" rIns="79200" bIns="39600" anchor="ctr">
            <a:noAutofit/>
          </a:bodyPr>
          <a:lstStyle/>
          <a:p>
            <a:pPr algn="ctr" defTabSz="785813"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결함 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785813"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해결진행정보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6" name="Shape 99"/>
          <p:cNvCxnSpPr>
            <a:stCxn id="16" idx="2"/>
            <a:endCxn id="63" idx="3"/>
          </p:cNvCxnSpPr>
          <p:nvPr/>
        </p:nvCxnSpPr>
        <p:spPr bwMode="auto">
          <a:xfrm rot="5400000">
            <a:off x="2064854" y="3500670"/>
            <a:ext cx="608285" cy="1588982"/>
          </a:xfrm>
          <a:prstGeom prst="bentConnector2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7" name="Shape 104"/>
          <p:cNvCxnSpPr>
            <a:cxnSpLocks noChangeShapeType="1"/>
            <a:stCxn id="25" idx="1"/>
            <a:endCxn id="62" idx="2"/>
          </p:cNvCxnSpPr>
          <p:nvPr/>
        </p:nvCxnSpPr>
        <p:spPr bwMode="auto">
          <a:xfrm rot="10800000">
            <a:off x="1093414" y="5075504"/>
            <a:ext cx="2984032" cy="941250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68" name="Shape 110"/>
          <p:cNvCxnSpPr>
            <a:cxnSpLocks noChangeShapeType="1"/>
            <a:stCxn id="59" idx="0"/>
          </p:cNvCxnSpPr>
          <p:nvPr/>
        </p:nvCxnSpPr>
        <p:spPr bwMode="auto">
          <a:xfrm rot="5400000" flipH="1" flipV="1">
            <a:off x="1276060" y="2163082"/>
            <a:ext cx="595671" cy="960963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69" name="직사각형 112"/>
          <p:cNvSpPr>
            <a:spLocks noChangeArrowheads="1"/>
          </p:cNvSpPr>
          <p:nvPr/>
        </p:nvSpPr>
        <p:spPr bwMode="auto">
          <a:xfrm>
            <a:off x="7669282" y="2060774"/>
            <a:ext cx="990000" cy="240997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lIns="54000" tIns="36000" rIns="54000" bIns="36000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결함유형분석</a:t>
            </a:r>
          </a:p>
        </p:txBody>
      </p:sp>
      <p:sp>
        <p:nvSpPr>
          <p:cNvPr id="70" name="직사각형 113"/>
          <p:cNvSpPr>
            <a:spLocks noChangeArrowheads="1"/>
          </p:cNvSpPr>
          <p:nvPr/>
        </p:nvSpPr>
        <p:spPr bwMode="auto">
          <a:xfrm>
            <a:off x="7669282" y="2740452"/>
            <a:ext cx="990000" cy="223465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lIns="54000" tIns="36000" rIns="54000" bIns="36000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품질수준측정</a:t>
            </a:r>
          </a:p>
        </p:txBody>
      </p:sp>
      <p:sp>
        <p:nvSpPr>
          <p:cNvPr id="71" name="직사각형 114"/>
          <p:cNvSpPr>
            <a:spLocks noChangeArrowheads="1"/>
          </p:cNvSpPr>
          <p:nvPr/>
        </p:nvSpPr>
        <p:spPr bwMode="auto">
          <a:xfrm>
            <a:off x="7669282" y="2341179"/>
            <a:ext cx="990000" cy="35619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lIns="54000" tIns="36000" rIns="54000" bIns="36000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결함사전예방활동</a:t>
            </a:r>
          </a:p>
        </p:txBody>
      </p:sp>
      <p:sp>
        <p:nvSpPr>
          <p:cNvPr id="72" name="Rectangle 30"/>
          <p:cNvSpPr>
            <a:spLocks noChangeArrowheads="1"/>
          </p:cNvSpPr>
          <p:nvPr/>
        </p:nvSpPr>
        <p:spPr bwMode="auto">
          <a:xfrm>
            <a:off x="7591067" y="3993293"/>
            <a:ext cx="1146430" cy="2188673"/>
          </a:xfrm>
          <a:prstGeom prst="rect">
            <a:avLst/>
          </a:prstGeom>
          <a:noFill/>
          <a:ln w="9525" cap="rnd" algn="ctr">
            <a:solidFill>
              <a:srgbClr val="333333"/>
            </a:solidFill>
            <a:prstDash val="sysDot"/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Rectangle 31"/>
          <p:cNvSpPr>
            <a:spLocks noChangeArrowheads="1"/>
          </p:cNvSpPr>
          <p:nvPr/>
        </p:nvSpPr>
        <p:spPr bwMode="auto">
          <a:xfrm>
            <a:off x="7636398" y="3843238"/>
            <a:ext cx="1055768" cy="250091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이행총괄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직사각형 117"/>
          <p:cNvSpPr>
            <a:spLocks noChangeArrowheads="1"/>
          </p:cNvSpPr>
          <p:nvPr/>
        </p:nvSpPr>
        <p:spPr bwMode="auto">
          <a:xfrm>
            <a:off x="7675148" y="4276728"/>
            <a:ext cx="978268" cy="348615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lIns="54000" tIns="36000" rIns="54000" bIns="36000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결함해결진척관리</a:t>
            </a:r>
          </a:p>
        </p:txBody>
      </p:sp>
      <p:sp>
        <p:nvSpPr>
          <p:cNvPr id="75" name="AutoShape 62"/>
          <p:cNvSpPr>
            <a:spLocks noChangeArrowheads="1"/>
          </p:cNvSpPr>
          <p:nvPr/>
        </p:nvSpPr>
        <p:spPr bwMode="auto">
          <a:xfrm>
            <a:off x="2054378" y="2747387"/>
            <a:ext cx="1260000" cy="253122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.1 결함 </a:t>
            </a: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여부판단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AutoShape 62"/>
          <p:cNvSpPr>
            <a:spLocks noChangeArrowheads="1"/>
          </p:cNvSpPr>
          <p:nvPr/>
        </p:nvSpPr>
        <p:spPr bwMode="auto">
          <a:xfrm>
            <a:off x="4077446" y="3482502"/>
            <a:ext cx="1260000" cy="210683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결함 </a:t>
            </a: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여부판단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AutoShape 62"/>
          <p:cNvSpPr>
            <a:spLocks noChangeArrowheads="1"/>
          </p:cNvSpPr>
          <p:nvPr/>
        </p:nvSpPr>
        <p:spPr bwMode="auto">
          <a:xfrm>
            <a:off x="4077446" y="2592786"/>
            <a:ext cx="1260000" cy="209167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중복 </a:t>
            </a: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여부판단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AutoShape 62"/>
          <p:cNvSpPr>
            <a:spLocks noChangeArrowheads="1"/>
          </p:cNvSpPr>
          <p:nvPr/>
        </p:nvSpPr>
        <p:spPr bwMode="auto">
          <a:xfrm>
            <a:off x="4077446" y="4998203"/>
            <a:ext cx="1260000" cy="210683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승인여부 결정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Text Box 102"/>
          <p:cNvSpPr txBox="1">
            <a:spLocks noChangeArrowheads="1"/>
          </p:cNvSpPr>
          <p:nvPr/>
        </p:nvSpPr>
        <p:spPr bwMode="auto">
          <a:xfrm>
            <a:off x="3221488" y="4264120"/>
            <a:ext cx="686532" cy="232281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lIns="0" tIns="0" rIns="0" bIns="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</a:rPr>
              <a:t>“Resolved”</a:t>
            </a:r>
          </a:p>
        </p:txBody>
      </p:sp>
    </p:spTree>
    <p:extLst>
      <p:ext uri="{BB962C8B-B14F-4D97-AF65-F5344CB8AC3E}">
        <p14:creationId xmlns:p14="http://schemas.microsoft.com/office/powerpoint/2010/main" val="34279952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관리 방안</a:t>
            </a:r>
            <a:r>
              <a:rPr lang="en-US" altLang="ko-KR" sz="2000" dirty="0"/>
              <a:t>(</a:t>
            </a:r>
            <a:r>
              <a:rPr lang="ko-KR" altLang="en-US" sz="2000" dirty="0" err="1"/>
              <a:t>결함관리</a:t>
            </a:r>
            <a:r>
              <a:rPr lang="en-US" altLang="ko-KR" sz="2000" dirty="0"/>
              <a:t>_JIRA Tool)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/>
            <a:r>
              <a:rPr lang="ko-KR" altLang="en-US" dirty="0" err="1"/>
              <a:t>결함관리는</a:t>
            </a:r>
            <a:r>
              <a:rPr lang="ko-KR" altLang="en-US" dirty="0"/>
              <a:t> 테스트 수행 후 도출되는 결함을 등록하고 이에 대한 분석 및 수정을 통하여 프로그램의 품질을 높이기 위함이며 다음의 절차에 따라 수행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27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3699202" y="1777339"/>
            <a:ext cx="2016488" cy="4404627"/>
          </a:xfrm>
          <a:prstGeom prst="rect">
            <a:avLst/>
          </a:prstGeom>
          <a:noFill/>
          <a:ln w="9525" cap="rnd" algn="ctr">
            <a:solidFill>
              <a:srgbClr val="333333"/>
            </a:solidFill>
            <a:prstDash val="sysDot"/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22"/>
          <p:cNvSpPr>
            <a:spLocks noChangeArrowheads="1"/>
          </p:cNvSpPr>
          <p:nvPr/>
        </p:nvSpPr>
        <p:spPr bwMode="auto">
          <a:xfrm>
            <a:off x="3767199" y="1634863"/>
            <a:ext cx="1880495" cy="251606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개발조직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리더</a:t>
            </a:r>
          </a:p>
        </p:txBody>
      </p:sp>
      <p:sp>
        <p:nvSpPr>
          <p:cNvPr id="10" name="Rectangle 25"/>
          <p:cNvSpPr>
            <a:spLocks noChangeArrowheads="1"/>
          </p:cNvSpPr>
          <p:nvPr/>
        </p:nvSpPr>
        <p:spPr bwMode="auto">
          <a:xfrm>
            <a:off x="5781492" y="1777339"/>
            <a:ext cx="1775211" cy="4404627"/>
          </a:xfrm>
          <a:prstGeom prst="rect">
            <a:avLst/>
          </a:prstGeom>
          <a:noFill/>
          <a:ln w="9525" cap="rnd" algn="ctr">
            <a:solidFill>
              <a:srgbClr val="333333"/>
            </a:solidFill>
            <a:prstDash val="sysDot"/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Rectangle 26"/>
          <p:cNvSpPr>
            <a:spLocks noChangeArrowheads="1"/>
          </p:cNvSpPr>
          <p:nvPr/>
        </p:nvSpPr>
        <p:spPr bwMode="auto">
          <a:xfrm>
            <a:off x="5839252" y="1634863"/>
            <a:ext cx="1659691" cy="251606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개발조직 결함해결담당자</a:t>
            </a:r>
          </a:p>
        </p:txBody>
      </p:sp>
      <p:sp>
        <p:nvSpPr>
          <p:cNvPr id="12" name="Rectangle 30"/>
          <p:cNvSpPr>
            <a:spLocks noChangeArrowheads="1"/>
          </p:cNvSpPr>
          <p:nvPr/>
        </p:nvSpPr>
        <p:spPr bwMode="auto">
          <a:xfrm>
            <a:off x="7591798" y="1777339"/>
            <a:ext cx="1144968" cy="1740025"/>
          </a:xfrm>
          <a:prstGeom prst="rect">
            <a:avLst/>
          </a:prstGeom>
          <a:noFill/>
          <a:ln w="9525" cap="rnd" algn="ctr">
            <a:solidFill>
              <a:srgbClr val="333333"/>
            </a:solidFill>
            <a:prstDash val="sysDot"/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Rectangle 31"/>
          <p:cNvSpPr>
            <a:spLocks noChangeArrowheads="1"/>
          </p:cNvSpPr>
          <p:nvPr/>
        </p:nvSpPr>
        <p:spPr bwMode="auto">
          <a:xfrm>
            <a:off x="7637130" y="1628800"/>
            <a:ext cx="1054305" cy="248575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품질관리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1707573" y="1777339"/>
            <a:ext cx="1953610" cy="4404627"/>
          </a:xfrm>
          <a:prstGeom prst="rect">
            <a:avLst/>
          </a:prstGeom>
          <a:noFill/>
          <a:ln w="9525" cap="rnd" algn="ctr">
            <a:solidFill>
              <a:srgbClr val="333333"/>
            </a:solidFill>
            <a:prstDash val="sysDot"/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Rectangle 39"/>
          <p:cNvSpPr>
            <a:spLocks noChangeArrowheads="1"/>
          </p:cNvSpPr>
          <p:nvPr/>
        </p:nvSpPr>
        <p:spPr bwMode="auto">
          <a:xfrm>
            <a:off x="1765334" y="1634863"/>
            <a:ext cx="1838089" cy="251606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테스터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(SI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조직 포함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AutoShape 62"/>
          <p:cNvSpPr>
            <a:spLocks noChangeArrowheads="1"/>
          </p:cNvSpPr>
          <p:nvPr/>
        </p:nvSpPr>
        <p:spPr bwMode="auto">
          <a:xfrm>
            <a:off x="2700142" y="3787158"/>
            <a:ext cx="926689" cy="203861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2.1 결함 등록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AutoShape 63"/>
          <p:cNvSpPr>
            <a:spLocks noChangeArrowheads="1"/>
          </p:cNvSpPr>
          <p:nvPr/>
        </p:nvSpPr>
        <p:spPr bwMode="auto">
          <a:xfrm>
            <a:off x="6129097" y="4150926"/>
            <a:ext cx="1080000" cy="1980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2.6 결함 수정</a:t>
            </a:r>
          </a:p>
        </p:txBody>
      </p:sp>
      <p:sp>
        <p:nvSpPr>
          <p:cNvPr id="18" name="AutoShape 64"/>
          <p:cNvSpPr>
            <a:spLocks noChangeArrowheads="1"/>
          </p:cNvSpPr>
          <p:nvPr/>
        </p:nvSpPr>
        <p:spPr bwMode="auto">
          <a:xfrm>
            <a:off x="6129097" y="3621946"/>
            <a:ext cx="1080000" cy="209167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2.5 결함 분석</a:t>
            </a:r>
          </a:p>
        </p:txBody>
      </p:sp>
      <p:sp>
        <p:nvSpPr>
          <p:cNvPr id="19" name="AutoShape 65"/>
          <p:cNvSpPr>
            <a:spLocks noChangeArrowheads="1"/>
          </p:cNvSpPr>
          <p:nvPr/>
        </p:nvSpPr>
        <p:spPr bwMode="auto">
          <a:xfrm>
            <a:off x="4167446" y="4150926"/>
            <a:ext cx="1080000" cy="1980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2.7 코드 검토</a:t>
            </a:r>
          </a:p>
        </p:txBody>
      </p:sp>
      <p:sp>
        <p:nvSpPr>
          <p:cNvPr id="20" name="AutoShape 66"/>
          <p:cNvSpPr>
            <a:spLocks noChangeArrowheads="1"/>
          </p:cNvSpPr>
          <p:nvPr/>
        </p:nvSpPr>
        <p:spPr bwMode="auto">
          <a:xfrm>
            <a:off x="4277535" y="5405927"/>
            <a:ext cx="859822" cy="281920"/>
          </a:xfrm>
          <a:prstGeom prst="flowChartDecision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 ?</a:t>
            </a:r>
          </a:p>
        </p:txBody>
      </p:sp>
      <p:cxnSp>
        <p:nvCxnSpPr>
          <p:cNvPr id="21" name="AutoShape 67"/>
          <p:cNvCxnSpPr>
            <a:cxnSpLocks noChangeShapeType="1"/>
            <a:stCxn id="84" idx="2"/>
            <a:endCxn id="92" idx="0"/>
          </p:cNvCxnSpPr>
          <p:nvPr/>
        </p:nvCxnSpPr>
        <p:spPr bwMode="auto">
          <a:xfrm>
            <a:off x="2684378" y="2592785"/>
            <a:ext cx="0" cy="545653"/>
          </a:xfrm>
          <a:prstGeom prst="straightConnector1">
            <a:avLst/>
          </a:prstGeom>
          <a:noFill/>
          <a:ln w="3175">
            <a:solidFill>
              <a:srgbClr val="3012AE"/>
            </a:solidFill>
            <a:round/>
            <a:headEnd/>
            <a:tailEnd type="triangle" w="med" len="med"/>
          </a:ln>
        </p:spPr>
      </p:cxnSp>
      <p:cxnSp>
        <p:nvCxnSpPr>
          <p:cNvPr id="22" name="AutoShape 68"/>
          <p:cNvCxnSpPr>
            <a:cxnSpLocks noChangeShapeType="1"/>
            <a:stCxn id="92" idx="2"/>
          </p:cNvCxnSpPr>
          <p:nvPr/>
        </p:nvCxnSpPr>
        <p:spPr bwMode="auto">
          <a:xfrm rot="16200000" flipH="1">
            <a:off x="2727674" y="3396765"/>
            <a:ext cx="1310841" cy="1397433"/>
          </a:xfrm>
          <a:prstGeom prst="bentConnector2">
            <a:avLst/>
          </a:prstGeom>
          <a:noFill/>
          <a:ln w="3175">
            <a:solidFill>
              <a:srgbClr val="3012AE"/>
            </a:solidFill>
            <a:miter lim="800000"/>
            <a:headEnd/>
            <a:tailEnd type="triangle" w="med" len="med"/>
          </a:ln>
        </p:spPr>
      </p:cxnSp>
      <p:cxnSp>
        <p:nvCxnSpPr>
          <p:cNvPr id="23" name="AutoShape 69"/>
          <p:cNvCxnSpPr>
            <a:cxnSpLocks noChangeShapeType="1"/>
            <a:stCxn id="89" idx="2"/>
            <a:endCxn id="20" idx="0"/>
          </p:cNvCxnSpPr>
          <p:nvPr/>
        </p:nvCxnSpPr>
        <p:spPr bwMode="auto">
          <a:xfrm flipH="1">
            <a:off x="4707446" y="4854220"/>
            <a:ext cx="2183" cy="551707"/>
          </a:xfrm>
          <a:prstGeom prst="straightConnector1">
            <a:avLst/>
          </a:prstGeom>
          <a:noFill/>
          <a:ln w="3175">
            <a:solidFill>
              <a:srgbClr val="3012AE"/>
            </a:solidFill>
            <a:round/>
            <a:headEnd/>
            <a:tailEnd type="triangle" w="med" len="med"/>
          </a:ln>
        </p:spPr>
      </p:cxnSp>
      <p:cxnSp>
        <p:nvCxnSpPr>
          <p:cNvPr id="24" name="AutoShape 70"/>
          <p:cNvCxnSpPr>
            <a:cxnSpLocks noChangeShapeType="1"/>
            <a:stCxn id="20" idx="2"/>
            <a:endCxn id="25" idx="0"/>
          </p:cNvCxnSpPr>
          <p:nvPr/>
        </p:nvCxnSpPr>
        <p:spPr bwMode="auto">
          <a:xfrm>
            <a:off x="4707446" y="5687847"/>
            <a:ext cx="0" cy="216745"/>
          </a:xfrm>
          <a:prstGeom prst="straightConnector1">
            <a:avLst/>
          </a:prstGeom>
          <a:noFill/>
          <a:ln w="3175">
            <a:solidFill>
              <a:srgbClr val="3012AE"/>
            </a:solidFill>
            <a:round/>
            <a:headEnd/>
            <a:tailEnd type="triangle" w="med" len="med"/>
          </a:ln>
        </p:spPr>
      </p:cxnSp>
      <p:sp>
        <p:nvSpPr>
          <p:cNvPr id="25" name="AutoShape 71"/>
          <p:cNvSpPr>
            <a:spLocks noChangeArrowheads="1"/>
          </p:cNvSpPr>
          <p:nvPr/>
        </p:nvSpPr>
        <p:spPr bwMode="auto">
          <a:xfrm>
            <a:off x="4077446" y="5904592"/>
            <a:ext cx="1260000" cy="224324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9.9 테스트 완료</a:t>
            </a:r>
          </a:p>
        </p:txBody>
      </p:sp>
      <p:cxnSp>
        <p:nvCxnSpPr>
          <p:cNvPr id="26" name="AutoShape 73"/>
          <p:cNvCxnSpPr>
            <a:cxnSpLocks noChangeShapeType="1"/>
            <a:stCxn id="16" idx="3"/>
            <a:endCxn id="45" idx="1"/>
          </p:cNvCxnSpPr>
          <p:nvPr/>
        </p:nvCxnSpPr>
        <p:spPr bwMode="auto">
          <a:xfrm>
            <a:off x="3626831" y="3889089"/>
            <a:ext cx="540615" cy="3410"/>
          </a:xfrm>
          <a:prstGeom prst="straightConnector1">
            <a:avLst/>
          </a:prstGeom>
          <a:noFill/>
          <a:ln w="3175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27" name="AutoShape 74"/>
          <p:cNvCxnSpPr>
            <a:cxnSpLocks noChangeShapeType="1"/>
            <a:stCxn id="18" idx="2"/>
            <a:endCxn id="17" idx="0"/>
          </p:cNvCxnSpPr>
          <p:nvPr/>
        </p:nvCxnSpPr>
        <p:spPr bwMode="auto">
          <a:xfrm>
            <a:off x="6669097" y="3831113"/>
            <a:ext cx="0" cy="319813"/>
          </a:xfrm>
          <a:prstGeom prst="straightConnector1">
            <a:avLst/>
          </a:prstGeom>
          <a:noFill/>
          <a:ln w="3175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28" name="AutoShape 75"/>
          <p:cNvCxnSpPr>
            <a:cxnSpLocks noChangeShapeType="1"/>
            <a:stCxn id="17" idx="1"/>
            <a:endCxn id="19" idx="3"/>
          </p:cNvCxnSpPr>
          <p:nvPr/>
        </p:nvCxnSpPr>
        <p:spPr bwMode="auto">
          <a:xfrm flipH="1">
            <a:off x="5247446" y="4249926"/>
            <a:ext cx="881651" cy="0"/>
          </a:xfrm>
          <a:prstGeom prst="straightConnector1">
            <a:avLst/>
          </a:prstGeom>
          <a:noFill/>
          <a:ln w="3175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29" name="AutoShape 76"/>
          <p:cNvCxnSpPr>
            <a:cxnSpLocks noChangeShapeType="1"/>
            <a:stCxn id="19" idx="1"/>
            <a:endCxn id="84" idx="1"/>
          </p:cNvCxnSpPr>
          <p:nvPr/>
        </p:nvCxnSpPr>
        <p:spPr bwMode="auto">
          <a:xfrm rot="10800000">
            <a:off x="2054378" y="2476834"/>
            <a:ext cx="2113068" cy="1773092"/>
          </a:xfrm>
          <a:prstGeom prst="bentConnector3">
            <a:avLst>
              <a:gd name="adj1" fmla="val 110818"/>
            </a:avLst>
          </a:prstGeom>
          <a:noFill/>
          <a:ln w="3175">
            <a:solidFill>
              <a:srgbClr val="FF0000"/>
            </a:solidFill>
            <a:miter lim="800000"/>
            <a:headEnd/>
            <a:tailEnd type="triangle" w="med" len="med"/>
          </a:ln>
        </p:spPr>
      </p:cxnSp>
      <p:grpSp>
        <p:nvGrpSpPr>
          <p:cNvPr id="30" name="Group 78"/>
          <p:cNvGrpSpPr>
            <a:grpSpLocks/>
          </p:cNvGrpSpPr>
          <p:nvPr/>
        </p:nvGrpSpPr>
        <p:grpSpPr bwMode="auto">
          <a:xfrm>
            <a:off x="2227415" y="3138438"/>
            <a:ext cx="913926" cy="301624"/>
            <a:chOff x="716" y="1480"/>
            <a:chExt cx="931" cy="226"/>
          </a:xfrm>
        </p:grpSpPr>
        <p:sp>
          <p:nvSpPr>
            <p:cNvPr id="92" name="AutoShape 79"/>
            <p:cNvSpPr>
              <a:spLocks noChangeArrowheads="1"/>
            </p:cNvSpPr>
            <p:nvPr/>
          </p:nvSpPr>
          <p:spPr bwMode="auto">
            <a:xfrm>
              <a:off x="716" y="1480"/>
              <a:ext cx="931" cy="226"/>
            </a:xfrm>
            <a:prstGeom prst="flowChartDecision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 defTabSz="785813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결함 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</a:p>
          </p:txBody>
        </p:sp>
        <p:sp>
          <p:nvSpPr>
            <p:cNvPr id="93" name="Rectangle 80"/>
            <p:cNvSpPr>
              <a:spLocks noChangeArrowheads="1"/>
            </p:cNvSpPr>
            <p:nvPr/>
          </p:nvSpPr>
          <p:spPr bwMode="auto">
            <a:xfrm>
              <a:off x="1127" y="1485"/>
              <a:ext cx="45" cy="4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4" name="Rectangle 81"/>
            <p:cNvSpPr>
              <a:spLocks noChangeArrowheads="1"/>
            </p:cNvSpPr>
            <p:nvPr/>
          </p:nvSpPr>
          <p:spPr bwMode="auto">
            <a:xfrm>
              <a:off x="1200" y="1485"/>
              <a:ext cx="45" cy="4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5" name="Rectangle 82"/>
            <p:cNvSpPr>
              <a:spLocks noChangeArrowheads="1"/>
            </p:cNvSpPr>
            <p:nvPr/>
          </p:nvSpPr>
          <p:spPr bwMode="auto">
            <a:xfrm>
              <a:off x="1127" y="1645"/>
              <a:ext cx="45" cy="4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6" name="Rectangle 83"/>
            <p:cNvSpPr>
              <a:spLocks noChangeArrowheads="1"/>
            </p:cNvSpPr>
            <p:nvPr/>
          </p:nvSpPr>
          <p:spPr bwMode="auto">
            <a:xfrm>
              <a:off x="1200" y="1645"/>
              <a:ext cx="45" cy="4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1" name="Group 84"/>
          <p:cNvGrpSpPr>
            <a:grpSpLocks/>
          </p:cNvGrpSpPr>
          <p:nvPr/>
        </p:nvGrpSpPr>
        <p:grpSpPr bwMode="auto">
          <a:xfrm>
            <a:off x="4077446" y="4396469"/>
            <a:ext cx="1260000" cy="457751"/>
            <a:chOff x="3300" y="2748"/>
            <a:chExt cx="866" cy="319"/>
          </a:xfrm>
        </p:grpSpPr>
        <p:sp>
          <p:nvSpPr>
            <p:cNvPr id="89" name="AutoShape 85"/>
            <p:cNvSpPr>
              <a:spLocks noChangeArrowheads="1"/>
            </p:cNvSpPr>
            <p:nvPr/>
          </p:nvSpPr>
          <p:spPr bwMode="auto">
            <a:xfrm>
              <a:off x="3303" y="2748"/>
              <a:ext cx="863" cy="319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Ins="36000" anchor="ctr">
              <a:noAutofit/>
            </a:bodyPr>
            <a:lstStyle/>
            <a:p>
              <a:pPr algn="ctr">
                <a:buClr>
                  <a:schemeClr val="tx1"/>
                </a:buClr>
                <a:buFont typeface="Wingdings" pitchFamily="2" charset="2"/>
                <a:buNone/>
              </a:pP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1.2 결과 확인 및 검수</a:t>
              </a:r>
            </a:p>
          </p:txBody>
        </p:sp>
        <p:sp>
          <p:nvSpPr>
            <p:cNvPr id="90" name="Rectangle 86"/>
            <p:cNvSpPr>
              <a:spLocks noChangeArrowheads="1"/>
            </p:cNvSpPr>
            <p:nvPr/>
          </p:nvSpPr>
          <p:spPr bwMode="auto">
            <a:xfrm>
              <a:off x="3300" y="2949"/>
              <a:ext cx="45" cy="4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1" name="Rectangle 87"/>
            <p:cNvSpPr>
              <a:spLocks noChangeArrowheads="1"/>
            </p:cNvSpPr>
            <p:nvPr/>
          </p:nvSpPr>
          <p:spPr bwMode="auto">
            <a:xfrm>
              <a:off x="3300" y="2859"/>
              <a:ext cx="45" cy="4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32" name="AutoShape 89"/>
          <p:cNvCxnSpPr>
            <a:cxnSpLocks noChangeShapeType="1"/>
            <a:stCxn id="20" idx="1"/>
            <a:endCxn id="75" idx="1"/>
          </p:cNvCxnSpPr>
          <p:nvPr/>
        </p:nvCxnSpPr>
        <p:spPr bwMode="auto">
          <a:xfrm rot="10800000">
            <a:off x="2054379" y="2873949"/>
            <a:ext cx="2223157" cy="2672939"/>
          </a:xfrm>
          <a:prstGeom prst="bentConnector3">
            <a:avLst>
              <a:gd name="adj1" fmla="val 113829"/>
            </a:avLst>
          </a:prstGeom>
          <a:noFill/>
          <a:ln w="3175">
            <a:solidFill>
              <a:srgbClr val="3012AE"/>
            </a:solidFill>
            <a:miter lim="800000"/>
            <a:headEnd/>
            <a:tailEnd type="triangle" w="med" len="med"/>
          </a:ln>
        </p:spPr>
      </p:cxnSp>
      <p:grpSp>
        <p:nvGrpSpPr>
          <p:cNvPr id="33" name="Group 90"/>
          <p:cNvGrpSpPr>
            <a:grpSpLocks/>
          </p:cNvGrpSpPr>
          <p:nvPr/>
        </p:nvGrpSpPr>
        <p:grpSpPr bwMode="auto">
          <a:xfrm>
            <a:off x="2054378" y="2360882"/>
            <a:ext cx="1260000" cy="231903"/>
            <a:chOff x="716" y="981"/>
            <a:chExt cx="931" cy="272"/>
          </a:xfrm>
          <a:solidFill>
            <a:schemeClr val="bg1">
              <a:lumMod val="50000"/>
            </a:schemeClr>
          </a:solidFill>
        </p:grpSpPr>
        <p:sp>
          <p:nvSpPr>
            <p:cNvPr id="84" name="AutoShape 91"/>
            <p:cNvSpPr>
              <a:spLocks noChangeArrowheads="1"/>
            </p:cNvSpPr>
            <p:nvPr/>
          </p:nvSpPr>
          <p:spPr bwMode="auto">
            <a:xfrm>
              <a:off x="716" y="981"/>
              <a:ext cx="931" cy="272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ko-KR" altLang="en-US" sz="11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0.0 테스트 수행</a:t>
              </a:r>
            </a:p>
          </p:txBody>
        </p:sp>
        <p:sp>
          <p:nvSpPr>
            <p:cNvPr id="85" name="Rectangle 92"/>
            <p:cNvSpPr>
              <a:spLocks noChangeArrowheads="1"/>
            </p:cNvSpPr>
            <p:nvPr/>
          </p:nvSpPr>
          <p:spPr bwMode="auto">
            <a:xfrm>
              <a:off x="1127" y="1207"/>
              <a:ext cx="45" cy="46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6" name="Rectangle 93"/>
            <p:cNvSpPr>
              <a:spLocks noChangeArrowheads="1"/>
            </p:cNvSpPr>
            <p:nvPr/>
          </p:nvSpPr>
          <p:spPr bwMode="auto">
            <a:xfrm>
              <a:off x="1200" y="1207"/>
              <a:ext cx="45" cy="46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7" name="Rectangle 94"/>
            <p:cNvSpPr>
              <a:spLocks noChangeArrowheads="1"/>
            </p:cNvSpPr>
            <p:nvPr/>
          </p:nvSpPr>
          <p:spPr bwMode="auto">
            <a:xfrm>
              <a:off x="722" y="1138"/>
              <a:ext cx="45" cy="46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8" name="Rectangle 95"/>
            <p:cNvSpPr>
              <a:spLocks noChangeArrowheads="1"/>
            </p:cNvSpPr>
            <p:nvPr/>
          </p:nvSpPr>
          <p:spPr bwMode="auto">
            <a:xfrm>
              <a:off x="722" y="1048"/>
              <a:ext cx="45" cy="46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4" name="Text Box 96"/>
          <p:cNvSpPr txBox="1">
            <a:spLocks noChangeArrowheads="1"/>
          </p:cNvSpPr>
          <p:nvPr/>
        </p:nvSpPr>
        <p:spPr bwMode="auto">
          <a:xfrm>
            <a:off x="2402948" y="3429000"/>
            <a:ext cx="296844" cy="17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</a:p>
        </p:txBody>
      </p:sp>
      <p:sp>
        <p:nvSpPr>
          <p:cNvPr id="35" name="Text Box 97"/>
          <p:cNvSpPr txBox="1">
            <a:spLocks noChangeArrowheads="1"/>
          </p:cNvSpPr>
          <p:nvPr/>
        </p:nvSpPr>
        <p:spPr bwMode="auto">
          <a:xfrm>
            <a:off x="4680394" y="5680268"/>
            <a:ext cx="1178600" cy="17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  <a:r>
              <a:rPr lang="ko-KR" altLang="en-US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“Closed”)</a:t>
            </a:r>
            <a:endParaRPr lang="ko-KR" altLang="en-US" sz="11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 Box 98"/>
          <p:cNvSpPr txBox="1">
            <a:spLocks noChangeArrowheads="1"/>
          </p:cNvSpPr>
          <p:nvPr/>
        </p:nvSpPr>
        <p:spPr bwMode="auto">
          <a:xfrm>
            <a:off x="2942153" y="5230447"/>
            <a:ext cx="440941" cy="3164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반려</a:t>
            </a:r>
          </a:p>
        </p:txBody>
      </p:sp>
      <p:sp>
        <p:nvSpPr>
          <p:cNvPr id="37" name="Text Box 99"/>
          <p:cNvSpPr txBox="1">
            <a:spLocks noChangeArrowheads="1"/>
          </p:cNvSpPr>
          <p:nvPr/>
        </p:nvSpPr>
        <p:spPr bwMode="auto">
          <a:xfrm>
            <a:off x="3152414" y="3389346"/>
            <a:ext cx="296843" cy="2893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</a:p>
        </p:txBody>
      </p:sp>
      <p:sp>
        <p:nvSpPr>
          <p:cNvPr id="38" name="Text Box 100"/>
          <p:cNvSpPr txBox="1">
            <a:spLocks noChangeArrowheads="1"/>
          </p:cNvSpPr>
          <p:nvPr/>
        </p:nvSpPr>
        <p:spPr bwMode="auto">
          <a:xfrm>
            <a:off x="3514025" y="3642614"/>
            <a:ext cx="600998" cy="2476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“New”</a:t>
            </a:r>
          </a:p>
        </p:txBody>
      </p:sp>
      <p:sp>
        <p:nvSpPr>
          <p:cNvPr id="39" name="Text Box 101"/>
          <p:cNvSpPr txBox="1">
            <a:spLocks noChangeArrowheads="1"/>
          </p:cNvSpPr>
          <p:nvPr/>
        </p:nvSpPr>
        <p:spPr bwMode="auto">
          <a:xfrm>
            <a:off x="5682057" y="1991052"/>
            <a:ext cx="834159" cy="3107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“Assigned”</a:t>
            </a:r>
          </a:p>
        </p:txBody>
      </p:sp>
      <p:sp>
        <p:nvSpPr>
          <p:cNvPr id="40" name="Text Box 102"/>
          <p:cNvSpPr txBox="1">
            <a:spLocks noChangeArrowheads="1"/>
          </p:cNvSpPr>
          <p:nvPr/>
        </p:nvSpPr>
        <p:spPr bwMode="auto">
          <a:xfrm>
            <a:off x="5574962" y="4020339"/>
            <a:ext cx="653222" cy="2322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“Fixed”</a:t>
            </a:r>
          </a:p>
        </p:txBody>
      </p:sp>
      <p:sp>
        <p:nvSpPr>
          <p:cNvPr id="41" name="Text Box 103"/>
          <p:cNvSpPr txBox="1">
            <a:spLocks noChangeArrowheads="1"/>
          </p:cNvSpPr>
          <p:nvPr/>
        </p:nvSpPr>
        <p:spPr bwMode="auto">
          <a:xfrm>
            <a:off x="6660232" y="3876814"/>
            <a:ext cx="870657" cy="2394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“Accepted”</a:t>
            </a:r>
          </a:p>
        </p:txBody>
      </p:sp>
      <p:sp>
        <p:nvSpPr>
          <p:cNvPr id="42" name="AutoShape 111"/>
          <p:cNvSpPr>
            <a:spLocks noChangeArrowheads="1"/>
          </p:cNvSpPr>
          <p:nvPr/>
        </p:nvSpPr>
        <p:spPr bwMode="auto">
          <a:xfrm>
            <a:off x="4255601" y="2166873"/>
            <a:ext cx="903691" cy="292531"/>
          </a:xfrm>
          <a:prstGeom prst="flowChartDecision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중복결함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43" name="AutoShape 112"/>
          <p:cNvSpPr>
            <a:spLocks noChangeArrowheads="1"/>
          </p:cNvSpPr>
          <p:nvPr/>
        </p:nvSpPr>
        <p:spPr bwMode="auto">
          <a:xfrm>
            <a:off x="4255601" y="3000509"/>
            <a:ext cx="903691" cy="294046"/>
          </a:xfrm>
          <a:prstGeom prst="flowChartDecision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결함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cxnSp>
        <p:nvCxnSpPr>
          <p:cNvPr id="44" name="AutoShape 113"/>
          <p:cNvCxnSpPr>
            <a:cxnSpLocks noChangeShapeType="1"/>
            <a:stCxn id="45" idx="0"/>
            <a:endCxn id="43" idx="2"/>
          </p:cNvCxnSpPr>
          <p:nvPr/>
        </p:nvCxnSpPr>
        <p:spPr bwMode="auto">
          <a:xfrm flipV="1">
            <a:off x="4707446" y="3294555"/>
            <a:ext cx="1" cy="492603"/>
          </a:xfrm>
          <a:prstGeom prst="straightConnector1">
            <a:avLst/>
          </a:prstGeom>
          <a:noFill/>
          <a:ln w="3175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45" name="AutoShape 114"/>
          <p:cNvSpPr>
            <a:spLocks noChangeArrowheads="1"/>
          </p:cNvSpPr>
          <p:nvPr/>
        </p:nvSpPr>
        <p:spPr bwMode="auto">
          <a:xfrm>
            <a:off x="4167446" y="3787158"/>
            <a:ext cx="1080000" cy="210682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2.2 결함 검토</a:t>
            </a:r>
          </a:p>
        </p:txBody>
      </p:sp>
      <p:cxnSp>
        <p:nvCxnSpPr>
          <p:cNvPr id="46" name="AutoShape 115"/>
          <p:cNvCxnSpPr>
            <a:cxnSpLocks noChangeShapeType="1"/>
            <a:stCxn id="43" idx="1"/>
            <a:endCxn id="89" idx="1"/>
          </p:cNvCxnSpPr>
          <p:nvPr/>
        </p:nvCxnSpPr>
        <p:spPr bwMode="auto">
          <a:xfrm rot="10800000" flipV="1">
            <a:off x="4081811" y="3147531"/>
            <a:ext cx="173790" cy="1477813"/>
          </a:xfrm>
          <a:prstGeom prst="bentConnector3">
            <a:avLst>
              <a:gd name="adj1" fmla="val 158965"/>
            </a:avLst>
          </a:prstGeom>
          <a:noFill/>
          <a:ln w="3175">
            <a:solidFill>
              <a:srgbClr val="FF0000"/>
            </a:solidFill>
            <a:miter lim="800000"/>
            <a:headEnd/>
            <a:tailEnd type="triangle" w="med" len="med"/>
          </a:ln>
        </p:spPr>
      </p:cxnSp>
      <p:cxnSp>
        <p:nvCxnSpPr>
          <p:cNvPr id="47" name="AutoShape 117"/>
          <p:cNvCxnSpPr>
            <a:cxnSpLocks noChangeShapeType="1"/>
            <a:stCxn id="42" idx="0"/>
            <a:endCxn id="18" idx="0"/>
          </p:cNvCxnSpPr>
          <p:nvPr/>
        </p:nvCxnSpPr>
        <p:spPr bwMode="auto">
          <a:xfrm rot="16200000" flipH="1">
            <a:off x="4960735" y="1913584"/>
            <a:ext cx="1455073" cy="1961650"/>
          </a:xfrm>
          <a:prstGeom prst="bentConnector3">
            <a:avLst>
              <a:gd name="adj1" fmla="val -12461"/>
            </a:avLst>
          </a:prstGeom>
          <a:noFill/>
          <a:ln w="3175">
            <a:solidFill>
              <a:srgbClr val="FF0000"/>
            </a:solidFill>
            <a:miter lim="800000"/>
            <a:headEnd/>
            <a:tailEnd type="triangle" w="med" len="med"/>
          </a:ln>
        </p:spPr>
      </p:cxnSp>
      <p:sp>
        <p:nvSpPr>
          <p:cNvPr id="48" name="Text Box 118"/>
          <p:cNvSpPr txBox="1">
            <a:spLocks noChangeArrowheads="1"/>
          </p:cNvSpPr>
          <p:nvPr/>
        </p:nvSpPr>
        <p:spPr bwMode="auto">
          <a:xfrm>
            <a:off x="3463571" y="2901988"/>
            <a:ext cx="867133" cy="2455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“Canceled”</a:t>
            </a:r>
          </a:p>
        </p:txBody>
      </p:sp>
      <p:sp>
        <p:nvSpPr>
          <p:cNvPr id="49" name="Text Box 119"/>
          <p:cNvSpPr txBox="1">
            <a:spLocks noChangeArrowheads="1"/>
          </p:cNvSpPr>
          <p:nvPr/>
        </p:nvSpPr>
        <p:spPr bwMode="auto">
          <a:xfrm>
            <a:off x="5446768" y="2938298"/>
            <a:ext cx="912597" cy="30092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 anchor="ctr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“Duplicated</a:t>
            </a:r>
            <a:r>
              <a:rPr lang="ko-KR" altLang="en-US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</a:p>
        </p:txBody>
      </p:sp>
      <p:sp>
        <p:nvSpPr>
          <p:cNvPr id="50" name="Text Box 120"/>
          <p:cNvSpPr txBox="1">
            <a:spLocks noChangeArrowheads="1"/>
          </p:cNvSpPr>
          <p:nvPr/>
        </p:nvSpPr>
        <p:spPr bwMode="auto">
          <a:xfrm>
            <a:off x="4680394" y="2793454"/>
            <a:ext cx="296843" cy="17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</a:p>
        </p:txBody>
      </p:sp>
      <p:sp>
        <p:nvSpPr>
          <p:cNvPr id="51" name="Text Box 121"/>
          <p:cNvSpPr txBox="1">
            <a:spLocks noChangeArrowheads="1"/>
          </p:cNvSpPr>
          <p:nvPr/>
        </p:nvSpPr>
        <p:spPr bwMode="auto">
          <a:xfrm>
            <a:off x="5167733" y="2326016"/>
            <a:ext cx="296843" cy="17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</a:p>
        </p:txBody>
      </p:sp>
      <p:sp>
        <p:nvSpPr>
          <p:cNvPr id="52" name="Text Box 122"/>
          <p:cNvSpPr txBox="1">
            <a:spLocks noChangeArrowheads="1"/>
          </p:cNvSpPr>
          <p:nvPr/>
        </p:nvSpPr>
        <p:spPr bwMode="auto">
          <a:xfrm>
            <a:off x="4066761" y="3152776"/>
            <a:ext cx="296844" cy="17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</a:p>
        </p:txBody>
      </p:sp>
      <p:cxnSp>
        <p:nvCxnSpPr>
          <p:cNvPr id="53" name="AutoShape 123"/>
          <p:cNvCxnSpPr>
            <a:cxnSpLocks noChangeShapeType="1"/>
            <a:stCxn id="43" idx="0"/>
            <a:endCxn id="42" idx="2"/>
          </p:cNvCxnSpPr>
          <p:nvPr/>
        </p:nvCxnSpPr>
        <p:spPr bwMode="auto">
          <a:xfrm flipV="1">
            <a:off x="4707447" y="2459404"/>
            <a:ext cx="0" cy="541105"/>
          </a:xfrm>
          <a:prstGeom prst="straightConnector1">
            <a:avLst/>
          </a:prstGeom>
          <a:noFill/>
          <a:ln w="3175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54" name="Text Box 124"/>
          <p:cNvSpPr txBox="1">
            <a:spLocks noChangeArrowheads="1"/>
          </p:cNvSpPr>
          <p:nvPr/>
        </p:nvSpPr>
        <p:spPr bwMode="auto">
          <a:xfrm>
            <a:off x="4716016" y="1964130"/>
            <a:ext cx="296844" cy="17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79200" tIns="39600" rIns="79200" bIns="39600">
            <a:noAutofit/>
          </a:bodyPr>
          <a:lstStyle/>
          <a:p>
            <a:pPr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</a:p>
        </p:txBody>
      </p:sp>
      <p:cxnSp>
        <p:nvCxnSpPr>
          <p:cNvPr id="55" name="AutoShape 125"/>
          <p:cNvCxnSpPr>
            <a:cxnSpLocks noChangeShapeType="1"/>
            <a:stCxn id="92" idx="3"/>
            <a:endCxn id="16" idx="0"/>
          </p:cNvCxnSpPr>
          <p:nvPr/>
        </p:nvCxnSpPr>
        <p:spPr bwMode="auto">
          <a:xfrm>
            <a:off x="3141341" y="3289250"/>
            <a:ext cx="22146" cy="497908"/>
          </a:xfrm>
          <a:prstGeom prst="bentConnector2">
            <a:avLst/>
          </a:prstGeom>
          <a:noFill/>
          <a:ln w="3175">
            <a:solidFill>
              <a:srgbClr val="FF0000"/>
            </a:solidFill>
            <a:miter lim="800000"/>
            <a:headEnd/>
            <a:tailEnd type="triangle" w="med" len="med"/>
          </a:ln>
        </p:spPr>
      </p:cxnSp>
      <p:grpSp>
        <p:nvGrpSpPr>
          <p:cNvPr id="56" name="Group 133"/>
          <p:cNvGrpSpPr>
            <a:grpSpLocks/>
          </p:cNvGrpSpPr>
          <p:nvPr/>
        </p:nvGrpSpPr>
        <p:grpSpPr bwMode="auto">
          <a:xfrm>
            <a:off x="5868144" y="5213796"/>
            <a:ext cx="1779598" cy="643809"/>
            <a:chOff x="1128" y="3646"/>
            <a:chExt cx="1223" cy="261"/>
          </a:xfrm>
        </p:grpSpPr>
        <p:sp>
          <p:nvSpPr>
            <p:cNvPr id="79" name="Rectangle 126"/>
            <p:cNvSpPr>
              <a:spLocks noChangeArrowheads="1"/>
            </p:cNvSpPr>
            <p:nvPr/>
          </p:nvSpPr>
          <p:spPr bwMode="auto">
            <a:xfrm>
              <a:off x="1128" y="3648"/>
              <a:ext cx="1080" cy="250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9200" tIns="39600" rIns="79200" bIns="39600" anchor="ctr">
              <a:noAutofit/>
            </a:bodyPr>
            <a:lstStyle/>
            <a:p>
              <a:pPr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Line 105"/>
            <p:cNvSpPr>
              <a:spLocks noChangeShapeType="1"/>
            </p:cNvSpPr>
            <p:nvPr/>
          </p:nvSpPr>
          <p:spPr bwMode="auto">
            <a:xfrm flipV="1">
              <a:off x="1152" y="3705"/>
              <a:ext cx="240" cy="0"/>
            </a:xfrm>
            <a:prstGeom prst="line">
              <a:avLst/>
            </a:prstGeom>
            <a:noFill/>
            <a:ln w="19050">
              <a:solidFill>
                <a:srgbClr val="3012AE"/>
              </a:solidFill>
              <a:round/>
              <a:headEnd/>
              <a:tailEnd type="triangle" w="med" len="med"/>
            </a:ln>
          </p:spPr>
          <p:txBody>
            <a:bodyPr lIns="79200" tIns="39600" rIns="79200" bIns="39600" anchor="ctr">
              <a:noAutofit/>
            </a:bodyPr>
            <a:lstStyle/>
            <a:p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1" name="Line 106"/>
            <p:cNvSpPr>
              <a:spLocks noChangeShapeType="1"/>
            </p:cNvSpPr>
            <p:nvPr/>
          </p:nvSpPr>
          <p:spPr bwMode="auto">
            <a:xfrm>
              <a:off x="1152" y="3837"/>
              <a:ext cx="24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lIns="79200" tIns="39600" rIns="79200" bIns="39600" anchor="ctr">
              <a:noAutofit/>
            </a:bodyPr>
            <a:lstStyle/>
            <a:p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2" name="Text Box 107"/>
            <p:cNvSpPr txBox="1">
              <a:spLocks noChangeArrowheads="1"/>
            </p:cNvSpPr>
            <p:nvPr/>
          </p:nvSpPr>
          <p:spPr bwMode="auto">
            <a:xfrm>
              <a:off x="1366" y="3646"/>
              <a:ext cx="985" cy="1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79200" tIns="39600" rIns="79200" bIns="39600">
              <a:noAutofit/>
            </a:bodyPr>
            <a:lstStyle/>
            <a:p>
              <a:pPr defTabSz="785813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결함이 없을 경우</a:t>
              </a:r>
            </a:p>
          </p:txBody>
        </p:sp>
        <p:sp>
          <p:nvSpPr>
            <p:cNvPr id="83" name="Text Box 108"/>
            <p:cNvSpPr txBox="1">
              <a:spLocks noChangeArrowheads="1"/>
            </p:cNvSpPr>
            <p:nvPr/>
          </p:nvSpPr>
          <p:spPr bwMode="auto">
            <a:xfrm>
              <a:off x="1366" y="3774"/>
              <a:ext cx="985" cy="1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79200" tIns="39600" rIns="79200" bIns="39600">
              <a:noAutofit/>
            </a:bodyPr>
            <a:lstStyle/>
            <a:p>
              <a:pPr defTabSz="785813"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결함이 있을 경우</a:t>
              </a:r>
            </a:p>
          </p:txBody>
        </p:sp>
      </p:grpSp>
      <p:sp>
        <p:nvSpPr>
          <p:cNvPr id="57" name="Rectangle 131"/>
          <p:cNvSpPr>
            <a:spLocks noChangeArrowheads="1"/>
          </p:cNvSpPr>
          <p:nvPr/>
        </p:nvSpPr>
        <p:spPr bwMode="auto">
          <a:xfrm>
            <a:off x="514350" y="1781885"/>
            <a:ext cx="1158128" cy="4404627"/>
          </a:xfrm>
          <a:prstGeom prst="rect">
            <a:avLst/>
          </a:prstGeom>
          <a:noFill/>
          <a:ln w="9525" cap="rnd" algn="ctr">
            <a:solidFill>
              <a:srgbClr val="333333"/>
            </a:solidFill>
            <a:prstDash val="sysDot"/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Rectangle 142"/>
          <p:cNvSpPr>
            <a:spLocks noChangeArrowheads="1"/>
          </p:cNvSpPr>
          <p:nvPr/>
        </p:nvSpPr>
        <p:spPr bwMode="auto">
          <a:xfrm>
            <a:off x="569917" y="1636378"/>
            <a:ext cx="1046994" cy="251606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관리팀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 Box 145"/>
          <p:cNvSpPr txBox="1">
            <a:spLocks noChangeArrowheads="1"/>
          </p:cNvSpPr>
          <p:nvPr/>
        </p:nvSpPr>
        <p:spPr bwMode="auto">
          <a:xfrm>
            <a:off x="577228" y="2941398"/>
            <a:ext cx="1032372" cy="82656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9200" tIns="39600" rIns="79200" bIns="39600">
            <a:noAutofit/>
          </a:bodyPr>
          <a:lstStyle/>
          <a:p>
            <a:pPr algn="ctr" defTabSz="785813"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785813"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수행관리</a:t>
            </a:r>
          </a:p>
          <a:p>
            <a:pPr algn="ctr" defTabSz="785813">
              <a:buClr>
                <a:schemeClr val="tx1"/>
              </a:buClr>
              <a:buFont typeface="Wingdings" pitchFamily="2" charset="2"/>
              <a:buNone/>
            </a:pP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785813">
              <a:buClr>
                <a:schemeClr val="tx1"/>
              </a:buClr>
              <a:buFont typeface="Wingdings" pitchFamily="2" charset="2"/>
              <a:buNone/>
            </a:pP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Rectangle 146"/>
          <p:cNvSpPr>
            <a:spLocks noChangeArrowheads="1"/>
          </p:cNvSpPr>
          <p:nvPr/>
        </p:nvSpPr>
        <p:spPr bwMode="auto">
          <a:xfrm>
            <a:off x="609399" y="3552429"/>
            <a:ext cx="968031" cy="180369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진행상황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Rectangle 147"/>
          <p:cNvSpPr>
            <a:spLocks noChangeArrowheads="1"/>
          </p:cNvSpPr>
          <p:nvPr/>
        </p:nvSpPr>
        <p:spPr bwMode="auto">
          <a:xfrm>
            <a:off x="609399" y="3329013"/>
            <a:ext cx="968031" cy="18036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시나리오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 Box 150"/>
          <p:cNvSpPr txBox="1">
            <a:spLocks noChangeArrowheads="1"/>
          </p:cNvSpPr>
          <p:nvPr/>
        </p:nvSpPr>
        <p:spPr bwMode="auto">
          <a:xfrm>
            <a:off x="573573" y="4276729"/>
            <a:ext cx="1039682" cy="7987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79200" tIns="39600" rIns="79200" bIns="39600">
            <a:noAutofit/>
          </a:bodyPr>
          <a:lstStyle/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결함관리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Rectangle 151"/>
          <p:cNvSpPr>
            <a:spLocks noChangeArrowheads="1"/>
          </p:cNvSpPr>
          <p:nvPr/>
        </p:nvSpPr>
        <p:spPr bwMode="auto">
          <a:xfrm>
            <a:off x="612323" y="4509120"/>
            <a:ext cx="962182" cy="18036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결함정보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4" name="AutoShape 160"/>
          <p:cNvCxnSpPr>
            <a:cxnSpLocks noChangeShapeType="1"/>
            <a:stCxn id="42" idx="3"/>
            <a:endCxn id="19" idx="3"/>
          </p:cNvCxnSpPr>
          <p:nvPr/>
        </p:nvCxnSpPr>
        <p:spPr bwMode="auto">
          <a:xfrm>
            <a:off x="5159292" y="2313139"/>
            <a:ext cx="88154" cy="1936787"/>
          </a:xfrm>
          <a:prstGeom prst="bentConnector3">
            <a:avLst>
              <a:gd name="adj1" fmla="val 359319"/>
            </a:avLst>
          </a:prstGeom>
          <a:noFill/>
          <a:ln w="3175">
            <a:solidFill>
              <a:srgbClr val="FF0000"/>
            </a:solidFill>
            <a:miter lim="800000"/>
            <a:headEnd/>
            <a:tailEnd type="triangle" w="med" len="med"/>
          </a:ln>
        </p:spPr>
      </p:cxnSp>
      <p:sp>
        <p:nvSpPr>
          <p:cNvPr id="65" name="Rectangle 151"/>
          <p:cNvSpPr>
            <a:spLocks noChangeArrowheads="1"/>
          </p:cNvSpPr>
          <p:nvPr/>
        </p:nvSpPr>
        <p:spPr bwMode="auto">
          <a:xfrm>
            <a:off x="612323" y="4712222"/>
            <a:ext cx="962182" cy="33274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9600" rIns="79200" bIns="39600" anchor="ctr">
            <a:noAutofit/>
          </a:bodyPr>
          <a:lstStyle/>
          <a:p>
            <a:pPr algn="ctr" defTabSz="785813"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결함 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785813"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해결진행정보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6" name="Shape 99"/>
          <p:cNvCxnSpPr>
            <a:stCxn id="16" idx="2"/>
            <a:endCxn id="63" idx="3"/>
          </p:cNvCxnSpPr>
          <p:nvPr/>
        </p:nvCxnSpPr>
        <p:spPr bwMode="auto">
          <a:xfrm rot="5400000">
            <a:off x="2064854" y="3500670"/>
            <a:ext cx="608285" cy="1588982"/>
          </a:xfrm>
          <a:prstGeom prst="bentConnector2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7" name="Shape 104"/>
          <p:cNvCxnSpPr>
            <a:cxnSpLocks noChangeShapeType="1"/>
            <a:stCxn id="25" idx="1"/>
            <a:endCxn id="62" idx="2"/>
          </p:cNvCxnSpPr>
          <p:nvPr/>
        </p:nvCxnSpPr>
        <p:spPr bwMode="auto">
          <a:xfrm rot="10800000">
            <a:off x="1093414" y="5075504"/>
            <a:ext cx="2984032" cy="941250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68" name="Shape 110"/>
          <p:cNvCxnSpPr>
            <a:cxnSpLocks noChangeShapeType="1"/>
            <a:stCxn id="59" idx="0"/>
          </p:cNvCxnSpPr>
          <p:nvPr/>
        </p:nvCxnSpPr>
        <p:spPr bwMode="auto">
          <a:xfrm rot="5400000" flipH="1" flipV="1">
            <a:off x="1276060" y="2163082"/>
            <a:ext cx="595671" cy="960963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69" name="직사각형 112"/>
          <p:cNvSpPr>
            <a:spLocks noChangeArrowheads="1"/>
          </p:cNvSpPr>
          <p:nvPr/>
        </p:nvSpPr>
        <p:spPr bwMode="auto">
          <a:xfrm>
            <a:off x="7669282" y="2060774"/>
            <a:ext cx="990000" cy="240997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lIns="54000" tIns="36000" rIns="54000" bIns="36000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결함유형분석</a:t>
            </a:r>
          </a:p>
        </p:txBody>
      </p:sp>
      <p:sp>
        <p:nvSpPr>
          <p:cNvPr id="70" name="직사각형 113"/>
          <p:cNvSpPr>
            <a:spLocks noChangeArrowheads="1"/>
          </p:cNvSpPr>
          <p:nvPr/>
        </p:nvSpPr>
        <p:spPr bwMode="auto">
          <a:xfrm>
            <a:off x="7669282" y="2740452"/>
            <a:ext cx="990000" cy="223465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lIns="54000" tIns="36000" rIns="54000" bIns="36000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품질수준측정</a:t>
            </a:r>
          </a:p>
        </p:txBody>
      </p:sp>
      <p:sp>
        <p:nvSpPr>
          <p:cNvPr id="71" name="직사각형 114"/>
          <p:cNvSpPr>
            <a:spLocks noChangeArrowheads="1"/>
          </p:cNvSpPr>
          <p:nvPr/>
        </p:nvSpPr>
        <p:spPr bwMode="auto">
          <a:xfrm>
            <a:off x="7669282" y="2341179"/>
            <a:ext cx="990000" cy="35619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lIns="54000" tIns="36000" rIns="54000" bIns="36000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결함사전예방활동</a:t>
            </a:r>
          </a:p>
        </p:txBody>
      </p:sp>
      <p:sp>
        <p:nvSpPr>
          <p:cNvPr id="72" name="Rectangle 30"/>
          <p:cNvSpPr>
            <a:spLocks noChangeArrowheads="1"/>
          </p:cNvSpPr>
          <p:nvPr/>
        </p:nvSpPr>
        <p:spPr bwMode="auto">
          <a:xfrm>
            <a:off x="7591067" y="3993293"/>
            <a:ext cx="1146430" cy="2188673"/>
          </a:xfrm>
          <a:prstGeom prst="rect">
            <a:avLst/>
          </a:prstGeom>
          <a:noFill/>
          <a:ln w="9525" cap="rnd" algn="ctr">
            <a:solidFill>
              <a:srgbClr val="333333"/>
            </a:solidFill>
            <a:prstDash val="sysDot"/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Rectangle 31"/>
          <p:cNvSpPr>
            <a:spLocks noChangeArrowheads="1"/>
          </p:cNvSpPr>
          <p:nvPr/>
        </p:nvSpPr>
        <p:spPr bwMode="auto">
          <a:xfrm>
            <a:off x="7636398" y="3843238"/>
            <a:ext cx="1055768" cy="250091"/>
          </a:xfrm>
          <a:prstGeom prst="rect">
            <a:avLst/>
          </a:prstGeom>
          <a:solidFill>
            <a:srgbClr val="DDDDDD"/>
          </a:solidFill>
          <a:ln w="12700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79200" tIns="39600" rIns="79200" bIns="39600" anchor="ctr">
            <a:noAutofit/>
          </a:bodyPr>
          <a:lstStyle/>
          <a:p>
            <a:pPr algn="ctr" defTabSz="785813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이행총괄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직사각형 117"/>
          <p:cNvSpPr>
            <a:spLocks noChangeArrowheads="1"/>
          </p:cNvSpPr>
          <p:nvPr/>
        </p:nvSpPr>
        <p:spPr bwMode="auto">
          <a:xfrm>
            <a:off x="7675148" y="4276728"/>
            <a:ext cx="978268" cy="348615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lIns="54000" tIns="36000" rIns="54000" bIns="36000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결함해결진척관리</a:t>
            </a:r>
          </a:p>
        </p:txBody>
      </p:sp>
      <p:sp>
        <p:nvSpPr>
          <p:cNvPr id="75" name="AutoShape 62"/>
          <p:cNvSpPr>
            <a:spLocks noChangeArrowheads="1"/>
          </p:cNvSpPr>
          <p:nvPr/>
        </p:nvSpPr>
        <p:spPr bwMode="auto">
          <a:xfrm>
            <a:off x="2054378" y="2747387"/>
            <a:ext cx="1260000" cy="253122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.1 결함 </a:t>
            </a: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여부판단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AutoShape 62"/>
          <p:cNvSpPr>
            <a:spLocks noChangeArrowheads="1"/>
          </p:cNvSpPr>
          <p:nvPr/>
        </p:nvSpPr>
        <p:spPr bwMode="auto">
          <a:xfrm>
            <a:off x="4077446" y="3482502"/>
            <a:ext cx="1260000" cy="210683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결함 </a:t>
            </a: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여부판단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AutoShape 62"/>
          <p:cNvSpPr>
            <a:spLocks noChangeArrowheads="1"/>
          </p:cNvSpPr>
          <p:nvPr/>
        </p:nvSpPr>
        <p:spPr bwMode="auto">
          <a:xfrm>
            <a:off x="4077446" y="2592786"/>
            <a:ext cx="1260000" cy="209167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중복 </a:t>
            </a: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여부판단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AutoShape 62"/>
          <p:cNvSpPr>
            <a:spLocks noChangeArrowheads="1"/>
          </p:cNvSpPr>
          <p:nvPr/>
        </p:nvSpPr>
        <p:spPr bwMode="auto">
          <a:xfrm>
            <a:off x="4077446" y="4998203"/>
            <a:ext cx="1260000" cy="210683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승인여부 결정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72386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관리 방안</a:t>
            </a:r>
            <a:r>
              <a:rPr lang="en-US" altLang="ko-KR" sz="2000" dirty="0"/>
              <a:t>(</a:t>
            </a:r>
            <a:r>
              <a:rPr lang="ko-KR" altLang="en-US" sz="2000" dirty="0"/>
              <a:t>결함관리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28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graphicFrame>
        <p:nvGraphicFramePr>
          <p:cNvPr id="97" name="표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396830"/>
              </p:ext>
            </p:extLst>
          </p:nvPr>
        </p:nvGraphicFramePr>
        <p:xfrm>
          <a:off x="1835696" y="1144030"/>
          <a:ext cx="7187747" cy="19249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9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7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464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오류</a:t>
                      </a:r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결함</a:t>
                      </a:r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1" marR="33231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 </a:t>
                      </a:r>
                      <a:r>
                        <a:rPr lang="ko-KR" altLang="en-US" sz="1100" u="none" strike="noStrike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미작동</a:t>
                      </a:r>
                      <a:r>
                        <a:rPr lang="en-US" altLang="ko-KR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오작동 등에 해당 되는 경우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1" marR="33231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3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새 기능 요구</a:t>
                      </a:r>
                    </a:p>
                  </a:txBody>
                  <a:tcPr marL="33231" marR="33231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설정된 베이스라인 요구사항 목록에 포함되지 않은 신규 요구사항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1" marR="33231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3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기능개선</a:t>
                      </a:r>
                    </a:p>
                  </a:txBody>
                  <a:tcPr marL="33231" marR="33231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요구사항목록에는 포함되어 있는 요구사항의 변경</a:t>
                      </a:r>
                      <a:r>
                        <a:rPr lang="en-US" altLang="ko-KR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개선 요구사항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1" marR="33231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3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UI/UX(</a:t>
                      </a:r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디자인</a:t>
                      </a:r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1" marR="33231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사용성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관련 요구사항</a:t>
                      </a:r>
                    </a:p>
                  </a:txBody>
                  <a:tcPr marL="33231" marR="33231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3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오타</a:t>
                      </a:r>
                    </a:p>
                  </a:txBody>
                  <a:tcPr marL="33231" marR="33231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오타</a:t>
                      </a:r>
                    </a:p>
                  </a:txBody>
                  <a:tcPr marL="33231" marR="33231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3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데이터정합성</a:t>
                      </a:r>
                    </a:p>
                  </a:txBody>
                  <a:tcPr marL="33231" marR="33231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데이터 상이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정합성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Logic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오류 등</a:t>
                      </a:r>
                    </a:p>
                  </a:txBody>
                  <a:tcPr marL="33231" marR="33231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6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결함 아님</a:t>
                      </a:r>
                      <a:endParaRPr lang="ko-KR" alt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1" marR="33231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 사용 미숙으로 인해 정상적으로 작동되는 경우나</a:t>
                      </a:r>
                      <a:r>
                        <a:rPr lang="en-US" altLang="ko-KR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결함으로 오해하여 등록된 경우</a:t>
                      </a:r>
                      <a:r>
                        <a:rPr lang="en-US" altLang="ko-KR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</a:p>
                    <a:p>
                      <a:pPr marL="171450" indent="-171450" algn="l" fontAlgn="ctr">
                        <a:buFont typeface="Arial" pitchFamily="34" charset="0"/>
                        <a:buChar char="•"/>
                      </a:pPr>
                      <a: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 사용에 대한 문의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1" marR="33231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8" name="표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562948"/>
              </p:ext>
            </p:extLst>
          </p:nvPr>
        </p:nvGraphicFramePr>
        <p:xfrm>
          <a:off x="1860535" y="3603389"/>
          <a:ext cx="6646892" cy="15333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6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0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Critical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1" marR="33231" marT="18000" marB="18000" anchor="ctr"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 운영이 멈춤 </a:t>
                      </a:r>
                      <a:r>
                        <a:rPr lang="en-US" altLang="ko-KR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하드웨어 또는 소프트웨어 중단</a:t>
                      </a:r>
                      <a:r>
                        <a:rPr lang="en-US" altLang="ko-KR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br>
                        <a:rPr lang="en-US" altLang="ko-KR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데이터 손실 또는 훼손 </a:t>
                      </a:r>
                      <a:r>
                        <a:rPr lang="en-US" altLang="ko-KR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(Data is lost or corrupted)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1" marR="33231" marT="18000" marB="18000" anchor="ctr"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Major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1" marR="33231" marT="18000" marB="18000" anchor="ctr"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기능이 작동 안 하거나 정확하게 작동하지 않음</a:t>
                      </a:r>
                      <a:b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lang="en-US" altLang="ko-KR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Workaround</a:t>
                      </a:r>
                      <a: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 가능하지 않음</a:t>
                      </a:r>
                      <a:r>
                        <a:rPr lang="en-US" altLang="ko-KR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 문제가 해결되지 않으면 더 이상 작업 수행이 불가능</a:t>
                      </a:r>
                      <a:r>
                        <a:rPr lang="en-US" altLang="ko-KR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1" marR="33231" marT="18000" marB="18000" anchor="ctr"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Minor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1" marR="33231" marT="18000" marB="18000" anchor="ctr"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일부 미미한 결함을 포함하고 있으나 기능 수행의 대안이 있음 </a:t>
                      </a:r>
                      <a:b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해당 기능 수행은 가능하나 사용자들의 혼동</a:t>
                      </a:r>
                      <a:r>
                        <a:rPr lang="en-US" altLang="ko-KR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불편 </a:t>
                      </a:r>
                      <a:r>
                        <a:rPr lang="en-US" altLang="ko-KR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(user inconvenience)</a:t>
                      </a:r>
                      <a:r>
                        <a:rPr lang="ko-KR" altLang="en-US" sz="1100" u="none" strike="noStrike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을 유발시킴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1" marR="33231" marT="18000" marB="18000" anchor="ctr">
                    <a:lnL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0" name="Rectangle 74"/>
          <p:cNvSpPr>
            <a:spLocks noChangeArrowheads="1"/>
          </p:cNvSpPr>
          <p:nvPr/>
        </p:nvSpPr>
        <p:spPr bwMode="auto">
          <a:xfrm>
            <a:off x="323528" y="1139446"/>
            <a:ext cx="1307222" cy="647700"/>
          </a:xfrm>
          <a:prstGeom prst="rect">
            <a:avLst/>
          </a:prstGeom>
          <a:solidFill>
            <a:srgbClr val="EAEAEA"/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pPr algn="ctr" latinLnBrk="0">
              <a:spcAft>
                <a:spcPts val="300"/>
              </a:spcAft>
              <a:buFont typeface="Times New Roman" pitchFamily="18" charset="0"/>
              <a:buNone/>
            </a:pPr>
            <a:r>
              <a:rPr lang="ko-KR" altLang="en-US" sz="1100" b="1" dirty="0">
                <a:solidFill>
                  <a:prstClr val="black"/>
                </a:solidFill>
                <a:latin typeface="+mn-ea"/>
              </a:rPr>
              <a:t>결함구분</a:t>
            </a:r>
          </a:p>
        </p:txBody>
      </p:sp>
      <p:sp>
        <p:nvSpPr>
          <p:cNvPr id="101" name="Rectangle 74"/>
          <p:cNvSpPr>
            <a:spLocks noChangeArrowheads="1"/>
          </p:cNvSpPr>
          <p:nvPr/>
        </p:nvSpPr>
        <p:spPr bwMode="auto">
          <a:xfrm>
            <a:off x="323528" y="3603389"/>
            <a:ext cx="1307222" cy="647700"/>
          </a:xfrm>
          <a:prstGeom prst="rect">
            <a:avLst/>
          </a:prstGeom>
          <a:solidFill>
            <a:srgbClr val="EAEAEA"/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pPr algn="ctr" latinLnBrk="0">
              <a:spcAft>
                <a:spcPts val="300"/>
              </a:spcAft>
              <a:buFont typeface="Times New Roman" pitchFamily="18" charset="0"/>
              <a:buNone/>
            </a:pPr>
            <a:r>
              <a:rPr lang="ko-KR" altLang="en-US" sz="1100" b="1" dirty="0">
                <a:solidFill>
                  <a:prstClr val="black"/>
                </a:solidFill>
                <a:latin typeface="+mn-ea"/>
              </a:rPr>
              <a:t>심각도</a:t>
            </a:r>
          </a:p>
        </p:txBody>
      </p:sp>
      <p:sp>
        <p:nvSpPr>
          <p:cNvPr id="103" name="직사각형 102"/>
          <p:cNvSpPr/>
          <p:nvPr/>
        </p:nvSpPr>
        <p:spPr>
          <a:xfrm rot="20208410">
            <a:off x="2976992" y="1736560"/>
            <a:ext cx="3956660" cy="576568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</p:spTree>
    <p:extLst>
      <p:ext uri="{BB962C8B-B14F-4D97-AF65-F5344CB8AC3E}">
        <p14:creationId xmlns:p14="http://schemas.microsoft.com/office/powerpoint/2010/main" val="3103587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99922" y="2276872"/>
            <a:ext cx="53441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End of Document</a:t>
            </a:r>
            <a:endParaRPr lang="ko-KR" altLang="en-US" sz="4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6483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  <a:r>
              <a:rPr lang="en-US" altLang="ko-KR" dirty="0"/>
              <a:t>. </a:t>
            </a:r>
            <a:r>
              <a:rPr lang="ko-KR" altLang="en-US" dirty="0"/>
              <a:t>시간 계획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960019" y="6538913"/>
            <a:ext cx="1223962" cy="319087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chemeClr val="tx1"/>
                </a:solidFill>
              </a:rPr>
              <a:t>- </a:t>
            </a:r>
            <a:fld id="{D84D0E24-02B0-4D92-9122-368CC23EA7CF}" type="slidenum">
              <a:rPr lang="en-US" altLang="ko-KR" smtClean="0">
                <a:solidFill>
                  <a:schemeClr val="tx1"/>
                </a:solidFill>
              </a:rPr>
              <a:pPr algn="ctr">
                <a:defRPr/>
              </a:pPr>
              <a:t>30</a:t>
            </a:fld>
            <a:r>
              <a:rPr lang="en-US" altLang="ko-KR">
                <a:solidFill>
                  <a:schemeClr val="tx1"/>
                </a:solidFill>
              </a:rPr>
              <a:t> -</a:t>
            </a:r>
          </a:p>
        </p:txBody>
      </p:sp>
      <p:graphicFrame>
        <p:nvGraphicFramePr>
          <p:cNvPr id="97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713590"/>
              </p:ext>
            </p:extLst>
          </p:nvPr>
        </p:nvGraphicFramePr>
        <p:xfrm>
          <a:off x="539552" y="970430"/>
          <a:ext cx="8136904" cy="5122866"/>
        </p:xfrm>
        <a:graphic>
          <a:graphicData uri="http://schemas.openxmlformats.org/drawingml/2006/table">
            <a:tbl>
              <a:tblPr/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0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1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</a:p>
                  </a:txBody>
                  <a:tcPr marL="90002" marR="90002" marT="46805" marB="4680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388">
                <a:tc rowSpan="7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일차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2" marR="90002" marT="46805" marB="4680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08:50~09:00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Opening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전체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계획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 설명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3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09:00~09:50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설명회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택배 시스템 통합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History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주요 정책 설명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3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10:00~10:30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 설명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택배 운영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지원 파트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3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10:30~11:00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 설명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김환수님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기준정보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정산 파트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3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11:00~12:00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 및 환경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Setup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 이동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Setup,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방법 설명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3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13:00~18:00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영역별 테스트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BPO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주관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파트 별 담당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BPO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참여 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양사 같이 참여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3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18:00~19:00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정리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참여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결과 및 의견 공유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1388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2" marR="90002" marT="46805" marB="4680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09:00~17:00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영역별 테스트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BPO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주관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파트 별 담당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BPO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참여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양사 같이 참여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1388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17:00~18:00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정리</a:t>
                      </a: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참여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결과 및 의견 공유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2" marR="90002" marT="46805" marB="46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8" name="직사각형 97"/>
          <p:cNvSpPr/>
          <p:nvPr/>
        </p:nvSpPr>
        <p:spPr>
          <a:xfrm rot="20208410">
            <a:off x="2333219" y="3290355"/>
            <a:ext cx="4297362" cy="666750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     시</a:t>
            </a:r>
          </a:p>
        </p:txBody>
      </p:sp>
    </p:spTree>
    <p:extLst>
      <p:ext uri="{BB962C8B-B14F-4D97-AF65-F5344CB8AC3E}">
        <p14:creationId xmlns:p14="http://schemas.microsoft.com/office/powerpoint/2010/main" val="3907268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3203</Words>
  <Application>Microsoft Office PowerPoint</Application>
  <PresentationFormat>화면 슬라이드 쇼(4:3)</PresentationFormat>
  <Paragraphs>841</Paragraphs>
  <Slides>30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1" baseType="lpstr">
      <vt:lpstr>CJ ONLYONE Medium</vt:lpstr>
      <vt:lpstr>JBold</vt:lpstr>
      <vt:lpstr>Monotype Sorts</vt:lpstr>
      <vt:lpstr>굴림</vt:lpstr>
      <vt:lpstr>맑은 고딕</vt:lpstr>
      <vt:lpstr>Arial</vt:lpstr>
      <vt:lpstr>Symbol</vt:lpstr>
      <vt:lpstr>Times New Roman</vt:lpstr>
      <vt:lpstr>Wingdings</vt:lpstr>
      <vt:lpstr>Wingdings 2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1. 목적 및 전략</vt:lpstr>
      <vt:lpstr>1. 목적 및 전략</vt:lpstr>
      <vt:lpstr>2. 범위 및 일정</vt:lpstr>
      <vt:lpstr>2. 범위 및 일정</vt:lpstr>
      <vt:lpstr>2. 범위 및 일정</vt:lpstr>
      <vt:lpstr>3. 조직 및 역할</vt:lpstr>
      <vt:lpstr>3. 조직 및 역할</vt:lpstr>
      <vt:lpstr>3. 조직 및 역할</vt:lpstr>
      <vt:lpstr>3. 조직 및 역할</vt:lpstr>
      <vt:lpstr>4. 착수/완료 기준</vt:lpstr>
      <vt:lpstr>5. 수행 방안</vt:lpstr>
      <vt:lpstr>5. 수행 방안(단위테스트)</vt:lpstr>
      <vt:lpstr>5. 수행 방안(단위테스트)</vt:lpstr>
      <vt:lpstr>5. 수행 방안(인터페이스 테스트)</vt:lpstr>
      <vt:lpstr>5. 수행 방안(통합 테스트)</vt:lpstr>
      <vt:lpstr>5. 수행 방안(통합 테스트)</vt:lpstr>
      <vt:lpstr>5. 수행 방안(성능 테스트)</vt:lpstr>
      <vt:lpstr>6. 환경 및 준비사항</vt:lpstr>
      <vt:lpstr>6. 환경 및 준비사항</vt:lpstr>
      <vt:lpstr>6. 환경 및 준비사항</vt:lpstr>
      <vt:lpstr>7. 관리 방안(진척관리)</vt:lpstr>
      <vt:lpstr>7. 관리 방안(결함관리_Redmine Tool)</vt:lpstr>
      <vt:lpstr>7. 관리 방안(결함관리_JIRA Tool)</vt:lpstr>
      <vt:lpstr>7. 관리 방안(결함관리)</vt:lpstr>
      <vt:lpstr>PowerPoint 프레젠테이션</vt:lpstr>
      <vt:lpstr>별첨. 시간 계획</vt:lpstr>
    </vt:vector>
  </TitlesOfParts>
  <Company>CJ올리브네트웍스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테스트계획서</dc:title>
  <dc:subject>CJAG-SP#N-AG06</dc:subject>
  <dc:creator>품질보증팀</dc:creator>
  <cp:keywords>2018-09-04</cp:keywords>
  <dc:description>CJ올리브네트웍스의 사전 승인 없이 본 내용의 전부 또는 일부에 대한 복사, 전재, 배포, 사용을 금합니다.</dc:description>
  <cp:lastModifiedBy>서정만님 </cp:lastModifiedBy>
  <cp:revision>61</cp:revision>
  <dcterms:created xsi:type="dcterms:W3CDTF">2015-04-10T08:59:07Z</dcterms:created>
  <dcterms:modified xsi:type="dcterms:W3CDTF">2025-03-24T06:31:47Z</dcterms:modified>
  <cp:category>V1.1</cp:category>
</cp:coreProperties>
</file>