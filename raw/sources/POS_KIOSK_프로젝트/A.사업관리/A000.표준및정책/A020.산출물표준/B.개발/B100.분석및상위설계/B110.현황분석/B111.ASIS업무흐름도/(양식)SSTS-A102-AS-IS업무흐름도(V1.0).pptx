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446" r:id="rId2"/>
    <p:sldId id="413" r:id="rId3"/>
    <p:sldId id="782" r:id="rId4"/>
    <p:sldId id="783" r:id="rId5"/>
    <p:sldId id="784" r:id="rId6"/>
    <p:sldId id="785" r:id="rId7"/>
    <p:sldId id="786" r:id="rId8"/>
  </p:sldIdLst>
  <p:sldSz cx="9906000" cy="6858000" type="A4"/>
  <p:notesSz cx="7010400" cy="92964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1">
          <p15:clr>
            <a:srgbClr val="A4A3A4"/>
          </p15:clr>
        </p15:guide>
        <p15:guide id="2" orient="horz" pos="65">
          <p15:clr>
            <a:srgbClr val="A4A3A4"/>
          </p15:clr>
        </p15:guide>
        <p15:guide id="3" orient="horz" pos="349">
          <p15:clr>
            <a:srgbClr val="A4A3A4"/>
          </p15:clr>
        </p15:guide>
        <p15:guide id="4" pos="1673">
          <p15:clr>
            <a:srgbClr val="A4A3A4"/>
          </p15:clr>
        </p15:guide>
        <p15:guide id="5" pos="120">
          <p15:clr>
            <a:srgbClr val="A4A3A4"/>
          </p15:clr>
        </p15:guide>
        <p15:guide id="6" pos="6003">
          <p15:clr>
            <a:srgbClr val="A4A3A4"/>
          </p15:clr>
        </p15:guide>
        <p15:guide id="7" pos="3127">
          <p15:clr>
            <a:srgbClr val="A4A3A4"/>
          </p15:clr>
        </p15:guide>
        <p15:guide id="8" pos="6117">
          <p15:clr>
            <a:srgbClr val="A4A3A4"/>
          </p15:clr>
        </p15:guide>
        <p15:guide id="9" pos="2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3300"/>
    <a:srgbClr val="808000"/>
    <a:srgbClr val="003399"/>
    <a:srgbClr val="000099"/>
    <a:srgbClr val="FFFF66"/>
    <a:srgbClr val="0000FF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8" autoAdjust="0"/>
    <p:restoredTop sz="94941" autoAdjust="0"/>
  </p:normalViewPr>
  <p:slideViewPr>
    <p:cSldViewPr snapToGrid="0">
      <p:cViewPr varScale="1">
        <p:scale>
          <a:sx n="114" d="100"/>
          <a:sy n="114" d="100"/>
        </p:scale>
        <p:origin x="822" y="102"/>
      </p:cViewPr>
      <p:guideLst>
        <p:guide orient="horz" pos="591"/>
        <p:guide orient="horz" pos="65"/>
        <p:guide orient="horz" pos="349"/>
        <p:guide pos="1673"/>
        <p:guide pos="120"/>
        <p:guide pos="6003"/>
        <p:guide pos="3127"/>
        <p:guide pos="6117"/>
        <p:guide pos="231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i="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i="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4838"/>
            <a:ext cx="5140325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i="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i="0">
                <a:latin typeface="굴림" pitchFamily="50" charset="-127"/>
              </a:defRPr>
            </a:lvl1pPr>
          </a:lstStyle>
          <a:p>
            <a:fld id="{386DD8D3-A97A-482E-B433-2B5657C781B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65242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BF7B3A7-82C8-4C71-B2A3-C1A4D030EE72}" type="slidenum">
              <a:rPr lang="en-US" altLang="ko-KR"/>
              <a:pPr>
                <a:spcBef>
                  <a:spcPct val="0"/>
                </a:spcBef>
              </a:pPr>
              <a:t>3</a:t>
            </a:fld>
            <a:endParaRPr lang="en-US" altLang="ko-KR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8375" y="685800"/>
            <a:ext cx="5067300" cy="3508375"/>
          </a:xfrm>
          <a:ln w="12700" cap="flat">
            <a:solidFill>
              <a:schemeClr val="tx1"/>
            </a:solidFill>
          </a:ln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98963"/>
            <a:ext cx="5138737" cy="42179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31750" rIns="63500" bIns="31750"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AC349F6-6268-4255-95B1-4CFC1E64AA93}" type="slidenum">
              <a:rPr lang="en-US" altLang="ko-KR"/>
              <a:pPr>
                <a:spcBef>
                  <a:spcPct val="0"/>
                </a:spcBef>
              </a:pPr>
              <a:t>7</a:t>
            </a:fld>
            <a:endParaRPr lang="en-US" altLang="ko-KR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8375" y="685800"/>
            <a:ext cx="5067300" cy="3508375"/>
          </a:xfrm>
          <a:ln w="12700" cap="flat">
            <a:solidFill>
              <a:schemeClr val="tx1"/>
            </a:solidFill>
          </a:ln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98963"/>
            <a:ext cx="5138737" cy="42179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31750" rIns="63500" bIns="31750"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08388"/>
            <a:ext cx="9906000" cy="324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80"/>
          <p:cNvSpPr txBox="1">
            <a:spLocks noChangeArrowheads="1"/>
          </p:cNvSpPr>
          <p:nvPr userDrawn="1"/>
        </p:nvSpPr>
        <p:spPr bwMode="auto">
          <a:xfrm>
            <a:off x="2325688" y="6356350"/>
            <a:ext cx="55737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CJ</a:t>
            </a:r>
            <a:r>
              <a:rPr lang="ko-KR" altLang="en-US" sz="9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올리브네트웍스의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사전 승인 없이 본 내용의 전부 또는 일부에 대한 복사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전재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사용을 금합니다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9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Box 81"/>
          <p:cNvSpPr txBox="1">
            <a:spLocks noChangeArrowheads="1"/>
          </p:cNvSpPr>
          <p:nvPr userDrawn="1"/>
        </p:nvSpPr>
        <p:spPr bwMode="auto">
          <a:xfrm>
            <a:off x="92075" y="260350"/>
            <a:ext cx="29718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/>
            <a:r>
              <a:rPr lang="ko-KR" altLang="en-US" sz="1400" i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문서번호 </a:t>
            </a:r>
            <a:r>
              <a:rPr lang="en-US" altLang="ko-KR" sz="1400" i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SSTS-A102</a:t>
            </a:r>
            <a:endParaRPr lang="en-US" altLang="ko-KR" sz="1400" b="1" i="0" dirty="0">
              <a:solidFill>
                <a:srgbClr val="FCFDD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795855"/>
              </p:ext>
            </p:extLst>
          </p:nvPr>
        </p:nvGraphicFramePr>
        <p:xfrm>
          <a:off x="7437438" y="620713"/>
          <a:ext cx="2239962" cy="612774"/>
        </p:xfrm>
        <a:graphic>
          <a:graphicData uri="http://schemas.openxmlformats.org/drawingml/2006/table">
            <a:tbl>
              <a:tblPr/>
              <a:tblGrid>
                <a:gridCol w="982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Version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2025-03-21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609784"/>
              </p:ext>
            </p:extLst>
          </p:nvPr>
        </p:nvGraphicFramePr>
        <p:xfrm>
          <a:off x="2468563" y="2276475"/>
          <a:ext cx="4967287" cy="855663"/>
        </p:xfrm>
        <a:graphic>
          <a:graphicData uri="http://schemas.openxmlformats.org/drawingml/2006/table">
            <a:tbl>
              <a:tblPr/>
              <a:tblGrid>
                <a:gridCol w="4967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5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신성통상 차세대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POS 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키오스크 구축</a:t>
                      </a:r>
                      <a:endParaRPr kumimoji="1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AS-IS </a:t>
                      </a:r>
                      <a:r>
                        <a:rPr kumimoji="1" lang="ko-KR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흐름도</a:t>
                      </a:r>
                    </a:p>
                  </a:txBody>
                  <a:tcPr marL="180000" marR="90000" marT="46803" marB="46803" horzOverflow="overflow">
                    <a:lnL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그림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138" y="5195888"/>
            <a:ext cx="1636712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E51B8841-62B7-4D56-B055-F29226D294BA}"/>
              </a:ext>
            </a:extLst>
          </p:cNvPr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443" y="5366427"/>
            <a:ext cx="1555750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4599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994E8112-5722-4BCB-9969-BD5C1C0FD95F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37172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0" cap="all"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AA467212-7E9E-4253-969D-86EF1BDD07D9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046632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639C18A6-4B3C-4D47-84B6-1859ECF3EEBD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526463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1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CA243E6E-55F8-482B-93F8-4416E3262DB3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084269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5906C379-5950-47F5-8424-6BB22AFDDE17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688048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773099E8-B32F-4115-A2CE-38ABA58292A7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63409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CA4A718D-08B9-4D26-8C76-59E0F2792AEF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900476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F8FD95DB-B38A-4B1F-A9FE-D8816AE53117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443717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89FCFB00-D4D0-4719-87F5-9C4DBC94ECB6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42166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685FD2A2-C61F-46C8-9817-A9A72C020DF8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440007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274638"/>
            <a:ext cx="8915400" cy="58515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01F75A8D-206C-4F3D-BD52-AF3195483D01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454553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5"/>
          <p:cNvSpPr>
            <a:spLocks noChangeShapeType="1"/>
          </p:cNvSpPr>
          <p:nvPr userDrawn="1"/>
        </p:nvSpPr>
        <p:spPr bwMode="auto">
          <a:xfrm>
            <a:off x="344488" y="6389688"/>
            <a:ext cx="9217025" cy="0"/>
          </a:xfrm>
          <a:prstGeom prst="line">
            <a:avLst/>
          </a:prstGeom>
          <a:noFill/>
          <a:ln w="1905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0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1813" y="6438900"/>
            <a:ext cx="1223962" cy="31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0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9FEC0F1C-6BB7-4373-91D3-A5CBB736B05D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  <p:graphicFrame>
        <p:nvGraphicFramePr>
          <p:cNvPr id="1258" name="Group 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213841"/>
              </p:ext>
            </p:extLst>
          </p:nvPr>
        </p:nvGraphicFramePr>
        <p:xfrm>
          <a:off x="363538" y="203200"/>
          <a:ext cx="9164637" cy="679450"/>
        </p:xfrm>
        <a:graphic>
          <a:graphicData uri="http://schemas.openxmlformats.org/drawingml/2006/table">
            <a:tbl>
              <a:tblPr/>
              <a:tblGrid>
                <a:gridCol w="9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090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54" marB="45754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AS-IS 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업무흐름도</a:t>
                      </a:r>
                      <a:endParaRPr kumimoji="1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54" marB="4575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endParaRPr kumimoji="1" lang="ko-KR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54" marB="45754" horzOverflow="overflow">
                    <a:lnL>
                      <a:noFill/>
                    </a:lnL>
                    <a:lnR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SSTS-A102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2025-03-20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  <a:endParaRPr kumimoji="1" lang="ko-KR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" name="Text Box 90"/>
          <p:cNvSpPr txBox="1">
            <a:spLocks noChangeArrowheads="1"/>
          </p:cNvSpPr>
          <p:nvPr userDrawn="1"/>
        </p:nvSpPr>
        <p:spPr bwMode="auto">
          <a:xfrm>
            <a:off x="6210026" y="268288"/>
            <a:ext cx="324353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신성통상 차세대 </a:t>
            </a:r>
            <a:r>
              <a:rPr lang="en-US" altLang="ko-KR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 </a:t>
            </a:r>
            <a:r>
              <a:rPr lang="ko-KR" altLang="en-US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키오스크 구축 프로젝트</a:t>
            </a:r>
          </a:p>
        </p:txBody>
      </p:sp>
      <p:pic>
        <p:nvPicPr>
          <p:cNvPr id="1049" name="그림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377825"/>
            <a:ext cx="9715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44488422-4B06-44AE-9C77-D31C1A5BC640}"/>
              </a:ext>
            </a:extLst>
          </p:cNvPr>
          <p:cNvPicPr/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92791" y="6525285"/>
            <a:ext cx="868722" cy="12885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9pPr>
    </p:titleStyle>
    <p:bodyStyle>
      <a:lvl1pPr marL="92075" indent="-92075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defRPr kumimoji="1" sz="1200" b="1">
          <a:solidFill>
            <a:srgbClr val="006666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377825" indent="-9525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q"/>
        <a:defRPr kumimoji="1" sz="1600">
          <a:solidFill>
            <a:schemeClr val="tx1"/>
          </a:solidFill>
          <a:latin typeface="+mn-lt"/>
          <a:ea typeface="+mn-ea"/>
        </a:defRPr>
      </a:lvl2pPr>
      <a:lvl3pPr marL="665163" indent="-9048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952500" indent="-920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200">
          <a:solidFill>
            <a:schemeClr val="tx1"/>
          </a:solidFill>
          <a:latin typeface="+mn-lt"/>
          <a:ea typeface="+mn-ea"/>
        </a:defRPr>
      </a:lvl4pPr>
      <a:lvl5pPr marL="1239838" indent="-9207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5pPr>
      <a:lvl6pPr marL="16970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1542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26114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0686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08DE1D0E-D0C0-4DE4-BA12-DAE5CA1C0D52}" type="slidenum"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</a:t>
            </a:fld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graphicFrame>
        <p:nvGraphicFramePr>
          <p:cNvPr id="213411" name="Group 4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834933"/>
              </p:ext>
            </p:extLst>
          </p:nvPr>
        </p:nvGraphicFramePr>
        <p:xfrm>
          <a:off x="392113" y="1665288"/>
          <a:ext cx="9132887" cy="3902710"/>
        </p:xfrm>
        <a:graphic>
          <a:graphicData uri="http://schemas.openxmlformats.org/drawingml/2006/table">
            <a:tbl>
              <a:tblPr/>
              <a:tblGrid>
                <a:gridCol w="92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7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" action="ppaction://noaction"/>
                        </a:rPr>
                        <a:t>[1]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개정사유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" action="ppaction://noaction"/>
                        </a:rPr>
                        <a:t>[2]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개정내역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1.0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2025-03-20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제정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최초 제정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서정만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오승헌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9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9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9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9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9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9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9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9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9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9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1388" name="Rectangle 391"/>
          <p:cNvSpPr>
            <a:spLocks noChangeArrowheads="1"/>
          </p:cNvSpPr>
          <p:nvPr/>
        </p:nvSpPr>
        <p:spPr bwMode="auto">
          <a:xfrm>
            <a:off x="4358126" y="1159153"/>
            <a:ext cx="11897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8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 이력</a:t>
            </a:r>
          </a:p>
        </p:txBody>
      </p:sp>
      <p:sp>
        <p:nvSpPr>
          <p:cNvPr id="11390" name="Rectangle 393"/>
          <p:cNvSpPr>
            <a:spLocks noChangeArrowheads="1"/>
          </p:cNvSpPr>
          <p:nvPr/>
        </p:nvSpPr>
        <p:spPr bwMode="auto">
          <a:xfrm>
            <a:off x="336550" y="5890697"/>
            <a:ext cx="45672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/>
            <a:r>
              <a:rPr lang="en-US" altLang="ko-KR" sz="900" i="0" baseline="30000" dirty="0">
                <a:latin typeface="맑은 고딕" panose="020B0503020000020004" pitchFamily="50" charset="-127"/>
                <a:ea typeface="맑은 고딕" panose="020B0503020000020004" pitchFamily="50" charset="-127"/>
                <a:hlinkClick r:id="" action="ppaction://noaction"/>
              </a:rPr>
              <a:t>[1]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 사유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제정 또는 개정 내용이 이전 문서에 대해 추가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삭제인지 선택 기입</a:t>
            </a:r>
          </a:p>
          <a:p>
            <a:pPr algn="l" latinLnBrk="0"/>
            <a:r>
              <a:rPr lang="en-US" altLang="ko-KR" sz="900" i="0" baseline="30000" dirty="0">
                <a:latin typeface="맑은 고딕" panose="020B0503020000020004" pitchFamily="50" charset="-127"/>
                <a:ea typeface="맑은 고딕" panose="020B0503020000020004" pitchFamily="50" charset="-127"/>
                <a:hlinkClick r:id="" action="ppaction://noaction"/>
              </a:rPr>
              <a:t>[2]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 내역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개정이 발생하는 페이지 번호와 변경 내용을 기술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번호 개체 틀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r>
              <a:rPr lang="en-US" altLang="ko-KR" sz="1000" i="0" dirty="0">
                <a:latin typeface="굴림" panose="020B0600000101010101" pitchFamily="50" charset="-127"/>
              </a:rPr>
              <a:t>- </a:t>
            </a:r>
            <a:fld id="{E9AC041D-07B9-4BFF-B5D3-D8D47CD0A8AE}" type="slidenum">
              <a:rPr lang="en-US" altLang="ko-KR" sz="1000" i="0">
                <a:latin typeface="굴림" panose="020B0600000101010101" pitchFamily="50" charset="-127"/>
              </a:rPr>
              <a:pPr/>
              <a:t>3</a:t>
            </a:fld>
            <a:r>
              <a:rPr lang="en-US" altLang="ko-KR" sz="1000" i="0" dirty="0">
                <a:latin typeface="굴림" panose="020B0600000101010101" pitchFamily="50" charset="-127"/>
              </a:rPr>
              <a:t> -</a:t>
            </a:r>
          </a:p>
        </p:txBody>
      </p:sp>
      <p:graphicFrame>
        <p:nvGraphicFramePr>
          <p:cNvPr id="1602609" name="Group 49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3545644660"/>
              </p:ext>
            </p:extLst>
          </p:nvPr>
        </p:nvGraphicFramePr>
        <p:xfrm>
          <a:off x="366713" y="971550"/>
          <a:ext cx="9163050" cy="5295900"/>
        </p:xfrm>
        <a:graphic>
          <a:graphicData uri="http://schemas.openxmlformats.org/drawingml/2006/table">
            <a:tbl>
              <a:tblPr/>
              <a:tblGrid>
                <a:gridCol w="1100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26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서브 </a:t>
                      </a: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시스템명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흐름도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수행절차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문제점 및 요구사항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821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r>
              <a:rPr lang="en-US" altLang="ko-KR" sz="1000" i="0">
                <a:latin typeface="굴림" pitchFamily="50" charset="-127"/>
              </a:rPr>
              <a:t>- </a:t>
            </a:r>
            <a:fld id="{53F4ACCD-285D-44F4-977F-65282289ADF9}" type="slidenum">
              <a:rPr lang="en-US" altLang="ko-KR" sz="1000" i="0">
                <a:latin typeface="굴림" pitchFamily="50" charset="-127"/>
              </a:rPr>
              <a:pPr/>
              <a:t>4</a:t>
            </a:fld>
            <a:r>
              <a:rPr lang="en-US" altLang="ko-KR" sz="1000" i="0">
                <a:latin typeface="굴림" pitchFamily="50" charset="-127"/>
              </a:rPr>
              <a:t> -</a:t>
            </a: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381000" y="1160463"/>
            <a:ext cx="9109075" cy="46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2730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작성지침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  <a:endParaRPr lang="ko-KR" altLang="en-US" sz="16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AS IS(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현행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프로세스 흐름과 수행 절차를 수행 주체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조직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기준으로 도식적으로 작성한다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vl="1" algn="l" eaLnBrk="1" hangingPunct="1">
              <a:lnSpc>
                <a:spcPct val="140000"/>
              </a:lnSpc>
            </a:pPr>
            <a:endParaRPr lang="en-US" altLang="ko-KR" sz="10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en-US" altLang="ko-KR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항목 설명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서브시스템 명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(M)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구축 시스템의 한 단계 하위 시스템명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Level 0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ERP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구축 프로젝트의 경우 </a:t>
            </a:r>
            <a:r>
              <a:rPr lang="ko-KR" altLang="en-US" sz="10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시스템명이‘물류’인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경우 서브시스템명은 ‘재고관리’ 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ko-KR" altLang="en-US" sz="18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업무명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(M) 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서브시스템을 구성하고 있는 하위 업무명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기능일 수도 있고 단위 업무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(Elementary Process)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수도 있으며</a:t>
            </a:r>
            <a:b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업무 복잡도에 따라 표현 범위를 정하고 기술한다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‘</a:t>
            </a:r>
            <a:r>
              <a:rPr lang="ko-KR" altLang="en-US" sz="10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재고관리’서브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시스템의 경우 ‘입고 </a:t>
            </a:r>
            <a:r>
              <a:rPr lang="ko-KR" altLang="en-US" sz="10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관리’업무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vl="1" algn="l" eaLnBrk="1" hangingPunct="1">
              <a:lnSpc>
                <a:spcPct val="140000"/>
              </a:lnSpc>
            </a:pPr>
            <a:endParaRPr lang="ko-KR" altLang="en-US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흐름도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(M) 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수행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관련 단위를 기준으로 업무 흐름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(Flow)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Visio, Word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등의 도구를 사용하여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Notation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표현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(Process)                                      2)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입출력 기능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0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Input/Output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Function)                            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3)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출력물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(Document)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	</a:t>
            </a: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</a:p>
        </p:txBody>
      </p:sp>
      <p:sp>
        <p:nvSpPr>
          <p:cNvPr id="6148" name="AutoShape 3"/>
          <p:cNvSpPr>
            <a:spLocks noChangeArrowheads="1"/>
          </p:cNvSpPr>
          <p:nvPr/>
        </p:nvSpPr>
        <p:spPr bwMode="auto">
          <a:xfrm>
            <a:off x="1219200" y="5157788"/>
            <a:ext cx="914400" cy="6096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149" name="AutoShape 4"/>
          <p:cNvSpPr>
            <a:spLocks noChangeArrowheads="1"/>
          </p:cNvSpPr>
          <p:nvPr/>
        </p:nvSpPr>
        <p:spPr bwMode="auto">
          <a:xfrm>
            <a:off x="3998913" y="5146675"/>
            <a:ext cx="914400" cy="609600"/>
          </a:xfrm>
          <a:prstGeom prst="flowChartInputOut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150" name="AutoShape 5"/>
          <p:cNvSpPr>
            <a:spLocks noChangeArrowheads="1"/>
          </p:cNvSpPr>
          <p:nvPr/>
        </p:nvSpPr>
        <p:spPr bwMode="auto">
          <a:xfrm>
            <a:off x="7466013" y="5138738"/>
            <a:ext cx="914400" cy="609600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DFD9C5E8-156D-46D2-829B-8D939DF35BAA}" type="slidenum"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5</a:t>
            </a:fld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381000" y="1160463"/>
            <a:ext cx="91090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2730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i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i="0">
                <a:latin typeface="맑은 고딕" panose="020B0503020000020004" pitchFamily="50" charset="-127"/>
                <a:ea typeface="맑은 고딕" panose="020B0503020000020004" pitchFamily="50" charset="-127"/>
              </a:rPr>
              <a:t>작성지침</a:t>
            </a:r>
            <a:r>
              <a:rPr lang="en-US" altLang="ko-KR" sz="1600" b="1" i="0">
                <a:latin typeface="맑은 고딕" panose="020B0503020000020004" pitchFamily="50" charset="-127"/>
                <a:ea typeface="맑은 고딕" panose="020B0503020000020004" pitchFamily="50" charset="-127"/>
              </a:rPr>
              <a:t>](</a:t>
            </a:r>
            <a:r>
              <a:rPr lang="ko-KR" altLang="en-US" sz="1600" b="1" i="0"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sz="1600" b="1" i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00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</a:p>
        </p:txBody>
      </p:sp>
      <p:sp>
        <p:nvSpPr>
          <p:cNvPr id="7172" name="AutoShape 5"/>
          <p:cNvSpPr>
            <a:spLocks noChangeArrowheads="1"/>
          </p:cNvSpPr>
          <p:nvPr/>
        </p:nvSpPr>
        <p:spPr bwMode="auto">
          <a:xfrm>
            <a:off x="1103313" y="2032000"/>
            <a:ext cx="914400" cy="609600"/>
          </a:xfrm>
          <a:prstGeom prst="flowChartManualOperat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3" name="AutoShape 6"/>
          <p:cNvSpPr>
            <a:spLocks noChangeArrowheads="1"/>
          </p:cNvSpPr>
          <p:nvPr/>
        </p:nvSpPr>
        <p:spPr bwMode="auto">
          <a:xfrm>
            <a:off x="3948113" y="2039938"/>
            <a:ext cx="914400" cy="60960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4" name="AutoShape 8"/>
          <p:cNvSpPr>
            <a:spLocks noChangeArrowheads="1"/>
          </p:cNvSpPr>
          <p:nvPr/>
        </p:nvSpPr>
        <p:spPr bwMode="auto">
          <a:xfrm>
            <a:off x="6894513" y="2055813"/>
            <a:ext cx="914400" cy="492125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5" name="AutoShape 9"/>
          <p:cNvSpPr>
            <a:spLocks noChangeArrowheads="1"/>
          </p:cNvSpPr>
          <p:nvPr/>
        </p:nvSpPr>
        <p:spPr bwMode="auto">
          <a:xfrm>
            <a:off x="1179513" y="3411538"/>
            <a:ext cx="914400" cy="609600"/>
          </a:xfrm>
          <a:prstGeom prst="flowChartOnlineStorage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6" name="AutoShape 10"/>
          <p:cNvSpPr>
            <a:spLocks noChangeArrowheads="1"/>
          </p:cNvSpPr>
          <p:nvPr/>
        </p:nvSpPr>
        <p:spPr bwMode="auto">
          <a:xfrm>
            <a:off x="3948113" y="3538538"/>
            <a:ext cx="914400" cy="304800"/>
          </a:xfrm>
          <a:prstGeom prst="flowChartTerminator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7" name="Rectangle 11"/>
          <p:cNvSpPr>
            <a:spLocks noChangeArrowheads="1"/>
          </p:cNvSpPr>
          <p:nvPr/>
        </p:nvSpPr>
        <p:spPr bwMode="auto">
          <a:xfrm>
            <a:off x="6299200" y="2984500"/>
            <a:ext cx="20447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/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9)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통신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(Communications Link)</a:t>
            </a:r>
            <a:r>
              <a:rPr lang="en-US" altLang="ko-KR" sz="1200" i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8" name="Freeform 12"/>
          <p:cNvSpPr>
            <a:spLocks/>
          </p:cNvSpPr>
          <p:nvPr/>
        </p:nvSpPr>
        <p:spPr bwMode="auto">
          <a:xfrm>
            <a:off x="6462713" y="3449638"/>
            <a:ext cx="1371600" cy="457200"/>
          </a:xfrm>
          <a:custGeom>
            <a:avLst/>
            <a:gdLst>
              <a:gd name="T0" fmla="*/ 0 w 2160"/>
              <a:gd name="T1" fmla="*/ 457200 h 720"/>
              <a:gd name="T2" fmla="*/ 800100 w 2160"/>
              <a:gd name="T3" fmla="*/ 0 h 720"/>
              <a:gd name="T4" fmla="*/ 800100 w 2160"/>
              <a:gd name="T5" fmla="*/ 342900 h 720"/>
              <a:gd name="T6" fmla="*/ 1371600 w 2160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  <a:gd name="T12" fmla="*/ 0 w 2160"/>
              <a:gd name="T13" fmla="*/ 0 h 720"/>
              <a:gd name="T14" fmla="*/ 2160 w 2160"/>
              <a:gd name="T15" fmla="*/ 720 h 7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" h="720">
                <a:moveTo>
                  <a:pt x="0" y="720"/>
                </a:moveTo>
                <a:lnTo>
                  <a:pt x="1260" y="0"/>
                </a:lnTo>
                <a:lnTo>
                  <a:pt x="1260" y="540"/>
                </a:lnTo>
                <a:lnTo>
                  <a:pt x="2160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9" name="Rectangle 13"/>
          <p:cNvSpPr>
            <a:spLocks noChangeArrowheads="1"/>
          </p:cNvSpPr>
          <p:nvPr/>
        </p:nvSpPr>
        <p:spPr bwMode="auto">
          <a:xfrm>
            <a:off x="990600" y="4384675"/>
            <a:ext cx="11049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/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10)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정렬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(Sort)</a:t>
            </a:r>
            <a:r>
              <a:rPr lang="en-US" altLang="ko-KR" sz="1200" i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80" name="Rectangle 14"/>
          <p:cNvSpPr>
            <a:spLocks noChangeArrowheads="1"/>
          </p:cNvSpPr>
          <p:nvPr/>
        </p:nvSpPr>
        <p:spPr bwMode="auto">
          <a:xfrm>
            <a:off x="3225800" y="4384675"/>
            <a:ext cx="215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/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11)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(Database)</a:t>
            </a:r>
            <a:r>
              <a:rPr lang="en-US" altLang="ko-KR" sz="1200" i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81" name="AutoShape 15"/>
          <p:cNvSpPr>
            <a:spLocks noChangeArrowheads="1"/>
          </p:cNvSpPr>
          <p:nvPr/>
        </p:nvSpPr>
        <p:spPr bwMode="auto">
          <a:xfrm>
            <a:off x="3859213" y="4860925"/>
            <a:ext cx="914400" cy="642938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82" name="Line 16"/>
          <p:cNvSpPr>
            <a:spLocks noChangeShapeType="1"/>
          </p:cNvSpPr>
          <p:nvPr/>
        </p:nvSpPr>
        <p:spPr bwMode="auto">
          <a:xfrm>
            <a:off x="6564313" y="4957763"/>
            <a:ext cx="1143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83" name="Line 17"/>
          <p:cNvSpPr>
            <a:spLocks noChangeShapeType="1"/>
          </p:cNvSpPr>
          <p:nvPr/>
        </p:nvSpPr>
        <p:spPr bwMode="auto">
          <a:xfrm>
            <a:off x="6564313" y="5110163"/>
            <a:ext cx="1143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84" name="Line 18"/>
          <p:cNvSpPr>
            <a:spLocks noChangeShapeType="1"/>
          </p:cNvSpPr>
          <p:nvPr/>
        </p:nvSpPr>
        <p:spPr bwMode="auto">
          <a:xfrm>
            <a:off x="6564313" y="5262563"/>
            <a:ext cx="1143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85" name="AutoShape 19"/>
          <p:cNvSpPr>
            <a:spLocks noChangeArrowheads="1"/>
          </p:cNvSpPr>
          <p:nvPr/>
        </p:nvSpPr>
        <p:spPr bwMode="auto">
          <a:xfrm>
            <a:off x="1420813" y="4792663"/>
            <a:ext cx="571500" cy="723900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86" name="Rectangle 20"/>
          <p:cNvSpPr>
            <a:spLocks noChangeArrowheads="1"/>
          </p:cNvSpPr>
          <p:nvPr/>
        </p:nvSpPr>
        <p:spPr bwMode="auto">
          <a:xfrm>
            <a:off x="977900" y="1651000"/>
            <a:ext cx="17033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/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수작업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(Manual)</a:t>
            </a:r>
          </a:p>
        </p:txBody>
      </p:sp>
      <p:sp>
        <p:nvSpPr>
          <p:cNvPr id="7187" name="Rectangle 21"/>
          <p:cNvSpPr>
            <a:spLocks noChangeArrowheads="1"/>
          </p:cNvSpPr>
          <p:nvPr/>
        </p:nvSpPr>
        <p:spPr bwMode="auto">
          <a:xfrm>
            <a:off x="3733800" y="1651000"/>
            <a:ext cx="1092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(Keying)</a:t>
            </a:r>
          </a:p>
        </p:txBody>
      </p:sp>
      <p:sp>
        <p:nvSpPr>
          <p:cNvPr id="7188" name="Rectangle 22"/>
          <p:cNvSpPr>
            <a:spLocks noChangeArrowheads="1"/>
          </p:cNvSpPr>
          <p:nvPr/>
        </p:nvSpPr>
        <p:spPr bwMode="auto">
          <a:xfrm>
            <a:off x="6626225" y="1638300"/>
            <a:ext cx="12525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6) 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(Decision)</a:t>
            </a:r>
          </a:p>
        </p:txBody>
      </p:sp>
      <p:sp>
        <p:nvSpPr>
          <p:cNvPr id="7189" name="Rectangle 23"/>
          <p:cNvSpPr>
            <a:spLocks noChangeArrowheads="1"/>
          </p:cNvSpPr>
          <p:nvPr/>
        </p:nvSpPr>
        <p:spPr bwMode="auto">
          <a:xfrm>
            <a:off x="960438" y="2933700"/>
            <a:ext cx="947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7)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(File) </a:t>
            </a:r>
          </a:p>
        </p:txBody>
      </p:sp>
      <p:sp>
        <p:nvSpPr>
          <p:cNvPr id="7190" name="Rectangle 24"/>
          <p:cNvSpPr>
            <a:spLocks noChangeArrowheads="1"/>
          </p:cNvSpPr>
          <p:nvPr/>
        </p:nvSpPr>
        <p:spPr bwMode="auto">
          <a:xfrm>
            <a:off x="3563938" y="2933700"/>
            <a:ext cx="1736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8)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중지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(Terminal Interrupt)</a:t>
            </a:r>
          </a:p>
        </p:txBody>
      </p:sp>
      <p:sp>
        <p:nvSpPr>
          <p:cNvPr id="7191" name="Rectangle 26"/>
          <p:cNvSpPr>
            <a:spLocks noChangeArrowheads="1"/>
          </p:cNvSpPr>
          <p:nvPr/>
        </p:nvSpPr>
        <p:spPr bwMode="auto">
          <a:xfrm>
            <a:off x="6413500" y="4346575"/>
            <a:ext cx="1447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12)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흐름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(Flow) </a:t>
            </a:r>
          </a:p>
        </p:txBody>
      </p:sp>
      <p:sp>
        <p:nvSpPr>
          <p:cNvPr id="7192" name="Rectangle 27"/>
          <p:cNvSpPr>
            <a:spLocks noChangeArrowheads="1"/>
          </p:cNvSpPr>
          <p:nvPr/>
        </p:nvSpPr>
        <p:spPr bwMode="auto">
          <a:xfrm>
            <a:off x="750888" y="5707063"/>
            <a:ext cx="86296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</a:pP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④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수행절차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(M)</a:t>
            </a:r>
          </a:p>
          <a:p>
            <a:pPr algn="l" eaLnBrk="1" hangingPunct="1">
              <a:lnSpc>
                <a:spcPct val="110000"/>
              </a:lnSpc>
            </a:pP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수행 조직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수행 기준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수행 주기 및 작업 시간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작업 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Tool(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전화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, FAX, Online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처리방법 등을 시간적 흐름에 따라 기술한다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000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61FE1B7F-B080-4EE5-9280-C64A1D33FDF6}" type="slidenum"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6</a:t>
            </a:fld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381000" y="1160463"/>
            <a:ext cx="9109075" cy="4542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2730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작성지침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](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⑤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문제점 및 요구사항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(O) 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인터뷰 또는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BPR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자료 등을 통해 현업 고객의 현행 프로세스의 문제점 및 개선 및 요구사항을 기재한다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en-US" altLang="ko-KR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입력물</a:t>
            </a:r>
            <a:endParaRPr lang="ko-KR" altLang="en-US" sz="16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회의록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현행관련문서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AS IS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업무흐름도</a:t>
            </a:r>
          </a:p>
          <a:p>
            <a:pPr lvl="1" algn="l" eaLnBrk="1" hangingPunct="1">
              <a:lnSpc>
                <a:spcPct val="140000"/>
              </a:lnSpc>
            </a:pPr>
            <a:endParaRPr lang="ko-KR" altLang="en-US" sz="10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40000"/>
              </a:lnSpc>
            </a:pPr>
            <a:endParaRPr lang="ko-KR" altLang="en-US" sz="18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70000"/>
              </a:lnSpc>
            </a:pP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ko-KR" altLang="en-US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관련 도구 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기법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인터뷰 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 Visio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en-US" altLang="ko-KR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지침 및 고려사항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기존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Legacy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시스템이 존재하는 경우에는 반드시 작성한다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i="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현행 업무 </a:t>
            </a:r>
            <a:r>
              <a:rPr lang="en-US" altLang="ko-KR" sz="1000" i="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Flow</a:t>
            </a:r>
            <a:r>
              <a:rPr lang="ko-KR" altLang="en-US" sz="1000" i="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대한 문서가 있으면 현행 업무 문서 양식으로 작성된 내용을 삽입하여 처리 가능하나 이 경우에는 문제점 및 요구사항을</a:t>
            </a:r>
            <a:r>
              <a:rPr lang="ko-KR" altLang="en-US" sz="10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i="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작성하여 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000" i="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TO BE </a:t>
            </a:r>
            <a:r>
              <a:rPr lang="ko-KR" altLang="en-US" sz="1000" i="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흐름도와 연결되도록 한다</a:t>
            </a:r>
            <a:r>
              <a:rPr lang="en-US" altLang="ko-KR" sz="1000" i="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MS Visio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CASE Tool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활용하면 작성을 효율적으로 진행할 수 있다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929336F9-84E7-498A-A8A0-794CB1D8CF7B}" type="slidenum"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7</a:t>
            </a:fld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graphicFrame>
        <p:nvGraphicFramePr>
          <p:cNvPr id="1607773" name="Group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792769"/>
              </p:ext>
            </p:extLst>
          </p:nvPr>
        </p:nvGraphicFramePr>
        <p:xfrm>
          <a:off x="366713" y="1701800"/>
          <a:ext cx="9163050" cy="4619627"/>
        </p:xfrm>
        <a:graphic>
          <a:graphicData uri="http://schemas.openxmlformats.org/drawingml/2006/table">
            <a:tbl>
              <a:tblPr/>
              <a:tblGrid>
                <a:gridCol w="108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5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서브시스템명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배분관리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업무명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초두배분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3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흐름도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수행절차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전제조건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195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9050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수작업으로 작성된 작업지시서를 구매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생산팀에 전달한다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9050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 담당자는 스타일별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 Assort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작성하여 구매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생산팀에 전달한다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9050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생산팀은 스타일별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 Assort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내역을 업체에 전달한다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9050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영업담당자는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시즌별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유통망 판매계획을 작성한다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9050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판매계획을 기초로 하여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시즌별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필요 물량 및 비중을 산정한다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9050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스타일별 초두 배분표와 스타일별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Refill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유형을 출력한다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9050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매장별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초두 물류계획을 입력한다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9050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물류에서 품목이 입고되면 입고내역서를 수령하여 입고 내역과 대리점의 미수 현황을 점검한다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90500" marR="0" lvl="0" indent="-190500" algn="just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-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초두 물류 의뢰</a:t>
                      </a:r>
                    </a:p>
                    <a:p>
                      <a:pPr marL="190500" marR="0" lvl="0" indent="-190500" algn="just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유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 보류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</a:t>
                      </a:r>
                    </a:p>
                    <a:p>
                      <a:pPr marL="19050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AutoNum type="arabicPeriod" startAt="9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물류에서는 출고 의뢰서를 출력하여 실제 출고 작업을 진행한다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240" name="Object 42"/>
          <p:cNvGraphicFramePr>
            <a:graphicFrameLocks noChangeAspect="1"/>
          </p:cNvGraphicFramePr>
          <p:nvPr/>
        </p:nvGraphicFramePr>
        <p:xfrm>
          <a:off x="442913" y="2279650"/>
          <a:ext cx="5067300" cy="400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" r:id="rId4" imgW="8832452" imgH="5845187" progId="Visio.Drawing.6">
                  <p:embed/>
                </p:oleObj>
              </mc:Choice>
              <mc:Fallback>
                <p:oleObj r:id="rId4" imgW="8832452" imgH="5845187" progId="Visio.Drawing.6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3" y="2279650"/>
                        <a:ext cx="5067300" cy="400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1" name="Rectangle 49"/>
          <p:cNvSpPr>
            <a:spLocks noChangeArrowheads="1"/>
          </p:cNvSpPr>
          <p:nvPr/>
        </p:nvSpPr>
        <p:spPr bwMode="auto">
          <a:xfrm>
            <a:off x="366713" y="1139825"/>
            <a:ext cx="9163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i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i="0">
                <a:latin typeface="맑은 고딕" panose="020B0503020000020004" pitchFamily="50" charset="-127"/>
                <a:ea typeface="맑은 고딕" panose="020B0503020000020004" pitchFamily="50" charset="-127"/>
              </a:rPr>
              <a:t>작성예</a:t>
            </a:r>
            <a:r>
              <a:rPr lang="en-US" altLang="ko-KR" sz="1600" b="1" i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en-US" altLang="ko-KR" sz="1200" i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i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울릉도L"/>
        <a:ea typeface="HY울릉도L"/>
        <a:cs typeface=""/>
      </a:majorFont>
      <a:minorFont>
        <a:latin typeface="HY울릉도L"/>
        <a:ea typeface="HY울릉도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12974</TotalTime>
  <Words>489</Words>
  <Application>Microsoft Office PowerPoint</Application>
  <PresentationFormat>A4 용지(210x297mm)</PresentationFormat>
  <Paragraphs>98</Paragraphs>
  <Slides>7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HY울릉도L</vt:lpstr>
      <vt:lpstr>HY헤드라인M</vt:lpstr>
      <vt:lpstr>굴림</vt:lpstr>
      <vt:lpstr>맑은 고딕</vt:lpstr>
      <vt:lpstr>Times New Roman</vt:lpstr>
      <vt:lpstr>Verdana</vt:lpstr>
      <vt:lpstr>Wingdings</vt:lpstr>
      <vt:lpstr>기본 디자인</vt:lpstr>
      <vt:lpstr>Visio.Drawing.6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CJ올리브네트웍스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AS-IS 업무흐름도</dc:title>
  <dc:subject>CJIE-A102</dc:subject>
  <dc:creator>품질관리팀</dc:creator>
  <cp:keywords>2020-01-13</cp:keywords>
  <dc:description>CJ올리브네트웍스의 사전승인 없이 본 내용의 전부 또는 일부에 대한 복사, 전재, 배포, 사용을 금합니다.</dc:description>
  <cp:lastModifiedBy>User</cp:lastModifiedBy>
  <cp:revision>610</cp:revision>
  <dcterms:created xsi:type="dcterms:W3CDTF">2003-10-30T11:11:21Z</dcterms:created>
  <dcterms:modified xsi:type="dcterms:W3CDTF">2025-03-24T09:42:41Z</dcterms:modified>
  <cp:category>V3.1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DRClass">
    <vt:lpwstr/>
  </property>
  <property fmtid="{D5CDD505-2E9C-101B-9397-08002B2CF9AE}" pid="3" name="FDRSet">
    <vt:lpwstr/>
  </property>
</Properties>
</file>