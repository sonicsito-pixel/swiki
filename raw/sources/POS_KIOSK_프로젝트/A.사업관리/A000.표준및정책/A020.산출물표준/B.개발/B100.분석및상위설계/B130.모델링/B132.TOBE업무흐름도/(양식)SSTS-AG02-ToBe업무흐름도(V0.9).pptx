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446" r:id="rId2"/>
    <p:sldId id="800" r:id="rId3"/>
    <p:sldId id="795" r:id="rId4"/>
    <p:sldId id="796" r:id="rId5"/>
    <p:sldId id="783" r:id="rId6"/>
    <p:sldId id="784" r:id="rId7"/>
    <p:sldId id="785" r:id="rId8"/>
    <p:sldId id="798" r:id="rId9"/>
    <p:sldId id="799" r:id="rId10"/>
  </p:sldIdLst>
  <p:sldSz cx="9906000" cy="6858000" type="A4"/>
  <p:notesSz cx="7010400" cy="92964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i="1" kern="1200">
        <a:solidFill>
          <a:schemeClr val="tx1"/>
        </a:solidFill>
        <a:latin typeface="Verdan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1">
          <p15:clr>
            <a:srgbClr val="A4A3A4"/>
          </p15:clr>
        </p15:guide>
        <p15:guide id="2" orient="horz" pos="65">
          <p15:clr>
            <a:srgbClr val="A4A3A4"/>
          </p15:clr>
        </p15:guide>
        <p15:guide id="3" orient="horz" pos="349">
          <p15:clr>
            <a:srgbClr val="A4A3A4"/>
          </p15:clr>
        </p15:guide>
        <p15:guide id="4" pos="1673">
          <p15:clr>
            <a:srgbClr val="A4A3A4"/>
          </p15:clr>
        </p15:guide>
        <p15:guide id="5" pos="120">
          <p15:clr>
            <a:srgbClr val="A4A3A4"/>
          </p15:clr>
        </p15:guide>
        <p15:guide id="6" pos="6003">
          <p15:clr>
            <a:srgbClr val="A4A3A4"/>
          </p15:clr>
        </p15:guide>
        <p15:guide id="7" pos="3120" userDrawn="1">
          <p15:clr>
            <a:srgbClr val="A4A3A4"/>
          </p15:clr>
        </p15:guide>
        <p15:guide id="8" pos="6117">
          <p15:clr>
            <a:srgbClr val="A4A3A4"/>
          </p15:clr>
        </p15:guide>
        <p15:guide id="9" pos="2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FF0000"/>
    <a:srgbClr val="CC3300"/>
    <a:srgbClr val="808000"/>
    <a:srgbClr val="003399"/>
    <a:srgbClr val="000099"/>
    <a:srgbClr val="FFFF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83" autoAdjust="0"/>
    <p:restoredTop sz="94941" autoAdjust="0"/>
  </p:normalViewPr>
  <p:slideViewPr>
    <p:cSldViewPr snapToGrid="0">
      <p:cViewPr varScale="1">
        <p:scale>
          <a:sx n="114" d="100"/>
          <a:sy n="114" d="100"/>
        </p:scale>
        <p:origin x="972" y="102"/>
      </p:cViewPr>
      <p:guideLst>
        <p:guide orient="horz" pos="591"/>
        <p:guide orient="horz" pos="65"/>
        <p:guide orient="horz" pos="349"/>
        <p:guide pos="1673"/>
        <p:guide pos="120"/>
        <p:guide pos="6003"/>
        <p:guide pos="3120"/>
        <p:guide pos="6117"/>
        <p:guide pos="231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-2634" y="-108"/>
      </p:cViewPr>
      <p:guideLst>
        <p:guide orient="horz" pos="2928"/>
        <p:guide pos="2208"/>
      </p:guideLst>
    </p:cSldViewPr>
  </p:notes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4838"/>
            <a:ext cx="5140325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i="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i="0">
                <a:latin typeface="굴림" pitchFamily="50" charset="-127"/>
              </a:defRPr>
            </a:lvl1pPr>
          </a:lstStyle>
          <a:p>
            <a:fld id="{878FA219-BB66-4632-92FD-EB254C447F5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78363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FA219-BB66-4632-92FD-EB254C447F5C}" type="slidenum">
              <a:rPr lang="en-US" altLang="ko-KR" smtClean="0"/>
              <a:pPr/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7979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4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2D8354-7D7F-477A-AE85-2124CFBBB1D5}" type="slidenum">
              <a:rPr lang="en-US" altLang="ko-KR" smtClean="0"/>
              <a:pPr/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CE88B7-F1FA-47E0-A5B8-4D19ACFC7520}" type="slidenum">
              <a:rPr lang="en-US" altLang="ko-KR" smtClean="0"/>
              <a:pPr/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34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2D8354-7D7F-477A-AE85-2124CFBBB1D5}" type="slidenum">
              <a:rPr lang="en-US" altLang="ko-KR" smtClean="0"/>
              <a:pPr/>
              <a:t>8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CE88B7-F1FA-47E0-A5B8-4D19ACFC7520}" type="slidenum">
              <a:rPr lang="en-US" altLang="ko-KR" smtClean="0"/>
              <a:pPr/>
              <a:t>9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8388"/>
            <a:ext cx="9906000" cy="324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80"/>
          <p:cNvSpPr txBox="1">
            <a:spLocks noChangeArrowheads="1"/>
          </p:cNvSpPr>
          <p:nvPr userDrawn="1"/>
        </p:nvSpPr>
        <p:spPr bwMode="auto">
          <a:xfrm>
            <a:off x="1989138" y="6356350"/>
            <a:ext cx="59277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CJ</a:t>
            </a:r>
            <a:r>
              <a:rPr lang="ko-KR" altLang="en-US" sz="9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올리브네트웍스의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사전 승인 없이 본 내용의 전부 또는 일부에 대한 복사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사용을 금합니다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9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Box 81"/>
          <p:cNvSpPr txBox="1">
            <a:spLocks noChangeArrowheads="1"/>
          </p:cNvSpPr>
          <p:nvPr userDrawn="1"/>
        </p:nvSpPr>
        <p:spPr bwMode="auto">
          <a:xfrm>
            <a:off x="92075" y="260350"/>
            <a:ext cx="2971800" cy="3429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ko-KR" altLang="en-US" sz="1400" i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문서번호 </a:t>
            </a:r>
            <a:r>
              <a:rPr lang="en-US" altLang="ko-KR" sz="1400" i="0" dirty="0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SSTS-AG02</a:t>
            </a:r>
            <a:endParaRPr lang="en-US" altLang="ko-KR" sz="1400" b="1" i="0" dirty="0">
              <a:solidFill>
                <a:srgbClr val="FCFDD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17611"/>
              </p:ext>
            </p:extLst>
          </p:nvPr>
        </p:nvGraphicFramePr>
        <p:xfrm>
          <a:off x="7437438" y="620713"/>
          <a:ext cx="2239962" cy="612774"/>
        </p:xfrm>
        <a:graphic>
          <a:graphicData uri="http://schemas.openxmlformats.org/drawingml/2006/table">
            <a:tbl>
              <a:tblPr/>
              <a:tblGrid>
                <a:gridCol w="98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2025-03-21</a:t>
                      </a: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90000" marR="90000" marT="10778" marB="10778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0778" marB="10778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276440"/>
              </p:ext>
            </p:extLst>
          </p:nvPr>
        </p:nvGraphicFramePr>
        <p:xfrm>
          <a:off x="2468563" y="2276475"/>
          <a:ext cx="6513512" cy="855663"/>
        </p:xfrm>
        <a:graphic>
          <a:graphicData uri="http://schemas.openxmlformats.org/drawingml/2006/table">
            <a:tbl>
              <a:tblPr/>
              <a:tblGrid>
                <a:gridCol w="651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55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신성통상 차세대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키오스크 구축</a:t>
                      </a:r>
                      <a:endParaRPr kumimoji="1" lang="en-US" altLang="ko-KR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TO-BE </a:t>
                      </a:r>
                      <a:r>
                        <a:rPr kumimoji="1" lang="ko-KR" alt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흐름도</a:t>
                      </a:r>
                    </a:p>
                  </a:txBody>
                  <a:tcPr marL="180000" marR="90000" marT="46803" marB="46803" horzOverflow="overflow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그림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050" y="5246690"/>
            <a:ext cx="1636713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2D67DF09-E7EE-4FE7-A650-C81FBED98104}"/>
              </a:ext>
            </a:extLst>
          </p:cNvPr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815" y="5435155"/>
            <a:ext cx="1555750" cy="228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2967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06AE0326-1F87-4FC4-8AC9-EEB3408B10BA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142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52B3324D-55B8-4DC0-BC3F-F70379C0A51B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3996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2646FCE0-FE86-458A-B826-6099B2C450C0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71729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3C7B5CA0-643C-43A4-8B2D-F859B485AF40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1939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B60A96F6-F9DD-4342-BDC2-08EDD3D0DC79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25784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97641A7D-8F0C-4BF3-9EA2-89D5FD40C8B6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59855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B582FF9E-F0B9-4344-B1A3-4D9180A53D65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105555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CC504033-555C-4F00-8C86-984F3ADBD606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53413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4AEC8C0C-EF36-4491-9CA4-D41E5980BC17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23606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84267531-375C-4F8C-B993-37A005EC31EF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916005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274638"/>
            <a:ext cx="8915400" cy="58515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B0AAB724-5E95-4A99-B089-FBB6838D878E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66679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5"/>
          <p:cNvSpPr>
            <a:spLocks noChangeShapeType="1"/>
          </p:cNvSpPr>
          <p:nvPr userDrawn="1"/>
        </p:nvSpPr>
        <p:spPr bwMode="auto">
          <a:xfrm>
            <a:off x="267487" y="6389688"/>
            <a:ext cx="9360000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341813" y="6438900"/>
            <a:ext cx="1223962" cy="31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000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- </a:t>
            </a:r>
            <a:fld id="{9E705A0D-5CE3-4938-A537-B255CFE2E368}" type="slidenum">
              <a:rPr lang="en-US" altLang="ko-KR" smtClean="0"/>
              <a:pPr/>
              <a:t>‹#›</a:t>
            </a:fld>
            <a:r>
              <a:rPr lang="en-US" altLang="ko-KR"/>
              <a:t> -</a:t>
            </a:r>
            <a:endParaRPr lang="en-US" altLang="ko-KR" dirty="0"/>
          </a:p>
        </p:txBody>
      </p:sp>
      <p:graphicFrame>
        <p:nvGraphicFramePr>
          <p:cNvPr id="1260" name="Group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802121"/>
              </p:ext>
            </p:extLst>
          </p:nvPr>
        </p:nvGraphicFramePr>
        <p:xfrm>
          <a:off x="267288" y="203200"/>
          <a:ext cx="9360000" cy="679450"/>
        </p:xfrm>
        <a:graphic>
          <a:graphicData uri="http://schemas.openxmlformats.org/drawingml/2006/table">
            <a:tbl>
              <a:tblPr/>
              <a:tblGrid>
                <a:gridCol w="99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2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88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090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anchor="ctr" horzOverflow="overflow">
                    <a:lnL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TO-BE </a:t>
                      </a:r>
                      <a:r>
                        <a:rPr kumimoji="1" lang="ko-KR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업무흐름도</a:t>
                      </a: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endParaRPr kumimoji="1" lang="ko-KR" altLang="ko-KR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54" marB="45754" horzOverflow="overflow">
                    <a:lnL>
                      <a:noFill/>
                    </a:lnL>
                    <a:lnR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SSTS-AG02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V1.0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2025-03-20</a:t>
                      </a:r>
                      <a:endParaRPr kumimoji="1" lang="en-US" altLang="ko-K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00338" algn="ctr"/>
                          <a:tab pos="5400675" algn="r"/>
                        </a:tabLst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서정만</a:t>
                      </a:r>
                      <a:endParaRPr kumimoji="1" lang="ko-KR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18014" marB="18014" anchor="ctr" horzOverflow="overflow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" name="Text Box 90"/>
          <p:cNvSpPr txBox="1">
            <a:spLocks noChangeArrowheads="1"/>
          </p:cNvSpPr>
          <p:nvPr userDrawn="1"/>
        </p:nvSpPr>
        <p:spPr bwMode="auto">
          <a:xfrm>
            <a:off x="5723224" y="268288"/>
            <a:ext cx="373034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신성통상 차세대 </a:t>
            </a:r>
            <a:r>
              <a:rPr lang="en-US" altLang="ko-KR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 </a:t>
            </a:r>
            <a:r>
              <a:rPr lang="ko-KR" altLang="en-US" sz="1000" b="1" i="0" dirty="0"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키오스크 구축 프로젝트</a:t>
            </a:r>
          </a:p>
        </p:txBody>
      </p:sp>
      <p:pic>
        <p:nvPicPr>
          <p:cNvPr id="1049" name="그림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88" y="361950"/>
            <a:ext cx="9842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Z:\A.사업관리\A000.표준및정책\A010.프로젝트표준서식\신성통상_로고\신성통상_가로형_국문.png">
            <a:extLst>
              <a:ext uri="{FF2B5EF4-FFF2-40B4-BE49-F238E27FC236}">
                <a16:creationId xmlns:a16="http://schemas.microsoft.com/office/drawing/2014/main" id="{70EE37A7-2722-4C5B-B034-B37E17086624}"/>
              </a:ext>
            </a:extLst>
          </p:cNvPr>
          <p:cNvPicPr/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58566" y="6525285"/>
            <a:ext cx="868722" cy="12885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2"/>
          </a:solidFill>
          <a:latin typeface="HY울릉도L" pitchFamily="18" charset="-127"/>
          <a:ea typeface="HY울릉도L" pitchFamily="18" charset="-127"/>
        </a:defRPr>
      </a:lvl9pPr>
    </p:titleStyle>
    <p:bodyStyle>
      <a:lvl1pPr marL="92075" indent="-92075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defRPr kumimoji="1" sz="1200" b="1">
          <a:solidFill>
            <a:srgbClr val="006666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77825" indent="-9525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q"/>
        <a:defRPr kumimoji="1" sz="1600">
          <a:solidFill>
            <a:schemeClr val="tx1"/>
          </a:solidFill>
          <a:latin typeface="+mn-lt"/>
          <a:ea typeface="+mn-ea"/>
        </a:defRPr>
      </a:lvl2pPr>
      <a:lvl3pPr marL="665163" indent="-904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952500" indent="-920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+mn-lt"/>
          <a:ea typeface="+mn-ea"/>
        </a:defRPr>
      </a:lvl4pPr>
      <a:lvl5pPr marL="1239838" indent="-9207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5pPr>
      <a:lvl6pPr marL="16970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1542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6114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068638" indent="-92075" algn="l" rtl="0" fontAlgn="base" latinLnBrk="1">
        <a:spcBef>
          <a:spcPct val="2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/>
          <p:cNvSpPr>
            <a:spLocks noGrp="1"/>
          </p:cNvSpPr>
          <p:nvPr>
            <p:ph type="sldNum" sz="quarter" idx="10"/>
          </p:nvPr>
        </p:nvSpPr>
        <p:spPr>
          <a:xfrm>
            <a:off x="4341813" y="6438900"/>
            <a:ext cx="1223962" cy="3190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BD33F581-EE17-4F68-9C84-654CA818DE80}" type="slidenum"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graphicFrame>
        <p:nvGraphicFramePr>
          <p:cNvPr id="213386" name="Group 3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851918"/>
              </p:ext>
            </p:extLst>
          </p:nvPr>
        </p:nvGraphicFramePr>
        <p:xfrm>
          <a:off x="392113" y="1665288"/>
          <a:ext cx="9132887" cy="4066215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0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7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개정일자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" action="ppaction://noaction"/>
                        </a:rPr>
                        <a:t>[1]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개정사유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" action="ppaction://noaction"/>
                        </a:rPr>
                        <a:t>[2]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개정내역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925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1.0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2025-03-20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제정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최초 제정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서정만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ko-KR" sz="1000" kern="100" dirty="0" err="1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오승헌</a:t>
                      </a: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58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1388" name="Rectangle 391"/>
          <p:cNvSpPr>
            <a:spLocks noChangeArrowheads="1"/>
          </p:cNvSpPr>
          <p:nvPr/>
        </p:nvSpPr>
        <p:spPr bwMode="auto">
          <a:xfrm>
            <a:off x="4358126" y="1159153"/>
            <a:ext cx="11897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800" b="1" i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이력</a:t>
            </a:r>
          </a:p>
        </p:txBody>
      </p:sp>
      <p:sp>
        <p:nvSpPr>
          <p:cNvPr id="11390" name="Rectangle 393"/>
          <p:cNvSpPr>
            <a:spLocks noChangeArrowheads="1"/>
          </p:cNvSpPr>
          <p:nvPr/>
        </p:nvSpPr>
        <p:spPr bwMode="auto">
          <a:xfrm>
            <a:off x="336550" y="5890697"/>
            <a:ext cx="45672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/>
            <a:r>
              <a:rPr lang="en-US" altLang="ko-KR" sz="900" i="0" baseline="30000" dirty="0">
                <a:latin typeface="맑은 고딕" panose="020B0503020000020004" pitchFamily="50" charset="-127"/>
                <a:ea typeface="맑은 고딕" panose="020B0503020000020004" pitchFamily="50" charset="-127"/>
                <a:hlinkClick r:id="" action="ppaction://noaction"/>
              </a:rPr>
              <a:t>[1]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사유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제정 또는 개정 내용이 이전 문서에 대해 추가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삭제인지 선택 기입</a:t>
            </a:r>
          </a:p>
          <a:p>
            <a:pPr algn="l" latinLnBrk="0"/>
            <a:r>
              <a:rPr lang="en-US" altLang="ko-KR" sz="900" i="0" baseline="30000" dirty="0">
                <a:latin typeface="맑은 고딕" panose="020B0503020000020004" pitchFamily="50" charset="-127"/>
                <a:ea typeface="맑은 고딕" panose="020B0503020000020004" pitchFamily="50" charset="-127"/>
                <a:hlinkClick r:id="" action="ppaction://noaction"/>
              </a:rPr>
              <a:t>[2]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 내역</a:t>
            </a:r>
            <a:r>
              <a:rPr lang="en-US" altLang="ko-KR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개정이 발생하는 페이지 번호와 변경 내용을 기술</a:t>
            </a:r>
          </a:p>
        </p:txBody>
      </p:sp>
    </p:spTree>
    <p:extLst>
      <p:ext uri="{BB962C8B-B14F-4D97-AF65-F5344CB8AC3E}">
        <p14:creationId xmlns:p14="http://schemas.microsoft.com/office/powerpoint/2010/main" val="20523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310422"/>
              </p:ext>
            </p:extLst>
          </p:nvPr>
        </p:nvGraphicFramePr>
        <p:xfrm>
          <a:off x="269510" y="1934679"/>
          <a:ext cx="9360000" cy="4398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0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2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업무 개요 및 선결 요건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업무처리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90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&lt;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업무개요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&gt;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&lt;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선결요건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&gt;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30000"/>
                        </a:lnSpc>
                        <a:buFont typeface="Arial" pitchFamily="34" charset="0"/>
                        <a:buNone/>
                      </a:pPr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&lt; </a:t>
                      </a: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업무처리 규칙 </a:t>
                      </a:r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</a:p>
                    <a:p>
                      <a:pPr marL="0" lvl="0" indent="0" algn="l">
                        <a:lnSpc>
                          <a:spcPct val="130000"/>
                        </a:lnSpc>
                        <a:buFont typeface="Arial" pitchFamily="34" charset="0"/>
                        <a:buNone/>
                      </a:pPr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>
                        <a:lnSpc>
                          <a:spcPct val="130000"/>
                        </a:lnSpc>
                        <a:buFont typeface="Arial" pitchFamily="34" charset="0"/>
                        <a:buNone/>
                      </a:pPr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>
                        <a:lnSpc>
                          <a:spcPct val="130000"/>
                        </a:lnSpc>
                        <a:buFont typeface="Arial" pitchFamily="34" charset="0"/>
                        <a:buNone/>
                      </a:pPr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>
                        <a:lnSpc>
                          <a:spcPct val="130000"/>
                        </a:lnSpc>
                        <a:buFont typeface="Arial" pitchFamily="34" charset="0"/>
                        <a:buNone/>
                      </a:pPr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&lt;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인터페이스 </a:t>
                      </a: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&gt; </a:t>
                      </a:r>
                    </a:p>
                    <a:p>
                      <a:pPr lvl="0" algn="l"/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&lt;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참조 문서 </a:t>
                      </a: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&gt; </a:t>
                      </a:r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lvl="0" indent="0" algn="l">
                        <a:lnSpc>
                          <a:spcPct val="130000"/>
                        </a:lnSpc>
                        <a:buFont typeface="Arial" pitchFamily="34" charset="0"/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2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As-Is 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To-Be 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개선점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2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471598"/>
              </p:ext>
            </p:extLst>
          </p:nvPr>
        </p:nvGraphicFramePr>
        <p:xfrm>
          <a:off x="269510" y="949875"/>
          <a:ext cx="9360000" cy="927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2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PID.1.1.1.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r>
                        <a:rPr kumimoji="0" lang="en-US" altLang="ko-KR" sz="1000" b="1" kern="0" baseline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Name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 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OO &gt; OO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 Description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000" b="1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9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 Mission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9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089131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1" name="Rectangle 33"/>
          <p:cNvSpPr>
            <a:spLocks noChangeArrowheads="1"/>
          </p:cNvSpPr>
          <p:nvPr/>
        </p:nvSpPr>
        <p:spPr bwMode="auto">
          <a:xfrm>
            <a:off x="2378456" y="115888"/>
            <a:ext cx="3393032" cy="4175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ko-KR" altLang="en-US" sz="150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94" name="표 2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347167"/>
              </p:ext>
            </p:extLst>
          </p:nvPr>
        </p:nvGraphicFramePr>
        <p:xfrm>
          <a:off x="273057" y="1309037"/>
          <a:ext cx="9355415" cy="501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0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4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선행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후행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>
                        <a:lnSpc>
                          <a:spcPct val="130000"/>
                        </a:lnSpc>
                        <a:buFont typeface="Arial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>
                        <a:buFontTx/>
                        <a:buChar char="•"/>
                      </a:pP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7800" lvl="0" indent="-177800" algn="l">
                        <a:buFontTx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6" name="표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17813"/>
              </p:ext>
            </p:extLst>
          </p:nvPr>
        </p:nvGraphicFramePr>
        <p:xfrm>
          <a:off x="269510" y="947579"/>
          <a:ext cx="9360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8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PID.1.1.1.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r>
                        <a:rPr kumimoji="0" lang="en-US" altLang="ko-KR" sz="1000" b="1" kern="0" baseline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Name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Path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OO &gt; OO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4" name="그룹 23"/>
          <p:cNvGrpSpPr/>
          <p:nvPr/>
        </p:nvGrpSpPr>
        <p:grpSpPr>
          <a:xfrm>
            <a:off x="2360712" y="2395586"/>
            <a:ext cx="1092437" cy="888701"/>
            <a:chOff x="2360712" y="1976326"/>
            <a:chExt cx="1092437" cy="888701"/>
          </a:xfrm>
        </p:grpSpPr>
        <p:sp>
          <p:nvSpPr>
            <p:cNvPr id="231" name="Rectangle 586"/>
            <p:cNvSpPr>
              <a:spLocks noChangeArrowheads="1"/>
            </p:cNvSpPr>
            <p:nvPr/>
          </p:nvSpPr>
          <p:spPr bwMode="auto">
            <a:xfrm>
              <a:off x="2360712" y="2157003"/>
              <a:ext cx="1092437" cy="52215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PID.1.1.1.1.</a:t>
              </a:r>
            </a:p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Process Name</a:t>
              </a:r>
              <a:endPara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2" name="Rectangle 587"/>
            <p:cNvSpPr>
              <a:spLocks noChangeArrowheads="1"/>
            </p:cNvSpPr>
            <p:nvPr/>
          </p:nvSpPr>
          <p:spPr bwMode="auto">
            <a:xfrm>
              <a:off x="236071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lnSpc>
                  <a:spcPct val="100000"/>
                </a:lnSpc>
                <a:spcAft>
                  <a:spcPct val="0"/>
                </a:spcAft>
                <a:buSzTx/>
                <a:buFont typeface="Wingdings" pitchFamily="2" charset="2"/>
                <a:buNone/>
              </a:pP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담당조직</a:t>
              </a:r>
            </a:p>
          </p:txBody>
        </p:sp>
        <p:sp>
          <p:nvSpPr>
            <p:cNvPr id="233" name="Rectangle 588"/>
            <p:cNvSpPr>
              <a:spLocks noChangeArrowheads="1"/>
            </p:cNvSpPr>
            <p:nvPr/>
          </p:nvSpPr>
          <p:spPr bwMode="auto">
            <a:xfrm>
              <a:off x="236071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시스템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6221172" y="2395586"/>
            <a:ext cx="1092437" cy="888701"/>
            <a:chOff x="4488672" y="1976326"/>
            <a:chExt cx="1092437" cy="888701"/>
          </a:xfrm>
        </p:grpSpPr>
        <p:sp>
          <p:nvSpPr>
            <p:cNvPr id="235" name="Rectangle 586"/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PID.1.2.1.1.</a:t>
              </a:r>
            </a:p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 Process Name</a:t>
              </a:r>
              <a:endParaRPr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6" name="Rectangle 587"/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담당조직</a:t>
              </a:r>
            </a:p>
          </p:txBody>
        </p:sp>
        <p:sp>
          <p:nvSpPr>
            <p:cNvPr id="237" name="Rectangle 588"/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시스템</a:t>
              </a: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8319508" y="2424854"/>
            <a:ext cx="1206000" cy="625787"/>
            <a:chOff x="8318546" y="4198461"/>
            <a:chExt cx="1206000" cy="475561"/>
          </a:xfrm>
        </p:grpSpPr>
        <p:sp>
          <p:nvSpPr>
            <p:cNvPr id="78" name="Rectangle 47"/>
            <p:cNvSpPr>
              <a:spLocks noChangeArrowheads="1"/>
            </p:cNvSpPr>
            <p:nvPr/>
          </p:nvSpPr>
          <p:spPr bwMode="auto">
            <a:xfrm>
              <a:off x="8318546" y="4350022"/>
              <a:ext cx="1206000" cy="324000"/>
            </a:xfrm>
            <a:prstGeom prst="rect">
              <a:avLst/>
            </a:prstGeom>
            <a:noFill/>
            <a:ln w="12700" algn="ctr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rPr>
                <a:t>Process Name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9" name="Rectangle 45"/>
            <p:cNvSpPr>
              <a:spLocks noChangeArrowheads="1"/>
            </p:cNvSpPr>
            <p:nvPr/>
          </p:nvSpPr>
          <p:spPr bwMode="gray">
            <a:xfrm>
              <a:off x="8318546" y="4198461"/>
              <a:ext cx="1206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r>
                <a:rPr kumimoji="0" lang="en-US" altLang="ko-KR" sz="1000" dirty="0">
                  <a:latin typeface="맑은 고딕" pitchFamily="50" charset="-127"/>
                  <a:ea typeface="맑은 고딕" pitchFamily="50" charset="-127"/>
                </a:rPr>
                <a:t>Next Process ID</a:t>
              </a:r>
            </a:p>
          </p:txBody>
        </p:sp>
      </p:grpSp>
      <p:cxnSp>
        <p:nvCxnSpPr>
          <p:cNvPr id="95" name="꺾인 연결선 34"/>
          <p:cNvCxnSpPr>
            <a:cxnSpLocks noChangeShapeType="1"/>
            <a:stCxn id="81" idx="3"/>
            <a:endCxn id="231" idx="1"/>
          </p:cNvCxnSpPr>
          <p:nvPr/>
        </p:nvCxnSpPr>
        <p:spPr bwMode="auto">
          <a:xfrm>
            <a:off x="1614981" y="2833659"/>
            <a:ext cx="745731" cy="3683"/>
          </a:xfrm>
          <a:prstGeom prst="straightConnector1">
            <a:avLst/>
          </a:prstGeom>
          <a:noFill/>
          <a:ln w="9525" algn="ctr">
            <a:solidFill>
              <a:srgbClr val="7F7F7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꺾인 연결선 71"/>
          <p:cNvCxnSpPr>
            <a:stCxn id="235" idx="3"/>
            <a:endCxn id="78" idx="1"/>
          </p:cNvCxnSpPr>
          <p:nvPr/>
        </p:nvCxnSpPr>
        <p:spPr bwMode="auto">
          <a:xfrm>
            <a:off x="7313609" y="2837263"/>
            <a:ext cx="1005899" cy="2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4" name="AutoShape 48"/>
          <p:cNvSpPr>
            <a:spLocks noChangeArrowheads="1"/>
          </p:cNvSpPr>
          <p:nvPr/>
        </p:nvSpPr>
        <p:spPr bwMode="auto">
          <a:xfrm>
            <a:off x="4040286" y="2551258"/>
            <a:ext cx="1473436" cy="576262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Check ?</a:t>
            </a:r>
          </a:p>
        </p:txBody>
      </p:sp>
      <p:cxnSp>
        <p:nvCxnSpPr>
          <p:cNvPr id="120" name="꺾인 연결선 119"/>
          <p:cNvCxnSpPr>
            <a:stCxn id="231" idx="3"/>
            <a:endCxn id="104" idx="1"/>
          </p:cNvCxnSpPr>
          <p:nvPr/>
        </p:nvCxnSpPr>
        <p:spPr bwMode="auto">
          <a:xfrm>
            <a:off x="3453149" y="2837342"/>
            <a:ext cx="587137" cy="20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7" name="Text Box 164"/>
          <p:cNvSpPr txBox="1">
            <a:spLocks noChangeArrowheads="1"/>
          </p:cNvSpPr>
          <p:nvPr/>
        </p:nvSpPr>
        <p:spPr bwMode="auto">
          <a:xfrm>
            <a:off x="5512166" y="2583166"/>
            <a:ext cx="51806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</a:t>
            </a:r>
          </a:p>
        </p:txBody>
      </p:sp>
      <p:sp>
        <p:nvSpPr>
          <p:cNvPr id="128" name="Text Box 164"/>
          <p:cNvSpPr txBox="1">
            <a:spLocks noChangeArrowheads="1"/>
          </p:cNvSpPr>
          <p:nvPr/>
        </p:nvSpPr>
        <p:spPr bwMode="auto">
          <a:xfrm flipH="1">
            <a:off x="4823423" y="3161176"/>
            <a:ext cx="58128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</a:p>
        </p:txBody>
      </p:sp>
      <p:grpSp>
        <p:nvGrpSpPr>
          <p:cNvPr id="80" name="그룹 79"/>
          <p:cNvGrpSpPr/>
          <p:nvPr/>
        </p:nvGrpSpPr>
        <p:grpSpPr>
          <a:xfrm>
            <a:off x="408981" y="2421047"/>
            <a:ext cx="1206000" cy="625786"/>
            <a:chOff x="8318546" y="4198462"/>
            <a:chExt cx="1206000" cy="475560"/>
          </a:xfrm>
        </p:grpSpPr>
        <p:sp>
          <p:nvSpPr>
            <p:cNvPr id="81" name="Rectangle 47"/>
            <p:cNvSpPr>
              <a:spLocks noChangeArrowheads="1"/>
            </p:cNvSpPr>
            <p:nvPr/>
          </p:nvSpPr>
          <p:spPr bwMode="auto">
            <a:xfrm>
              <a:off x="8318546" y="4350022"/>
              <a:ext cx="1206000" cy="324000"/>
            </a:xfrm>
            <a:prstGeom prst="rect">
              <a:avLst/>
            </a:prstGeom>
            <a:noFill/>
            <a:ln w="12700" algn="ctr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kern="0" dirty="0">
                  <a:solidFill>
                    <a:sysClr val="windowText" lastClr="000000"/>
                  </a:solidFill>
                  <a:latin typeface="맑은 고딕" pitchFamily="50" charset="-127"/>
                  <a:ea typeface="맑은 고딕" pitchFamily="50" charset="-127"/>
                </a:rPr>
                <a:t>Process Name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Rectangle 45"/>
            <p:cNvSpPr>
              <a:spLocks noChangeArrowheads="1"/>
            </p:cNvSpPr>
            <p:nvPr/>
          </p:nvSpPr>
          <p:spPr bwMode="gray">
            <a:xfrm>
              <a:off x="8318546" y="4198462"/>
              <a:ext cx="1206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r>
                <a:rPr kumimoji="0" lang="en-US" altLang="ko-KR" sz="1000" dirty="0" err="1">
                  <a:latin typeface="맑은 고딕" pitchFamily="50" charset="-127"/>
                  <a:ea typeface="맑은 고딕" pitchFamily="50" charset="-127"/>
                </a:rPr>
                <a:t>Prev</a:t>
              </a:r>
              <a:r>
                <a:rPr kumimoji="0" lang="en-US" altLang="ko-KR" sz="1000" dirty="0">
                  <a:latin typeface="맑은 고딕" pitchFamily="50" charset="-127"/>
                  <a:ea typeface="맑은 고딕" pitchFamily="50" charset="-127"/>
                </a:rPr>
                <a:t> Process ID</a:t>
              </a:r>
            </a:p>
          </p:txBody>
        </p:sp>
      </p:grpSp>
      <p:cxnSp>
        <p:nvCxnSpPr>
          <p:cNvPr id="96" name="꺾인 연결선 95"/>
          <p:cNvCxnSpPr>
            <a:stCxn id="104" idx="3"/>
            <a:endCxn id="235" idx="1"/>
          </p:cNvCxnSpPr>
          <p:nvPr/>
        </p:nvCxnSpPr>
        <p:spPr bwMode="auto">
          <a:xfrm flipV="1">
            <a:off x="5513722" y="2837263"/>
            <a:ext cx="707450" cy="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8" name="꺾인 연결선 97"/>
          <p:cNvCxnSpPr>
            <a:stCxn id="104" idx="2"/>
            <a:endCxn id="78" idx="2"/>
          </p:cNvCxnSpPr>
          <p:nvPr/>
        </p:nvCxnSpPr>
        <p:spPr bwMode="auto">
          <a:xfrm rot="5400000" flipH="1" flipV="1">
            <a:off x="6811316" y="1016329"/>
            <a:ext cx="76879" cy="4145504"/>
          </a:xfrm>
          <a:prstGeom prst="bentConnector3">
            <a:avLst>
              <a:gd name="adj1" fmla="val -535233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4181809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굴림" panose="020B0600000101010101" pitchFamily="50" charset="-127"/>
              </a:rPr>
              <a:t>- </a:t>
            </a:r>
            <a:fld id="{CA59AA1F-AED7-4512-B267-E1DB62455BC8}" type="slidenum">
              <a:rPr lang="en-US" altLang="ko-KR" sz="1000" i="0">
                <a:latin typeface="굴림" panose="020B0600000101010101" pitchFamily="50" charset="-127"/>
              </a:rPr>
              <a:pPr/>
              <a:t>5</a:t>
            </a:fld>
            <a:r>
              <a:rPr lang="en-US" altLang="ko-KR" sz="1000" i="0">
                <a:latin typeface="굴림" panose="020B0600000101010101" pitchFamily="50" charset="-127"/>
              </a:rPr>
              <a:t> -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381000" y="1160463"/>
            <a:ext cx="9109075" cy="521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lang="ko-KR" altLang="en-US" sz="16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TO BE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프로세스 흐름과 수행 절차를 수행 주체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조직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기준으로 도식적으로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항목 설명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</a:t>
            </a:r>
            <a:r>
              <a:rPr kumimoji="0" lang="en-US" altLang="ko-KR" sz="1000" b="1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Process (M) 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서브시스템을 구성하고 있는 하위 프로세스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기능일 수도 있고 단위 업무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(Elementary Process)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수도 있으며 </a:t>
            </a:r>
            <a:b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업무 복잡도에 따라 표현 범위를 정하고 기술한다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최소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 Level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이상으로 프로세스를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분행하여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작성한다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PID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번호는 비즈니스 프로세스 </a:t>
            </a:r>
            <a:r>
              <a:rPr lang="ko-KR" altLang="en-US" sz="1000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도출시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Product Backlog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Level 1, 2, 3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기반하여 프로세스 번호를 부여한다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‘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재고관리’ 서브 시스템의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3Level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프로세스인 ‘입고 등록’ 업무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재고관리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입고관리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입고등록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endParaRPr lang="ko-KR" altLang="en-US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개요 및 선결 요건</a:t>
            </a:r>
            <a:endParaRPr kumimoji="0" lang="en-US" altLang="ko-KR" sz="1000" i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업무 개요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프로세스의 업무를 비즈니스 중심으로 간략하게 설명한다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선결 요건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업무를 수행하기 위해 또는 수행 중 반드시 사전에 충족되어야 할 사항에 대해 기술한다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0" lang="ko-KR" altLang="en-US" sz="1000" i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업무처리 규칙</a:t>
            </a:r>
            <a:endParaRPr kumimoji="0" lang="en-US" altLang="ko-KR" sz="1000" i="0" kern="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kumimoji="0" lang="en-US" altLang="ko-KR" sz="1000" i="0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  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 유효성을 위한 체크 </a:t>
            </a:r>
            <a:r>
              <a:rPr kumimoji="0" lang="ko-KR" altLang="en-US" sz="1000" i="0" kern="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로직이나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계산 </a:t>
            </a:r>
            <a:r>
              <a:rPr kumimoji="0" lang="ko-KR" altLang="en-US" sz="1000" i="0" kern="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로직을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기술한다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인터페이스 및 배치도 포함하여 기술한다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en-US" altLang="ko-KR" sz="1000" i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인터페이스 항목이 있으면 인터페이스 정의서 및 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 Backlog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kumimoji="0" lang="ko-KR" altLang="en-US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필수로 기술한다</a:t>
            </a:r>
            <a:r>
              <a:rPr kumimoji="0" lang="en-US" altLang="ko-KR" sz="1000" i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④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흐름도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(M) 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업무 수행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관련 단위를 기준으로 업무 흐름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(Flow)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Visio, Word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등의 도구를 사용하여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Notation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으로 표현</a:t>
            </a:r>
          </a:p>
          <a:p>
            <a:pPr lvl="1" algn="l" eaLnBrk="1" hangingPunct="1">
              <a:lnSpc>
                <a:spcPct val="140000"/>
              </a:lnSpc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촉발 이벤트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(Triggering Event)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2) </a:t>
            </a: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선후행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(Prev./Next Process)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3)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활동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(Activity)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	</a:t>
            </a: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</a:p>
        </p:txBody>
      </p:sp>
      <p:sp>
        <p:nvSpPr>
          <p:cNvPr id="7" name="AutoShape 68"/>
          <p:cNvSpPr>
            <a:spLocks noChangeArrowheads="1"/>
          </p:cNvSpPr>
          <p:nvPr/>
        </p:nvSpPr>
        <p:spPr bwMode="auto">
          <a:xfrm rot="-5400000">
            <a:off x="1586386" y="5047837"/>
            <a:ext cx="609600" cy="1446445"/>
          </a:xfrm>
          <a:prstGeom prst="flowChartOffpageConnector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Event Name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3888343" y="5466259"/>
            <a:ext cx="1450800" cy="715474"/>
            <a:chOff x="606128" y="2714071"/>
            <a:chExt cx="1450800" cy="866146"/>
          </a:xfrm>
        </p:grpSpPr>
        <p:sp>
          <p:nvSpPr>
            <p:cNvPr id="12" name="Rectangle 50"/>
            <p:cNvSpPr>
              <a:spLocks noChangeArrowheads="1"/>
            </p:cNvSpPr>
            <p:nvPr/>
          </p:nvSpPr>
          <p:spPr bwMode="auto">
            <a:xfrm>
              <a:off x="606128" y="2970617"/>
              <a:ext cx="1450800" cy="6096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eaLnBrk="0" latinLnBrk="0" hangingPunct="0">
                <a:lnSpc>
                  <a:spcPct val="100000"/>
                </a:lnSpc>
              </a:pPr>
              <a:r>
                <a:rPr kumimoji="0" lang="en-US" altLang="ko-KR" sz="1000" dirty="0">
                  <a:latin typeface="맑은 고딕" pitchFamily="50" charset="-127"/>
                  <a:ea typeface="맑은 고딕" pitchFamily="50" charset="-127"/>
                </a:rPr>
                <a:t>Process Name</a:t>
              </a:r>
            </a:p>
          </p:txBody>
        </p:sp>
        <p:sp>
          <p:nvSpPr>
            <p:cNvPr id="13" name="Rectangle 50"/>
            <p:cNvSpPr>
              <a:spLocks noChangeArrowheads="1"/>
            </p:cNvSpPr>
            <p:nvPr/>
          </p:nvSpPr>
          <p:spPr bwMode="auto">
            <a:xfrm>
              <a:off x="608112" y="2714071"/>
              <a:ext cx="1448032" cy="257763"/>
            </a:xfrm>
            <a:prstGeom prst="rect">
              <a:avLst/>
            </a:prstGeom>
            <a:solidFill>
              <a:srgbClr val="C6D9F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eaLnBrk="0" latinLnBrk="0" hangingPunct="0">
                <a:lnSpc>
                  <a:spcPct val="100000"/>
                </a:lnSpc>
              </a:pPr>
              <a:r>
                <a:rPr kumimoji="0" lang="en-US" altLang="ko-KR" sz="1000" dirty="0">
                  <a:latin typeface="맑은 고딕" pitchFamily="50" charset="-127"/>
                  <a:ea typeface="맑은 고딕" pitchFamily="50" charset="-127"/>
                </a:rPr>
                <a:t>Prev./Next Process ID</a:t>
              </a:r>
            </a:p>
          </p:txBody>
        </p:sp>
      </p:grpSp>
      <p:grpSp>
        <p:nvGrpSpPr>
          <p:cNvPr id="14" name="그룹 96"/>
          <p:cNvGrpSpPr/>
          <p:nvPr/>
        </p:nvGrpSpPr>
        <p:grpSpPr>
          <a:xfrm>
            <a:off x="7373121" y="5466259"/>
            <a:ext cx="1476934" cy="726609"/>
            <a:chOff x="4127500" y="2051050"/>
            <a:chExt cx="1133475" cy="719138"/>
          </a:xfrm>
        </p:grpSpPr>
        <p:sp>
          <p:nvSpPr>
            <p:cNvPr id="15" name="Rectangle 586"/>
            <p:cNvSpPr>
              <a:spLocks noChangeArrowheads="1"/>
            </p:cNvSpPr>
            <p:nvPr/>
          </p:nvSpPr>
          <p:spPr bwMode="auto">
            <a:xfrm>
              <a:off x="4127500" y="2217654"/>
              <a:ext cx="1133475" cy="383821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 eaLnBrk="0" latinLnBrk="0" hangingPunct="0"/>
              <a:r>
                <a:rPr kumimoji="0"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Activity Name</a:t>
              </a:r>
            </a:p>
          </p:txBody>
        </p:sp>
        <p:sp>
          <p:nvSpPr>
            <p:cNvPr id="16" name="Rectangle 587"/>
            <p:cNvSpPr>
              <a:spLocks noChangeArrowheads="1"/>
            </p:cNvSpPr>
            <p:nvPr/>
          </p:nvSpPr>
          <p:spPr bwMode="auto">
            <a:xfrm>
              <a:off x="4127500" y="2051050"/>
              <a:ext cx="1133475" cy="1771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lnSpc>
                  <a:spcPct val="100000"/>
                </a:lnSpc>
                <a:spcAft>
                  <a:spcPct val="0"/>
                </a:spcAft>
                <a:buSzTx/>
                <a:buFont typeface="Wingdings" pitchFamily="2" charset="2"/>
                <a:buNone/>
              </a:pP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담당 조직</a:t>
              </a:r>
            </a:p>
          </p:txBody>
        </p:sp>
        <p:sp>
          <p:nvSpPr>
            <p:cNvPr id="17" name="Rectangle 588"/>
            <p:cNvSpPr>
              <a:spLocks noChangeArrowheads="1"/>
            </p:cNvSpPr>
            <p:nvPr/>
          </p:nvSpPr>
          <p:spPr bwMode="auto">
            <a:xfrm>
              <a:off x="4127500" y="2593040"/>
              <a:ext cx="1133475" cy="17714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eaLnBrk="0" latinLnBrk="0" hangingPunct="0">
                <a:lnSpc>
                  <a:spcPct val="100000"/>
                </a:lnSpc>
              </a:pPr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Manual/System Name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76F3DC12-7B84-4869-BBE7-8DA9CBF1E0B2}" type="slidenum"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6</a:t>
            </a:fld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381000" y="1160463"/>
            <a:ext cx="910907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](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</a:t>
            </a:r>
          </a:p>
        </p:txBody>
      </p:sp>
      <p:sp>
        <p:nvSpPr>
          <p:cNvPr id="7177" name="Rectangle 11"/>
          <p:cNvSpPr>
            <a:spLocks noChangeArrowheads="1"/>
          </p:cNvSpPr>
          <p:nvPr/>
        </p:nvSpPr>
        <p:spPr bwMode="auto">
          <a:xfrm>
            <a:off x="6577485" y="3434200"/>
            <a:ext cx="20447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데이터베이스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</a:t>
            </a:r>
          </a:p>
          <a:p>
            <a:pPr algn="l"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(Database/System)</a:t>
            </a:r>
          </a:p>
        </p:txBody>
      </p:sp>
      <p:sp>
        <p:nvSpPr>
          <p:cNvPr id="7186" name="Rectangle 20"/>
          <p:cNvSpPr>
            <a:spLocks noChangeArrowheads="1"/>
          </p:cNvSpPr>
          <p:nvPr/>
        </p:nvSpPr>
        <p:spPr bwMode="auto">
          <a:xfrm>
            <a:off x="831417" y="1792300"/>
            <a:ext cx="1703388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>
              <a:spcBef>
                <a:spcPts val="6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판단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분기 활동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spcBef>
                <a:spcPts val="6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(Decision Activity Name)</a:t>
            </a:r>
            <a:endParaRPr kumimoji="0"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87" name="Rectangle 21"/>
          <p:cNvSpPr>
            <a:spLocks noChangeArrowheads="1"/>
          </p:cNvSpPr>
          <p:nvPr/>
        </p:nvSpPr>
        <p:spPr bwMode="auto">
          <a:xfrm>
            <a:off x="3679596" y="1792300"/>
            <a:ext cx="1701107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정보 </a:t>
            </a: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Source</a:t>
            </a:r>
          </a:p>
          <a:p>
            <a:pPr algn="l"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(Data/Information Source)</a:t>
            </a:r>
          </a:p>
        </p:txBody>
      </p:sp>
      <p:sp>
        <p:nvSpPr>
          <p:cNvPr id="7188" name="Rectangle 22"/>
          <p:cNvSpPr>
            <a:spLocks noChangeArrowheads="1"/>
          </p:cNvSpPr>
          <p:nvPr/>
        </p:nvSpPr>
        <p:spPr bwMode="auto">
          <a:xfrm>
            <a:off x="6577485" y="1792300"/>
            <a:ext cx="86433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6) </a:t>
            </a: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연결자</a:t>
            </a:r>
            <a:endParaRPr kumimoji="0"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(Connector)</a:t>
            </a:r>
          </a:p>
        </p:txBody>
      </p:sp>
      <p:sp>
        <p:nvSpPr>
          <p:cNvPr id="7189" name="Rectangle 23"/>
          <p:cNvSpPr>
            <a:spLocks noChangeArrowheads="1"/>
          </p:cNvSpPr>
          <p:nvPr/>
        </p:nvSpPr>
        <p:spPr bwMode="auto">
          <a:xfrm>
            <a:off x="831417" y="3434200"/>
            <a:ext cx="120577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연결선</a:t>
            </a:r>
          </a:p>
          <a:p>
            <a:pPr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(Connection Line)</a:t>
            </a:r>
          </a:p>
        </p:txBody>
      </p:sp>
      <p:sp>
        <p:nvSpPr>
          <p:cNvPr id="7190" name="Rectangle 24"/>
          <p:cNvSpPr>
            <a:spLocks noChangeArrowheads="1"/>
          </p:cNvSpPr>
          <p:nvPr/>
        </p:nvSpPr>
        <p:spPr bwMode="auto">
          <a:xfrm>
            <a:off x="3679596" y="3434200"/>
            <a:ext cx="1170512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latinLnBrk="0">
              <a:spcBef>
                <a:spcPct val="50000"/>
              </a:spcBef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8) 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리포트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산출물</a:t>
            </a:r>
          </a:p>
          <a:p>
            <a:pPr algn="l" latinLnBrk="0"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(Report/Output)</a:t>
            </a:r>
          </a:p>
        </p:txBody>
      </p:sp>
      <p:sp>
        <p:nvSpPr>
          <p:cNvPr id="7192" name="Rectangle 27"/>
          <p:cNvSpPr>
            <a:spLocks noChangeArrowheads="1"/>
          </p:cNvSpPr>
          <p:nvPr/>
        </p:nvSpPr>
        <p:spPr bwMode="auto">
          <a:xfrm>
            <a:off x="750888" y="5173663"/>
            <a:ext cx="546335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l" eaLnBrk="1" hangingPunct="1">
              <a:lnSpc>
                <a:spcPct val="11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⑤ Activity(M)</a:t>
            </a:r>
          </a:p>
          <a:p>
            <a:pPr algn="l" eaLnBrk="1" hangingPunct="1">
              <a:lnSpc>
                <a:spcPct val="110000"/>
              </a:lnSpc>
            </a:pP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Process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별 하위 단계의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Activity ID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설명을 입력하되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 주체와 시스템을 기재한다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/>
            <a:endParaRPr lang="ko-KR" altLang="en-US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/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5" name="AutoShape 48"/>
          <p:cNvSpPr>
            <a:spLocks noChangeArrowheads="1"/>
          </p:cNvSpPr>
          <p:nvPr/>
        </p:nvSpPr>
        <p:spPr bwMode="auto">
          <a:xfrm>
            <a:off x="831417" y="2339426"/>
            <a:ext cx="1473436" cy="576262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Decision </a:t>
            </a:r>
          </a:p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Activity Name</a:t>
            </a:r>
          </a:p>
        </p:txBody>
      </p:sp>
      <p:sp>
        <p:nvSpPr>
          <p:cNvPr id="26" name="AutoShape 64"/>
          <p:cNvSpPr>
            <a:spLocks noChangeArrowheads="1"/>
          </p:cNvSpPr>
          <p:nvPr/>
        </p:nvSpPr>
        <p:spPr bwMode="auto">
          <a:xfrm>
            <a:off x="3981734" y="2339426"/>
            <a:ext cx="1448032" cy="608012"/>
          </a:xfrm>
          <a:prstGeom prst="flowChartOnlineStorage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Data or </a:t>
            </a:r>
            <a:r>
              <a:rPr kumimoji="0"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Infor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</a:p>
          <a:p>
            <a:pPr eaLnBrk="0" latinLnBrk="0" hangingPunct="0">
              <a:lnSpc>
                <a:spcPct val="100000"/>
              </a:lnSpc>
            </a:pPr>
            <a:r>
              <a:rPr kumimoji="0" lang="en-US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mation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Source</a:t>
            </a:r>
          </a:p>
        </p:txBody>
      </p:sp>
      <p:sp>
        <p:nvSpPr>
          <p:cNvPr id="27" name="AutoShape 52"/>
          <p:cNvSpPr>
            <a:spLocks noChangeArrowheads="1"/>
          </p:cNvSpPr>
          <p:nvPr/>
        </p:nvSpPr>
        <p:spPr bwMode="auto">
          <a:xfrm>
            <a:off x="6879623" y="2339426"/>
            <a:ext cx="381061" cy="381000"/>
          </a:xfrm>
          <a:prstGeom prst="flowChartConnector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50000"/>
              </a:spcBef>
            </a:pP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</p:txBody>
      </p:sp>
      <p:cxnSp>
        <p:nvCxnSpPr>
          <p:cNvPr id="28" name="AutoShape 73"/>
          <p:cNvCxnSpPr>
            <a:cxnSpLocks noChangeShapeType="1"/>
          </p:cNvCxnSpPr>
          <p:nvPr/>
        </p:nvCxnSpPr>
        <p:spPr bwMode="auto">
          <a:xfrm flipV="1">
            <a:off x="831417" y="4046388"/>
            <a:ext cx="865326" cy="287338"/>
          </a:xfrm>
          <a:prstGeom prst="bentConnector3">
            <a:avLst>
              <a:gd name="adj1" fmla="val 49907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30" name="AutoShape 65"/>
          <p:cNvSpPr>
            <a:spLocks noChangeArrowheads="1"/>
          </p:cNvSpPr>
          <p:nvPr/>
        </p:nvSpPr>
        <p:spPr bwMode="auto">
          <a:xfrm>
            <a:off x="3981734" y="4046388"/>
            <a:ext cx="1143183" cy="762000"/>
          </a:xfrm>
          <a:prstGeom prst="flowChartDocumen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50000"/>
              </a:spcBef>
            </a:pPr>
            <a:r>
              <a:rPr kumimoji="0"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Report Name</a:t>
            </a:r>
          </a:p>
        </p:txBody>
      </p:sp>
      <p:sp>
        <p:nvSpPr>
          <p:cNvPr id="31" name="AutoShape 66"/>
          <p:cNvSpPr>
            <a:spLocks noChangeArrowheads="1"/>
          </p:cNvSpPr>
          <p:nvPr/>
        </p:nvSpPr>
        <p:spPr bwMode="auto">
          <a:xfrm>
            <a:off x="6879623" y="4046388"/>
            <a:ext cx="1143183" cy="762000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Database or</a:t>
            </a:r>
          </a:p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en-US" altLang="ko-KR" sz="1000" dirty="0">
                <a:latin typeface="맑은 고딕" pitchFamily="50" charset="-127"/>
                <a:ea typeface="맑은 고딕" pitchFamily="50" charset="-127"/>
              </a:rPr>
              <a:t>System Name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fld id="{A48F661F-6702-4C69-BC1D-99B18C709D8A}" type="slidenum"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7</a:t>
            </a:fld>
            <a:r>
              <a:rPr lang="en-US" altLang="ko-KR" sz="1000" i="0">
                <a:latin typeface="맑은 고딕" panose="020B0503020000020004" pitchFamily="50" charset="-127"/>
                <a:ea typeface="맑은 고딕" panose="020B0503020000020004" pitchFamily="50" charset="-127"/>
              </a:rPr>
              <a:t> -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381000" y="1160463"/>
            <a:ext cx="9109075" cy="3034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27305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algn="ctr" latinLnBrk="1"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작성지침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](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계속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입력물</a:t>
            </a:r>
            <a:endParaRPr lang="ko-KR" altLang="en-US" sz="16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회의록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Product Backlog</a:t>
            </a:r>
          </a:p>
          <a:p>
            <a:pPr lvl="1" algn="l" eaLnBrk="1" hangingPunct="1">
              <a:lnSpc>
                <a:spcPct val="140000"/>
              </a:lnSpc>
            </a:pPr>
            <a:endParaRPr lang="ko-KR" altLang="en-US" sz="10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40000"/>
              </a:lnSpc>
            </a:pPr>
            <a:endParaRPr lang="ko-KR" altLang="en-US" sz="1800" b="1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70000"/>
              </a:lnSpc>
            </a:pP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ko-KR" altLang="en-US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관련 도구 </a:t>
            </a: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인터뷰 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MS Visio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endParaRPr lang="en-US" altLang="ko-KR" sz="1000" i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eaLnBrk="1" hangingPunct="1">
              <a:lnSpc>
                <a:spcPct val="140000"/>
              </a:lnSpc>
            </a:pPr>
            <a:r>
              <a:rPr lang="en-US" altLang="ko-KR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●</a:t>
            </a:r>
            <a:r>
              <a:rPr lang="en-US" altLang="ko-KR" sz="16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지침 및 고려사항</a:t>
            </a:r>
          </a:p>
          <a:p>
            <a:pPr lvl="1" algn="l" eaLnBrk="1" hangingPunct="1">
              <a:lnSpc>
                <a:spcPct val="140000"/>
              </a:lnSpc>
              <a:buFontTx/>
              <a:buChar char="•"/>
            </a:pP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현행 업무 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Flow</a:t>
            </a:r>
            <a:r>
              <a:rPr lang="ko-KR" altLang="en-US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대한 문서가 있으면 현행 업무 문서 양식으로 작성된 내용을 삽입하여 처리할 수 있다</a:t>
            </a:r>
            <a:r>
              <a:rPr lang="en-US" altLang="ko-KR" sz="1000" i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559868"/>
              </p:ext>
            </p:extLst>
          </p:nvPr>
        </p:nvGraphicFramePr>
        <p:xfrm>
          <a:off x="269510" y="1609725"/>
          <a:ext cx="9360000" cy="4751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0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7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업무 개요 및 선결 요건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업무처리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83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&lt;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업무개요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&gt;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 - One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상품 리스트를 검색</a:t>
                      </a:r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 -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선물하기</a:t>
                      </a: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구매하기 기능 구현</a:t>
                      </a:r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&lt;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선결요건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&gt;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CJ PG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전문 인터페이스 정보 제공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&lt; </a:t>
                      </a: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업무처리 규칙 </a:t>
                      </a:r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</a:p>
                    <a:p>
                      <a:pPr lvl="0" algn="l"/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 - </a:t>
                      </a: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선물하기 대상자 </a:t>
                      </a:r>
                      <a:r>
                        <a:rPr lang="ko-KR" altLang="en-US" sz="1000" b="0" dirty="0" err="1">
                          <a:latin typeface="맑은 고딕" pitchFamily="50" charset="-127"/>
                          <a:ea typeface="맑은 고딕" pitchFamily="50" charset="-127"/>
                        </a:rPr>
                        <a:t>선택시</a:t>
                      </a: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핸드폰번호 유효성 체크</a:t>
                      </a:r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 -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상품 상세 정보 </a:t>
                      </a:r>
                      <a:r>
                        <a:rPr lang="ko-KR" altLang="en-US" sz="1000" dirty="0" err="1">
                          <a:latin typeface="맑은 고딕" pitchFamily="50" charset="-127"/>
                          <a:ea typeface="맑은 고딕" pitchFamily="50" charset="-127"/>
                        </a:rPr>
                        <a:t>조회시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 유효기간</a:t>
                      </a: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latin typeface="맑은 고딕" pitchFamily="50" charset="-127"/>
                          <a:ea typeface="맑은 고딕" pitchFamily="50" charset="-127"/>
                        </a:rPr>
                        <a:t>포인트적립율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 필수 조회</a:t>
                      </a:r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r>
                        <a:rPr lang="en-US" altLang="ko-KR" sz="1000" baseline="0" dirty="0">
                          <a:latin typeface="맑은 고딕" pitchFamily="50" charset="-127"/>
                          <a:ea typeface="맑은 고딕" pitchFamily="50" charset="-127"/>
                        </a:rPr>
                        <a:t> - </a:t>
                      </a:r>
                      <a:r>
                        <a:rPr lang="ko-KR" altLang="en-US" sz="1000" baseline="0" dirty="0">
                          <a:latin typeface="맑은 고딕" pitchFamily="50" charset="-127"/>
                          <a:ea typeface="맑은 고딕" pitchFamily="50" charset="-127"/>
                        </a:rPr>
                        <a:t>결제화면에서 서비스 약관 화면 필수 입력</a:t>
                      </a:r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&lt;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인터페이스 </a:t>
                      </a: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&gt;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시스템 인터페이스 정의서 </a:t>
                      </a:r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IF-010-001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   : IF_010_001(BSR-200) </a:t>
                      </a: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쇼핑 </a:t>
                      </a:r>
                      <a:r>
                        <a:rPr lang="ko-KR" altLang="en-US" sz="1000" b="0" dirty="0" err="1">
                          <a:latin typeface="맑은 고딕" pitchFamily="50" charset="-127"/>
                          <a:ea typeface="맑은 고딕" pitchFamily="50" charset="-127"/>
                        </a:rPr>
                        <a:t>쿠투</a:t>
                      </a: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 쿠폰목록 조회</a:t>
                      </a:r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&lt;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참조 문서 </a:t>
                      </a: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&gt;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1000" b="0" dirty="0">
                          <a:latin typeface="맑은 고딕" pitchFamily="50" charset="-127"/>
                          <a:ea typeface="맑은 고딕" pitchFamily="50" charset="-127"/>
                        </a:rPr>
                        <a:t>요구사항 정의서</a:t>
                      </a:r>
                      <a:endParaRPr lang="en-US" altLang="ko-KR" sz="1000" b="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en-US" altLang="ko-KR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vl="0" algn="l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7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As-Is 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To-Be 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개선점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5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N/A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기프티콘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기능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050133"/>
              </p:ext>
            </p:extLst>
          </p:nvPr>
        </p:nvGraphicFramePr>
        <p:xfrm>
          <a:off x="269510" y="949875"/>
          <a:ext cx="9360000" cy="623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4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2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9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PID.4.1.1.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ONE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Path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ONE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&gt; ONE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 Description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맑은 고딕" pitchFamily="50" charset="-127"/>
                          <a:ea typeface="맑은 고딕" pitchFamily="50" charset="-127"/>
                        </a:rPr>
                        <a:t>One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  <a:r>
                        <a:rPr lang="en-US" altLang="ko-KR" sz="1000" baseline="0" dirty="0"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맑은 고딕" pitchFamily="50" charset="-127"/>
                          <a:ea typeface="맑은 고딕" pitchFamily="50" charset="-127"/>
                        </a:rPr>
                        <a:t>상품 리스트를 선택하여 선물하거나 구매한다</a:t>
                      </a:r>
                      <a:endParaRPr kumimoji="0" lang="ko-KR" altLang="en-US" sz="1000" b="1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9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ko-KR" altLang="en-US" sz="12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 bwMode="auto">
          <a:xfrm rot="20955666">
            <a:off x="3190875" y="3038475"/>
            <a:ext cx="3486150" cy="62865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  <a:endParaRPr kumimoji="1" lang="ko-KR" alt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 bwMode="auto">
          <a:xfrm>
            <a:off x="3096157" y="1564482"/>
            <a:ext cx="2856968" cy="157162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PID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Product Backlog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Level 1,2,3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  <a:endParaRPr kumimoji="1" lang="ko-KR" altLang="en-US" sz="10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꺾인 연결선 6"/>
          <p:cNvCxnSpPr>
            <a:cxnSpLocks/>
            <a:endCxn id="5" idx="1"/>
          </p:cNvCxnSpPr>
          <p:nvPr/>
        </p:nvCxnSpPr>
        <p:spPr bwMode="auto">
          <a:xfrm>
            <a:off x="2047461" y="1219200"/>
            <a:ext cx="1048696" cy="423863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2389284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1" name="Rectangle 33"/>
          <p:cNvSpPr>
            <a:spLocks noChangeArrowheads="1"/>
          </p:cNvSpPr>
          <p:nvPr/>
        </p:nvSpPr>
        <p:spPr bwMode="auto">
          <a:xfrm>
            <a:off x="2378456" y="115888"/>
            <a:ext cx="3393032" cy="4175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ko-KR" altLang="en-US" sz="150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94" name="표 2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806993"/>
              </p:ext>
            </p:extLst>
          </p:nvPr>
        </p:nvGraphicFramePr>
        <p:xfrm>
          <a:off x="273057" y="1309037"/>
          <a:ext cx="9355415" cy="5015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0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4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4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선행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후행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80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>
                        <a:lnSpc>
                          <a:spcPct val="130000"/>
                        </a:lnSpc>
                        <a:buFont typeface="Arial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lvl="0" indent="-177800" algn="l">
                        <a:buFontTx/>
                        <a:buChar char="•"/>
                      </a:pP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7800" lvl="0" indent="-177800" algn="l">
                        <a:buFontTx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6" name="표 2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1705"/>
              </p:ext>
            </p:extLst>
          </p:nvPr>
        </p:nvGraphicFramePr>
        <p:xfrm>
          <a:off x="269510" y="947579"/>
          <a:ext cx="9360000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8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5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Process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PID.4.1.1.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en-US" altLang="ko-KR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ONE</a:t>
                      </a:r>
                      <a:r>
                        <a:rPr kumimoji="0" lang="ko-KR" altLang="en-US" sz="1000" b="1" kern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Path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ONE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 &gt; ONE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itchFamily="50" charset="-127"/>
                          <a:ea typeface="맑은 고딕" pitchFamily="50" charset="-127"/>
                        </a:rPr>
                        <a:t>2017.04.13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4" name="그룹 23"/>
          <p:cNvGrpSpPr/>
          <p:nvPr/>
        </p:nvGrpSpPr>
        <p:grpSpPr>
          <a:xfrm>
            <a:off x="2036862" y="1757411"/>
            <a:ext cx="1092437" cy="888701"/>
            <a:chOff x="2360712" y="1976326"/>
            <a:chExt cx="1092437" cy="888701"/>
          </a:xfrm>
        </p:grpSpPr>
        <p:sp>
          <p:nvSpPr>
            <p:cNvPr id="231" name="Rectangle 586"/>
            <p:cNvSpPr>
              <a:spLocks noChangeArrowheads="1"/>
            </p:cNvSpPr>
            <p:nvPr/>
          </p:nvSpPr>
          <p:spPr bwMode="auto">
            <a:xfrm>
              <a:off x="2360712" y="2157003"/>
              <a:ext cx="1092437" cy="52215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PID.4.1.1.1</a:t>
              </a:r>
            </a:p>
            <a:p>
              <a:pPr lvl="0" eaLnBrk="0" hangingPunct="0"/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ONE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콘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리스트</a:t>
              </a:r>
            </a:p>
          </p:txBody>
        </p:sp>
        <p:sp>
          <p:nvSpPr>
            <p:cNvPr id="232" name="Rectangle 587"/>
            <p:cNvSpPr>
              <a:spLocks noChangeArrowheads="1"/>
            </p:cNvSpPr>
            <p:nvPr/>
          </p:nvSpPr>
          <p:spPr bwMode="auto">
            <a:xfrm>
              <a:off x="236071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lnSpc>
                  <a:spcPct val="100000"/>
                </a:lnSpc>
                <a:spcAft>
                  <a:spcPct val="0"/>
                </a:spcAft>
                <a:buSzTx/>
                <a:buFont typeface="Wingdings" pitchFamily="2" charset="2"/>
                <a:buNone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233" name="Rectangle 588"/>
            <p:cNvSpPr>
              <a:spLocks noChangeArrowheads="1"/>
            </p:cNvSpPr>
            <p:nvPr/>
          </p:nvSpPr>
          <p:spPr bwMode="auto">
            <a:xfrm>
              <a:off x="236071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8300458" y="5168054"/>
            <a:ext cx="1206000" cy="625787"/>
            <a:chOff x="8318546" y="4198461"/>
            <a:chExt cx="1206000" cy="475561"/>
          </a:xfrm>
        </p:grpSpPr>
        <p:sp>
          <p:nvSpPr>
            <p:cNvPr id="78" name="Rectangle 47"/>
            <p:cNvSpPr>
              <a:spLocks noChangeArrowheads="1"/>
            </p:cNvSpPr>
            <p:nvPr/>
          </p:nvSpPr>
          <p:spPr bwMode="auto">
            <a:xfrm>
              <a:off x="8318546" y="4350022"/>
              <a:ext cx="1206000" cy="324000"/>
            </a:xfrm>
            <a:prstGeom prst="rect">
              <a:avLst/>
            </a:prstGeom>
            <a:noFill/>
            <a:ln w="12700" algn="ctr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000" kern="0" noProof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SMS, MAIL </a:t>
              </a:r>
              <a:r>
                <a:rPr kumimoji="0" lang="ko-KR" altLang="en-US" sz="1000" kern="0" noProof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전송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9" name="Rectangle 45"/>
            <p:cNvSpPr>
              <a:spLocks noChangeArrowheads="1"/>
            </p:cNvSpPr>
            <p:nvPr/>
          </p:nvSpPr>
          <p:spPr bwMode="gray">
            <a:xfrm>
              <a:off x="8318546" y="4198461"/>
              <a:ext cx="1206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PID.8.1.1</a:t>
              </a:r>
            </a:p>
          </p:txBody>
        </p:sp>
      </p:grpSp>
      <p:cxnSp>
        <p:nvCxnSpPr>
          <p:cNvPr id="95" name="꺾인 연결선 34"/>
          <p:cNvCxnSpPr>
            <a:cxnSpLocks noChangeShapeType="1"/>
            <a:stCxn id="81" idx="3"/>
            <a:endCxn id="231" idx="1"/>
          </p:cNvCxnSpPr>
          <p:nvPr/>
        </p:nvCxnSpPr>
        <p:spPr bwMode="auto">
          <a:xfrm>
            <a:off x="1557831" y="2196705"/>
            <a:ext cx="479031" cy="2462"/>
          </a:xfrm>
          <a:prstGeom prst="straightConnector1">
            <a:avLst/>
          </a:prstGeom>
          <a:noFill/>
          <a:ln w="9525" algn="ctr">
            <a:solidFill>
              <a:srgbClr val="7F7F7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0" name="그룹 79"/>
          <p:cNvGrpSpPr/>
          <p:nvPr/>
        </p:nvGrpSpPr>
        <p:grpSpPr>
          <a:xfrm>
            <a:off x="351831" y="1784093"/>
            <a:ext cx="1206000" cy="625786"/>
            <a:chOff x="8318546" y="4198462"/>
            <a:chExt cx="1206000" cy="475560"/>
          </a:xfrm>
        </p:grpSpPr>
        <p:sp>
          <p:nvSpPr>
            <p:cNvPr id="81" name="Rectangle 47"/>
            <p:cNvSpPr>
              <a:spLocks noChangeArrowheads="1"/>
            </p:cNvSpPr>
            <p:nvPr/>
          </p:nvSpPr>
          <p:spPr bwMode="auto">
            <a:xfrm>
              <a:off x="8318546" y="4350022"/>
              <a:ext cx="1206000" cy="324000"/>
            </a:xfrm>
            <a:prstGeom prst="rect">
              <a:avLst/>
            </a:prstGeom>
            <a:noFill/>
            <a:ln w="12700" algn="ctr">
              <a:solidFill>
                <a:sysClr val="windowText" lastClr="000000">
                  <a:lumMod val="50000"/>
                  <a:lumOff val="50000"/>
                </a:sys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i="0" kern="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메인 화면</a:t>
              </a: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2" name="Rectangle 45"/>
            <p:cNvSpPr>
              <a:spLocks noChangeArrowheads="1"/>
            </p:cNvSpPr>
            <p:nvPr/>
          </p:nvSpPr>
          <p:spPr bwMode="gray">
            <a:xfrm>
              <a:off x="8318546" y="4198462"/>
              <a:ext cx="1206000" cy="144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PID.1.1.1</a:t>
              </a: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2036861" y="2785306"/>
            <a:ext cx="1092437" cy="888701"/>
            <a:chOff x="2360712" y="1976326"/>
            <a:chExt cx="1092437" cy="888701"/>
          </a:xfrm>
        </p:grpSpPr>
        <p:sp>
          <p:nvSpPr>
            <p:cNvPr id="30" name="Rectangle 586"/>
            <p:cNvSpPr>
              <a:spLocks noChangeArrowheads="1"/>
            </p:cNvSpPr>
            <p:nvPr/>
          </p:nvSpPr>
          <p:spPr bwMode="auto">
            <a:xfrm>
              <a:off x="2360712" y="2157003"/>
              <a:ext cx="1092437" cy="522158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PID.4.1.2.1</a:t>
              </a:r>
            </a:p>
            <a:p>
              <a:pPr lvl="0" eaLnBrk="0" hangingPunct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상세조회</a:t>
              </a:r>
            </a:p>
          </p:txBody>
        </p:sp>
        <p:sp>
          <p:nvSpPr>
            <p:cNvPr id="31" name="Rectangle 587"/>
            <p:cNvSpPr>
              <a:spLocks noChangeArrowheads="1"/>
            </p:cNvSpPr>
            <p:nvPr/>
          </p:nvSpPr>
          <p:spPr bwMode="auto">
            <a:xfrm>
              <a:off x="236071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lnSpc>
                  <a:spcPct val="100000"/>
                </a:lnSpc>
                <a:spcAft>
                  <a:spcPct val="0"/>
                </a:spcAft>
                <a:buSzTx/>
                <a:buFont typeface="Wingdings" pitchFamily="2" charset="2"/>
                <a:buNone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32" name="Rectangle 588"/>
            <p:cNvSpPr>
              <a:spLocks noChangeArrowheads="1"/>
            </p:cNvSpPr>
            <p:nvPr/>
          </p:nvSpPr>
          <p:spPr bwMode="auto">
            <a:xfrm>
              <a:off x="236071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cxnSp>
        <p:nvCxnSpPr>
          <p:cNvPr id="33" name="꺾인 연결선 32"/>
          <p:cNvCxnSpPr>
            <a:stCxn id="233" idx="2"/>
            <a:endCxn id="31" idx="0"/>
          </p:cNvCxnSpPr>
          <p:nvPr/>
        </p:nvCxnSpPr>
        <p:spPr bwMode="auto">
          <a:xfrm rot="5400000">
            <a:off x="2513484" y="2715709"/>
            <a:ext cx="139194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AutoShape 48"/>
          <p:cNvSpPr>
            <a:spLocks noChangeArrowheads="1"/>
          </p:cNvSpPr>
          <p:nvPr/>
        </p:nvSpPr>
        <p:spPr bwMode="auto">
          <a:xfrm>
            <a:off x="3411755" y="2553967"/>
            <a:ext cx="1473436" cy="576262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eaLnBrk="0" latinLnBrk="0" hangingPunct="0">
              <a:lnSpc>
                <a:spcPct val="100000"/>
              </a:lnSpc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선물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 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cxnSp>
        <p:nvCxnSpPr>
          <p:cNvPr id="37" name="꺾인 연결선 36"/>
          <p:cNvCxnSpPr>
            <a:stCxn id="30" idx="3"/>
            <a:endCxn id="36" idx="1"/>
          </p:cNvCxnSpPr>
          <p:nvPr/>
        </p:nvCxnSpPr>
        <p:spPr bwMode="auto">
          <a:xfrm flipV="1">
            <a:off x="3129298" y="2842098"/>
            <a:ext cx="282457" cy="38496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9" name="그룹 38"/>
          <p:cNvGrpSpPr/>
          <p:nvPr/>
        </p:nvGrpSpPr>
        <p:grpSpPr>
          <a:xfrm>
            <a:off x="5514796" y="2109616"/>
            <a:ext cx="1092437" cy="888701"/>
            <a:chOff x="4488672" y="1976326"/>
            <a:chExt cx="1092437" cy="888701"/>
          </a:xfrm>
        </p:grpSpPr>
        <p:sp>
          <p:nvSpPr>
            <p:cNvPr id="40" name="Rectangle 586"/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PID.4.2.1.1.</a:t>
              </a:r>
            </a:p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선물대상자 입력</a:t>
              </a:r>
            </a:p>
          </p:txBody>
        </p:sp>
        <p:sp>
          <p:nvSpPr>
            <p:cNvPr id="41" name="Rectangle 587"/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42" name="Rectangle 588"/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sp>
        <p:nvSpPr>
          <p:cNvPr id="43" name="Text Box 164"/>
          <p:cNvSpPr txBox="1">
            <a:spLocks noChangeArrowheads="1"/>
          </p:cNvSpPr>
          <p:nvPr/>
        </p:nvSpPr>
        <p:spPr bwMode="auto">
          <a:xfrm>
            <a:off x="4845766" y="2307746"/>
            <a:ext cx="7930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선물하기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5514796" y="3072847"/>
            <a:ext cx="1092437" cy="888701"/>
            <a:chOff x="4488672" y="1976326"/>
            <a:chExt cx="1092437" cy="888701"/>
          </a:xfrm>
        </p:grpSpPr>
        <p:sp>
          <p:nvSpPr>
            <p:cNvPr id="46" name="Rectangle 586"/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PID.4.3.1.1.</a:t>
              </a:r>
            </a:p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결제하기</a:t>
              </a:r>
            </a:p>
          </p:txBody>
        </p:sp>
        <p:sp>
          <p:nvSpPr>
            <p:cNvPr id="47" name="Rectangle 587"/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48" name="Rectangle 588"/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sp>
        <p:nvSpPr>
          <p:cNvPr id="49" name="Text Box 164"/>
          <p:cNvSpPr txBox="1">
            <a:spLocks noChangeArrowheads="1"/>
          </p:cNvSpPr>
          <p:nvPr/>
        </p:nvSpPr>
        <p:spPr bwMode="auto">
          <a:xfrm>
            <a:off x="4189272" y="3160956"/>
            <a:ext cx="7930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구매하기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꺾인 연결선 49"/>
          <p:cNvCxnSpPr>
            <a:stCxn id="36" idx="2"/>
            <a:endCxn id="46" idx="1"/>
          </p:cNvCxnSpPr>
          <p:nvPr/>
        </p:nvCxnSpPr>
        <p:spPr bwMode="auto">
          <a:xfrm rot="16200000" flipH="1">
            <a:off x="4639487" y="2639214"/>
            <a:ext cx="384295" cy="136632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꺾인 연결선 54"/>
          <p:cNvCxnSpPr>
            <a:stCxn id="36" idx="3"/>
            <a:endCxn id="40" idx="1"/>
          </p:cNvCxnSpPr>
          <p:nvPr/>
        </p:nvCxnSpPr>
        <p:spPr bwMode="auto">
          <a:xfrm flipV="1">
            <a:off x="4885191" y="2551293"/>
            <a:ext cx="629605" cy="29080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84" name="그룹 83"/>
          <p:cNvGrpSpPr/>
          <p:nvPr/>
        </p:nvGrpSpPr>
        <p:grpSpPr>
          <a:xfrm>
            <a:off x="3624003" y="5273937"/>
            <a:ext cx="1092437" cy="888701"/>
            <a:chOff x="4488672" y="1976326"/>
            <a:chExt cx="1092437" cy="888701"/>
          </a:xfrm>
        </p:grpSpPr>
        <p:sp>
          <p:nvSpPr>
            <p:cNvPr id="85" name="Rectangle 586"/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PID.4.3.3.1.</a:t>
              </a:r>
            </a:p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결제실패</a:t>
              </a:r>
            </a:p>
          </p:txBody>
        </p:sp>
        <p:sp>
          <p:nvSpPr>
            <p:cNvPr id="86" name="Rectangle 587"/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87" name="Rectangle 588"/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cxnSp>
        <p:nvCxnSpPr>
          <p:cNvPr id="88" name="꺾인 연결선 87"/>
          <p:cNvCxnSpPr>
            <a:stCxn id="40" idx="3"/>
            <a:endCxn id="46" idx="3"/>
          </p:cNvCxnSpPr>
          <p:nvPr/>
        </p:nvCxnSpPr>
        <p:spPr bwMode="auto">
          <a:xfrm>
            <a:off x="6607233" y="2551293"/>
            <a:ext cx="12700" cy="963231"/>
          </a:xfrm>
          <a:prstGeom prst="bent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1" name="AutoShape 48"/>
          <p:cNvSpPr>
            <a:spLocks noChangeArrowheads="1"/>
          </p:cNvSpPr>
          <p:nvPr/>
        </p:nvSpPr>
        <p:spPr bwMode="auto">
          <a:xfrm>
            <a:off x="3429480" y="4485422"/>
            <a:ext cx="1473436" cy="576262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 anchorCtr="1"/>
          <a:lstStyle/>
          <a:p>
            <a:pPr eaLnBrk="0" latinLnBrk="0" hangingPunct="0">
              <a:lnSpc>
                <a:spcPct val="100000"/>
              </a:lnSpc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결제 </a:t>
            </a:r>
            <a:r>
              <a: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API ?</a:t>
            </a:r>
          </a:p>
        </p:txBody>
      </p:sp>
      <p:cxnSp>
        <p:nvCxnSpPr>
          <p:cNvPr id="92" name="꺾인 연결선 91"/>
          <p:cNvCxnSpPr>
            <a:stCxn id="48" idx="2"/>
            <a:endCxn id="91" idx="0"/>
          </p:cNvCxnSpPr>
          <p:nvPr/>
        </p:nvCxnSpPr>
        <p:spPr bwMode="auto">
          <a:xfrm rot="5400000">
            <a:off x="4851670" y="3276077"/>
            <a:ext cx="523874" cy="189481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99" name="그룹 98"/>
          <p:cNvGrpSpPr/>
          <p:nvPr/>
        </p:nvGrpSpPr>
        <p:grpSpPr>
          <a:xfrm>
            <a:off x="5514794" y="4332986"/>
            <a:ext cx="1092437" cy="888701"/>
            <a:chOff x="4488672" y="1976326"/>
            <a:chExt cx="1092437" cy="888701"/>
          </a:xfrm>
        </p:grpSpPr>
        <p:sp>
          <p:nvSpPr>
            <p:cNvPr id="100" name="Rectangle 586"/>
            <p:cNvSpPr>
              <a:spLocks noChangeArrowheads="1"/>
            </p:cNvSpPr>
            <p:nvPr/>
          </p:nvSpPr>
          <p:spPr bwMode="auto">
            <a:xfrm>
              <a:off x="4488672" y="2157003"/>
              <a:ext cx="1092437" cy="522000"/>
            </a:xfrm>
            <a:prstGeom prst="rect">
              <a:avLst/>
            </a:prstGeom>
            <a:noFill/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PID.4.3.2.1.</a:t>
              </a:r>
            </a:p>
            <a:p>
              <a:pPr lvl="0"/>
              <a:r>
                <a:rPr lang="en-US" altLang="ko-KR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lang="ko-KR" altLang="en-US" sz="1000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결제완료</a:t>
              </a:r>
            </a:p>
          </p:txBody>
        </p:sp>
        <p:sp>
          <p:nvSpPr>
            <p:cNvPr id="101" name="Rectangle 587"/>
            <p:cNvSpPr>
              <a:spLocks noChangeArrowheads="1"/>
            </p:cNvSpPr>
            <p:nvPr/>
          </p:nvSpPr>
          <p:spPr bwMode="auto">
            <a:xfrm>
              <a:off x="4488672" y="197632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B2C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고객</a:t>
              </a:r>
            </a:p>
          </p:txBody>
        </p:sp>
        <p:sp>
          <p:nvSpPr>
            <p:cNvPr id="102" name="Rectangle 588"/>
            <p:cNvSpPr>
              <a:spLocks noChangeArrowheads="1"/>
            </p:cNvSpPr>
            <p:nvPr/>
          </p:nvSpPr>
          <p:spPr bwMode="auto">
            <a:xfrm>
              <a:off x="4488672" y="2672916"/>
              <a:ext cx="1092437" cy="19211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>
                <a:buSzTx/>
              </a:pP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charset="0"/>
                </a:rPr>
                <a:t>Mobile Web/App</a:t>
              </a:r>
              <a:endPara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endParaRPr>
            </a:p>
          </p:txBody>
        </p:sp>
      </p:grpSp>
      <p:cxnSp>
        <p:nvCxnSpPr>
          <p:cNvPr id="103" name="꺾인 연결선 102"/>
          <p:cNvCxnSpPr>
            <a:stCxn id="91" idx="2"/>
            <a:endCxn id="86" idx="0"/>
          </p:cNvCxnSpPr>
          <p:nvPr/>
        </p:nvCxnSpPr>
        <p:spPr bwMode="auto">
          <a:xfrm rot="16200000" flipH="1">
            <a:off x="4062084" y="5165798"/>
            <a:ext cx="212253" cy="402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5" name="꺾인 연결선 104"/>
          <p:cNvCxnSpPr>
            <a:stCxn id="91" idx="3"/>
            <a:endCxn id="100" idx="1"/>
          </p:cNvCxnSpPr>
          <p:nvPr/>
        </p:nvCxnSpPr>
        <p:spPr bwMode="auto">
          <a:xfrm>
            <a:off x="4902916" y="4773553"/>
            <a:ext cx="611878" cy="111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8" name="꺾인 연결선 107"/>
          <p:cNvCxnSpPr>
            <a:stCxn id="85" idx="1"/>
            <a:endCxn id="32" idx="2"/>
          </p:cNvCxnSpPr>
          <p:nvPr/>
        </p:nvCxnSpPr>
        <p:spPr bwMode="auto">
          <a:xfrm rot="10800000">
            <a:off x="2583081" y="3674008"/>
            <a:ext cx="1040923" cy="2041607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3" name="Text Box 164"/>
          <p:cNvSpPr txBox="1">
            <a:spLocks noChangeArrowheads="1"/>
          </p:cNvSpPr>
          <p:nvPr/>
        </p:nvSpPr>
        <p:spPr bwMode="auto">
          <a:xfrm>
            <a:off x="4845587" y="4586101"/>
            <a:ext cx="7930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Success</a:t>
            </a:r>
          </a:p>
        </p:txBody>
      </p:sp>
      <p:sp>
        <p:nvSpPr>
          <p:cNvPr id="114" name="Text Box 164"/>
          <p:cNvSpPr txBox="1">
            <a:spLocks noChangeArrowheads="1"/>
          </p:cNvSpPr>
          <p:nvPr/>
        </p:nvSpPr>
        <p:spPr bwMode="auto">
          <a:xfrm>
            <a:off x="4148473" y="5008511"/>
            <a:ext cx="79303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FAIL</a:t>
            </a:r>
          </a:p>
        </p:txBody>
      </p:sp>
      <p:cxnSp>
        <p:nvCxnSpPr>
          <p:cNvPr id="119" name="꺾인 연결선 118"/>
          <p:cNvCxnSpPr>
            <a:stCxn id="100" idx="3"/>
            <a:endCxn id="79" idx="0"/>
          </p:cNvCxnSpPr>
          <p:nvPr/>
        </p:nvCxnSpPr>
        <p:spPr bwMode="auto">
          <a:xfrm>
            <a:off x="6607231" y="4774663"/>
            <a:ext cx="2296227" cy="393391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5" name="AutoShape 66"/>
          <p:cNvSpPr>
            <a:spLocks noChangeArrowheads="1"/>
          </p:cNvSpPr>
          <p:nvPr/>
        </p:nvSpPr>
        <p:spPr bwMode="auto">
          <a:xfrm>
            <a:off x="6867850" y="3783231"/>
            <a:ext cx="1143183" cy="762000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약관 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주문 정보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6" name="꺾인 연결선 145"/>
          <p:cNvCxnSpPr>
            <a:endCxn id="145" idx="1"/>
          </p:cNvCxnSpPr>
          <p:nvPr/>
        </p:nvCxnSpPr>
        <p:spPr bwMode="auto">
          <a:xfrm>
            <a:off x="6607233" y="3590724"/>
            <a:ext cx="832209" cy="192507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4" name="직사각형 53"/>
          <p:cNvSpPr/>
          <p:nvPr/>
        </p:nvSpPr>
        <p:spPr bwMode="auto">
          <a:xfrm rot="20955666">
            <a:off x="3199744" y="3359683"/>
            <a:ext cx="3486150" cy="628650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Illustrative</a:t>
            </a:r>
            <a:endParaRPr kumimoji="1" lang="ko-KR" alt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AutoShape 66"/>
          <p:cNvSpPr>
            <a:spLocks noChangeArrowheads="1"/>
          </p:cNvSpPr>
          <p:nvPr/>
        </p:nvSpPr>
        <p:spPr bwMode="auto">
          <a:xfrm>
            <a:off x="3573256" y="1733427"/>
            <a:ext cx="1143183" cy="600964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lnSpc>
                <a:spcPct val="100000"/>
              </a:lnSpc>
              <a:spcBef>
                <a:spcPct val="10000"/>
              </a:spcBef>
            </a:pPr>
            <a:r>
              <a:rPr kumimoji="0"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쿠투</a:t>
            </a:r>
            <a:r>
              <a:rPr kumimoji="0"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상품 리스트</a:t>
            </a:r>
            <a:endParaRPr kumimoji="0"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1" name="꺾인 연결선 60"/>
          <p:cNvCxnSpPr>
            <a:stCxn id="231" idx="3"/>
            <a:endCxn id="57" idx="2"/>
          </p:cNvCxnSpPr>
          <p:nvPr/>
        </p:nvCxnSpPr>
        <p:spPr bwMode="auto">
          <a:xfrm flipV="1">
            <a:off x="3129299" y="2033909"/>
            <a:ext cx="443957" cy="165258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2" name="그룹 11"/>
          <p:cNvGrpSpPr/>
          <p:nvPr/>
        </p:nvGrpSpPr>
        <p:grpSpPr>
          <a:xfrm>
            <a:off x="6774782" y="1728264"/>
            <a:ext cx="1329317" cy="458357"/>
            <a:chOff x="6774782" y="1728264"/>
            <a:chExt cx="1329317" cy="458357"/>
          </a:xfrm>
        </p:grpSpPr>
        <p:sp>
          <p:nvSpPr>
            <p:cNvPr id="65" name="Rectangle 45"/>
            <p:cNvSpPr>
              <a:spLocks noChangeArrowheads="1"/>
            </p:cNvSpPr>
            <p:nvPr/>
          </p:nvSpPr>
          <p:spPr bwMode="gray">
            <a:xfrm>
              <a:off x="6774782" y="1728264"/>
              <a:ext cx="1329317" cy="2212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algn="ctr">
              <a:solidFill>
                <a:sysClr val="window" lastClr="FFFFFF">
                  <a:lumMod val="50000"/>
                </a:sysClr>
              </a:solidFill>
              <a:miter lim="800000"/>
              <a:headEnd/>
              <a:tailEnd/>
            </a:ln>
          </p:spPr>
          <p:txBody>
            <a:bodyPr wrap="none" lIns="72000" tIns="72000" rIns="72000" bIns="72000" anchor="ctr"/>
            <a:lstStyle/>
            <a:p>
              <a:pPr>
                <a:spcBef>
                  <a:spcPct val="50000"/>
                </a:spcBef>
              </a:pPr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IF_010_001(BSR-200)</a:t>
              </a:r>
            </a:p>
          </p:txBody>
        </p:sp>
        <p:sp>
          <p:nvSpPr>
            <p:cNvPr id="66" name="Rectangle 50"/>
            <p:cNvSpPr>
              <a:spLocks noChangeArrowheads="1"/>
            </p:cNvSpPr>
            <p:nvPr/>
          </p:nvSpPr>
          <p:spPr bwMode="auto">
            <a:xfrm>
              <a:off x="6774782" y="1953971"/>
              <a:ext cx="1329317" cy="23265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r>
                <a:rPr kumimoji="0"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IF)</a:t>
              </a:r>
              <a:r>
                <a:rPr kumimoji="0"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쇼핑 </a:t>
              </a:r>
              <a:r>
                <a:rPr kumimoji="0" lang="ko-KR" altLang="en-US" sz="10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쿠투</a:t>
              </a:r>
              <a:r>
                <a:rPr kumimoji="0"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쿠폰목록</a:t>
              </a:r>
              <a:endParaRPr kumimoji="0"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75" name="꺾인 연결선 74"/>
          <p:cNvCxnSpPr>
            <a:stCxn id="65" idx="1"/>
            <a:endCxn id="57" idx="4"/>
          </p:cNvCxnSpPr>
          <p:nvPr/>
        </p:nvCxnSpPr>
        <p:spPr bwMode="auto">
          <a:xfrm rot="10800000" flipV="1">
            <a:off x="4716440" y="1838893"/>
            <a:ext cx="2058343" cy="19501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4522861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울릉도L"/>
        <a:ea typeface="HY울릉도L"/>
        <a:cs typeface=""/>
      </a:majorFont>
      <a:minorFont>
        <a:latin typeface="HY울릉도L"/>
        <a:ea typeface="HY울릉도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13086</TotalTime>
  <Words>651</Words>
  <Application>Microsoft Office PowerPoint</Application>
  <PresentationFormat>A4 용지(210x297mm)</PresentationFormat>
  <Paragraphs>242</Paragraphs>
  <Slides>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HY울릉도L</vt:lpstr>
      <vt:lpstr>굴림</vt:lpstr>
      <vt:lpstr>맑은 고딕</vt:lpstr>
      <vt:lpstr>Arial</vt:lpstr>
      <vt:lpstr>Times New Roman</vt:lpstr>
      <vt:lpstr>Verdana</vt:lpstr>
      <vt:lpstr>Wingdings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CJ올리브네트웍스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TO-BE 업무흐름도</dc:title>
  <dc:subject>CJAG-Plan-AG02</dc:subject>
  <dc:creator>품질보증팀</dc:creator>
  <cp:keywords>2020-01-10</cp:keywords>
  <dc:description>CJ올리브네트웍스의 사전승인 없이 본 내용의 전부 또는 일부에 대한 복사, 전재, 배포, 사용을 금합니다.</dc:description>
  <cp:lastModifiedBy>User</cp:lastModifiedBy>
  <cp:revision>623</cp:revision>
  <dcterms:created xsi:type="dcterms:W3CDTF">2003-10-30T11:11:21Z</dcterms:created>
  <dcterms:modified xsi:type="dcterms:W3CDTF">2025-03-24T09:44:55Z</dcterms:modified>
  <cp:category>V1.2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DRClass">
    <vt:lpwstr/>
  </property>
  <property fmtid="{D5CDD505-2E9C-101B-9397-08002B2CF9AE}" pid="3" name="FDRSet">
    <vt:lpwstr/>
  </property>
</Properties>
</file>