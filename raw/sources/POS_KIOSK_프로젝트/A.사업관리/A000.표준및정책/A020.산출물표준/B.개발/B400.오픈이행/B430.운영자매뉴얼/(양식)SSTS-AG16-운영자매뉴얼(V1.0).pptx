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  <p:sldMasterId id="2147483653" r:id="rId2"/>
    <p:sldMasterId id="2147483662" r:id="rId3"/>
  </p:sldMasterIdLst>
  <p:notesMasterIdLst>
    <p:notesMasterId r:id="rId37"/>
  </p:notesMasterIdLst>
  <p:handoutMasterIdLst>
    <p:handoutMasterId r:id="rId38"/>
  </p:handoutMasterIdLst>
  <p:sldIdLst>
    <p:sldId id="1400" r:id="rId4"/>
    <p:sldId id="1401" r:id="rId5"/>
    <p:sldId id="988" r:id="rId6"/>
    <p:sldId id="1403" r:id="rId7"/>
    <p:sldId id="1393" r:id="rId8"/>
    <p:sldId id="1054" r:id="rId9"/>
    <p:sldId id="1361" r:id="rId10"/>
    <p:sldId id="1369" r:id="rId11"/>
    <p:sldId id="1391" r:id="rId12"/>
    <p:sldId id="1371" r:id="rId13"/>
    <p:sldId id="1373" r:id="rId14"/>
    <p:sldId id="1397" r:id="rId15"/>
    <p:sldId id="1395" r:id="rId16"/>
    <p:sldId id="1362" r:id="rId17"/>
    <p:sldId id="1396" r:id="rId18"/>
    <p:sldId id="1370" r:id="rId19"/>
    <p:sldId id="1372" r:id="rId20"/>
    <p:sldId id="1363" r:id="rId21"/>
    <p:sldId id="1374" r:id="rId22"/>
    <p:sldId id="1399" r:id="rId23"/>
    <p:sldId id="1364" r:id="rId24"/>
    <p:sldId id="1379" r:id="rId25"/>
    <p:sldId id="1380" r:id="rId26"/>
    <p:sldId id="1381" r:id="rId27"/>
    <p:sldId id="1398" r:id="rId28"/>
    <p:sldId id="1377" r:id="rId29"/>
    <p:sldId id="1394" r:id="rId30"/>
    <p:sldId id="1366" r:id="rId31"/>
    <p:sldId id="1367" r:id="rId32"/>
    <p:sldId id="1378" r:id="rId33"/>
    <p:sldId id="1385" r:id="rId34"/>
    <p:sldId id="1368" r:id="rId35"/>
    <p:sldId id="1223" r:id="rId36"/>
  </p:sldIdLst>
  <p:sldSz cx="9906000" cy="6858000" type="A4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31">
          <p15:clr>
            <a:srgbClr val="A4A3A4"/>
          </p15:clr>
        </p15:guide>
        <p15:guide id="2" orient="horz" pos="2194">
          <p15:clr>
            <a:srgbClr val="A4A3A4"/>
          </p15:clr>
        </p15:guide>
        <p15:guide id="3" orient="horz" pos="3965">
          <p15:clr>
            <a:srgbClr val="A4A3A4"/>
          </p15:clr>
        </p15:guide>
        <p15:guide id="4" orient="horz" pos="3980">
          <p15:clr>
            <a:srgbClr val="A4A3A4"/>
          </p15:clr>
        </p15:guide>
        <p15:guide id="5" orient="horz" pos="791">
          <p15:clr>
            <a:srgbClr val="A4A3A4"/>
          </p15:clr>
        </p15:guide>
        <p15:guide id="6" orient="horz" pos="2005">
          <p15:clr>
            <a:srgbClr val="A4A3A4"/>
          </p15:clr>
        </p15:guide>
        <p15:guide id="7" pos="178">
          <p15:clr>
            <a:srgbClr val="A4A3A4"/>
          </p15:clr>
        </p15:guide>
        <p15:guide id="8" pos="6075">
          <p15:clr>
            <a:srgbClr val="A4A3A4"/>
          </p15:clr>
        </p15:guide>
        <p15:guide id="9" pos="3135">
          <p15:clr>
            <a:srgbClr val="A4A3A4"/>
          </p15:clr>
        </p15:guide>
        <p15:guide id="10" pos="1502">
          <p15:clr>
            <a:srgbClr val="A4A3A4"/>
          </p15:clr>
        </p15:guide>
        <p15:guide id="11" pos="5262">
          <p15:clr>
            <a:srgbClr val="A4A3A4"/>
          </p15:clr>
        </p15:guide>
        <p15:guide id="12" pos="335">
          <p15:clr>
            <a:srgbClr val="A4A3A4"/>
          </p15:clr>
        </p15:guide>
        <p15:guide id="13" pos="5909">
          <p15:clr>
            <a:srgbClr val="A4A3A4"/>
          </p15:clr>
        </p15:guide>
        <p15:guide id="14" pos="4500">
          <p15:clr>
            <a:srgbClr val="A4A3A4"/>
          </p15:clr>
        </p15:guide>
        <p15:guide id="15" pos="3737">
          <p15:clr>
            <a:srgbClr val="A4A3A4"/>
          </p15:clr>
        </p15:guide>
        <p15:guide id="16" pos="27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85817"/>
    <a:srgbClr val="226424"/>
    <a:srgbClr val="EAEAEA"/>
    <a:srgbClr val="DDDDDD"/>
    <a:srgbClr val="CCFF99"/>
    <a:srgbClr val="66FF66"/>
    <a:srgbClr val="00FF00"/>
    <a:srgbClr val="FFFF66"/>
    <a:srgbClr val="0054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8" autoAdjust="0"/>
    <p:restoredTop sz="99857" autoAdjust="0"/>
  </p:normalViewPr>
  <p:slideViewPr>
    <p:cSldViewPr snapToGrid="0">
      <p:cViewPr varScale="1">
        <p:scale>
          <a:sx n="115" d="100"/>
          <a:sy n="115" d="100"/>
        </p:scale>
        <p:origin x="1771" y="86"/>
      </p:cViewPr>
      <p:guideLst>
        <p:guide orient="horz" pos="831"/>
        <p:guide orient="horz" pos="2194"/>
        <p:guide orient="horz" pos="3965"/>
        <p:guide orient="horz" pos="3980"/>
        <p:guide orient="horz" pos="791"/>
        <p:guide orient="horz" pos="2005"/>
        <p:guide pos="178"/>
        <p:guide pos="6075"/>
        <p:guide pos="3135"/>
        <p:guide pos="1502"/>
        <p:guide pos="5262"/>
        <p:guide pos="335"/>
        <p:guide pos="5909"/>
        <p:guide pos="4500"/>
        <p:guide pos="3737"/>
        <p:guide pos="272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872"/>
    </p:cViewPr>
  </p:sorterViewPr>
  <p:notesViewPr>
    <p:cSldViewPr snapToGrid="0">
      <p:cViewPr varScale="1">
        <p:scale>
          <a:sx n="64" d="100"/>
          <a:sy n="64" d="100"/>
        </p:scale>
        <p:origin x="-3444" y="-96"/>
      </p:cViewPr>
      <p:guideLst>
        <p:guide orient="horz" pos="3108"/>
        <p:guide pos="2122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862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27" tIns="45414" rIns="90827" bIns="45414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5572" y="0"/>
            <a:ext cx="291862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27" tIns="45414" rIns="90827" bIns="45414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C70D5BF-5046-4406-8208-50CEA79E9E8B}" type="datetimeFigureOut">
              <a:rPr lang="ko-KR" altLang="en-US"/>
              <a:pPr>
                <a:defRPr/>
              </a:pPr>
              <a:t>2025-03-24</a:t>
            </a:fld>
            <a:endParaRPr lang="en-US" altLang="ko-KR" dirty="0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71417"/>
            <a:ext cx="291862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27" tIns="45414" rIns="90827" bIns="45414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5572" y="9371417"/>
            <a:ext cx="291862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27" tIns="45414" rIns="90827" bIns="45414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F120A9C-EC7F-4F38-9BE8-9AD217DE2764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51427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0193" cy="493316"/>
          </a:xfrm>
          <a:prstGeom prst="rect">
            <a:avLst/>
          </a:prstGeom>
        </p:spPr>
        <p:txBody>
          <a:bodyPr vert="horz" lIns="90827" tIns="45414" rIns="90827" bIns="45414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000" y="0"/>
            <a:ext cx="2920193" cy="493316"/>
          </a:xfrm>
          <a:prstGeom prst="rect">
            <a:avLst/>
          </a:prstGeom>
        </p:spPr>
        <p:txBody>
          <a:bodyPr vert="horz" lIns="90827" tIns="45414" rIns="90827" bIns="45414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>
                <a:latin typeface="+mn-lt"/>
                <a:ea typeface="+mn-ea"/>
              </a:defRPr>
            </a:lvl1pPr>
          </a:lstStyle>
          <a:p>
            <a:pPr>
              <a:defRPr/>
            </a:pPr>
            <a:fld id="{929F0054-5445-41AD-BDDA-933C939342E8}" type="datetimeFigureOut">
              <a:rPr lang="ko-KR" altLang="en-US"/>
              <a:pPr>
                <a:defRPr/>
              </a:pPr>
              <a:t>2025-03-24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27" tIns="45414" rIns="90827" bIns="45414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891" y="4686499"/>
            <a:ext cx="5387982" cy="4439841"/>
          </a:xfrm>
          <a:prstGeom prst="rect">
            <a:avLst/>
          </a:prstGeom>
        </p:spPr>
        <p:txBody>
          <a:bodyPr vert="horz" lIns="90827" tIns="45414" rIns="90827" bIns="45414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417"/>
            <a:ext cx="2920193" cy="493316"/>
          </a:xfrm>
          <a:prstGeom prst="rect">
            <a:avLst/>
          </a:prstGeom>
        </p:spPr>
        <p:txBody>
          <a:bodyPr vert="horz" lIns="90827" tIns="45414" rIns="90827" bIns="4541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000" y="9371417"/>
            <a:ext cx="2920193" cy="493316"/>
          </a:xfrm>
          <a:prstGeom prst="rect">
            <a:avLst/>
          </a:prstGeom>
        </p:spPr>
        <p:txBody>
          <a:bodyPr vert="horz" lIns="90827" tIns="45414" rIns="90827" bIns="4541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>
                <a:latin typeface="+mn-lt"/>
                <a:ea typeface="+mn-ea"/>
              </a:defRPr>
            </a:lvl1pPr>
          </a:lstStyle>
          <a:p>
            <a:pPr>
              <a:defRPr/>
            </a:pPr>
            <a:fld id="{2E93454D-3B06-4A6F-BA4E-0033A93348DF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66513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4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2291" name="슬라이드 번호 개체 틀 3"/>
          <p:cNvSpPr txBox="1">
            <a:spLocks noGrp="1"/>
          </p:cNvSpPr>
          <p:nvPr/>
        </p:nvSpPr>
        <p:spPr bwMode="auto">
          <a:xfrm>
            <a:off x="3814000" y="9371417"/>
            <a:ext cx="2920193" cy="49331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0827" tIns="45414" rIns="90827" bIns="45414" anchor="b"/>
          <a:lstStyle/>
          <a:p>
            <a:pPr algn="r">
              <a:defRPr/>
            </a:pPr>
            <a:fld id="{0493754F-1995-4B8C-B1BA-8D77266180FA}" type="slidenum">
              <a:rPr kumimoji="0" lang="ko-KR" altLang="en-US" sz="1200">
                <a:latin typeface="+mn-lt"/>
                <a:ea typeface="+mn-ea"/>
              </a:rPr>
              <a:pPr algn="r">
                <a:defRPr/>
              </a:pPr>
              <a:t>2</a:t>
            </a:fld>
            <a:endParaRPr kumimoji="0" lang="en-US" altLang="ko-KR" sz="1200" dirty="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568"/>
          <p:cNvSpPr>
            <a:spLocks noChangeShapeType="1"/>
          </p:cNvSpPr>
          <p:nvPr userDrawn="1"/>
        </p:nvSpPr>
        <p:spPr bwMode="auto">
          <a:xfrm flipV="1">
            <a:off x="0" y="620713"/>
            <a:ext cx="9906000" cy="0"/>
          </a:xfrm>
          <a:prstGeom prst="line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b="0" dirty="0">
              <a:latin typeface="+mn-ea"/>
              <a:ea typeface="+mn-ea"/>
            </a:endParaRPr>
          </a:p>
        </p:txBody>
      </p:sp>
      <p:sp>
        <p:nvSpPr>
          <p:cNvPr id="5" name="Text Box 792"/>
          <p:cNvSpPr txBox="1">
            <a:spLocks noChangeArrowheads="1"/>
          </p:cNvSpPr>
          <p:nvPr userDrawn="1"/>
        </p:nvSpPr>
        <p:spPr bwMode="auto">
          <a:xfrm>
            <a:off x="4806950" y="6642100"/>
            <a:ext cx="290513" cy="16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defRPr/>
            </a:pPr>
            <a:r>
              <a:rPr kumimoji="0" lang="en-US" altLang="ko-KR" sz="1100" b="0" dirty="0">
                <a:solidFill>
                  <a:srgbClr val="666666"/>
                </a:solidFill>
                <a:latin typeface="+mn-ea"/>
                <a:ea typeface="+mn-ea"/>
                <a:cs typeface="Arial" charset="0"/>
              </a:rPr>
              <a:t>-</a:t>
            </a:r>
            <a:fld id="{0205FF05-8CC7-40B3-8C04-A490F9F148D2}" type="slidenum">
              <a:rPr kumimoji="0" lang="en-US" altLang="ko-KR" sz="1100" b="0">
                <a:solidFill>
                  <a:srgbClr val="666666"/>
                </a:solidFill>
                <a:latin typeface="+mn-ea"/>
                <a:ea typeface="+mn-ea"/>
                <a:cs typeface="Arial" charset="0"/>
              </a:rPr>
              <a:pPr algn="ctr">
                <a:defRPr/>
              </a:pPr>
              <a:t>‹#›</a:t>
            </a:fld>
            <a:r>
              <a:rPr kumimoji="0" lang="en-US" altLang="ko-KR" sz="1100" b="0" dirty="0">
                <a:solidFill>
                  <a:srgbClr val="666666"/>
                </a:solidFill>
                <a:latin typeface="+mn-ea"/>
                <a:ea typeface="+mn-ea"/>
                <a:cs typeface="Arial" charset="0"/>
              </a:rPr>
              <a:t>-</a:t>
            </a:r>
          </a:p>
        </p:txBody>
      </p:sp>
      <p:pic>
        <p:nvPicPr>
          <p:cNvPr id="6" name="Picture 2" descr="C:\Users\chn\Documents\03. 회사공유\03. 사업지원실\통합마케팅\infra\CJ올리브네트웍스\CJ계열사-로고_CJ올리브네트웍스(가로)_E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737" y="6449091"/>
            <a:ext cx="1512040" cy="390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Z:\A.사업관리\A000.표준및정책\A010.프로젝트표준서식\신성통상_로고\신성통상_가로형_국문.png">
            <a:extLst>
              <a:ext uri="{FF2B5EF4-FFF2-40B4-BE49-F238E27FC236}">
                <a16:creationId xmlns:a16="http://schemas.microsoft.com/office/drawing/2014/main" id="{90B0BC32-0993-45B1-A268-4F5EC8FF347F}"/>
              </a:ext>
            </a:extLst>
          </p:cNvPr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43" y="6529848"/>
            <a:ext cx="168539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Line 568">
            <a:extLst>
              <a:ext uri="{FF2B5EF4-FFF2-40B4-BE49-F238E27FC236}">
                <a16:creationId xmlns:a16="http://schemas.microsoft.com/office/drawing/2014/main" id="{9961F196-8C24-457B-89A3-C1BA76DBB780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0" y="6421454"/>
            <a:ext cx="9906000" cy="0"/>
          </a:xfrm>
          <a:prstGeom prst="line">
            <a:avLst/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b="0" dirty="0"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 userDrawn="1"/>
        </p:nvSpPr>
        <p:spPr bwMode="auto">
          <a:xfrm>
            <a:off x="0" y="3429001"/>
            <a:ext cx="990600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lIns="0" rIns="0" rtlCol="0" anchor="ctr"/>
          <a:lstStyle/>
          <a:p>
            <a:pPr algn="ctr" fontAlgn="ctr" latinLnBrk="0">
              <a:lnSpc>
                <a:spcPts val="1056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endParaRPr lang="ko-KR" altLang="en-US" sz="1219" b="1" dirty="0">
              <a:solidFill>
                <a:srgbClr val="FFFFFF"/>
              </a:solidFill>
              <a:cs typeface="Arial" pitchFamily="34" charset="0"/>
              <a:sym typeface="Wingdings" pitchFamily="2" charset="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55370" y="1518656"/>
            <a:ext cx="80175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600" b="1" i="0" u="none" strike="noStrike" kern="1200" cap="none" spc="-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신성통상 차세대 </a:t>
            </a:r>
            <a:r>
              <a:rPr kumimoji="1" lang="en-US" altLang="ko-KR" sz="2600" b="1" i="0" u="none" strike="noStrike" kern="1200" cap="none" spc="-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POS </a:t>
            </a:r>
            <a:r>
              <a:rPr kumimoji="1" lang="ko-KR" altLang="en-US" sz="2600" b="1" i="0" u="none" strike="noStrike" kern="1200" cap="none" spc="-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및 키오스크 구축 프로젝트</a:t>
            </a:r>
            <a:endParaRPr kumimoji="1" lang="en-US" altLang="ko-KR" sz="2600" b="1" i="0" u="none" strike="noStrike" kern="1200" cap="none" spc="-8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Arial Unicode MS" panose="020B0604020202020204" pitchFamily="50" charset="-127"/>
            </a:endParaRPr>
          </a:p>
        </p:txBody>
      </p:sp>
      <p:sp>
        <p:nvSpPr>
          <p:cNvPr id="9" name="텍스트 개체 틀 10"/>
          <p:cNvSpPr>
            <a:spLocks noGrp="1"/>
          </p:cNvSpPr>
          <p:nvPr>
            <p:ph type="body" sz="quarter" idx="14" hasCustomPrompt="1"/>
          </p:nvPr>
        </p:nvSpPr>
        <p:spPr>
          <a:xfrm>
            <a:off x="897044" y="2296889"/>
            <a:ext cx="2102274" cy="38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950" b="1">
                <a:solidFill>
                  <a:srgbClr val="4779BD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OO</a:t>
            </a:r>
            <a:r>
              <a:rPr lang="ko-KR" altLang="en-US" dirty="0"/>
              <a:t>보고서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855370" y="2143746"/>
            <a:ext cx="8192001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텍스트 개체 틀 10"/>
          <p:cNvSpPr>
            <a:spLocks noGrp="1"/>
          </p:cNvSpPr>
          <p:nvPr>
            <p:ph type="body" sz="quarter" idx="15" hasCustomPrompt="1"/>
          </p:nvPr>
        </p:nvSpPr>
        <p:spPr>
          <a:xfrm>
            <a:off x="3724127" y="5599118"/>
            <a:ext cx="2454486" cy="2738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38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2025.03.XX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57646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 userDrawn="1"/>
        </p:nvSpPr>
        <p:spPr bwMode="auto">
          <a:xfrm>
            <a:off x="-36660" y="1"/>
            <a:ext cx="4989659" cy="68580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lIns="0" rIns="0" rtlCol="0" anchor="ctr"/>
          <a:lstStyle/>
          <a:p>
            <a:pPr algn="ctr" fontAlgn="ctr" latinLnBrk="0">
              <a:lnSpc>
                <a:spcPts val="1056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endParaRPr lang="ko-KR" altLang="en-US" sz="1219" b="1" dirty="0">
              <a:solidFill>
                <a:srgbClr val="FFFFFF"/>
              </a:solidFill>
              <a:cs typeface="Arial" pitchFamily="34" charset="0"/>
              <a:sym typeface="Wingdings" pitchFamily="2" charset="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55370" y="1518656"/>
            <a:ext cx="409762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600" b="1" i="0" u="none" strike="noStrike" kern="1200" cap="none" spc="-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목차</a:t>
            </a:r>
            <a:endParaRPr kumimoji="1" lang="en-US" altLang="ko-KR" sz="2600" b="1" i="0" u="none" strike="noStrike" kern="1200" cap="none" spc="-8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Arial Unicode MS" panose="020B0604020202020204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855370" y="2143746"/>
            <a:ext cx="8192001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텍스트 개체 틀 10"/>
          <p:cNvSpPr>
            <a:spLocks noGrp="1"/>
          </p:cNvSpPr>
          <p:nvPr>
            <p:ph type="body" sz="quarter" idx="14" hasCustomPrompt="1"/>
          </p:nvPr>
        </p:nvSpPr>
        <p:spPr>
          <a:xfrm>
            <a:off x="855370" y="2250991"/>
            <a:ext cx="4097629" cy="3973702"/>
          </a:xfrm>
          <a:prstGeom prst="rect">
            <a:avLst/>
          </a:prstGeom>
        </p:spPr>
        <p:txBody>
          <a:bodyPr/>
          <a:lstStyle>
            <a:lvl1pPr marL="417909" indent="-417909" eaLnBrk="1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+mj-lt"/>
              <a:buAutoNum type="romanUcPeriod"/>
              <a:defRPr kumimoji="0" lang="ko-KR" altLang="en-US" sz="1625" b="0" kern="1200" baseline="0" dirty="0">
                <a:solidFill>
                  <a:schemeClr val="bg1">
                    <a:lumMod val="50000"/>
                  </a:schemeClr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1pPr>
          </a:lstStyle>
          <a:p>
            <a:pPr marL="514350" indent="-514350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UcPeriod"/>
            </a:pPr>
            <a:r>
              <a:rPr kumimoji="0" lang="ko-KR" altLang="en-US" sz="1625" b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목차 </a:t>
            </a:r>
            <a:r>
              <a:rPr kumimoji="0" lang="en-US" altLang="ko-KR" sz="1625" b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1</a:t>
            </a:r>
          </a:p>
          <a:p>
            <a:pPr marL="514350" indent="-514350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UcPeriod"/>
            </a:pPr>
            <a:r>
              <a:rPr kumimoji="0" lang="ko-KR" altLang="en-US" sz="1625" b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목차 </a:t>
            </a:r>
            <a:r>
              <a:rPr kumimoji="0" lang="en-US" altLang="ko-KR" sz="1625" b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2</a:t>
            </a:r>
            <a:endParaRPr kumimoji="0" lang="en-US" altLang="ko-KR" sz="1625" b="0" dirty="0">
              <a:solidFill>
                <a:schemeClr val="bg1">
                  <a:lumMod val="50000"/>
                </a:schemeClr>
              </a:solidFill>
              <a:latin typeface="CJ ONLYONE NEW 본문 Regular" panose="00000500000000000000" pitchFamily="2" charset="-127"/>
              <a:ea typeface="CJ ONLYONE NEW 본문 Regular" panose="00000500000000000000" pitchFamily="2" charset="-127"/>
            </a:endParaRPr>
          </a:p>
        </p:txBody>
      </p:sp>
      <p:pic>
        <p:nvPicPr>
          <p:cNvPr id="2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70" y="556195"/>
            <a:ext cx="1124650" cy="45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5199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상세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 userDrawn="1"/>
        </p:nvSpPr>
        <p:spPr bwMode="auto">
          <a:xfrm>
            <a:off x="4951370" y="-144"/>
            <a:ext cx="4953000" cy="68580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lIns="0" rIns="0" rtlCol="0" anchor="ctr"/>
          <a:lstStyle/>
          <a:p>
            <a:pPr algn="ctr" fontAlgn="ctr" latinLnBrk="0">
              <a:lnSpc>
                <a:spcPts val="1056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endParaRPr lang="ko-KR" altLang="en-US" sz="1219" b="1" dirty="0">
              <a:solidFill>
                <a:srgbClr val="FFFFFF"/>
              </a:solidFill>
              <a:cs typeface="Arial" pitchFamily="34" charset="0"/>
              <a:sym typeface="Wingdings" pitchFamily="2" charset="2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855370" y="2143746"/>
            <a:ext cx="8192001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70" y="556195"/>
            <a:ext cx="1124650" cy="45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텍스트 개체 틀 10"/>
          <p:cNvSpPr>
            <a:spLocks noGrp="1"/>
          </p:cNvSpPr>
          <p:nvPr>
            <p:ph type="body" sz="quarter" idx="15" hasCustomPrompt="1"/>
          </p:nvPr>
        </p:nvSpPr>
        <p:spPr>
          <a:xfrm>
            <a:off x="855369" y="1579029"/>
            <a:ext cx="5048782" cy="500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kumimoji="1" lang="ko-KR" altLang="en-US" sz="2600" b="1" i="0" u="none" strike="noStrike" kern="1200" cap="none" spc="-81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defRPr>
            </a:lvl1pPr>
          </a:lstStyle>
          <a:p>
            <a:pPr lvl="0"/>
            <a:r>
              <a:rPr lang="ko-KR" altLang="en-US" dirty="0"/>
              <a:t>목차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 hasCustomPrompt="1"/>
          </p:nvPr>
        </p:nvSpPr>
        <p:spPr>
          <a:xfrm>
            <a:off x="1170311" y="2249994"/>
            <a:ext cx="4727266" cy="3422650"/>
          </a:xfrm>
        </p:spPr>
        <p:txBody>
          <a:bodyPr>
            <a:normAutofit/>
          </a:bodyPr>
          <a:lstStyle>
            <a:lvl1pPr marL="417909" indent="-417909">
              <a:buFont typeface="+mj-lt"/>
              <a:buAutoNum type="arabicPeriod"/>
              <a:defRPr sz="1625"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목차 </a:t>
            </a:r>
            <a:r>
              <a:rPr lang="en-US" altLang="ko-KR" dirty="0"/>
              <a:t>1</a:t>
            </a:r>
          </a:p>
          <a:p>
            <a:pPr lvl="0"/>
            <a:r>
              <a:rPr lang="ko-KR" altLang="en-US" dirty="0"/>
              <a:t>목차 </a:t>
            </a:r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2217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 userDrawn="1"/>
        </p:nvSpPr>
        <p:spPr bwMode="auto">
          <a:xfrm>
            <a:off x="0" y="-144"/>
            <a:ext cx="9904370" cy="68580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lIns="0" rIns="0" rtlCol="0" anchor="ctr"/>
          <a:lstStyle/>
          <a:p>
            <a:pPr algn="ctr" fontAlgn="ctr" latinLnBrk="0">
              <a:lnSpc>
                <a:spcPts val="1056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endParaRPr lang="ko-KR" altLang="en-US" sz="1219" b="1" dirty="0">
              <a:solidFill>
                <a:srgbClr val="FFFFFF"/>
              </a:solidFill>
              <a:cs typeface="Arial" pitchFamily="34" charset="0"/>
              <a:sym typeface="Wingdings" pitchFamily="2" charset="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55370" y="1518656"/>
            <a:ext cx="665246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600" b="1" i="0" u="none" strike="noStrike" kern="1200" cap="none" spc="-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감사합니다</a:t>
            </a:r>
            <a:r>
              <a:rPr kumimoji="1" lang="en-US" altLang="ko-KR" sz="2600" b="1" i="0" u="none" strike="noStrike" kern="1200" cap="none" spc="-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.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855370" y="2143746"/>
            <a:ext cx="8192001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70" y="556195"/>
            <a:ext cx="1124650" cy="45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855370" y="2210781"/>
            <a:ext cx="1891590" cy="34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25" b="0" i="0" u="none" strike="noStrike" kern="1200" cap="none" spc="-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Arial Unicode MS" panose="020B0604020202020204" pitchFamily="50" charset="-127"/>
              </a:rPr>
              <a:t>E.O.D</a:t>
            </a:r>
          </a:p>
        </p:txBody>
      </p:sp>
    </p:spTree>
    <p:extLst>
      <p:ext uri="{BB962C8B-B14F-4D97-AF65-F5344CB8AC3E}">
        <p14:creationId xmlns:p14="http://schemas.microsoft.com/office/powerpoint/2010/main" val="3097579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170625" y="551504"/>
            <a:ext cx="9609922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 userDrawn="1"/>
        </p:nvSpPr>
        <p:spPr>
          <a:xfrm>
            <a:off x="0" y="-10801"/>
            <a:ext cx="9906000" cy="66462"/>
          </a:xfrm>
          <a:prstGeom prst="rect">
            <a:avLst/>
          </a:prstGeom>
          <a:gradFill flip="none" rotWithShape="1">
            <a:gsLst>
              <a:gs pos="30000">
                <a:srgbClr val="CB443D"/>
              </a:gs>
              <a:gs pos="50000">
                <a:srgbClr val="F5F5F5"/>
              </a:gs>
              <a:gs pos="70000">
                <a:srgbClr val="4879B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  <p:sp>
        <p:nvSpPr>
          <p:cNvPr id="20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170625" y="98599"/>
            <a:ext cx="5530170" cy="38836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63" spc="-49" baseline="0">
                <a:latin typeface="HY헤드라인M" pitchFamily="18" charset="-127"/>
                <a:ea typeface="HY헤드라인M" pitchFamily="18" charset="-127"/>
              </a:defRPr>
            </a:lvl1pPr>
            <a:lvl2pPr>
              <a:defRPr sz="1138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2pPr>
            <a:lvl3pPr>
              <a:defRPr sz="1138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3pPr>
            <a:lvl4pPr>
              <a:defRPr sz="1138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4pPr>
            <a:lvl5pPr>
              <a:defRPr sz="1138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5pPr>
          </a:lstStyle>
          <a:p>
            <a:pPr lvl="0"/>
            <a:r>
              <a:rPr lang="ko-KR" altLang="en-US" dirty="0"/>
              <a:t>마스터 제목 삽입</a:t>
            </a:r>
          </a:p>
        </p:txBody>
      </p:sp>
      <p:sp>
        <p:nvSpPr>
          <p:cNvPr id="21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286174" y="606299"/>
            <a:ext cx="9344659" cy="55306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244"/>
              </a:spcBef>
              <a:buFontTx/>
              <a:buNone/>
              <a:defRPr sz="1138" spc="-73" baseline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defRPr>
            </a:lvl1pPr>
            <a:lvl2pPr marL="371475" indent="0">
              <a:buFontTx/>
              <a:buNone/>
              <a:defRPr sz="1463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 marL="742950" indent="0">
              <a:buFontTx/>
              <a:buNone/>
              <a:defRPr sz="1463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 marL="1114425" indent="0">
              <a:buFontTx/>
              <a:buNone/>
              <a:defRPr sz="1463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 marL="1485900" indent="0">
              <a:buFontTx/>
              <a:buNone/>
              <a:defRPr sz="1463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en-US" altLang="ko-KR" dirty="0"/>
              <a:t>- </a:t>
            </a:r>
            <a:r>
              <a:rPr lang="ko-KR" altLang="en-US" dirty="0"/>
              <a:t>내용 삽입</a:t>
            </a:r>
            <a:endParaRPr lang="en-US" altLang="ko-KR" dirty="0"/>
          </a:p>
          <a:p>
            <a:pPr lvl="0"/>
            <a:r>
              <a:rPr lang="en-US" altLang="ko-KR" dirty="0"/>
              <a:t>- </a:t>
            </a:r>
            <a:r>
              <a:rPr lang="ko-KR" altLang="en-US" dirty="0"/>
              <a:t>내용 삽입</a:t>
            </a:r>
          </a:p>
        </p:txBody>
      </p:sp>
      <p:sp>
        <p:nvSpPr>
          <p:cNvPr id="23" name="텍스트 개체 틀 17"/>
          <p:cNvSpPr>
            <a:spLocks noGrp="1"/>
          </p:cNvSpPr>
          <p:nvPr>
            <p:ph type="body" sz="quarter" idx="14" hasCustomPrompt="1"/>
          </p:nvPr>
        </p:nvSpPr>
        <p:spPr>
          <a:xfrm>
            <a:off x="5700796" y="302980"/>
            <a:ext cx="4079751" cy="180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1138" spc="-49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ko-KR" altLang="en-US" dirty="0"/>
              <a:t>마스터 제목 삽입</a:t>
            </a:r>
          </a:p>
        </p:txBody>
      </p:sp>
      <p:pic>
        <p:nvPicPr>
          <p:cNvPr id="28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897" y="6498171"/>
            <a:ext cx="720935" cy="291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483841" y="6535516"/>
            <a:ext cx="938319" cy="261380"/>
          </a:xfrm>
        </p:spPr>
        <p:txBody>
          <a:bodyPr/>
          <a:lstStyle>
            <a:lvl1pPr algn="ctr">
              <a:defRPr sz="813">
                <a:latin typeface="CJ ONLYONE NEW 본문 Light" panose="00000300000000000000" pitchFamily="2" charset="-127"/>
                <a:ea typeface="CJ ONLYONE NEW 본문 Light" panose="00000300000000000000" pitchFamily="2" charset="-127"/>
              </a:defRPr>
            </a:lvl1pPr>
          </a:lstStyle>
          <a:p>
            <a:fld id="{3F0E25F8-DD2E-4512-9D1F-10243ABEAA2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1" name="Picture 2" descr="Z:\A.사업관리\A000.표준및정책\A010.프로젝트표준서식\신성통상_로고\신성통상_가로형_국문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49" y="6601340"/>
            <a:ext cx="704034" cy="12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334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배경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 userDrawn="1"/>
        </p:nvSpPr>
        <p:spPr bwMode="auto">
          <a:xfrm>
            <a:off x="286174" y="1215761"/>
            <a:ext cx="9344659" cy="525954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lIns="0" rIns="0" rtlCol="0" anchor="ctr"/>
          <a:lstStyle/>
          <a:p>
            <a:pPr algn="ctr" fontAlgn="ctr" latinLnBrk="0">
              <a:lnSpc>
                <a:spcPts val="1056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endParaRPr lang="ko-KR" altLang="en-US" sz="1219" b="1" dirty="0">
              <a:solidFill>
                <a:srgbClr val="FFFFFF"/>
              </a:solidFill>
              <a:cs typeface="Arial" pitchFamily="34" charset="0"/>
              <a:sym typeface="Wingdings" pitchFamily="2" charset="2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170625" y="551504"/>
            <a:ext cx="9609922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 userDrawn="1"/>
        </p:nvSpPr>
        <p:spPr>
          <a:xfrm>
            <a:off x="0" y="-10801"/>
            <a:ext cx="9906000" cy="66462"/>
          </a:xfrm>
          <a:prstGeom prst="rect">
            <a:avLst/>
          </a:prstGeom>
          <a:gradFill flip="none" rotWithShape="1">
            <a:gsLst>
              <a:gs pos="30000">
                <a:srgbClr val="CB443D"/>
              </a:gs>
              <a:gs pos="50000">
                <a:srgbClr val="F5F5F5"/>
              </a:gs>
              <a:gs pos="70000">
                <a:srgbClr val="4879B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  <p:sp>
        <p:nvSpPr>
          <p:cNvPr id="20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170625" y="98599"/>
            <a:ext cx="5530170" cy="38836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63" spc="-49" baseline="0">
                <a:latin typeface="HY헤드라인M" pitchFamily="18" charset="-127"/>
                <a:ea typeface="HY헤드라인M" pitchFamily="18" charset="-127"/>
              </a:defRPr>
            </a:lvl1pPr>
            <a:lvl2pPr>
              <a:defRPr sz="1138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2pPr>
            <a:lvl3pPr>
              <a:defRPr sz="1138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3pPr>
            <a:lvl4pPr>
              <a:defRPr sz="1138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4pPr>
            <a:lvl5pPr>
              <a:defRPr sz="1138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5pPr>
          </a:lstStyle>
          <a:p>
            <a:pPr lvl="0"/>
            <a:r>
              <a:rPr lang="ko-KR" altLang="en-US" dirty="0"/>
              <a:t>상세 제목 삽입</a:t>
            </a:r>
          </a:p>
        </p:txBody>
      </p:sp>
      <p:sp>
        <p:nvSpPr>
          <p:cNvPr id="21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286174" y="606299"/>
            <a:ext cx="9344659" cy="55306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244"/>
              </a:spcBef>
              <a:buFontTx/>
              <a:buNone/>
              <a:defRPr sz="1138" spc="-73" baseline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defRPr>
            </a:lvl1pPr>
            <a:lvl2pPr marL="371475" indent="0">
              <a:buFontTx/>
              <a:buNone/>
              <a:defRPr sz="1463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 marL="742950" indent="0">
              <a:buFontTx/>
              <a:buNone/>
              <a:defRPr sz="1463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 marL="1114425" indent="0">
              <a:buFontTx/>
              <a:buNone/>
              <a:defRPr sz="1463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 marL="1485900" indent="0">
              <a:buFontTx/>
              <a:buNone/>
              <a:defRPr sz="1463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en-US" altLang="ko-KR" dirty="0"/>
              <a:t>- </a:t>
            </a:r>
            <a:r>
              <a:rPr lang="ko-KR" altLang="en-US" dirty="0"/>
              <a:t>내용 삽입</a:t>
            </a:r>
            <a:endParaRPr lang="en-US" altLang="ko-KR" dirty="0"/>
          </a:p>
          <a:p>
            <a:pPr lvl="0"/>
            <a:r>
              <a:rPr lang="en-US" altLang="ko-KR" dirty="0"/>
              <a:t>- </a:t>
            </a:r>
            <a:r>
              <a:rPr lang="ko-KR" altLang="en-US" dirty="0"/>
              <a:t>내용 삽입</a:t>
            </a:r>
          </a:p>
        </p:txBody>
      </p:sp>
      <p:sp>
        <p:nvSpPr>
          <p:cNvPr id="23" name="텍스트 개체 틀 17"/>
          <p:cNvSpPr>
            <a:spLocks noGrp="1"/>
          </p:cNvSpPr>
          <p:nvPr>
            <p:ph type="body" sz="quarter" idx="14" hasCustomPrompt="1"/>
          </p:nvPr>
        </p:nvSpPr>
        <p:spPr>
          <a:xfrm>
            <a:off x="5700796" y="302980"/>
            <a:ext cx="4079751" cy="180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1138" spc="-49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ko-KR" altLang="en-US" dirty="0"/>
              <a:t>마스터 제목 삽입</a:t>
            </a:r>
          </a:p>
        </p:txBody>
      </p:sp>
      <p:pic>
        <p:nvPicPr>
          <p:cNvPr id="28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897" y="6498171"/>
            <a:ext cx="720935" cy="291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483841" y="6535516"/>
            <a:ext cx="938319" cy="261380"/>
          </a:xfrm>
        </p:spPr>
        <p:txBody>
          <a:bodyPr/>
          <a:lstStyle>
            <a:lvl1pPr algn="ctr">
              <a:defRPr sz="813">
                <a:latin typeface="CJ ONLYONE NEW 본문 Light" panose="00000300000000000000" pitchFamily="2" charset="-127"/>
                <a:ea typeface="CJ ONLYONE NEW 본문 Light" panose="00000300000000000000" pitchFamily="2" charset="-127"/>
              </a:defRPr>
            </a:lvl1pPr>
          </a:lstStyle>
          <a:p>
            <a:fld id="{3F0E25F8-DD2E-4512-9D1F-10243ABEAA2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1" name="Picture 2" descr="Z:\A.사업관리\A000.표준및정책\A010.프로젝트표준서식\신성통상_로고\신성통상_가로형_국문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49" y="6601340"/>
            <a:ext cx="704034" cy="12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322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-1"/>
            <a:ext cx="9906000" cy="64800"/>
          </a:xfrm>
          <a:prstGeom prst="rect">
            <a:avLst/>
          </a:prstGeom>
          <a:gradFill flip="none" rotWithShape="1">
            <a:gsLst>
              <a:gs pos="50000">
                <a:srgbClr val="F5F5F5"/>
              </a:gs>
              <a:gs pos="0">
                <a:srgbClr val="6C6C6C"/>
              </a:gs>
              <a:gs pos="100000">
                <a:srgbClr val="6A6A6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170625" y="551504"/>
            <a:ext cx="9609922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170625" y="98599"/>
            <a:ext cx="5530170" cy="38836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63" spc="-49" baseline="0">
                <a:latin typeface="HY중고딕" pitchFamily="18" charset="-127"/>
                <a:ea typeface="HY중고딕" pitchFamily="18" charset="-127"/>
              </a:defRPr>
            </a:lvl1pPr>
            <a:lvl2pPr>
              <a:defRPr sz="1138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2pPr>
            <a:lvl3pPr>
              <a:defRPr sz="1138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3pPr>
            <a:lvl4pPr>
              <a:defRPr sz="1138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4pPr>
            <a:lvl5pPr>
              <a:defRPr sz="1138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5pPr>
          </a:lstStyle>
          <a:p>
            <a:pPr lvl="0"/>
            <a:r>
              <a:rPr lang="ko-KR" altLang="en-US" dirty="0"/>
              <a:t>별첨</a:t>
            </a:r>
            <a:r>
              <a:rPr lang="en-US" altLang="ko-KR" dirty="0"/>
              <a:t>1. </a:t>
            </a:r>
            <a:r>
              <a:rPr lang="ko-KR" altLang="en-US" dirty="0"/>
              <a:t>제목</a:t>
            </a:r>
          </a:p>
        </p:txBody>
      </p:sp>
      <p:sp>
        <p:nvSpPr>
          <p:cNvPr id="21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286174" y="606299"/>
            <a:ext cx="9344659" cy="55306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244"/>
              </a:spcBef>
              <a:buFontTx/>
              <a:buNone/>
              <a:defRPr sz="1138" spc="-73" baseline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defRPr>
            </a:lvl1pPr>
            <a:lvl2pPr marL="371475" indent="0">
              <a:buFontTx/>
              <a:buNone/>
              <a:defRPr sz="1463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 marL="742950" indent="0">
              <a:buFontTx/>
              <a:buNone/>
              <a:defRPr sz="1463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 marL="1114425" indent="0">
              <a:buFontTx/>
              <a:buNone/>
              <a:defRPr sz="1463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 marL="1485900" indent="0">
              <a:buFontTx/>
              <a:buNone/>
              <a:defRPr sz="1463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en-US" altLang="ko-KR" dirty="0"/>
              <a:t>- </a:t>
            </a:r>
            <a:r>
              <a:rPr lang="ko-KR" altLang="en-US" dirty="0"/>
              <a:t>내용 삽입</a:t>
            </a:r>
            <a:endParaRPr lang="en-US" altLang="ko-KR" dirty="0"/>
          </a:p>
          <a:p>
            <a:pPr lvl="0"/>
            <a:r>
              <a:rPr lang="en-US" altLang="ko-KR" dirty="0"/>
              <a:t>- </a:t>
            </a:r>
            <a:r>
              <a:rPr lang="ko-KR" altLang="en-US" dirty="0"/>
              <a:t>내용 삽입</a:t>
            </a:r>
          </a:p>
        </p:txBody>
      </p:sp>
      <p:sp>
        <p:nvSpPr>
          <p:cNvPr id="23" name="텍스트 개체 틀 17"/>
          <p:cNvSpPr>
            <a:spLocks noGrp="1"/>
          </p:cNvSpPr>
          <p:nvPr>
            <p:ph type="body" sz="quarter" idx="14" hasCustomPrompt="1"/>
          </p:nvPr>
        </p:nvSpPr>
        <p:spPr>
          <a:xfrm>
            <a:off x="5700796" y="302980"/>
            <a:ext cx="4079751" cy="180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1138" spc="-49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ko-KR" altLang="en-US" dirty="0"/>
              <a:t>추가 제목</a:t>
            </a:r>
          </a:p>
        </p:txBody>
      </p:sp>
      <p:sp>
        <p:nvSpPr>
          <p:cNvPr id="29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483841" y="6535516"/>
            <a:ext cx="938319" cy="261380"/>
          </a:xfrm>
        </p:spPr>
        <p:txBody>
          <a:bodyPr/>
          <a:lstStyle>
            <a:lvl1pPr algn="ctr">
              <a:defRPr sz="813">
                <a:latin typeface="CJ ONLYONE NEW 본문 Light" panose="00000300000000000000" pitchFamily="2" charset="-127"/>
                <a:ea typeface="CJ ONLYONE NEW 본문 Light" panose="00000300000000000000" pitchFamily="2" charset="-127"/>
              </a:defRPr>
            </a:lvl1pPr>
          </a:lstStyle>
          <a:p>
            <a:fld id="{3F0E25F8-DD2E-4512-9D1F-10243ABEAA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144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43C5C-009B-4785-ACD4-14616D0D9888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25F8-DD2E-4512-9D1F-10243ABEAA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868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roup 105"/>
          <p:cNvGraphicFramePr>
            <a:graphicFrameLocks noGrp="1"/>
          </p:cNvGraphicFramePr>
          <p:nvPr userDrawn="1">
            <p:extLst/>
          </p:nvPr>
        </p:nvGraphicFramePr>
        <p:xfrm>
          <a:off x="2674277" y="2276475"/>
          <a:ext cx="5381228" cy="886080"/>
        </p:xfrm>
        <a:graphic>
          <a:graphicData uri="http://schemas.openxmlformats.org/drawingml/2006/table">
            <a:tbl>
              <a:tblPr/>
              <a:tblGrid>
                <a:gridCol w="5381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02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imes New Roman" pitchFamily="18" charset="0"/>
                        </a:rPr>
                        <a:t>신성통상 차세대 </a:t>
                      </a:r>
                      <a:r>
                        <a:rPr kumimoji="1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imes New Roman" pitchFamily="18" charset="0"/>
                        </a:rPr>
                        <a:t>POS </a:t>
                      </a:r>
                      <a:r>
                        <a:rPr kumimoji="1" lang="ko-KR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imes New Roman" pitchFamily="18" charset="0"/>
                        </a:rPr>
                        <a:t>및 키오스크 구축</a:t>
                      </a:r>
                      <a:endParaRPr kumimoji="1" lang="ko-KR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총괄 테스트 계획서</a:t>
                      </a:r>
                    </a:p>
                  </a:txBody>
                  <a:tcPr marL="195000" marR="97500" marT="46800" marB="46800" horzOverflow="overflow">
                    <a:lnL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Picture 85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3608388"/>
            <a:ext cx="9906000" cy="3249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108"/>
          <p:cNvSpPr txBox="1">
            <a:spLocks noChangeArrowheads="1"/>
          </p:cNvSpPr>
          <p:nvPr userDrawn="1"/>
        </p:nvSpPr>
        <p:spPr bwMode="auto">
          <a:xfrm>
            <a:off x="1851568" y="6356350"/>
            <a:ext cx="6239632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CJ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올리브네트웍스의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사전 승인 없이 본 내용의 전부 또는 일부에 대한 복사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사용을 금합니다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 Box 111"/>
          <p:cNvSpPr txBox="1">
            <a:spLocks noChangeArrowheads="1"/>
          </p:cNvSpPr>
          <p:nvPr userDrawn="1"/>
        </p:nvSpPr>
        <p:spPr bwMode="auto">
          <a:xfrm>
            <a:off x="99748" y="260350"/>
            <a:ext cx="3219450" cy="3429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>
              <a:defRPr/>
            </a:pPr>
            <a:r>
              <a:rPr kumimoji="1" lang="ko-KR" altLang="en-US" sz="1400" kern="120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문서번호 </a:t>
            </a:r>
            <a:r>
              <a:rPr kumimoji="1" lang="en-US" altLang="ko-KR" sz="1400" kern="120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1" lang="en-US" altLang="ko-KR" sz="1400" kern="1200" dirty="0">
                <a:solidFill>
                  <a:srgbClr val="808080"/>
                </a:solidFill>
                <a:latin typeface="맑은 고딕" panose="020B0503020000020004" pitchFamily="50" charset="-127"/>
                <a:ea typeface="+mn-ea"/>
                <a:cs typeface="+mn-cs"/>
              </a:rPr>
              <a:t>SSTS-AG06</a:t>
            </a:r>
            <a:endParaRPr kumimoji="1" lang="en-US" altLang="ko-KR" sz="1400" kern="1200" dirty="0">
              <a:solidFill>
                <a:srgbClr val="80808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2" name="Group 104">
            <a:extLst>
              <a:ext uri="{FF2B5EF4-FFF2-40B4-BE49-F238E27FC236}">
                <a16:creationId xmlns:a16="http://schemas.microsoft.com/office/drawing/2014/main" id="{A165624E-6EFB-48C4-BBAE-FE96E1A17340}"/>
              </a:ext>
            </a:extLst>
          </p:cNvPr>
          <p:cNvGraphicFramePr>
            <a:graphicFrameLocks noGrp="1"/>
          </p:cNvGraphicFramePr>
          <p:nvPr userDrawn="1">
            <p:extLst/>
          </p:nvPr>
        </p:nvGraphicFramePr>
        <p:xfrm>
          <a:off x="6987783" y="692696"/>
          <a:ext cx="2426626" cy="612774"/>
        </p:xfrm>
        <a:graphic>
          <a:graphicData uri="http://schemas.openxmlformats.org/drawingml/2006/table">
            <a:tbl>
              <a:tblPr/>
              <a:tblGrid>
                <a:gridCol w="106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Version</a:t>
                      </a:r>
                    </a:p>
                  </a:txBody>
                  <a:tcPr marL="97500" marR="975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V1.0</a:t>
                      </a:r>
                    </a:p>
                  </a:txBody>
                  <a:tcPr marL="97500" marR="975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L="97500" marR="975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2025-03-21</a:t>
                      </a:r>
                    </a:p>
                  </a:txBody>
                  <a:tcPr marL="97500" marR="975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97500" marR="975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서정만</a:t>
                      </a:r>
                    </a:p>
                  </a:txBody>
                  <a:tcPr marL="97500" marR="975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" name="그림 17">
            <a:extLst>
              <a:ext uri="{FF2B5EF4-FFF2-40B4-BE49-F238E27FC236}">
                <a16:creationId xmlns:a16="http://schemas.microsoft.com/office/drawing/2014/main" id="{60F5AB9D-8689-4816-9223-4FDEC0977B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020" y="5219700"/>
            <a:ext cx="1773105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 descr="Z:\A.사업관리\A000.표준및정책\A010.프로젝트표준서식\신성통상_로고\신성통상_가로형_국문.png">
            <a:extLst>
              <a:ext uri="{FF2B5EF4-FFF2-40B4-BE49-F238E27FC236}">
                <a16:creationId xmlns:a16="http://schemas.microsoft.com/office/drawing/2014/main" id="{7EB00DD2-2B39-42F9-A23F-870BDB73B0C8}"/>
              </a:ext>
            </a:extLst>
          </p:cNvPr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095" y="5407244"/>
            <a:ext cx="1685396" cy="22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0142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489" y="44624"/>
            <a:ext cx="9205023" cy="564976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0489" y="764705"/>
            <a:ext cx="9205023" cy="53614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200"/>
              </a:spcBef>
              <a:defRPr sz="1800">
                <a:latin typeface="+mn-ea"/>
                <a:ea typeface="+mn-ea"/>
              </a:defRPr>
            </a:lvl1pPr>
            <a:lvl2pPr>
              <a:lnSpc>
                <a:spcPct val="130000"/>
              </a:lnSpc>
              <a:spcBef>
                <a:spcPts val="200"/>
              </a:spcBef>
              <a:defRPr sz="1600">
                <a:latin typeface="+mn-ea"/>
                <a:ea typeface="+mn-ea"/>
              </a:defRPr>
            </a:lvl2pPr>
            <a:lvl3pPr>
              <a:lnSpc>
                <a:spcPct val="130000"/>
              </a:lnSpc>
              <a:spcBef>
                <a:spcPts val="200"/>
              </a:spcBef>
              <a:defRPr sz="1400">
                <a:latin typeface="+mn-ea"/>
                <a:ea typeface="+mn-ea"/>
              </a:defRPr>
            </a:lvl3pPr>
            <a:lvl4pPr>
              <a:lnSpc>
                <a:spcPct val="130000"/>
              </a:lnSpc>
              <a:spcBef>
                <a:spcPts val="200"/>
              </a:spcBef>
              <a:defRPr sz="1200">
                <a:latin typeface="+mn-ea"/>
                <a:ea typeface="+mn-ea"/>
              </a:defRPr>
            </a:lvl4pPr>
            <a:lvl5pPr>
              <a:lnSpc>
                <a:spcPct val="130000"/>
              </a:lnSpc>
              <a:spcBef>
                <a:spcPts val="200"/>
              </a:spcBef>
              <a:defRPr sz="12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F15B553D-5F6B-4C6D-A4B7-265A4A911A7B}" type="datetimeFigureOut">
              <a:rPr lang="ko-KR" altLang="en-US" smtClean="0"/>
              <a:pPr/>
              <a:t>2025-03-24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2D4FCA68-3A9B-4F6B-B654-564C765113E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Picture 2" descr="Z:\A.사업관리\A000.표준및정책\A010.프로젝트표준서식\신성통상_로고\신성통상_가로형_국문.png">
            <a:extLst>
              <a:ext uri="{FF2B5EF4-FFF2-40B4-BE49-F238E27FC236}">
                <a16:creationId xmlns:a16="http://schemas.microsoft.com/office/drawing/2014/main" id="{E5F85FFE-D704-4B7D-B61E-F40E4DCAE2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250" y="6356350"/>
            <a:ext cx="1685396" cy="22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7432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343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489" y="44624"/>
            <a:ext cx="9205023" cy="564976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50489" y="764705"/>
            <a:ext cx="4519961" cy="53614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764705"/>
            <a:ext cx="4519961" cy="53614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846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489" y="44624"/>
            <a:ext cx="9205023" cy="5649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50489" y="764704"/>
            <a:ext cx="4521682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489" y="1556793"/>
            <a:ext cx="4521682" cy="456937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764704"/>
            <a:ext cx="4523401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1556793"/>
            <a:ext cx="4523401" cy="456937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382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489" y="44624"/>
            <a:ext cx="9205023" cy="564976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677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7046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147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967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489" y="44624"/>
            <a:ext cx="9205023" cy="564976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50489" y="764705"/>
            <a:ext cx="9205023" cy="536145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9795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889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0" r:id="rId3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43C5C-009B-4785-ACD4-14616D0D9888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E25F8-DD2E-4512-9D1F-10243ABEAA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121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</p:sldLayoutIdLst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525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2800" b="1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2025.03.05</a:t>
            </a:r>
            <a:endParaRPr lang="ko-KR" altLang="en-US" dirty="0"/>
          </a:p>
        </p:txBody>
      </p:sp>
      <p:sp>
        <p:nvSpPr>
          <p:cNvPr id="6" name="AutoShape 39">
            <a:extLst>
              <a:ext uri="{FF2B5EF4-FFF2-40B4-BE49-F238E27FC236}">
                <a16:creationId xmlns:a16="http://schemas.microsoft.com/office/drawing/2014/main" id="{5684F523-303E-4654-B5F8-4C2776081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403" y="2462337"/>
            <a:ext cx="936015" cy="222262"/>
          </a:xfrm>
          <a:prstGeom prst="roundRect">
            <a:avLst>
              <a:gd name="adj" fmla="val 0"/>
            </a:avLst>
          </a:prstGeom>
          <a:solidFill>
            <a:srgbClr val="1941A8"/>
          </a:solidFill>
          <a:ln w="6350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53758" fontAlgn="auto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58" b="0" spc="-53" dirty="0">
                <a:solidFill>
                  <a:prstClr val="white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운영자매뉴얼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A607EAE-C02C-497A-9475-20CF71A6E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03" y="326157"/>
            <a:ext cx="2598703" cy="212825"/>
          </a:xfrm>
          <a:prstGeom prst="rect">
            <a:avLst/>
          </a:prstGeom>
        </p:spPr>
      </p:pic>
      <p:pic>
        <p:nvPicPr>
          <p:cNvPr id="8" name="그림 1">
            <a:extLst>
              <a:ext uri="{FF2B5EF4-FFF2-40B4-BE49-F238E27FC236}">
                <a16:creationId xmlns:a16="http://schemas.microsoft.com/office/drawing/2014/main" id="{F25CE497-C5BF-4363-80B1-4700C69F66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988" y="5872957"/>
            <a:ext cx="1231766" cy="45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그룹 13">
            <a:extLst>
              <a:ext uri="{FF2B5EF4-FFF2-40B4-BE49-F238E27FC236}">
                <a16:creationId xmlns:a16="http://schemas.microsoft.com/office/drawing/2014/main" id="{7BC19573-4777-4B46-BE23-A03AC483572A}"/>
              </a:ext>
            </a:extLst>
          </p:cNvPr>
          <p:cNvGrpSpPr>
            <a:grpSpLocks/>
          </p:cNvGrpSpPr>
          <p:nvPr/>
        </p:nvGrpSpPr>
        <p:grpSpPr bwMode="auto">
          <a:xfrm>
            <a:off x="7035800" y="519113"/>
            <a:ext cx="2286000" cy="317500"/>
            <a:chOff x="7170549" y="374609"/>
            <a:chExt cx="2109976" cy="317960"/>
          </a:xfrm>
        </p:grpSpPr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639CB0C5-2A26-4D7F-9E47-683A9EDEE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91063" y="407994"/>
              <a:ext cx="2089462" cy="2591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 anchor="ctr">
              <a:spAutoFit/>
            </a:bodyPr>
            <a:lstStyle/>
            <a:p>
              <a:pPr algn="ctr" eaLnBrk="0" fontAlgn="ctr" latinLnBrk="0" hangingPunct="0">
                <a:spcBef>
                  <a:spcPct val="50000"/>
                </a:spcBef>
                <a:spcAft>
                  <a:spcPts val="0"/>
                </a:spcAft>
                <a:buFont typeface="Arial" charset="0"/>
                <a:buNone/>
                <a:defRPr/>
              </a:pPr>
              <a:r>
                <a:rPr kumimoji="0" lang="en-US" altLang="ko-KR" sz="1100" b="1" i="1" kern="0">
                  <a:solidFill>
                    <a:srgbClr val="000000"/>
                  </a:solidFill>
                  <a:latin typeface="ITC Avant Garde Gothic" pitchFamily="34" charset="0"/>
                  <a:ea typeface="가는각진제목체" pitchFamily="18" charset="-127"/>
                </a:rPr>
                <a:t>STRICTLY CONFIDENTIAL</a:t>
              </a:r>
              <a:endParaRPr kumimoji="0" lang="en-US" altLang="ko-KR" sz="1100" b="1" i="1" kern="0" dirty="0">
                <a:solidFill>
                  <a:srgbClr val="000000"/>
                </a:solidFill>
                <a:latin typeface="ITC Avant Garde Gothic" pitchFamily="34" charset="0"/>
                <a:ea typeface="가는각진제목체" pitchFamily="18" charset="-127"/>
              </a:endParaRPr>
            </a:p>
          </p:txBody>
        </p: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2F594FF7-0CC2-42E2-A1CA-9D62436C2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0549" y="374609"/>
              <a:ext cx="2098254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 latinLnBrk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b="1" kern="0" dirty="0">
                <a:solidFill>
                  <a:sysClr val="windowText" lastClr="000000"/>
                </a:solidFill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F5D1F096-3BFA-4814-A9C6-0999565DF4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0549" y="692569"/>
              <a:ext cx="2098254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 latinLnBrk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b="1" kern="0" dirty="0">
                <a:solidFill>
                  <a:sysClr val="windowText" lastClr="000000"/>
                </a:solidFill>
                <a:latin typeface="Arial" charset="0"/>
                <a:ea typeface="가는각진제목체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3809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93"/>
          <p:cNvSpPr>
            <a:spLocks noChangeArrowheads="1"/>
          </p:cNvSpPr>
          <p:nvPr/>
        </p:nvSpPr>
        <p:spPr bwMode="auto">
          <a:xfrm>
            <a:off x="4415834" y="836712"/>
            <a:ext cx="10743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개정 이력</a:t>
            </a:r>
          </a:p>
        </p:txBody>
      </p:sp>
      <p:sp>
        <p:nvSpPr>
          <p:cNvPr id="5" name="Rectangle 659"/>
          <p:cNvSpPr>
            <a:spLocks noChangeArrowheads="1"/>
          </p:cNvSpPr>
          <p:nvPr/>
        </p:nvSpPr>
        <p:spPr bwMode="auto">
          <a:xfrm>
            <a:off x="781050" y="5987026"/>
            <a:ext cx="45672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  <a:hlinkClick r:id="" action="ppaction://noaction"/>
              </a:rPr>
              <a:t>[1]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개정 사유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: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제정 또는 개정 내용이 이전 문서에 대해 추가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수정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삭제인지 선택 기입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  <a:hlinkClick r:id="" action="ppaction://noaction"/>
              </a:rPr>
              <a:t>[2]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개정 내역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: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개정이 발생하는 페이지 번호와 변경 내용을 기술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8" name="Group 923">
            <a:extLst>
              <a:ext uri="{FF2B5EF4-FFF2-40B4-BE49-F238E27FC236}">
                <a16:creationId xmlns:a16="http://schemas.microsoft.com/office/drawing/2014/main" id="{12E5DB2C-015C-485A-A7D1-CAC7D3A6728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73114" y="1665288"/>
          <a:ext cx="8356351" cy="3898714"/>
        </p:xfrm>
        <a:graphic>
          <a:graphicData uri="http://schemas.openxmlformats.org/drawingml/2006/table">
            <a:tbl>
              <a:tblPr/>
              <a:tblGrid>
                <a:gridCol w="845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5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버전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개정일자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  <a:hlinkClick r:id="" action="ppaction://noaction"/>
                        </a:rPr>
                        <a:t>[1]</a:t>
                      </a: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개정사유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  <a:hlinkClick r:id="" action="ppaction://noaction"/>
                        </a:rPr>
                        <a:t>[2]</a:t>
                      </a: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개정내역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작성자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승인자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 제정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서정만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오승헌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4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6126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extBox 4"/>
          <p:cNvSpPr txBox="1">
            <a:spLocks noChangeArrowheads="1"/>
          </p:cNvSpPr>
          <p:nvPr/>
        </p:nvSpPr>
        <p:spPr bwMode="auto">
          <a:xfrm>
            <a:off x="3720968" y="1268772"/>
            <a:ext cx="3859152" cy="5025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ko-KR" altLang="en-US" sz="2000" dirty="0">
                <a:latin typeface="+mn-ea"/>
                <a:ea typeface="+mn-ea"/>
              </a:rPr>
              <a:t>업무 개요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ko-KR" sz="2000" dirty="0">
                <a:latin typeface="+mn-ea"/>
                <a:ea typeface="+mn-ea"/>
              </a:rPr>
              <a:t>Hardware </a:t>
            </a:r>
            <a:r>
              <a:rPr lang="ko-KR" altLang="en-US" sz="2000" dirty="0">
                <a:latin typeface="+mn-ea"/>
                <a:ea typeface="+mn-ea"/>
              </a:rPr>
              <a:t>구성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ko-KR" sz="2000" dirty="0">
                <a:latin typeface="+mn-ea"/>
                <a:ea typeface="+mn-ea"/>
              </a:rPr>
              <a:t>Network </a:t>
            </a:r>
            <a:r>
              <a:rPr lang="ko-KR" altLang="en-US" sz="2000" dirty="0">
                <a:latin typeface="+mn-ea"/>
                <a:ea typeface="+mn-ea"/>
              </a:rPr>
              <a:t>구성</a:t>
            </a:r>
            <a:endParaRPr lang="en-US" altLang="ko-KR" sz="2000" dirty="0">
              <a:latin typeface="+mn-ea"/>
              <a:ea typeface="+mn-ea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ko-KR" sz="2000" dirty="0">
                <a:latin typeface="+mn-ea"/>
                <a:ea typeface="+mn-ea"/>
              </a:rPr>
              <a:t>Software </a:t>
            </a:r>
            <a:r>
              <a:rPr lang="ko-KR" altLang="en-US" sz="2000" dirty="0">
                <a:latin typeface="+mn-ea"/>
                <a:ea typeface="+mn-ea"/>
              </a:rPr>
              <a:t>구성</a:t>
            </a:r>
            <a:endParaRPr lang="en-US" altLang="ko-KR" sz="2000" dirty="0">
              <a:latin typeface="+mn-ea"/>
              <a:ea typeface="+mn-ea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ko-KR" sz="2000" dirty="0">
                <a:latin typeface="+mn-ea"/>
                <a:ea typeface="+mn-ea"/>
              </a:rPr>
              <a:t>Interface </a:t>
            </a:r>
            <a:r>
              <a:rPr lang="ko-KR" altLang="en-US" sz="2000" dirty="0">
                <a:latin typeface="+mn-ea"/>
                <a:ea typeface="+mn-ea"/>
              </a:rPr>
              <a:t>연계도</a:t>
            </a:r>
            <a:endParaRPr lang="en-US" altLang="ko-KR" sz="2000" dirty="0">
              <a:latin typeface="+mn-ea"/>
              <a:ea typeface="+mn-ea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ko-KR" altLang="en-US" sz="2000" dirty="0">
                <a:latin typeface="+mn-ea"/>
                <a:ea typeface="+mn-ea"/>
              </a:rPr>
              <a:t>모니터링 항목</a:t>
            </a:r>
            <a:endParaRPr lang="en-US" altLang="ko-KR" sz="2000" dirty="0">
              <a:latin typeface="+mn-ea"/>
              <a:ea typeface="+mn-ea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ko-KR" altLang="en-US" sz="2000" dirty="0">
                <a:latin typeface="+mn-ea"/>
                <a:ea typeface="+mn-ea"/>
              </a:rPr>
              <a:t>데이터 백업정책 및 현황</a:t>
            </a:r>
            <a:endParaRPr lang="en-US" altLang="ko-KR" sz="2000" dirty="0">
              <a:latin typeface="+mn-ea"/>
              <a:ea typeface="+mn-ea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ko-KR" altLang="en-US" sz="2000" dirty="0">
                <a:latin typeface="+mn-ea"/>
                <a:ea typeface="+mn-ea"/>
              </a:rPr>
              <a:t>서비스 가동절차</a:t>
            </a:r>
            <a:endParaRPr lang="en-US" altLang="ko-KR" sz="2000" dirty="0">
              <a:latin typeface="+mn-ea"/>
              <a:ea typeface="+mn-ea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ko-KR" altLang="en-US" sz="2000" dirty="0">
                <a:latin typeface="+mn-ea"/>
                <a:ea typeface="+mn-ea"/>
              </a:rPr>
              <a:t>시스템 변경이력</a:t>
            </a:r>
            <a:endParaRPr lang="en-US" altLang="ko-KR" sz="2000" dirty="0">
              <a:latin typeface="+mn-ea"/>
              <a:ea typeface="+mn-ea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ko-KR" altLang="en-US" sz="2000" dirty="0">
                <a:latin typeface="+mn-ea"/>
                <a:ea typeface="+mn-ea"/>
              </a:rPr>
              <a:t>비상연락체계</a:t>
            </a:r>
            <a:endParaRPr lang="en-US" altLang="ko-KR" sz="2000" dirty="0">
              <a:latin typeface="+mn-ea"/>
              <a:ea typeface="+mn-ea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ko-KR" altLang="en-US" sz="2000" dirty="0">
                <a:latin typeface="+mn-ea"/>
                <a:ea typeface="+mn-ea"/>
              </a:rPr>
              <a:t>특이 사항</a:t>
            </a:r>
            <a:endParaRPr lang="en-US" altLang="ko-KR" sz="2000" dirty="0">
              <a:latin typeface="+mn-ea"/>
              <a:ea typeface="+mn-ea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3702" y="1262542"/>
            <a:ext cx="2744554" cy="50359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36000" rIns="90000" bIns="36000">
            <a:spAutoFit/>
          </a:bodyPr>
          <a:lstStyle/>
          <a:p>
            <a:pPr marL="342900" lvl="2" indent="-342900"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800" b="1" kern="0" cap="all" dirty="0">
                <a:ln w="9000" cmpd="sng">
                  <a:solidFill>
                    <a:srgbClr val="808080">
                      <a:lumMod val="50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reflection blurRad="12700" stA="28000" endPos="45000" dist="1000" dir="5400000" sy="-100000" algn="bl" rotWithShape="0"/>
                </a:effectLst>
                <a:latin typeface="+mn-ea"/>
                <a:ea typeface="+mn-ea"/>
              </a:rPr>
              <a:t>Contents</a:t>
            </a:r>
          </a:p>
        </p:txBody>
      </p:sp>
      <p:sp>
        <p:nvSpPr>
          <p:cNvPr id="12291" name="Rectangle 6"/>
          <p:cNvSpPr>
            <a:spLocks noChangeArrowheads="1"/>
          </p:cNvSpPr>
          <p:nvPr/>
        </p:nvSpPr>
        <p:spPr bwMode="auto">
          <a:xfrm>
            <a:off x="3168518" y="1411420"/>
            <a:ext cx="287338" cy="281768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0C0C0"/>
              </a:gs>
            </a:gsLst>
            <a:lin ang="0" scaled="1"/>
          </a:gradFill>
          <a:ln w="12700">
            <a:noFill/>
            <a:miter lim="800000"/>
            <a:headEnd/>
            <a:tailEnd/>
          </a:ln>
        </p:spPr>
        <p:txBody>
          <a:bodyPr wrap="none" lIns="90000" tIns="36000" rIns="90000" bIns="36000" anchor="ctr"/>
          <a:lstStyle/>
          <a:p>
            <a:endParaRPr kumimoji="0" lang="ko-KR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351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3" name="Rectangle 2"/>
          <p:cNvSpPr txBox="1">
            <a:spLocks noChangeArrowheads="1"/>
          </p:cNvSpPr>
          <p:nvPr/>
        </p:nvSpPr>
        <p:spPr bwMode="auto">
          <a:xfrm>
            <a:off x="273844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defTabSz="649288"/>
            <a:r>
              <a:rPr lang="en-US" altLang="ko-KR" sz="2400" dirty="0">
                <a:latin typeface="+mn-ea"/>
                <a:ea typeface="+mn-ea"/>
              </a:rPr>
              <a:t>1. </a:t>
            </a:r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82550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3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defTabSz="649288"/>
            <a:r>
              <a:rPr lang="en-US" altLang="ko-KR" sz="2400" dirty="0">
                <a:latin typeface="+mn-ea"/>
                <a:ea typeface="+mn-ea"/>
              </a:rPr>
              <a:t>1. </a:t>
            </a:r>
            <a:r>
              <a:rPr lang="ko-KR" altLang="en-US" sz="2400" dirty="0">
                <a:latin typeface="+mn-ea"/>
                <a:ea typeface="+mn-ea"/>
              </a:rPr>
              <a:t>업무 개요</a:t>
            </a:r>
            <a:endParaRPr lang="ko-KR" altLang="en-US" dirty="0">
              <a:latin typeface="+mn-ea"/>
              <a:ea typeface="+mn-ea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775607"/>
            <a:ext cx="78105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3290207"/>
            <a:ext cx="7696200" cy="3087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 rot="20224515">
            <a:off x="3107767" y="2349474"/>
            <a:ext cx="5029064" cy="13849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latin typeface="+mn-ea"/>
              </a:rPr>
              <a:t>샘플</a:t>
            </a:r>
            <a:endParaRPr lang="en-US" altLang="ko-KR" sz="2800" dirty="0">
              <a:latin typeface="+mn-ea"/>
            </a:endParaRPr>
          </a:p>
          <a:p>
            <a:pPr algn="ctr"/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 err="1">
                <a:latin typeface="+mn-ea"/>
              </a:rPr>
              <a:t>어떤업무인지</a:t>
            </a:r>
            <a:r>
              <a:rPr lang="ko-KR" altLang="en-US" sz="2800" dirty="0">
                <a:latin typeface="+mn-ea"/>
              </a:rPr>
              <a:t> 기술</a:t>
            </a:r>
            <a:r>
              <a:rPr lang="en-US" altLang="ko-KR" sz="2800" dirty="0">
                <a:latin typeface="+mn-ea"/>
              </a:rPr>
              <a:t>,</a:t>
            </a:r>
          </a:p>
          <a:p>
            <a:pPr algn="ctr"/>
            <a:r>
              <a:rPr lang="en-US" altLang="ko-KR" sz="2800" dirty="0">
                <a:latin typeface="+mn-ea"/>
              </a:rPr>
              <a:t>ACI </a:t>
            </a:r>
            <a:r>
              <a:rPr lang="ko-KR" altLang="en-US" sz="2800" dirty="0">
                <a:latin typeface="+mn-ea"/>
              </a:rPr>
              <a:t>등급 반드시 기술</a:t>
            </a:r>
            <a:r>
              <a:rPr lang="en-US" altLang="ko-KR" sz="2800" dirty="0">
                <a:latin typeface="+mn-ea"/>
              </a:rPr>
              <a:t>)</a:t>
            </a:r>
            <a:endParaRPr lang="ko-KR" altLang="en-US" sz="2800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500" dirty="0" err="1">
                <a:solidFill>
                  <a:srgbClr val="FF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2516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3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defTabSz="649288"/>
            <a:r>
              <a:rPr lang="en-US" altLang="ko-KR" sz="2400" dirty="0">
                <a:latin typeface="+mn-ea"/>
                <a:ea typeface="+mn-ea"/>
              </a:rPr>
              <a:t>1. </a:t>
            </a:r>
            <a:r>
              <a:rPr lang="ko-KR" altLang="en-US" sz="2400" dirty="0">
                <a:latin typeface="+mn-ea"/>
                <a:ea typeface="+mn-ea"/>
              </a:rPr>
              <a:t>업무 개요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82575" y="779324"/>
            <a:ext cx="86996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CGV </a:t>
            </a:r>
            <a:r>
              <a:rPr lang="ko-KR" altLang="ko-KR" dirty="0">
                <a:latin typeface="+mn-ea"/>
                <a:ea typeface="+mn-ea"/>
              </a:rPr>
              <a:t>극장영업관리 차세대 시스템은 </a:t>
            </a:r>
            <a:r>
              <a:rPr lang="en-US" altLang="ko-KR" dirty="0">
                <a:latin typeface="+mn-ea"/>
                <a:ea typeface="+mn-ea"/>
              </a:rPr>
              <a:t>POS, </a:t>
            </a:r>
            <a:r>
              <a:rPr lang="en-US" altLang="ko-KR" dirty="0" err="1">
                <a:latin typeface="+mn-ea"/>
                <a:ea typeface="+mn-ea"/>
              </a:rPr>
              <a:t>Backoffice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en-US" altLang="ko-KR" dirty="0" err="1">
                <a:latin typeface="+mn-ea"/>
                <a:ea typeface="+mn-ea"/>
              </a:rPr>
              <a:t>Webservice</a:t>
            </a:r>
            <a:r>
              <a:rPr lang="en-US" altLang="ko-KR" dirty="0">
                <a:latin typeface="+mn-ea"/>
                <a:ea typeface="+mn-ea"/>
              </a:rPr>
              <a:t>, Batch </a:t>
            </a:r>
            <a:r>
              <a:rPr lang="ko-KR" altLang="en-US" dirty="0">
                <a:latin typeface="+mn-ea"/>
                <a:ea typeface="+mn-ea"/>
              </a:rPr>
              <a:t>로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구성됨</a:t>
            </a:r>
            <a:endParaRPr lang="en-US" altLang="ko-KR" dirty="0">
              <a:latin typeface="+mn-ea"/>
              <a:ea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4" y="1319212"/>
            <a:ext cx="9425447" cy="5057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 rot="20224515">
            <a:off x="1664439" y="3051867"/>
            <a:ext cx="5612956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latin typeface="+mn-ea"/>
              </a:rPr>
              <a:t>샘플 </a:t>
            </a:r>
            <a:r>
              <a:rPr lang="en-US" altLang="ko-KR" sz="2800" dirty="0">
                <a:latin typeface="+mn-ea"/>
              </a:rPr>
              <a:t>– </a:t>
            </a:r>
            <a:r>
              <a:rPr lang="ko-KR" altLang="en-US" sz="2800" dirty="0">
                <a:latin typeface="+mn-ea"/>
              </a:rPr>
              <a:t>기존자료 활용</a:t>
            </a:r>
            <a:endParaRPr lang="en-US" altLang="ko-KR" sz="2800" dirty="0">
              <a:latin typeface="+mn-ea"/>
            </a:endParaRPr>
          </a:p>
          <a:p>
            <a:pPr algn="ctr"/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>
                <a:latin typeface="+mn-ea"/>
              </a:rPr>
              <a:t>업무를 이해할 수 있는 도식</a:t>
            </a:r>
            <a:r>
              <a:rPr lang="en-US" altLang="ko-KR" sz="2800" dirty="0">
                <a:latin typeface="+mn-ea"/>
              </a:rPr>
              <a:t>)</a:t>
            </a:r>
            <a:endParaRPr lang="ko-KR" altLang="en-US" sz="2800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500" dirty="0" err="1">
                <a:solidFill>
                  <a:srgbClr val="FF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70118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+mn-ea"/>
                <a:ea typeface="+mn-ea"/>
              </a:rPr>
              <a:t>2. Hardware </a:t>
            </a:r>
            <a:r>
              <a:rPr lang="ko-KR" altLang="en-US" sz="2400" dirty="0">
                <a:latin typeface="+mn-ea"/>
                <a:ea typeface="+mn-ea"/>
              </a:rPr>
              <a:t>구성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+mn-ea"/>
                <a:ea typeface="+mn-ea"/>
              </a:rPr>
              <a:t>2.1 </a:t>
            </a:r>
            <a:r>
              <a:rPr lang="ko-KR" altLang="en-US" sz="2000" dirty="0">
                <a:latin typeface="+mn-ea"/>
                <a:ea typeface="+mn-ea"/>
              </a:rPr>
              <a:t>통합 구성도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1255714"/>
            <a:ext cx="9810750" cy="539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5" name="TextBox 294"/>
          <p:cNvSpPr txBox="1"/>
          <p:nvPr/>
        </p:nvSpPr>
        <p:spPr>
          <a:xfrm rot="20224515">
            <a:off x="3150276" y="2774560"/>
            <a:ext cx="3952658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latin typeface="+mn-ea"/>
              </a:rPr>
              <a:t>샘플</a:t>
            </a:r>
            <a:endParaRPr lang="en-US" altLang="ko-KR" sz="2800" dirty="0">
              <a:latin typeface="+mn-ea"/>
            </a:endParaRPr>
          </a:p>
          <a:p>
            <a:pPr algn="ctr"/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>
                <a:latin typeface="+mn-ea"/>
              </a:rPr>
              <a:t>가능한 상세하게</a:t>
            </a:r>
            <a:r>
              <a:rPr lang="en-US" altLang="ko-KR" sz="2800" dirty="0">
                <a:latin typeface="+mn-ea"/>
              </a:rPr>
              <a:t>)</a:t>
            </a:r>
            <a:endParaRPr lang="ko-KR" altLang="en-US" sz="2800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 bwMode="auto">
          <a:xfrm>
            <a:off x="6400800" y="185738"/>
            <a:ext cx="3149600" cy="847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ko-KR" altLang="en-US" sz="1600">
                <a:solidFill>
                  <a:srgbClr val="0000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엑셀로 </a:t>
            </a:r>
            <a:r>
              <a:rPr lang="en-US" altLang="ko-KR" sz="1600" dirty="0">
                <a:solidFill>
                  <a:srgbClr val="0000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600" dirty="0" err="1">
                <a:solidFill>
                  <a:srgbClr val="0000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서비스팀에서시스템명을</a:t>
            </a:r>
            <a:endParaRPr lang="en-US" altLang="ko-KR" sz="1600" dirty="0">
              <a:solidFill>
                <a:srgbClr val="0000FF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600" b="1" dirty="0">
                <a:solidFill>
                  <a:srgbClr val="0000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IDC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에 </a:t>
            </a:r>
            <a:r>
              <a:rPr lang="ko-KR" altLang="en-US" sz="1600" b="1" dirty="0" err="1">
                <a:solidFill>
                  <a:srgbClr val="0000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전달할것</a:t>
            </a:r>
            <a:endParaRPr lang="ko-KR" altLang="en-US" sz="1600" b="1" dirty="0">
              <a:solidFill>
                <a:srgbClr val="0000FF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5" name="직사각형 4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IDC</a:t>
            </a:r>
            <a:endParaRPr lang="ko-KR" altLang="en-US" sz="1500" b="1" dirty="0">
              <a:solidFill>
                <a:srgbClr val="FF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49733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2. Hardware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구성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2.2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온라인시스템 구성도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57" y="1255713"/>
            <a:ext cx="8885464" cy="478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 rot="20224515">
            <a:off x="3149923" y="2838132"/>
            <a:ext cx="3961604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</a:t>
            </a:r>
            <a:endParaRPr lang="en-US" altLang="ko-KR" sz="2800" dirty="0"/>
          </a:p>
          <a:p>
            <a:pPr algn="ctr"/>
            <a:r>
              <a:rPr lang="en-US" altLang="ko-KR" sz="2800" dirty="0"/>
              <a:t>(</a:t>
            </a:r>
            <a:r>
              <a:rPr lang="ko-KR" altLang="en-US" sz="2800" dirty="0"/>
              <a:t>확보한 구성 모두 포함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7" name="직사각형 6"/>
          <p:cNvSpPr/>
          <p:nvPr/>
        </p:nvSpPr>
        <p:spPr bwMode="auto">
          <a:xfrm>
            <a:off x="6400800" y="185738"/>
            <a:ext cx="3149600" cy="847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ko-KR" altLang="en-US" sz="1600">
                <a:solidFill>
                  <a:srgbClr val="0000FF"/>
                </a:solidFill>
                <a:cs typeface="Arial" pitchFamily="34" charset="0"/>
                <a:sym typeface="Wingdings" pitchFamily="2" charset="2"/>
              </a:rPr>
              <a:t>엑셀로 </a:t>
            </a:r>
            <a:r>
              <a:rPr lang="en-US" altLang="ko-KR" sz="1600" dirty="0">
                <a:solidFill>
                  <a:srgbClr val="0000FF"/>
                </a:solidFill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600" dirty="0" err="1">
                <a:solidFill>
                  <a:srgbClr val="0000FF"/>
                </a:solidFill>
                <a:cs typeface="Arial" pitchFamily="34" charset="0"/>
                <a:sym typeface="Wingdings" pitchFamily="2" charset="2"/>
              </a:rPr>
              <a:t>서비스팀에서시스템명을</a:t>
            </a:r>
            <a:endParaRPr lang="en-US" altLang="ko-KR" sz="1600" dirty="0">
              <a:solidFill>
                <a:srgbClr val="0000FF"/>
              </a:solidFill>
              <a:cs typeface="Arial" pitchFamily="34" charset="0"/>
              <a:sym typeface="Wingdings" pitchFamily="2" charset="2"/>
            </a:endParaRPr>
          </a:p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600" b="1" dirty="0">
                <a:solidFill>
                  <a:srgbClr val="0000FF"/>
                </a:solidFill>
                <a:cs typeface="Arial" pitchFamily="34" charset="0"/>
                <a:sym typeface="Wingdings" pitchFamily="2" charset="2"/>
              </a:rPr>
              <a:t>IDC</a:t>
            </a:r>
            <a:r>
              <a:rPr lang="ko-KR" altLang="en-US" sz="1600" b="1" dirty="0">
                <a:solidFill>
                  <a:srgbClr val="0000FF"/>
                </a:solidFill>
                <a:cs typeface="Arial" pitchFamily="34" charset="0"/>
                <a:sym typeface="Wingdings" pitchFamily="2" charset="2"/>
              </a:rPr>
              <a:t>에 </a:t>
            </a:r>
            <a:r>
              <a:rPr lang="ko-KR" altLang="en-US" sz="1600" b="1" dirty="0" err="1">
                <a:solidFill>
                  <a:srgbClr val="0000FF"/>
                </a:solidFill>
                <a:cs typeface="Arial" pitchFamily="34" charset="0"/>
                <a:sym typeface="Wingdings" pitchFamily="2" charset="2"/>
              </a:rPr>
              <a:t>전달할것</a:t>
            </a:r>
            <a:endParaRPr lang="ko-KR" altLang="en-US" sz="1600" b="1" dirty="0">
              <a:solidFill>
                <a:srgbClr val="0000FF"/>
              </a:solidFill>
              <a:cs typeface="Arial" pitchFamily="34" charset="0"/>
              <a:sym typeface="Wingdings" pitchFamily="2" charset="2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IDC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53874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2. Hardware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구성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2.3 DR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구성도 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있다면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 rot="20224515">
            <a:off x="3149923" y="2838132"/>
            <a:ext cx="3961604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DR</a:t>
            </a:r>
            <a:r>
              <a:rPr lang="ko-KR" altLang="en-US" sz="2800" dirty="0"/>
              <a:t>이 없는 경우</a:t>
            </a:r>
            <a:r>
              <a:rPr lang="en-US" altLang="ko-KR" sz="2800" dirty="0"/>
              <a:t>: </a:t>
            </a:r>
            <a:r>
              <a:rPr lang="ko-KR" altLang="en-US" sz="2800" dirty="0"/>
              <a:t>없음으로 </a:t>
            </a:r>
            <a:r>
              <a:rPr lang="ko-KR" altLang="en-US" sz="2800" dirty="0" err="1"/>
              <a:t>표시할것</a:t>
            </a:r>
            <a:endParaRPr lang="ko-KR" altLang="en-US" sz="2800" dirty="0"/>
          </a:p>
        </p:txBody>
      </p:sp>
      <p:sp>
        <p:nvSpPr>
          <p:cNvPr id="6" name="직사각형 5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IDC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65225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2. Hardware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구성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2.3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장비 리스트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서버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스토리지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7" name="Group 5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833886"/>
              </p:ext>
            </p:extLst>
          </p:nvPr>
        </p:nvGraphicFramePr>
        <p:xfrm>
          <a:off x="345281" y="1303112"/>
          <a:ext cx="9217025" cy="4539857"/>
        </p:xfrm>
        <a:graphic>
          <a:graphicData uri="http://schemas.openxmlformats.org/drawingml/2006/table">
            <a:tbl>
              <a:tblPr/>
              <a:tblGrid>
                <a:gridCol w="39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351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19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658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순번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카테고리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운영구분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솔루션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모델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Qty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OS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CPU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HDD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Mem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NIC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HBA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영업</a:t>
                      </a: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/</a:t>
                      </a: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공사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운영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DB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P570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UNIX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Power6 5.0 (DC) * 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300G * 2ea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64G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AP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P570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UNIX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Power6 5.0 (DC) * 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300G * 2ea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16G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　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WEB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40G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　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　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Contents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900G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W/S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40g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스테이징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DB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P550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UNIX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Power6 4.2 (DC) * 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300G * 2ea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26G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7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AP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P550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UNIX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Power6 4.2 (DC) * 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300G * 2ea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6G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　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617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8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WEB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40G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　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　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9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SAP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운영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AP/DB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X3950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Xeon 2.53G (HC) * 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149GB * 3ea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32G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10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스테이징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AP/DB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X3650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Xeon 2.53G (QC) * 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300G * 2ea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8G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11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구매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운영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AP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X3650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Xeon 2.53G (QC) * 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300G * 2ea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8G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　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12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WEB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40G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　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　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13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스테이징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AP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X3650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Xeon 2.53G (QC) * 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300G * 2ea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8G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　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14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WEB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40G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　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　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15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Interface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운영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Daemon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X3650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Xeon 2.53G (QC) * 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300G * 2ea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8G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16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Daemon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X3650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Xeon 2.53G (QC) * 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300G * 2ea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8G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17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스테이징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Daemon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100G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18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중계서버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운영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DB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4vCPU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200G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16G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19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스테이징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DB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100G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8G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20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CRM /</a:t>
                      </a: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캠패인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CRM </a:t>
                      </a: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운영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AP/DB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X3850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Xeon 2.53G (QC) * 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500G</a:t>
                      </a: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16G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21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캠패인 운영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AP/DB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4vCPU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100G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8G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22</a:t>
                      </a: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스테이징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AP/DB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Windows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100G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8G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20224515">
            <a:off x="2862687" y="2887960"/>
            <a:ext cx="3999202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</a:t>
            </a:r>
            <a:endParaRPr lang="en-US" altLang="ko-KR" sz="2800" dirty="0"/>
          </a:p>
          <a:p>
            <a:pPr algn="ctr"/>
            <a:r>
              <a:rPr lang="en-US" altLang="ko-KR" sz="2800" dirty="0"/>
              <a:t>(EXCEL</a:t>
            </a:r>
            <a:r>
              <a:rPr lang="ko-KR" altLang="en-US" sz="2800" dirty="0"/>
              <a:t>로 연결해도 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8" name="직사각형 7"/>
          <p:cNvSpPr/>
          <p:nvPr/>
        </p:nvSpPr>
        <p:spPr bwMode="auto">
          <a:xfrm>
            <a:off x="6400800" y="185738"/>
            <a:ext cx="3149600" cy="847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ko-KR" altLang="en-US" sz="1600">
                <a:solidFill>
                  <a:srgbClr val="0000FF"/>
                </a:solidFill>
                <a:cs typeface="Arial" pitchFamily="34" charset="0"/>
                <a:sym typeface="Wingdings" pitchFamily="2" charset="2"/>
              </a:rPr>
              <a:t>엑셀로 </a:t>
            </a:r>
            <a:r>
              <a:rPr lang="en-US" altLang="ko-KR" sz="1600" dirty="0">
                <a:solidFill>
                  <a:srgbClr val="0000FF"/>
                </a:solidFill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600" dirty="0" err="1">
                <a:solidFill>
                  <a:srgbClr val="0000FF"/>
                </a:solidFill>
                <a:cs typeface="Arial" pitchFamily="34" charset="0"/>
                <a:sym typeface="Wingdings" pitchFamily="2" charset="2"/>
              </a:rPr>
              <a:t>서비스팀에서시스템명을</a:t>
            </a:r>
            <a:endParaRPr lang="en-US" altLang="ko-KR" sz="1600" dirty="0">
              <a:solidFill>
                <a:srgbClr val="0000FF"/>
              </a:solidFill>
              <a:cs typeface="Arial" pitchFamily="34" charset="0"/>
              <a:sym typeface="Wingdings" pitchFamily="2" charset="2"/>
            </a:endParaRPr>
          </a:p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600" b="1" dirty="0">
                <a:solidFill>
                  <a:srgbClr val="0000FF"/>
                </a:solidFill>
                <a:cs typeface="Arial" pitchFamily="34" charset="0"/>
                <a:sym typeface="Wingdings" pitchFamily="2" charset="2"/>
              </a:rPr>
              <a:t>IDC</a:t>
            </a:r>
            <a:r>
              <a:rPr lang="ko-KR" altLang="en-US" sz="1600" b="1" dirty="0">
                <a:solidFill>
                  <a:srgbClr val="0000FF"/>
                </a:solidFill>
                <a:cs typeface="Arial" pitchFamily="34" charset="0"/>
                <a:sym typeface="Wingdings" pitchFamily="2" charset="2"/>
              </a:rPr>
              <a:t>에 </a:t>
            </a:r>
            <a:r>
              <a:rPr lang="ko-KR" altLang="en-US" sz="1600" b="1" dirty="0" err="1">
                <a:solidFill>
                  <a:srgbClr val="0000FF"/>
                </a:solidFill>
                <a:cs typeface="Arial" pitchFamily="34" charset="0"/>
                <a:sym typeface="Wingdings" pitchFamily="2" charset="2"/>
              </a:rPr>
              <a:t>전달할것</a:t>
            </a:r>
            <a:endParaRPr lang="ko-KR" altLang="en-US" sz="1600" b="1" dirty="0">
              <a:solidFill>
                <a:srgbClr val="0000FF"/>
              </a:solidFill>
              <a:cs typeface="Arial" pitchFamily="34" charset="0"/>
              <a:sym typeface="Wingdings" pitchFamily="2" charset="2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IDC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84900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2. Hardware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구성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2.4 SAN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구성</a:t>
            </a:r>
          </a:p>
        </p:txBody>
      </p:sp>
      <p:sp>
        <p:nvSpPr>
          <p:cNvPr id="8" name="Rectangle 536"/>
          <p:cNvSpPr>
            <a:spLocks noChangeArrowheads="1"/>
          </p:cNvSpPr>
          <p:nvPr/>
        </p:nvSpPr>
        <p:spPr bwMode="auto">
          <a:xfrm>
            <a:off x="493713" y="2841625"/>
            <a:ext cx="984250" cy="3055938"/>
          </a:xfrm>
          <a:prstGeom prst="rect">
            <a:avLst/>
          </a:prstGeom>
          <a:solidFill>
            <a:srgbClr val="FFFF99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just"/>
            <a:endParaRPr lang="ko-KR" altLang="en-US"/>
          </a:p>
        </p:txBody>
      </p:sp>
      <p:sp>
        <p:nvSpPr>
          <p:cNvPr id="9" name="Rectangle 537"/>
          <p:cNvSpPr>
            <a:spLocks noChangeArrowheads="1"/>
          </p:cNvSpPr>
          <p:nvPr/>
        </p:nvSpPr>
        <p:spPr bwMode="auto">
          <a:xfrm>
            <a:off x="387350" y="2917825"/>
            <a:ext cx="1220788" cy="128111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just"/>
            <a:endParaRPr lang="ko-KR" altLang="en-US"/>
          </a:p>
        </p:txBody>
      </p:sp>
      <p:sp>
        <p:nvSpPr>
          <p:cNvPr id="10" name="Rectangle 538"/>
          <p:cNvSpPr>
            <a:spLocks noChangeArrowheads="1"/>
          </p:cNvSpPr>
          <p:nvPr/>
        </p:nvSpPr>
        <p:spPr bwMode="auto">
          <a:xfrm>
            <a:off x="384175" y="4305300"/>
            <a:ext cx="1223963" cy="1387475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just"/>
            <a:endParaRPr lang="ko-KR" altLang="en-US"/>
          </a:p>
        </p:txBody>
      </p:sp>
      <p:sp>
        <p:nvSpPr>
          <p:cNvPr id="11" name="Rectangle 539"/>
          <p:cNvSpPr>
            <a:spLocks noChangeArrowheads="1"/>
          </p:cNvSpPr>
          <p:nvPr/>
        </p:nvSpPr>
        <p:spPr bwMode="auto">
          <a:xfrm>
            <a:off x="1781175" y="3513138"/>
            <a:ext cx="3133725" cy="633412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2" name="Rectangle 540"/>
          <p:cNvSpPr>
            <a:spLocks noChangeArrowheads="1"/>
          </p:cNvSpPr>
          <p:nvPr/>
        </p:nvSpPr>
        <p:spPr bwMode="auto">
          <a:xfrm>
            <a:off x="2247900" y="3927475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" name="Rectangle 541"/>
          <p:cNvSpPr>
            <a:spLocks noChangeArrowheads="1"/>
          </p:cNvSpPr>
          <p:nvPr/>
        </p:nvSpPr>
        <p:spPr bwMode="auto">
          <a:xfrm>
            <a:off x="2433638" y="3927475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542"/>
          <p:cNvSpPr>
            <a:spLocks noChangeArrowheads="1"/>
          </p:cNvSpPr>
          <p:nvPr/>
        </p:nvSpPr>
        <p:spPr bwMode="auto">
          <a:xfrm>
            <a:off x="2619375" y="3927475"/>
            <a:ext cx="136525" cy="952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5" name="Rectangle 543"/>
          <p:cNvSpPr>
            <a:spLocks noChangeArrowheads="1"/>
          </p:cNvSpPr>
          <p:nvPr/>
        </p:nvSpPr>
        <p:spPr bwMode="auto">
          <a:xfrm>
            <a:off x="2062163" y="3927475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Rectangle 544"/>
          <p:cNvSpPr>
            <a:spLocks noChangeArrowheads="1"/>
          </p:cNvSpPr>
          <p:nvPr/>
        </p:nvSpPr>
        <p:spPr bwMode="auto">
          <a:xfrm>
            <a:off x="2247900" y="3606800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Rectangle 545"/>
          <p:cNvSpPr>
            <a:spLocks noChangeArrowheads="1"/>
          </p:cNvSpPr>
          <p:nvPr/>
        </p:nvSpPr>
        <p:spPr bwMode="auto">
          <a:xfrm>
            <a:off x="2433638" y="3606800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Rectangle 546"/>
          <p:cNvSpPr>
            <a:spLocks noChangeArrowheads="1"/>
          </p:cNvSpPr>
          <p:nvPr/>
        </p:nvSpPr>
        <p:spPr bwMode="auto">
          <a:xfrm>
            <a:off x="2619375" y="3606800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" name="Rectangle 547"/>
          <p:cNvSpPr>
            <a:spLocks noChangeArrowheads="1"/>
          </p:cNvSpPr>
          <p:nvPr/>
        </p:nvSpPr>
        <p:spPr bwMode="auto">
          <a:xfrm>
            <a:off x="2062163" y="3606800"/>
            <a:ext cx="136525" cy="9525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548"/>
          <p:cNvSpPr>
            <a:spLocks noChangeArrowheads="1"/>
          </p:cNvSpPr>
          <p:nvPr/>
        </p:nvSpPr>
        <p:spPr bwMode="auto">
          <a:xfrm>
            <a:off x="3224213" y="3925888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1" name="Rectangle 549"/>
          <p:cNvSpPr>
            <a:spLocks noChangeArrowheads="1"/>
          </p:cNvSpPr>
          <p:nvPr/>
        </p:nvSpPr>
        <p:spPr bwMode="auto">
          <a:xfrm>
            <a:off x="3409950" y="3925888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22" name="Rectangle 550"/>
          <p:cNvSpPr>
            <a:spLocks noChangeArrowheads="1"/>
          </p:cNvSpPr>
          <p:nvPr/>
        </p:nvSpPr>
        <p:spPr bwMode="auto">
          <a:xfrm>
            <a:off x="3595688" y="3925888"/>
            <a:ext cx="136525" cy="952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3" name="Rectangle 551"/>
          <p:cNvSpPr>
            <a:spLocks noChangeArrowheads="1"/>
          </p:cNvSpPr>
          <p:nvPr/>
        </p:nvSpPr>
        <p:spPr bwMode="auto">
          <a:xfrm>
            <a:off x="3038475" y="3925888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4" name="Rectangle 552"/>
          <p:cNvSpPr>
            <a:spLocks noChangeArrowheads="1"/>
          </p:cNvSpPr>
          <p:nvPr/>
        </p:nvSpPr>
        <p:spPr bwMode="auto">
          <a:xfrm>
            <a:off x="3224213" y="3605213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553"/>
          <p:cNvSpPr>
            <a:spLocks noChangeArrowheads="1"/>
          </p:cNvSpPr>
          <p:nvPr/>
        </p:nvSpPr>
        <p:spPr bwMode="auto">
          <a:xfrm>
            <a:off x="3409950" y="3605213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6" name="Rectangle 554"/>
          <p:cNvSpPr>
            <a:spLocks noChangeArrowheads="1"/>
          </p:cNvSpPr>
          <p:nvPr/>
        </p:nvSpPr>
        <p:spPr bwMode="auto">
          <a:xfrm>
            <a:off x="3595688" y="3605213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7" name="Rectangle 555"/>
          <p:cNvSpPr>
            <a:spLocks noChangeArrowheads="1"/>
          </p:cNvSpPr>
          <p:nvPr/>
        </p:nvSpPr>
        <p:spPr bwMode="auto">
          <a:xfrm>
            <a:off x="3038475" y="3605213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8" name="Rectangle 556"/>
          <p:cNvSpPr>
            <a:spLocks noChangeArrowheads="1"/>
          </p:cNvSpPr>
          <p:nvPr/>
        </p:nvSpPr>
        <p:spPr bwMode="auto">
          <a:xfrm>
            <a:off x="5260975" y="3513138"/>
            <a:ext cx="3055938" cy="633412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9" name="Rectangle 557"/>
          <p:cNvSpPr>
            <a:spLocks noChangeArrowheads="1"/>
          </p:cNvSpPr>
          <p:nvPr/>
        </p:nvSpPr>
        <p:spPr bwMode="auto">
          <a:xfrm>
            <a:off x="5610225" y="3903663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0" name="Rectangle 558"/>
          <p:cNvSpPr>
            <a:spLocks noChangeArrowheads="1"/>
          </p:cNvSpPr>
          <p:nvPr/>
        </p:nvSpPr>
        <p:spPr bwMode="auto">
          <a:xfrm>
            <a:off x="5795963" y="3903663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559"/>
          <p:cNvSpPr>
            <a:spLocks noChangeArrowheads="1"/>
          </p:cNvSpPr>
          <p:nvPr/>
        </p:nvSpPr>
        <p:spPr bwMode="auto">
          <a:xfrm>
            <a:off x="5981700" y="3903663"/>
            <a:ext cx="136525" cy="952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" name="Rectangle 560"/>
          <p:cNvSpPr>
            <a:spLocks noChangeArrowheads="1"/>
          </p:cNvSpPr>
          <p:nvPr/>
        </p:nvSpPr>
        <p:spPr bwMode="auto">
          <a:xfrm>
            <a:off x="5424488" y="3903663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3" name="Rectangle 561"/>
          <p:cNvSpPr>
            <a:spLocks noChangeArrowheads="1"/>
          </p:cNvSpPr>
          <p:nvPr/>
        </p:nvSpPr>
        <p:spPr bwMode="auto">
          <a:xfrm>
            <a:off x="5613400" y="3582988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562"/>
          <p:cNvSpPr>
            <a:spLocks noChangeArrowheads="1"/>
          </p:cNvSpPr>
          <p:nvPr/>
        </p:nvSpPr>
        <p:spPr bwMode="auto">
          <a:xfrm>
            <a:off x="5799138" y="3582988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5" name="Rectangle 563"/>
          <p:cNvSpPr>
            <a:spLocks noChangeArrowheads="1"/>
          </p:cNvSpPr>
          <p:nvPr/>
        </p:nvSpPr>
        <p:spPr bwMode="auto">
          <a:xfrm>
            <a:off x="5984875" y="3582988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6" name="Rectangle 564"/>
          <p:cNvSpPr>
            <a:spLocks noChangeArrowheads="1"/>
          </p:cNvSpPr>
          <p:nvPr/>
        </p:nvSpPr>
        <p:spPr bwMode="auto">
          <a:xfrm>
            <a:off x="5427663" y="3582988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Rectangle 565"/>
          <p:cNvSpPr>
            <a:spLocks noChangeArrowheads="1"/>
          </p:cNvSpPr>
          <p:nvPr/>
        </p:nvSpPr>
        <p:spPr bwMode="auto">
          <a:xfrm>
            <a:off x="6586538" y="3902075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38" name="Rectangle 566"/>
          <p:cNvSpPr>
            <a:spLocks noChangeArrowheads="1"/>
          </p:cNvSpPr>
          <p:nvPr/>
        </p:nvSpPr>
        <p:spPr bwMode="auto">
          <a:xfrm>
            <a:off x="6772275" y="3902075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9" name="Rectangle 567"/>
          <p:cNvSpPr>
            <a:spLocks noChangeArrowheads="1"/>
          </p:cNvSpPr>
          <p:nvPr/>
        </p:nvSpPr>
        <p:spPr bwMode="auto">
          <a:xfrm>
            <a:off x="6958013" y="3902075"/>
            <a:ext cx="136525" cy="952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40" name="Rectangle 568"/>
          <p:cNvSpPr>
            <a:spLocks noChangeArrowheads="1"/>
          </p:cNvSpPr>
          <p:nvPr/>
        </p:nvSpPr>
        <p:spPr bwMode="auto">
          <a:xfrm>
            <a:off x="6400800" y="3902075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41" name="Rectangle 569"/>
          <p:cNvSpPr>
            <a:spLocks noChangeArrowheads="1"/>
          </p:cNvSpPr>
          <p:nvPr/>
        </p:nvSpPr>
        <p:spPr bwMode="auto">
          <a:xfrm>
            <a:off x="6589713" y="3581400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2" name="Rectangle 570"/>
          <p:cNvSpPr>
            <a:spLocks noChangeArrowheads="1"/>
          </p:cNvSpPr>
          <p:nvPr/>
        </p:nvSpPr>
        <p:spPr bwMode="auto">
          <a:xfrm>
            <a:off x="6775450" y="3581400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3" name="Rectangle 571"/>
          <p:cNvSpPr>
            <a:spLocks noChangeArrowheads="1"/>
          </p:cNvSpPr>
          <p:nvPr/>
        </p:nvSpPr>
        <p:spPr bwMode="auto">
          <a:xfrm>
            <a:off x="6961188" y="3581400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44" name="Rectangle 572"/>
          <p:cNvSpPr>
            <a:spLocks noChangeArrowheads="1"/>
          </p:cNvSpPr>
          <p:nvPr/>
        </p:nvSpPr>
        <p:spPr bwMode="auto">
          <a:xfrm>
            <a:off x="6403975" y="3581400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5" name="Rectangle 573" descr="20%"/>
          <p:cNvSpPr>
            <a:spLocks noChangeArrowheads="1"/>
          </p:cNvSpPr>
          <p:nvPr/>
        </p:nvSpPr>
        <p:spPr bwMode="auto">
          <a:xfrm>
            <a:off x="2386013" y="4730750"/>
            <a:ext cx="4445000" cy="1079500"/>
          </a:xfrm>
          <a:prstGeom prst="rect">
            <a:avLst/>
          </a:prstGeom>
          <a:pattFill prst="pct20">
            <a:fgClr>
              <a:srgbClr val="DDDDDD"/>
            </a:fgClr>
            <a:bgClr>
              <a:srgbClr val="FFFFFF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/>
          <a:p>
            <a:pPr algn="just"/>
            <a:endParaRPr lang="ko-KR" altLang="en-US"/>
          </a:p>
        </p:txBody>
      </p:sp>
      <p:sp>
        <p:nvSpPr>
          <p:cNvPr id="46" name="Text Box 574"/>
          <p:cNvSpPr txBox="1">
            <a:spLocks noChangeArrowheads="1"/>
          </p:cNvSpPr>
          <p:nvPr/>
        </p:nvSpPr>
        <p:spPr bwMode="auto">
          <a:xfrm>
            <a:off x="2457450" y="5257800"/>
            <a:ext cx="974725" cy="442913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marL="176213" indent="-176213" algn="l" defTabSz="762000">
              <a:lnSpc>
                <a:spcPct val="110000"/>
              </a:lnSpc>
              <a:spcBef>
                <a:spcPct val="0"/>
              </a:spcBef>
            </a:pPr>
            <a:r>
              <a:rPr lang="en-US" altLang="ko-KR" sz="1200" b="1">
                <a:solidFill>
                  <a:schemeClr val="tx1"/>
                </a:solidFill>
              </a:rPr>
              <a:t>IBM DS8100</a:t>
            </a:r>
          </a:p>
          <a:p>
            <a:pPr marL="176213" indent="-176213" algn="l" defTabSz="762000">
              <a:lnSpc>
                <a:spcPct val="110000"/>
              </a:lnSpc>
              <a:spcBef>
                <a:spcPct val="0"/>
              </a:spcBef>
            </a:pPr>
            <a:r>
              <a:rPr lang="en-US" altLang="ko-KR" sz="1000">
                <a:solidFill>
                  <a:schemeClr val="tx1"/>
                </a:solidFill>
              </a:rPr>
              <a:t>FC 12Port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7" name="Rectangle 575"/>
          <p:cNvSpPr>
            <a:spLocks noChangeArrowheads="1"/>
          </p:cNvSpPr>
          <p:nvPr/>
        </p:nvSpPr>
        <p:spPr bwMode="auto">
          <a:xfrm>
            <a:off x="3797300" y="4802188"/>
            <a:ext cx="215900" cy="252412"/>
          </a:xfrm>
          <a:prstGeom prst="rect">
            <a:avLst/>
          </a:prstGeom>
          <a:solidFill>
            <a:srgbClr val="DDDDDD"/>
          </a:solidFill>
          <a:ln w="6350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B2</a:t>
            </a:r>
          </a:p>
        </p:txBody>
      </p:sp>
      <p:sp>
        <p:nvSpPr>
          <p:cNvPr id="48" name="Rectangle 576"/>
          <p:cNvSpPr>
            <a:spLocks noChangeArrowheads="1"/>
          </p:cNvSpPr>
          <p:nvPr/>
        </p:nvSpPr>
        <p:spPr bwMode="auto">
          <a:xfrm>
            <a:off x="4084638" y="4802188"/>
            <a:ext cx="215900" cy="252412"/>
          </a:xfrm>
          <a:prstGeom prst="rect">
            <a:avLst/>
          </a:prstGeom>
          <a:solidFill>
            <a:srgbClr val="DDDDDD"/>
          </a:solidFill>
          <a:ln w="6350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B3</a:t>
            </a:r>
          </a:p>
        </p:txBody>
      </p:sp>
      <p:sp>
        <p:nvSpPr>
          <p:cNvPr id="49" name="Rectangle 577"/>
          <p:cNvSpPr>
            <a:spLocks noChangeArrowheads="1"/>
          </p:cNvSpPr>
          <p:nvPr/>
        </p:nvSpPr>
        <p:spPr bwMode="auto">
          <a:xfrm>
            <a:off x="4794250" y="4802188"/>
            <a:ext cx="215900" cy="252412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C1</a:t>
            </a:r>
          </a:p>
        </p:txBody>
      </p:sp>
      <p:sp>
        <p:nvSpPr>
          <p:cNvPr id="50" name="Rectangle 578"/>
          <p:cNvSpPr>
            <a:spLocks noChangeArrowheads="1"/>
          </p:cNvSpPr>
          <p:nvPr/>
        </p:nvSpPr>
        <p:spPr bwMode="auto">
          <a:xfrm>
            <a:off x="5081588" y="4802188"/>
            <a:ext cx="215900" cy="252412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C2</a:t>
            </a:r>
          </a:p>
        </p:txBody>
      </p:sp>
      <p:sp>
        <p:nvSpPr>
          <p:cNvPr id="51" name="Rectangle 579"/>
          <p:cNvSpPr>
            <a:spLocks noChangeArrowheads="1"/>
          </p:cNvSpPr>
          <p:nvPr/>
        </p:nvSpPr>
        <p:spPr bwMode="auto">
          <a:xfrm>
            <a:off x="5370513" y="4802188"/>
            <a:ext cx="215900" cy="252412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A4</a:t>
            </a:r>
          </a:p>
        </p:txBody>
      </p:sp>
      <p:sp>
        <p:nvSpPr>
          <p:cNvPr id="52" name="Rectangle 580"/>
          <p:cNvSpPr>
            <a:spLocks noChangeArrowheads="1"/>
          </p:cNvSpPr>
          <p:nvPr/>
        </p:nvSpPr>
        <p:spPr bwMode="auto">
          <a:xfrm>
            <a:off x="5657850" y="4802188"/>
            <a:ext cx="215900" cy="252412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C3</a:t>
            </a:r>
          </a:p>
        </p:txBody>
      </p:sp>
      <p:sp>
        <p:nvSpPr>
          <p:cNvPr id="53" name="Rectangle 581"/>
          <p:cNvSpPr>
            <a:spLocks noChangeArrowheads="1"/>
          </p:cNvSpPr>
          <p:nvPr/>
        </p:nvSpPr>
        <p:spPr bwMode="auto">
          <a:xfrm>
            <a:off x="2646363" y="4802188"/>
            <a:ext cx="215900" cy="252412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A1</a:t>
            </a:r>
          </a:p>
        </p:txBody>
      </p:sp>
      <p:sp>
        <p:nvSpPr>
          <p:cNvPr id="54" name="Rectangle 582"/>
          <p:cNvSpPr>
            <a:spLocks noChangeArrowheads="1"/>
          </p:cNvSpPr>
          <p:nvPr/>
        </p:nvSpPr>
        <p:spPr bwMode="auto">
          <a:xfrm>
            <a:off x="2933700" y="4802188"/>
            <a:ext cx="215900" cy="252412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A2</a:t>
            </a:r>
          </a:p>
        </p:txBody>
      </p:sp>
      <p:sp>
        <p:nvSpPr>
          <p:cNvPr id="55" name="Rectangle 583"/>
          <p:cNvSpPr>
            <a:spLocks noChangeArrowheads="1"/>
          </p:cNvSpPr>
          <p:nvPr/>
        </p:nvSpPr>
        <p:spPr bwMode="auto">
          <a:xfrm>
            <a:off x="3222625" y="4802188"/>
            <a:ext cx="215900" cy="252412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A3</a:t>
            </a:r>
          </a:p>
        </p:txBody>
      </p:sp>
      <p:sp>
        <p:nvSpPr>
          <p:cNvPr id="56" name="Rectangle 584"/>
          <p:cNvSpPr>
            <a:spLocks noChangeArrowheads="1"/>
          </p:cNvSpPr>
          <p:nvPr/>
        </p:nvSpPr>
        <p:spPr bwMode="auto">
          <a:xfrm>
            <a:off x="3509963" y="4802188"/>
            <a:ext cx="215900" cy="252412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B1</a:t>
            </a:r>
          </a:p>
        </p:txBody>
      </p:sp>
      <p:sp>
        <p:nvSpPr>
          <p:cNvPr id="57" name="Rectangle 585"/>
          <p:cNvSpPr>
            <a:spLocks noChangeArrowheads="1"/>
          </p:cNvSpPr>
          <p:nvPr/>
        </p:nvSpPr>
        <p:spPr bwMode="auto">
          <a:xfrm>
            <a:off x="5946775" y="4802188"/>
            <a:ext cx="215900" cy="252412"/>
          </a:xfrm>
          <a:prstGeom prst="rect">
            <a:avLst/>
          </a:prstGeom>
          <a:solidFill>
            <a:srgbClr val="DDDDDD"/>
          </a:solidFill>
          <a:ln w="6350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C4</a:t>
            </a:r>
          </a:p>
        </p:txBody>
      </p:sp>
      <p:sp>
        <p:nvSpPr>
          <p:cNvPr id="58" name="Rectangle 586"/>
          <p:cNvSpPr>
            <a:spLocks noChangeArrowheads="1"/>
          </p:cNvSpPr>
          <p:nvPr/>
        </p:nvSpPr>
        <p:spPr bwMode="auto">
          <a:xfrm>
            <a:off x="6234113" y="4802188"/>
            <a:ext cx="215900" cy="252412"/>
          </a:xfrm>
          <a:prstGeom prst="rect">
            <a:avLst/>
          </a:prstGeom>
          <a:solidFill>
            <a:srgbClr val="DDDDDD"/>
          </a:solidFill>
          <a:ln w="6350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B4</a:t>
            </a:r>
          </a:p>
        </p:txBody>
      </p:sp>
      <p:cxnSp>
        <p:nvCxnSpPr>
          <p:cNvPr id="59" name="AutoShape 587"/>
          <p:cNvCxnSpPr>
            <a:cxnSpLocks noChangeShapeType="1"/>
            <a:stCxn id="84" idx="2"/>
            <a:endCxn id="19" idx="0"/>
          </p:cNvCxnSpPr>
          <p:nvPr/>
        </p:nvCxnSpPr>
        <p:spPr bwMode="gray">
          <a:xfrm>
            <a:off x="1998663" y="2460625"/>
            <a:ext cx="131762" cy="1146175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60" name="AutoShape 588"/>
          <p:cNvCxnSpPr>
            <a:cxnSpLocks noChangeShapeType="1"/>
            <a:stCxn id="89" idx="2"/>
            <a:endCxn id="16" idx="0"/>
          </p:cNvCxnSpPr>
          <p:nvPr/>
        </p:nvCxnSpPr>
        <p:spPr bwMode="gray">
          <a:xfrm flipH="1">
            <a:off x="2316163" y="2460625"/>
            <a:ext cx="23812" cy="1146175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61" name="AutoShape 589"/>
          <p:cNvCxnSpPr>
            <a:cxnSpLocks noChangeShapeType="1"/>
            <a:stCxn id="53" idx="0"/>
            <a:endCxn id="15" idx="2"/>
          </p:cNvCxnSpPr>
          <p:nvPr/>
        </p:nvCxnSpPr>
        <p:spPr bwMode="gray">
          <a:xfrm flipH="1" flipV="1">
            <a:off x="2130425" y="4022725"/>
            <a:ext cx="623888" cy="779463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62" name="AutoShape 590"/>
          <p:cNvCxnSpPr>
            <a:cxnSpLocks noChangeShapeType="1"/>
            <a:stCxn id="54" idx="0"/>
            <a:endCxn id="12" idx="2"/>
          </p:cNvCxnSpPr>
          <p:nvPr/>
        </p:nvCxnSpPr>
        <p:spPr bwMode="gray">
          <a:xfrm flipH="1" flipV="1">
            <a:off x="2316163" y="4022725"/>
            <a:ext cx="725487" cy="779463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sp>
        <p:nvSpPr>
          <p:cNvPr id="63" name="Rectangle 591"/>
          <p:cNvSpPr>
            <a:spLocks noChangeArrowheads="1"/>
          </p:cNvSpPr>
          <p:nvPr/>
        </p:nvSpPr>
        <p:spPr bwMode="auto">
          <a:xfrm>
            <a:off x="4117975" y="3929063"/>
            <a:ext cx="136525" cy="952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64" name="Rectangle 592"/>
          <p:cNvSpPr>
            <a:spLocks noChangeArrowheads="1"/>
          </p:cNvSpPr>
          <p:nvPr/>
        </p:nvSpPr>
        <p:spPr bwMode="auto">
          <a:xfrm>
            <a:off x="4303713" y="3929063"/>
            <a:ext cx="136525" cy="952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65" name="Rectangle 593"/>
          <p:cNvSpPr>
            <a:spLocks noChangeArrowheads="1"/>
          </p:cNvSpPr>
          <p:nvPr/>
        </p:nvSpPr>
        <p:spPr bwMode="auto">
          <a:xfrm>
            <a:off x="4489450" y="3929063"/>
            <a:ext cx="136525" cy="952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66" name="Rectangle 594"/>
          <p:cNvSpPr>
            <a:spLocks noChangeArrowheads="1"/>
          </p:cNvSpPr>
          <p:nvPr/>
        </p:nvSpPr>
        <p:spPr bwMode="auto">
          <a:xfrm>
            <a:off x="3932238" y="3929063"/>
            <a:ext cx="136525" cy="952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67" name="Rectangle 595"/>
          <p:cNvSpPr>
            <a:spLocks noChangeArrowheads="1"/>
          </p:cNvSpPr>
          <p:nvPr/>
        </p:nvSpPr>
        <p:spPr bwMode="auto">
          <a:xfrm>
            <a:off x="4117975" y="3608388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68" name="Rectangle 596"/>
          <p:cNvSpPr>
            <a:spLocks noChangeArrowheads="1"/>
          </p:cNvSpPr>
          <p:nvPr/>
        </p:nvSpPr>
        <p:spPr bwMode="auto">
          <a:xfrm>
            <a:off x="4303713" y="3608388"/>
            <a:ext cx="136525" cy="952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69" name="Rectangle 597"/>
          <p:cNvSpPr>
            <a:spLocks noChangeArrowheads="1"/>
          </p:cNvSpPr>
          <p:nvPr/>
        </p:nvSpPr>
        <p:spPr bwMode="auto">
          <a:xfrm>
            <a:off x="4489450" y="3608388"/>
            <a:ext cx="136525" cy="952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70" name="Rectangle 598"/>
          <p:cNvSpPr>
            <a:spLocks noChangeArrowheads="1"/>
          </p:cNvSpPr>
          <p:nvPr/>
        </p:nvSpPr>
        <p:spPr bwMode="auto">
          <a:xfrm>
            <a:off x="3932238" y="3608388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71" name="Rectangle 599"/>
          <p:cNvSpPr>
            <a:spLocks noChangeArrowheads="1"/>
          </p:cNvSpPr>
          <p:nvPr/>
        </p:nvSpPr>
        <p:spPr bwMode="auto">
          <a:xfrm>
            <a:off x="7554913" y="3905250"/>
            <a:ext cx="136525" cy="952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72" name="Rectangle 600"/>
          <p:cNvSpPr>
            <a:spLocks noChangeArrowheads="1"/>
          </p:cNvSpPr>
          <p:nvPr/>
        </p:nvSpPr>
        <p:spPr bwMode="auto">
          <a:xfrm>
            <a:off x="7740650" y="3905250"/>
            <a:ext cx="136525" cy="952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73" name="Rectangle 601"/>
          <p:cNvSpPr>
            <a:spLocks noChangeArrowheads="1"/>
          </p:cNvSpPr>
          <p:nvPr/>
        </p:nvSpPr>
        <p:spPr bwMode="auto">
          <a:xfrm>
            <a:off x="7926388" y="3905250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74" name="Rectangle 602"/>
          <p:cNvSpPr>
            <a:spLocks noChangeArrowheads="1"/>
          </p:cNvSpPr>
          <p:nvPr/>
        </p:nvSpPr>
        <p:spPr bwMode="auto">
          <a:xfrm>
            <a:off x="7369175" y="3905250"/>
            <a:ext cx="136525" cy="952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75" name="Rectangle 603"/>
          <p:cNvSpPr>
            <a:spLocks noChangeArrowheads="1"/>
          </p:cNvSpPr>
          <p:nvPr/>
        </p:nvSpPr>
        <p:spPr bwMode="auto">
          <a:xfrm>
            <a:off x="7558088" y="3584575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76" name="Rectangle 604"/>
          <p:cNvSpPr>
            <a:spLocks noChangeArrowheads="1"/>
          </p:cNvSpPr>
          <p:nvPr/>
        </p:nvSpPr>
        <p:spPr bwMode="auto">
          <a:xfrm>
            <a:off x="7743825" y="3584575"/>
            <a:ext cx="136525" cy="952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77" name="Rectangle 605"/>
          <p:cNvSpPr>
            <a:spLocks noChangeArrowheads="1"/>
          </p:cNvSpPr>
          <p:nvPr/>
        </p:nvSpPr>
        <p:spPr bwMode="auto">
          <a:xfrm>
            <a:off x="7929563" y="3584575"/>
            <a:ext cx="136525" cy="9525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78" name="Rectangle 606"/>
          <p:cNvSpPr>
            <a:spLocks noChangeArrowheads="1"/>
          </p:cNvSpPr>
          <p:nvPr/>
        </p:nvSpPr>
        <p:spPr bwMode="auto">
          <a:xfrm>
            <a:off x="7372350" y="3584575"/>
            <a:ext cx="136525" cy="9525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800" b="1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79" name="AutoShape 607"/>
          <p:cNvSpPr>
            <a:spLocks noChangeArrowheads="1"/>
          </p:cNvSpPr>
          <p:nvPr/>
        </p:nvSpPr>
        <p:spPr bwMode="auto">
          <a:xfrm>
            <a:off x="1763713" y="1616075"/>
            <a:ext cx="1774825" cy="768350"/>
          </a:xfrm>
          <a:prstGeom prst="flowChartAlternateProcess">
            <a:avLst/>
          </a:prstGeom>
          <a:noFill/>
          <a:ln w="22225" algn="ctr">
            <a:solidFill>
              <a:srgbClr val="0000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/>
            <a:endParaRPr lang="ko-KR" altLang="en-US"/>
          </a:p>
        </p:txBody>
      </p:sp>
      <p:sp>
        <p:nvSpPr>
          <p:cNvPr id="80" name="모서리가 둥근 직사각형 74" descr="image004"/>
          <p:cNvSpPr>
            <a:spLocks noChangeArrowheads="1"/>
          </p:cNvSpPr>
          <p:nvPr/>
        </p:nvSpPr>
        <p:spPr bwMode="gray">
          <a:xfrm>
            <a:off x="1822450" y="1690688"/>
            <a:ext cx="781050" cy="414337"/>
          </a:xfrm>
          <a:prstGeom prst="roundRect">
            <a:avLst>
              <a:gd name="adj" fmla="val 16667"/>
            </a:avLst>
          </a:prstGeom>
          <a:blipFill dpi="0" rotWithShape="1">
            <a:blip r:embed="rId2" cstate="print"/>
            <a:srcRect/>
            <a:stretch>
              <a:fillRect/>
            </a:stretch>
          </a:blipFill>
          <a:ln w="6350" algn="ctr">
            <a:solidFill>
              <a:srgbClr val="87A13D"/>
            </a:solidFill>
            <a:round/>
            <a:headEnd/>
            <a:tailEnd/>
          </a:ln>
        </p:spPr>
        <p:txBody>
          <a:bodyPr lIns="36000" tIns="0" rIns="36000" bIns="0" anchor="ctr"/>
          <a:lstStyle/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lang="ko-KR" altLang="en-US" sz="600" b="1">
                <a:cs typeface="Arial" charset="0"/>
              </a:rPr>
              <a:t>영업</a:t>
            </a:r>
            <a:r>
              <a:rPr lang="en-US" altLang="ko-KR" sz="600" b="1">
                <a:cs typeface="Arial" charset="0"/>
              </a:rPr>
              <a:t>/</a:t>
            </a:r>
            <a:r>
              <a:rPr lang="ko-KR" altLang="en-US" sz="600" b="1">
                <a:cs typeface="Arial" charset="0"/>
              </a:rPr>
              <a:t>구매 </a:t>
            </a:r>
            <a:r>
              <a:rPr lang="en-US" altLang="ko-KR" sz="600" b="1">
                <a:cs typeface="Arial" charset="0"/>
              </a:rPr>
              <a:t>DB#1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ko-KR" sz="600" b="1">
                <a:cs typeface="Arial" charset="0"/>
              </a:rPr>
              <a:t>2 Port</a:t>
            </a:r>
          </a:p>
        </p:txBody>
      </p:sp>
      <p:grpSp>
        <p:nvGrpSpPr>
          <p:cNvPr id="81" name="Group 609"/>
          <p:cNvGrpSpPr>
            <a:grpSpLocks/>
          </p:cNvGrpSpPr>
          <p:nvPr/>
        </p:nvGrpSpPr>
        <p:grpSpPr bwMode="auto">
          <a:xfrm>
            <a:off x="1879600" y="2120900"/>
            <a:ext cx="312738" cy="339725"/>
            <a:chOff x="133" y="1356"/>
            <a:chExt cx="266" cy="214"/>
          </a:xfrm>
        </p:grpSpPr>
        <p:sp>
          <p:nvSpPr>
            <p:cNvPr id="82" name="Rectangle 610"/>
            <p:cNvSpPr>
              <a:spLocks noChangeArrowheads="1"/>
            </p:cNvSpPr>
            <p:nvPr/>
          </p:nvSpPr>
          <p:spPr bwMode="auto">
            <a:xfrm>
              <a:off x="133" y="1356"/>
              <a:ext cx="266" cy="15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latinLnBrk="1" hangingPunct="1">
                <a:spcBef>
                  <a:spcPct val="0"/>
                </a:spcBef>
              </a:pPr>
              <a:r>
                <a:rPr kumimoji="1" lang="en-US" altLang="ko-KR" sz="500" b="1">
                  <a:solidFill>
                    <a:schemeClr val="tx1"/>
                  </a:solidFill>
                </a:rPr>
                <a:t>HBA1</a:t>
              </a:r>
            </a:p>
          </p:txBody>
        </p:sp>
        <p:grpSp>
          <p:nvGrpSpPr>
            <p:cNvPr id="83" name="Group 611"/>
            <p:cNvGrpSpPr>
              <a:grpSpLocks/>
            </p:cNvGrpSpPr>
            <p:nvPr/>
          </p:nvGrpSpPr>
          <p:grpSpPr bwMode="auto">
            <a:xfrm>
              <a:off x="211" y="1457"/>
              <a:ext cx="118" cy="113"/>
              <a:chOff x="1094" y="1457"/>
              <a:chExt cx="118" cy="113"/>
            </a:xfrm>
          </p:grpSpPr>
          <p:sp>
            <p:nvSpPr>
              <p:cNvPr id="84" name="Rectangle 612"/>
              <p:cNvSpPr>
                <a:spLocks noChangeArrowheads="1"/>
              </p:cNvSpPr>
              <p:nvPr/>
            </p:nvSpPr>
            <p:spPr bwMode="gray">
              <a:xfrm>
                <a:off x="1094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  <p:sp>
            <p:nvSpPr>
              <p:cNvPr id="85" name="Rectangle 613"/>
              <p:cNvSpPr>
                <a:spLocks noChangeArrowheads="1"/>
              </p:cNvSpPr>
              <p:nvPr/>
            </p:nvSpPr>
            <p:spPr bwMode="gray">
              <a:xfrm>
                <a:off x="1167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</p:grpSp>
      </p:grpSp>
      <p:grpSp>
        <p:nvGrpSpPr>
          <p:cNvPr id="86" name="Group 614"/>
          <p:cNvGrpSpPr>
            <a:grpSpLocks/>
          </p:cNvGrpSpPr>
          <p:nvPr/>
        </p:nvGrpSpPr>
        <p:grpSpPr bwMode="auto">
          <a:xfrm>
            <a:off x="2220913" y="2120900"/>
            <a:ext cx="312737" cy="339725"/>
            <a:chOff x="133" y="1356"/>
            <a:chExt cx="266" cy="214"/>
          </a:xfrm>
        </p:grpSpPr>
        <p:sp>
          <p:nvSpPr>
            <p:cNvPr id="87" name="Rectangle 615"/>
            <p:cNvSpPr>
              <a:spLocks noChangeArrowheads="1"/>
            </p:cNvSpPr>
            <p:nvPr/>
          </p:nvSpPr>
          <p:spPr bwMode="auto">
            <a:xfrm>
              <a:off x="133" y="1356"/>
              <a:ext cx="266" cy="15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latinLnBrk="1" hangingPunct="1">
                <a:spcBef>
                  <a:spcPct val="0"/>
                </a:spcBef>
              </a:pPr>
              <a:r>
                <a:rPr kumimoji="1" lang="en-US" altLang="ko-KR" sz="500" b="1">
                  <a:solidFill>
                    <a:schemeClr val="tx1"/>
                  </a:solidFill>
                </a:rPr>
                <a:t>HBA2</a:t>
              </a:r>
            </a:p>
          </p:txBody>
        </p:sp>
        <p:grpSp>
          <p:nvGrpSpPr>
            <p:cNvPr id="88" name="Group 616"/>
            <p:cNvGrpSpPr>
              <a:grpSpLocks/>
            </p:cNvGrpSpPr>
            <p:nvPr/>
          </p:nvGrpSpPr>
          <p:grpSpPr bwMode="auto">
            <a:xfrm>
              <a:off x="211" y="1457"/>
              <a:ext cx="118" cy="113"/>
              <a:chOff x="1094" y="1457"/>
              <a:chExt cx="118" cy="113"/>
            </a:xfrm>
          </p:grpSpPr>
          <p:sp>
            <p:nvSpPr>
              <p:cNvPr id="89" name="Rectangle 617"/>
              <p:cNvSpPr>
                <a:spLocks noChangeArrowheads="1"/>
              </p:cNvSpPr>
              <p:nvPr/>
            </p:nvSpPr>
            <p:spPr bwMode="gray">
              <a:xfrm>
                <a:off x="1094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  <p:sp>
            <p:nvSpPr>
              <p:cNvPr id="90" name="Rectangle 618"/>
              <p:cNvSpPr>
                <a:spLocks noChangeArrowheads="1"/>
              </p:cNvSpPr>
              <p:nvPr/>
            </p:nvSpPr>
            <p:spPr bwMode="gray">
              <a:xfrm>
                <a:off x="1167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</p:grpSp>
      </p:grpSp>
      <p:sp>
        <p:nvSpPr>
          <p:cNvPr id="91" name="모서리가 둥근 직사각형 74" descr="image004"/>
          <p:cNvSpPr>
            <a:spLocks noChangeArrowheads="1"/>
          </p:cNvSpPr>
          <p:nvPr/>
        </p:nvSpPr>
        <p:spPr bwMode="gray">
          <a:xfrm>
            <a:off x="2670175" y="1690688"/>
            <a:ext cx="781050" cy="414337"/>
          </a:xfrm>
          <a:prstGeom prst="roundRect">
            <a:avLst>
              <a:gd name="adj" fmla="val 16667"/>
            </a:avLst>
          </a:prstGeom>
          <a:blipFill dpi="0" rotWithShape="1">
            <a:blip r:embed="rId2" cstate="print"/>
            <a:srcRect/>
            <a:stretch>
              <a:fillRect/>
            </a:stretch>
          </a:blipFill>
          <a:ln w="6350" algn="ctr">
            <a:solidFill>
              <a:srgbClr val="87A13D"/>
            </a:solidFill>
            <a:round/>
            <a:headEnd/>
            <a:tailEnd/>
          </a:ln>
        </p:spPr>
        <p:txBody>
          <a:bodyPr lIns="36000" tIns="0" rIns="36000" bIns="0" anchor="ctr"/>
          <a:lstStyle/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lang="ko-KR" altLang="en-US" sz="600" b="1">
                <a:cs typeface="Arial" charset="0"/>
              </a:rPr>
              <a:t>영업</a:t>
            </a:r>
            <a:r>
              <a:rPr lang="en-US" altLang="ko-KR" sz="600" b="1">
                <a:cs typeface="Arial" charset="0"/>
              </a:rPr>
              <a:t>/</a:t>
            </a:r>
            <a:r>
              <a:rPr lang="ko-KR" altLang="en-US" sz="600" b="1">
                <a:cs typeface="Arial" charset="0"/>
              </a:rPr>
              <a:t>구매 </a:t>
            </a:r>
            <a:r>
              <a:rPr lang="en-US" altLang="ko-KR" sz="600" b="1">
                <a:cs typeface="Arial" charset="0"/>
              </a:rPr>
              <a:t>DB#2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ko-KR" sz="600" b="1">
                <a:cs typeface="Arial" charset="0"/>
              </a:rPr>
              <a:t>2 Port</a:t>
            </a:r>
          </a:p>
        </p:txBody>
      </p:sp>
      <p:grpSp>
        <p:nvGrpSpPr>
          <p:cNvPr id="92" name="Group 620"/>
          <p:cNvGrpSpPr>
            <a:grpSpLocks/>
          </p:cNvGrpSpPr>
          <p:nvPr/>
        </p:nvGrpSpPr>
        <p:grpSpPr bwMode="auto">
          <a:xfrm>
            <a:off x="2727325" y="2120900"/>
            <a:ext cx="312738" cy="339725"/>
            <a:chOff x="133" y="1356"/>
            <a:chExt cx="266" cy="214"/>
          </a:xfrm>
        </p:grpSpPr>
        <p:sp>
          <p:nvSpPr>
            <p:cNvPr id="93" name="Rectangle 621"/>
            <p:cNvSpPr>
              <a:spLocks noChangeArrowheads="1"/>
            </p:cNvSpPr>
            <p:nvPr/>
          </p:nvSpPr>
          <p:spPr bwMode="auto">
            <a:xfrm>
              <a:off x="133" y="1356"/>
              <a:ext cx="266" cy="15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latinLnBrk="1" hangingPunct="1">
                <a:spcBef>
                  <a:spcPct val="0"/>
                </a:spcBef>
              </a:pPr>
              <a:r>
                <a:rPr kumimoji="1" lang="en-US" altLang="ko-KR" sz="500" b="1">
                  <a:solidFill>
                    <a:schemeClr val="tx1"/>
                  </a:solidFill>
                </a:rPr>
                <a:t>HBA1</a:t>
              </a:r>
            </a:p>
          </p:txBody>
        </p:sp>
        <p:grpSp>
          <p:nvGrpSpPr>
            <p:cNvPr id="94" name="Group 622"/>
            <p:cNvGrpSpPr>
              <a:grpSpLocks/>
            </p:cNvGrpSpPr>
            <p:nvPr/>
          </p:nvGrpSpPr>
          <p:grpSpPr bwMode="auto">
            <a:xfrm>
              <a:off x="211" y="1457"/>
              <a:ext cx="118" cy="113"/>
              <a:chOff x="1094" y="1457"/>
              <a:chExt cx="118" cy="113"/>
            </a:xfrm>
          </p:grpSpPr>
          <p:sp>
            <p:nvSpPr>
              <p:cNvPr id="95" name="Rectangle 623"/>
              <p:cNvSpPr>
                <a:spLocks noChangeArrowheads="1"/>
              </p:cNvSpPr>
              <p:nvPr/>
            </p:nvSpPr>
            <p:spPr bwMode="gray">
              <a:xfrm>
                <a:off x="1094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  <p:sp>
            <p:nvSpPr>
              <p:cNvPr id="96" name="Rectangle 624"/>
              <p:cNvSpPr>
                <a:spLocks noChangeArrowheads="1"/>
              </p:cNvSpPr>
              <p:nvPr/>
            </p:nvSpPr>
            <p:spPr bwMode="gray">
              <a:xfrm>
                <a:off x="1167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</p:grpSp>
      </p:grpSp>
      <p:grpSp>
        <p:nvGrpSpPr>
          <p:cNvPr id="97" name="Group 625"/>
          <p:cNvGrpSpPr>
            <a:grpSpLocks/>
          </p:cNvGrpSpPr>
          <p:nvPr/>
        </p:nvGrpSpPr>
        <p:grpSpPr bwMode="auto">
          <a:xfrm>
            <a:off x="3068638" y="2120900"/>
            <a:ext cx="312737" cy="339725"/>
            <a:chOff x="133" y="1356"/>
            <a:chExt cx="266" cy="214"/>
          </a:xfrm>
        </p:grpSpPr>
        <p:sp>
          <p:nvSpPr>
            <p:cNvPr id="98" name="Rectangle 626"/>
            <p:cNvSpPr>
              <a:spLocks noChangeArrowheads="1"/>
            </p:cNvSpPr>
            <p:nvPr/>
          </p:nvSpPr>
          <p:spPr bwMode="auto">
            <a:xfrm>
              <a:off x="133" y="1356"/>
              <a:ext cx="266" cy="15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latinLnBrk="1" hangingPunct="1">
                <a:spcBef>
                  <a:spcPct val="0"/>
                </a:spcBef>
              </a:pPr>
              <a:r>
                <a:rPr kumimoji="1" lang="en-US" altLang="ko-KR" sz="500" b="1">
                  <a:solidFill>
                    <a:schemeClr val="tx1"/>
                  </a:solidFill>
                </a:rPr>
                <a:t>HBA2</a:t>
              </a:r>
            </a:p>
          </p:txBody>
        </p:sp>
        <p:grpSp>
          <p:nvGrpSpPr>
            <p:cNvPr id="99" name="Group 627"/>
            <p:cNvGrpSpPr>
              <a:grpSpLocks/>
            </p:cNvGrpSpPr>
            <p:nvPr/>
          </p:nvGrpSpPr>
          <p:grpSpPr bwMode="auto">
            <a:xfrm>
              <a:off x="211" y="1457"/>
              <a:ext cx="118" cy="113"/>
              <a:chOff x="1094" y="1457"/>
              <a:chExt cx="118" cy="113"/>
            </a:xfrm>
          </p:grpSpPr>
          <p:sp>
            <p:nvSpPr>
              <p:cNvPr id="100" name="Rectangle 628"/>
              <p:cNvSpPr>
                <a:spLocks noChangeArrowheads="1"/>
              </p:cNvSpPr>
              <p:nvPr/>
            </p:nvSpPr>
            <p:spPr bwMode="gray">
              <a:xfrm>
                <a:off x="1094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  <p:sp>
            <p:nvSpPr>
              <p:cNvPr id="101" name="Rectangle 629"/>
              <p:cNvSpPr>
                <a:spLocks noChangeArrowheads="1"/>
              </p:cNvSpPr>
              <p:nvPr/>
            </p:nvSpPr>
            <p:spPr bwMode="gray">
              <a:xfrm>
                <a:off x="1167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</p:grpSp>
      </p:grpSp>
      <p:cxnSp>
        <p:nvCxnSpPr>
          <p:cNvPr id="102" name="AutoShape 630"/>
          <p:cNvCxnSpPr>
            <a:cxnSpLocks noChangeShapeType="1"/>
            <a:stCxn id="49" idx="0"/>
            <a:endCxn id="23" idx="2"/>
          </p:cNvCxnSpPr>
          <p:nvPr/>
        </p:nvCxnSpPr>
        <p:spPr bwMode="gray">
          <a:xfrm flipH="1" flipV="1">
            <a:off x="3106738" y="4021138"/>
            <a:ext cx="1795462" cy="781050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03" name="AutoShape 631"/>
          <p:cNvCxnSpPr>
            <a:cxnSpLocks noChangeShapeType="1"/>
            <a:stCxn id="50" idx="0"/>
            <a:endCxn id="20" idx="2"/>
          </p:cNvCxnSpPr>
          <p:nvPr/>
        </p:nvCxnSpPr>
        <p:spPr bwMode="gray">
          <a:xfrm flipH="1" flipV="1">
            <a:off x="3292475" y="4021138"/>
            <a:ext cx="1897063" cy="781050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04" name="AutoShape 632"/>
          <p:cNvCxnSpPr>
            <a:cxnSpLocks noChangeShapeType="1"/>
            <a:stCxn id="51" idx="0"/>
            <a:endCxn id="21" idx="2"/>
          </p:cNvCxnSpPr>
          <p:nvPr/>
        </p:nvCxnSpPr>
        <p:spPr bwMode="gray">
          <a:xfrm flipH="1" flipV="1">
            <a:off x="3478213" y="4021138"/>
            <a:ext cx="2000250" cy="781050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05" name="AutoShape 633"/>
          <p:cNvCxnSpPr>
            <a:cxnSpLocks noChangeShapeType="1"/>
            <a:stCxn id="52" idx="0"/>
            <a:endCxn id="40" idx="2"/>
          </p:cNvCxnSpPr>
          <p:nvPr/>
        </p:nvCxnSpPr>
        <p:spPr bwMode="gray">
          <a:xfrm flipV="1">
            <a:off x="5765800" y="3997325"/>
            <a:ext cx="703263" cy="804863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06" name="AutoShape 634"/>
          <p:cNvCxnSpPr>
            <a:cxnSpLocks noChangeShapeType="1"/>
            <a:stCxn id="55" idx="0"/>
            <a:endCxn id="13" idx="2"/>
          </p:cNvCxnSpPr>
          <p:nvPr/>
        </p:nvCxnSpPr>
        <p:spPr bwMode="gray">
          <a:xfrm flipH="1" flipV="1">
            <a:off x="2501900" y="4022725"/>
            <a:ext cx="828675" cy="779463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07" name="AutoShape 635"/>
          <p:cNvCxnSpPr>
            <a:cxnSpLocks noChangeShapeType="1"/>
            <a:stCxn id="56" idx="0"/>
            <a:endCxn id="32" idx="2"/>
          </p:cNvCxnSpPr>
          <p:nvPr/>
        </p:nvCxnSpPr>
        <p:spPr bwMode="gray">
          <a:xfrm flipV="1">
            <a:off x="3617913" y="3998913"/>
            <a:ext cx="1874837" cy="803275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sp>
        <p:nvSpPr>
          <p:cNvPr id="108" name="Rectangle 636"/>
          <p:cNvSpPr>
            <a:spLocks noChangeArrowheads="1"/>
          </p:cNvSpPr>
          <p:nvPr/>
        </p:nvSpPr>
        <p:spPr bwMode="auto">
          <a:xfrm>
            <a:off x="2357438" y="1406525"/>
            <a:ext cx="538162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latinLnBrk="1" hangingPunct="1">
              <a:spcBef>
                <a:spcPct val="0"/>
              </a:spcBef>
            </a:pPr>
            <a:r>
              <a:rPr lang="en-US" altLang="ko-KR" sz="600" b="1">
                <a:cs typeface="Arial" charset="0"/>
              </a:rPr>
              <a:t>IBM p570</a:t>
            </a:r>
          </a:p>
        </p:txBody>
      </p:sp>
      <p:sp>
        <p:nvSpPr>
          <p:cNvPr id="109" name="AutoShape 637"/>
          <p:cNvSpPr>
            <a:spLocks noChangeArrowheads="1"/>
          </p:cNvSpPr>
          <p:nvPr/>
        </p:nvSpPr>
        <p:spPr bwMode="auto">
          <a:xfrm>
            <a:off x="4294188" y="1577975"/>
            <a:ext cx="1781175" cy="768350"/>
          </a:xfrm>
          <a:prstGeom prst="flowChartAlternateProcess">
            <a:avLst/>
          </a:prstGeom>
          <a:noFill/>
          <a:ln w="22225" algn="ctr">
            <a:solidFill>
              <a:srgbClr val="0000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/>
            <a:endParaRPr lang="ko-KR" altLang="en-US"/>
          </a:p>
        </p:txBody>
      </p:sp>
      <p:sp>
        <p:nvSpPr>
          <p:cNvPr id="110" name="모서리가 둥근 직사각형 74" descr="image004"/>
          <p:cNvSpPr>
            <a:spLocks noChangeArrowheads="1"/>
          </p:cNvSpPr>
          <p:nvPr/>
        </p:nvSpPr>
        <p:spPr bwMode="gray">
          <a:xfrm>
            <a:off x="4352925" y="1652588"/>
            <a:ext cx="781050" cy="414337"/>
          </a:xfrm>
          <a:prstGeom prst="roundRect">
            <a:avLst>
              <a:gd name="adj" fmla="val 16667"/>
            </a:avLst>
          </a:prstGeom>
          <a:blipFill dpi="0" rotWithShape="1">
            <a:blip r:embed="rId2" cstate="print"/>
            <a:srcRect/>
            <a:stretch>
              <a:fillRect/>
            </a:stretch>
          </a:blipFill>
          <a:ln w="6350" algn="ctr">
            <a:solidFill>
              <a:srgbClr val="87A13D"/>
            </a:solidFill>
            <a:round/>
            <a:headEnd/>
            <a:tailEnd/>
          </a:ln>
        </p:spPr>
        <p:txBody>
          <a:bodyPr lIns="36000" tIns="0" rIns="36000" bIns="0" anchor="ctr"/>
          <a:lstStyle/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ko-KR" sz="600" b="1">
                <a:cs typeface="Arial" charset="0"/>
              </a:rPr>
              <a:t>SAP AP/DB#1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ko-KR" sz="600" b="1">
                <a:cs typeface="Arial" charset="0"/>
              </a:rPr>
              <a:t>2 Port</a:t>
            </a:r>
          </a:p>
        </p:txBody>
      </p:sp>
      <p:grpSp>
        <p:nvGrpSpPr>
          <p:cNvPr id="111" name="Group 639"/>
          <p:cNvGrpSpPr>
            <a:grpSpLocks/>
          </p:cNvGrpSpPr>
          <p:nvPr/>
        </p:nvGrpSpPr>
        <p:grpSpPr bwMode="auto">
          <a:xfrm>
            <a:off x="4435475" y="2082800"/>
            <a:ext cx="312738" cy="339725"/>
            <a:chOff x="133" y="1356"/>
            <a:chExt cx="266" cy="214"/>
          </a:xfrm>
        </p:grpSpPr>
        <p:sp>
          <p:nvSpPr>
            <p:cNvPr id="112" name="Rectangle 640"/>
            <p:cNvSpPr>
              <a:spLocks noChangeArrowheads="1"/>
            </p:cNvSpPr>
            <p:nvPr/>
          </p:nvSpPr>
          <p:spPr bwMode="auto">
            <a:xfrm>
              <a:off x="133" y="1356"/>
              <a:ext cx="266" cy="15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latinLnBrk="1" hangingPunct="1">
                <a:spcBef>
                  <a:spcPct val="0"/>
                </a:spcBef>
              </a:pPr>
              <a:r>
                <a:rPr kumimoji="1" lang="en-US" altLang="ko-KR" sz="500" b="1">
                  <a:solidFill>
                    <a:schemeClr val="tx1"/>
                  </a:solidFill>
                </a:rPr>
                <a:t>HBA1</a:t>
              </a:r>
            </a:p>
          </p:txBody>
        </p:sp>
        <p:grpSp>
          <p:nvGrpSpPr>
            <p:cNvPr id="113" name="Group 641"/>
            <p:cNvGrpSpPr>
              <a:grpSpLocks/>
            </p:cNvGrpSpPr>
            <p:nvPr/>
          </p:nvGrpSpPr>
          <p:grpSpPr bwMode="auto">
            <a:xfrm>
              <a:off x="211" y="1457"/>
              <a:ext cx="118" cy="113"/>
              <a:chOff x="1094" y="1457"/>
              <a:chExt cx="118" cy="113"/>
            </a:xfrm>
          </p:grpSpPr>
          <p:sp>
            <p:nvSpPr>
              <p:cNvPr id="114" name="Rectangle 642"/>
              <p:cNvSpPr>
                <a:spLocks noChangeArrowheads="1"/>
              </p:cNvSpPr>
              <p:nvPr/>
            </p:nvSpPr>
            <p:spPr bwMode="gray">
              <a:xfrm>
                <a:off x="1094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  <p:sp>
            <p:nvSpPr>
              <p:cNvPr id="115" name="Rectangle 643"/>
              <p:cNvSpPr>
                <a:spLocks noChangeArrowheads="1"/>
              </p:cNvSpPr>
              <p:nvPr/>
            </p:nvSpPr>
            <p:spPr bwMode="gray">
              <a:xfrm>
                <a:off x="1167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</p:grpSp>
      </p:grpSp>
      <p:sp>
        <p:nvSpPr>
          <p:cNvPr id="116" name="모서리가 둥근 직사각형 74" descr="image004"/>
          <p:cNvSpPr>
            <a:spLocks noChangeArrowheads="1"/>
          </p:cNvSpPr>
          <p:nvPr/>
        </p:nvSpPr>
        <p:spPr bwMode="gray">
          <a:xfrm>
            <a:off x="5200650" y="1652588"/>
            <a:ext cx="781050" cy="414337"/>
          </a:xfrm>
          <a:prstGeom prst="roundRect">
            <a:avLst>
              <a:gd name="adj" fmla="val 16667"/>
            </a:avLst>
          </a:prstGeom>
          <a:blipFill dpi="0" rotWithShape="1">
            <a:blip r:embed="rId2" cstate="print"/>
            <a:srcRect/>
            <a:stretch>
              <a:fillRect/>
            </a:stretch>
          </a:blipFill>
          <a:ln w="6350" algn="ctr">
            <a:solidFill>
              <a:srgbClr val="87A13D"/>
            </a:solidFill>
            <a:round/>
            <a:headEnd/>
            <a:tailEnd/>
          </a:ln>
        </p:spPr>
        <p:txBody>
          <a:bodyPr lIns="36000" tIns="0" rIns="36000" bIns="0" anchor="ctr"/>
          <a:lstStyle/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ko-KR" sz="600" b="1">
                <a:cs typeface="Arial" charset="0"/>
              </a:rPr>
              <a:t>SAP AP/DB#2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ko-KR" sz="600" b="1">
                <a:cs typeface="Arial" charset="0"/>
              </a:rPr>
              <a:t>2 Port</a:t>
            </a:r>
          </a:p>
        </p:txBody>
      </p:sp>
      <p:grpSp>
        <p:nvGrpSpPr>
          <p:cNvPr id="117" name="Group 645"/>
          <p:cNvGrpSpPr>
            <a:grpSpLocks/>
          </p:cNvGrpSpPr>
          <p:nvPr/>
        </p:nvGrpSpPr>
        <p:grpSpPr bwMode="auto">
          <a:xfrm>
            <a:off x="5289550" y="2082800"/>
            <a:ext cx="312738" cy="339725"/>
            <a:chOff x="133" y="1356"/>
            <a:chExt cx="266" cy="214"/>
          </a:xfrm>
        </p:grpSpPr>
        <p:sp>
          <p:nvSpPr>
            <p:cNvPr id="118" name="Rectangle 646"/>
            <p:cNvSpPr>
              <a:spLocks noChangeArrowheads="1"/>
            </p:cNvSpPr>
            <p:nvPr/>
          </p:nvSpPr>
          <p:spPr bwMode="auto">
            <a:xfrm>
              <a:off x="133" y="1356"/>
              <a:ext cx="266" cy="15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latinLnBrk="1" hangingPunct="1">
                <a:spcBef>
                  <a:spcPct val="0"/>
                </a:spcBef>
              </a:pPr>
              <a:r>
                <a:rPr kumimoji="1" lang="en-US" altLang="ko-KR" sz="500" b="1">
                  <a:solidFill>
                    <a:schemeClr val="tx1"/>
                  </a:solidFill>
                </a:rPr>
                <a:t>HBA1</a:t>
              </a:r>
            </a:p>
          </p:txBody>
        </p:sp>
        <p:grpSp>
          <p:nvGrpSpPr>
            <p:cNvPr id="119" name="Group 647"/>
            <p:cNvGrpSpPr>
              <a:grpSpLocks/>
            </p:cNvGrpSpPr>
            <p:nvPr/>
          </p:nvGrpSpPr>
          <p:grpSpPr bwMode="auto">
            <a:xfrm>
              <a:off x="211" y="1457"/>
              <a:ext cx="118" cy="113"/>
              <a:chOff x="1094" y="1457"/>
              <a:chExt cx="118" cy="113"/>
            </a:xfrm>
          </p:grpSpPr>
          <p:sp>
            <p:nvSpPr>
              <p:cNvPr id="120" name="Rectangle 648"/>
              <p:cNvSpPr>
                <a:spLocks noChangeArrowheads="1"/>
              </p:cNvSpPr>
              <p:nvPr/>
            </p:nvSpPr>
            <p:spPr bwMode="gray">
              <a:xfrm>
                <a:off x="1094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  <p:sp>
            <p:nvSpPr>
              <p:cNvPr id="121" name="Rectangle 649"/>
              <p:cNvSpPr>
                <a:spLocks noChangeArrowheads="1"/>
              </p:cNvSpPr>
              <p:nvPr/>
            </p:nvSpPr>
            <p:spPr bwMode="gray">
              <a:xfrm>
                <a:off x="1167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</p:grpSp>
      </p:grpSp>
      <p:sp>
        <p:nvSpPr>
          <p:cNvPr id="122" name="Rectangle 650"/>
          <p:cNvSpPr>
            <a:spLocks noChangeArrowheads="1"/>
          </p:cNvSpPr>
          <p:nvPr/>
        </p:nvSpPr>
        <p:spPr bwMode="auto">
          <a:xfrm>
            <a:off x="4856163" y="1368425"/>
            <a:ext cx="720725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latinLnBrk="1" hangingPunct="1">
              <a:spcBef>
                <a:spcPct val="0"/>
              </a:spcBef>
            </a:pPr>
            <a:r>
              <a:rPr lang="en-US" altLang="ko-KR" sz="600" b="1">
                <a:cs typeface="Arial" charset="0"/>
              </a:rPr>
              <a:t>IBM x3950 M2</a:t>
            </a:r>
          </a:p>
        </p:txBody>
      </p:sp>
      <p:cxnSp>
        <p:nvCxnSpPr>
          <p:cNvPr id="123" name="AutoShape 651"/>
          <p:cNvCxnSpPr>
            <a:cxnSpLocks noChangeShapeType="1"/>
            <a:stCxn id="120" idx="2"/>
            <a:endCxn id="25" idx="0"/>
          </p:cNvCxnSpPr>
          <p:nvPr/>
        </p:nvCxnSpPr>
        <p:spPr bwMode="gray">
          <a:xfrm flipH="1">
            <a:off x="3478213" y="2422525"/>
            <a:ext cx="1930400" cy="118268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24" name="AutoShape 652"/>
          <p:cNvCxnSpPr>
            <a:cxnSpLocks noChangeShapeType="1"/>
            <a:stCxn id="114" idx="2"/>
            <a:endCxn id="27" idx="0"/>
          </p:cNvCxnSpPr>
          <p:nvPr/>
        </p:nvCxnSpPr>
        <p:spPr bwMode="gray">
          <a:xfrm flipH="1">
            <a:off x="3106738" y="2422525"/>
            <a:ext cx="1447800" cy="118268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sp>
        <p:nvSpPr>
          <p:cNvPr id="125" name="AutoShape 653"/>
          <p:cNvSpPr>
            <a:spLocks noChangeArrowheads="1"/>
          </p:cNvSpPr>
          <p:nvPr/>
        </p:nvSpPr>
        <p:spPr bwMode="auto">
          <a:xfrm>
            <a:off x="6875463" y="1584325"/>
            <a:ext cx="1781175" cy="768350"/>
          </a:xfrm>
          <a:prstGeom prst="flowChartAlternateProcess">
            <a:avLst/>
          </a:prstGeom>
          <a:noFill/>
          <a:ln w="22225" algn="ctr">
            <a:solidFill>
              <a:srgbClr val="0000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/>
            <a:endParaRPr lang="ko-KR" altLang="en-US"/>
          </a:p>
        </p:txBody>
      </p:sp>
      <p:sp>
        <p:nvSpPr>
          <p:cNvPr id="126" name="모서리가 둥근 직사각형 74" descr="image004"/>
          <p:cNvSpPr>
            <a:spLocks noChangeArrowheads="1"/>
          </p:cNvSpPr>
          <p:nvPr/>
        </p:nvSpPr>
        <p:spPr bwMode="gray">
          <a:xfrm>
            <a:off x="6934200" y="1658938"/>
            <a:ext cx="781050" cy="414337"/>
          </a:xfrm>
          <a:prstGeom prst="roundRect">
            <a:avLst>
              <a:gd name="adj" fmla="val 16667"/>
            </a:avLst>
          </a:prstGeom>
          <a:blipFill dpi="0" rotWithShape="1">
            <a:blip r:embed="rId2" cstate="print"/>
            <a:srcRect/>
            <a:stretch>
              <a:fillRect/>
            </a:stretch>
          </a:blipFill>
          <a:ln w="6350" algn="ctr">
            <a:solidFill>
              <a:srgbClr val="87A13D"/>
            </a:solidFill>
            <a:round/>
            <a:headEnd/>
            <a:tailEnd/>
          </a:ln>
        </p:spPr>
        <p:txBody>
          <a:bodyPr lIns="36000" tIns="0" rIns="36000" bIns="0" anchor="ctr"/>
          <a:lstStyle/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ko-KR" sz="600" b="1">
                <a:cs typeface="Arial" charset="0"/>
              </a:rPr>
              <a:t>IF #1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ko-KR" sz="600" b="1">
                <a:cs typeface="Arial" charset="0"/>
              </a:rPr>
              <a:t>2 Port</a:t>
            </a:r>
          </a:p>
        </p:txBody>
      </p:sp>
      <p:sp>
        <p:nvSpPr>
          <p:cNvPr id="127" name="Rectangle 655"/>
          <p:cNvSpPr>
            <a:spLocks noChangeArrowheads="1"/>
          </p:cNvSpPr>
          <p:nvPr/>
        </p:nvSpPr>
        <p:spPr bwMode="auto">
          <a:xfrm>
            <a:off x="7023100" y="2089150"/>
            <a:ext cx="312738" cy="2381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500" b="1">
                <a:solidFill>
                  <a:schemeClr val="tx1"/>
                </a:solidFill>
              </a:rPr>
              <a:t>HBA1</a:t>
            </a:r>
          </a:p>
        </p:txBody>
      </p:sp>
      <p:sp>
        <p:nvSpPr>
          <p:cNvPr id="128" name="Rectangle 656"/>
          <p:cNvSpPr>
            <a:spLocks noChangeArrowheads="1"/>
          </p:cNvSpPr>
          <p:nvPr/>
        </p:nvSpPr>
        <p:spPr bwMode="gray">
          <a:xfrm>
            <a:off x="7165975" y="2249488"/>
            <a:ext cx="52388" cy="179387"/>
          </a:xfrm>
          <a:prstGeom prst="rect">
            <a:avLst/>
          </a:prstGeom>
          <a:solidFill>
            <a:srgbClr val="969696"/>
          </a:solidFill>
          <a:ln w="9525" algn="ctr">
            <a:noFill/>
            <a:miter lim="800000"/>
            <a:headEnd/>
            <a:tailEnd/>
          </a:ln>
        </p:spPr>
        <p:txBody>
          <a:bodyPr wrap="none" lIns="45720" rIns="45720" anchor="ctr"/>
          <a:lstStyle/>
          <a:p>
            <a:pPr algn="just"/>
            <a:endParaRPr lang="ko-KR" altLang="en-US"/>
          </a:p>
        </p:txBody>
      </p:sp>
      <p:sp>
        <p:nvSpPr>
          <p:cNvPr id="129" name="모서리가 둥근 직사각형 74" descr="image004"/>
          <p:cNvSpPr>
            <a:spLocks noChangeArrowheads="1"/>
          </p:cNvSpPr>
          <p:nvPr/>
        </p:nvSpPr>
        <p:spPr bwMode="gray">
          <a:xfrm>
            <a:off x="7781925" y="1658938"/>
            <a:ext cx="781050" cy="414337"/>
          </a:xfrm>
          <a:prstGeom prst="roundRect">
            <a:avLst>
              <a:gd name="adj" fmla="val 16667"/>
            </a:avLst>
          </a:prstGeom>
          <a:blipFill dpi="0" rotWithShape="1">
            <a:blip r:embed="rId2" cstate="print"/>
            <a:srcRect/>
            <a:stretch>
              <a:fillRect/>
            </a:stretch>
          </a:blipFill>
          <a:ln w="6350" algn="ctr">
            <a:solidFill>
              <a:srgbClr val="87A13D"/>
            </a:solidFill>
            <a:round/>
            <a:headEnd/>
            <a:tailEnd/>
          </a:ln>
        </p:spPr>
        <p:txBody>
          <a:bodyPr lIns="36000" tIns="0" rIns="36000" bIns="0" anchor="ctr"/>
          <a:lstStyle/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ko-KR" sz="600" b="1">
                <a:cs typeface="Arial" charset="0"/>
              </a:rPr>
              <a:t>IF #2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ko-KR" sz="600" b="1">
                <a:cs typeface="Arial" charset="0"/>
              </a:rPr>
              <a:t>2 Port</a:t>
            </a:r>
          </a:p>
        </p:txBody>
      </p:sp>
      <p:sp>
        <p:nvSpPr>
          <p:cNvPr id="130" name="Rectangle 658"/>
          <p:cNvSpPr>
            <a:spLocks noChangeArrowheads="1"/>
          </p:cNvSpPr>
          <p:nvPr/>
        </p:nvSpPr>
        <p:spPr bwMode="auto">
          <a:xfrm>
            <a:off x="7437438" y="1374775"/>
            <a:ext cx="720725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latinLnBrk="1" hangingPunct="1">
              <a:spcBef>
                <a:spcPct val="0"/>
              </a:spcBef>
            </a:pPr>
            <a:r>
              <a:rPr lang="en-US" altLang="ko-KR" sz="600" b="1">
                <a:cs typeface="Arial" charset="0"/>
              </a:rPr>
              <a:t>IBM x3650 M2</a:t>
            </a:r>
          </a:p>
        </p:txBody>
      </p:sp>
      <p:cxnSp>
        <p:nvCxnSpPr>
          <p:cNvPr id="131" name="AutoShape 659"/>
          <p:cNvCxnSpPr>
            <a:cxnSpLocks noChangeShapeType="1"/>
            <a:stCxn id="145" idx="2"/>
            <a:endCxn id="67" idx="0"/>
          </p:cNvCxnSpPr>
          <p:nvPr/>
        </p:nvCxnSpPr>
        <p:spPr bwMode="gray">
          <a:xfrm flipH="1">
            <a:off x="4186238" y="2428875"/>
            <a:ext cx="3838575" cy="1179513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32" name="AutoShape 660"/>
          <p:cNvCxnSpPr>
            <a:cxnSpLocks noChangeShapeType="1"/>
            <a:stCxn id="128" idx="2"/>
            <a:endCxn id="70" idx="0"/>
          </p:cNvCxnSpPr>
          <p:nvPr/>
        </p:nvCxnSpPr>
        <p:spPr bwMode="gray">
          <a:xfrm flipH="1">
            <a:off x="4000500" y="2428875"/>
            <a:ext cx="3192463" cy="1179513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grpSp>
        <p:nvGrpSpPr>
          <p:cNvPr id="133" name="Group 661"/>
          <p:cNvGrpSpPr>
            <a:grpSpLocks/>
          </p:cNvGrpSpPr>
          <p:nvPr/>
        </p:nvGrpSpPr>
        <p:grpSpPr bwMode="auto">
          <a:xfrm>
            <a:off x="4772025" y="2082800"/>
            <a:ext cx="312738" cy="339725"/>
            <a:chOff x="133" y="1356"/>
            <a:chExt cx="266" cy="214"/>
          </a:xfrm>
        </p:grpSpPr>
        <p:sp>
          <p:nvSpPr>
            <p:cNvPr id="134" name="Rectangle 662"/>
            <p:cNvSpPr>
              <a:spLocks noChangeArrowheads="1"/>
            </p:cNvSpPr>
            <p:nvPr/>
          </p:nvSpPr>
          <p:spPr bwMode="auto">
            <a:xfrm>
              <a:off x="133" y="1356"/>
              <a:ext cx="266" cy="15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latinLnBrk="1" hangingPunct="1">
                <a:spcBef>
                  <a:spcPct val="0"/>
                </a:spcBef>
              </a:pPr>
              <a:r>
                <a:rPr kumimoji="1" lang="en-US" altLang="ko-KR" sz="500" b="1">
                  <a:solidFill>
                    <a:schemeClr val="tx1"/>
                  </a:solidFill>
                </a:rPr>
                <a:t>HBA1</a:t>
              </a:r>
            </a:p>
          </p:txBody>
        </p:sp>
        <p:grpSp>
          <p:nvGrpSpPr>
            <p:cNvPr id="135" name="Group 663"/>
            <p:cNvGrpSpPr>
              <a:grpSpLocks/>
            </p:cNvGrpSpPr>
            <p:nvPr/>
          </p:nvGrpSpPr>
          <p:grpSpPr bwMode="auto">
            <a:xfrm>
              <a:off x="211" y="1457"/>
              <a:ext cx="118" cy="113"/>
              <a:chOff x="1094" y="1457"/>
              <a:chExt cx="118" cy="113"/>
            </a:xfrm>
          </p:grpSpPr>
          <p:sp>
            <p:nvSpPr>
              <p:cNvPr id="136" name="Rectangle 664"/>
              <p:cNvSpPr>
                <a:spLocks noChangeArrowheads="1"/>
              </p:cNvSpPr>
              <p:nvPr/>
            </p:nvSpPr>
            <p:spPr bwMode="gray">
              <a:xfrm>
                <a:off x="1094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  <p:sp>
            <p:nvSpPr>
              <p:cNvPr id="137" name="Rectangle 665"/>
              <p:cNvSpPr>
                <a:spLocks noChangeArrowheads="1"/>
              </p:cNvSpPr>
              <p:nvPr/>
            </p:nvSpPr>
            <p:spPr bwMode="gray">
              <a:xfrm>
                <a:off x="1167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</p:grpSp>
      </p:grpSp>
      <p:grpSp>
        <p:nvGrpSpPr>
          <p:cNvPr id="138" name="Group 666"/>
          <p:cNvGrpSpPr>
            <a:grpSpLocks/>
          </p:cNvGrpSpPr>
          <p:nvPr/>
        </p:nvGrpSpPr>
        <p:grpSpPr bwMode="auto">
          <a:xfrm>
            <a:off x="5626100" y="2082800"/>
            <a:ext cx="312738" cy="339725"/>
            <a:chOff x="133" y="1356"/>
            <a:chExt cx="266" cy="214"/>
          </a:xfrm>
        </p:grpSpPr>
        <p:sp>
          <p:nvSpPr>
            <p:cNvPr id="139" name="Rectangle 667"/>
            <p:cNvSpPr>
              <a:spLocks noChangeArrowheads="1"/>
            </p:cNvSpPr>
            <p:nvPr/>
          </p:nvSpPr>
          <p:spPr bwMode="auto">
            <a:xfrm>
              <a:off x="133" y="1356"/>
              <a:ext cx="266" cy="15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latinLnBrk="1" hangingPunct="1">
                <a:spcBef>
                  <a:spcPct val="0"/>
                </a:spcBef>
              </a:pPr>
              <a:r>
                <a:rPr kumimoji="1" lang="en-US" altLang="ko-KR" sz="500" b="1">
                  <a:solidFill>
                    <a:schemeClr val="tx1"/>
                  </a:solidFill>
                </a:rPr>
                <a:t>HBA1</a:t>
              </a:r>
            </a:p>
          </p:txBody>
        </p:sp>
        <p:grpSp>
          <p:nvGrpSpPr>
            <p:cNvPr id="140" name="Group 668"/>
            <p:cNvGrpSpPr>
              <a:grpSpLocks/>
            </p:cNvGrpSpPr>
            <p:nvPr/>
          </p:nvGrpSpPr>
          <p:grpSpPr bwMode="auto">
            <a:xfrm>
              <a:off x="211" y="1457"/>
              <a:ext cx="118" cy="113"/>
              <a:chOff x="1094" y="1457"/>
              <a:chExt cx="118" cy="113"/>
            </a:xfrm>
          </p:grpSpPr>
          <p:sp>
            <p:nvSpPr>
              <p:cNvPr id="141" name="Rectangle 669"/>
              <p:cNvSpPr>
                <a:spLocks noChangeArrowheads="1"/>
              </p:cNvSpPr>
              <p:nvPr/>
            </p:nvSpPr>
            <p:spPr bwMode="gray">
              <a:xfrm>
                <a:off x="1094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  <p:sp>
            <p:nvSpPr>
              <p:cNvPr id="142" name="Rectangle 670"/>
              <p:cNvSpPr>
                <a:spLocks noChangeArrowheads="1"/>
              </p:cNvSpPr>
              <p:nvPr/>
            </p:nvSpPr>
            <p:spPr bwMode="gray">
              <a:xfrm>
                <a:off x="1167" y="1457"/>
                <a:ext cx="45" cy="113"/>
              </a:xfrm>
              <a:prstGeom prst="rect">
                <a:avLst/>
              </a:prstGeom>
              <a:solidFill>
                <a:srgbClr val="969696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lIns="45720" rIns="45720" anchor="ctr"/>
              <a:lstStyle/>
              <a:p>
                <a:pPr algn="just"/>
                <a:endParaRPr lang="ko-KR" altLang="en-US"/>
              </a:p>
            </p:txBody>
          </p:sp>
        </p:grpSp>
      </p:grpSp>
      <p:cxnSp>
        <p:nvCxnSpPr>
          <p:cNvPr id="143" name="AutoShape 671"/>
          <p:cNvCxnSpPr>
            <a:cxnSpLocks noChangeShapeType="1"/>
            <a:stCxn id="136" idx="2"/>
            <a:endCxn id="24" idx="0"/>
          </p:cNvCxnSpPr>
          <p:nvPr/>
        </p:nvCxnSpPr>
        <p:spPr bwMode="gray">
          <a:xfrm flipH="1">
            <a:off x="3292475" y="2422525"/>
            <a:ext cx="1598613" cy="118268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sp>
        <p:nvSpPr>
          <p:cNvPr id="144" name="Rectangle 672"/>
          <p:cNvSpPr>
            <a:spLocks noChangeArrowheads="1"/>
          </p:cNvSpPr>
          <p:nvPr/>
        </p:nvSpPr>
        <p:spPr bwMode="auto">
          <a:xfrm>
            <a:off x="7854950" y="2089150"/>
            <a:ext cx="312738" cy="2381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500" b="1">
                <a:solidFill>
                  <a:schemeClr val="tx1"/>
                </a:solidFill>
              </a:rPr>
              <a:t>HBA1</a:t>
            </a:r>
          </a:p>
        </p:txBody>
      </p:sp>
      <p:sp>
        <p:nvSpPr>
          <p:cNvPr id="145" name="Rectangle 673"/>
          <p:cNvSpPr>
            <a:spLocks noChangeArrowheads="1"/>
          </p:cNvSpPr>
          <p:nvPr/>
        </p:nvSpPr>
        <p:spPr bwMode="gray">
          <a:xfrm>
            <a:off x="7997825" y="2249488"/>
            <a:ext cx="52388" cy="179387"/>
          </a:xfrm>
          <a:prstGeom prst="rect">
            <a:avLst/>
          </a:prstGeom>
          <a:solidFill>
            <a:srgbClr val="969696"/>
          </a:solidFill>
          <a:ln w="9525" algn="ctr">
            <a:noFill/>
            <a:miter lim="800000"/>
            <a:headEnd/>
            <a:tailEnd/>
          </a:ln>
        </p:spPr>
        <p:txBody>
          <a:bodyPr wrap="none" lIns="45720" rIns="45720" anchor="ctr"/>
          <a:lstStyle/>
          <a:p>
            <a:pPr algn="just"/>
            <a:endParaRPr lang="ko-KR" altLang="en-US"/>
          </a:p>
        </p:txBody>
      </p:sp>
      <p:sp>
        <p:nvSpPr>
          <p:cNvPr id="146" name="Rectangle 674"/>
          <p:cNvSpPr>
            <a:spLocks noChangeArrowheads="1"/>
          </p:cNvSpPr>
          <p:nvPr/>
        </p:nvSpPr>
        <p:spPr bwMode="auto">
          <a:xfrm>
            <a:off x="7353300" y="2089150"/>
            <a:ext cx="312738" cy="2381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500" b="1">
                <a:solidFill>
                  <a:schemeClr val="tx1"/>
                </a:solidFill>
              </a:rPr>
              <a:t>HBA1</a:t>
            </a:r>
          </a:p>
        </p:txBody>
      </p:sp>
      <p:sp>
        <p:nvSpPr>
          <p:cNvPr id="147" name="Rectangle 675"/>
          <p:cNvSpPr>
            <a:spLocks noChangeArrowheads="1"/>
          </p:cNvSpPr>
          <p:nvPr/>
        </p:nvSpPr>
        <p:spPr bwMode="gray">
          <a:xfrm>
            <a:off x="7496175" y="2249488"/>
            <a:ext cx="52388" cy="179387"/>
          </a:xfrm>
          <a:prstGeom prst="rect">
            <a:avLst/>
          </a:prstGeom>
          <a:solidFill>
            <a:srgbClr val="969696"/>
          </a:solidFill>
          <a:ln w="9525" algn="ctr">
            <a:noFill/>
            <a:miter lim="800000"/>
            <a:headEnd/>
            <a:tailEnd/>
          </a:ln>
        </p:spPr>
        <p:txBody>
          <a:bodyPr wrap="none" lIns="45720" rIns="45720" anchor="ctr"/>
          <a:lstStyle/>
          <a:p>
            <a:pPr algn="just"/>
            <a:endParaRPr lang="ko-KR" altLang="en-US"/>
          </a:p>
        </p:txBody>
      </p:sp>
      <p:sp>
        <p:nvSpPr>
          <p:cNvPr id="148" name="Rectangle 676"/>
          <p:cNvSpPr>
            <a:spLocks noChangeArrowheads="1"/>
          </p:cNvSpPr>
          <p:nvPr/>
        </p:nvSpPr>
        <p:spPr bwMode="auto">
          <a:xfrm>
            <a:off x="8191500" y="2089150"/>
            <a:ext cx="312738" cy="2381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500" b="1">
                <a:solidFill>
                  <a:schemeClr val="tx1"/>
                </a:solidFill>
              </a:rPr>
              <a:t>HBA1</a:t>
            </a:r>
          </a:p>
        </p:txBody>
      </p:sp>
      <p:sp>
        <p:nvSpPr>
          <p:cNvPr id="149" name="Rectangle 677"/>
          <p:cNvSpPr>
            <a:spLocks noChangeArrowheads="1"/>
          </p:cNvSpPr>
          <p:nvPr/>
        </p:nvSpPr>
        <p:spPr bwMode="gray">
          <a:xfrm>
            <a:off x="8334375" y="2249488"/>
            <a:ext cx="52388" cy="179387"/>
          </a:xfrm>
          <a:prstGeom prst="rect">
            <a:avLst/>
          </a:prstGeom>
          <a:solidFill>
            <a:srgbClr val="969696"/>
          </a:solidFill>
          <a:ln w="9525" algn="ctr">
            <a:noFill/>
            <a:miter lim="800000"/>
            <a:headEnd/>
            <a:tailEnd/>
          </a:ln>
        </p:spPr>
        <p:txBody>
          <a:bodyPr wrap="none" lIns="45720" rIns="45720" anchor="ctr"/>
          <a:lstStyle/>
          <a:p>
            <a:pPr algn="just"/>
            <a:endParaRPr lang="ko-KR" altLang="en-US"/>
          </a:p>
        </p:txBody>
      </p:sp>
      <p:cxnSp>
        <p:nvCxnSpPr>
          <p:cNvPr id="150" name="AutoShape 678"/>
          <p:cNvCxnSpPr>
            <a:cxnSpLocks noChangeShapeType="1"/>
            <a:stCxn id="147" idx="2"/>
            <a:endCxn id="78" idx="0"/>
          </p:cNvCxnSpPr>
          <p:nvPr/>
        </p:nvCxnSpPr>
        <p:spPr bwMode="gray">
          <a:xfrm flipH="1">
            <a:off x="7440613" y="2428875"/>
            <a:ext cx="82550" cy="1155700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51" name="AutoShape 679"/>
          <p:cNvCxnSpPr>
            <a:cxnSpLocks noChangeShapeType="1"/>
            <a:stCxn id="149" idx="2"/>
            <a:endCxn id="75" idx="0"/>
          </p:cNvCxnSpPr>
          <p:nvPr/>
        </p:nvCxnSpPr>
        <p:spPr bwMode="gray">
          <a:xfrm flipH="1">
            <a:off x="7626350" y="2428875"/>
            <a:ext cx="735013" cy="1155700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sp>
        <p:nvSpPr>
          <p:cNvPr id="152" name="Rectangle 680"/>
          <p:cNvSpPr>
            <a:spLocks noChangeArrowheads="1"/>
          </p:cNvSpPr>
          <p:nvPr/>
        </p:nvSpPr>
        <p:spPr bwMode="auto">
          <a:xfrm>
            <a:off x="8247063" y="4916488"/>
            <a:ext cx="117475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latinLnBrk="1" hangingPunct="1">
              <a:spcBef>
                <a:spcPct val="0"/>
              </a:spcBef>
            </a:pPr>
            <a:r>
              <a:rPr lang="en-US" altLang="ko-KR" sz="1000" b="1">
                <a:solidFill>
                  <a:schemeClr val="tx1"/>
                </a:solidFill>
              </a:rPr>
              <a:t>Backup </a:t>
            </a:r>
            <a:r>
              <a:rPr lang="ko-KR" altLang="en-US" sz="1000" b="1">
                <a:solidFill>
                  <a:schemeClr val="tx1"/>
                </a:solidFill>
              </a:rPr>
              <a:t>서버연결</a:t>
            </a:r>
          </a:p>
        </p:txBody>
      </p:sp>
      <p:cxnSp>
        <p:nvCxnSpPr>
          <p:cNvPr id="153" name="AutoShape 681"/>
          <p:cNvCxnSpPr>
            <a:cxnSpLocks noChangeShapeType="1"/>
            <a:stCxn id="73" idx="3"/>
            <a:endCxn id="152" idx="1"/>
          </p:cNvCxnSpPr>
          <p:nvPr/>
        </p:nvCxnSpPr>
        <p:spPr bwMode="auto">
          <a:xfrm>
            <a:off x="8062913" y="3952875"/>
            <a:ext cx="184150" cy="10858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54" name="AutoShape 682"/>
          <p:cNvCxnSpPr>
            <a:cxnSpLocks noChangeShapeType="1"/>
            <a:stCxn id="85" idx="2"/>
            <a:endCxn id="36" idx="0"/>
          </p:cNvCxnSpPr>
          <p:nvPr/>
        </p:nvCxnSpPr>
        <p:spPr bwMode="gray">
          <a:xfrm>
            <a:off x="2084388" y="2460625"/>
            <a:ext cx="3411537" cy="1122363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55" name="AutoShape 683"/>
          <p:cNvCxnSpPr>
            <a:cxnSpLocks noChangeShapeType="1"/>
            <a:stCxn id="90" idx="2"/>
            <a:endCxn id="33" idx="0"/>
          </p:cNvCxnSpPr>
          <p:nvPr/>
        </p:nvCxnSpPr>
        <p:spPr bwMode="gray">
          <a:xfrm>
            <a:off x="2425700" y="2460625"/>
            <a:ext cx="3255963" cy="1122363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56" name="AutoShape 684"/>
          <p:cNvCxnSpPr>
            <a:cxnSpLocks noChangeShapeType="1"/>
            <a:stCxn id="95" idx="2"/>
            <a:endCxn id="17" idx="0"/>
          </p:cNvCxnSpPr>
          <p:nvPr/>
        </p:nvCxnSpPr>
        <p:spPr bwMode="gray">
          <a:xfrm flipH="1">
            <a:off x="2501900" y="2460625"/>
            <a:ext cx="344488" cy="1146175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57" name="AutoShape 685"/>
          <p:cNvCxnSpPr>
            <a:cxnSpLocks noChangeShapeType="1"/>
            <a:stCxn id="100" idx="2"/>
            <a:endCxn id="18" idx="0"/>
          </p:cNvCxnSpPr>
          <p:nvPr/>
        </p:nvCxnSpPr>
        <p:spPr bwMode="gray">
          <a:xfrm flipH="1">
            <a:off x="2687638" y="2460625"/>
            <a:ext cx="500062" cy="1146175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58" name="AutoShape 686"/>
          <p:cNvCxnSpPr>
            <a:cxnSpLocks noChangeShapeType="1"/>
            <a:stCxn id="96" idx="2"/>
            <a:endCxn id="34" idx="0"/>
          </p:cNvCxnSpPr>
          <p:nvPr/>
        </p:nvCxnSpPr>
        <p:spPr bwMode="gray">
          <a:xfrm>
            <a:off x="2932113" y="2460625"/>
            <a:ext cx="2935287" cy="1122363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59" name="AutoShape 687"/>
          <p:cNvCxnSpPr>
            <a:cxnSpLocks noChangeShapeType="1"/>
            <a:stCxn id="101" idx="2"/>
            <a:endCxn id="35" idx="0"/>
          </p:cNvCxnSpPr>
          <p:nvPr/>
        </p:nvCxnSpPr>
        <p:spPr bwMode="gray">
          <a:xfrm>
            <a:off x="3273425" y="2460625"/>
            <a:ext cx="2779713" cy="1122363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60" name="AutoShape 688"/>
          <p:cNvCxnSpPr>
            <a:cxnSpLocks noChangeShapeType="1"/>
            <a:stCxn id="141" idx="2"/>
            <a:endCxn id="26" idx="0"/>
          </p:cNvCxnSpPr>
          <p:nvPr/>
        </p:nvCxnSpPr>
        <p:spPr bwMode="gray">
          <a:xfrm flipH="1">
            <a:off x="3663950" y="2422525"/>
            <a:ext cx="2081213" cy="118268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61" name="AutoShape 689"/>
          <p:cNvCxnSpPr>
            <a:cxnSpLocks noChangeShapeType="1"/>
            <a:stCxn id="47" idx="0"/>
            <a:endCxn id="29" idx="2"/>
          </p:cNvCxnSpPr>
          <p:nvPr/>
        </p:nvCxnSpPr>
        <p:spPr bwMode="gray">
          <a:xfrm flipV="1">
            <a:off x="3905250" y="3998913"/>
            <a:ext cx="1773238" cy="803275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62" name="AutoShape 690"/>
          <p:cNvCxnSpPr>
            <a:cxnSpLocks noChangeShapeType="1"/>
            <a:stCxn id="48" idx="0"/>
            <a:endCxn id="30" idx="2"/>
          </p:cNvCxnSpPr>
          <p:nvPr/>
        </p:nvCxnSpPr>
        <p:spPr bwMode="gray">
          <a:xfrm flipV="1">
            <a:off x="4192588" y="3998913"/>
            <a:ext cx="1671637" cy="803275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63" name="AutoShape 691"/>
          <p:cNvCxnSpPr>
            <a:cxnSpLocks noChangeShapeType="1"/>
            <a:stCxn id="57" idx="0"/>
            <a:endCxn id="37" idx="2"/>
          </p:cNvCxnSpPr>
          <p:nvPr/>
        </p:nvCxnSpPr>
        <p:spPr bwMode="gray">
          <a:xfrm flipV="1">
            <a:off x="6054725" y="3997325"/>
            <a:ext cx="600075" cy="804863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64" name="AutoShape 692"/>
          <p:cNvCxnSpPr>
            <a:cxnSpLocks noChangeShapeType="1"/>
            <a:stCxn id="58" idx="0"/>
            <a:endCxn id="38" idx="2"/>
          </p:cNvCxnSpPr>
          <p:nvPr/>
        </p:nvCxnSpPr>
        <p:spPr bwMode="gray">
          <a:xfrm flipV="1">
            <a:off x="6342063" y="3997325"/>
            <a:ext cx="498475" cy="804863"/>
          </a:xfrm>
          <a:prstGeom prst="straightConnector1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</p:spPr>
      </p:cxnSp>
      <p:cxnSp>
        <p:nvCxnSpPr>
          <p:cNvPr id="165" name="AutoShape 693"/>
          <p:cNvCxnSpPr>
            <a:cxnSpLocks noChangeShapeType="1"/>
            <a:stCxn id="115" idx="2"/>
            <a:endCxn id="44" idx="0"/>
          </p:cNvCxnSpPr>
          <p:nvPr/>
        </p:nvCxnSpPr>
        <p:spPr bwMode="gray">
          <a:xfrm>
            <a:off x="4640263" y="2422525"/>
            <a:ext cx="1831975" cy="11588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66" name="AutoShape 694"/>
          <p:cNvCxnSpPr>
            <a:cxnSpLocks noChangeShapeType="1"/>
            <a:stCxn id="121" idx="2"/>
            <a:endCxn id="42" idx="0"/>
          </p:cNvCxnSpPr>
          <p:nvPr/>
        </p:nvCxnSpPr>
        <p:spPr bwMode="gray">
          <a:xfrm>
            <a:off x="5494338" y="2422525"/>
            <a:ext cx="1349375" cy="11588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67" name="AutoShape 695"/>
          <p:cNvCxnSpPr>
            <a:cxnSpLocks noChangeShapeType="1"/>
            <a:stCxn id="137" idx="2"/>
            <a:endCxn id="41" idx="0"/>
          </p:cNvCxnSpPr>
          <p:nvPr/>
        </p:nvCxnSpPr>
        <p:spPr bwMode="gray">
          <a:xfrm>
            <a:off x="4976813" y="2422525"/>
            <a:ext cx="1681162" cy="11588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68" name="AutoShape 696"/>
          <p:cNvCxnSpPr>
            <a:cxnSpLocks noChangeShapeType="1"/>
            <a:stCxn id="142" idx="2"/>
            <a:endCxn id="43" idx="0"/>
          </p:cNvCxnSpPr>
          <p:nvPr/>
        </p:nvCxnSpPr>
        <p:spPr bwMode="gray">
          <a:xfrm>
            <a:off x="5830888" y="2422525"/>
            <a:ext cx="1198562" cy="11588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sp>
        <p:nvSpPr>
          <p:cNvPr id="169" name="Rectangle 697"/>
          <p:cNvSpPr>
            <a:spLocks noChangeArrowheads="1"/>
          </p:cNvSpPr>
          <p:nvPr/>
        </p:nvSpPr>
        <p:spPr bwMode="auto">
          <a:xfrm>
            <a:off x="671513" y="2976563"/>
            <a:ext cx="215900" cy="252412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A1</a:t>
            </a:r>
          </a:p>
        </p:txBody>
      </p:sp>
      <p:sp>
        <p:nvSpPr>
          <p:cNvPr id="170" name="Rectangle 698"/>
          <p:cNvSpPr>
            <a:spLocks noChangeArrowheads="1"/>
          </p:cNvSpPr>
          <p:nvPr/>
        </p:nvSpPr>
        <p:spPr bwMode="auto">
          <a:xfrm>
            <a:off x="671513" y="3303588"/>
            <a:ext cx="215900" cy="252412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A2</a:t>
            </a:r>
          </a:p>
        </p:txBody>
      </p:sp>
      <p:sp>
        <p:nvSpPr>
          <p:cNvPr id="171" name="Rectangle 699"/>
          <p:cNvSpPr>
            <a:spLocks noChangeArrowheads="1"/>
          </p:cNvSpPr>
          <p:nvPr/>
        </p:nvSpPr>
        <p:spPr bwMode="auto">
          <a:xfrm>
            <a:off x="671513" y="3608388"/>
            <a:ext cx="215900" cy="252412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A3</a:t>
            </a:r>
          </a:p>
        </p:txBody>
      </p:sp>
      <p:sp>
        <p:nvSpPr>
          <p:cNvPr id="172" name="Rectangle 700"/>
          <p:cNvSpPr>
            <a:spLocks noChangeArrowheads="1"/>
          </p:cNvSpPr>
          <p:nvPr/>
        </p:nvSpPr>
        <p:spPr bwMode="auto">
          <a:xfrm>
            <a:off x="671513" y="3921125"/>
            <a:ext cx="215900" cy="252413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A4</a:t>
            </a:r>
          </a:p>
        </p:txBody>
      </p:sp>
      <p:sp>
        <p:nvSpPr>
          <p:cNvPr id="173" name="Rectangle 701"/>
          <p:cNvSpPr>
            <a:spLocks noChangeArrowheads="1"/>
          </p:cNvSpPr>
          <p:nvPr/>
        </p:nvSpPr>
        <p:spPr bwMode="auto">
          <a:xfrm>
            <a:off x="671513" y="4391025"/>
            <a:ext cx="215900" cy="252413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B1</a:t>
            </a:r>
          </a:p>
        </p:txBody>
      </p:sp>
      <p:sp>
        <p:nvSpPr>
          <p:cNvPr id="174" name="Rectangle 702"/>
          <p:cNvSpPr>
            <a:spLocks noChangeArrowheads="1"/>
          </p:cNvSpPr>
          <p:nvPr/>
        </p:nvSpPr>
        <p:spPr bwMode="auto">
          <a:xfrm>
            <a:off x="671513" y="4718050"/>
            <a:ext cx="215900" cy="252413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B2</a:t>
            </a:r>
          </a:p>
        </p:txBody>
      </p:sp>
      <p:sp>
        <p:nvSpPr>
          <p:cNvPr id="175" name="Rectangle 703"/>
          <p:cNvSpPr>
            <a:spLocks noChangeArrowheads="1"/>
          </p:cNvSpPr>
          <p:nvPr/>
        </p:nvSpPr>
        <p:spPr bwMode="auto">
          <a:xfrm>
            <a:off x="671513" y="5022850"/>
            <a:ext cx="215900" cy="252413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B3</a:t>
            </a:r>
          </a:p>
        </p:txBody>
      </p:sp>
      <p:sp>
        <p:nvSpPr>
          <p:cNvPr id="176" name="Rectangle 704"/>
          <p:cNvSpPr>
            <a:spLocks noChangeArrowheads="1"/>
          </p:cNvSpPr>
          <p:nvPr/>
        </p:nvSpPr>
        <p:spPr bwMode="auto">
          <a:xfrm>
            <a:off x="671513" y="5335588"/>
            <a:ext cx="215900" cy="252412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B4</a:t>
            </a:r>
          </a:p>
        </p:txBody>
      </p:sp>
      <p:sp>
        <p:nvSpPr>
          <p:cNvPr id="177" name="Rectangle 705"/>
          <p:cNvSpPr>
            <a:spLocks noChangeArrowheads="1"/>
          </p:cNvSpPr>
          <p:nvPr/>
        </p:nvSpPr>
        <p:spPr bwMode="auto">
          <a:xfrm>
            <a:off x="1098550" y="4398963"/>
            <a:ext cx="215900" cy="252412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C1</a:t>
            </a:r>
          </a:p>
        </p:txBody>
      </p:sp>
      <p:sp>
        <p:nvSpPr>
          <p:cNvPr id="178" name="Rectangle 706"/>
          <p:cNvSpPr>
            <a:spLocks noChangeArrowheads="1"/>
          </p:cNvSpPr>
          <p:nvPr/>
        </p:nvSpPr>
        <p:spPr bwMode="auto">
          <a:xfrm>
            <a:off x="1098550" y="4725988"/>
            <a:ext cx="215900" cy="252412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C2</a:t>
            </a:r>
          </a:p>
        </p:txBody>
      </p:sp>
      <p:sp>
        <p:nvSpPr>
          <p:cNvPr id="179" name="Rectangle 707"/>
          <p:cNvSpPr>
            <a:spLocks noChangeArrowheads="1"/>
          </p:cNvSpPr>
          <p:nvPr/>
        </p:nvSpPr>
        <p:spPr bwMode="auto">
          <a:xfrm>
            <a:off x="1098550" y="5030788"/>
            <a:ext cx="215900" cy="252412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C3</a:t>
            </a:r>
          </a:p>
        </p:txBody>
      </p:sp>
      <p:sp>
        <p:nvSpPr>
          <p:cNvPr id="180" name="Rectangle 708"/>
          <p:cNvSpPr>
            <a:spLocks noChangeArrowheads="1"/>
          </p:cNvSpPr>
          <p:nvPr/>
        </p:nvSpPr>
        <p:spPr bwMode="auto">
          <a:xfrm>
            <a:off x="1098550" y="5343525"/>
            <a:ext cx="215900" cy="252413"/>
          </a:xfrm>
          <a:prstGeom prst="rect">
            <a:avLst/>
          </a:prstGeom>
          <a:solidFill>
            <a:srgbClr val="DDDDDD"/>
          </a:solidFill>
          <a:ln w="63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latinLnBrk="1" hangingPunct="1">
              <a:spcBef>
                <a:spcPct val="0"/>
              </a:spcBef>
            </a:pPr>
            <a:r>
              <a:rPr kumimoji="1" lang="en-US" altLang="ko-KR" sz="900">
                <a:solidFill>
                  <a:schemeClr val="tx1"/>
                </a:solidFill>
              </a:rPr>
              <a:t>C4</a:t>
            </a:r>
          </a:p>
        </p:txBody>
      </p:sp>
      <p:sp>
        <p:nvSpPr>
          <p:cNvPr id="181" name="Text Box 709"/>
          <p:cNvSpPr txBox="1">
            <a:spLocks noChangeArrowheads="1"/>
          </p:cNvSpPr>
          <p:nvPr/>
        </p:nvSpPr>
        <p:spPr bwMode="auto">
          <a:xfrm>
            <a:off x="342900" y="5938838"/>
            <a:ext cx="1441450" cy="409575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marL="176213" indent="-176213" defTabSz="762000">
              <a:lnSpc>
                <a:spcPct val="110000"/>
              </a:lnSpc>
              <a:spcBef>
                <a:spcPct val="0"/>
              </a:spcBef>
            </a:pPr>
            <a:r>
              <a:rPr lang="ko-KR" altLang="en-US" sz="1000" b="1">
                <a:solidFill>
                  <a:schemeClr val="tx1"/>
                </a:solidFill>
              </a:rPr>
              <a:t>스토리지 </a:t>
            </a:r>
            <a:r>
              <a:rPr lang="en-US" altLang="ko-KR" sz="1000" b="1">
                <a:solidFill>
                  <a:schemeClr val="tx1"/>
                </a:solidFill>
              </a:rPr>
              <a:t>I/O Enclosure</a:t>
            </a:r>
          </a:p>
          <a:p>
            <a:pPr marL="176213" indent="-176213" defTabSz="762000">
              <a:lnSpc>
                <a:spcPct val="110000"/>
              </a:lnSpc>
              <a:spcBef>
                <a:spcPct val="0"/>
              </a:spcBef>
            </a:pPr>
            <a:r>
              <a:rPr lang="ko-KR" altLang="en-US" sz="1000" b="1">
                <a:solidFill>
                  <a:schemeClr val="tx1"/>
                </a:solidFill>
              </a:rPr>
              <a:t>포트 배치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182" name="AutoShape 710"/>
          <p:cNvCxnSpPr>
            <a:cxnSpLocks noChangeShapeType="1"/>
            <a:stCxn id="78" idx="2"/>
            <a:endCxn id="30" idx="0"/>
          </p:cNvCxnSpPr>
          <p:nvPr/>
        </p:nvCxnSpPr>
        <p:spPr bwMode="auto">
          <a:xfrm flipH="1">
            <a:off x="5864225" y="3679825"/>
            <a:ext cx="1576388" cy="223838"/>
          </a:xfrm>
          <a:prstGeom prst="straightConnector1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83" name="AutoShape 711"/>
          <p:cNvCxnSpPr>
            <a:cxnSpLocks noChangeShapeType="1"/>
            <a:stCxn id="70" idx="2"/>
            <a:endCxn id="13" idx="0"/>
          </p:cNvCxnSpPr>
          <p:nvPr/>
        </p:nvCxnSpPr>
        <p:spPr bwMode="auto">
          <a:xfrm flipH="1">
            <a:off x="2501900" y="3703638"/>
            <a:ext cx="1498600" cy="223837"/>
          </a:xfrm>
          <a:prstGeom prst="straightConnector1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84" name="AutoShape 712"/>
          <p:cNvCxnSpPr>
            <a:cxnSpLocks noChangeShapeType="1"/>
            <a:stCxn id="38" idx="0"/>
            <a:endCxn id="75" idx="2"/>
          </p:cNvCxnSpPr>
          <p:nvPr/>
        </p:nvCxnSpPr>
        <p:spPr bwMode="auto">
          <a:xfrm flipV="1">
            <a:off x="6840538" y="3679825"/>
            <a:ext cx="785812" cy="2222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85" name="AutoShape 713"/>
          <p:cNvCxnSpPr>
            <a:cxnSpLocks noChangeShapeType="1"/>
            <a:stCxn id="21" idx="0"/>
            <a:endCxn id="67" idx="2"/>
          </p:cNvCxnSpPr>
          <p:nvPr/>
        </p:nvCxnSpPr>
        <p:spPr bwMode="auto">
          <a:xfrm flipV="1">
            <a:off x="3478213" y="3703638"/>
            <a:ext cx="708025" cy="2222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86" name="AutoShape 714"/>
          <p:cNvCxnSpPr>
            <a:cxnSpLocks noChangeShapeType="1"/>
            <a:stCxn id="19" idx="2"/>
            <a:endCxn id="15" idx="0"/>
          </p:cNvCxnSpPr>
          <p:nvPr/>
        </p:nvCxnSpPr>
        <p:spPr bwMode="auto">
          <a:xfrm>
            <a:off x="2130425" y="3702050"/>
            <a:ext cx="0" cy="2254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87" name="AutoShape 715"/>
          <p:cNvCxnSpPr>
            <a:cxnSpLocks noChangeShapeType="1"/>
            <a:stCxn id="16" idx="2"/>
            <a:endCxn id="23" idx="0"/>
          </p:cNvCxnSpPr>
          <p:nvPr/>
        </p:nvCxnSpPr>
        <p:spPr bwMode="auto">
          <a:xfrm>
            <a:off x="2316163" y="3702050"/>
            <a:ext cx="790575" cy="22383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88" name="AutoShape 716"/>
          <p:cNvCxnSpPr>
            <a:cxnSpLocks noChangeShapeType="1"/>
            <a:stCxn id="17" idx="2"/>
            <a:endCxn id="12" idx="0"/>
          </p:cNvCxnSpPr>
          <p:nvPr/>
        </p:nvCxnSpPr>
        <p:spPr bwMode="auto">
          <a:xfrm flipH="1">
            <a:off x="2316163" y="3702050"/>
            <a:ext cx="185737" cy="2254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89" name="AutoShape 717"/>
          <p:cNvCxnSpPr>
            <a:cxnSpLocks noChangeShapeType="1"/>
            <a:stCxn id="18" idx="2"/>
            <a:endCxn id="20" idx="0"/>
          </p:cNvCxnSpPr>
          <p:nvPr/>
        </p:nvCxnSpPr>
        <p:spPr bwMode="auto">
          <a:xfrm>
            <a:off x="2687638" y="3702050"/>
            <a:ext cx="604837" cy="22383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90" name="AutoShape 718"/>
          <p:cNvCxnSpPr>
            <a:cxnSpLocks noChangeShapeType="1"/>
            <a:stCxn id="13" idx="0"/>
            <a:endCxn id="27" idx="2"/>
          </p:cNvCxnSpPr>
          <p:nvPr/>
        </p:nvCxnSpPr>
        <p:spPr bwMode="auto">
          <a:xfrm flipV="1">
            <a:off x="2501900" y="3700463"/>
            <a:ext cx="604838" cy="2270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91" name="AutoShape 719"/>
          <p:cNvCxnSpPr>
            <a:cxnSpLocks noChangeShapeType="1"/>
            <a:stCxn id="24" idx="2"/>
            <a:endCxn id="23" idx="0"/>
          </p:cNvCxnSpPr>
          <p:nvPr/>
        </p:nvCxnSpPr>
        <p:spPr bwMode="auto">
          <a:xfrm flipH="1">
            <a:off x="3106738" y="3700463"/>
            <a:ext cx="185737" cy="2254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92" name="AutoShape 720"/>
          <p:cNvCxnSpPr>
            <a:cxnSpLocks noChangeShapeType="1"/>
            <a:stCxn id="26" idx="2"/>
            <a:endCxn id="20" idx="0"/>
          </p:cNvCxnSpPr>
          <p:nvPr/>
        </p:nvCxnSpPr>
        <p:spPr bwMode="auto">
          <a:xfrm flipH="1">
            <a:off x="3292475" y="3700463"/>
            <a:ext cx="371475" cy="2254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93" name="AutoShape 721"/>
          <p:cNvCxnSpPr>
            <a:cxnSpLocks noChangeShapeType="1"/>
            <a:stCxn id="12" idx="0"/>
            <a:endCxn id="25" idx="2"/>
          </p:cNvCxnSpPr>
          <p:nvPr/>
        </p:nvCxnSpPr>
        <p:spPr bwMode="auto">
          <a:xfrm flipV="1">
            <a:off x="2316163" y="3700463"/>
            <a:ext cx="1162050" cy="2270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94" name="AutoShape 722"/>
          <p:cNvCxnSpPr>
            <a:cxnSpLocks noChangeShapeType="1"/>
            <a:stCxn id="36" idx="2"/>
            <a:endCxn id="32" idx="0"/>
          </p:cNvCxnSpPr>
          <p:nvPr/>
        </p:nvCxnSpPr>
        <p:spPr bwMode="auto">
          <a:xfrm flipH="1">
            <a:off x="5492750" y="3678238"/>
            <a:ext cx="3175" cy="2254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95" name="AutoShape 723"/>
          <p:cNvCxnSpPr>
            <a:cxnSpLocks noChangeShapeType="1"/>
            <a:stCxn id="33" idx="2"/>
            <a:endCxn id="40" idx="0"/>
          </p:cNvCxnSpPr>
          <p:nvPr/>
        </p:nvCxnSpPr>
        <p:spPr bwMode="auto">
          <a:xfrm>
            <a:off x="5681663" y="3678238"/>
            <a:ext cx="787400" cy="2238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96" name="AutoShape 724"/>
          <p:cNvCxnSpPr>
            <a:cxnSpLocks noChangeShapeType="1"/>
            <a:stCxn id="34" idx="2"/>
            <a:endCxn id="29" idx="0"/>
          </p:cNvCxnSpPr>
          <p:nvPr/>
        </p:nvCxnSpPr>
        <p:spPr bwMode="auto">
          <a:xfrm flipH="1">
            <a:off x="5678488" y="3678238"/>
            <a:ext cx="188912" cy="2254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97" name="AutoShape 725"/>
          <p:cNvCxnSpPr>
            <a:cxnSpLocks noChangeShapeType="1"/>
            <a:stCxn id="35" idx="2"/>
            <a:endCxn id="37" idx="0"/>
          </p:cNvCxnSpPr>
          <p:nvPr/>
        </p:nvCxnSpPr>
        <p:spPr bwMode="auto">
          <a:xfrm>
            <a:off x="6053138" y="3678238"/>
            <a:ext cx="601662" cy="2238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98" name="AutoShape 726"/>
          <p:cNvCxnSpPr>
            <a:cxnSpLocks noChangeShapeType="1"/>
            <a:stCxn id="29" idx="0"/>
            <a:endCxn id="42" idx="2"/>
          </p:cNvCxnSpPr>
          <p:nvPr/>
        </p:nvCxnSpPr>
        <p:spPr bwMode="auto">
          <a:xfrm flipV="1">
            <a:off x="5678488" y="3676650"/>
            <a:ext cx="1165225" cy="2270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99" name="AutoShape 727"/>
          <p:cNvCxnSpPr>
            <a:cxnSpLocks noChangeShapeType="1"/>
            <a:stCxn id="30" idx="0"/>
            <a:endCxn id="44" idx="2"/>
          </p:cNvCxnSpPr>
          <p:nvPr/>
        </p:nvCxnSpPr>
        <p:spPr bwMode="auto">
          <a:xfrm flipV="1">
            <a:off x="5864225" y="3676650"/>
            <a:ext cx="608013" cy="2270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00" name="AutoShape 728"/>
          <p:cNvCxnSpPr>
            <a:cxnSpLocks noChangeShapeType="1"/>
            <a:stCxn id="41" idx="2"/>
            <a:endCxn id="40" idx="0"/>
          </p:cNvCxnSpPr>
          <p:nvPr/>
        </p:nvCxnSpPr>
        <p:spPr bwMode="auto">
          <a:xfrm flipH="1">
            <a:off x="6469063" y="3676650"/>
            <a:ext cx="188912" cy="2254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01" name="AutoShape 729"/>
          <p:cNvCxnSpPr>
            <a:cxnSpLocks noChangeShapeType="1"/>
            <a:stCxn id="43" idx="2"/>
            <a:endCxn id="37" idx="0"/>
          </p:cNvCxnSpPr>
          <p:nvPr/>
        </p:nvCxnSpPr>
        <p:spPr bwMode="auto">
          <a:xfrm flipH="1">
            <a:off x="6654800" y="3676650"/>
            <a:ext cx="374650" cy="2254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6" name="TextBox 5"/>
          <p:cNvSpPr txBox="1"/>
          <p:nvPr/>
        </p:nvSpPr>
        <p:spPr>
          <a:xfrm rot="20224515">
            <a:off x="2798148" y="2906834"/>
            <a:ext cx="3934013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 </a:t>
            </a:r>
            <a:r>
              <a:rPr lang="en-US" altLang="ko-KR" sz="2800" dirty="0"/>
              <a:t>(SAN</a:t>
            </a:r>
            <a:r>
              <a:rPr lang="ko-KR" altLang="en-US" sz="2800" dirty="0"/>
              <a:t>별</a:t>
            </a:r>
            <a:r>
              <a:rPr lang="en-US" altLang="ko-KR" sz="2800" dirty="0"/>
              <a:t>, </a:t>
            </a:r>
            <a:r>
              <a:rPr lang="ko-KR" altLang="en-US" sz="2800" dirty="0"/>
              <a:t>반드시 포함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203" name="직사각형 202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IDC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60514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2. Hardware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구성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2.4 SAN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구성</a:t>
            </a:r>
          </a:p>
        </p:txBody>
      </p:sp>
      <p:sp>
        <p:nvSpPr>
          <p:cNvPr id="202" name="직사각형 201"/>
          <p:cNvSpPr/>
          <p:nvPr/>
        </p:nvSpPr>
        <p:spPr>
          <a:xfrm>
            <a:off x="4760660" y="2928938"/>
            <a:ext cx="232997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5293325" y="2928938"/>
            <a:ext cx="232997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5557094" y="2928938"/>
            <a:ext cx="232997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5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5831496" y="2928938"/>
            <a:ext cx="232997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6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6095266" y="2928938"/>
            <a:ext cx="231531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7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6359035" y="2928938"/>
            <a:ext cx="231531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8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8" name="직사각형 207"/>
          <p:cNvSpPr/>
          <p:nvPr/>
        </p:nvSpPr>
        <p:spPr>
          <a:xfrm>
            <a:off x="6622804" y="2928938"/>
            <a:ext cx="231531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9" name="직사각형 208"/>
          <p:cNvSpPr/>
          <p:nvPr/>
        </p:nvSpPr>
        <p:spPr>
          <a:xfrm>
            <a:off x="6095266" y="4083481"/>
            <a:ext cx="231531" cy="215900"/>
          </a:xfrm>
          <a:prstGeom prst="rect">
            <a:avLst/>
          </a:prstGeom>
          <a:solidFill>
            <a:srgbClr val="FFC000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10</a:t>
            </a:r>
            <a:endParaRPr lang="ko-KR" altLang="en-US" sz="8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0" name="직사각형 209"/>
          <p:cNvSpPr/>
          <p:nvPr/>
        </p:nvSpPr>
        <p:spPr>
          <a:xfrm>
            <a:off x="7116513" y="2936879"/>
            <a:ext cx="232996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11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1" name="직사각형 210"/>
          <p:cNvSpPr/>
          <p:nvPr/>
        </p:nvSpPr>
        <p:spPr>
          <a:xfrm>
            <a:off x="7412646" y="2928938"/>
            <a:ext cx="232996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12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2" name="직사각형 211"/>
          <p:cNvSpPr/>
          <p:nvPr/>
        </p:nvSpPr>
        <p:spPr>
          <a:xfrm>
            <a:off x="7676416" y="2928938"/>
            <a:ext cx="232996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13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3" name="직사각형 212"/>
          <p:cNvSpPr/>
          <p:nvPr/>
        </p:nvSpPr>
        <p:spPr>
          <a:xfrm>
            <a:off x="7940185" y="2928938"/>
            <a:ext cx="232996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14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4" name="직사각형 213"/>
          <p:cNvSpPr/>
          <p:nvPr/>
        </p:nvSpPr>
        <p:spPr>
          <a:xfrm>
            <a:off x="8467723" y="2928938"/>
            <a:ext cx="232996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16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5" name="직사각형 214"/>
          <p:cNvSpPr/>
          <p:nvPr/>
        </p:nvSpPr>
        <p:spPr>
          <a:xfrm>
            <a:off x="8731492" y="2928938"/>
            <a:ext cx="232996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17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6" name="직사각형 215"/>
          <p:cNvSpPr/>
          <p:nvPr/>
        </p:nvSpPr>
        <p:spPr>
          <a:xfrm>
            <a:off x="4703885" y="3143251"/>
            <a:ext cx="4319954" cy="936625"/>
          </a:xfrm>
          <a:prstGeom prst="rect">
            <a:avLst/>
          </a:prstGeom>
          <a:solidFill>
            <a:srgbClr val="CCFF99"/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SAN2</a:t>
            </a:r>
            <a:endParaRPr lang="ko-KR" altLang="en-US" b="1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7" name="모서리가 둥근 직사각형 216"/>
          <p:cNvSpPr/>
          <p:nvPr/>
        </p:nvSpPr>
        <p:spPr>
          <a:xfrm>
            <a:off x="473233" y="1214438"/>
            <a:ext cx="911587" cy="285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altLang="ko-KR" sz="9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cjfvperpsap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8" name="직사각형 217"/>
          <p:cNvSpPr/>
          <p:nvPr/>
        </p:nvSpPr>
        <p:spPr>
          <a:xfrm>
            <a:off x="186104" y="3143251"/>
            <a:ext cx="4319954" cy="936625"/>
          </a:xfrm>
          <a:prstGeom prst="rect">
            <a:avLst/>
          </a:prstGeom>
          <a:solidFill>
            <a:srgbClr val="CCFF99"/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SAN1</a:t>
            </a:r>
            <a:endParaRPr lang="ko-KR" altLang="en-US" b="1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9" name="모서리가 둥근 직사각형 218"/>
          <p:cNvSpPr/>
          <p:nvPr/>
        </p:nvSpPr>
        <p:spPr>
          <a:xfrm>
            <a:off x="827584" y="5776913"/>
            <a:ext cx="1597142" cy="3603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P7200-node0</a:t>
            </a:r>
            <a:endParaRPr lang="ko-KR" altLang="en-US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20" name="직선 연결선 219"/>
          <p:cNvCxnSpPr>
            <a:stCxn id="223" idx="2"/>
            <a:endCxn id="224" idx="0"/>
          </p:cNvCxnSpPr>
          <p:nvPr/>
        </p:nvCxnSpPr>
        <p:spPr>
          <a:xfrm flipH="1">
            <a:off x="368545" y="1716088"/>
            <a:ext cx="359514" cy="1212850"/>
          </a:xfrm>
          <a:prstGeom prst="line">
            <a:avLst/>
          </a:prstGeom>
          <a:ln w="63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/>
          <p:cNvCxnSpPr>
            <a:stCxn id="314" idx="2"/>
            <a:endCxn id="202" idx="0"/>
          </p:cNvCxnSpPr>
          <p:nvPr/>
        </p:nvCxnSpPr>
        <p:spPr>
          <a:xfrm>
            <a:off x="1103025" y="1711317"/>
            <a:ext cx="3774134" cy="1217621"/>
          </a:xfrm>
          <a:prstGeom prst="line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직사각형 221"/>
          <p:cNvSpPr/>
          <p:nvPr/>
        </p:nvSpPr>
        <p:spPr>
          <a:xfrm>
            <a:off x="1619672" y="1500188"/>
            <a:ext cx="232997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fcs0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611560" y="1500188"/>
            <a:ext cx="232997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fcs0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252046" y="2928938"/>
            <a:ext cx="232997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5" name="직사각형 224"/>
          <p:cNvSpPr/>
          <p:nvPr/>
        </p:nvSpPr>
        <p:spPr>
          <a:xfrm>
            <a:off x="767454" y="2928938"/>
            <a:ext cx="232997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6" name="직사각형 225"/>
          <p:cNvSpPr/>
          <p:nvPr/>
        </p:nvSpPr>
        <p:spPr>
          <a:xfrm>
            <a:off x="1031223" y="2928938"/>
            <a:ext cx="232997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5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1294992" y="2928938"/>
            <a:ext cx="232997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6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1558761" y="2928938"/>
            <a:ext cx="231531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7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9" name="직사각형 228"/>
          <p:cNvSpPr/>
          <p:nvPr/>
        </p:nvSpPr>
        <p:spPr>
          <a:xfrm>
            <a:off x="1822531" y="2928938"/>
            <a:ext cx="231531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8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0" name="직사각형 229"/>
          <p:cNvSpPr/>
          <p:nvPr/>
        </p:nvSpPr>
        <p:spPr>
          <a:xfrm>
            <a:off x="2086300" y="2928938"/>
            <a:ext cx="231531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1" name="직사각형 230"/>
          <p:cNvSpPr/>
          <p:nvPr/>
        </p:nvSpPr>
        <p:spPr>
          <a:xfrm>
            <a:off x="1564826" y="4082205"/>
            <a:ext cx="231531" cy="217175"/>
          </a:xfrm>
          <a:prstGeom prst="rect">
            <a:avLst/>
          </a:prstGeom>
          <a:solidFill>
            <a:srgbClr val="FFC000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10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2" name="직사각형 231"/>
          <p:cNvSpPr/>
          <p:nvPr/>
        </p:nvSpPr>
        <p:spPr>
          <a:xfrm>
            <a:off x="2606151" y="2922058"/>
            <a:ext cx="232996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11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2876142" y="2928938"/>
            <a:ext cx="232996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12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3139911" y="2928938"/>
            <a:ext cx="232996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13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5" name="직사각형 234"/>
          <p:cNvSpPr/>
          <p:nvPr/>
        </p:nvSpPr>
        <p:spPr>
          <a:xfrm>
            <a:off x="3403681" y="2928938"/>
            <a:ext cx="232996" cy="215900"/>
          </a:xfrm>
          <a:prstGeom prst="rect">
            <a:avLst/>
          </a:prstGeom>
          <a:solidFill>
            <a:srgbClr val="FFCC66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14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6" name="직사각형 235"/>
          <p:cNvSpPr/>
          <p:nvPr/>
        </p:nvSpPr>
        <p:spPr>
          <a:xfrm>
            <a:off x="3667450" y="2928938"/>
            <a:ext cx="232996" cy="215900"/>
          </a:xfrm>
          <a:prstGeom prst="rect">
            <a:avLst/>
          </a:prstGeom>
          <a:solidFill>
            <a:srgbClr val="FFC000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15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7" name="직사각형 236"/>
          <p:cNvSpPr/>
          <p:nvPr/>
        </p:nvSpPr>
        <p:spPr>
          <a:xfrm>
            <a:off x="3931219" y="2928938"/>
            <a:ext cx="232996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16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8" name="직사각형 237"/>
          <p:cNvSpPr/>
          <p:nvPr/>
        </p:nvSpPr>
        <p:spPr>
          <a:xfrm>
            <a:off x="4194988" y="2928938"/>
            <a:ext cx="232996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17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252046" y="4071938"/>
            <a:ext cx="232997" cy="2159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0" name="직사각형 239"/>
          <p:cNvSpPr/>
          <p:nvPr/>
        </p:nvSpPr>
        <p:spPr>
          <a:xfrm>
            <a:off x="515816" y="4071938"/>
            <a:ext cx="232997" cy="2159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1" name="직사각형 240"/>
          <p:cNvSpPr/>
          <p:nvPr/>
        </p:nvSpPr>
        <p:spPr>
          <a:xfrm>
            <a:off x="6948264" y="4071938"/>
            <a:ext cx="232997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18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2" name="직사각형 241"/>
          <p:cNvSpPr/>
          <p:nvPr/>
        </p:nvSpPr>
        <p:spPr>
          <a:xfrm>
            <a:off x="7284041" y="4071938"/>
            <a:ext cx="232997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19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7955596" y="4071938"/>
            <a:ext cx="231531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21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4" name="직사각형 243"/>
          <p:cNvSpPr/>
          <p:nvPr/>
        </p:nvSpPr>
        <p:spPr>
          <a:xfrm>
            <a:off x="8299443" y="4071938"/>
            <a:ext cx="232997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22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5" name="직선 연결선 244"/>
          <p:cNvCxnSpPr>
            <a:stCxn id="224" idx="2"/>
            <a:endCxn id="239" idx="0"/>
          </p:cNvCxnSpPr>
          <p:nvPr/>
        </p:nvCxnSpPr>
        <p:spPr>
          <a:xfrm rot="5400000">
            <a:off x="-95005" y="3609243"/>
            <a:ext cx="927100" cy="1465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직사각형 245"/>
          <p:cNvSpPr/>
          <p:nvPr/>
        </p:nvSpPr>
        <p:spPr>
          <a:xfrm>
            <a:off x="871545" y="5572126"/>
            <a:ext cx="320919" cy="21431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11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P1</a:t>
            </a:r>
            <a:endParaRPr lang="ko-KR" altLang="en-US" sz="11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7" name="직사각형 246"/>
          <p:cNvSpPr/>
          <p:nvPr/>
        </p:nvSpPr>
        <p:spPr>
          <a:xfrm>
            <a:off x="1261337" y="5572126"/>
            <a:ext cx="326780" cy="21431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11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P2</a:t>
            </a:r>
            <a:endParaRPr lang="ko-KR" altLang="en-US" sz="11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8" name="직선 연결선 247"/>
          <p:cNvCxnSpPr>
            <a:stCxn id="247" idx="0"/>
            <a:endCxn id="250" idx="2"/>
          </p:cNvCxnSpPr>
          <p:nvPr/>
        </p:nvCxnSpPr>
        <p:spPr>
          <a:xfrm flipV="1">
            <a:off x="1424727" y="4287838"/>
            <a:ext cx="3461598" cy="1284288"/>
          </a:xfrm>
          <a:prstGeom prst="line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직선 연결선 248"/>
          <p:cNvCxnSpPr>
            <a:stCxn id="239" idx="2"/>
            <a:endCxn id="246" idx="0"/>
          </p:cNvCxnSpPr>
          <p:nvPr/>
        </p:nvCxnSpPr>
        <p:spPr>
          <a:xfrm>
            <a:off x="368545" y="4287838"/>
            <a:ext cx="663460" cy="1284288"/>
          </a:xfrm>
          <a:prstGeom prst="line">
            <a:avLst/>
          </a:prstGeom>
          <a:ln w="63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직사각형 249"/>
          <p:cNvSpPr/>
          <p:nvPr/>
        </p:nvSpPr>
        <p:spPr>
          <a:xfrm>
            <a:off x="4769827" y="4071938"/>
            <a:ext cx="232996" cy="2159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1" name="직사각형 250"/>
          <p:cNvSpPr/>
          <p:nvPr/>
        </p:nvSpPr>
        <p:spPr>
          <a:xfrm>
            <a:off x="5033596" y="4071938"/>
            <a:ext cx="232996" cy="2159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2" name="직사각형 251"/>
          <p:cNvSpPr/>
          <p:nvPr/>
        </p:nvSpPr>
        <p:spPr>
          <a:xfrm>
            <a:off x="3443009" y="1484784"/>
            <a:ext cx="232996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fcs0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3" name="직사각형 252"/>
          <p:cNvSpPr/>
          <p:nvPr/>
        </p:nvSpPr>
        <p:spPr>
          <a:xfrm>
            <a:off x="4307105" y="1500188"/>
            <a:ext cx="232996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fcs0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4" name="직사각형 253"/>
          <p:cNvSpPr/>
          <p:nvPr/>
        </p:nvSpPr>
        <p:spPr>
          <a:xfrm>
            <a:off x="5181834" y="1484784"/>
            <a:ext cx="232996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fcs0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5" name="직사각형 254"/>
          <p:cNvSpPr/>
          <p:nvPr/>
        </p:nvSpPr>
        <p:spPr>
          <a:xfrm>
            <a:off x="2540859" y="5572125"/>
            <a:ext cx="329711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11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P1</a:t>
            </a:r>
            <a:endParaRPr lang="ko-KR" altLang="en-US" sz="11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6" name="직선 연결선 255"/>
          <p:cNvCxnSpPr>
            <a:stCxn id="240" idx="2"/>
            <a:endCxn id="255" idx="0"/>
          </p:cNvCxnSpPr>
          <p:nvPr/>
        </p:nvCxnSpPr>
        <p:spPr>
          <a:xfrm>
            <a:off x="632315" y="4287838"/>
            <a:ext cx="2073400" cy="1284287"/>
          </a:xfrm>
          <a:prstGeom prst="line">
            <a:avLst/>
          </a:prstGeom>
          <a:ln w="63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/>
          <p:cNvCxnSpPr>
            <a:stCxn id="301" idx="0"/>
            <a:endCxn id="251" idx="2"/>
          </p:cNvCxnSpPr>
          <p:nvPr/>
        </p:nvCxnSpPr>
        <p:spPr>
          <a:xfrm flipV="1">
            <a:off x="3101369" y="4287838"/>
            <a:ext cx="2048725" cy="1284287"/>
          </a:xfrm>
          <a:prstGeom prst="line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/>
          <p:cNvCxnSpPr>
            <a:stCxn id="222" idx="2"/>
            <a:endCxn id="225" idx="0"/>
          </p:cNvCxnSpPr>
          <p:nvPr/>
        </p:nvCxnSpPr>
        <p:spPr>
          <a:xfrm flipH="1">
            <a:off x="883953" y="1716088"/>
            <a:ext cx="852218" cy="1212850"/>
          </a:xfrm>
          <a:prstGeom prst="line">
            <a:avLst/>
          </a:prstGeom>
          <a:ln w="63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/>
          <p:cNvCxnSpPr>
            <a:stCxn id="252" idx="2"/>
            <a:endCxn id="228" idx="0"/>
          </p:cNvCxnSpPr>
          <p:nvPr/>
        </p:nvCxnSpPr>
        <p:spPr>
          <a:xfrm flipH="1">
            <a:off x="1674527" y="1700684"/>
            <a:ext cx="1884980" cy="1228254"/>
          </a:xfrm>
          <a:prstGeom prst="line">
            <a:avLst/>
          </a:prstGeom>
          <a:ln w="63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/>
          <p:cNvCxnSpPr>
            <a:endCxn id="229" idx="0"/>
          </p:cNvCxnSpPr>
          <p:nvPr/>
        </p:nvCxnSpPr>
        <p:spPr>
          <a:xfrm flipH="1">
            <a:off x="1938297" y="1716088"/>
            <a:ext cx="2768843" cy="1212850"/>
          </a:xfrm>
          <a:prstGeom prst="line">
            <a:avLst/>
          </a:prstGeom>
          <a:ln w="63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/>
          <p:cNvCxnSpPr>
            <a:stCxn id="316" idx="2"/>
            <a:endCxn id="205" idx="0"/>
          </p:cNvCxnSpPr>
          <p:nvPr/>
        </p:nvCxnSpPr>
        <p:spPr>
          <a:xfrm>
            <a:off x="3025975" y="1700684"/>
            <a:ext cx="2922020" cy="1228254"/>
          </a:xfrm>
          <a:prstGeom prst="line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/>
          <p:cNvCxnSpPr>
            <a:stCxn id="225" idx="2"/>
            <a:endCxn id="239" idx="0"/>
          </p:cNvCxnSpPr>
          <p:nvPr/>
        </p:nvCxnSpPr>
        <p:spPr>
          <a:xfrm flipH="1">
            <a:off x="368545" y="3144838"/>
            <a:ext cx="515408" cy="927100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/>
          <p:cNvCxnSpPr>
            <a:stCxn id="225" idx="2"/>
            <a:endCxn id="240" idx="0"/>
          </p:cNvCxnSpPr>
          <p:nvPr/>
        </p:nvCxnSpPr>
        <p:spPr>
          <a:xfrm flipH="1">
            <a:off x="632315" y="3144838"/>
            <a:ext cx="251638" cy="927100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/>
          <p:cNvCxnSpPr>
            <a:stCxn id="224" idx="2"/>
            <a:endCxn id="240" idx="0"/>
          </p:cNvCxnSpPr>
          <p:nvPr/>
        </p:nvCxnSpPr>
        <p:spPr>
          <a:xfrm rot="16200000" flipH="1">
            <a:off x="36147" y="3476504"/>
            <a:ext cx="927100" cy="263769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/>
          <p:cNvCxnSpPr>
            <a:stCxn id="229" idx="2"/>
            <a:endCxn id="239" idx="0"/>
          </p:cNvCxnSpPr>
          <p:nvPr/>
        </p:nvCxnSpPr>
        <p:spPr>
          <a:xfrm flipH="1">
            <a:off x="368545" y="3144838"/>
            <a:ext cx="1569752" cy="927100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/>
          <p:cNvCxnSpPr>
            <a:stCxn id="229" idx="2"/>
            <a:endCxn id="240" idx="0"/>
          </p:cNvCxnSpPr>
          <p:nvPr/>
        </p:nvCxnSpPr>
        <p:spPr>
          <a:xfrm flipH="1">
            <a:off x="632315" y="3144838"/>
            <a:ext cx="1305982" cy="927100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/>
          <p:cNvCxnSpPr>
            <a:stCxn id="202" idx="2"/>
            <a:endCxn id="250" idx="0"/>
          </p:cNvCxnSpPr>
          <p:nvPr/>
        </p:nvCxnSpPr>
        <p:spPr>
          <a:xfrm>
            <a:off x="4877159" y="3144838"/>
            <a:ext cx="9166" cy="927100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/>
          <p:cNvCxnSpPr>
            <a:stCxn id="203" idx="2"/>
            <a:endCxn id="250" idx="0"/>
          </p:cNvCxnSpPr>
          <p:nvPr/>
        </p:nvCxnSpPr>
        <p:spPr>
          <a:xfrm flipH="1">
            <a:off x="4886325" y="3144838"/>
            <a:ext cx="523499" cy="927100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/>
          <p:cNvCxnSpPr>
            <a:stCxn id="203" idx="2"/>
            <a:endCxn id="251" idx="0"/>
          </p:cNvCxnSpPr>
          <p:nvPr/>
        </p:nvCxnSpPr>
        <p:spPr>
          <a:xfrm flipH="1">
            <a:off x="5150094" y="3144838"/>
            <a:ext cx="259730" cy="927100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/>
          <p:cNvCxnSpPr>
            <a:stCxn id="250" idx="0"/>
            <a:endCxn id="205" idx="2"/>
          </p:cNvCxnSpPr>
          <p:nvPr/>
        </p:nvCxnSpPr>
        <p:spPr>
          <a:xfrm flipV="1">
            <a:off x="4886325" y="3144838"/>
            <a:ext cx="1061670" cy="927100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/>
          <p:cNvCxnSpPr/>
          <p:nvPr/>
        </p:nvCxnSpPr>
        <p:spPr>
          <a:xfrm flipH="1">
            <a:off x="6211033" y="3148808"/>
            <a:ext cx="1318111" cy="934673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/>
          <p:cNvCxnSpPr>
            <a:stCxn id="207" idx="2"/>
            <a:endCxn id="251" idx="0"/>
          </p:cNvCxnSpPr>
          <p:nvPr/>
        </p:nvCxnSpPr>
        <p:spPr>
          <a:xfrm flipH="1">
            <a:off x="5150094" y="3144838"/>
            <a:ext cx="1324707" cy="927100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/>
          <p:cNvCxnSpPr>
            <a:stCxn id="205" idx="2"/>
            <a:endCxn id="251" idx="0"/>
          </p:cNvCxnSpPr>
          <p:nvPr/>
        </p:nvCxnSpPr>
        <p:spPr>
          <a:xfrm flipH="1">
            <a:off x="5150094" y="3144838"/>
            <a:ext cx="797901" cy="927100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직사각형 273"/>
          <p:cNvSpPr/>
          <p:nvPr/>
        </p:nvSpPr>
        <p:spPr>
          <a:xfrm>
            <a:off x="6067196" y="1484784"/>
            <a:ext cx="232996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fcs0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5" name="직사각형 274"/>
          <p:cNvSpPr/>
          <p:nvPr/>
        </p:nvSpPr>
        <p:spPr>
          <a:xfrm>
            <a:off x="6980568" y="1484784"/>
            <a:ext cx="234462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fcs0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76" name="직선 연결선 275"/>
          <p:cNvCxnSpPr>
            <a:stCxn id="274" idx="2"/>
            <a:endCxn id="234" idx="0"/>
          </p:cNvCxnSpPr>
          <p:nvPr/>
        </p:nvCxnSpPr>
        <p:spPr>
          <a:xfrm flipH="1">
            <a:off x="3256409" y="1700684"/>
            <a:ext cx="2927285" cy="1228254"/>
          </a:xfrm>
          <a:prstGeom prst="line">
            <a:avLst/>
          </a:prstGeom>
          <a:ln w="63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>
            <a:stCxn id="275" idx="2"/>
            <a:endCxn id="235" idx="0"/>
          </p:cNvCxnSpPr>
          <p:nvPr/>
        </p:nvCxnSpPr>
        <p:spPr>
          <a:xfrm flipH="1">
            <a:off x="3520179" y="1700684"/>
            <a:ext cx="3577620" cy="1228254"/>
          </a:xfrm>
          <a:prstGeom prst="line">
            <a:avLst/>
          </a:prstGeom>
          <a:ln w="63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/>
          <p:cNvCxnSpPr>
            <a:stCxn id="320" idx="2"/>
            <a:endCxn id="212" idx="0"/>
          </p:cNvCxnSpPr>
          <p:nvPr/>
        </p:nvCxnSpPr>
        <p:spPr>
          <a:xfrm>
            <a:off x="6554752" y="1708150"/>
            <a:ext cx="1238162" cy="1220788"/>
          </a:xfrm>
          <a:prstGeom prst="line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>
            <a:stCxn id="321" idx="2"/>
            <a:endCxn id="213" idx="0"/>
          </p:cNvCxnSpPr>
          <p:nvPr/>
        </p:nvCxnSpPr>
        <p:spPr>
          <a:xfrm>
            <a:off x="7422906" y="1698402"/>
            <a:ext cx="633777" cy="1230536"/>
          </a:xfrm>
          <a:prstGeom prst="line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>
            <a:stCxn id="227" idx="2"/>
            <a:endCxn id="239" idx="0"/>
          </p:cNvCxnSpPr>
          <p:nvPr/>
        </p:nvCxnSpPr>
        <p:spPr>
          <a:xfrm flipH="1">
            <a:off x="368545" y="3144838"/>
            <a:ext cx="1042946" cy="927100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직선 연결선 280"/>
          <p:cNvCxnSpPr>
            <a:stCxn id="227" idx="2"/>
            <a:endCxn id="240" idx="0"/>
          </p:cNvCxnSpPr>
          <p:nvPr/>
        </p:nvCxnSpPr>
        <p:spPr>
          <a:xfrm flipH="1">
            <a:off x="632315" y="3144838"/>
            <a:ext cx="779176" cy="927100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>
            <a:stCxn id="206" idx="2"/>
            <a:endCxn id="250" idx="0"/>
          </p:cNvCxnSpPr>
          <p:nvPr/>
        </p:nvCxnSpPr>
        <p:spPr>
          <a:xfrm flipH="1">
            <a:off x="4886325" y="3144838"/>
            <a:ext cx="1324707" cy="927100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>
            <a:stCxn id="207" idx="2"/>
            <a:endCxn id="250" idx="0"/>
          </p:cNvCxnSpPr>
          <p:nvPr/>
        </p:nvCxnSpPr>
        <p:spPr>
          <a:xfrm flipH="1">
            <a:off x="4886325" y="3144838"/>
            <a:ext cx="1588476" cy="927100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직사각형 283"/>
          <p:cNvSpPr/>
          <p:nvPr/>
        </p:nvSpPr>
        <p:spPr>
          <a:xfrm>
            <a:off x="7799304" y="1482725"/>
            <a:ext cx="232997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fcs0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85" name="직선 연결선 284"/>
          <p:cNvCxnSpPr>
            <a:stCxn id="319" idx="2"/>
            <a:endCxn id="211" idx="0"/>
          </p:cNvCxnSpPr>
          <p:nvPr/>
        </p:nvCxnSpPr>
        <p:spPr>
          <a:xfrm>
            <a:off x="5646401" y="1705455"/>
            <a:ext cx="1882743" cy="1223483"/>
          </a:xfrm>
          <a:prstGeom prst="line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>
            <a:stCxn id="254" idx="2"/>
            <a:endCxn id="233" idx="0"/>
          </p:cNvCxnSpPr>
          <p:nvPr/>
        </p:nvCxnSpPr>
        <p:spPr>
          <a:xfrm flipH="1">
            <a:off x="2992640" y="1700684"/>
            <a:ext cx="2305692" cy="1228254"/>
          </a:xfrm>
          <a:prstGeom prst="line">
            <a:avLst/>
          </a:prstGeom>
          <a:ln w="63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>
            <a:stCxn id="228" idx="2"/>
            <a:endCxn id="240" idx="0"/>
          </p:cNvCxnSpPr>
          <p:nvPr/>
        </p:nvCxnSpPr>
        <p:spPr>
          <a:xfrm flipH="1">
            <a:off x="632315" y="3144838"/>
            <a:ext cx="1042212" cy="927100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>
            <a:stCxn id="213" idx="2"/>
            <a:endCxn id="250" idx="0"/>
          </p:cNvCxnSpPr>
          <p:nvPr/>
        </p:nvCxnSpPr>
        <p:spPr>
          <a:xfrm flipH="1">
            <a:off x="4886325" y="3144838"/>
            <a:ext cx="3170358" cy="927100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>
            <a:stCxn id="206" idx="2"/>
            <a:endCxn id="251" idx="0"/>
          </p:cNvCxnSpPr>
          <p:nvPr/>
        </p:nvCxnSpPr>
        <p:spPr>
          <a:xfrm flipH="1">
            <a:off x="5150094" y="3144838"/>
            <a:ext cx="1060938" cy="927100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모서리가 둥근 직사각형 289"/>
          <p:cNvSpPr/>
          <p:nvPr/>
        </p:nvSpPr>
        <p:spPr>
          <a:xfrm>
            <a:off x="1439094" y="1206500"/>
            <a:ext cx="920921" cy="285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altLang="ko-KR" sz="9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cjfvpbwolap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1" name="직사각형 290"/>
          <p:cNvSpPr/>
          <p:nvPr/>
        </p:nvSpPr>
        <p:spPr>
          <a:xfrm>
            <a:off x="2574619" y="1492250"/>
            <a:ext cx="232996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fcs0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92" name="직선 연결선 291"/>
          <p:cNvCxnSpPr>
            <a:stCxn id="284" idx="2"/>
            <a:endCxn id="236" idx="0"/>
          </p:cNvCxnSpPr>
          <p:nvPr/>
        </p:nvCxnSpPr>
        <p:spPr>
          <a:xfrm flipH="1">
            <a:off x="3783948" y="1698625"/>
            <a:ext cx="4131855" cy="1230313"/>
          </a:xfrm>
          <a:prstGeom prst="line">
            <a:avLst/>
          </a:prstGeom>
          <a:ln w="63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직선 연결선 292"/>
          <p:cNvCxnSpPr>
            <a:stCxn id="291" idx="2"/>
            <a:endCxn id="227" idx="0"/>
          </p:cNvCxnSpPr>
          <p:nvPr/>
        </p:nvCxnSpPr>
        <p:spPr>
          <a:xfrm flipH="1">
            <a:off x="1411491" y="1708150"/>
            <a:ext cx="1279626" cy="1220788"/>
          </a:xfrm>
          <a:prstGeom prst="line">
            <a:avLst/>
          </a:prstGeom>
          <a:ln w="63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/>
          <p:cNvCxnSpPr>
            <a:stCxn id="315" idx="2"/>
            <a:endCxn id="203" idx="0"/>
          </p:cNvCxnSpPr>
          <p:nvPr/>
        </p:nvCxnSpPr>
        <p:spPr>
          <a:xfrm>
            <a:off x="2129980" y="1711317"/>
            <a:ext cx="3279844" cy="1217621"/>
          </a:xfrm>
          <a:prstGeom prst="line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연결선 294"/>
          <p:cNvCxnSpPr>
            <a:stCxn id="317" idx="2"/>
            <a:endCxn id="206" idx="0"/>
          </p:cNvCxnSpPr>
          <p:nvPr/>
        </p:nvCxnSpPr>
        <p:spPr>
          <a:xfrm>
            <a:off x="3896118" y="1705455"/>
            <a:ext cx="2314914" cy="1223483"/>
          </a:xfrm>
          <a:prstGeom prst="line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직선 연결선 295"/>
          <p:cNvCxnSpPr>
            <a:stCxn id="228" idx="2"/>
            <a:endCxn id="239" idx="0"/>
          </p:cNvCxnSpPr>
          <p:nvPr/>
        </p:nvCxnSpPr>
        <p:spPr>
          <a:xfrm flipH="1">
            <a:off x="368545" y="3144838"/>
            <a:ext cx="1305982" cy="927100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직선 연결선 296"/>
          <p:cNvCxnSpPr>
            <a:stCxn id="202" idx="2"/>
            <a:endCxn id="251" idx="0"/>
          </p:cNvCxnSpPr>
          <p:nvPr/>
        </p:nvCxnSpPr>
        <p:spPr>
          <a:xfrm>
            <a:off x="4877159" y="3144838"/>
            <a:ext cx="272935" cy="927100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직선 연결선 297"/>
          <p:cNvCxnSpPr>
            <a:stCxn id="323" idx="2"/>
            <a:endCxn id="250" idx="0"/>
          </p:cNvCxnSpPr>
          <p:nvPr/>
        </p:nvCxnSpPr>
        <p:spPr>
          <a:xfrm flipH="1">
            <a:off x="4886325" y="3141148"/>
            <a:ext cx="3433277" cy="930790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직선 연결선 298"/>
          <p:cNvCxnSpPr>
            <a:stCxn id="318" idx="2"/>
            <a:endCxn id="207" idx="0"/>
          </p:cNvCxnSpPr>
          <p:nvPr/>
        </p:nvCxnSpPr>
        <p:spPr>
          <a:xfrm>
            <a:off x="4781773" y="1700684"/>
            <a:ext cx="1693028" cy="1228254"/>
          </a:xfrm>
          <a:prstGeom prst="line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직사각형 299"/>
          <p:cNvSpPr/>
          <p:nvPr/>
        </p:nvSpPr>
        <p:spPr>
          <a:xfrm>
            <a:off x="7619818" y="4071938"/>
            <a:ext cx="232997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20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1" name="직사각형 300"/>
          <p:cNvSpPr/>
          <p:nvPr/>
        </p:nvSpPr>
        <p:spPr>
          <a:xfrm>
            <a:off x="2936513" y="5572125"/>
            <a:ext cx="329711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11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P2</a:t>
            </a:r>
            <a:endParaRPr lang="ko-KR" altLang="en-US" sz="11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2" name="직선 연결선 301"/>
          <p:cNvCxnSpPr>
            <a:stCxn id="322" idx="2"/>
            <a:endCxn id="323" idx="0"/>
          </p:cNvCxnSpPr>
          <p:nvPr/>
        </p:nvCxnSpPr>
        <p:spPr>
          <a:xfrm>
            <a:off x="8247185" y="1702943"/>
            <a:ext cx="72417" cy="1222305"/>
          </a:xfrm>
          <a:prstGeom prst="line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직선 연결선 302"/>
          <p:cNvCxnSpPr>
            <a:stCxn id="233" idx="2"/>
            <a:endCxn id="231" idx="0"/>
          </p:cNvCxnSpPr>
          <p:nvPr/>
        </p:nvCxnSpPr>
        <p:spPr>
          <a:xfrm flipH="1">
            <a:off x="1680592" y="3144838"/>
            <a:ext cx="1312048" cy="937367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/>
          <p:cNvCxnSpPr>
            <a:endCxn id="209" idx="0"/>
          </p:cNvCxnSpPr>
          <p:nvPr/>
        </p:nvCxnSpPr>
        <p:spPr>
          <a:xfrm flipH="1">
            <a:off x="6211032" y="3155553"/>
            <a:ext cx="1579104" cy="927928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직선 연결선 304"/>
          <p:cNvCxnSpPr>
            <a:stCxn id="234" idx="2"/>
            <a:endCxn id="231" idx="0"/>
          </p:cNvCxnSpPr>
          <p:nvPr/>
        </p:nvCxnSpPr>
        <p:spPr>
          <a:xfrm flipH="1">
            <a:off x="1680592" y="3144838"/>
            <a:ext cx="1575817" cy="937367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모서리가 둥근 직사각형 305"/>
          <p:cNvSpPr/>
          <p:nvPr/>
        </p:nvSpPr>
        <p:spPr>
          <a:xfrm>
            <a:off x="2421184" y="1196975"/>
            <a:ext cx="827970" cy="285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cjfvqerpap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7" name="모서리가 둥근 직사각형 306"/>
          <p:cNvSpPr/>
          <p:nvPr/>
        </p:nvSpPr>
        <p:spPr>
          <a:xfrm>
            <a:off x="3311021" y="1196752"/>
            <a:ext cx="791295" cy="285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cjfvderpap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" name="모서리가 둥근 직사각형 307"/>
          <p:cNvSpPr/>
          <p:nvPr/>
        </p:nvSpPr>
        <p:spPr>
          <a:xfrm>
            <a:off x="4164484" y="1200151"/>
            <a:ext cx="818451" cy="285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cjfvdbwap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9" name="모서리가 둥근 직사각형 308"/>
          <p:cNvSpPr/>
          <p:nvPr/>
        </p:nvSpPr>
        <p:spPr>
          <a:xfrm>
            <a:off x="5028580" y="1196752"/>
            <a:ext cx="838919" cy="285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cjfvppisap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0" name="모서리가 둥근 직사각형 309"/>
          <p:cNvSpPr/>
          <p:nvPr/>
        </p:nvSpPr>
        <p:spPr>
          <a:xfrm>
            <a:off x="5924575" y="1196752"/>
            <a:ext cx="857236" cy="285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cjfvppisap2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1" name="모서리가 둥근 직사각형 310"/>
          <p:cNvSpPr/>
          <p:nvPr/>
        </p:nvSpPr>
        <p:spPr>
          <a:xfrm>
            <a:off x="6836990" y="1196752"/>
            <a:ext cx="792042" cy="285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cjfvpbwetl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2" name="모서리가 둥근 직사각형 311"/>
          <p:cNvSpPr/>
          <p:nvPr/>
        </p:nvSpPr>
        <p:spPr>
          <a:xfrm>
            <a:off x="7689656" y="1199034"/>
            <a:ext cx="792042" cy="285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cjfvpbwap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3" name="모서리가 둥근 직사각형 312"/>
          <p:cNvSpPr/>
          <p:nvPr/>
        </p:nvSpPr>
        <p:spPr>
          <a:xfrm>
            <a:off x="2522892" y="5783676"/>
            <a:ext cx="1585381" cy="3603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P7200-node1</a:t>
            </a:r>
            <a:endParaRPr lang="ko-KR" altLang="en-US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4" name="직사각형 313"/>
          <p:cNvSpPr/>
          <p:nvPr/>
        </p:nvSpPr>
        <p:spPr>
          <a:xfrm>
            <a:off x="986526" y="1495417"/>
            <a:ext cx="232997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fcs1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5" name="직사각형 314"/>
          <p:cNvSpPr/>
          <p:nvPr/>
        </p:nvSpPr>
        <p:spPr>
          <a:xfrm>
            <a:off x="2013481" y="1495417"/>
            <a:ext cx="232997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fcs1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6" name="직사각형 315"/>
          <p:cNvSpPr/>
          <p:nvPr/>
        </p:nvSpPr>
        <p:spPr>
          <a:xfrm>
            <a:off x="2909476" y="1484784"/>
            <a:ext cx="232997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fcs1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7" name="직사각형 316"/>
          <p:cNvSpPr/>
          <p:nvPr/>
        </p:nvSpPr>
        <p:spPr>
          <a:xfrm>
            <a:off x="3779619" y="1489555"/>
            <a:ext cx="232997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fcs1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8" name="직사각형 317"/>
          <p:cNvSpPr/>
          <p:nvPr/>
        </p:nvSpPr>
        <p:spPr>
          <a:xfrm>
            <a:off x="4665274" y="1484784"/>
            <a:ext cx="232997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fcs1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9" name="직사각형 318"/>
          <p:cNvSpPr/>
          <p:nvPr/>
        </p:nvSpPr>
        <p:spPr>
          <a:xfrm>
            <a:off x="5529902" y="1489555"/>
            <a:ext cx="232997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fcs1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0" name="직사각형 319"/>
          <p:cNvSpPr/>
          <p:nvPr/>
        </p:nvSpPr>
        <p:spPr>
          <a:xfrm>
            <a:off x="6438253" y="1492250"/>
            <a:ext cx="232997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fcs1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1" name="직사각형 320"/>
          <p:cNvSpPr/>
          <p:nvPr/>
        </p:nvSpPr>
        <p:spPr>
          <a:xfrm>
            <a:off x="7306407" y="1482502"/>
            <a:ext cx="232997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fcs1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2" name="직사각형 321"/>
          <p:cNvSpPr/>
          <p:nvPr/>
        </p:nvSpPr>
        <p:spPr>
          <a:xfrm>
            <a:off x="8130686" y="1487043"/>
            <a:ext cx="232997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fcs1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3" name="직사각형 322"/>
          <p:cNvSpPr/>
          <p:nvPr/>
        </p:nvSpPr>
        <p:spPr>
          <a:xfrm>
            <a:off x="8203104" y="2925248"/>
            <a:ext cx="232996" cy="215900"/>
          </a:xfrm>
          <a:prstGeom prst="rect">
            <a:avLst/>
          </a:prstGeom>
          <a:solidFill>
            <a:srgbClr val="FFC000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15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24" name="직선 연결선 323"/>
          <p:cNvCxnSpPr>
            <a:stCxn id="235" idx="2"/>
            <a:endCxn id="239" idx="0"/>
          </p:cNvCxnSpPr>
          <p:nvPr/>
        </p:nvCxnSpPr>
        <p:spPr>
          <a:xfrm flipH="1">
            <a:off x="368545" y="3144838"/>
            <a:ext cx="3151634" cy="927100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직선 연결선 324"/>
          <p:cNvCxnSpPr>
            <a:stCxn id="236" idx="2"/>
            <a:endCxn id="239" idx="0"/>
          </p:cNvCxnSpPr>
          <p:nvPr/>
        </p:nvCxnSpPr>
        <p:spPr>
          <a:xfrm flipH="1">
            <a:off x="368545" y="3144838"/>
            <a:ext cx="3415403" cy="927100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직선 연결선 325"/>
          <p:cNvCxnSpPr>
            <a:endCxn id="240" idx="0"/>
          </p:cNvCxnSpPr>
          <p:nvPr/>
        </p:nvCxnSpPr>
        <p:spPr>
          <a:xfrm flipH="1">
            <a:off x="632315" y="3148808"/>
            <a:ext cx="2899995" cy="923130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직사각형 326"/>
          <p:cNvSpPr/>
          <p:nvPr/>
        </p:nvSpPr>
        <p:spPr>
          <a:xfrm>
            <a:off x="510330" y="2922275"/>
            <a:ext cx="231531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8" name="직사각형 327"/>
          <p:cNvSpPr/>
          <p:nvPr/>
        </p:nvSpPr>
        <p:spPr>
          <a:xfrm>
            <a:off x="8659484" y="4077072"/>
            <a:ext cx="232996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23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9" name="직사각형 328"/>
          <p:cNvSpPr/>
          <p:nvPr/>
        </p:nvSpPr>
        <p:spPr>
          <a:xfrm>
            <a:off x="5026992" y="2926244"/>
            <a:ext cx="231531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30" name="직선 연결선 329"/>
          <p:cNvCxnSpPr>
            <a:endCxn id="240" idx="0"/>
          </p:cNvCxnSpPr>
          <p:nvPr/>
        </p:nvCxnSpPr>
        <p:spPr>
          <a:xfrm flipH="1">
            <a:off x="632315" y="3152779"/>
            <a:ext cx="3180857" cy="919159"/>
          </a:xfrm>
          <a:prstGeom prst="line">
            <a:avLst/>
          </a:prstGeom>
          <a:ln w="6350" cmpd="sng">
            <a:solidFill>
              <a:srgbClr val="0070C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직선 연결선 330"/>
          <p:cNvCxnSpPr>
            <a:endCxn id="251" idx="0"/>
          </p:cNvCxnSpPr>
          <p:nvPr/>
        </p:nvCxnSpPr>
        <p:spPr>
          <a:xfrm flipH="1">
            <a:off x="5150094" y="3138175"/>
            <a:ext cx="2907323" cy="933763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직선 연결선 331"/>
          <p:cNvCxnSpPr>
            <a:stCxn id="323" idx="2"/>
            <a:endCxn id="251" idx="0"/>
          </p:cNvCxnSpPr>
          <p:nvPr/>
        </p:nvCxnSpPr>
        <p:spPr>
          <a:xfrm flipH="1">
            <a:off x="5150094" y="3141148"/>
            <a:ext cx="3169508" cy="930790"/>
          </a:xfrm>
          <a:prstGeom prst="line">
            <a:avLst/>
          </a:prstGeom>
          <a:ln w="6350" cmpd="sng">
            <a:solidFill>
              <a:srgbClr val="FF33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직사각형 332"/>
          <p:cNvSpPr/>
          <p:nvPr/>
        </p:nvSpPr>
        <p:spPr>
          <a:xfrm>
            <a:off x="2411760" y="4077072"/>
            <a:ext cx="232997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18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4" name="직사각형 333"/>
          <p:cNvSpPr/>
          <p:nvPr/>
        </p:nvSpPr>
        <p:spPr>
          <a:xfrm>
            <a:off x="2747537" y="4077072"/>
            <a:ext cx="232997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19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5" name="직사각형 334"/>
          <p:cNvSpPr/>
          <p:nvPr/>
        </p:nvSpPr>
        <p:spPr>
          <a:xfrm>
            <a:off x="3419092" y="4077072"/>
            <a:ext cx="231531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21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6" name="직사각형 335"/>
          <p:cNvSpPr/>
          <p:nvPr/>
        </p:nvSpPr>
        <p:spPr>
          <a:xfrm>
            <a:off x="3762939" y="4077072"/>
            <a:ext cx="232997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22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7" name="직사각형 336"/>
          <p:cNvSpPr/>
          <p:nvPr/>
        </p:nvSpPr>
        <p:spPr>
          <a:xfrm>
            <a:off x="3083314" y="4077072"/>
            <a:ext cx="232997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20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8" name="직사각형 337"/>
          <p:cNvSpPr/>
          <p:nvPr/>
        </p:nvSpPr>
        <p:spPr>
          <a:xfrm>
            <a:off x="4122980" y="4082206"/>
            <a:ext cx="232996" cy="215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23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9" name="모서리가 둥근 직사각형 338"/>
          <p:cNvSpPr/>
          <p:nvPr/>
        </p:nvSpPr>
        <p:spPr>
          <a:xfrm>
            <a:off x="5146034" y="5782171"/>
            <a:ext cx="1597142" cy="3603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P7400-node0</a:t>
            </a:r>
            <a:endParaRPr lang="ko-KR" altLang="en-US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0" name="직사각형 339"/>
          <p:cNvSpPr/>
          <p:nvPr/>
        </p:nvSpPr>
        <p:spPr>
          <a:xfrm>
            <a:off x="5189995" y="5577384"/>
            <a:ext cx="320919" cy="21431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11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P1</a:t>
            </a:r>
            <a:endParaRPr lang="ko-KR" altLang="en-US" sz="11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41" name="직선 연결선 340"/>
          <p:cNvCxnSpPr>
            <a:stCxn id="231" idx="2"/>
            <a:endCxn id="340" idx="0"/>
          </p:cNvCxnSpPr>
          <p:nvPr/>
        </p:nvCxnSpPr>
        <p:spPr>
          <a:xfrm>
            <a:off x="1680592" y="4299380"/>
            <a:ext cx="3669863" cy="1278004"/>
          </a:xfrm>
          <a:prstGeom prst="line">
            <a:avLst/>
          </a:prstGeom>
          <a:ln w="63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직사각형 341"/>
          <p:cNvSpPr/>
          <p:nvPr/>
        </p:nvSpPr>
        <p:spPr>
          <a:xfrm>
            <a:off x="6859309" y="5577383"/>
            <a:ext cx="329711" cy="2159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en-US" altLang="ko-KR" sz="11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P1</a:t>
            </a:r>
            <a:endParaRPr lang="ko-KR" altLang="en-US" sz="11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43" name="직선 연결선 342"/>
          <p:cNvCxnSpPr>
            <a:stCxn id="342" idx="0"/>
            <a:endCxn id="209" idx="2"/>
          </p:cNvCxnSpPr>
          <p:nvPr/>
        </p:nvCxnSpPr>
        <p:spPr>
          <a:xfrm flipH="1" flipV="1">
            <a:off x="6211032" y="4299381"/>
            <a:ext cx="813133" cy="1278002"/>
          </a:xfrm>
          <a:prstGeom prst="line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모서리가 둥근 직사각형 343"/>
          <p:cNvSpPr/>
          <p:nvPr/>
        </p:nvSpPr>
        <p:spPr>
          <a:xfrm>
            <a:off x="6841342" y="5788934"/>
            <a:ext cx="1585381" cy="3603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P7400-node1</a:t>
            </a:r>
            <a:endParaRPr lang="ko-KR" altLang="en-US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5" name="직사각형 344"/>
          <p:cNvSpPr/>
          <p:nvPr/>
        </p:nvSpPr>
        <p:spPr>
          <a:xfrm>
            <a:off x="4932040" y="5301208"/>
            <a:ext cx="3960440" cy="1008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6" name="직사각형 345"/>
          <p:cNvSpPr/>
          <p:nvPr/>
        </p:nvSpPr>
        <p:spPr>
          <a:xfrm>
            <a:off x="5940152" y="4005064"/>
            <a:ext cx="648072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 rot="20224515">
            <a:off x="2456596" y="2660447"/>
            <a:ext cx="3934013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 </a:t>
            </a:r>
            <a:r>
              <a:rPr lang="en-US" altLang="ko-KR" sz="2800" dirty="0"/>
              <a:t>(</a:t>
            </a:r>
            <a:r>
              <a:rPr lang="ko-KR" altLang="en-US" sz="2800" dirty="0"/>
              <a:t>반드시 포함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151" name="직사각형 150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IDC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68321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2. Hardware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구성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2.5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스토리지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구성</a:t>
            </a:r>
          </a:p>
        </p:txBody>
      </p:sp>
      <p:graphicFrame>
        <p:nvGraphicFramePr>
          <p:cNvPr id="204" name="Group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480246"/>
              </p:ext>
            </p:extLst>
          </p:nvPr>
        </p:nvGraphicFramePr>
        <p:xfrm>
          <a:off x="297657" y="1320232"/>
          <a:ext cx="8484040" cy="4536003"/>
        </p:xfrm>
        <a:graphic>
          <a:graphicData uri="http://schemas.openxmlformats.org/drawingml/2006/table">
            <a:tbl>
              <a:tblPr/>
              <a:tblGrid>
                <a:gridCol w="1202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6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9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83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83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87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(Blade</a:t>
                      </a:r>
                      <a:r>
                        <a:rPr lang="en-US" altLang="ko-KR" sz="11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No)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Volume</a:t>
                      </a:r>
                      <a:r>
                        <a:rPr lang="en-US" altLang="ko-KR" sz="11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Name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Provisioned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Volume</a:t>
                      </a:r>
                      <a:r>
                        <a:rPr lang="en-US" altLang="ko-KR" sz="11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Capacity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Notes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Host </a:t>
                      </a:r>
                      <a:r>
                        <a:rPr lang="ko-KR" altLang="en-US" sz="11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Mapping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SAN </a:t>
                      </a:r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81"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Windows MSCS</a:t>
                      </a:r>
                      <a:b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</a:b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( Blade Slot 1, 2 )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pure510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 510 GB</a:t>
                      </a: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153.15 GB</a:t>
                      </a: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공용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cjp-fs03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cjp-fs04</a:t>
                      </a: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QLOGIC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SAN 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영역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7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나눔고딕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pure500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 500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53.42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개인</a:t>
                      </a: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7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나눔고딕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pure1000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1 TB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151.42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T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7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나눔고딕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pure3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3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26.62 MB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쿼럼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7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나눔고딕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pure520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520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9.10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T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87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나눔고딕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pure530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540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120.74 MB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T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87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Pure700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700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115.91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공용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2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87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나눔고딕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pure100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100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6.23 MB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수정됨</a:t>
                      </a: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878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Xen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 Server(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관리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(Blade Slot 3,4)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CJHCMGSR1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3 TB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79.67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관리 서버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VM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cjpxensmg01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cjpxensmg02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87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나눔고딕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CJHCMGSR2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3 TB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119.06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관리 서버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VM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87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나눔고딕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XensMGHB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2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55 KB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HeartBeat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 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90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VDI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운영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(Blade 8,9,10,11,12)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CJHCSR1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4 TB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211.47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Desktop VM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cjpxens15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cjpxens16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cjpxens17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cjpxens18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cjpxens19</a:t>
                      </a: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BROCADE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SAN 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영역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7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CJHCSR2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4 TB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209.97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Desktop VM</a:t>
                      </a:r>
                      <a:endParaRPr kumimoji="1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395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나눔고딕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XensHB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1 GB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66 KB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HeartBeat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 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395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기타 사항</a:t>
                      </a: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볼륨 수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:  14ea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총합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 : 17.81 TB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총합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 : 1.08 TB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나눔고딕"/>
                        </a:rPr>
                        <a:t>-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나눔고딕"/>
                      </a:endParaRP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54000" marR="54000" marT="25200" marB="25200" anchor="ctr" horzOverflow="overflow">
                    <a:lnL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20224515">
            <a:off x="2330968" y="2449713"/>
            <a:ext cx="3934013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 </a:t>
            </a:r>
            <a:r>
              <a:rPr lang="en-US" altLang="ko-KR" sz="2800" dirty="0"/>
              <a:t>(</a:t>
            </a:r>
            <a:r>
              <a:rPr lang="ko-KR" altLang="en-US" sz="2800" dirty="0" err="1"/>
              <a:t>스토리지별</a:t>
            </a:r>
            <a:r>
              <a:rPr lang="en-US" altLang="ko-KR" sz="2800" dirty="0"/>
              <a:t>, </a:t>
            </a:r>
            <a:r>
              <a:rPr lang="ko-KR" altLang="en-US" sz="2800" dirty="0"/>
              <a:t>반드시 포함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8" name="직사각형 7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IDC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5740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3. Network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구성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342" y="930275"/>
            <a:ext cx="8159522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 rot="20224515">
            <a:off x="2925290" y="2628599"/>
            <a:ext cx="4057009" cy="13849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</a:t>
            </a:r>
            <a:endParaRPr lang="en-US" altLang="ko-KR" sz="2800" dirty="0"/>
          </a:p>
          <a:p>
            <a:pPr algn="ctr"/>
            <a:r>
              <a:rPr lang="en-US" altLang="ko-KR" sz="2800" dirty="0"/>
              <a:t>(</a:t>
            </a:r>
            <a:r>
              <a:rPr lang="ko-KR" altLang="en-US" sz="2800" dirty="0"/>
              <a:t>서버가 어디에 위치하는지 반드시 표시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3.1 </a:t>
            </a:r>
            <a:r>
              <a:rPr lang="ko-KR" altLang="en-US" sz="2000" dirty="0" err="1">
                <a:latin typeface="맑은 고딕" pitchFamily="50" charset="-127"/>
                <a:ea typeface="맑은 고딕" pitchFamily="50" charset="-127"/>
              </a:rPr>
              <a:t>서버팜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Network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구성</a:t>
            </a:r>
          </a:p>
        </p:txBody>
      </p:sp>
      <p:sp>
        <p:nvSpPr>
          <p:cNvPr id="7" name="직사각형 6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IDC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23605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3. Network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구성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1893147"/>
            <a:ext cx="9829800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 rot="20224515">
            <a:off x="2925290" y="2844043"/>
            <a:ext cx="4057009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</a:t>
            </a:r>
            <a:endParaRPr lang="en-US" altLang="ko-KR" sz="2800" dirty="0"/>
          </a:p>
          <a:p>
            <a:pPr algn="ctr"/>
            <a:r>
              <a:rPr lang="en-US" altLang="ko-KR" sz="2800" dirty="0"/>
              <a:t>(</a:t>
            </a:r>
            <a:r>
              <a:rPr lang="ko-KR" altLang="en-US" sz="2800" dirty="0"/>
              <a:t>연계시스템 구성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3.2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연계 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Network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구성</a:t>
            </a:r>
          </a:p>
        </p:txBody>
      </p:sp>
      <p:sp>
        <p:nvSpPr>
          <p:cNvPr id="8" name="직사각형 7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IDC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04462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4. Software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구성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4.1 Software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구성 내역</a:t>
            </a:r>
          </a:p>
        </p:txBody>
      </p:sp>
      <p:sp>
        <p:nvSpPr>
          <p:cNvPr id="727" name="Line 3"/>
          <p:cNvSpPr>
            <a:spLocks noChangeShapeType="1"/>
          </p:cNvSpPr>
          <p:nvPr/>
        </p:nvSpPr>
        <p:spPr bwMode="auto">
          <a:xfrm flipV="1">
            <a:off x="504825" y="3911600"/>
            <a:ext cx="9026525" cy="1588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28" name="AutoShape 4"/>
          <p:cNvSpPr>
            <a:spLocks noChangeArrowheads="1"/>
          </p:cNvSpPr>
          <p:nvPr/>
        </p:nvSpPr>
        <p:spPr bwMode="auto">
          <a:xfrm>
            <a:off x="5045075" y="1704975"/>
            <a:ext cx="3336925" cy="2116138"/>
          </a:xfrm>
          <a:prstGeom prst="roundRect">
            <a:avLst>
              <a:gd name="adj" fmla="val 5144"/>
            </a:avLst>
          </a:prstGeom>
          <a:noFill/>
          <a:ln w="12700">
            <a:solidFill>
              <a:srgbClr val="CC99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algn="just"/>
            <a:endParaRPr lang="ko-KR" altLang="en-US"/>
          </a:p>
        </p:txBody>
      </p:sp>
      <p:sp>
        <p:nvSpPr>
          <p:cNvPr id="729" name="Line 5"/>
          <p:cNvSpPr>
            <a:spLocks noChangeShapeType="1"/>
          </p:cNvSpPr>
          <p:nvPr/>
        </p:nvSpPr>
        <p:spPr bwMode="auto">
          <a:xfrm>
            <a:off x="1785938" y="3611563"/>
            <a:ext cx="1587" cy="29210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30" name="Line 6"/>
          <p:cNvSpPr>
            <a:spLocks noChangeShapeType="1"/>
          </p:cNvSpPr>
          <p:nvPr/>
        </p:nvSpPr>
        <p:spPr bwMode="auto">
          <a:xfrm>
            <a:off x="6010275" y="3611563"/>
            <a:ext cx="0" cy="288925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31" name="Rectangle 7"/>
          <p:cNvSpPr>
            <a:spLocks noChangeArrowheads="1"/>
          </p:cNvSpPr>
          <p:nvPr/>
        </p:nvSpPr>
        <p:spPr bwMode="auto">
          <a:xfrm>
            <a:off x="5319713" y="2209800"/>
            <a:ext cx="1362075" cy="1449388"/>
          </a:xfrm>
          <a:prstGeom prst="rect">
            <a:avLst/>
          </a:prstGeom>
          <a:solidFill>
            <a:srgbClr val="FFFF99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/>
          <a:lstStyle/>
          <a:p>
            <a:pPr eaLnBrk="1" hangingPunct="1">
              <a:lnSpc>
                <a:spcPct val="95000"/>
              </a:lnSpc>
            </a:pPr>
            <a:r>
              <a:rPr lang="en-US" altLang="ko-KR" sz="800">
                <a:solidFill>
                  <a:srgbClr val="663300"/>
                </a:solidFill>
              </a:rPr>
              <a:t>SAP AP/DB #1</a:t>
            </a:r>
          </a:p>
        </p:txBody>
      </p:sp>
      <p:sp>
        <p:nvSpPr>
          <p:cNvPr id="732" name="Rectangle 8"/>
          <p:cNvSpPr>
            <a:spLocks noChangeArrowheads="1"/>
          </p:cNvSpPr>
          <p:nvPr/>
        </p:nvSpPr>
        <p:spPr bwMode="auto">
          <a:xfrm>
            <a:off x="1071563" y="2554288"/>
            <a:ext cx="1431925" cy="1104900"/>
          </a:xfrm>
          <a:prstGeom prst="rect">
            <a:avLst/>
          </a:prstGeom>
          <a:solidFill>
            <a:srgbClr val="CCCCFF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/>
          <a:lstStyle/>
          <a:p>
            <a:pPr eaLnBrk="1" hangingPunct="1">
              <a:lnSpc>
                <a:spcPct val="95000"/>
              </a:lnSpc>
            </a:pPr>
            <a:r>
              <a:rPr lang="ko-KR" altLang="en-US" sz="800">
                <a:solidFill>
                  <a:srgbClr val="663300"/>
                </a:solidFill>
              </a:rPr>
              <a:t>영업 </a:t>
            </a:r>
            <a:r>
              <a:rPr lang="en-US" altLang="ko-KR" sz="800">
                <a:solidFill>
                  <a:srgbClr val="663300"/>
                </a:solidFill>
              </a:rPr>
              <a:t>AP#1</a:t>
            </a:r>
          </a:p>
        </p:txBody>
      </p:sp>
      <p:sp>
        <p:nvSpPr>
          <p:cNvPr id="733" name="Rectangle 9"/>
          <p:cNvSpPr>
            <a:spLocks noChangeArrowheads="1"/>
          </p:cNvSpPr>
          <p:nvPr/>
        </p:nvSpPr>
        <p:spPr bwMode="auto">
          <a:xfrm>
            <a:off x="5394325" y="3416300"/>
            <a:ext cx="1212850" cy="193675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TCP/IP</a:t>
            </a:r>
          </a:p>
        </p:txBody>
      </p:sp>
      <p:sp>
        <p:nvSpPr>
          <p:cNvPr id="734" name="Rectangle 10"/>
          <p:cNvSpPr>
            <a:spLocks noChangeArrowheads="1"/>
          </p:cNvSpPr>
          <p:nvPr/>
        </p:nvSpPr>
        <p:spPr bwMode="auto">
          <a:xfrm>
            <a:off x="1141413" y="3416300"/>
            <a:ext cx="1292225" cy="193675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TCP/IP</a:t>
            </a:r>
          </a:p>
        </p:txBody>
      </p:sp>
      <p:sp>
        <p:nvSpPr>
          <p:cNvPr id="735" name="Rectangle 11"/>
          <p:cNvSpPr>
            <a:spLocks noChangeArrowheads="1"/>
          </p:cNvSpPr>
          <p:nvPr/>
        </p:nvSpPr>
        <p:spPr bwMode="auto">
          <a:xfrm>
            <a:off x="1141413" y="3225800"/>
            <a:ext cx="1292225" cy="190500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AIX 6.1</a:t>
            </a:r>
          </a:p>
        </p:txBody>
      </p:sp>
      <p:sp>
        <p:nvSpPr>
          <p:cNvPr id="736" name="Rectangle 12"/>
          <p:cNvSpPr>
            <a:spLocks noChangeArrowheads="1"/>
          </p:cNvSpPr>
          <p:nvPr/>
        </p:nvSpPr>
        <p:spPr bwMode="auto">
          <a:xfrm>
            <a:off x="1141413" y="3032125"/>
            <a:ext cx="1292225" cy="190500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JDK 64bit 1.6</a:t>
            </a:r>
          </a:p>
        </p:txBody>
      </p:sp>
      <p:sp>
        <p:nvSpPr>
          <p:cNvPr id="737" name="Line 13"/>
          <p:cNvSpPr>
            <a:spLocks noChangeShapeType="1"/>
          </p:cNvSpPr>
          <p:nvPr/>
        </p:nvSpPr>
        <p:spPr bwMode="auto">
          <a:xfrm>
            <a:off x="3311525" y="3619500"/>
            <a:ext cx="0" cy="288925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38" name="Rectangle 14"/>
          <p:cNvSpPr>
            <a:spLocks noChangeArrowheads="1"/>
          </p:cNvSpPr>
          <p:nvPr/>
        </p:nvSpPr>
        <p:spPr bwMode="auto">
          <a:xfrm>
            <a:off x="5394325" y="3225800"/>
            <a:ext cx="1216025" cy="190500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WINSVRENT 2008 SP2</a:t>
            </a:r>
          </a:p>
        </p:txBody>
      </p:sp>
      <p:sp>
        <p:nvSpPr>
          <p:cNvPr id="739" name="AutoShape 15"/>
          <p:cNvSpPr>
            <a:spLocks noChangeArrowheads="1"/>
          </p:cNvSpPr>
          <p:nvPr/>
        </p:nvSpPr>
        <p:spPr bwMode="auto">
          <a:xfrm>
            <a:off x="909638" y="2133600"/>
            <a:ext cx="3270250" cy="1651000"/>
          </a:xfrm>
          <a:prstGeom prst="roundRect">
            <a:avLst>
              <a:gd name="adj" fmla="val 5144"/>
            </a:avLst>
          </a:prstGeom>
          <a:noFill/>
          <a:ln w="12700">
            <a:solidFill>
              <a:srgbClr val="CC99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algn="just"/>
            <a:endParaRPr lang="ko-KR" altLang="en-US"/>
          </a:p>
        </p:txBody>
      </p:sp>
      <p:sp>
        <p:nvSpPr>
          <p:cNvPr id="740" name="Rectangle 16"/>
          <p:cNvSpPr>
            <a:spLocks noChangeArrowheads="1"/>
          </p:cNvSpPr>
          <p:nvPr/>
        </p:nvSpPr>
        <p:spPr bwMode="auto">
          <a:xfrm>
            <a:off x="5394325" y="2841625"/>
            <a:ext cx="1216025" cy="190500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Oracle 10g</a:t>
            </a:r>
          </a:p>
        </p:txBody>
      </p:sp>
      <p:sp>
        <p:nvSpPr>
          <p:cNvPr id="741" name="Rectangle 17"/>
          <p:cNvSpPr>
            <a:spLocks noChangeArrowheads="1"/>
          </p:cNvSpPr>
          <p:nvPr/>
        </p:nvSpPr>
        <p:spPr bwMode="auto">
          <a:xfrm>
            <a:off x="5392738" y="3030538"/>
            <a:ext cx="1214437" cy="195262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MSCS</a:t>
            </a:r>
          </a:p>
        </p:txBody>
      </p:sp>
      <p:sp>
        <p:nvSpPr>
          <p:cNvPr id="742" name="Line 18"/>
          <p:cNvSpPr>
            <a:spLocks noChangeShapeType="1"/>
          </p:cNvSpPr>
          <p:nvPr/>
        </p:nvSpPr>
        <p:spPr bwMode="auto">
          <a:xfrm>
            <a:off x="7453313" y="3613150"/>
            <a:ext cx="0" cy="290513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43" name="Rectangle 19"/>
          <p:cNvSpPr>
            <a:spLocks noChangeArrowheads="1"/>
          </p:cNvSpPr>
          <p:nvPr/>
        </p:nvSpPr>
        <p:spPr bwMode="auto">
          <a:xfrm>
            <a:off x="5511800" y="4211638"/>
            <a:ext cx="1360488" cy="1503362"/>
          </a:xfrm>
          <a:prstGeom prst="rect">
            <a:avLst/>
          </a:prstGeom>
          <a:solidFill>
            <a:srgbClr val="FFCCCC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/>
          <a:lstStyle/>
          <a:p>
            <a:pPr eaLnBrk="1" hangingPunct="1">
              <a:lnSpc>
                <a:spcPct val="95000"/>
              </a:lnSpc>
            </a:pPr>
            <a:endParaRPr lang="ko-KR" altLang="en-US" sz="800">
              <a:solidFill>
                <a:srgbClr val="663300"/>
              </a:solidFill>
            </a:endParaRPr>
          </a:p>
          <a:p>
            <a:pPr eaLnBrk="1" hangingPunct="1">
              <a:lnSpc>
                <a:spcPct val="95000"/>
              </a:lnSpc>
            </a:pPr>
            <a:endParaRPr lang="ko-KR" altLang="en-US" sz="800">
              <a:solidFill>
                <a:srgbClr val="663300"/>
              </a:solidFill>
            </a:endParaRPr>
          </a:p>
          <a:p>
            <a:pPr eaLnBrk="1" hangingPunct="1">
              <a:lnSpc>
                <a:spcPct val="95000"/>
              </a:lnSpc>
            </a:pPr>
            <a:endParaRPr lang="ko-KR" altLang="en-US" sz="800">
              <a:solidFill>
                <a:srgbClr val="663300"/>
              </a:solidFill>
            </a:endParaRPr>
          </a:p>
          <a:p>
            <a:pPr eaLnBrk="1" hangingPunct="1">
              <a:lnSpc>
                <a:spcPct val="95000"/>
              </a:lnSpc>
            </a:pPr>
            <a:endParaRPr lang="ko-KR" altLang="en-US" sz="800">
              <a:solidFill>
                <a:srgbClr val="663300"/>
              </a:solidFill>
            </a:endParaRPr>
          </a:p>
          <a:p>
            <a:pPr eaLnBrk="1" hangingPunct="1">
              <a:lnSpc>
                <a:spcPct val="95000"/>
              </a:lnSpc>
            </a:pPr>
            <a:endParaRPr lang="ko-KR" altLang="en-US" sz="800">
              <a:solidFill>
                <a:srgbClr val="663300"/>
              </a:solidFill>
            </a:endParaRPr>
          </a:p>
          <a:p>
            <a:pPr eaLnBrk="1" hangingPunct="1">
              <a:lnSpc>
                <a:spcPct val="95000"/>
              </a:lnSpc>
            </a:pPr>
            <a:endParaRPr lang="ko-KR" altLang="en-US" sz="800">
              <a:solidFill>
                <a:srgbClr val="663300"/>
              </a:solidFill>
            </a:endParaRPr>
          </a:p>
          <a:p>
            <a:pPr eaLnBrk="1" hangingPunct="1">
              <a:lnSpc>
                <a:spcPct val="95000"/>
              </a:lnSpc>
            </a:pPr>
            <a:endParaRPr lang="en-US" altLang="ko-KR" sz="800">
              <a:solidFill>
                <a:srgbClr val="663300"/>
              </a:solidFill>
            </a:endParaRPr>
          </a:p>
          <a:p>
            <a:pPr eaLnBrk="1" hangingPunct="1">
              <a:lnSpc>
                <a:spcPct val="95000"/>
              </a:lnSpc>
            </a:pPr>
            <a:r>
              <a:rPr lang="en-US" altLang="ko-KR" sz="800">
                <a:solidFill>
                  <a:srgbClr val="663300"/>
                </a:solidFill>
              </a:rPr>
              <a:t>DB Server  1</a:t>
            </a:r>
          </a:p>
        </p:txBody>
      </p:sp>
      <p:sp>
        <p:nvSpPr>
          <p:cNvPr id="744" name="Rectangle 20"/>
          <p:cNvSpPr>
            <a:spLocks noChangeArrowheads="1"/>
          </p:cNvSpPr>
          <p:nvPr/>
        </p:nvSpPr>
        <p:spPr bwMode="auto">
          <a:xfrm>
            <a:off x="5583238" y="4873625"/>
            <a:ext cx="1216025" cy="190500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Oracle 11g</a:t>
            </a:r>
            <a:r>
              <a:rPr lang="ko-KR" altLang="en-US" sz="800">
                <a:solidFill>
                  <a:srgbClr val="0000FF"/>
                </a:solidFill>
              </a:rPr>
              <a:t> </a:t>
            </a:r>
            <a:r>
              <a:rPr lang="en-US" altLang="ko-KR" sz="800">
                <a:solidFill>
                  <a:srgbClr val="0000FF"/>
                </a:solidFill>
              </a:rPr>
              <a:t>RAC</a:t>
            </a:r>
          </a:p>
        </p:txBody>
      </p:sp>
      <p:sp>
        <p:nvSpPr>
          <p:cNvPr id="745" name="Rectangle 21"/>
          <p:cNvSpPr>
            <a:spLocks noChangeArrowheads="1"/>
          </p:cNvSpPr>
          <p:nvPr/>
        </p:nvSpPr>
        <p:spPr bwMode="auto">
          <a:xfrm>
            <a:off x="5583238" y="4486275"/>
            <a:ext cx="1217612" cy="193675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AIX 6.1</a:t>
            </a:r>
          </a:p>
        </p:txBody>
      </p:sp>
      <p:sp>
        <p:nvSpPr>
          <p:cNvPr id="746" name="Rectangle 22"/>
          <p:cNvSpPr>
            <a:spLocks noChangeArrowheads="1"/>
          </p:cNvSpPr>
          <p:nvPr/>
        </p:nvSpPr>
        <p:spPr bwMode="auto">
          <a:xfrm>
            <a:off x="5583238" y="4679950"/>
            <a:ext cx="1217612" cy="193675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HACMP</a:t>
            </a:r>
          </a:p>
        </p:txBody>
      </p:sp>
      <p:sp>
        <p:nvSpPr>
          <p:cNvPr id="747" name="Rectangle 23"/>
          <p:cNvSpPr>
            <a:spLocks noChangeArrowheads="1"/>
          </p:cNvSpPr>
          <p:nvPr/>
        </p:nvSpPr>
        <p:spPr bwMode="auto">
          <a:xfrm>
            <a:off x="5583238" y="4294188"/>
            <a:ext cx="1217612" cy="193675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TCP /IP</a:t>
            </a:r>
          </a:p>
        </p:txBody>
      </p:sp>
      <p:sp>
        <p:nvSpPr>
          <p:cNvPr id="748" name="AutoShape 24"/>
          <p:cNvSpPr>
            <a:spLocks noChangeArrowheads="1"/>
          </p:cNvSpPr>
          <p:nvPr/>
        </p:nvSpPr>
        <p:spPr bwMode="auto">
          <a:xfrm>
            <a:off x="5249863" y="4052888"/>
            <a:ext cx="3798887" cy="1995487"/>
          </a:xfrm>
          <a:prstGeom prst="roundRect">
            <a:avLst>
              <a:gd name="adj" fmla="val 5144"/>
            </a:avLst>
          </a:prstGeom>
          <a:noFill/>
          <a:ln w="12700">
            <a:solidFill>
              <a:srgbClr val="CC99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algn="just"/>
            <a:endParaRPr lang="ko-KR" altLang="en-US"/>
          </a:p>
        </p:txBody>
      </p:sp>
      <p:sp>
        <p:nvSpPr>
          <p:cNvPr id="749" name="Text Box 25"/>
          <p:cNvSpPr txBox="1">
            <a:spLocks noChangeArrowheads="1"/>
          </p:cNvSpPr>
          <p:nvPr/>
        </p:nvSpPr>
        <p:spPr bwMode="auto">
          <a:xfrm>
            <a:off x="6813550" y="4033838"/>
            <a:ext cx="795338" cy="2079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Oracle RAC</a:t>
            </a:r>
          </a:p>
        </p:txBody>
      </p:sp>
      <p:sp>
        <p:nvSpPr>
          <p:cNvPr id="750" name="Line 26"/>
          <p:cNvSpPr>
            <a:spLocks noChangeShapeType="1"/>
          </p:cNvSpPr>
          <p:nvPr/>
        </p:nvSpPr>
        <p:spPr bwMode="auto">
          <a:xfrm>
            <a:off x="6183313" y="3906838"/>
            <a:ext cx="0" cy="29210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51" name="Line 27"/>
          <p:cNvSpPr>
            <a:spLocks noChangeShapeType="1"/>
          </p:cNvSpPr>
          <p:nvPr/>
        </p:nvSpPr>
        <p:spPr bwMode="auto">
          <a:xfrm>
            <a:off x="8197850" y="3906838"/>
            <a:ext cx="0" cy="29210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52" name="Rectangle 28"/>
          <p:cNvSpPr>
            <a:spLocks noChangeArrowheads="1"/>
          </p:cNvSpPr>
          <p:nvPr/>
        </p:nvSpPr>
        <p:spPr bwMode="auto">
          <a:xfrm>
            <a:off x="5583238" y="5060950"/>
            <a:ext cx="1216025" cy="192088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TDE</a:t>
            </a:r>
          </a:p>
        </p:txBody>
      </p:sp>
      <p:sp>
        <p:nvSpPr>
          <p:cNvPr id="753" name="Rectangle 29"/>
          <p:cNvSpPr>
            <a:spLocks noChangeArrowheads="1"/>
          </p:cNvSpPr>
          <p:nvPr/>
        </p:nvSpPr>
        <p:spPr bwMode="auto">
          <a:xfrm>
            <a:off x="5392738" y="2646363"/>
            <a:ext cx="1214437" cy="192087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 dirty="0">
                <a:solidFill>
                  <a:srgbClr val="0000FF"/>
                </a:solidFill>
              </a:rPr>
              <a:t>JDK </a:t>
            </a:r>
            <a:r>
              <a:rPr lang="en-US" altLang="ko-KR" sz="800">
                <a:solidFill>
                  <a:srgbClr val="0000FF"/>
                </a:solidFill>
              </a:rPr>
              <a:t>64bit 1.4.2.24</a:t>
            </a:r>
            <a:endParaRPr lang="en-US" altLang="ko-KR" sz="800" dirty="0">
              <a:solidFill>
                <a:srgbClr val="0000FF"/>
              </a:solidFill>
            </a:endParaRPr>
          </a:p>
        </p:txBody>
      </p:sp>
      <p:sp>
        <p:nvSpPr>
          <p:cNvPr id="754" name="Rectangle 30"/>
          <p:cNvSpPr>
            <a:spLocks noChangeArrowheads="1"/>
          </p:cNvSpPr>
          <p:nvPr/>
        </p:nvSpPr>
        <p:spPr bwMode="auto">
          <a:xfrm>
            <a:off x="5392738" y="2452688"/>
            <a:ext cx="1214437" cy="195262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SAP ERP 6.0</a:t>
            </a:r>
          </a:p>
        </p:txBody>
      </p:sp>
      <p:sp>
        <p:nvSpPr>
          <p:cNvPr id="755" name="Rectangle 31"/>
          <p:cNvSpPr>
            <a:spLocks noChangeArrowheads="1"/>
          </p:cNvSpPr>
          <p:nvPr/>
        </p:nvSpPr>
        <p:spPr bwMode="auto">
          <a:xfrm>
            <a:off x="1141413" y="2843213"/>
            <a:ext cx="1289050" cy="192087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chemeClr val="tx1"/>
                </a:solidFill>
              </a:rPr>
              <a:t>Weblogic 11g</a:t>
            </a:r>
          </a:p>
        </p:txBody>
      </p:sp>
      <p:sp>
        <p:nvSpPr>
          <p:cNvPr id="756" name="Text Box 32"/>
          <p:cNvSpPr txBox="1">
            <a:spLocks noChangeArrowheads="1"/>
          </p:cNvSpPr>
          <p:nvPr/>
        </p:nvSpPr>
        <p:spPr bwMode="auto">
          <a:xfrm>
            <a:off x="6275388" y="3614738"/>
            <a:ext cx="720725" cy="2079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Oracle HA</a:t>
            </a:r>
          </a:p>
        </p:txBody>
      </p:sp>
      <p:sp>
        <p:nvSpPr>
          <p:cNvPr id="757" name="Text Box 33"/>
          <p:cNvSpPr txBox="1">
            <a:spLocks noChangeArrowheads="1"/>
          </p:cNvSpPr>
          <p:nvPr/>
        </p:nvSpPr>
        <p:spPr bwMode="auto">
          <a:xfrm>
            <a:off x="6323013" y="1765300"/>
            <a:ext cx="696912" cy="20796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 b="1">
                <a:solidFill>
                  <a:srgbClr val="0000FF"/>
                </a:solidFill>
              </a:rPr>
              <a:t>SAP AP/DB</a:t>
            </a:r>
          </a:p>
        </p:txBody>
      </p:sp>
      <p:sp>
        <p:nvSpPr>
          <p:cNvPr id="758" name="Text Box 34"/>
          <p:cNvSpPr txBox="1">
            <a:spLocks noChangeArrowheads="1"/>
          </p:cNvSpPr>
          <p:nvPr/>
        </p:nvSpPr>
        <p:spPr bwMode="auto">
          <a:xfrm>
            <a:off x="6818313" y="5780088"/>
            <a:ext cx="749300" cy="2079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ko-KR" altLang="en-US" sz="800" b="1">
                <a:solidFill>
                  <a:srgbClr val="0000FF"/>
                </a:solidFill>
              </a:rPr>
              <a:t>운영 </a:t>
            </a:r>
            <a:r>
              <a:rPr lang="en-US" altLang="ko-KR" sz="800" b="1">
                <a:solidFill>
                  <a:srgbClr val="0000FF"/>
                </a:solidFill>
              </a:rPr>
              <a:t>DB</a:t>
            </a:r>
            <a:r>
              <a:rPr lang="ko-KR" altLang="en-US" sz="800" b="1">
                <a:solidFill>
                  <a:srgbClr val="0000FF"/>
                </a:solidFill>
              </a:rPr>
              <a:t>서버</a:t>
            </a:r>
          </a:p>
        </p:txBody>
      </p:sp>
      <p:sp>
        <p:nvSpPr>
          <p:cNvPr id="759" name="Text Box 35"/>
          <p:cNvSpPr txBox="1">
            <a:spLocks noChangeArrowheads="1"/>
          </p:cNvSpPr>
          <p:nvPr/>
        </p:nvSpPr>
        <p:spPr bwMode="auto">
          <a:xfrm>
            <a:off x="2208213" y="2200275"/>
            <a:ext cx="714375" cy="20796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ko-KR" altLang="en-US" sz="800" b="1">
                <a:solidFill>
                  <a:srgbClr val="0000FF"/>
                </a:solidFill>
              </a:rPr>
              <a:t>영업</a:t>
            </a:r>
            <a:r>
              <a:rPr lang="en-US" altLang="ko-KR" sz="800" b="1">
                <a:solidFill>
                  <a:srgbClr val="0000FF"/>
                </a:solidFill>
              </a:rPr>
              <a:t>AP</a:t>
            </a:r>
            <a:r>
              <a:rPr lang="ko-KR" altLang="en-US" sz="800" b="1">
                <a:solidFill>
                  <a:srgbClr val="0000FF"/>
                </a:solidFill>
              </a:rPr>
              <a:t>서버</a:t>
            </a:r>
          </a:p>
        </p:txBody>
      </p:sp>
      <p:sp>
        <p:nvSpPr>
          <p:cNvPr id="760" name="Rectangle 36"/>
          <p:cNvSpPr>
            <a:spLocks noChangeArrowheads="1"/>
          </p:cNvSpPr>
          <p:nvPr/>
        </p:nvSpPr>
        <p:spPr bwMode="auto">
          <a:xfrm>
            <a:off x="2571750" y="2546350"/>
            <a:ext cx="1431925" cy="1104900"/>
          </a:xfrm>
          <a:prstGeom prst="rect">
            <a:avLst/>
          </a:prstGeom>
          <a:solidFill>
            <a:srgbClr val="CCCCFF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/>
          <a:lstStyle/>
          <a:p>
            <a:pPr eaLnBrk="1" hangingPunct="1">
              <a:lnSpc>
                <a:spcPct val="95000"/>
              </a:lnSpc>
            </a:pPr>
            <a:r>
              <a:rPr lang="ko-KR" altLang="en-US" sz="800">
                <a:solidFill>
                  <a:srgbClr val="663300"/>
                </a:solidFill>
              </a:rPr>
              <a:t>영업 </a:t>
            </a:r>
            <a:r>
              <a:rPr lang="en-US" altLang="ko-KR" sz="800">
                <a:solidFill>
                  <a:srgbClr val="663300"/>
                </a:solidFill>
              </a:rPr>
              <a:t>AP#2</a:t>
            </a:r>
          </a:p>
        </p:txBody>
      </p:sp>
      <p:sp>
        <p:nvSpPr>
          <p:cNvPr id="761" name="Rectangle 37"/>
          <p:cNvSpPr>
            <a:spLocks noChangeArrowheads="1"/>
          </p:cNvSpPr>
          <p:nvPr/>
        </p:nvSpPr>
        <p:spPr bwMode="auto">
          <a:xfrm>
            <a:off x="2641600" y="3408363"/>
            <a:ext cx="1292225" cy="193675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TCP/IP</a:t>
            </a:r>
          </a:p>
        </p:txBody>
      </p:sp>
      <p:sp>
        <p:nvSpPr>
          <p:cNvPr id="762" name="Rectangle 38"/>
          <p:cNvSpPr>
            <a:spLocks noChangeArrowheads="1"/>
          </p:cNvSpPr>
          <p:nvPr/>
        </p:nvSpPr>
        <p:spPr bwMode="auto">
          <a:xfrm>
            <a:off x="2641600" y="3217863"/>
            <a:ext cx="1292225" cy="190500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AIX 6.1</a:t>
            </a:r>
          </a:p>
        </p:txBody>
      </p:sp>
      <p:sp>
        <p:nvSpPr>
          <p:cNvPr id="763" name="Rectangle 39"/>
          <p:cNvSpPr>
            <a:spLocks noChangeArrowheads="1"/>
          </p:cNvSpPr>
          <p:nvPr/>
        </p:nvSpPr>
        <p:spPr bwMode="auto">
          <a:xfrm>
            <a:off x="2641600" y="3024188"/>
            <a:ext cx="1292225" cy="190500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JDK 64bit 1.6</a:t>
            </a:r>
          </a:p>
        </p:txBody>
      </p:sp>
      <p:sp>
        <p:nvSpPr>
          <p:cNvPr id="764" name="Rectangle 40"/>
          <p:cNvSpPr>
            <a:spLocks noChangeArrowheads="1"/>
          </p:cNvSpPr>
          <p:nvPr/>
        </p:nvSpPr>
        <p:spPr bwMode="auto">
          <a:xfrm>
            <a:off x="2641600" y="2835275"/>
            <a:ext cx="1289050" cy="192088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chemeClr val="tx1"/>
                </a:solidFill>
              </a:rPr>
              <a:t>Weblogic 11g</a:t>
            </a:r>
          </a:p>
        </p:txBody>
      </p:sp>
      <p:sp>
        <p:nvSpPr>
          <p:cNvPr id="765" name="Rectangle 41"/>
          <p:cNvSpPr>
            <a:spLocks noChangeArrowheads="1"/>
          </p:cNvSpPr>
          <p:nvPr/>
        </p:nvSpPr>
        <p:spPr bwMode="auto">
          <a:xfrm>
            <a:off x="5584825" y="5213350"/>
            <a:ext cx="1216025" cy="192088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EnterpriseManager</a:t>
            </a:r>
          </a:p>
        </p:txBody>
      </p:sp>
      <p:sp>
        <p:nvSpPr>
          <p:cNvPr id="766" name="Rectangle 42"/>
          <p:cNvSpPr>
            <a:spLocks noChangeArrowheads="1"/>
          </p:cNvSpPr>
          <p:nvPr/>
        </p:nvSpPr>
        <p:spPr bwMode="auto">
          <a:xfrm>
            <a:off x="7505700" y="4205288"/>
            <a:ext cx="1360488" cy="1503362"/>
          </a:xfrm>
          <a:prstGeom prst="rect">
            <a:avLst/>
          </a:prstGeom>
          <a:solidFill>
            <a:srgbClr val="FFCCCC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/>
          <a:lstStyle/>
          <a:p>
            <a:pPr eaLnBrk="1" hangingPunct="1">
              <a:lnSpc>
                <a:spcPct val="95000"/>
              </a:lnSpc>
            </a:pPr>
            <a:endParaRPr lang="ko-KR" altLang="en-US" sz="800">
              <a:solidFill>
                <a:srgbClr val="663300"/>
              </a:solidFill>
            </a:endParaRPr>
          </a:p>
          <a:p>
            <a:pPr eaLnBrk="1" hangingPunct="1">
              <a:lnSpc>
                <a:spcPct val="95000"/>
              </a:lnSpc>
            </a:pPr>
            <a:endParaRPr lang="ko-KR" altLang="en-US" sz="800">
              <a:solidFill>
                <a:srgbClr val="663300"/>
              </a:solidFill>
            </a:endParaRPr>
          </a:p>
          <a:p>
            <a:pPr eaLnBrk="1" hangingPunct="1">
              <a:lnSpc>
                <a:spcPct val="95000"/>
              </a:lnSpc>
            </a:pPr>
            <a:endParaRPr lang="ko-KR" altLang="en-US" sz="800">
              <a:solidFill>
                <a:srgbClr val="663300"/>
              </a:solidFill>
            </a:endParaRPr>
          </a:p>
          <a:p>
            <a:pPr eaLnBrk="1" hangingPunct="1">
              <a:lnSpc>
                <a:spcPct val="95000"/>
              </a:lnSpc>
            </a:pPr>
            <a:endParaRPr lang="ko-KR" altLang="en-US" sz="800">
              <a:solidFill>
                <a:srgbClr val="663300"/>
              </a:solidFill>
            </a:endParaRPr>
          </a:p>
          <a:p>
            <a:pPr eaLnBrk="1" hangingPunct="1">
              <a:lnSpc>
                <a:spcPct val="95000"/>
              </a:lnSpc>
            </a:pPr>
            <a:endParaRPr lang="ko-KR" altLang="en-US" sz="800">
              <a:solidFill>
                <a:srgbClr val="663300"/>
              </a:solidFill>
            </a:endParaRPr>
          </a:p>
          <a:p>
            <a:pPr eaLnBrk="1" hangingPunct="1">
              <a:lnSpc>
                <a:spcPct val="95000"/>
              </a:lnSpc>
            </a:pPr>
            <a:endParaRPr lang="ko-KR" altLang="en-US" sz="800">
              <a:solidFill>
                <a:srgbClr val="663300"/>
              </a:solidFill>
            </a:endParaRPr>
          </a:p>
          <a:p>
            <a:pPr eaLnBrk="1" hangingPunct="1">
              <a:lnSpc>
                <a:spcPct val="95000"/>
              </a:lnSpc>
            </a:pPr>
            <a:endParaRPr lang="en-US" altLang="ko-KR" sz="800">
              <a:solidFill>
                <a:srgbClr val="663300"/>
              </a:solidFill>
            </a:endParaRPr>
          </a:p>
          <a:p>
            <a:pPr eaLnBrk="1" hangingPunct="1">
              <a:lnSpc>
                <a:spcPct val="95000"/>
              </a:lnSpc>
            </a:pPr>
            <a:r>
              <a:rPr lang="en-US" altLang="ko-KR" sz="800">
                <a:solidFill>
                  <a:srgbClr val="663300"/>
                </a:solidFill>
              </a:rPr>
              <a:t>DB Server  1</a:t>
            </a:r>
          </a:p>
        </p:txBody>
      </p:sp>
      <p:sp>
        <p:nvSpPr>
          <p:cNvPr id="767" name="Rectangle 43"/>
          <p:cNvSpPr>
            <a:spLocks noChangeArrowheads="1"/>
          </p:cNvSpPr>
          <p:nvPr/>
        </p:nvSpPr>
        <p:spPr bwMode="auto">
          <a:xfrm>
            <a:off x="7577138" y="4867275"/>
            <a:ext cx="1216025" cy="190500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Oracle 11g</a:t>
            </a:r>
            <a:r>
              <a:rPr lang="ko-KR" altLang="en-US" sz="800">
                <a:solidFill>
                  <a:srgbClr val="0000FF"/>
                </a:solidFill>
              </a:rPr>
              <a:t> </a:t>
            </a:r>
            <a:r>
              <a:rPr lang="en-US" altLang="ko-KR" sz="800">
                <a:solidFill>
                  <a:srgbClr val="0000FF"/>
                </a:solidFill>
              </a:rPr>
              <a:t>RAC</a:t>
            </a:r>
          </a:p>
        </p:txBody>
      </p:sp>
      <p:sp>
        <p:nvSpPr>
          <p:cNvPr id="768" name="Rectangle 44"/>
          <p:cNvSpPr>
            <a:spLocks noChangeArrowheads="1"/>
          </p:cNvSpPr>
          <p:nvPr/>
        </p:nvSpPr>
        <p:spPr bwMode="auto">
          <a:xfrm>
            <a:off x="7577138" y="4479925"/>
            <a:ext cx="1217612" cy="193675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AIX 6.1</a:t>
            </a:r>
          </a:p>
        </p:txBody>
      </p:sp>
      <p:sp>
        <p:nvSpPr>
          <p:cNvPr id="769" name="Rectangle 45"/>
          <p:cNvSpPr>
            <a:spLocks noChangeArrowheads="1"/>
          </p:cNvSpPr>
          <p:nvPr/>
        </p:nvSpPr>
        <p:spPr bwMode="auto">
          <a:xfrm>
            <a:off x="7577138" y="4673600"/>
            <a:ext cx="1217612" cy="193675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HACMP</a:t>
            </a:r>
          </a:p>
        </p:txBody>
      </p:sp>
      <p:sp>
        <p:nvSpPr>
          <p:cNvPr id="770" name="Rectangle 46"/>
          <p:cNvSpPr>
            <a:spLocks noChangeArrowheads="1"/>
          </p:cNvSpPr>
          <p:nvPr/>
        </p:nvSpPr>
        <p:spPr bwMode="auto">
          <a:xfrm>
            <a:off x="7577138" y="4287838"/>
            <a:ext cx="1217612" cy="193675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TCP /IP</a:t>
            </a:r>
          </a:p>
        </p:txBody>
      </p:sp>
      <p:sp>
        <p:nvSpPr>
          <p:cNvPr id="771" name="Rectangle 47"/>
          <p:cNvSpPr>
            <a:spLocks noChangeArrowheads="1"/>
          </p:cNvSpPr>
          <p:nvPr/>
        </p:nvSpPr>
        <p:spPr bwMode="auto">
          <a:xfrm>
            <a:off x="7577138" y="5054600"/>
            <a:ext cx="1216025" cy="192088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TDE</a:t>
            </a:r>
          </a:p>
        </p:txBody>
      </p:sp>
      <p:sp>
        <p:nvSpPr>
          <p:cNvPr id="772" name="Rectangle 48"/>
          <p:cNvSpPr>
            <a:spLocks noChangeArrowheads="1"/>
          </p:cNvSpPr>
          <p:nvPr/>
        </p:nvSpPr>
        <p:spPr bwMode="auto">
          <a:xfrm>
            <a:off x="7578725" y="5207000"/>
            <a:ext cx="1216025" cy="192088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EnterpriseManager</a:t>
            </a:r>
          </a:p>
        </p:txBody>
      </p:sp>
      <p:sp>
        <p:nvSpPr>
          <p:cNvPr id="773" name="Rectangle 49"/>
          <p:cNvSpPr>
            <a:spLocks noChangeArrowheads="1"/>
          </p:cNvSpPr>
          <p:nvPr/>
        </p:nvSpPr>
        <p:spPr bwMode="auto">
          <a:xfrm>
            <a:off x="6757988" y="2211388"/>
            <a:ext cx="1362075" cy="1449387"/>
          </a:xfrm>
          <a:prstGeom prst="rect">
            <a:avLst/>
          </a:prstGeom>
          <a:solidFill>
            <a:srgbClr val="FFFF99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/>
          <a:lstStyle/>
          <a:p>
            <a:pPr eaLnBrk="1" hangingPunct="1">
              <a:lnSpc>
                <a:spcPct val="95000"/>
              </a:lnSpc>
            </a:pPr>
            <a:r>
              <a:rPr lang="en-US" altLang="ko-KR" sz="800">
                <a:solidFill>
                  <a:srgbClr val="663300"/>
                </a:solidFill>
              </a:rPr>
              <a:t>SAP AP/DB #2</a:t>
            </a:r>
          </a:p>
        </p:txBody>
      </p:sp>
      <p:sp>
        <p:nvSpPr>
          <p:cNvPr id="774" name="Rectangle 50"/>
          <p:cNvSpPr>
            <a:spLocks noChangeArrowheads="1"/>
          </p:cNvSpPr>
          <p:nvPr/>
        </p:nvSpPr>
        <p:spPr bwMode="auto">
          <a:xfrm>
            <a:off x="6832600" y="3417888"/>
            <a:ext cx="1212850" cy="193675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TCP/IP</a:t>
            </a:r>
          </a:p>
        </p:txBody>
      </p:sp>
      <p:sp>
        <p:nvSpPr>
          <p:cNvPr id="775" name="Rectangle 51"/>
          <p:cNvSpPr>
            <a:spLocks noChangeArrowheads="1"/>
          </p:cNvSpPr>
          <p:nvPr/>
        </p:nvSpPr>
        <p:spPr bwMode="auto">
          <a:xfrm>
            <a:off x="6832600" y="3227388"/>
            <a:ext cx="1216025" cy="190500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WINSVRENT 2008 SP2</a:t>
            </a:r>
          </a:p>
        </p:txBody>
      </p:sp>
      <p:sp>
        <p:nvSpPr>
          <p:cNvPr id="776" name="Rectangle 52"/>
          <p:cNvSpPr>
            <a:spLocks noChangeArrowheads="1"/>
          </p:cNvSpPr>
          <p:nvPr/>
        </p:nvSpPr>
        <p:spPr bwMode="auto">
          <a:xfrm>
            <a:off x="6832600" y="2843213"/>
            <a:ext cx="1216025" cy="190500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Oracle 10g</a:t>
            </a:r>
          </a:p>
        </p:txBody>
      </p:sp>
      <p:sp>
        <p:nvSpPr>
          <p:cNvPr id="777" name="Rectangle 53"/>
          <p:cNvSpPr>
            <a:spLocks noChangeArrowheads="1"/>
          </p:cNvSpPr>
          <p:nvPr/>
        </p:nvSpPr>
        <p:spPr bwMode="auto">
          <a:xfrm>
            <a:off x="6831013" y="3032125"/>
            <a:ext cx="1214437" cy="195263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MSCS</a:t>
            </a:r>
          </a:p>
        </p:txBody>
      </p:sp>
      <p:sp>
        <p:nvSpPr>
          <p:cNvPr id="778" name="Rectangle 54"/>
          <p:cNvSpPr>
            <a:spLocks noChangeArrowheads="1"/>
          </p:cNvSpPr>
          <p:nvPr/>
        </p:nvSpPr>
        <p:spPr bwMode="auto">
          <a:xfrm>
            <a:off x="6831013" y="2647950"/>
            <a:ext cx="1214437" cy="192088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 dirty="0">
                <a:solidFill>
                  <a:srgbClr val="0000FF"/>
                </a:solidFill>
              </a:rPr>
              <a:t>JDK </a:t>
            </a:r>
            <a:r>
              <a:rPr lang="en-US" altLang="ko-KR" sz="800">
                <a:solidFill>
                  <a:srgbClr val="0000FF"/>
                </a:solidFill>
              </a:rPr>
              <a:t>64bit 1.4.2.24</a:t>
            </a:r>
            <a:endParaRPr lang="en-US" altLang="ko-KR" sz="800" dirty="0">
              <a:solidFill>
                <a:srgbClr val="0000FF"/>
              </a:solidFill>
            </a:endParaRPr>
          </a:p>
        </p:txBody>
      </p:sp>
      <p:sp>
        <p:nvSpPr>
          <p:cNvPr id="779" name="Rectangle 55"/>
          <p:cNvSpPr>
            <a:spLocks noChangeArrowheads="1"/>
          </p:cNvSpPr>
          <p:nvPr/>
        </p:nvSpPr>
        <p:spPr bwMode="auto">
          <a:xfrm>
            <a:off x="6831013" y="2454275"/>
            <a:ext cx="1214437" cy="195263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SAP ERP 6.0</a:t>
            </a:r>
          </a:p>
        </p:txBody>
      </p:sp>
      <p:sp>
        <p:nvSpPr>
          <p:cNvPr id="780" name="Line 56"/>
          <p:cNvSpPr>
            <a:spLocks noChangeShapeType="1"/>
          </p:cNvSpPr>
          <p:nvPr/>
        </p:nvSpPr>
        <p:spPr bwMode="auto">
          <a:xfrm>
            <a:off x="1468438" y="3924300"/>
            <a:ext cx="0" cy="288925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81" name="Line 57"/>
          <p:cNvSpPr>
            <a:spLocks noChangeShapeType="1"/>
          </p:cNvSpPr>
          <p:nvPr/>
        </p:nvSpPr>
        <p:spPr bwMode="auto">
          <a:xfrm>
            <a:off x="3013075" y="3924300"/>
            <a:ext cx="0" cy="288925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82" name="Rectangle 58"/>
          <p:cNvSpPr>
            <a:spLocks noChangeArrowheads="1"/>
          </p:cNvSpPr>
          <p:nvPr/>
        </p:nvSpPr>
        <p:spPr bwMode="auto">
          <a:xfrm>
            <a:off x="2320925" y="4224338"/>
            <a:ext cx="1431925" cy="1104900"/>
          </a:xfrm>
          <a:prstGeom prst="rect">
            <a:avLst/>
          </a:prstGeom>
          <a:solidFill>
            <a:srgbClr val="CCCCFF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b"/>
          <a:lstStyle/>
          <a:p>
            <a:pPr eaLnBrk="1" hangingPunct="1">
              <a:lnSpc>
                <a:spcPct val="95000"/>
              </a:lnSpc>
            </a:pPr>
            <a:r>
              <a:rPr lang="ko-KR" altLang="en-US" sz="800">
                <a:solidFill>
                  <a:srgbClr val="663300"/>
                </a:solidFill>
              </a:rPr>
              <a:t>구매 </a:t>
            </a:r>
            <a:r>
              <a:rPr lang="en-US" altLang="ko-KR" sz="800">
                <a:solidFill>
                  <a:srgbClr val="663300"/>
                </a:solidFill>
              </a:rPr>
              <a:t>AP#2</a:t>
            </a:r>
          </a:p>
        </p:txBody>
      </p:sp>
      <p:sp>
        <p:nvSpPr>
          <p:cNvPr id="783" name="Rectangle 59"/>
          <p:cNvSpPr>
            <a:spLocks noChangeArrowheads="1"/>
          </p:cNvSpPr>
          <p:nvPr/>
        </p:nvSpPr>
        <p:spPr bwMode="auto">
          <a:xfrm>
            <a:off x="742950" y="4217988"/>
            <a:ext cx="1431925" cy="1104900"/>
          </a:xfrm>
          <a:prstGeom prst="rect">
            <a:avLst/>
          </a:prstGeom>
          <a:solidFill>
            <a:srgbClr val="CCCCFF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b"/>
          <a:lstStyle/>
          <a:p>
            <a:pPr eaLnBrk="1" hangingPunct="1">
              <a:lnSpc>
                <a:spcPct val="95000"/>
              </a:lnSpc>
            </a:pPr>
            <a:r>
              <a:rPr lang="ko-KR" altLang="en-US" sz="800">
                <a:solidFill>
                  <a:srgbClr val="663300"/>
                </a:solidFill>
              </a:rPr>
              <a:t>구매 </a:t>
            </a:r>
            <a:r>
              <a:rPr lang="en-US" altLang="ko-KR" sz="800">
                <a:solidFill>
                  <a:srgbClr val="663300"/>
                </a:solidFill>
              </a:rPr>
              <a:t>AP#1</a:t>
            </a:r>
          </a:p>
        </p:txBody>
      </p:sp>
      <p:sp>
        <p:nvSpPr>
          <p:cNvPr id="784" name="Rectangle 60"/>
          <p:cNvSpPr>
            <a:spLocks noChangeArrowheads="1"/>
          </p:cNvSpPr>
          <p:nvPr/>
        </p:nvSpPr>
        <p:spPr bwMode="auto">
          <a:xfrm>
            <a:off x="809625" y="4316413"/>
            <a:ext cx="1292225" cy="193675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TCP/IP</a:t>
            </a:r>
          </a:p>
        </p:txBody>
      </p:sp>
      <p:sp>
        <p:nvSpPr>
          <p:cNvPr id="785" name="Rectangle 61"/>
          <p:cNvSpPr>
            <a:spLocks noChangeArrowheads="1"/>
          </p:cNvSpPr>
          <p:nvPr/>
        </p:nvSpPr>
        <p:spPr bwMode="auto">
          <a:xfrm>
            <a:off x="809625" y="4508500"/>
            <a:ext cx="1292225" cy="190500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WINSVRSTD 2008</a:t>
            </a:r>
          </a:p>
        </p:txBody>
      </p:sp>
      <p:sp>
        <p:nvSpPr>
          <p:cNvPr id="786" name="Rectangle 62"/>
          <p:cNvSpPr>
            <a:spLocks noChangeArrowheads="1"/>
          </p:cNvSpPr>
          <p:nvPr/>
        </p:nvSpPr>
        <p:spPr bwMode="auto">
          <a:xfrm>
            <a:off x="809625" y="4697413"/>
            <a:ext cx="1292225" cy="190500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JDK 64bit 1.6</a:t>
            </a:r>
          </a:p>
        </p:txBody>
      </p:sp>
      <p:sp>
        <p:nvSpPr>
          <p:cNvPr id="787" name="Rectangle 63"/>
          <p:cNvSpPr>
            <a:spLocks noChangeArrowheads="1"/>
          </p:cNvSpPr>
          <p:nvPr/>
        </p:nvSpPr>
        <p:spPr bwMode="auto">
          <a:xfrm>
            <a:off x="809625" y="4879975"/>
            <a:ext cx="1289050" cy="192088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chemeClr val="tx1"/>
                </a:solidFill>
              </a:rPr>
              <a:t>Weblogic 11g</a:t>
            </a:r>
          </a:p>
        </p:txBody>
      </p:sp>
      <p:sp>
        <p:nvSpPr>
          <p:cNvPr id="788" name="AutoShape 64"/>
          <p:cNvSpPr>
            <a:spLocks noChangeArrowheads="1"/>
          </p:cNvSpPr>
          <p:nvPr/>
        </p:nvSpPr>
        <p:spPr bwMode="auto">
          <a:xfrm>
            <a:off x="598488" y="4095750"/>
            <a:ext cx="3270250" cy="1651000"/>
          </a:xfrm>
          <a:prstGeom prst="roundRect">
            <a:avLst>
              <a:gd name="adj" fmla="val 5144"/>
            </a:avLst>
          </a:prstGeom>
          <a:noFill/>
          <a:ln w="12700">
            <a:solidFill>
              <a:srgbClr val="CC99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algn="just"/>
            <a:endParaRPr lang="ko-KR" altLang="en-US"/>
          </a:p>
        </p:txBody>
      </p:sp>
      <p:sp>
        <p:nvSpPr>
          <p:cNvPr id="789" name="Text Box 65"/>
          <p:cNvSpPr txBox="1">
            <a:spLocks noChangeArrowheads="1"/>
          </p:cNvSpPr>
          <p:nvPr/>
        </p:nvSpPr>
        <p:spPr bwMode="auto">
          <a:xfrm>
            <a:off x="1892300" y="5456238"/>
            <a:ext cx="714375" cy="2079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ko-KR" altLang="en-US" sz="800" b="1">
                <a:solidFill>
                  <a:srgbClr val="0000FF"/>
                </a:solidFill>
              </a:rPr>
              <a:t>구매</a:t>
            </a:r>
            <a:r>
              <a:rPr lang="en-US" altLang="ko-KR" sz="800" b="1">
                <a:solidFill>
                  <a:srgbClr val="0000FF"/>
                </a:solidFill>
              </a:rPr>
              <a:t>AP</a:t>
            </a:r>
            <a:r>
              <a:rPr lang="ko-KR" altLang="en-US" sz="800" b="1">
                <a:solidFill>
                  <a:srgbClr val="0000FF"/>
                </a:solidFill>
              </a:rPr>
              <a:t>서버</a:t>
            </a:r>
          </a:p>
        </p:txBody>
      </p:sp>
      <p:sp>
        <p:nvSpPr>
          <p:cNvPr id="790" name="Rectangle 66"/>
          <p:cNvSpPr>
            <a:spLocks noChangeArrowheads="1"/>
          </p:cNvSpPr>
          <p:nvPr/>
        </p:nvSpPr>
        <p:spPr bwMode="auto">
          <a:xfrm>
            <a:off x="2386013" y="4316413"/>
            <a:ext cx="1292225" cy="193675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TCP/IP</a:t>
            </a:r>
          </a:p>
        </p:txBody>
      </p:sp>
      <p:sp>
        <p:nvSpPr>
          <p:cNvPr id="791" name="Rectangle 67"/>
          <p:cNvSpPr>
            <a:spLocks noChangeArrowheads="1"/>
          </p:cNvSpPr>
          <p:nvPr/>
        </p:nvSpPr>
        <p:spPr bwMode="auto">
          <a:xfrm>
            <a:off x="2386013" y="4508500"/>
            <a:ext cx="1292225" cy="190500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WINSVRSTD 2008</a:t>
            </a:r>
          </a:p>
        </p:txBody>
      </p:sp>
      <p:sp>
        <p:nvSpPr>
          <p:cNvPr id="792" name="Rectangle 68"/>
          <p:cNvSpPr>
            <a:spLocks noChangeArrowheads="1"/>
          </p:cNvSpPr>
          <p:nvPr/>
        </p:nvSpPr>
        <p:spPr bwMode="auto">
          <a:xfrm>
            <a:off x="2386013" y="4697413"/>
            <a:ext cx="1292225" cy="190500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rgbClr val="0000FF"/>
                </a:solidFill>
              </a:rPr>
              <a:t>JDK 64bit 1.6</a:t>
            </a:r>
          </a:p>
        </p:txBody>
      </p:sp>
      <p:sp>
        <p:nvSpPr>
          <p:cNvPr id="793" name="Rectangle 69"/>
          <p:cNvSpPr>
            <a:spLocks noChangeArrowheads="1"/>
          </p:cNvSpPr>
          <p:nvPr/>
        </p:nvSpPr>
        <p:spPr bwMode="auto">
          <a:xfrm>
            <a:off x="2386013" y="4879975"/>
            <a:ext cx="1289050" cy="192088"/>
          </a:xfrm>
          <a:prstGeom prst="rect">
            <a:avLst/>
          </a:prstGeom>
          <a:solidFill>
            <a:schemeClr val="bg1"/>
          </a:solidFill>
          <a:ln w="12700">
            <a:solidFill>
              <a:srgbClr val="3262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ko-KR" sz="800">
                <a:solidFill>
                  <a:schemeClr val="tx1"/>
                </a:solidFill>
              </a:rPr>
              <a:t>Weblogic 11g</a:t>
            </a:r>
          </a:p>
        </p:txBody>
      </p:sp>
      <p:sp>
        <p:nvSpPr>
          <p:cNvPr id="726" name="TextBox 725"/>
          <p:cNvSpPr txBox="1"/>
          <p:nvPr/>
        </p:nvSpPr>
        <p:spPr>
          <a:xfrm rot="20224515">
            <a:off x="3273893" y="2886862"/>
            <a:ext cx="2890157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</a:t>
            </a:r>
          </a:p>
        </p:txBody>
      </p:sp>
      <p:sp>
        <p:nvSpPr>
          <p:cNvPr id="73" name="직사각형 72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500" dirty="0" err="1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29928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4. Software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구성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4.2 Software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리스트</a:t>
            </a:r>
          </a:p>
        </p:txBody>
      </p:sp>
      <p:graphicFrame>
        <p:nvGraphicFramePr>
          <p:cNvPr id="36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863092"/>
              </p:ext>
            </p:extLst>
          </p:nvPr>
        </p:nvGraphicFramePr>
        <p:xfrm>
          <a:off x="344488" y="1376363"/>
          <a:ext cx="9217025" cy="4993086"/>
        </p:xfrm>
        <a:graphic>
          <a:graphicData uri="http://schemas.openxmlformats.org/drawingml/2006/table">
            <a:tbl>
              <a:tblPr/>
              <a:tblGrid>
                <a:gridCol w="129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4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494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구분</a:t>
                      </a:r>
                    </a:p>
                  </a:txBody>
                  <a:tcPr marL="45720" marR="4572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제품명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설치 서버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Core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CPU Type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비고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 rowSpan="6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DBMS</a:t>
                      </a:r>
                    </a:p>
                  </a:txBody>
                  <a:tcPr marL="45720" marR="4572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ORACLE 11g Ent. R2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영업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구매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DB #1 RAC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6(DC)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Power6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+ 5.0GHz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영업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구매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DB #2 RAC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6(DC)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Power6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+ 5.0GHz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2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SAP AP/DB#1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24(HC)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Xeon HC 2.66GHz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SAP Bundle (Active-Standby)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SAP AP/DB#2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24(HC)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Xeon HC 2.66GHz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SAP Bundle (Active-Standby)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영업 스테이징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DB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2(DC)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Power6 4.2GHz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SAP 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스테이징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DB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1(QC)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Xeon QC E5540 2.53GHz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213">
                <a:tc rowSpan="6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WAS</a:t>
                      </a:r>
                    </a:p>
                  </a:txBody>
                  <a:tcPr marL="45720" marR="4572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Weblogic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영업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AP #1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2(DC)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Power6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+ 5.0GHz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Cluster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영업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AP #2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2(DC)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Power6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+ 5.0GHz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Cluster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구매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AP #1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1(QC)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Xeon QC E5540 2.53GHz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Cluster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구매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AP #2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1(QC)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Xeon QC E5540 2.53GHz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Cluster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62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영업 스테이징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AP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2(DC)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Power6 4.2GHz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구매 스테이징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AP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4(QC)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Xeon QC E5540 2.53GHz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7800">
                <a:tc rowSpan="9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WEB</a:t>
                      </a:r>
                    </a:p>
                  </a:txBody>
                  <a:tcPr marL="45720" marR="45720" anchor="ctr" horzOverflow="overflow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SunOne Webserver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영업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WEB #1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가상화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영업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WEB #2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가상화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06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영업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WEB #3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가상화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영업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WEB #4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가상화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62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영업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WEB #5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가상화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구매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WEB #1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가상화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구매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WEB #2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가상화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영업 스테이징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WEB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가상화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62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구매 스테이징 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WEB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2vCPU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VMWARE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가상화</a:t>
                      </a: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366" name="TextBox 365"/>
          <p:cNvSpPr txBox="1"/>
          <p:nvPr/>
        </p:nvSpPr>
        <p:spPr>
          <a:xfrm rot="20224515">
            <a:off x="3192236" y="2766049"/>
            <a:ext cx="2890157" cy="13849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</a:t>
            </a:r>
            <a:endParaRPr lang="en-US" altLang="ko-KR" sz="2800" dirty="0"/>
          </a:p>
          <a:p>
            <a:pPr algn="ctr"/>
            <a:r>
              <a:rPr lang="en-US" altLang="ko-KR" sz="2800" dirty="0"/>
              <a:t>(EXCEL</a:t>
            </a:r>
            <a:r>
              <a:rPr lang="ko-KR" altLang="en-US" sz="2800" dirty="0"/>
              <a:t>로 연결해도 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6" name="직사각형 5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500" dirty="0" err="1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53120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5. Interface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연계도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5.1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극장영업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90" y="1283380"/>
            <a:ext cx="9003847" cy="501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 rot="20224515">
            <a:off x="2883535" y="2921328"/>
            <a:ext cx="4504996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</a:t>
            </a:r>
          </a:p>
        </p:txBody>
      </p:sp>
      <p:sp>
        <p:nvSpPr>
          <p:cNvPr id="6" name="직사각형 5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500" dirty="0" err="1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95593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5. Interface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연계도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5.2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온라인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예매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4" y="1319212"/>
            <a:ext cx="9163505" cy="5046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 rot="20224515">
            <a:off x="3192236" y="3196936"/>
            <a:ext cx="2890157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/>
              <a:t>샘플</a:t>
            </a:r>
          </a:p>
        </p:txBody>
      </p:sp>
      <p:sp>
        <p:nvSpPr>
          <p:cNvPr id="7" name="직사각형 6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500" dirty="0" err="1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85475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5. Interface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현황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5.3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인터페이스 현황</a:t>
            </a:r>
          </a:p>
        </p:txBody>
      </p:sp>
      <p:sp>
        <p:nvSpPr>
          <p:cNvPr id="6" name="TextBox 5"/>
          <p:cNvSpPr txBox="1"/>
          <p:nvPr/>
        </p:nvSpPr>
        <p:spPr>
          <a:xfrm rot="20224515">
            <a:off x="3192236" y="2766049"/>
            <a:ext cx="2890157" cy="13849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기존 엑셀 자료가 있다면 연결 가능</a:t>
            </a:r>
          </a:p>
        </p:txBody>
      </p:sp>
      <p:sp>
        <p:nvSpPr>
          <p:cNvPr id="5" name="직사각형 4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500" dirty="0" err="1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73705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모니터링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6.1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서버 모니터링 항목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(Polestar)</a:t>
            </a:r>
            <a:endParaRPr lang="ko-KR" altLang="en-US" sz="20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Group 5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823763"/>
              </p:ext>
            </p:extLst>
          </p:nvPr>
        </p:nvGraphicFramePr>
        <p:xfrm>
          <a:off x="345278" y="1303112"/>
          <a:ext cx="9035263" cy="3296640"/>
        </p:xfrm>
        <a:graphic>
          <a:graphicData uri="http://schemas.openxmlformats.org/drawingml/2006/table">
            <a:tbl>
              <a:tblPr/>
              <a:tblGrid>
                <a:gridCol w="964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1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51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1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1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7145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모니터링 목적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모니터링 주기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비고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서버자원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CPU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MEMORY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SWAP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I/O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Filesystem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/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/</a:t>
                      </a:r>
                      <a:r>
                        <a:rPr kumimoji="0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var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C:\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Log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675">
                <a:tc rowSpan="5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Process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20224515">
            <a:off x="2353178" y="2944346"/>
            <a:ext cx="4743942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</a:t>
            </a:r>
            <a:endParaRPr lang="en-US" altLang="ko-KR" sz="2800" dirty="0"/>
          </a:p>
          <a:p>
            <a:pPr algn="ctr"/>
            <a:r>
              <a:rPr lang="en-US" altLang="ko-KR" sz="2800" dirty="0"/>
              <a:t>(</a:t>
            </a:r>
            <a:r>
              <a:rPr lang="ko-KR" altLang="en-US" sz="2800" dirty="0"/>
              <a:t>모니터링항목 모두 포함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6" name="직사각형 5"/>
          <p:cNvSpPr/>
          <p:nvPr/>
        </p:nvSpPr>
        <p:spPr bwMode="auto">
          <a:xfrm>
            <a:off x="4114800" y="202406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IDC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66139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모니터링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6.2 DB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 모니터링 항목</a:t>
            </a:r>
          </a:p>
        </p:txBody>
      </p:sp>
      <p:graphicFrame>
        <p:nvGraphicFramePr>
          <p:cNvPr id="4" name="Group 5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535112"/>
              </p:ext>
            </p:extLst>
          </p:nvPr>
        </p:nvGraphicFramePr>
        <p:xfrm>
          <a:off x="345278" y="1303112"/>
          <a:ext cx="8201662" cy="3296640"/>
        </p:xfrm>
        <a:graphic>
          <a:graphicData uri="http://schemas.openxmlformats.org/drawingml/2006/table">
            <a:tbl>
              <a:tblPr/>
              <a:tblGrid>
                <a:gridCol w="944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2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7145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모니터링 목적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비고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675">
                <a:tc rowSpan="5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20224515">
            <a:off x="1674867" y="2789501"/>
            <a:ext cx="5813989" cy="13849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</a:t>
            </a:r>
            <a:endParaRPr lang="en-US" altLang="ko-KR" sz="2800" dirty="0"/>
          </a:p>
          <a:p>
            <a:pPr algn="ctr"/>
            <a:r>
              <a:rPr lang="en-US" altLang="ko-KR" sz="2800" dirty="0"/>
              <a:t>(</a:t>
            </a:r>
            <a:r>
              <a:rPr lang="ko-KR" altLang="en-US" sz="2800" dirty="0"/>
              <a:t>모니터링 시스템화면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계정등</a:t>
            </a:r>
            <a:r>
              <a:rPr lang="ko-KR" altLang="en-US" sz="2800" dirty="0"/>
              <a:t> 표시해도 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6" name="직사각형 5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ko-KR" altLang="en-US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아키텍처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33450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모니터링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6.3 WAS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 모니터링 항목</a:t>
            </a:r>
          </a:p>
        </p:txBody>
      </p:sp>
      <p:graphicFrame>
        <p:nvGraphicFramePr>
          <p:cNvPr id="4" name="Group 5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667555"/>
              </p:ext>
            </p:extLst>
          </p:nvPr>
        </p:nvGraphicFramePr>
        <p:xfrm>
          <a:off x="345278" y="1303112"/>
          <a:ext cx="8201662" cy="3296640"/>
        </p:xfrm>
        <a:graphic>
          <a:graphicData uri="http://schemas.openxmlformats.org/drawingml/2006/table">
            <a:tbl>
              <a:tblPr/>
              <a:tblGrid>
                <a:gridCol w="944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2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7145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모니터링 목적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비고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675">
                <a:tc rowSpan="5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20224515">
            <a:off x="1674867" y="2789501"/>
            <a:ext cx="5813989" cy="13849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</a:t>
            </a:r>
            <a:endParaRPr lang="en-US" altLang="ko-KR" sz="2800" dirty="0"/>
          </a:p>
          <a:p>
            <a:pPr algn="ctr"/>
            <a:r>
              <a:rPr lang="en-US" altLang="ko-KR" sz="2800" dirty="0"/>
              <a:t>(</a:t>
            </a:r>
            <a:r>
              <a:rPr lang="ko-KR" altLang="en-US" sz="2800" dirty="0"/>
              <a:t>모니터링 시스템화면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계정등</a:t>
            </a:r>
            <a:r>
              <a:rPr lang="ko-KR" altLang="en-US" sz="2800" dirty="0"/>
              <a:t> 표시해도 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7" name="직사각형 6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500" dirty="0" err="1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58743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모니터링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6.4 Application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 모니터링 항목</a:t>
            </a:r>
          </a:p>
        </p:txBody>
      </p:sp>
      <p:graphicFrame>
        <p:nvGraphicFramePr>
          <p:cNvPr id="4" name="Group 5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595758"/>
              </p:ext>
            </p:extLst>
          </p:nvPr>
        </p:nvGraphicFramePr>
        <p:xfrm>
          <a:off x="345278" y="1303112"/>
          <a:ext cx="8201662" cy="3296640"/>
        </p:xfrm>
        <a:graphic>
          <a:graphicData uri="http://schemas.openxmlformats.org/drawingml/2006/table">
            <a:tbl>
              <a:tblPr/>
              <a:tblGrid>
                <a:gridCol w="944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2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7145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모니터링 목적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비고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675">
                <a:tc rowSpan="5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20224515">
            <a:off x="1674867" y="2789501"/>
            <a:ext cx="5813989" cy="13849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</a:t>
            </a:r>
            <a:endParaRPr lang="en-US" altLang="ko-KR" sz="2800" dirty="0"/>
          </a:p>
          <a:p>
            <a:pPr algn="ctr"/>
            <a:r>
              <a:rPr lang="en-US" altLang="ko-KR" sz="2800" dirty="0"/>
              <a:t>(</a:t>
            </a:r>
            <a:r>
              <a:rPr lang="ko-KR" altLang="en-US" sz="2800" dirty="0"/>
              <a:t>모니터링 시스템화면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계정등</a:t>
            </a:r>
            <a:r>
              <a:rPr lang="ko-KR" altLang="en-US" sz="2800" dirty="0"/>
              <a:t> 표시해도 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7" name="직사각형 6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500" dirty="0" err="1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11542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모니터링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6.5 Batch </a:t>
            </a:r>
            <a:r>
              <a:rPr lang="ko-KR" altLang="en-US" sz="2000" dirty="0" err="1">
                <a:latin typeface="맑은 고딕" pitchFamily="50" charset="-127"/>
                <a:ea typeface="맑은 고딕" pitchFamily="50" charset="-127"/>
              </a:rPr>
              <a:t>스케쥴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 모니터링 항목</a:t>
            </a:r>
          </a:p>
        </p:txBody>
      </p:sp>
      <p:graphicFrame>
        <p:nvGraphicFramePr>
          <p:cNvPr id="4" name="Group 5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804561"/>
              </p:ext>
            </p:extLst>
          </p:nvPr>
        </p:nvGraphicFramePr>
        <p:xfrm>
          <a:off x="345278" y="1303112"/>
          <a:ext cx="8201662" cy="3296640"/>
        </p:xfrm>
        <a:graphic>
          <a:graphicData uri="http://schemas.openxmlformats.org/drawingml/2006/table">
            <a:tbl>
              <a:tblPr/>
              <a:tblGrid>
                <a:gridCol w="944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2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11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7145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모니터링 목적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임계치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비고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675">
                <a:tc rowSpan="5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20224515">
            <a:off x="1674867" y="2789501"/>
            <a:ext cx="5813989" cy="13849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</a:t>
            </a:r>
            <a:endParaRPr lang="en-US" altLang="ko-KR" sz="2800" dirty="0"/>
          </a:p>
          <a:p>
            <a:pPr algn="ctr"/>
            <a:r>
              <a:rPr lang="en-US" altLang="ko-KR" sz="2800" dirty="0"/>
              <a:t>(</a:t>
            </a:r>
            <a:r>
              <a:rPr lang="ko-KR" altLang="en-US" sz="2800" dirty="0"/>
              <a:t>모니터링 시스템화면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계정등</a:t>
            </a:r>
            <a:r>
              <a:rPr lang="ko-KR" altLang="en-US" sz="2800" dirty="0"/>
              <a:t> 표시해도 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7" name="직사각형 6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500" dirty="0" err="1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8141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7.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데이터 백업정책 및 현황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7.1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백업 정책</a:t>
            </a:r>
          </a:p>
        </p:txBody>
      </p:sp>
      <p:graphicFrame>
        <p:nvGraphicFramePr>
          <p:cNvPr id="4" name="Group 5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133180"/>
              </p:ext>
            </p:extLst>
          </p:nvPr>
        </p:nvGraphicFramePr>
        <p:xfrm>
          <a:off x="345278" y="1303112"/>
          <a:ext cx="8929350" cy="3296640"/>
        </p:xfrm>
        <a:graphic>
          <a:graphicData uri="http://schemas.openxmlformats.org/drawingml/2006/table">
            <a:tbl>
              <a:tblPr/>
              <a:tblGrid>
                <a:gridCol w="900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66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66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621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백업 영역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백업주기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백업시간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보관기간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비고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OS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백업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C:\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매월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주차 토요일 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02~04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시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1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개월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DB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백업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/oracle/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매주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수요일 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01~02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시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주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/</a:t>
                      </a:r>
                      <a:r>
                        <a:rPr kumimoji="0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orace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/data/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매주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수요일 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01~02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시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2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주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File 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백업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/</a:t>
                      </a:r>
                      <a:r>
                        <a:rPr kumimoji="0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userdata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/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월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,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,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돋움체" pitchFamily="49" charset="-127"/>
                        </a:rPr>
                        <a:t>금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돋움체" pitchFamily="49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20224515">
            <a:off x="3192236" y="3196936"/>
            <a:ext cx="2890157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</a:t>
            </a:r>
          </a:p>
        </p:txBody>
      </p:sp>
      <p:sp>
        <p:nvSpPr>
          <p:cNvPr id="6" name="직사각형 5"/>
          <p:cNvSpPr/>
          <p:nvPr/>
        </p:nvSpPr>
        <p:spPr bwMode="auto">
          <a:xfrm>
            <a:off x="4512734" y="193940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IDC, IT</a:t>
            </a:r>
            <a:r>
              <a:rPr lang="ko-KR" altLang="en-US" sz="1500" dirty="0" err="1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504425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 txBox="1">
            <a:spLocks/>
          </p:cNvSpPr>
          <p:nvPr/>
        </p:nvSpPr>
        <p:spPr>
          <a:xfrm>
            <a:off x="495300" y="1319213"/>
            <a:ext cx="8958200" cy="150750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Client: ENMFADB(VIP: 52.2.171.11)</a:t>
            </a:r>
          </a:p>
          <a:p>
            <a:pPr>
              <a:buFont typeface="Wingdings" pitchFamily="2" charset="2"/>
              <a:buChar char="§"/>
            </a:pP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Backup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방식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: Network</a:t>
            </a:r>
          </a:p>
          <a:p>
            <a:pPr>
              <a:buFont typeface="Wingdings" pitchFamily="2" charset="2"/>
              <a:buChar char="§"/>
            </a:pP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Backup Solution: </a:t>
            </a:r>
            <a:r>
              <a:rPr lang="en-US" altLang="ko-KR" sz="1400" dirty="0" err="1">
                <a:latin typeface="맑은 고딕" pitchFamily="50" charset="-127"/>
                <a:ea typeface="맑은 고딕" pitchFamily="50" charset="-127"/>
              </a:rPr>
              <a:t>Veritas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dirty="0" err="1">
                <a:latin typeface="맑은 고딕" pitchFamily="50" charset="-127"/>
                <a:ea typeface="맑은 고딕" pitchFamily="50" charset="-127"/>
              </a:rPr>
              <a:t>Netbackup</a:t>
            </a:r>
            <a:endParaRPr lang="en-US" altLang="ko-KR" sz="1400" dirty="0">
              <a:latin typeface="맑은 고딕" pitchFamily="50" charset="-127"/>
              <a:ea typeface="맑은 고딕" pitchFamily="50" charset="-127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Backup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보관주기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: Daily 7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일 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/ Weekly 14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일</a:t>
            </a:r>
            <a:endParaRPr lang="en-US" altLang="ko-KR" sz="14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569972"/>
              </p:ext>
            </p:extLst>
          </p:nvPr>
        </p:nvGraphicFramePr>
        <p:xfrm>
          <a:off x="648849" y="3018631"/>
          <a:ext cx="5895655" cy="1356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135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0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주기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7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ENM_ENMFADB_FA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Weekly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File System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435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대상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altLang="ko-KR" sz="1100" kern="1200" dirty="0" err="1">
                          <a:solidFill>
                            <a:schemeClr val="tx1"/>
                          </a:solidFill>
                        </a:rPr>
                        <a:t>usr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</a:rPr>
                        <a:t>/sap, /export/</a:t>
                      </a:r>
                      <a:r>
                        <a:rPr lang="en-US" altLang="ko-KR" sz="1100" kern="1200" dirty="0" err="1">
                          <a:solidFill>
                            <a:schemeClr val="tx1"/>
                          </a:solidFill>
                        </a:rPr>
                        <a:t>sapmnt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</a:rPr>
                        <a:t>/PRD, /export/</a:t>
                      </a:r>
                      <a:r>
                        <a:rPr lang="en-US" altLang="ko-KR" sz="1100" kern="1200" dirty="0" err="1">
                          <a:solidFill>
                            <a:schemeClr val="tx1"/>
                          </a:solidFill>
                        </a:rPr>
                        <a:t>usr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</a:rPr>
                        <a:t>/sap/trans, /oracle/PRD/11203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1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ENM_ENMFADB_ORA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Daily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Oracle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85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ENM_ENMFADB_ORA(Archive)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Daily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Archive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7.2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백업 정책 반영 내역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7.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데이터 백업정책 및 현황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4770966" y="22444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ko-KR" altLang="en-US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아키텍처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75417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8.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서비스 가동절차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8.1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가동절차 요약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1439182"/>
            <a:ext cx="8718324" cy="3238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212369"/>
              </p:ext>
            </p:extLst>
          </p:nvPr>
        </p:nvGraphicFramePr>
        <p:xfrm>
          <a:off x="545401" y="4819203"/>
          <a:ext cx="7354187" cy="1475235"/>
        </p:xfrm>
        <a:graphic>
          <a:graphicData uri="http://schemas.openxmlformats.org/drawingml/2006/table">
            <a:tbl>
              <a:tblPr/>
              <a:tblGrid>
                <a:gridCol w="3486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6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1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98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업무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CJ ONLYONE Medium" pitchFamily="18" charset="-127"/>
                        <a:ea typeface="CJ ONLYONE Medium" pitchFamily="18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Hostname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기동 순서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절차서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업무별 순서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2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Onmart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DB 01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cjonmartdb01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itchFamily="18" charset="-127"/>
                        <a:ea typeface="CJ ONLYONE Medium" pitchFamily="18" charset="-127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25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Onmart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WAS 01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CJ ONLYONE Medium" pitchFamily="18" charset="-127"/>
                          <a:ea typeface="CJ ONLYONE Medium" pitchFamily="18" charset="-127"/>
                        </a:rPr>
                        <a:t>cjonmartwas01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  <a:ea typeface="맑은 고딕"/>
                        </a:defRPr>
                      </a:lvl9pPr>
                    </a:lstStyle>
                    <a:p>
                      <a:pPr algn="ctr"/>
                      <a:endParaRPr lang="en-US" altLang="ko-KR" sz="1000" dirty="0">
                        <a:latin typeface="CJ ONLYONE Medium" pitchFamily="18" charset="-127"/>
                        <a:ea typeface="CJ ONLYONE Medium" pitchFamily="18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25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Onmart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WEB 01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cjonmartweb01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itchFamily="18" charset="-127"/>
                        <a:ea typeface="CJ ONLYONE Medium" pitchFamily="18" charset="-127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25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Onmart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 검색서버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J ONLYONE Medium" pitchFamily="18" charset="-127"/>
                        <a:ea typeface="CJ ONLYONE Medium" pitchFamily="18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search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J ONLYONE Medium" pitchFamily="18" charset="-127"/>
                          <a:ea typeface="CJ ONLYONE Medium" pitchFamily="18" charset="-127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dirty="0">
                        <a:latin typeface="CJ ONLYONE Medium" pitchFamily="18" charset="-127"/>
                        <a:ea typeface="CJ ONLYONE Medium" pitchFamily="18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 rot="20224515">
            <a:off x="2868927" y="3029590"/>
            <a:ext cx="5502298" cy="13849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샘플</a:t>
            </a:r>
            <a:endParaRPr lang="en-US" altLang="ko-KR" sz="2800" dirty="0"/>
          </a:p>
          <a:p>
            <a:pPr algn="ctr"/>
            <a:r>
              <a:rPr lang="en-US" altLang="ko-KR" sz="2800" dirty="0"/>
              <a:t>(</a:t>
            </a:r>
            <a:r>
              <a:rPr lang="ko-KR" altLang="en-US" sz="2800" dirty="0" err="1"/>
              <a:t>서버별</a:t>
            </a:r>
            <a:r>
              <a:rPr lang="ko-KR" altLang="en-US" sz="2800" dirty="0"/>
              <a:t> 가동순서 명시</a:t>
            </a:r>
            <a:r>
              <a:rPr lang="en-US" altLang="ko-KR" sz="2800" dirty="0"/>
              <a:t>)</a:t>
            </a:r>
          </a:p>
          <a:p>
            <a:pPr algn="ctr"/>
            <a:r>
              <a:rPr lang="ko-KR" altLang="en-US" sz="2800" dirty="0"/>
              <a:t>엑셀로 작업순서 </a:t>
            </a:r>
            <a:r>
              <a:rPr lang="ko-KR" altLang="en-US" sz="2800" dirty="0" err="1"/>
              <a:t>표시후</a:t>
            </a:r>
            <a:r>
              <a:rPr lang="ko-KR" altLang="en-US" sz="2800" dirty="0"/>
              <a:t> 첨부 </a:t>
            </a:r>
          </a:p>
        </p:txBody>
      </p:sp>
      <p:sp>
        <p:nvSpPr>
          <p:cNvPr id="7" name="직사각형 6"/>
          <p:cNvSpPr/>
          <p:nvPr/>
        </p:nvSpPr>
        <p:spPr bwMode="auto">
          <a:xfrm>
            <a:off x="4038600" y="185738"/>
            <a:ext cx="41571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IDC, </a:t>
            </a:r>
            <a:r>
              <a:rPr lang="ko-KR" altLang="en-US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아키텍처</a:t>
            </a: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, IT</a:t>
            </a:r>
            <a:r>
              <a:rPr lang="ko-KR" altLang="en-US" sz="1500" dirty="0" err="1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56271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9.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시스템 변경이력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 rot="20224515">
            <a:off x="3192236" y="3196936"/>
            <a:ext cx="2890157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/>
              <a:t>샘플</a:t>
            </a:r>
          </a:p>
        </p:txBody>
      </p:sp>
      <p:graphicFrame>
        <p:nvGraphicFramePr>
          <p:cNvPr id="5" name="Group 15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194115"/>
              </p:ext>
            </p:extLst>
          </p:nvPr>
        </p:nvGraphicFramePr>
        <p:xfrm>
          <a:off x="200025" y="765175"/>
          <a:ext cx="9180513" cy="5033964"/>
        </p:xfrm>
        <a:graphic>
          <a:graphicData uri="http://schemas.openxmlformats.org/drawingml/2006/table">
            <a:tbl>
              <a:tblPr/>
              <a:tblGrid>
                <a:gridCol w="1499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8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5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9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6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변경일자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변경사유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변경 내역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변경자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승인자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2017.01.01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최초설치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2017.02.08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자원증설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DB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서버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(IBM/P570)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CPU 4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-&gt; 6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 증설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홍길동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길동맘</a:t>
                      </a: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500" dirty="0" err="1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66816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10.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비상연락 체계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10.1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고객 및 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IT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인력 비상연락</a:t>
            </a:r>
          </a:p>
        </p:txBody>
      </p:sp>
      <p:sp>
        <p:nvSpPr>
          <p:cNvPr id="4" name="TextBox 3"/>
          <p:cNvSpPr txBox="1"/>
          <p:nvPr/>
        </p:nvSpPr>
        <p:spPr>
          <a:xfrm rot="20224515">
            <a:off x="3192236" y="3196936"/>
            <a:ext cx="2890157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엑셀 연결 가능</a:t>
            </a:r>
          </a:p>
        </p:txBody>
      </p:sp>
      <p:sp>
        <p:nvSpPr>
          <p:cNvPr id="5" name="직사각형 4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500" dirty="0" err="1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0923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10.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비상연락 체계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7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10.2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벤더 비상연락</a:t>
            </a:r>
          </a:p>
        </p:txBody>
      </p:sp>
      <p:sp>
        <p:nvSpPr>
          <p:cNvPr id="4" name="TextBox 3"/>
          <p:cNvSpPr txBox="1"/>
          <p:nvPr/>
        </p:nvSpPr>
        <p:spPr>
          <a:xfrm rot="20224515">
            <a:off x="3192236" y="3196936"/>
            <a:ext cx="2890157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엑셀 연결 가능</a:t>
            </a:r>
          </a:p>
        </p:txBody>
      </p:sp>
      <p:sp>
        <p:nvSpPr>
          <p:cNvPr id="5" name="직사각형 4"/>
          <p:cNvSpPr/>
          <p:nvPr/>
        </p:nvSpPr>
        <p:spPr bwMode="auto">
          <a:xfrm>
            <a:off x="4038600" y="185738"/>
            <a:ext cx="31919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IDC, </a:t>
            </a:r>
            <a:r>
              <a:rPr lang="ko-KR" altLang="en-US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아키텍처</a:t>
            </a: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, IT</a:t>
            </a:r>
            <a:r>
              <a:rPr lang="ko-KR" altLang="en-US" sz="1500" dirty="0" err="1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63411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74638" y="185738"/>
            <a:ext cx="9358312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11. 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특이 사항</a:t>
            </a:r>
            <a:endParaRPr lang="en-US" altLang="ko-KR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97657" y="707576"/>
            <a:ext cx="9358312" cy="3072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t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성수기 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설날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추석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여름방학</a:t>
            </a:r>
            <a:endParaRPr lang="en-US" altLang="ko-KR" sz="2000" dirty="0">
              <a:latin typeface="맑은 고딕" pitchFamily="50" charset="-127"/>
              <a:ea typeface="맑은 고딕" pitchFamily="50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결산 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매월 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30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일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 ~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익월 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02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일</a:t>
            </a:r>
            <a:endParaRPr lang="en-US" altLang="ko-KR" sz="2000" dirty="0">
              <a:latin typeface="맑은 고딕" pitchFamily="50" charset="-127"/>
              <a:ea typeface="맑은 고딕" pitchFamily="50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ko-KR" sz="2000" dirty="0">
              <a:latin typeface="맑은 고딕" pitchFamily="50" charset="-127"/>
              <a:ea typeface="맑은 고딕" pitchFamily="50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EOS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현황</a:t>
            </a:r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및 제안이력</a:t>
            </a:r>
            <a:endParaRPr lang="en-US" altLang="ko-KR" sz="2000" dirty="0">
              <a:latin typeface="맑은 고딕" pitchFamily="50" charset="-127"/>
              <a:ea typeface="맑은 고딕" pitchFamily="50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ko-KR" sz="2000" dirty="0">
              <a:latin typeface="맑은 고딕" pitchFamily="50" charset="-127"/>
              <a:ea typeface="맑은 고딕" pitchFamily="50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ko-KR" altLang="en-US" sz="2000" dirty="0">
                <a:latin typeface="맑은 고딕" pitchFamily="50" charset="-127"/>
                <a:ea typeface="맑은 고딕" pitchFamily="50" charset="-127"/>
              </a:rPr>
              <a:t>등등 기록으로 남길 사항들 기술</a:t>
            </a:r>
            <a:endParaRPr lang="en-US" altLang="ko-KR" sz="2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직사각형 3"/>
          <p:cNvSpPr/>
          <p:nvPr/>
        </p:nvSpPr>
        <p:spPr bwMode="auto">
          <a:xfrm>
            <a:off x="4038600" y="185738"/>
            <a:ext cx="1464733" cy="593195"/>
          </a:xfrm>
          <a:prstGeom prst="rect">
            <a:avLst/>
          </a:prstGeom>
          <a:gradFill rotWithShape="1">
            <a:gsLst>
              <a:gs pos="0">
                <a:srgbClr val="969696">
                  <a:gamma/>
                  <a:tint val="50980"/>
                  <a:invGamma/>
                </a:srgbClr>
              </a:gs>
              <a:gs pos="100000">
                <a:srgbClr val="969696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25400" dir="5400000" algn="ctr" rotWithShape="0">
              <a:srgbClr val="C0C0C0"/>
            </a:outerShdw>
          </a:effectLst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r>
              <a:rPr lang="en-US" altLang="ko-KR" sz="1500" dirty="0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IT</a:t>
            </a:r>
            <a:r>
              <a:rPr lang="ko-KR" altLang="en-US" sz="1500" dirty="0" err="1">
                <a:solidFill>
                  <a:srgbClr val="FF0000"/>
                </a:solidFill>
                <a:cs typeface="Arial" pitchFamily="34" charset="0"/>
                <a:sym typeface="Wingdings" pitchFamily="2" charset="2"/>
              </a:rPr>
              <a:t>서비스팀</a:t>
            </a:r>
            <a:endParaRPr lang="ko-KR" altLang="en-US" sz="1500" b="1" dirty="0">
              <a:solidFill>
                <a:srgbClr val="FF0000"/>
              </a:solidFill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668161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499"/>
          <p:cNvSpPr>
            <a:spLocks noChangeArrowheads="1"/>
          </p:cNvSpPr>
          <p:nvPr/>
        </p:nvSpPr>
        <p:spPr bwMode="auto">
          <a:xfrm>
            <a:off x="1103313" y="2960688"/>
            <a:ext cx="7696200" cy="9144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  <a:defRPr/>
            </a:pPr>
            <a:r>
              <a:rPr kumimoji="0" lang="en-US" altLang="ko-KR" sz="6000" i="1" dirty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rPr>
              <a:t>End of Document</a:t>
            </a:r>
            <a:endParaRPr kumimoji="0" lang="ko-KR" altLang="en-US" sz="6000" i="1" dirty="0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626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1">
          <a:gsLst>
            <a:gs pos="0">
              <a:srgbClr val="969696">
                <a:gamma/>
                <a:tint val="50980"/>
                <a:invGamma/>
              </a:srgbClr>
            </a:gs>
            <a:gs pos="100000">
              <a:srgbClr val="969696"/>
            </a:gs>
          </a:gsLst>
          <a:lin ang="2700000" scaled="1"/>
        </a:gradFill>
        <a:ln w="9525" algn="ctr">
          <a:solidFill>
            <a:srgbClr val="808080"/>
          </a:solidFill>
          <a:round/>
          <a:headEnd/>
          <a:tailEnd/>
        </a:ln>
        <a:effectLst>
          <a:outerShdw dist="25400" dir="5400000" algn="ctr" rotWithShape="0">
            <a:srgbClr val="C0C0C0"/>
          </a:outerShdw>
        </a:effectLst>
      </a:spPr>
      <a:bodyPr lIns="0" rIns="0" anchor="ctr"/>
      <a:lstStyle>
        <a:defPPr algn="ctr" fontAlgn="ctr" latinLnBrk="0">
          <a:lnSpc>
            <a:spcPts val="1300"/>
          </a:lnSpc>
          <a:spcBef>
            <a:spcPct val="0"/>
          </a:spcBef>
          <a:spcAft>
            <a:spcPct val="0"/>
          </a:spcAft>
          <a:buClr>
            <a:srgbClr val="969696"/>
          </a:buClr>
          <a:buSzPct val="65000"/>
          <a:defRPr sz="1500" b="1" dirty="0" smtClean="0">
            <a:solidFill>
              <a:srgbClr val="FFFFFF"/>
            </a:solidFill>
            <a:cs typeface="Arial" pitchFamily="34" charset="0"/>
            <a:sym typeface="Wingdings" pitchFamily="2" charset="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2223899</TotalTime>
  <Words>1939</Words>
  <Application>Microsoft Office PowerPoint</Application>
  <PresentationFormat>A4 용지(210x297mm)</PresentationFormat>
  <Paragraphs>968</Paragraphs>
  <Slides>33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19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33</vt:i4>
      </vt:variant>
    </vt:vector>
  </HeadingPairs>
  <TitlesOfParts>
    <vt:vector size="55" baseType="lpstr">
      <vt:lpstr>Arial Unicode MS</vt:lpstr>
      <vt:lpstr>CJ ONLYONE Medium</vt:lpstr>
      <vt:lpstr>CJ ONLYONE NEW 본문 Light</vt:lpstr>
      <vt:lpstr>CJ ONLYONE NEW 본문 Regular</vt:lpstr>
      <vt:lpstr>HY중고딕</vt:lpstr>
      <vt:lpstr>HY헤드라인M</vt:lpstr>
      <vt:lpstr>ITC Avant Garde Gothic</vt:lpstr>
      <vt:lpstr>Noto Sans CJK KR Bold</vt:lpstr>
      <vt:lpstr>Noto Sans CJK KR DemiLight</vt:lpstr>
      <vt:lpstr>Noto Sans CJK KR Light</vt:lpstr>
      <vt:lpstr>Pretendard Light</vt:lpstr>
      <vt:lpstr>가는각진제목체</vt:lpstr>
      <vt:lpstr>굴림</vt:lpstr>
      <vt:lpstr>나눔고딕</vt:lpstr>
      <vt:lpstr>돋움체</vt:lpstr>
      <vt:lpstr>맑은 고딕</vt:lpstr>
      <vt:lpstr>Arial</vt:lpstr>
      <vt:lpstr>Times New Roman</vt:lpstr>
      <vt:lpstr>Wingdings</vt:lpstr>
      <vt:lpstr>Office 테마</vt:lpstr>
      <vt:lpstr>1_Office 테마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유혁준</dc:creator>
  <cp:lastModifiedBy>서정만님 </cp:lastModifiedBy>
  <cp:revision>6020</cp:revision>
  <cp:lastPrinted>2014-03-03T07:40:31Z</cp:lastPrinted>
  <dcterms:created xsi:type="dcterms:W3CDTF">2011-09-28T07:17:49Z</dcterms:created>
  <dcterms:modified xsi:type="dcterms:W3CDTF">2025-03-24T02:41:02Z</dcterms:modified>
</cp:coreProperties>
</file>