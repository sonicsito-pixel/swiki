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93" r:id="rId4"/>
    <p:sldId id="294" r:id="rId5"/>
    <p:sldId id="291" r:id="rId6"/>
    <p:sldId id="292" r:id="rId7"/>
    <p:sldId id="287" r:id="rId8"/>
    <p:sldId id="288" r:id="rId9"/>
    <p:sldId id="289" r:id="rId10"/>
    <p:sldId id="286" r:id="rId11"/>
    <p:sldId id="273" r:id="rId12"/>
    <p:sldId id="278" r:id="rId13"/>
    <p:sldId id="279" r:id="rId14"/>
    <p:sldId id="274" r:id="rId15"/>
    <p:sldId id="290" r:id="rId16"/>
    <p:sldId id="280" r:id="rId17"/>
    <p:sldId id="283" r:id="rId18"/>
    <p:sldId id="267" r:id="rId19"/>
  </p:sldIdLst>
  <p:sldSz cx="9906000" cy="6858000" type="A4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DDDDD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3" autoAdjust="0"/>
    <p:restoredTop sz="94660"/>
  </p:normalViewPr>
  <p:slideViewPr>
    <p:cSldViewPr>
      <p:cViewPr varScale="1">
        <p:scale>
          <a:sx n="109" d="100"/>
          <a:sy n="109" d="100"/>
        </p:scale>
        <p:origin x="1838" y="9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704" y="-7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5F24849-FC44-465A-A72E-E98D9FA3E2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4890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F3C02E33-760B-4C77-B687-28A011FFA63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2767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4BC1E4E-D93B-47AE-AC25-DBE9FB46E1E1}" type="slidenum">
              <a:rPr lang="en-US" altLang="ko-KR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FC409AA-563A-4B2F-8551-A8896727A6DF}" type="slidenum">
              <a:rPr lang="en-US" altLang="ko-KR"/>
              <a:pPr>
                <a:spcBef>
                  <a:spcPct val="0"/>
                </a:spcBef>
              </a:pPr>
              <a:t>2</a:t>
            </a:fld>
            <a:endParaRPr lang="en-US" altLang="ko-KR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90600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08"/>
          <p:cNvSpPr txBox="1">
            <a:spLocks noChangeArrowheads="1"/>
          </p:cNvSpPr>
          <p:nvPr userDrawn="1"/>
        </p:nvSpPr>
        <p:spPr bwMode="auto">
          <a:xfrm>
            <a:off x="2090738" y="6356350"/>
            <a:ext cx="57245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11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4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 </a:t>
            </a:r>
            <a:r>
              <a:rPr lang="en-US" altLang="ko-KR" sz="14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SSTS-AG05</a:t>
            </a:r>
            <a:endParaRPr lang="en-US" altLang="ko-KR" sz="1400" b="1" dirty="0">
              <a:solidFill>
                <a:srgbClr val="FCFDD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837802"/>
              </p:ext>
            </p:extLst>
          </p:nvPr>
        </p:nvGraphicFramePr>
        <p:xfrm>
          <a:off x="2468563" y="2276475"/>
          <a:ext cx="4967287" cy="830263"/>
        </p:xfrm>
        <a:graphic>
          <a:graphicData uri="http://schemas.openxmlformats.org/drawingml/2006/table">
            <a:tbl>
              <a:tblPr/>
              <a:tblGrid>
                <a:gridCol w="4967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0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신성통상 차세대 </a:t>
                      </a:r>
                      <a:r>
                        <a:rPr kumimoji="1" lang="en-US" altLang="ko-KR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POS </a:t>
                      </a:r>
                      <a:r>
                        <a:rPr kumimoji="1" lang="ko-KR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및 키오스크 구축</a:t>
                      </a:r>
                      <a:endParaRPr kumimoji="1" lang="ko-KR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화면 정의서 및 설계서</a:t>
                      </a:r>
                      <a:endParaRPr kumimoji="1" lang="ko-KR" alt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90000" marT="46800" marB="46800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388" y="5219700"/>
            <a:ext cx="1636712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9FCDB513-44AC-4E01-BEFA-25461C56DEF3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842" y="5407244"/>
            <a:ext cx="1555750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Group 104">
            <a:extLst>
              <a:ext uri="{FF2B5EF4-FFF2-40B4-BE49-F238E27FC236}">
                <a16:creationId xmlns:a16="http://schemas.microsoft.com/office/drawing/2014/main" id="{55E88407-078A-406E-9E06-3A20AFE52E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36255656"/>
              </p:ext>
            </p:extLst>
          </p:nvPr>
        </p:nvGraphicFramePr>
        <p:xfrm>
          <a:off x="7437438" y="620713"/>
          <a:ext cx="2239962" cy="612774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97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20FE077B-10D4-4534-B613-681294B17ADC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0981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9F497466-BEA5-466C-8326-866E2D51877C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49428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443788" y="2349500"/>
            <a:ext cx="952500" cy="4032250"/>
          </a:xfrm>
        </p:spPr>
        <p:txBody>
          <a:bodyPr/>
          <a:lstStyle>
            <a:lvl1pPr>
              <a:defRPr sz="28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548688" y="2349500"/>
            <a:ext cx="952500" cy="4032250"/>
          </a:xfrm>
        </p:spPr>
        <p:txBody>
          <a:bodyPr/>
          <a:lstStyle>
            <a:lvl1pPr>
              <a:defRPr sz="28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400"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800"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800"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4CB3EDE0-E8C0-41A2-ACB2-5708B5327ABF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26449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1800"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1600"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1600"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6E2896B1-200D-4CDD-9416-4C0BAE49BA5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36789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D7D3B364-8542-4593-A048-49000688644B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19059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5A03B5F9-8D2C-4C12-9BA4-3F5DFC26FBB5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47437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 sz="2800"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sz="2400"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sz="2000"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E8706DE2-5187-400C-9007-F70FF7D8D721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66486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980ADC2A-8854-4D9D-9485-3113DF709384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41548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0CA3F53A-3443-424B-B5C5-943EDF8CE2C4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82271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0113" y="274638"/>
            <a:ext cx="2251075" cy="6107112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602413" cy="6107112"/>
          </a:xfrm>
        </p:spPr>
        <p:txBody>
          <a:bodyPr vert="eaVert"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en-US" altLang="ko-KR"/>
              <a:t>- </a:t>
            </a:r>
            <a:fld id="{E041C28C-AA16-4601-BA70-54834C1E40A7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85685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344488" y="6489700"/>
            <a:ext cx="9217025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4" name="Rectangle 8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1813" y="6538913"/>
            <a:ext cx="12239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F0D1F419-B013-4968-84CF-B4E7FCBE3622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  <p:graphicFrame>
        <p:nvGraphicFramePr>
          <p:cNvPr id="1436" name="Group 4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985304"/>
              </p:ext>
            </p:extLst>
          </p:nvPr>
        </p:nvGraphicFramePr>
        <p:xfrm>
          <a:off x="363538" y="296863"/>
          <a:ext cx="9164637" cy="685315"/>
        </p:xfrm>
        <a:graphic>
          <a:graphicData uri="http://schemas.openxmlformats.org/drawingml/2006/table">
            <a:tbl>
              <a:tblPr/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68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화면 정의서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및 설계서</a:t>
                      </a: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endParaRPr kumimoji="1" lang="ko-KR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itchFamily="18" charset="0"/>
                        </a:rPr>
                        <a:t>SSTS-AG05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00" marB="18000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  <a:endParaRPr kumimoji="1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59" name="Rectangle 33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43788" y="2349500"/>
            <a:ext cx="2057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/>
          </a:p>
        </p:txBody>
      </p:sp>
      <p:sp>
        <p:nvSpPr>
          <p:cNvPr id="1081" name="Text Box 416"/>
          <p:cNvSpPr txBox="1">
            <a:spLocks noChangeArrowheads="1"/>
          </p:cNvSpPr>
          <p:nvPr userDrawn="1"/>
        </p:nvSpPr>
        <p:spPr bwMode="auto">
          <a:xfrm>
            <a:off x="6213140" y="368300"/>
            <a:ext cx="324042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신성통상 차세대 </a:t>
            </a:r>
            <a:r>
              <a:rPr lang="en-US" altLang="ko-KR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키오스크 구축 프로젝트</a:t>
            </a:r>
          </a:p>
        </p:txBody>
      </p:sp>
      <p:pic>
        <p:nvPicPr>
          <p:cNvPr id="1082" name="그림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5613"/>
            <a:ext cx="935038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FCDD59EE-3B14-482A-ABF6-E14615B74E15}"/>
              </a:ext>
            </a:extLst>
          </p:cNvPr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763" y="6584156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ftr="0" dt="0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1000" b="1">
          <a:solidFill>
            <a:schemeClr val="bg2"/>
          </a:solidFill>
          <a:latin typeface="굴림" pitchFamily="50" charset="-127"/>
          <a:ea typeface="굴림" pitchFamily="50" charset="-127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defRPr kumimoji="1" sz="10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2pPr>
      <a:lvl3pPr marL="625475" indent="3175" algn="l" rtl="0" eaLnBrk="0" fontAlgn="base" latinLnBrk="1" hangingPunct="0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3pPr>
      <a:lvl4pPr marL="103663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1444625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901825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359025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816225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273425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5A0FB1BF-564F-48EF-95DD-2DA5DC922B97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9219" name="Rectangle 898"/>
          <p:cNvSpPr>
            <a:spLocks noChangeArrowheads="1"/>
          </p:cNvSpPr>
          <p:nvPr/>
        </p:nvSpPr>
        <p:spPr bwMode="auto">
          <a:xfrm>
            <a:off x="0" y="993775"/>
            <a:ext cx="9906000" cy="5465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019" name="Group 9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087534"/>
              </p:ext>
            </p:extLst>
          </p:nvPr>
        </p:nvGraphicFramePr>
        <p:xfrm>
          <a:off x="392113" y="1665288"/>
          <a:ext cx="9132887" cy="3898714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버전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개정일자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개정사유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개정내역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작성자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승인자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오승헌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348" name="Rectangle 893"/>
          <p:cNvSpPr>
            <a:spLocks noChangeArrowheads="1"/>
          </p:cNvSpPr>
          <p:nvPr/>
        </p:nvSpPr>
        <p:spPr bwMode="auto">
          <a:xfrm>
            <a:off x="4357332" y="1159153"/>
            <a:ext cx="1189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이력</a:t>
            </a:r>
          </a:p>
        </p:txBody>
      </p:sp>
      <p:sp>
        <p:nvSpPr>
          <p:cNvPr id="9350" name="Rectangle 659"/>
          <p:cNvSpPr>
            <a:spLocks noChangeArrowheads="1"/>
          </p:cNvSpPr>
          <p:nvPr/>
        </p:nvSpPr>
        <p:spPr bwMode="auto">
          <a:xfrm>
            <a:off x="400050" y="5941497"/>
            <a:ext cx="4567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 baseline="30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  <a:hlinkClick r:id="" action="ppaction://noaction"/>
              </a:rPr>
              <a:t>[1]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 사유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제정 또는 개정 내용이 이전 문서에 대해 추가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수정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삭제인지 선택 기입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900" baseline="30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  <a:hlinkClick r:id="" action="ppaction://noaction"/>
              </a:rPr>
              <a:t>[2]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 내역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개정이 발생하는 페이지 번호와 변경 내용을 기술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D806BDB-1D95-415E-B4A2-E7F2313FDF82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1160463"/>
            <a:ext cx="9906000" cy="5256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81000" y="1160463"/>
            <a:ext cx="9109075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730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 목록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0353"/>
              </p:ext>
            </p:extLst>
          </p:nvPr>
        </p:nvGraphicFramePr>
        <p:xfrm>
          <a:off x="388744" y="1769644"/>
          <a:ext cx="9101331" cy="4530984"/>
        </p:xfrm>
        <a:graphic>
          <a:graphicData uri="http://schemas.openxmlformats.org/drawingml/2006/table">
            <a:tbl>
              <a:tblPr/>
              <a:tblGrid>
                <a:gridCol w="646920">
                  <a:extLst>
                    <a:ext uri="{9D8B030D-6E8A-4147-A177-3AD203B41FA5}">
                      <a16:colId xmlns:a16="http://schemas.microsoft.com/office/drawing/2014/main" val="3906868519"/>
                    </a:ext>
                  </a:extLst>
                </a:gridCol>
                <a:gridCol w="748984">
                  <a:extLst>
                    <a:ext uri="{9D8B030D-6E8A-4147-A177-3AD203B41FA5}">
                      <a16:colId xmlns:a16="http://schemas.microsoft.com/office/drawing/2014/main" val="205598021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093151922"/>
                    </a:ext>
                  </a:extLst>
                </a:gridCol>
                <a:gridCol w="539610">
                  <a:extLst>
                    <a:ext uri="{9D8B030D-6E8A-4147-A177-3AD203B41FA5}">
                      <a16:colId xmlns:a16="http://schemas.microsoft.com/office/drawing/2014/main" val="2126953461"/>
                    </a:ext>
                  </a:extLst>
                </a:gridCol>
                <a:gridCol w="1395522">
                  <a:extLst>
                    <a:ext uri="{9D8B030D-6E8A-4147-A177-3AD203B41FA5}">
                      <a16:colId xmlns:a16="http://schemas.microsoft.com/office/drawing/2014/main" val="597793311"/>
                    </a:ext>
                  </a:extLst>
                </a:gridCol>
                <a:gridCol w="2646197">
                  <a:extLst>
                    <a:ext uri="{9D8B030D-6E8A-4147-A177-3AD203B41FA5}">
                      <a16:colId xmlns:a16="http://schemas.microsoft.com/office/drawing/2014/main" val="80683260"/>
                    </a:ext>
                  </a:extLst>
                </a:gridCol>
                <a:gridCol w="432624">
                  <a:extLst>
                    <a:ext uri="{9D8B030D-6E8A-4147-A177-3AD203B41FA5}">
                      <a16:colId xmlns:a16="http://schemas.microsoft.com/office/drawing/2014/main" val="1976403951"/>
                    </a:ext>
                  </a:extLst>
                </a:gridCol>
                <a:gridCol w="648936">
                  <a:extLst>
                    <a:ext uri="{9D8B030D-6E8A-4147-A177-3AD203B41FA5}">
                      <a16:colId xmlns:a16="http://schemas.microsoft.com/office/drawing/2014/main" val="3564143153"/>
                    </a:ext>
                  </a:extLst>
                </a:gridCol>
                <a:gridCol w="745530">
                  <a:extLst>
                    <a:ext uri="{9D8B030D-6E8A-4147-A177-3AD203B41FA5}">
                      <a16:colId xmlns:a16="http://schemas.microsoft.com/office/drawing/2014/main" val="3190066931"/>
                    </a:ext>
                  </a:extLst>
                </a:gridCol>
                <a:gridCol w="648936">
                  <a:extLst>
                    <a:ext uri="{9D8B030D-6E8A-4147-A177-3AD203B41FA5}">
                      <a16:colId xmlns:a16="http://schemas.microsoft.com/office/drawing/2014/main" val="878711455"/>
                    </a:ext>
                  </a:extLst>
                </a:gridCol>
              </a:tblGrid>
              <a:tr h="261487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[Product Backlog -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기능적 요구사항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874"/>
                  </a:ext>
                </a:extLst>
              </a:tr>
              <a:tr h="261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Story 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Story Desc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Priority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#Sprint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I/F 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862025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327185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651212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893532"/>
                  </a:ext>
                </a:extLst>
              </a:tr>
              <a:tr h="55313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14607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08394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447791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4300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56687"/>
                  </a:ext>
                </a:extLst>
              </a:tr>
              <a:tr h="26148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504680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355982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010029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168632"/>
                  </a:ext>
                </a:extLst>
              </a:tr>
              <a:tr h="414851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1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205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D806BDB-1D95-415E-B4A2-E7F2313FDF82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4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1160463"/>
            <a:ext cx="9906000" cy="5256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81000" y="1160463"/>
            <a:ext cx="9109075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730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 흐름도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421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0FE077B-10D4-4534-B613-681294B17AD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5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381000" y="1181149"/>
            <a:ext cx="9144000" cy="52571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marL="0" marR="0" lvl="0" indent="0" defTabSz="914400" eaLnBrk="1" fontAlgn="b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257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Group 414"/>
          <p:cNvGraphicFramePr>
            <a:graphicFrameLocks noGrp="1"/>
          </p:cNvGraphicFramePr>
          <p:nvPr>
            <p:extLst/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639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314515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슬라이드 번호 개체 틀 3"/>
          <p:cNvSpPr txBox="1">
            <a:spLocks/>
          </p:cNvSpPr>
          <p:nvPr/>
        </p:nvSpPr>
        <p:spPr bwMode="auto">
          <a:xfrm>
            <a:off x="4341813" y="6538913"/>
            <a:ext cx="12239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dirty="0"/>
              <a:t>- 5 -</a:t>
            </a:r>
          </a:p>
        </p:txBody>
      </p:sp>
      <p:graphicFrame>
        <p:nvGraphicFramePr>
          <p:cNvPr id="88" name="표 67"/>
          <p:cNvGraphicFramePr>
            <a:graphicFrameLocks noGrp="1"/>
          </p:cNvGraphicFramePr>
          <p:nvPr>
            <p:extLst/>
          </p:nvPr>
        </p:nvGraphicFramePr>
        <p:xfrm>
          <a:off x="6766835" y="2341496"/>
          <a:ext cx="2728247" cy="3944281"/>
        </p:xfrm>
        <a:graphic>
          <a:graphicData uri="http://schemas.openxmlformats.org/drawingml/2006/table">
            <a:tbl>
              <a:tblPr/>
              <a:tblGrid>
                <a:gridCol w="17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3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4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3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65104"/>
                  </a:ext>
                </a:extLst>
              </a:tr>
              <a:tr h="376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20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0FE077B-10D4-4534-B613-681294B17ADC}" type="slidenum">
              <a:rPr lang="en-US" altLang="ko-KR" smtClean="0"/>
              <a:pPr/>
              <a:t>7</a:t>
            </a:fld>
            <a:r>
              <a:rPr lang="en-US" altLang="ko-KR"/>
              <a:t> -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381000" y="1181149"/>
            <a:ext cx="9144000" cy="52571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marL="0" marR="0" lvl="0" indent="0" defTabSz="914400" eaLnBrk="1" fontAlgn="b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바탕체"/>
              <a:ea typeface="굴림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4169" y="1340768"/>
            <a:ext cx="8903327" cy="423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prstClr val="black"/>
                </a:solidFill>
                <a:latin typeface="맑은 고딕"/>
                <a:ea typeface="맑은 고딕"/>
              </a:rPr>
              <a:t>[</a:t>
            </a:r>
            <a:r>
              <a:rPr kumimoji="0" lang="ko-KR" altLang="en-US" b="1" dirty="0">
                <a:solidFill>
                  <a:prstClr val="black"/>
                </a:solidFill>
                <a:latin typeface="맑은 고딕"/>
                <a:ea typeface="맑은 고딕"/>
              </a:rPr>
              <a:t>작성 지침</a:t>
            </a:r>
            <a:r>
              <a:rPr kumimoji="0" lang="en-US" altLang="ko-KR" b="1" dirty="0">
                <a:solidFill>
                  <a:prstClr val="black"/>
                </a:solidFill>
                <a:latin typeface="맑은 고딕"/>
                <a:ea typeface="맑은 고딕"/>
              </a:rPr>
              <a:t>]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kumimoji="0" lang="en-US" altLang="ko-KR" sz="1800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kumimoji="0" lang="en-US" altLang="ko-KR" sz="1200" b="1" dirty="0" err="1">
                <a:solidFill>
                  <a:prstClr val="black"/>
                </a:solidFill>
                <a:latin typeface="맑은 고딕"/>
                <a:ea typeface="맑은 고딕"/>
              </a:rPr>
              <a:t>WireFrame</a:t>
            </a:r>
            <a:r>
              <a:rPr kumimoji="0" lang="en-US" altLang="ko-KR" sz="1200" b="1" dirty="0">
                <a:solidFill>
                  <a:prstClr val="black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200" b="1" dirty="0" err="1">
                <a:solidFill>
                  <a:prstClr val="black"/>
                </a:solidFill>
                <a:latin typeface="맑은 고딕"/>
                <a:ea typeface="맑은 고딕"/>
              </a:rPr>
              <a:t>화면정의서</a:t>
            </a:r>
            <a:r>
              <a:rPr kumimoji="0" lang="en-US" altLang="ko-KR" sz="1200" b="1" dirty="0">
                <a:solidFill>
                  <a:prstClr val="black"/>
                </a:solidFill>
                <a:latin typeface="맑은 고딕"/>
                <a:ea typeface="맑은 고딕"/>
              </a:rPr>
              <a:t>) </a:t>
            </a:r>
            <a:r>
              <a:rPr kumimoji="0" lang="ko-KR" altLang="en-US" sz="1200" b="1" dirty="0">
                <a:solidFill>
                  <a:prstClr val="black"/>
                </a:solidFill>
                <a:latin typeface="맑은 고딕"/>
                <a:ea typeface="맑은 고딕"/>
              </a:rPr>
              <a:t>용어 정의 </a:t>
            </a:r>
            <a:r>
              <a:rPr kumimoji="0" lang="en-US" altLang="ko-KR" sz="1200" b="1" dirty="0">
                <a:solidFill>
                  <a:prstClr val="black"/>
                </a:solidFill>
                <a:latin typeface="맑은 고딕"/>
                <a:ea typeface="맑은 고딕"/>
              </a:rPr>
              <a:t>: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고객과의 의사소통을 위한 사용자 관점의 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UI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중심의 화면의 개략적인 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Layout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정의</a:t>
            </a:r>
            <a:endParaRPr kumimoji="0" lang="en-US" altLang="ko-KR" sz="1200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kumimoji="0" lang="ko-KR" altLang="en-US" sz="1200" b="1" dirty="0" err="1">
                <a:solidFill>
                  <a:prstClr val="black"/>
                </a:solidFill>
                <a:latin typeface="맑은 고딕"/>
                <a:ea typeface="맑은 고딕"/>
              </a:rPr>
              <a:t>작성표준</a:t>
            </a:r>
            <a:r>
              <a:rPr kumimoji="0" lang="ko-KR" altLang="en-US" sz="1200" b="1" dirty="0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200" b="1" dirty="0">
                <a:solidFill>
                  <a:prstClr val="black"/>
                </a:solidFill>
                <a:latin typeface="맑은 고딕"/>
                <a:ea typeface="맑은 고딕"/>
              </a:rPr>
              <a:t>:</a:t>
            </a: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kumimoji="0" lang="en-US" altLang="ko-KR" sz="1200" b="1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kumimoji="0" lang="en-US" altLang="ko-KR" sz="1200" b="1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kumimoji="0" lang="en-US" altLang="ko-KR" sz="1200" b="1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kumimoji="0" lang="en-US" altLang="ko-KR" sz="1200" b="1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kumimoji="0" lang="ko-KR" altLang="en-US" sz="1200" b="1" dirty="0" err="1">
                <a:solidFill>
                  <a:prstClr val="black"/>
                </a:solidFill>
                <a:latin typeface="맑은 고딕"/>
                <a:ea typeface="맑은 고딕"/>
              </a:rPr>
              <a:t>작성가이드</a:t>
            </a:r>
            <a:r>
              <a:rPr kumimoji="0" lang="ko-KR" altLang="en-US" sz="1200" b="1" dirty="0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200" b="1" dirty="0">
                <a:solidFill>
                  <a:prstClr val="black"/>
                </a:solidFill>
                <a:latin typeface="맑은 고딕"/>
                <a:ea typeface="맑은 고딕"/>
              </a:rPr>
              <a:t>:</a:t>
            </a:r>
          </a:p>
          <a:p>
            <a:pPr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   - Product Backlog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최소 기능 단위 목록 기준으로 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UI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설계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화면 정의서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)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를 진행함</a:t>
            </a:r>
          </a:p>
          <a:p>
            <a:pPr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   - </a:t>
            </a:r>
            <a:r>
              <a:rPr kumimoji="0" lang="ko-KR" altLang="en-US" sz="1200" dirty="0" err="1">
                <a:solidFill>
                  <a:prstClr val="black"/>
                </a:solidFill>
                <a:latin typeface="맑은 고딕"/>
                <a:ea typeface="맑은 고딕"/>
              </a:rPr>
              <a:t>오픈된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 화면에 탭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팝업 등이 존재한다면 같은 화면 정의서 파일에 작성</a:t>
            </a:r>
            <a:endParaRPr kumimoji="0" lang="en-US" altLang="ko-KR" sz="1200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   -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팝업 화면이 여러화면에서 공통으로 사용되는 경우 분리해서 작성</a:t>
            </a:r>
          </a:p>
          <a:p>
            <a:pPr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   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-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시스템 전반적인 </a:t>
            </a:r>
            <a:r>
              <a:rPr kumimoji="0" lang="ko-KR" altLang="en-US" sz="1200" dirty="0" err="1">
                <a:solidFill>
                  <a:prstClr val="black"/>
                </a:solidFill>
                <a:latin typeface="맑은 고딕"/>
                <a:ea typeface="맑은 고딕"/>
              </a:rPr>
              <a:t>화면간의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Navigation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을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설계하며 추가 요건 발생시 관련 산출물에도 업데이트 함</a:t>
            </a:r>
          </a:p>
          <a:p>
            <a:pPr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     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(</a:t>
            </a:r>
            <a:r>
              <a:rPr kumimoji="0" lang="en-US" altLang="ko-KR" sz="1200" dirty="0" err="1">
                <a:solidFill>
                  <a:prstClr val="black"/>
                </a:solidFill>
                <a:latin typeface="맑은 고딕"/>
                <a:ea typeface="맑은 고딕"/>
              </a:rPr>
              <a:t>ProductBacklog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kumimoji="0" lang="en-US" altLang="ko-KR" sz="1200" dirty="0" err="1">
                <a:solidFill>
                  <a:prstClr val="black"/>
                </a:solidFill>
                <a:latin typeface="맑은 고딕"/>
                <a:ea typeface="맑은 고딕"/>
              </a:rPr>
              <a:t>Usecase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  <a:t> diagram/Specification)</a:t>
            </a:r>
          </a:p>
          <a:p>
            <a:pPr lv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br>
              <a:rPr kumimoji="0" lang="en-US" altLang="ko-KR" sz="1200" dirty="0">
                <a:solidFill>
                  <a:prstClr val="black"/>
                </a:solidFill>
                <a:latin typeface="맑은 고딕"/>
                <a:ea typeface="맑은 고딕"/>
              </a:rPr>
            </a:br>
            <a:endParaRPr kumimoji="0" lang="en-US" altLang="ko-KR" sz="12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248114"/>
              </p:ext>
            </p:extLst>
          </p:nvPr>
        </p:nvGraphicFramePr>
        <p:xfrm>
          <a:off x="1668124" y="2336800"/>
          <a:ext cx="5481119" cy="1092200"/>
        </p:xfrm>
        <a:graphic>
          <a:graphicData uri="http://schemas.openxmlformats.org/drawingml/2006/table">
            <a:tbl>
              <a:tblPr/>
              <a:tblGrid>
                <a:gridCol w="1124333">
                  <a:extLst>
                    <a:ext uri="{9D8B030D-6E8A-4147-A177-3AD203B41FA5}">
                      <a16:colId xmlns:a16="http://schemas.microsoft.com/office/drawing/2014/main" val="3984439793"/>
                    </a:ext>
                  </a:extLst>
                </a:gridCol>
                <a:gridCol w="4356786">
                  <a:extLst>
                    <a:ext uri="{9D8B030D-6E8A-4147-A177-3AD203B41FA5}">
                      <a16:colId xmlns:a16="http://schemas.microsoft.com/office/drawing/2014/main" val="2298332401"/>
                    </a:ext>
                  </a:extLst>
                </a:gridCol>
              </a:tblGrid>
              <a:tr h="6154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구</a:t>
                      </a:r>
                      <a:r>
                        <a:rPr lang="en-US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ko-KR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분</a:t>
                      </a: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세 부 내 용</a:t>
                      </a: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068448"/>
                  </a:ext>
                </a:extLst>
              </a:tr>
              <a:tr h="791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작성단위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화면단위로</a:t>
                      </a:r>
                      <a:r>
                        <a:rPr 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작성한다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3960249"/>
                  </a:ext>
                </a:extLst>
              </a:tr>
              <a:tr h="791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 성 자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분석</a:t>
                      </a:r>
                      <a:r>
                        <a:rPr lang="en-US" alt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설계자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60127"/>
                  </a:ext>
                </a:extLst>
              </a:tr>
              <a:tr h="791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작성도구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MS </a:t>
                      </a:r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Powerpoint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Sketch,</a:t>
                      </a:r>
                      <a:r>
                        <a:rPr lang="en-US" sz="12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aseline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Axure</a:t>
                      </a:r>
                      <a:r>
                        <a:rPr lang="en-US" sz="12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등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665513"/>
                  </a:ext>
                </a:extLst>
              </a:tr>
              <a:tr h="7913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양식화일명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CJAG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-PLAN-</a:t>
                      </a:r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AG05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YY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ko-KR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화면정의서</a:t>
                      </a:r>
                      <a:r>
                        <a:rPr lang="en-US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2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ppt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761" marR="217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5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95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0FE077B-10D4-4534-B613-681294B17AD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8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381000" y="1181149"/>
            <a:ext cx="9144000" cy="525714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anchor="ctr"/>
          <a:lstStyle/>
          <a:p>
            <a:pPr marL="0" marR="0" lvl="0" indent="0" defTabSz="914400" eaLnBrk="1" fontAlgn="b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4169" y="1340768"/>
            <a:ext cx="8903327" cy="348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r>
              <a:rPr kumimoji="0" lang="ko-KR" altLang="en-US" sz="12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화면정의서</a:t>
            </a:r>
            <a:r>
              <a:rPr kumimoji="0"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예시</a:t>
            </a:r>
            <a:endParaRPr kumimoji="0" lang="en-US" altLang="ko-KR" sz="12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" t="9636" r="262" b="42405"/>
          <a:stretch/>
        </p:blipFill>
        <p:spPr bwMode="auto">
          <a:xfrm>
            <a:off x="504000" y="1772816"/>
            <a:ext cx="8028000" cy="16227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303391"/>
              </p:ext>
            </p:extLst>
          </p:nvPr>
        </p:nvGraphicFramePr>
        <p:xfrm>
          <a:off x="556272" y="4094667"/>
          <a:ext cx="7997128" cy="2062253"/>
        </p:xfrm>
        <a:graphic>
          <a:graphicData uri="http://schemas.openxmlformats.org/drawingml/2006/table">
            <a:tbl>
              <a:tblPr/>
              <a:tblGrid>
                <a:gridCol w="5331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8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6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화면설명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매입처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브랜드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상품별 재고 현황 조회 화면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8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요구사항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7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돋움"/>
                        </a:defRPr>
                      </a:lvl9pPr>
                    </a:lstStyle>
                    <a:p>
                      <a:pPr marL="136525" marR="0" lvl="0" indent="-1365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POG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등록여부 조회 항목 추가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기간에 해당 상품이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POG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에 등록되어있는지 여부 확인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36525" marR="0" lvl="0" indent="-1365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43"/>
          <a:stretch/>
        </p:blipFill>
        <p:spPr bwMode="auto">
          <a:xfrm>
            <a:off x="560512" y="4427595"/>
            <a:ext cx="5184576" cy="170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모서리가 둥근 사각형 설명선 10"/>
          <p:cNvSpPr/>
          <p:nvPr/>
        </p:nvSpPr>
        <p:spPr>
          <a:xfrm>
            <a:off x="4593044" y="5844379"/>
            <a:ext cx="1131084" cy="216024"/>
          </a:xfrm>
          <a:prstGeom prst="wedgeRoundRectCallout">
            <a:avLst>
              <a:gd name="adj1" fmla="val 52923"/>
              <a:gd name="adj2" fmla="val -220867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POG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등록여부</a:t>
            </a:r>
          </a:p>
        </p:txBody>
      </p:sp>
    </p:spTree>
    <p:extLst>
      <p:ext uri="{BB962C8B-B14F-4D97-AF65-F5344CB8AC3E}">
        <p14:creationId xmlns:p14="http://schemas.microsoft.com/office/powerpoint/2010/main" val="267783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98267"/>
              </p:ext>
            </p:extLst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639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2101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선물하기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선물하기 결제 정보 입력 화면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(Optional)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슬라이드 번호 개체 틀 3"/>
          <p:cNvSpPr txBox="1">
            <a:spLocks/>
          </p:cNvSpPr>
          <p:nvPr/>
        </p:nvSpPr>
        <p:spPr bwMode="auto">
          <a:xfrm>
            <a:off x="4341813" y="6538913"/>
            <a:ext cx="12239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dirty="0"/>
              <a:t>- 5 -</a:t>
            </a:r>
          </a:p>
        </p:txBody>
      </p:sp>
      <p:graphicFrame>
        <p:nvGraphicFramePr>
          <p:cNvPr id="8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00420"/>
              </p:ext>
            </p:extLst>
          </p:nvPr>
        </p:nvGraphicFramePr>
        <p:xfrm>
          <a:off x="6766835" y="2341496"/>
          <a:ext cx="2728247" cy="3944281"/>
        </p:xfrm>
        <a:graphic>
          <a:graphicData uri="http://schemas.openxmlformats.org/drawingml/2006/table">
            <a:tbl>
              <a:tblPr/>
              <a:tblGrid>
                <a:gridCol w="17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3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4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3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65104"/>
                  </a:ext>
                </a:extLst>
              </a:tr>
              <a:tr h="376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7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D806BDB-1D95-415E-B4A2-E7F2313FDF82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10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1160463"/>
            <a:ext cx="9906000" cy="5256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81000" y="1160463"/>
            <a:ext cx="9109075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730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 목록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388744" y="1769644"/>
          <a:ext cx="9101331" cy="4543817"/>
        </p:xfrm>
        <a:graphic>
          <a:graphicData uri="http://schemas.openxmlformats.org/drawingml/2006/table">
            <a:tbl>
              <a:tblPr/>
              <a:tblGrid>
                <a:gridCol w="646920">
                  <a:extLst>
                    <a:ext uri="{9D8B030D-6E8A-4147-A177-3AD203B41FA5}">
                      <a16:colId xmlns:a16="http://schemas.microsoft.com/office/drawing/2014/main" val="3906868519"/>
                    </a:ext>
                  </a:extLst>
                </a:gridCol>
                <a:gridCol w="748984">
                  <a:extLst>
                    <a:ext uri="{9D8B030D-6E8A-4147-A177-3AD203B41FA5}">
                      <a16:colId xmlns:a16="http://schemas.microsoft.com/office/drawing/2014/main" val="205598021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093151922"/>
                    </a:ext>
                  </a:extLst>
                </a:gridCol>
                <a:gridCol w="539610">
                  <a:extLst>
                    <a:ext uri="{9D8B030D-6E8A-4147-A177-3AD203B41FA5}">
                      <a16:colId xmlns:a16="http://schemas.microsoft.com/office/drawing/2014/main" val="2126953461"/>
                    </a:ext>
                  </a:extLst>
                </a:gridCol>
                <a:gridCol w="1395522">
                  <a:extLst>
                    <a:ext uri="{9D8B030D-6E8A-4147-A177-3AD203B41FA5}">
                      <a16:colId xmlns:a16="http://schemas.microsoft.com/office/drawing/2014/main" val="597793311"/>
                    </a:ext>
                  </a:extLst>
                </a:gridCol>
                <a:gridCol w="2646197">
                  <a:extLst>
                    <a:ext uri="{9D8B030D-6E8A-4147-A177-3AD203B41FA5}">
                      <a16:colId xmlns:a16="http://schemas.microsoft.com/office/drawing/2014/main" val="80683260"/>
                    </a:ext>
                  </a:extLst>
                </a:gridCol>
                <a:gridCol w="432624">
                  <a:extLst>
                    <a:ext uri="{9D8B030D-6E8A-4147-A177-3AD203B41FA5}">
                      <a16:colId xmlns:a16="http://schemas.microsoft.com/office/drawing/2014/main" val="1976403951"/>
                    </a:ext>
                  </a:extLst>
                </a:gridCol>
                <a:gridCol w="648936">
                  <a:extLst>
                    <a:ext uri="{9D8B030D-6E8A-4147-A177-3AD203B41FA5}">
                      <a16:colId xmlns:a16="http://schemas.microsoft.com/office/drawing/2014/main" val="3564143153"/>
                    </a:ext>
                  </a:extLst>
                </a:gridCol>
                <a:gridCol w="745530">
                  <a:extLst>
                    <a:ext uri="{9D8B030D-6E8A-4147-A177-3AD203B41FA5}">
                      <a16:colId xmlns:a16="http://schemas.microsoft.com/office/drawing/2014/main" val="3190066931"/>
                    </a:ext>
                  </a:extLst>
                </a:gridCol>
                <a:gridCol w="648936">
                  <a:extLst>
                    <a:ext uri="{9D8B030D-6E8A-4147-A177-3AD203B41FA5}">
                      <a16:colId xmlns:a16="http://schemas.microsoft.com/office/drawing/2014/main" val="878711455"/>
                    </a:ext>
                  </a:extLst>
                </a:gridCol>
              </a:tblGrid>
              <a:tr h="261487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[Product Backlog -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기능적 요구사항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8874"/>
                  </a:ext>
                </a:extLst>
              </a:tr>
              <a:tr h="261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Story 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업무분류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Story Desc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Priority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#Sprint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b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I/F 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862025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쇼핑 리스트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 선택에 따른 하위 브랜드가 탭화면으로 조회되고 상품영역 클릭시 상세 페이지로 이동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CN_010_010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327185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상세 페이지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상품의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판매정보가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이용안내 상단에 조회되며 구매하기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선물하기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버튼클릭시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각 화면으로 이동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CN_020_010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651212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BSR-056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 약관 동의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처음 쇼핑을 이용해서 상품을 구매 할 때 한번 조회되며 동의 후 결제로 이동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CN_020_100P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893532"/>
                  </a:ext>
                </a:extLst>
              </a:tr>
              <a:tr h="553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BSR-077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PC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공연티켓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공연 상세 페이지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공연상품의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상세 정보가 순서대로 출력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알립니다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상세정보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판매정보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작품설명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출연진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할인정보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상품관련정보 순으로 클릭 시 앵커 적용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예매 사이트 링크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CN_030_010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114607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BSR-090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공연티켓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공연예매 약관 동의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 타이틀 및 해당 약관에 대한 안내가 출력되고 동의 후 결제로 이동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CN_030_040P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808394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 받는 이 정보 입력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 받는분 정보 입력 후 문제가 없으면 결제하기 페이지로 이동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447791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포인트로 결제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 클릭 시 포인트로 결제 완료 되며 결제 완료 페이지로 이동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04300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신용카드 결제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 방법 선택에 따라 결제대행 서비스 약관이 출력되고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 결제 페이지로 이동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CN_020_220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56687"/>
                  </a:ext>
                </a:extLst>
              </a:tr>
              <a:tr h="261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 완료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선물 모두 문자가 정상적으로 발송되었는지 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CN_020_240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504680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 PC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쇼핑쿠폰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 별 쇼핑 리스트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상단 브랜드별 탭을 클릭 했을 경우 하단 상품 영역 클릭한 브랜드 상품으로 소팅되어 출력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CN_010_010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355982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 비밀번호 찾기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입력시 편리제공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불편한 회원가입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찾기 등의 메뉴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CN_010_034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010029"/>
                  </a:ext>
                </a:extLst>
              </a:tr>
              <a:tr h="276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요건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원스탬프 기능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회원쿠폰 조회 기능 구현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CN_010_037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168632"/>
                  </a:ext>
                </a:extLst>
              </a:tr>
              <a:tr h="4148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BSR-187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나의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CJONE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리스트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종료된 이벤트에 한해 응모자 수가 목록에서 출력 되도록 제공</a:t>
                      </a:r>
                      <a:b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배치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구현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sprint #02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CN_010_039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19503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 rot="20700000">
            <a:off x="3269666" y="3505447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(Optional)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060157" y="1975989"/>
            <a:ext cx="817279" cy="4337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49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D806BDB-1D95-415E-B4A2-E7F2313FDF82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11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1160463"/>
            <a:ext cx="9906000" cy="5256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81000" y="1160463"/>
            <a:ext cx="9109075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730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 흐름도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99" y="1556792"/>
            <a:ext cx="8691471" cy="4960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 rot="20700000">
            <a:off x="3089647" y="3685468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(Optional)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5645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109398"/>
              </p:ext>
            </p:extLst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639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636951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 상세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-036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CN_020_010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상품 상세 화면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(Optional)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635048" y="1903413"/>
            <a:ext cx="1868743" cy="21602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상세 설계 내용 포함 하여 작성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6836" y="2038260"/>
            <a:ext cx="1818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ONE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콘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1382444" y="2312876"/>
            <a:ext cx="38945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콘에서 구매하시고 추가 적립 포인트를 받아보세요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5428132" y="2132856"/>
            <a:ext cx="1073040" cy="333371"/>
          </a:xfrm>
          <a:prstGeom prst="roundRect">
            <a:avLst>
              <a:gd name="adj" fmla="val 7115"/>
            </a:avLst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 구매내역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03765" y="2681467"/>
            <a:ext cx="2356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빕스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샐러드바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평일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49821" y="2671037"/>
            <a:ext cx="1528004" cy="15369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3" name="그림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75" y="2694959"/>
            <a:ext cx="1426382" cy="1454863"/>
          </a:xfrm>
          <a:prstGeom prst="rect">
            <a:avLst/>
          </a:prstGeom>
        </p:spPr>
      </p:pic>
      <p:sp>
        <p:nvSpPr>
          <p:cNvPr id="124" name="직사각형 123"/>
          <p:cNvSpPr/>
          <p:nvPr/>
        </p:nvSpPr>
        <p:spPr>
          <a:xfrm>
            <a:off x="3244981" y="4100954"/>
            <a:ext cx="1185849" cy="2850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선물하기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4774803" y="4100954"/>
            <a:ext cx="1185849" cy="28505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구매하기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2067283" y="3001911"/>
            <a:ext cx="3842212" cy="1073929"/>
            <a:chOff x="3775570" y="1367394"/>
            <a:chExt cx="3842212" cy="1073929"/>
          </a:xfrm>
        </p:grpSpPr>
        <p:sp>
          <p:nvSpPr>
            <p:cNvPr id="127" name="TextBox 126"/>
            <p:cNvSpPr txBox="1"/>
            <p:nvPr/>
          </p:nvSpPr>
          <p:spPr>
            <a:xfrm>
              <a:off x="3775570" y="1367394"/>
              <a:ext cx="81127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판매가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구매수량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총금액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endPara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8" name="그룹 127"/>
            <p:cNvGrpSpPr/>
            <p:nvPr/>
          </p:nvGrpSpPr>
          <p:grpSpPr>
            <a:xfrm>
              <a:off x="4750968" y="1787870"/>
              <a:ext cx="2502979" cy="253916"/>
              <a:chOff x="4750968" y="1877451"/>
              <a:chExt cx="2502979" cy="253916"/>
            </a:xfrm>
          </p:grpSpPr>
          <p:sp>
            <p:nvSpPr>
              <p:cNvPr id="134" name="TextBox 133"/>
              <p:cNvSpPr txBox="1"/>
              <p:nvPr/>
            </p:nvSpPr>
            <p:spPr>
              <a:xfrm>
                <a:off x="4750968" y="1877451"/>
                <a:ext cx="7617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b="1" dirty="0">
                    <a:solidFill>
                      <a:schemeClr val="accent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29,700</a:t>
                </a:r>
                <a:r>
                  <a:rPr lang="ko-KR" altLang="en-US" sz="1050" b="1" dirty="0">
                    <a:solidFill>
                      <a:schemeClr val="accent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원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5774055" y="1878135"/>
                <a:ext cx="1479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적립예상포인트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</a:t>
                </a:r>
                <a:r>
                  <a:rPr lang="en-US" altLang="ko-KR" sz="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2,970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 )</a:t>
                </a:r>
                <a:endPara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29" name="그룹 128"/>
            <p:cNvGrpSpPr/>
            <p:nvPr/>
          </p:nvGrpSpPr>
          <p:grpSpPr>
            <a:xfrm>
              <a:off x="4729597" y="1598534"/>
              <a:ext cx="866775" cy="200056"/>
              <a:chOff x="4705350" y="1909070"/>
              <a:chExt cx="866775" cy="170494"/>
            </a:xfrm>
          </p:grpSpPr>
          <p:sp>
            <p:nvSpPr>
              <p:cNvPr id="132" name="직사각형 131"/>
              <p:cNvSpPr/>
              <p:nvPr/>
            </p:nvSpPr>
            <p:spPr>
              <a:xfrm>
                <a:off x="4705350" y="1916989"/>
                <a:ext cx="866775" cy="1625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1</a:t>
                </a:r>
                <a:endPara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5160759" y="1909070"/>
                <a:ext cx="372218" cy="170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7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|  ▼</a:t>
                </a:r>
                <a:endParaRPr lang="ko-KR" altLang="en-US" sz="7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30" name="TextBox 129"/>
            <p:cNvSpPr txBox="1"/>
            <p:nvPr/>
          </p:nvSpPr>
          <p:spPr>
            <a:xfrm>
              <a:off x="4784460" y="1367394"/>
              <a:ext cx="8112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29,700</a:t>
              </a:r>
              <a:r>
                <a:rPr lang="ko-KR" altLang="en-US" sz="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784460" y="1989917"/>
              <a:ext cx="2833322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구입일로 </a:t>
              </a:r>
              <a:r>
                <a:rPr lang="ko-KR" altLang="en-US" sz="8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부터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93</a:t>
              </a:r>
              <a:r>
                <a:rPr lang="ko-KR" altLang="en-US" sz="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이내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ts val="14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지금 구매하시면</a:t>
              </a:r>
              <a:r>
                <a:rPr lang="ko-KR" altLang="en-US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2016</a:t>
              </a:r>
              <a:r>
                <a:rPr lang="ko-KR" altLang="en-US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</a:t>
              </a:r>
              <a:r>
                <a:rPr lang="en-US" altLang="ko-KR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</a:t>
              </a:r>
              <a:r>
                <a:rPr lang="ko-KR" altLang="en-US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14</a:t>
              </a:r>
              <a:r>
                <a:rPr lang="ko-KR" altLang="en-US" sz="800" dirty="0"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까지 사용가능</a:t>
              </a:r>
            </a:p>
          </p:txBody>
        </p:sp>
      </p:grpSp>
      <p:sp>
        <p:nvSpPr>
          <p:cNvPr id="139" name="타원 138"/>
          <p:cNvSpPr/>
          <p:nvPr/>
        </p:nvSpPr>
        <p:spPr>
          <a:xfrm>
            <a:off x="453262" y="273464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3887444" y="300015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3898985" y="323585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2877758" y="34700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4918726" y="327881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2908589" y="367502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타원 144"/>
          <p:cNvSpPr/>
          <p:nvPr/>
        </p:nvSpPr>
        <p:spPr>
          <a:xfrm>
            <a:off x="3027709" y="403799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타원 146"/>
          <p:cNvSpPr/>
          <p:nvPr/>
        </p:nvSpPr>
        <p:spPr>
          <a:xfrm>
            <a:off x="307440" y="509034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403568" y="505920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88930" y="5191541"/>
            <a:ext cx="5131533" cy="359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샐러드바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신선함이 가득한 샐러드바와 바삭한 치킨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피자와 파스타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프리미엄 디저트까지 함께 즐겨보세요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spcBef>
                <a:spcPts val="400"/>
              </a:spcBef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평일 런치 사용 불가합니다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03561" y="549487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90673" y="5657950"/>
            <a:ext cx="3288080" cy="72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전국 빕스 매장에서 사용 가능합니다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리뉴얼 중인 매장 사용불가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 전 제시해 주시기 바랍니다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명시된 상품에 한하여 교환이 가능합니다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- 1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이용 가능하며 평일디너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포함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 없이 사용 가능합니다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5076606" y="2746706"/>
            <a:ext cx="884046" cy="212694"/>
          </a:xfrm>
          <a:prstGeom prst="roundRect">
            <a:avLst>
              <a:gd name="adj" fmla="val 7115"/>
            </a:avLst>
          </a:prstGeom>
          <a:solidFill>
            <a:schemeClr val="bg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포인트 전용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7" name="타원 156"/>
          <p:cNvSpPr/>
          <p:nvPr/>
        </p:nvSpPr>
        <p:spPr>
          <a:xfrm>
            <a:off x="2486836" y="263691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486376" y="4549916"/>
            <a:ext cx="6169842" cy="5176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꼭 확인하세요</a:t>
            </a:r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484354" y="4722777"/>
            <a:ext cx="7053607" cy="37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적립예상포인트는 결제금액의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1%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적립됩니다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포인트 사용 제외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구매된 상품은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구매내역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확인 가능하며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선물하신 상품은 받으시는 분의 휴대전화로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MMS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문자가 발송됩니다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341813" y="6538913"/>
            <a:ext cx="1223962" cy="3190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- 4 -</a:t>
            </a:r>
          </a:p>
        </p:txBody>
      </p:sp>
      <p:graphicFrame>
        <p:nvGraphicFramePr>
          <p:cNvPr id="160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38964"/>
              </p:ext>
            </p:extLst>
          </p:nvPr>
        </p:nvGraphicFramePr>
        <p:xfrm>
          <a:off x="6766835" y="2341495"/>
          <a:ext cx="2728247" cy="4086628"/>
        </p:xfrm>
        <a:graphic>
          <a:graphicData uri="http://schemas.openxmlformats.org/drawingml/2006/table">
            <a:tbl>
              <a:tblPr/>
              <a:tblGrid>
                <a:gridCol w="17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상품명은 전체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길이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(XX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샐러드바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평일디너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주말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700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</a:t>
                      </a:r>
                      <a:r>
                        <a:rPr lang="ko-KR" altLang="en-US" sz="700" baseline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썸네일</a:t>
                      </a:r>
                      <a:r>
                        <a:rPr lang="ko-KR" altLang="en-US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사이즈 </a:t>
                      </a:r>
                      <a:r>
                        <a:rPr lang="en-US" altLang="ko-KR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700" baseline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AAxBB</a:t>
                      </a:r>
                      <a:r>
                        <a:rPr lang="en-US" altLang="ko-KR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포인트 상품일 경우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묶음상품일 경우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FLAG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판매가 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상품의 판매 가격 정보 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9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구매수량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모바일 최대 구매 개수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모바일과 동기화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키보드 입력 안됨</a:t>
                      </a:r>
                      <a:endParaRPr lang="en-US" altLang="ko-KR" sz="700" baseline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총 금액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폰트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강조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)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판매가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X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구매수량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=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총 금액 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포인트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전용 상품인 경우 원 표기를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P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로 표현함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적립 예상 포인트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금액의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1%)</a:t>
                      </a:r>
                      <a:endParaRPr lang="ko-KR" altLang="en-US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구매개수가 증가하면 적립 예상 포인트도 증가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유효기간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구매일자로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부터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유효기간 및 일자 표시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묶음상품인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경우 유효기간 </a:t>
                      </a:r>
                      <a:r>
                        <a:rPr lang="ko-KR" altLang="en-US" sz="7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미표기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로 확정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65104"/>
                  </a:ext>
                </a:extLst>
              </a:tr>
              <a:tr h="8072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선물하기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구매하기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로그인 체크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미 로그인 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로그인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알럿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호출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          –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로그인 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선물하기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구매하기 페이지로 이동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[Alert]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- [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확인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]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-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로그인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간편로그인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-GR05.07)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노출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- [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취소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] -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액션 없이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알럿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 소거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 상품 확인 방법 안내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선물한 상품 확인 방법 안내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상품의 이용안내 페이지 최상위 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정보 </a:t>
                      </a: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이용안내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7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쿠투몰 상품 상세 정보 노출</a:t>
                      </a:r>
                      <a:endParaRPr lang="en-US" altLang="ko-KR" sz="7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61" name="그룹 3"/>
          <p:cNvGrpSpPr>
            <a:grpSpLocks/>
          </p:cNvGrpSpPr>
          <p:nvPr/>
        </p:nvGrpSpPr>
        <p:grpSpPr bwMode="auto">
          <a:xfrm>
            <a:off x="4636211" y="4389173"/>
            <a:ext cx="1845699" cy="750176"/>
            <a:chOff x="4016579" y="4807620"/>
            <a:chExt cx="1736473" cy="673111"/>
          </a:xfrm>
        </p:grpSpPr>
        <p:grpSp>
          <p:nvGrpSpPr>
            <p:cNvPr id="162" name="Group 14"/>
            <p:cNvGrpSpPr>
              <a:grpSpLocks/>
            </p:cNvGrpSpPr>
            <p:nvPr/>
          </p:nvGrpSpPr>
          <p:grpSpPr bwMode="auto">
            <a:xfrm>
              <a:off x="4016579" y="4807620"/>
              <a:ext cx="1736473" cy="673111"/>
              <a:chOff x="1870312" y="4296823"/>
              <a:chExt cx="1735763" cy="673112"/>
            </a:xfrm>
          </p:grpSpPr>
          <p:pic>
            <p:nvPicPr>
              <p:cNvPr id="165" name="Picture 2" descr="Untitled-1.jp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0312" y="4311451"/>
                <a:ext cx="1735763" cy="6584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6" name="TextBox 165"/>
              <p:cNvSpPr txBox="1"/>
              <p:nvPr/>
            </p:nvSpPr>
            <p:spPr>
              <a:xfrm>
                <a:off x="1929446" y="4296823"/>
                <a:ext cx="401473" cy="215900"/>
              </a:xfrm>
              <a:prstGeom prst="rect">
                <a:avLst/>
              </a:prstGeom>
              <a:noFill/>
            </p:spPr>
            <p:txBody>
              <a:bodyPr wrap="none" lIns="0" rIns="0"/>
              <a:lstStyle/>
              <a:p>
                <a:pPr defTabSz="4572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sz="80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Malgun Gothic"/>
                  </a:rPr>
                  <a:t>Alert</a:t>
                </a:r>
              </a:p>
            </p:txBody>
          </p:sp>
        </p:grpSp>
        <p:sp>
          <p:nvSpPr>
            <p:cNvPr id="163" name="Rectangle 15"/>
            <p:cNvSpPr>
              <a:spLocks noChangeArrowheads="1"/>
            </p:cNvSpPr>
            <p:nvPr/>
          </p:nvSpPr>
          <p:spPr bwMode="auto">
            <a:xfrm>
              <a:off x="4278977" y="4935541"/>
              <a:ext cx="1350086" cy="314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lnSpc>
                  <a:spcPct val="120000"/>
                </a:lnSpc>
              </a:pPr>
              <a:r>
                <a:rPr kumimoji="0" lang="ko-KR" altLang="en-US" sz="7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로그인이</a:t>
              </a:r>
              <a:r>
                <a:rPr kumimoji="0" lang="ko-KR" altLang="en-US" sz="7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필요한 서비스입니다</a:t>
              </a:r>
              <a:r>
                <a:rPr kumimoji="0" lang="en-US" altLang="ko-KR" sz="7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algn="ctr" eaLnBrk="1" hangingPunct="1">
                <a:lnSpc>
                  <a:spcPct val="120000"/>
                </a:lnSpc>
              </a:pPr>
              <a:r>
                <a:rPr kumimoji="0" lang="ko-KR" altLang="en-US" sz="7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로그인하시겠습니까</a:t>
              </a:r>
              <a:r>
                <a:rPr kumimoji="0" lang="en-US" altLang="ko-KR" sz="7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  <p:sp>
          <p:nvSpPr>
            <p:cNvPr id="164" name="AutoShape 155"/>
            <p:cNvSpPr>
              <a:spLocks noChangeArrowheads="1"/>
            </p:cNvSpPr>
            <p:nvPr/>
          </p:nvSpPr>
          <p:spPr bwMode="auto">
            <a:xfrm>
              <a:off x="4391257" y="5241092"/>
              <a:ext cx="423862" cy="161925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>
              <a:solidFill>
                <a:srgbClr val="A6A6A6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kumimoji="0" lang="ko-KR" altLang="en-US" sz="7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</a:p>
          </p:txBody>
        </p:sp>
        <p:sp>
          <p:nvSpPr>
            <p:cNvPr id="173" name="AutoShape 155"/>
            <p:cNvSpPr>
              <a:spLocks noChangeArrowheads="1"/>
            </p:cNvSpPr>
            <p:nvPr/>
          </p:nvSpPr>
          <p:spPr bwMode="auto">
            <a:xfrm>
              <a:off x="4938786" y="5241092"/>
              <a:ext cx="423862" cy="161925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>
              <a:solidFill>
                <a:srgbClr val="A6A6A6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4572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kumimoji="0" lang="ko-KR" altLang="en-US" sz="7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취소</a:t>
              </a:r>
            </a:p>
          </p:txBody>
        </p:sp>
      </p:grpSp>
      <p:sp>
        <p:nvSpPr>
          <p:cNvPr id="146" name="타원 145"/>
          <p:cNvSpPr/>
          <p:nvPr/>
        </p:nvSpPr>
        <p:spPr>
          <a:xfrm>
            <a:off x="349120" y="444622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7864844" y="3403767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컬럼 속성</a:t>
            </a:r>
          </a:p>
        </p:txBody>
      </p:sp>
      <p:sp>
        <p:nvSpPr>
          <p:cNvPr id="183" name="직사각형 182"/>
          <p:cNvSpPr/>
          <p:nvPr/>
        </p:nvSpPr>
        <p:spPr>
          <a:xfrm>
            <a:off x="8721293" y="4722777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유효성 체크</a:t>
            </a:r>
          </a:p>
        </p:txBody>
      </p:sp>
      <p:sp>
        <p:nvSpPr>
          <p:cNvPr id="184" name="직사각형 183"/>
          <p:cNvSpPr/>
          <p:nvPr/>
        </p:nvSpPr>
        <p:spPr>
          <a:xfrm>
            <a:off x="6168823" y="5354049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경고 문구</a:t>
            </a:r>
          </a:p>
        </p:txBody>
      </p:sp>
      <p:sp>
        <p:nvSpPr>
          <p:cNvPr id="185" name="직사각형 184"/>
          <p:cNvSpPr/>
          <p:nvPr/>
        </p:nvSpPr>
        <p:spPr>
          <a:xfrm>
            <a:off x="8734669" y="5376028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</a:t>
            </a:r>
            <a:r>
              <a:rPr lang="en-US" altLang="ko-KR" sz="8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Link</a:t>
            </a:r>
            <a:endParaRPr lang="ko-KR" altLang="en-US" sz="8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8265368" y="6165304"/>
            <a:ext cx="1238676" cy="21602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외 필요사항 기재</a:t>
            </a:r>
          </a:p>
        </p:txBody>
      </p:sp>
      <p:sp>
        <p:nvSpPr>
          <p:cNvPr id="55" name="직사각형 54"/>
          <p:cNvSpPr/>
          <p:nvPr/>
        </p:nvSpPr>
        <p:spPr>
          <a:xfrm rot="20700000">
            <a:off x="3089647" y="3685468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(Optional)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6388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033225"/>
              </p:ext>
            </p:extLst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639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00179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선물하기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CN_025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선물하기 결제 정보 입력 화면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(Optional)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635048" y="1903413"/>
            <a:ext cx="1868743" cy="21602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0000FF"/>
                </a:solidFill>
              </a:rPr>
              <a:t>화면 상세 설계 내용 포함 하여 작성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28" y="2823056"/>
            <a:ext cx="1437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나눔바른고딕" panose="020B0603020101020101"/>
              </a:rPr>
              <a:t>결제 상품정보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631291"/>
              </p:ext>
            </p:extLst>
          </p:nvPr>
        </p:nvGraphicFramePr>
        <p:xfrm>
          <a:off x="455328" y="3100056"/>
          <a:ext cx="6153857" cy="859218"/>
        </p:xfrm>
        <a:graphic>
          <a:graphicData uri="http://schemas.openxmlformats.org/drawingml/2006/table">
            <a:tbl>
              <a:tblPr firstRow="1" bandRow="1"/>
              <a:tblGrid>
                <a:gridCol w="2005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9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상품명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판매가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구매개수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적립 예상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포인트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교환처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유효기간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8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29,700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원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5,940P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뚜레쥬르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구입일로 </a:t>
                      </a:r>
                      <a:r>
                        <a:rPr lang="en-US" altLang="ko-KR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93</a:t>
                      </a:r>
                      <a:r>
                        <a:rPr lang="ko-KR" altLang="en-US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이내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en-US" altLang="ko-KR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2016</a:t>
                      </a:r>
                      <a:r>
                        <a:rPr lang="ko-KR" altLang="en-US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년 </a:t>
                      </a:r>
                      <a:r>
                        <a:rPr lang="en-US" altLang="ko-KR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</a:t>
                      </a:r>
                      <a:r>
                        <a:rPr lang="ko-KR" altLang="en-US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월 </a:t>
                      </a:r>
                      <a:r>
                        <a:rPr lang="en-US" altLang="ko-KR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accent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까지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9" name="그림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4" y="3389915"/>
            <a:ext cx="417051" cy="531869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  <p:cxnSp>
        <p:nvCxnSpPr>
          <p:cNvPr id="50" name="직선 연결선 49"/>
          <p:cNvCxnSpPr/>
          <p:nvPr/>
        </p:nvCxnSpPr>
        <p:spPr>
          <a:xfrm>
            <a:off x="458806" y="4291258"/>
            <a:ext cx="6150379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4270233" y="3978874"/>
            <a:ext cx="1344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결제 금액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59346" y="3981256"/>
            <a:ext cx="15552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100" b="1" dirty="0">
                <a:solidFill>
                  <a:srgbClr val="ED7D3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59,400</a:t>
            </a:r>
            <a:r>
              <a:rPr kumimoji="0" lang="ko-KR" altLang="en-US" sz="1100" b="1" dirty="0">
                <a:solidFill>
                  <a:srgbClr val="ED7D3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2285" y="4309380"/>
            <a:ext cx="61468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구매된 상품은 ‘구매내역’에서 확인 가능하며</a:t>
            </a:r>
            <a:r>
              <a:rPr kumimoji="0"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 </a:t>
            </a:r>
            <a:r>
              <a:rPr kumimoji="0"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선물하신 상품은 받으시는 분의 휴대전화로 </a:t>
            </a:r>
            <a:r>
              <a:rPr kumimoji="0"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MMS </a:t>
            </a:r>
            <a:r>
              <a:rPr kumimoji="0"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문자가 발송됩니다</a:t>
            </a:r>
            <a:r>
              <a:rPr kumimoji="0"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1171" y="4621371"/>
            <a:ext cx="1802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dirty="0">
                <a:solidFill>
                  <a:prstClr val="black"/>
                </a:solidFill>
                <a:latin typeface="맑은 고딕" panose="020B0503020000020004" pitchFamily="50" charset="-127"/>
                <a:ea typeface="나눔바른고딕" panose="020B0603020101020101"/>
              </a:rPr>
              <a:t>선물 받는 분 정보</a:t>
            </a: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084196"/>
              </p:ext>
            </p:extLst>
          </p:nvPr>
        </p:nvGraphicFramePr>
        <p:xfrm>
          <a:off x="438578" y="4907369"/>
          <a:ext cx="6170605" cy="804289"/>
        </p:xfrm>
        <a:graphic>
          <a:graphicData uri="http://schemas.openxmlformats.org/drawingml/2006/table">
            <a:tbl>
              <a:tblPr firstRow="1" bandRow="1"/>
              <a:tblGrid>
                <a:gridCol w="2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5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3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휴대전화번호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선물 메시지</a:t>
                      </a:r>
                    </a:p>
                  </a:txBody>
                  <a:tcPr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9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직사각형 55"/>
          <p:cNvSpPr/>
          <p:nvPr/>
        </p:nvSpPr>
        <p:spPr>
          <a:xfrm>
            <a:off x="2688142" y="5221672"/>
            <a:ext cx="3865076" cy="38112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3606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694486" y="5330989"/>
            <a:ext cx="38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받는 분에게 메시지를 남겨보세요</a:t>
            </a:r>
            <a:r>
              <a:rPr kumimoji="0" lang="en-US" altLang="ko-KR" sz="700" dirty="0"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kumimoji="0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kumimoji="0" lang="en-US" altLang="ko-KR" sz="700" dirty="0"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100</a:t>
            </a:r>
            <a:r>
              <a:rPr kumimoji="0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자까지 입력 가능합니다</a:t>
            </a:r>
            <a:r>
              <a:rPr kumimoji="0" lang="en-US" altLang="ko-KR" sz="700" dirty="0"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45789" y="4937417"/>
            <a:ext cx="7074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srgbClr val="ED7D3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kumimoji="0"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/ 100 </a:t>
            </a:r>
            <a:r>
              <a:rPr kumimoji="0"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462285" y="5317492"/>
            <a:ext cx="2080257" cy="217501"/>
            <a:chOff x="388876" y="5412891"/>
            <a:chExt cx="2880633" cy="297915"/>
          </a:xfrm>
        </p:grpSpPr>
        <p:sp>
          <p:nvSpPr>
            <p:cNvPr id="60" name="직사각형 59"/>
            <p:cNvSpPr/>
            <p:nvPr/>
          </p:nvSpPr>
          <p:spPr>
            <a:xfrm>
              <a:off x="388876" y="5418976"/>
              <a:ext cx="855724" cy="2918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6069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선택   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| ▼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1391298" y="5415733"/>
              <a:ext cx="855724" cy="2918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6069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2413785" y="5412891"/>
              <a:ext cx="855724" cy="2918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6069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80225" y="5427722"/>
              <a:ext cx="2938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36069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193050" y="5427722"/>
              <a:ext cx="2938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136069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66" name="Button"/>
          <p:cNvSpPr/>
          <p:nvPr/>
        </p:nvSpPr>
        <p:spPr>
          <a:xfrm>
            <a:off x="1977363" y="5884651"/>
            <a:ext cx="1224000" cy="288000"/>
          </a:xfrm>
          <a:prstGeom prst="roundRect">
            <a:avLst>
              <a:gd name="adj" fmla="val 0"/>
            </a:avLst>
          </a:prstGeom>
          <a:solidFill>
            <a:sysClr val="window" lastClr="FFFFFF">
              <a:lumMod val="85000"/>
            </a:sysClr>
          </a:solidFill>
          <a:ln w="6350" cap="flat" cmpd="sng" algn="ctr">
            <a:solidFill>
              <a:srgbClr val="808080"/>
            </a:solidFill>
            <a:prstDash val="solid"/>
            <a:miter lim="800000"/>
          </a:ln>
          <a:effectLst/>
        </p:spPr>
        <p:txBody>
          <a:bodyPr rot="0" spcFirstLastPara="0" vert="horz" wrap="square" lIns="128016" tIns="91440" rIns="128016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Segoe UI" panose="020B0502040204020203" pitchFamily="34" charset="0"/>
              </a:rPr>
              <a:t>취소하기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Segoe UI" panose="020B0502040204020203" pitchFamily="34" charset="0"/>
            </a:endParaRPr>
          </a:p>
        </p:txBody>
      </p:sp>
      <p:sp>
        <p:nvSpPr>
          <p:cNvPr id="67" name="Button"/>
          <p:cNvSpPr/>
          <p:nvPr/>
        </p:nvSpPr>
        <p:spPr>
          <a:xfrm>
            <a:off x="3838812" y="5884651"/>
            <a:ext cx="1224000" cy="288000"/>
          </a:xfrm>
          <a:prstGeom prst="roundRect">
            <a:avLst>
              <a:gd name="adj" fmla="val 0"/>
            </a:avLst>
          </a:prstGeom>
          <a:solidFill>
            <a:srgbClr val="5B9BD5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ot="0" spcFirstLastPara="0" vert="horz" wrap="square" lIns="128016" tIns="91440" rIns="128016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Segoe UI" panose="020B0502040204020203" pitchFamily="34" charset="0"/>
              </a:rPr>
              <a:t>선물하기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Segoe UI" panose="020B0502040204020203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03985" y="3533630"/>
            <a:ext cx="15040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60696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빕스</a:t>
            </a:r>
            <a:r>
              <a:rPr kumimoji="0" lang="en-US" altLang="ko-KR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샐러드바 </a:t>
            </a:r>
            <a:r>
              <a:rPr kumimoji="0" lang="en-US" altLang="ko-KR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ko-KR" altLang="en-US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</a:t>
            </a:r>
            <a:r>
              <a:rPr kumimoji="0" lang="en-US" altLang="ko-KR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평일</a:t>
            </a:r>
            <a:r>
              <a:rPr kumimoji="0" lang="en-US" altLang="ko-KR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주말</a:t>
            </a:r>
            <a:r>
              <a:rPr kumimoji="0" lang="en-US" altLang="ko-KR" sz="7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ko-KR" altLang="en-US" sz="7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486836" y="2038260"/>
            <a:ext cx="1818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ONE </a:t>
            </a:r>
            <a:r>
              <a:rPr lang="ko-KR" altLang="en-US" sz="1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콘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1382444" y="2312876"/>
            <a:ext cx="38945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ONE 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콘에서 구매하시고 추가 적립 포인트를 받아보세요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!</a:t>
            </a:r>
          </a:p>
        </p:txBody>
      </p:sp>
      <p:sp>
        <p:nvSpPr>
          <p:cNvPr id="139" name="타원 138"/>
          <p:cNvSpPr/>
          <p:nvPr/>
        </p:nvSpPr>
        <p:spPr>
          <a:xfrm>
            <a:off x="3241178" y="351240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5612969" y="404638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425734" y="510770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2817022" y="52531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1880628" y="608733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4990882" y="606488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7" name="타원 156"/>
          <p:cNvSpPr/>
          <p:nvPr/>
        </p:nvSpPr>
        <p:spPr>
          <a:xfrm>
            <a:off x="348578" y="334966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1" name="슬라이드 번호 개체 틀 3"/>
          <p:cNvSpPr txBox="1">
            <a:spLocks/>
          </p:cNvSpPr>
          <p:nvPr/>
        </p:nvSpPr>
        <p:spPr bwMode="auto">
          <a:xfrm>
            <a:off x="4341813" y="6538913"/>
            <a:ext cx="12239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dirty="0"/>
              <a:t>- 5 -</a:t>
            </a:r>
          </a:p>
        </p:txBody>
      </p:sp>
      <p:sp>
        <p:nvSpPr>
          <p:cNvPr id="82" name="타원 81"/>
          <p:cNvSpPr/>
          <p:nvPr/>
        </p:nvSpPr>
        <p:spPr>
          <a:xfrm>
            <a:off x="4013040" y="354365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</a:t>
            </a:r>
            <a:endParaRPr lang="ko-KR" altLang="en-US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8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81777"/>
              </p:ext>
            </p:extLst>
          </p:nvPr>
        </p:nvGraphicFramePr>
        <p:xfrm>
          <a:off x="6766835" y="2341496"/>
          <a:ext cx="2728247" cy="4087765"/>
        </p:xfrm>
        <a:graphic>
          <a:graphicData uri="http://schemas.openxmlformats.org/drawingml/2006/table">
            <a:tbl>
              <a:tblPr/>
              <a:tblGrid>
                <a:gridCol w="17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3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선물할 상품이미지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선물 상품 상세 정보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구매 전 선택한 상품 정보 노출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총 결제 금액 노출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선불 받는 분 휴대폰 번호 입력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번호 입력 시 본인에게는 선물하기 불가능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선물하기 클릭 시 회원정보와 비교하여 알럿 처리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(7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 확인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번호 입력 정책은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GR 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회원가입 정책과 동일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4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선물 메시지 입력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최대 입력 글자는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 이상 입력 자체가 안됨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 input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에는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placeholder 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적용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취소하기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클릭 시 알럿 노출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[Alert]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결제가 취소되었습니다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.” 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상품 리스트로 이동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(SP.02.01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선물 상세 페이지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37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선물하기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번호 입력 확인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번호 문제 없을 경우 최종 결제 페이지로 이동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[Alert]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입력한 전화번호가 개인 정보와 동일 할 경우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본인에게 선물하기는 불가능 합니다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“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구매하기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”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통해 구매해 주세요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.” 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클릭 시 알럿 소거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입력한 휴대폰 번호가 회원 개인정보와 비교하여 동일한 경우 위 알럿 노출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65104"/>
                  </a:ext>
                </a:extLst>
              </a:tr>
              <a:tr h="376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적립예상 포인트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−"/>
                        <a:tabLst/>
                        <a:defRPr/>
                      </a:pP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포인트로만 결제되는 상품은 적립예상포인트 </a:t>
                      </a:r>
                      <a:r>
                        <a:rPr lang="en-US" altLang="ko-KR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lang="ko-KR" altLang="en-US" sz="7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으로 노출</a:t>
                      </a:r>
                      <a:endParaRPr lang="en-US" altLang="ko-KR" sz="7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9" name="직사각형 88"/>
          <p:cNvSpPr/>
          <p:nvPr/>
        </p:nvSpPr>
        <p:spPr>
          <a:xfrm>
            <a:off x="8892319" y="3476382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입력 조건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265368" y="6165304"/>
            <a:ext cx="1238676" cy="21602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0000FF"/>
                </a:solidFill>
              </a:rPr>
              <a:t>이 외 필요사항 기재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6292844" y="4413450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경고 문구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8734669" y="4691345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화면 </a:t>
            </a:r>
            <a:r>
              <a:rPr lang="en-US" altLang="ko-KR" sz="800" b="1" dirty="0">
                <a:solidFill>
                  <a:srgbClr val="FF0000"/>
                </a:solidFill>
              </a:rPr>
              <a:t>Link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rot="20700000">
            <a:off x="3089647" y="3685468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</a:rPr>
              <a:t>(Optional)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091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845580"/>
              </p:ext>
            </p:extLst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707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4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9BA6899-AC92-42AF-8CC5-9169E4623D5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" name="Rectangle 102"/>
          <p:cNvSpPr>
            <a:spLocks noChangeArrowheads="1"/>
          </p:cNvSpPr>
          <p:nvPr/>
        </p:nvSpPr>
        <p:spPr bwMode="auto">
          <a:xfrm>
            <a:off x="400050" y="26775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175481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선물하기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BSR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-041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CN_025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ONE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 선물하기 결제 정보 입력 화면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(Optional)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443788" y="2349500"/>
            <a:ext cx="2057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25475" indent="3175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0366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444625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9018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3590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8162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32734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endParaRPr lang="ko-KR" altLang="en-US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62933"/>
              </p:ext>
            </p:extLst>
          </p:nvPr>
        </p:nvGraphicFramePr>
        <p:xfrm>
          <a:off x="351507" y="2345470"/>
          <a:ext cx="7092282" cy="1290631"/>
        </p:xfrm>
        <a:graphic>
          <a:graphicData uri="http://schemas.openxmlformats.org/drawingml/2006/table">
            <a:tbl>
              <a:tblPr firstRow="1" firstCol="1" bandRow="1"/>
              <a:tblGrid>
                <a:gridCol w="1541153">
                  <a:extLst>
                    <a:ext uri="{9D8B030D-6E8A-4147-A177-3AD203B41FA5}">
                      <a16:colId xmlns:a16="http://schemas.microsoft.com/office/drawing/2014/main" val="3822676715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84736471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008771247"/>
                    </a:ext>
                  </a:extLst>
                </a:gridCol>
                <a:gridCol w="1117699">
                  <a:extLst>
                    <a:ext uri="{9D8B030D-6E8A-4147-A177-3AD203B41FA5}">
                      <a16:colId xmlns:a16="http://schemas.microsoft.com/office/drawing/2014/main" val="2064737533"/>
                    </a:ext>
                  </a:extLst>
                </a:gridCol>
                <a:gridCol w="2273190">
                  <a:extLst>
                    <a:ext uri="{9D8B030D-6E8A-4147-A177-3AD203B41FA5}">
                      <a16:colId xmlns:a16="http://schemas.microsoft.com/office/drawing/2014/main" val="344801149"/>
                    </a:ext>
                  </a:extLst>
                </a:gridCol>
              </a:tblGrid>
              <a:tr h="152695"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항목명</a:t>
                      </a: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영문명</a:t>
                      </a:r>
                      <a:endParaRPr lang="ko-KR" sz="1000" b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속성</a:t>
                      </a:r>
                      <a:r>
                        <a:rPr lang="en-US" sz="10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*</a:t>
                      </a:r>
                      <a:endParaRPr lang="ko-KR" sz="1000" b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000" b="1">
                          <a:effectLst/>
                          <a:latin typeface="바탕체" panose="02030609000101010101" pitchFamily="17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항목설명</a:t>
                      </a:r>
                      <a:endParaRPr lang="ko-KR" sz="1000" b="1">
                        <a:effectLst/>
                        <a:latin typeface="바탕체" panose="02030609000101010101" pitchFamily="17" charset="-127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52034"/>
                  </a:ext>
                </a:extLst>
              </a:tr>
              <a:tr h="152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0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필수여부</a:t>
                      </a: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0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규칙</a:t>
                      </a:r>
                      <a:r>
                        <a:rPr lang="en-US" sz="10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/Validation</a:t>
                      </a:r>
                      <a:endParaRPr lang="ko-KR" sz="1000" b="1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563849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조회시작일자</a:t>
                      </a: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cal_inqStrtYmd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Y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Format : YYYY-MM-DD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51448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조회종료일자</a:t>
                      </a: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cal_inqEndYmd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E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Y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Format : YYYY-MM-DD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936505"/>
                  </a:ext>
                </a:extLst>
              </a:tr>
              <a:tr h="311677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</a:t>
                      </a:r>
                      <a:r>
                        <a:rPr lang="ko-KR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일자</a:t>
                      </a:r>
                      <a:endParaRPr lang="ko-KR" sz="105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usflYmd</a:t>
                      </a:r>
                      <a:endParaRPr lang="ko-KR" sz="105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</a:t>
                      </a:r>
                      <a:endParaRPr lang="ko-KR" sz="105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1118" marR="211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83899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5131385" y="2118048"/>
            <a:ext cx="220124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</a:t>
            </a:r>
            <a:r>
              <a:rPr lang="ko-KR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속성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R:ReadOnly E:Editable, H:Hidden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31198" y="2118048"/>
            <a:ext cx="138852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항목별 조건 및 규칙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80492" y="4105525"/>
            <a:ext cx="64707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spcAft>
                <a:spcPts val="0"/>
              </a:spcAft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연관테이블</a:t>
            </a:r>
            <a:endParaRPr lang="ko-KR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spcAft>
                <a:spcPts val="0"/>
              </a:spcAft>
            </a:pPr>
            <a:r>
              <a:rPr lang="ko-KR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로그인 </a:t>
            </a:r>
            <a:r>
              <a:rPr lang="ko-KR" altLang="ko-KR" sz="10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과다접속</a:t>
            </a:r>
            <a:r>
              <a:rPr lang="ko-KR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 </a:t>
            </a:r>
            <a:r>
              <a:rPr lang="ko-KR" altLang="ko-KR" sz="10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캡챠여부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(IP</a:t>
            </a:r>
            <a:r>
              <a:rPr lang="ko-KR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기준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) </a:t>
            </a:r>
            <a:r>
              <a:rPr lang="ko-KR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체크</a:t>
            </a:r>
            <a:r>
              <a:rPr lang="en-US" altLang="ko-KR" sz="10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Verdana" panose="020B0604030504040204" pitchFamily="34" charset="0"/>
              </a:rPr>
              <a:t>PR_HP_LOGIN_TR_LOG</a:t>
            </a:r>
            <a:r>
              <a:rPr lang="en-US" altLang="ko-KR" sz="10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spcAft>
                <a:spcPts val="0"/>
              </a:spcAft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spcAft>
                <a:spcPts val="0"/>
              </a:spcAft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특이사항</a:t>
            </a:r>
          </a:p>
          <a:p>
            <a:pPr algn="just" latinLnBrk="1">
              <a:spcAft>
                <a:spcPts val="0"/>
              </a:spcAft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참여사</a:t>
            </a:r>
            <a:r>
              <a:rPr lang="ko-KR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로그인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 </a:t>
            </a:r>
            <a:r>
              <a:rPr lang="ko-KR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로그인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참여사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CGV</a:t>
            </a:r>
            <a:r>
              <a:rPr lang="ko-KR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일경우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63500" algn="just" latinLnBrk="1">
              <a:spcAft>
                <a:spcPts val="0"/>
              </a:spcAft>
            </a:pP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login.do?coopco_cd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=7010&amp;brnd_cd=1000&amp;mcht_no=1000&amp;coop_return_url=(</a:t>
            </a:r>
            <a:r>
              <a:rPr lang="ko-KR" altLang="ko-KR" sz="10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옵션주소</a:t>
            </a:r>
            <a:r>
              <a:rPr lang="en-US" altLang="ko-KR" sz="10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0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048957" y="3859093"/>
            <a:ext cx="4824536" cy="363657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로직</a:t>
            </a:r>
            <a:r>
              <a:rPr lang="en-US" altLang="ko-KR" sz="8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Batch, I/F </a:t>
            </a:r>
            <a:r>
              <a:rPr lang="ko-KR" altLang="en-US" sz="8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특이사항 있는 경우 작성</a:t>
            </a:r>
            <a:endParaRPr lang="en-US" altLang="ko-KR" sz="8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31198" y="3847326"/>
            <a:ext cx="8467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추가 정보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 rot="20700000">
            <a:off x="3089647" y="2714384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(Optional)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2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789839"/>
              </p:ext>
            </p:extLst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707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환불처리 문자전송 배치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O_CardDemndCnclSms_B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기능설명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카드청구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취소 대상을 조회하여 대상자에게 문자 발송처리 함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kumimoji="1" lang="ko-KR" altLang="en-US" sz="10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대상 조회 테이블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1)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torderdtl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주문번호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trepay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INAMT_NO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tinamt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조인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INAMT_NO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주문번호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PAM_METH_CD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= '50' 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2)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torderdtl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주문상세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취소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반품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주문번호 조건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torderdtl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조건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    취소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(20)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REPAY_PROG_CD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조건 없이 대상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select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한다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반품은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(30)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REPAY_PROG_CD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= '1,2, 3'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조건으로 대상 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select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한다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       AND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마켓팅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수신동의여부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= 'Y'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인 고객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3)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문자내용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공통코드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O2076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: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현금환불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1-2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일내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환불예정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영업일기준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환불금액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tinamt.PAM_AMT</a:t>
                      </a:r>
                      <a:endParaRPr kumimoji="1" lang="en-US" altLang="ko-KR" sz="10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4)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화일명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O_CashRepaySms_B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appvman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en-US" altLang="ko-KR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cashman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관련 테이블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주문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주문상세</a:t>
                      </a:r>
                      <a:r>
                        <a:rPr kumimoji="1" lang="en-US" altLang="ko-KR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결제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4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- </a:t>
            </a:r>
            <a:fld id="{F9BA6899-AC92-42AF-8CC5-9169E4623D50}" type="slidenum"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 -</a:t>
            </a:r>
          </a:p>
        </p:txBody>
      </p:sp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44123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환불처리 문자전송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P_CL_10_02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443788" y="2349500"/>
            <a:ext cx="2057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25475" indent="3175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0366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444625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9018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3590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8162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32734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502172" y="2167671"/>
            <a:ext cx="4824536" cy="363657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t>Batch, I/F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t>등 특이사항 있는 경우 작성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 rot="19800000">
            <a:off x="4795131" y="4549141"/>
            <a:ext cx="4587578" cy="55259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t>예시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/>
                <a:ea typeface="굴림"/>
                <a:cs typeface="+mn-cs"/>
              </a:rPr>
              <a:t>(Optional)</a:t>
            </a: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34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414"/>
          <p:cNvGraphicFramePr>
            <a:graphicFrameLocks noGrp="1"/>
          </p:cNvGraphicFramePr>
          <p:nvPr>
            <p:extLst/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639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4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/>
              <a:t>- </a:t>
            </a:r>
            <a:fld id="{F9BA6899-AC92-42AF-8CC5-9169E4623D50}" type="slidenum">
              <a:rPr lang="en-US" altLang="ko-KR"/>
              <a:pPr>
                <a:spcBef>
                  <a:spcPct val="0"/>
                </a:spcBef>
                <a:buFontTx/>
                <a:buNone/>
              </a:pPr>
              <a:t>16</a:t>
            </a:fld>
            <a:r>
              <a:rPr lang="en-US" altLang="ko-KR"/>
              <a:t> -</a:t>
            </a:r>
          </a:p>
        </p:txBody>
      </p:sp>
      <p:sp>
        <p:nvSpPr>
          <p:cNvPr id="7" name="Rectangle 102"/>
          <p:cNvSpPr>
            <a:spLocks noChangeArrowheads="1"/>
          </p:cNvSpPr>
          <p:nvPr/>
        </p:nvSpPr>
        <p:spPr bwMode="auto">
          <a:xfrm>
            <a:off x="400050" y="26775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246568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지원서 작성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인적사항 작성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(Optional)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371779" y="2349500"/>
            <a:ext cx="2057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625475" indent="3175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0366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444625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19018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3590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8162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3273425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ko-KR" altLang="en-US" kern="0" dirty="0"/>
              <a:t>특기사항 기술</a:t>
            </a:r>
            <a:endParaRPr lang="en-US" altLang="ko-KR" kern="0" dirty="0"/>
          </a:p>
        </p:txBody>
      </p:sp>
      <p:sp>
        <p:nvSpPr>
          <p:cNvPr id="64" name="슬라이드 번호 개체 틀 3"/>
          <p:cNvSpPr txBox="1">
            <a:spLocks/>
          </p:cNvSpPr>
          <p:nvPr/>
        </p:nvSpPr>
        <p:spPr bwMode="auto">
          <a:xfrm>
            <a:off x="4261347" y="6170954"/>
            <a:ext cx="1223962" cy="31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/>
              <a:t>- </a:t>
            </a:r>
            <a:fld id="{F9BA6899-AC92-42AF-8CC5-9169E4623D50}" type="slidenum">
              <a:rPr lang="en-US" altLang="ko-KR" smtClean="0"/>
              <a:pPr>
                <a:spcBef>
                  <a:spcPct val="0"/>
                </a:spcBef>
                <a:buFontTx/>
                <a:buNone/>
              </a:pPr>
              <a:t>16</a:t>
            </a:fld>
            <a:r>
              <a:rPr lang="en-US" altLang="ko-KR"/>
              <a:t> -</a:t>
            </a: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/>
          </p:nvPr>
        </p:nvGraphicFramePr>
        <p:xfrm>
          <a:off x="461071" y="2075167"/>
          <a:ext cx="6217294" cy="4288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4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1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국적</a:t>
                      </a:r>
                      <a:endParaRPr lang="en-US" sz="8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한국 </a:t>
                      </a: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한글이름 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김제일</a:t>
                      </a: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영문이름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rgbClr val="FF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Kim, </a:t>
                      </a:r>
                      <a:r>
                        <a:rPr lang="en-US" altLang="ko-KR" sz="800" dirty="0" err="1">
                          <a:solidFill>
                            <a:srgbClr val="FF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Cheil</a:t>
                      </a:r>
                      <a:endParaRPr lang="ko-KR" altLang="en-US" sz="800" dirty="0">
                        <a:solidFill>
                          <a:srgbClr val="FF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919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생년월일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*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성별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이메일주소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*</a:t>
                      </a:r>
                      <a:endParaRPr lang="en-US" sz="8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전화번호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053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휴대전화번호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*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1936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주소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*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2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추천인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4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테스트 지역 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*</a:t>
                      </a:r>
                      <a:endParaRPr lang="en-US" sz="8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107981" marR="0" marT="27440" marB="2744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990" marR="0" marT="27440" marB="2744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6" name="Rectangle 50"/>
          <p:cNvSpPr/>
          <p:nvPr/>
        </p:nvSpPr>
        <p:spPr>
          <a:xfrm>
            <a:off x="2623741" y="3656142"/>
            <a:ext cx="89535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anchor="ctr"/>
          <a:lstStyle/>
          <a:p>
            <a:pPr>
              <a:defRPr/>
            </a:pPr>
            <a:r>
              <a:rPr lang="en-US" sz="800" dirty="0" err="1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cjcjcj</a:t>
            </a:r>
            <a:endParaRPr lang="en-US" sz="800" dirty="0">
              <a:solidFill>
                <a:srgbClr val="FF00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67" name="직사각형 25"/>
          <p:cNvSpPr>
            <a:spLocks noChangeArrowheads="1"/>
          </p:cNvSpPr>
          <p:nvPr/>
        </p:nvSpPr>
        <p:spPr bwMode="auto">
          <a:xfrm>
            <a:off x="3548844" y="3681542"/>
            <a:ext cx="100012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358775" indent="-142875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ko-KR" sz="8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@</a:t>
            </a:r>
            <a:endParaRPr kumimoji="0" lang="ko-KR" altLang="en-US" sz="80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Rectangle 50"/>
          <p:cNvSpPr/>
          <p:nvPr/>
        </p:nvSpPr>
        <p:spPr>
          <a:xfrm>
            <a:off x="3706006" y="3656142"/>
            <a:ext cx="1116000" cy="1809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gmail.com</a:t>
            </a:r>
          </a:p>
        </p:txBody>
      </p:sp>
      <p:graphicFrame>
        <p:nvGraphicFramePr>
          <p:cNvPr id="69" name="Table 70"/>
          <p:cNvGraphicFramePr>
            <a:graphicFrameLocks noGrp="1"/>
          </p:cNvGraphicFramePr>
          <p:nvPr>
            <p:extLst/>
          </p:nvPr>
        </p:nvGraphicFramePr>
        <p:xfrm>
          <a:off x="1715691" y="3659317"/>
          <a:ext cx="844550" cy="17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dirty="0">
                          <a:solidFill>
                            <a:srgbClr val="FF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gmail.com</a:t>
                      </a:r>
                      <a:endParaRPr lang="en-US" sz="800" b="0" dirty="0">
                        <a:solidFill>
                          <a:srgbClr val="FF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36030" marR="0" marT="27590" marB="2759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Malgun Gothic"/>
                          <a:ea typeface="돋움" pitchFamily="50" charset="-127"/>
                          <a:cs typeface="Malgun Gothic"/>
                          <a:sym typeface="Webdings" pitchFamily="18" charset="2"/>
                        </a:rPr>
                        <a:t>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Rectangle 51"/>
          <p:cNvSpPr/>
          <p:nvPr/>
        </p:nvSpPr>
        <p:spPr>
          <a:xfrm>
            <a:off x="1706166" y="2880066"/>
            <a:ext cx="727075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anchor="ctr"/>
          <a:lstStyle/>
          <a:p>
            <a:pPr>
              <a:defRPr/>
            </a:pPr>
            <a:r>
              <a:rPr lang="en-US" altLang="ko-KR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1990.02.14</a:t>
            </a:r>
          </a:p>
        </p:txBody>
      </p:sp>
      <p:pic>
        <p:nvPicPr>
          <p:cNvPr id="71" name="Picture 1290" descr="달력보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156" y="2896431"/>
            <a:ext cx="128588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Rectangle 71"/>
          <p:cNvSpPr/>
          <p:nvPr/>
        </p:nvSpPr>
        <p:spPr>
          <a:xfrm>
            <a:off x="2383607" y="3930884"/>
            <a:ext cx="44450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9999</a:t>
            </a:r>
          </a:p>
        </p:txBody>
      </p:sp>
      <p:sp>
        <p:nvSpPr>
          <p:cNvPr id="73" name="TextBox 69"/>
          <p:cNvSpPr txBox="1">
            <a:spLocks noChangeArrowheads="1"/>
          </p:cNvSpPr>
          <p:nvPr/>
        </p:nvSpPr>
        <p:spPr bwMode="auto">
          <a:xfrm>
            <a:off x="2156594" y="3910414"/>
            <a:ext cx="227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</p:txBody>
      </p:sp>
      <p:sp>
        <p:nvSpPr>
          <p:cNvPr id="74" name="TextBox 69"/>
          <p:cNvSpPr txBox="1">
            <a:spLocks noChangeArrowheads="1"/>
          </p:cNvSpPr>
          <p:nvPr/>
        </p:nvSpPr>
        <p:spPr bwMode="auto">
          <a:xfrm>
            <a:off x="2165636" y="4321305"/>
            <a:ext cx="2270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</p:txBody>
      </p:sp>
      <p:sp>
        <p:nvSpPr>
          <p:cNvPr id="75" name="TextBox 34"/>
          <p:cNvSpPr txBox="1">
            <a:spLocks noChangeArrowheads="1"/>
          </p:cNvSpPr>
          <p:nvPr/>
        </p:nvSpPr>
        <p:spPr bwMode="auto">
          <a:xfrm>
            <a:off x="1772313" y="4172080"/>
            <a:ext cx="741362" cy="1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 </a:t>
            </a:r>
            <a:r>
              <a:rPr lang="ko-KR" altLang="en-US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국내 </a:t>
            </a:r>
            <a:r>
              <a:rPr lang="en-US" altLang="ko-KR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  </a:t>
            </a:r>
            <a:r>
              <a:rPr lang="ko-KR" altLang="en-US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해외</a:t>
            </a:r>
            <a:endParaRPr lang="en-US" altLang="ko-KR" sz="800">
              <a:solidFill>
                <a:srgbClr val="292929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 2" panose="05020102010507070707" pitchFamily="18" charset="2"/>
            </a:endParaRPr>
          </a:p>
        </p:txBody>
      </p:sp>
      <p:sp>
        <p:nvSpPr>
          <p:cNvPr id="76" name="Rectangle 35"/>
          <p:cNvSpPr/>
          <p:nvPr/>
        </p:nvSpPr>
        <p:spPr>
          <a:xfrm>
            <a:off x="1726804" y="4893531"/>
            <a:ext cx="576262" cy="177800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04560</a:t>
            </a:r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77" name="Rectangle 38"/>
          <p:cNvSpPr/>
          <p:nvPr/>
        </p:nvSpPr>
        <p:spPr>
          <a:xfrm>
            <a:off x="1726804" y="5083428"/>
            <a:ext cx="3668712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서울특별시 중구동호로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330 (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쌍림동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78" name="Rectangle 39"/>
          <p:cNvSpPr/>
          <p:nvPr/>
        </p:nvSpPr>
        <p:spPr>
          <a:xfrm>
            <a:off x="1726804" y="5286938"/>
            <a:ext cx="3668712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9F</a:t>
            </a:r>
          </a:p>
        </p:txBody>
      </p:sp>
      <p:sp>
        <p:nvSpPr>
          <p:cNvPr id="79" name="AutoShape 155"/>
          <p:cNvSpPr>
            <a:spLocks noChangeArrowheads="1"/>
          </p:cNvSpPr>
          <p:nvPr/>
        </p:nvSpPr>
        <p:spPr bwMode="auto">
          <a:xfrm>
            <a:off x="2501912" y="4877869"/>
            <a:ext cx="777875" cy="196850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우편번호 찾기</a:t>
            </a:r>
          </a:p>
        </p:txBody>
      </p:sp>
      <p:sp>
        <p:nvSpPr>
          <p:cNvPr id="80" name="직사각형 83"/>
          <p:cNvSpPr>
            <a:spLocks noChangeArrowheads="1"/>
          </p:cNvSpPr>
          <p:nvPr/>
        </p:nvSpPr>
        <p:spPr bwMode="auto">
          <a:xfrm>
            <a:off x="1726804" y="5499663"/>
            <a:ext cx="2317750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실제 거주지 주소가 입력되었는지 확인해주세요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1" name="Table 70"/>
          <p:cNvGraphicFramePr>
            <a:graphicFrameLocks noGrp="1"/>
          </p:cNvGraphicFramePr>
          <p:nvPr>
            <p:extLst/>
          </p:nvPr>
        </p:nvGraphicFramePr>
        <p:xfrm>
          <a:off x="1707754" y="5733256"/>
          <a:ext cx="844550" cy="17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선택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36030" marR="0" marT="27590" marB="2759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Malgun Gothic"/>
                          <a:ea typeface="돋움" pitchFamily="50" charset="-127"/>
                          <a:cs typeface="Malgun Gothic"/>
                          <a:sym typeface="Webdings" pitchFamily="18" charset="2"/>
                        </a:rPr>
                        <a:t>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" name="Rectangle 71"/>
          <p:cNvSpPr/>
          <p:nvPr/>
        </p:nvSpPr>
        <p:spPr>
          <a:xfrm>
            <a:off x="2607866" y="5733256"/>
            <a:ext cx="278765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graphicFrame>
        <p:nvGraphicFramePr>
          <p:cNvPr id="83" name="Table 70"/>
          <p:cNvGraphicFramePr>
            <a:graphicFrameLocks noGrp="1"/>
          </p:cNvGraphicFramePr>
          <p:nvPr>
            <p:extLst/>
          </p:nvPr>
        </p:nvGraphicFramePr>
        <p:xfrm>
          <a:off x="1707754" y="6167524"/>
          <a:ext cx="844550" cy="17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선택</a:t>
                      </a:r>
                      <a:endParaRPr 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L="36030" marR="0" marT="27590" marB="2759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latin typeface="Malgun Gothic"/>
                          <a:ea typeface="돋움" pitchFamily="50" charset="-127"/>
                          <a:cs typeface="Malgun Gothic"/>
                          <a:sym typeface="Webdings" pitchFamily="18" charset="2"/>
                        </a:rPr>
                        <a:t>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6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TextBox 40"/>
          <p:cNvSpPr txBox="1">
            <a:spLocks noChangeArrowheads="1"/>
          </p:cNvSpPr>
          <p:nvPr/>
        </p:nvSpPr>
        <p:spPr bwMode="auto">
          <a:xfrm>
            <a:off x="1706166" y="3052966"/>
            <a:ext cx="30130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t"/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신분증상 생년월일 기재필요 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주민등록증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운전면허증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여권 등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6" name="직사각형 83"/>
          <p:cNvSpPr>
            <a:spLocks noChangeArrowheads="1"/>
          </p:cNvSpPr>
          <p:nvPr/>
        </p:nvSpPr>
        <p:spPr bwMode="auto">
          <a:xfrm>
            <a:off x="1726804" y="5949280"/>
            <a:ext cx="1468437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추천인 이름을 입력해주세요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1714104" y="4749608"/>
            <a:ext cx="741362" cy="14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 </a:t>
            </a:r>
            <a:r>
              <a:rPr lang="ko-KR" altLang="en-US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국내 </a:t>
            </a:r>
            <a:r>
              <a:rPr lang="en-US" altLang="ko-KR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  </a:t>
            </a:r>
            <a:r>
              <a:rPr lang="ko-KR" altLang="en-US" sz="800">
                <a:solidFill>
                  <a:srgbClr val="2929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 2" panose="05020102010507070707" pitchFamily="18" charset="2"/>
              </a:rPr>
              <a:t>해외</a:t>
            </a:r>
            <a:endParaRPr lang="en-US" altLang="ko-KR" sz="800">
              <a:solidFill>
                <a:srgbClr val="292929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 2" panose="05020102010507070707" pitchFamily="18" charset="2"/>
            </a:endParaRPr>
          </a:p>
        </p:txBody>
      </p:sp>
      <p:sp>
        <p:nvSpPr>
          <p:cNvPr id="88" name="Rectangle 71"/>
          <p:cNvSpPr/>
          <p:nvPr/>
        </p:nvSpPr>
        <p:spPr>
          <a:xfrm>
            <a:off x="3059882" y="3930884"/>
            <a:ext cx="44450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9999</a:t>
            </a:r>
          </a:p>
        </p:txBody>
      </p:sp>
      <p:sp>
        <p:nvSpPr>
          <p:cNvPr id="89" name="TextBox 69"/>
          <p:cNvSpPr txBox="1">
            <a:spLocks noChangeArrowheads="1"/>
          </p:cNvSpPr>
          <p:nvPr/>
        </p:nvSpPr>
        <p:spPr bwMode="auto">
          <a:xfrm>
            <a:off x="2832869" y="3910414"/>
            <a:ext cx="227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</p:txBody>
      </p:sp>
      <p:sp>
        <p:nvSpPr>
          <p:cNvPr id="90" name="Rectangle 71"/>
          <p:cNvSpPr/>
          <p:nvPr/>
        </p:nvSpPr>
        <p:spPr>
          <a:xfrm>
            <a:off x="2375186" y="4338767"/>
            <a:ext cx="44450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9999</a:t>
            </a:r>
          </a:p>
        </p:txBody>
      </p:sp>
      <p:sp>
        <p:nvSpPr>
          <p:cNvPr id="91" name="Rectangle 71"/>
          <p:cNvSpPr/>
          <p:nvPr/>
        </p:nvSpPr>
        <p:spPr>
          <a:xfrm>
            <a:off x="3051461" y="4338767"/>
            <a:ext cx="44450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9999</a:t>
            </a:r>
          </a:p>
        </p:txBody>
      </p:sp>
      <p:sp>
        <p:nvSpPr>
          <p:cNvPr id="92" name="TextBox 69"/>
          <p:cNvSpPr txBox="1">
            <a:spLocks noChangeArrowheads="1"/>
          </p:cNvSpPr>
          <p:nvPr/>
        </p:nvSpPr>
        <p:spPr bwMode="auto">
          <a:xfrm>
            <a:off x="2824448" y="4321305"/>
            <a:ext cx="2270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</p:txBody>
      </p:sp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1706166" y="3197429"/>
            <a:ext cx="177006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t"/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>
                <a:latin typeface="맑은 고딕" panose="020B0503020000020004" pitchFamily="50" charset="-127"/>
                <a:ea typeface="맑은 고딕" panose="020B0503020000020004" pitchFamily="50" charset="-127"/>
              </a:rPr>
              <a:t>숫자만 입력해주세요</a:t>
            </a:r>
            <a:r>
              <a:rPr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  <a:t>. (YYYYMMDD)</a:t>
            </a:r>
          </a:p>
        </p:txBody>
      </p:sp>
      <p:sp>
        <p:nvSpPr>
          <p:cNvPr id="94" name="TextBox 10"/>
          <p:cNvSpPr txBox="1">
            <a:spLocks noChangeArrowheads="1"/>
          </p:cNvSpPr>
          <p:nvPr/>
        </p:nvSpPr>
        <p:spPr bwMode="auto">
          <a:xfrm>
            <a:off x="1949268" y="4554740"/>
            <a:ext cx="1671584" cy="14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ko-KR" altLang="en-US" sz="8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휴대전화번호 형식이 맞지 않습니다</a:t>
            </a:r>
            <a:r>
              <a:rPr lang="en-US" altLang="ko-KR" sz="800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5" name="Freeform 62"/>
          <p:cNvSpPr>
            <a:spLocks/>
          </p:cNvSpPr>
          <p:nvPr/>
        </p:nvSpPr>
        <p:spPr bwMode="auto">
          <a:xfrm>
            <a:off x="1709502" y="4545124"/>
            <a:ext cx="188913" cy="168275"/>
          </a:xfrm>
          <a:custGeom>
            <a:avLst/>
            <a:gdLst>
              <a:gd name="T0" fmla="*/ 153 w 20719"/>
              <a:gd name="T1" fmla="*/ 181 h 21232"/>
              <a:gd name="T2" fmla="*/ 127 w 20719"/>
              <a:gd name="T3" fmla="*/ 181 h 21232"/>
              <a:gd name="T4" fmla="*/ 127 w 20719"/>
              <a:gd name="T5" fmla="*/ 102 h 21232"/>
              <a:gd name="T6" fmla="*/ 153 w 20719"/>
              <a:gd name="T7" fmla="*/ 102 h 21232"/>
              <a:gd name="T8" fmla="*/ 153 w 20719"/>
              <a:gd name="T9" fmla="*/ 181 h 21232"/>
              <a:gd name="T10" fmla="*/ 153 w 20719"/>
              <a:gd name="T11" fmla="*/ 228 h 21232"/>
              <a:gd name="T12" fmla="*/ 127 w 20719"/>
              <a:gd name="T13" fmla="*/ 228 h 21232"/>
              <a:gd name="T14" fmla="*/ 127 w 20719"/>
              <a:gd name="T15" fmla="*/ 200 h 21232"/>
              <a:gd name="T16" fmla="*/ 153 w 20719"/>
              <a:gd name="T17" fmla="*/ 200 h 21232"/>
              <a:gd name="T18" fmla="*/ 153 w 20719"/>
              <a:gd name="T19" fmla="*/ 228 h 21232"/>
              <a:gd name="T20" fmla="*/ 276 w 20719"/>
              <a:gd name="T21" fmla="*/ 243 h 21232"/>
              <a:gd name="T22" fmla="*/ 235 w 20719"/>
              <a:gd name="T23" fmla="*/ 165 h 21232"/>
              <a:gd name="T24" fmla="*/ 199 w 20719"/>
              <a:gd name="T25" fmla="*/ 96 h 21232"/>
              <a:gd name="T26" fmla="*/ 158 w 20719"/>
              <a:gd name="T27" fmla="*/ 19 h 21232"/>
              <a:gd name="T28" fmla="*/ 122 w 20719"/>
              <a:gd name="T29" fmla="*/ 19 h 21232"/>
              <a:gd name="T30" fmla="*/ 81 w 20719"/>
              <a:gd name="T31" fmla="*/ 96 h 21232"/>
              <a:gd name="T32" fmla="*/ 45 w 20719"/>
              <a:gd name="T33" fmla="*/ 165 h 21232"/>
              <a:gd name="T34" fmla="*/ 4 w 20719"/>
              <a:gd name="T35" fmla="*/ 243 h 21232"/>
              <a:gd name="T36" fmla="*/ 24 w 20719"/>
              <a:gd name="T37" fmla="*/ 279 h 21232"/>
              <a:gd name="T38" fmla="*/ 101 w 20719"/>
              <a:gd name="T39" fmla="*/ 279 h 21232"/>
              <a:gd name="T40" fmla="*/ 179 w 20719"/>
              <a:gd name="T41" fmla="*/ 279 h 21232"/>
              <a:gd name="T42" fmla="*/ 256 w 20719"/>
              <a:gd name="T43" fmla="*/ 279 h 21232"/>
              <a:gd name="T44" fmla="*/ 276 w 20719"/>
              <a:gd name="T45" fmla="*/ 243 h 2123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719" h="21232">
                <a:moveTo>
                  <a:pt x="11344" y="13629"/>
                </a:moveTo>
                <a:lnTo>
                  <a:pt x="9374" y="13629"/>
                </a:lnTo>
                <a:lnTo>
                  <a:pt x="9374" y="7548"/>
                </a:lnTo>
                <a:lnTo>
                  <a:pt x="11344" y="7548"/>
                </a:lnTo>
                <a:lnTo>
                  <a:pt x="11344" y="13629"/>
                </a:lnTo>
                <a:close/>
                <a:moveTo>
                  <a:pt x="11344" y="17267"/>
                </a:moveTo>
                <a:lnTo>
                  <a:pt x="9374" y="17267"/>
                </a:lnTo>
                <a:lnTo>
                  <a:pt x="9374" y="15149"/>
                </a:lnTo>
                <a:lnTo>
                  <a:pt x="11344" y="15149"/>
                </a:lnTo>
                <a:lnTo>
                  <a:pt x="11344" y="17267"/>
                </a:lnTo>
                <a:close/>
                <a:moveTo>
                  <a:pt x="20416" y="18445"/>
                </a:moveTo>
                <a:lnTo>
                  <a:pt x="17415" y="12396"/>
                </a:lnTo>
                <a:cubicBezTo>
                  <a:pt x="16672" y="10923"/>
                  <a:pt x="15455" y="8515"/>
                  <a:pt x="14712" y="7043"/>
                </a:cubicBezTo>
                <a:lnTo>
                  <a:pt x="11711" y="1105"/>
                </a:lnTo>
                <a:cubicBezTo>
                  <a:pt x="10968" y="-368"/>
                  <a:pt x="9750" y="-368"/>
                  <a:pt x="9007" y="1105"/>
                </a:cubicBezTo>
                <a:lnTo>
                  <a:pt x="6008" y="7071"/>
                </a:lnTo>
                <a:cubicBezTo>
                  <a:pt x="5263" y="8544"/>
                  <a:pt x="4047" y="10981"/>
                  <a:pt x="3303" y="12451"/>
                </a:cubicBezTo>
                <a:lnTo>
                  <a:pt x="302" y="18447"/>
                </a:lnTo>
                <a:cubicBezTo>
                  <a:pt x="-441" y="19922"/>
                  <a:pt x="234" y="21232"/>
                  <a:pt x="1802" y="21232"/>
                </a:cubicBezTo>
                <a:lnTo>
                  <a:pt x="7507" y="21232"/>
                </a:lnTo>
                <a:lnTo>
                  <a:pt x="13211" y="21232"/>
                </a:lnTo>
                <a:lnTo>
                  <a:pt x="18916" y="21232"/>
                </a:lnTo>
                <a:cubicBezTo>
                  <a:pt x="20484" y="21230"/>
                  <a:pt x="21159" y="19920"/>
                  <a:pt x="20416" y="18445"/>
                </a:cubicBezTo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2700" dist="25399" dir="5400000" algn="ctr" rotWithShape="0">
              <a:srgbClr val="FFFFFF">
                <a:alpha val="74997"/>
              </a:srgb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96" name="Rectangle 71"/>
          <p:cNvSpPr/>
          <p:nvPr/>
        </p:nvSpPr>
        <p:spPr>
          <a:xfrm>
            <a:off x="1748607" y="3934059"/>
            <a:ext cx="44450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02</a:t>
            </a:r>
          </a:p>
        </p:txBody>
      </p:sp>
      <p:sp>
        <p:nvSpPr>
          <p:cNvPr id="97" name="Rectangle 71"/>
          <p:cNvSpPr/>
          <p:nvPr/>
        </p:nvSpPr>
        <p:spPr>
          <a:xfrm>
            <a:off x="1740186" y="4341942"/>
            <a:ext cx="444500" cy="180975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>
              <a:defRPr/>
            </a:pPr>
            <a:r>
              <a:rPr lang="en-US" sz="800" dirty="0">
                <a:solidFill>
                  <a:srgbClr val="FF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010</a:t>
            </a:r>
          </a:p>
        </p:txBody>
      </p:sp>
      <p:sp>
        <p:nvSpPr>
          <p:cNvPr id="98" name="TextBox 10"/>
          <p:cNvSpPr txBox="1">
            <a:spLocks noChangeArrowheads="1"/>
          </p:cNvSpPr>
          <p:nvPr/>
        </p:nvSpPr>
        <p:spPr bwMode="auto">
          <a:xfrm>
            <a:off x="5199784" y="3083129"/>
            <a:ext cx="1466824" cy="14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ko-KR" altLang="en-US" sz="80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생년월일 형식이 맞지 않습니다</a:t>
            </a:r>
            <a:r>
              <a:rPr lang="en-US" altLang="ko-KR" sz="80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9" name="Freeform 62"/>
          <p:cNvSpPr>
            <a:spLocks/>
          </p:cNvSpPr>
          <p:nvPr/>
        </p:nvSpPr>
        <p:spPr bwMode="auto">
          <a:xfrm>
            <a:off x="4960046" y="3073604"/>
            <a:ext cx="188912" cy="166687"/>
          </a:xfrm>
          <a:custGeom>
            <a:avLst/>
            <a:gdLst>
              <a:gd name="T0" fmla="*/ 153 w 20719"/>
              <a:gd name="T1" fmla="*/ 181 h 21232"/>
              <a:gd name="T2" fmla="*/ 127 w 20719"/>
              <a:gd name="T3" fmla="*/ 181 h 21232"/>
              <a:gd name="T4" fmla="*/ 127 w 20719"/>
              <a:gd name="T5" fmla="*/ 102 h 21232"/>
              <a:gd name="T6" fmla="*/ 153 w 20719"/>
              <a:gd name="T7" fmla="*/ 102 h 21232"/>
              <a:gd name="T8" fmla="*/ 153 w 20719"/>
              <a:gd name="T9" fmla="*/ 181 h 21232"/>
              <a:gd name="T10" fmla="*/ 153 w 20719"/>
              <a:gd name="T11" fmla="*/ 228 h 21232"/>
              <a:gd name="T12" fmla="*/ 127 w 20719"/>
              <a:gd name="T13" fmla="*/ 228 h 21232"/>
              <a:gd name="T14" fmla="*/ 127 w 20719"/>
              <a:gd name="T15" fmla="*/ 200 h 21232"/>
              <a:gd name="T16" fmla="*/ 153 w 20719"/>
              <a:gd name="T17" fmla="*/ 200 h 21232"/>
              <a:gd name="T18" fmla="*/ 153 w 20719"/>
              <a:gd name="T19" fmla="*/ 228 h 21232"/>
              <a:gd name="T20" fmla="*/ 276 w 20719"/>
              <a:gd name="T21" fmla="*/ 243 h 21232"/>
              <a:gd name="T22" fmla="*/ 235 w 20719"/>
              <a:gd name="T23" fmla="*/ 165 h 21232"/>
              <a:gd name="T24" fmla="*/ 199 w 20719"/>
              <a:gd name="T25" fmla="*/ 96 h 21232"/>
              <a:gd name="T26" fmla="*/ 158 w 20719"/>
              <a:gd name="T27" fmla="*/ 19 h 21232"/>
              <a:gd name="T28" fmla="*/ 122 w 20719"/>
              <a:gd name="T29" fmla="*/ 19 h 21232"/>
              <a:gd name="T30" fmla="*/ 81 w 20719"/>
              <a:gd name="T31" fmla="*/ 96 h 21232"/>
              <a:gd name="T32" fmla="*/ 45 w 20719"/>
              <a:gd name="T33" fmla="*/ 165 h 21232"/>
              <a:gd name="T34" fmla="*/ 4 w 20719"/>
              <a:gd name="T35" fmla="*/ 243 h 21232"/>
              <a:gd name="T36" fmla="*/ 24 w 20719"/>
              <a:gd name="T37" fmla="*/ 279 h 21232"/>
              <a:gd name="T38" fmla="*/ 101 w 20719"/>
              <a:gd name="T39" fmla="*/ 279 h 21232"/>
              <a:gd name="T40" fmla="*/ 179 w 20719"/>
              <a:gd name="T41" fmla="*/ 279 h 21232"/>
              <a:gd name="T42" fmla="*/ 256 w 20719"/>
              <a:gd name="T43" fmla="*/ 279 h 21232"/>
              <a:gd name="T44" fmla="*/ 276 w 20719"/>
              <a:gd name="T45" fmla="*/ 243 h 2123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719" h="21232">
                <a:moveTo>
                  <a:pt x="11344" y="13629"/>
                </a:moveTo>
                <a:lnTo>
                  <a:pt x="9374" y="13629"/>
                </a:lnTo>
                <a:lnTo>
                  <a:pt x="9374" y="7548"/>
                </a:lnTo>
                <a:lnTo>
                  <a:pt x="11344" y="7548"/>
                </a:lnTo>
                <a:lnTo>
                  <a:pt x="11344" y="13629"/>
                </a:lnTo>
                <a:close/>
                <a:moveTo>
                  <a:pt x="11344" y="17267"/>
                </a:moveTo>
                <a:lnTo>
                  <a:pt x="9374" y="17267"/>
                </a:lnTo>
                <a:lnTo>
                  <a:pt x="9374" y="15149"/>
                </a:lnTo>
                <a:lnTo>
                  <a:pt x="11344" y="15149"/>
                </a:lnTo>
                <a:lnTo>
                  <a:pt x="11344" y="17267"/>
                </a:lnTo>
                <a:close/>
                <a:moveTo>
                  <a:pt x="20416" y="18445"/>
                </a:moveTo>
                <a:lnTo>
                  <a:pt x="17415" y="12396"/>
                </a:lnTo>
                <a:cubicBezTo>
                  <a:pt x="16672" y="10923"/>
                  <a:pt x="15455" y="8515"/>
                  <a:pt x="14712" y="7043"/>
                </a:cubicBezTo>
                <a:lnTo>
                  <a:pt x="11711" y="1105"/>
                </a:lnTo>
                <a:cubicBezTo>
                  <a:pt x="10968" y="-368"/>
                  <a:pt x="9750" y="-368"/>
                  <a:pt x="9007" y="1105"/>
                </a:cubicBezTo>
                <a:lnTo>
                  <a:pt x="6008" y="7071"/>
                </a:lnTo>
                <a:cubicBezTo>
                  <a:pt x="5263" y="8544"/>
                  <a:pt x="4047" y="10981"/>
                  <a:pt x="3303" y="12451"/>
                </a:cubicBezTo>
                <a:lnTo>
                  <a:pt x="302" y="18447"/>
                </a:lnTo>
                <a:cubicBezTo>
                  <a:pt x="-441" y="19922"/>
                  <a:pt x="234" y="21232"/>
                  <a:pt x="1802" y="21232"/>
                </a:cubicBezTo>
                <a:lnTo>
                  <a:pt x="7507" y="21232"/>
                </a:lnTo>
                <a:lnTo>
                  <a:pt x="13211" y="21232"/>
                </a:lnTo>
                <a:lnTo>
                  <a:pt x="18916" y="21232"/>
                </a:lnTo>
                <a:cubicBezTo>
                  <a:pt x="20484" y="21230"/>
                  <a:pt x="21159" y="19920"/>
                  <a:pt x="20416" y="18445"/>
                </a:cubicBezTo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2700" dist="25399" dir="5400000" algn="ctr" rotWithShape="0">
              <a:srgbClr val="FFFFFF">
                <a:alpha val="74997"/>
              </a:srgb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00" name="Oval 410"/>
          <p:cNvSpPr>
            <a:spLocks noChangeArrowheads="1"/>
          </p:cNvSpPr>
          <p:nvPr/>
        </p:nvSpPr>
        <p:spPr bwMode="auto">
          <a:xfrm>
            <a:off x="1580741" y="2057659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01" name="Oval 410"/>
          <p:cNvSpPr>
            <a:spLocks noChangeArrowheads="1"/>
          </p:cNvSpPr>
          <p:nvPr/>
        </p:nvSpPr>
        <p:spPr bwMode="auto">
          <a:xfrm>
            <a:off x="392808" y="2982608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02" name="Oval 410"/>
          <p:cNvSpPr>
            <a:spLocks noChangeArrowheads="1"/>
          </p:cNvSpPr>
          <p:nvPr/>
        </p:nvSpPr>
        <p:spPr bwMode="auto">
          <a:xfrm>
            <a:off x="1558528" y="2850124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2A</a:t>
            </a:r>
          </a:p>
        </p:txBody>
      </p:sp>
      <p:sp>
        <p:nvSpPr>
          <p:cNvPr id="103" name="Oval 410"/>
          <p:cNvSpPr>
            <a:spLocks noChangeArrowheads="1"/>
          </p:cNvSpPr>
          <p:nvPr/>
        </p:nvSpPr>
        <p:spPr bwMode="auto">
          <a:xfrm>
            <a:off x="2370424" y="2814208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2B</a:t>
            </a:r>
          </a:p>
        </p:txBody>
      </p:sp>
      <p:sp>
        <p:nvSpPr>
          <p:cNvPr id="104" name="Oval 410"/>
          <p:cNvSpPr>
            <a:spLocks noChangeArrowheads="1"/>
          </p:cNvSpPr>
          <p:nvPr/>
        </p:nvSpPr>
        <p:spPr bwMode="auto">
          <a:xfrm>
            <a:off x="4944171" y="2837066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2C</a:t>
            </a:r>
          </a:p>
        </p:txBody>
      </p:sp>
      <p:sp>
        <p:nvSpPr>
          <p:cNvPr id="105" name="TextBox 10"/>
          <p:cNvSpPr txBox="1">
            <a:spLocks noChangeArrowheads="1"/>
          </p:cNvSpPr>
          <p:nvPr/>
        </p:nvSpPr>
        <p:spPr bwMode="auto">
          <a:xfrm>
            <a:off x="5196598" y="3687892"/>
            <a:ext cx="1363648" cy="133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ko-KR" altLang="en-US" sz="80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 형식이 맞지 않습니다</a:t>
            </a:r>
            <a:r>
              <a:rPr lang="en-US" altLang="ko-KR" sz="80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6" name="Freeform 62"/>
          <p:cNvSpPr>
            <a:spLocks/>
          </p:cNvSpPr>
          <p:nvPr/>
        </p:nvSpPr>
        <p:spPr bwMode="auto">
          <a:xfrm>
            <a:off x="4956871" y="3678367"/>
            <a:ext cx="188912" cy="166688"/>
          </a:xfrm>
          <a:custGeom>
            <a:avLst/>
            <a:gdLst>
              <a:gd name="T0" fmla="*/ 153 w 20719"/>
              <a:gd name="T1" fmla="*/ 181 h 21232"/>
              <a:gd name="T2" fmla="*/ 127 w 20719"/>
              <a:gd name="T3" fmla="*/ 181 h 21232"/>
              <a:gd name="T4" fmla="*/ 127 w 20719"/>
              <a:gd name="T5" fmla="*/ 102 h 21232"/>
              <a:gd name="T6" fmla="*/ 153 w 20719"/>
              <a:gd name="T7" fmla="*/ 102 h 21232"/>
              <a:gd name="T8" fmla="*/ 153 w 20719"/>
              <a:gd name="T9" fmla="*/ 181 h 21232"/>
              <a:gd name="T10" fmla="*/ 153 w 20719"/>
              <a:gd name="T11" fmla="*/ 228 h 21232"/>
              <a:gd name="T12" fmla="*/ 127 w 20719"/>
              <a:gd name="T13" fmla="*/ 228 h 21232"/>
              <a:gd name="T14" fmla="*/ 127 w 20719"/>
              <a:gd name="T15" fmla="*/ 200 h 21232"/>
              <a:gd name="T16" fmla="*/ 153 w 20719"/>
              <a:gd name="T17" fmla="*/ 200 h 21232"/>
              <a:gd name="T18" fmla="*/ 153 w 20719"/>
              <a:gd name="T19" fmla="*/ 228 h 21232"/>
              <a:gd name="T20" fmla="*/ 276 w 20719"/>
              <a:gd name="T21" fmla="*/ 243 h 21232"/>
              <a:gd name="T22" fmla="*/ 235 w 20719"/>
              <a:gd name="T23" fmla="*/ 165 h 21232"/>
              <a:gd name="T24" fmla="*/ 199 w 20719"/>
              <a:gd name="T25" fmla="*/ 96 h 21232"/>
              <a:gd name="T26" fmla="*/ 158 w 20719"/>
              <a:gd name="T27" fmla="*/ 19 h 21232"/>
              <a:gd name="T28" fmla="*/ 122 w 20719"/>
              <a:gd name="T29" fmla="*/ 19 h 21232"/>
              <a:gd name="T30" fmla="*/ 81 w 20719"/>
              <a:gd name="T31" fmla="*/ 96 h 21232"/>
              <a:gd name="T32" fmla="*/ 45 w 20719"/>
              <a:gd name="T33" fmla="*/ 165 h 21232"/>
              <a:gd name="T34" fmla="*/ 4 w 20719"/>
              <a:gd name="T35" fmla="*/ 243 h 21232"/>
              <a:gd name="T36" fmla="*/ 24 w 20719"/>
              <a:gd name="T37" fmla="*/ 279 h 21232"/>
              <a:gd name="T38" fmla="*/ 101 w 20719"/>
              <a:gd name="T39" fmla="*/ 279 h 21232"/>
              <a:gd name="T40" fmla="*/ 179 w 20719"/>
              <a:gd name="T41" fmla="*/ 279 h 21232"/>
              <a:gd name="T42" fmla="*/ 256 w 20719"/>
              <a:gd name="T43" fmla="*/ 279 h 21232"/>
              <a:gd name="T44" fmla="*/ 276 w 20719"/>
              <a:gd name="T45" fmla="*/ 243 h 2123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719" h="21232">
                <a:moveTo>
                  <a:pt x="11344" y="13629"/>
                </a:moveTo>
                <a:lnTo>
                  <a:pt x="9374" y="13629"/>
                </a:lnTo>
                <a:lnTo>
                  <a:pt x="9374" y="7548"/>
                </a:lnTo>
                <a:lnTo>
                  <a:pt x="11344" y="7548"/>
                </a:lnTo>
                <a:lnTo>
                  <a:pt x="11344" y="13629"/>
                </a:lnTo>
                <a:close/>
                <a:moveTo>
                  <a:pt x="11344" y="17267"/>
                </a:moveTo>
                <a:lnTo>
                  <a:pt x="9374" y="17267"/>
                </a:lnTo>
                <a:lnTo>
                  <a:pt x="9374" y="15149"/>
                </a:lnTo>
                <a:lnTo>
                  <a:pt x="11344" y="15149"/>
                </a:lnTo>
                <a:lnTo>
                  <a:pt x="11344" y="17267"/>
                </a:lnTo>
                <a:close/>
                <a:moveTo>
                  <a:pt x="20416" y="18445"/>
                </a:moveTo>
                <a:lnTo>
                  <a:pt x="17415" y="12396"/>
                </a:lnTo>
                <a:cubicBezTo>
                  <a:pt x="16672" y="10923"/>
                  <a:pt x="15455" y="8515"/>
                  <a:pt x="14712" y="7043"/>
                </a:cubicBezTo>
                <a:lnTo>
                  <a:pt x="11711" y="1105"/>
                </a:lnTo>
                <a:cubicBezTo>
                  <a:pt x="10968" y="-368"/>
                  <a:pt x="9750" y="-368"/>
                  <a:pt x="9007" y="1105"/>
                </a:cubicBezTo>
                <a:lnTo>
                  <a:pt x="6008" y="7071"/>
                </a:lnTo>
                <a:cubicBezTo>
                  <a:pt x="5263" y="8544"/>
                  <a:pt x="4047" y="10981"/>
                  <a:pt x="3303" y="12451"/>
                </a:cubicBezTo>
                <a:lnTo>
                  <a:pt x="302" y="18447"/>
                </a:lnTo>
                <a:cubicBezTo>
                  <a:pt x="-441" y="19922"/>
                  <a:pt x="234" y="21232"/>
                  <a:pt x="1802" y="21232"/>
                </a:cubicBezTo>
                <a:lnTo>
                  <a:pt x="7507" y="21232"/>
                </a:lnTo>
                <a:lnTo>
                  <a:pt x="13211" y="21232"/>
                </a:lnTo>
                <a:lnTo>
                  <a:pt x="18916" y="21232"/>
                </a:lnTo>
                <a:cubicBezTo>
                  <a:pt x="20484" y="21230"/>
                  <a:pt x="21159" y="19920"/>
                  <a:pt x="20416" y="18445"/>
                </a:cubicBezTo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2700" dist="25399" dir="5400000" algn="ctr" rotWithShape="0">
              <a:srgbClr val="FFFFFF">
                <a:alpha val="74997"/>
              </a:srgbClr>
            </a:outerShdw>
          </a:effectLst>
        </p:spPr>
        <p:txBody>
          <a:bodyPr lIns="0" tIns="0" rIns="0" bIns="0"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07" name="Oval 410"/>
          <p:cNvSpPr>
            <a:spLocks noChangeArrowheads="1"/>
          </p:cNvSpPr>
          <p:nvPr/>
        </p:nvSpPr>
        <p:spPr bwMode="auto">
          <a:xfrm>
            <a:off x="392808" y="3562004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08" name="Oval 410"/>
          <p:cNvSpPr>
            <a:spLocks noChangeArrowheads="1"/>
          </p:cNvSpPr>
          <p:nvPr/>
        </p:nvSpPr>
        <p:spPr bwMode="auto">
          <a:xfrm>
            <a:off x="1568624" y="3570417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3A</a:t>
            </a:r>
          </a:p>
        </p:txBody>
      </p:sp>
      <p:sp>
        <p:nvSpPr>
          <p:cNvPr id="109" name="Oval 410"/>
          <p:cNvSpPr>
            <a:spLocks noChangeArrowheads="1"/>
          </p:cNvSpPr>
          <p:nvPr/>
        </p:nvSpPr>
        <p:spPr bwMode="auto">
          <a:xfrm>
            <a:off x="2504728" y="3560892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3B</a:t>
            </a:r>
          </a:p>
        </p:txBody>
      </p:sp>
      <p:sp>
        <p:nvSpPr>
          <p:cNvPr id="110" name="Oval 410"/>
          <p:cNvSpPr>
            <a:spLocks noChangeArrowheads="1"/>
          </p:cNvSpPr>
          <p:nvPr/>
        </p:nvSpPr>
        <p:spPr bwMode="auto">
          <a:xfrm>
            <a:off x="3584848" y="3560892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3C</a:t>
            </a:r>
          </a:p>
        </p:txBody>
      </p:sp>
      <p:sp>
        <p:nvSpPr>
          <p:cNvPr id="111" name="Oval 410"/>
          <p:cNvSpPr>
            <a:spLocks noChangeArrowheads="1"/>
          </p:cNvSpPr>
          <p:nvPr/>
        </p:nvSpPr>
        <p:spPr bwMode="auto">
          <a:xfrm>
            <a:off x="4950521" y="3541842"/>
            <a:ext cx="174625" cy="174625"/>
          </a:xfrm>
          <a:prstGeom prst="ellipse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7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3D</a:t>
            </a:r>
          </a:p>
        </p:txBody>
      </p:sp>
      <p:sp>
        <p:nvSpPr>
          <p:cNvPr id="112" name="Rectangle 17"/>
          <p:cNvSpPr>
            <a:spLocks noChangeArrowheads="1"/>
          </p:cNvSpPr>
          <p:nvPr/>
        </p:nvSpPr>
        <p:spPr bwMode="auto">
          <a:xfrm>
            <a:off x="1675991" y="2068735"/>
            <a:ext cx="720725" cy="763881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endParaRPr lang="ko-KR" altLang="en-US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3" name="표 112"/>
          <p:cNvGraphicFramePr>
            <a:graphicFrameLocks noGrp="1"/>
          </p:cNvGraphicFramePr>
          <p:nvPr>
            <p:extLst/>
          </p:nvPr>
        </p:nvGraphicFramePr>
        <p:xfrm>
          <a:off x="6753200" y="2330088"/>
          <a:ext cx="3008448" cy="4066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9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12" marR="36012" marT="36006" marB="36006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회원정보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입력값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출력 영역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-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회원정보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입력값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출력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수정 불가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)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</a:txBody>
                  <a:tcPr marT="27434" marB="27434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12" marR="36012" marT="36006" marB="36006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입력폼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-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회원정보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입력값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출력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, (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수정 가능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)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2A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텍스트 </a:t>
                      </a:r>
                      <a:r>
                        <a:rPr lang="ko-KR" altLang="en-US" sz="800" b="1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입력폼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-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클릭 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기존 값 삭제되고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입력폼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활성화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-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숫자만 입력 가능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최대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8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자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,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YYYY.MM.DD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로 자동 치환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2B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달력 아이콘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</a:rPr>
                        <a:t>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달력 레이어 팝업 출력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2C 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 유효성 체크 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입력폼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필드 아웃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조건값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불충족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텍스트 출력 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-1900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년도 이전 년도 및 금일 이후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입력 시 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71" marR="91471" marT="45730" marB="45730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4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12" marR="36012" marT="36006" marB="36006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이메일주소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입력폼</a:t>
                      </a:r>
                      <a:r>
                        <a:rPr lang="ko-KR" altLang="en-US" sz="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8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회원정보 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입력값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출력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가능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8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3A </a:t>
                      </a:r>
                      <a:r>
                        <a:rPr lang="ko-KR" altLang="en-US" sz="8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</a:t>
                      </a:r>
                      <a:r>
                        <a:rPr lang="ko-KR" altLang="en-US" sz="800" b="1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셀렉트</a:t>
                      </a:r>
                      <a:r>
                        <a:rPr lang="ko-KR" altLang="en-US" sz="8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박스</a:t>
                      </a:r>
                      <a:endParaRPr lang="en-US" altLang="ko-KR" sz="800" b="1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선택 시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8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3C </a:t>
                      </a:r>
                      <a:r>
                        <a:rPr lang="ko-KR" altLang="en-US" sz="8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도메인영역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출력 됨 </a:t>
                      </a:r>
                      <a:endParaRPr lang="en-US" altLang="ko-KR" sz="8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직접입력 선택 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3B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3C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입력값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초기화 되고 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3C </a:t>
                      </a:r>
                      <a:r>
                        <a:rPr lang="ko-KR" altLang="en-US" sz="8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입력폼으로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변경됨 </a:t>
                      </a:r>
                      <a:endParaRPr lang="en-US" altLang="ko-KR" sz="8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직접입력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/gmail.com/Hanmail.net/Hotmail.com</a:t>
                      </a:r>
                    </a:p>
                    <a:p>
                      <a:pPr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/Korea.com/Nate.com/Naver.com/Yahoo.com</a:t>
                      </a:r>
                    </a:p>
                    <a:p>
                      <a:pPr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3B ID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입력폼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8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특수문자</a:t>
                      </a:r>
                      <a:r>
                        <a:rPr lang="en-US" altLang="ko-KR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입력가능 </a:t>
                      </a:r>
                      <a:endParaRPr lang="en-US" altLang="ko-KR" sz="8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8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 입력  </a:t>
                      </a:r>
                      <a:endParaRPr lang="en-US" altLang="ko-KR" sz="8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3C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영역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3A 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 입력 선택 시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입력폼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활성화</a:t>
                      </a:r>
                      <a:endParaRPr lang="en-US" altLang="ko-KR" sz="8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특수문자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</a:t>
                      </a:r>
                      <a:r>
                        <a:rPr lang="ko-KR" altLang="en-US" sz="800" b="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입력가능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</a:t>
                      </a:r>
                      <a:endParaRPr lang="en-US" altLang="ko-KR" sz="8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3A 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선택 시</a:t>
                      </a:r>
                      <a:r>
                        <a:rPr lang="en-US" altLang="ko-KR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출력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유효성 체크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필드아웃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이메일폼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필드 아웃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조건값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불충족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텍스트 출력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3C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영역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닷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(.)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없거나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이상 입력 </a:t>
                      </a:r>
                    </a:p>
                  </a:txBody>
                  <a:tcPr marL="91471" marR="91471" marT="45730" marB="45730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635048" y="1903413"/>
            <a:ext cx="1868743" cy="21602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0000FF"/>
                </a:solidFill>
              </a:rPr>
              <a:t>화면 상세 설계 내용 포함 하여 작성</a:t>
            </a:r>
          </a:p>
        </p:txBody>
      </p:sp>
      <p:sp>
        <p:nvSpPr>
          <p:cNvPr id="114" name="직사각형 113"/>
          <p:cNvSpPr/>
          <p:nvPr/>
        </p:nvSpPr>
        <p:spPr>
          <a:xfrm>
            <a:off x="8693463" y="3581354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유효성 체크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8532512" y="6356395"/>
            <a:ext cx="1238676" cy="21602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rgbClr val="0000FF"/>
                </a:solidFill>
              </a:rPr>
              <a:t>이 외 필요사항 기재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725916" y="2461573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컬럼 속성</a:t>
            </a:r>
          </a:p>
        </p:txBody>
      </p:sp>
      <p:sp>
        <p:nvSpPr>
          <p:cNvPr id="117" name="직사각형 116"/>
          <p:cNvSpPr/>
          <p:nvPr/>
        </p:nvSpPr>
        <p:spPr>
          <a:xfrm>
            <a:off x="8957541" y="5099792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항목 </a:t>
            </a:r>
            <a:r>
              <a:rPr lang="en-US" altLang="ko-KR" sz="800" b="1" dirty="0">
                <a:solidFill>
                  <a:srgbClr val="FF0000"/>
                </a:solidFill>
              </a:rPr>
              <a:t>List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5917952" y="2865391"/>
            <a:ext cx="760413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</a:rPr>
              <a:t>경고 문구</a:t>
            </a:r>
          </a:p>
        </p:txBody>
      </p:sp>
      <p:sp>
        <p:nvSpPr>
          <p:cNvPr id="84" name="직사각형 83"/>
          <p:cNvSpPr/>
          <p:nvPr/>
        </p:nvSpPr>
        <p:spPr>
          <a:xfrm rot="20700000">
            <a:off x="3089647" y="3685468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</a:rPr>
              <a:t>(Optional)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688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771156"/>
              </p:ext>
            </p:extLst>
          </p:nvPr>
        </p:nvGraphicFramePr>
        <p:xfrm>
          <a:off x="360363" y="2051050"/>
          <a:ext cx="9164637" cy="4343400"/>
        </p:xfrm>
        <a:graphic>
          <a:graphicData uri="http://schemas.openxmlformats.org/drawingml/2006/table">
            <a:tbl>
              <a:tblPr/>
              <a:tblGrid>
                <a:gridCol w="639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Description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4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9BA6899-AC92-42AF-8CC5-9169E4623D5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graphicFrame>
        <p:nvGraphicFramePr>
          <p:cNvPr id="9" name="Group 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042973"/>
              </p:ext>
            </p:extLst>
          </p:nvPr>
        </p:nvGraphicFramePr>
        <p:xfrm>
          <a:off x="358775" y="1268413"/>
          <a:ext cx="9169400" cy="708978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2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반품실적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 Backlog 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상품별로 반품 실적 조회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 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(Optional)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56" name="그룹 155"/>
          <p:cNvGrpSpPr/>
          <p:nvPr/>
        </p:nvGrpSpPr>
        <p:grpSpPr>
          <a:xfrm>
            <a:off x="423938" y="2151750"/>
            <a:ext cx="6228687" cy="304800"/>
            <a:chOff x="404006" y="1592796"/>
            <a:chExt cx="6997266" cy="304800"/>
          </a:xfrm>
        </p:grpSpPr>
        <p:pic>
          <p:nvPicPr>
            <p:cNvPr id="157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4006" y="1592796"/>
              <a:ext cx="6997266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2500" y="1628800"/>
              <a:ext cx="161925" cy="190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9" name="TextBox 158"/>
            <p:cNvSpPr txBox="1"/>
            <p:nvPr/>
          </p:nvSpPr>
          <p:spPr>
            <a:xfrm>
              <a:off x="560512" y="1592796"/>
              <a:ext cx="7837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반품실적</a:t>
              </a:r>
              <a:endPara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13696" y="2196024"/>
            <a:ext cx="52387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1" name="그룹 160"/>
          <p:cNvGrpSpPr/>
          <p:nvPr/>
        </p:nvGrpSpPr>
        <p:grpSpPr>
          <a:xfrm>
            <a:off x="6017752" y="2189624"/>
            <a:ext cx="551366" cy="246221"/>
            <a:chOff x="3394053" y="1622400"/>
            <a:chExt cx="551366" cy="246221"/>
          </a:xfrm>
        </p:grpSpPr>
        <p:pic>
          <p:nvPicPr>
            <p:cNvPr id="162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94053" y="1622400"/>
              <a:ext cx="533400" cy="238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63" name="TextBox 162"/>
            <p:cNvSpPr txBox="1"/>
            <p:nvPr/>
          </p:nvSpPr>
          <p:spPr>
            <a:xfrm>
              <a:off x="3504272" y="1622400"/>
              <a:ext cx="4411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solidFill>
                    <a:schemeClr val="accent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</a:p>
          </p:txBody>
        </p:sp>
      </p:grpSp>
      <p:graphicFrame>
        <p:nvGraphicFramePr>
          <p:cNvPr id="164" name="표 1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7550"/>
              </p:ext>
            </p:extLst>
          </p:nvPr>
        </p:nvGraphicFramePr>
        <p:xfrm>
          <a:off x="423939" y="2503045"/>
          <a:ext cx="6228687" cy="432046"/>
        </p:xfrm>
        <a:graphic>
          <a:graphicData uri="http://schemas.openxmlformats.org/drawingml/2006/table">
            <a:tbl>
              <a:tblPr/>
              <a:tblGrid>
                <a:gridCol w="74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2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조회기간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bg2"/>
                      </a:solidFill>
                      <a:prstDash val="soli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2"/>
                      </a:solidFill>
                      <a:prstDash val="soli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chemeClr val="bg2"/>
                      </a:solidFill>
                      <a:prstDash val="soli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2"/>
                      </a:solidFill>
                      <a:prstDash val="soli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상품구분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○전체 ●</a:t>
                      </a:r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자사상품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 ○</a:t>
                      </a:r>
                      <a:r>
                        <a:rPr lang="ko-KR" altLang="en-US" sz="800" baseline="0" dirty="0">
                          <a:latin typeface="맑은 고딕" pitchFamily="50" charset="-127"/>
                          <a:ea typeface="맑은 고딕" pitchFamily="50" charset="-127"/>
                        </a:rPr>
                        <a:t>타사상품</a:t>
                      </a:r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매입처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상품코드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anchor="ctr">
                    <a:lnL w="12700" cmpd="sng">
                      <a:solidFill>
                        <a:schemeClr val="bg2"/>
                      </a:solidFill>
                      <a:prstDash val="soli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2"/>
                      </a:solidFill>
                      <a:prstDash val="soli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2"/>
                      </a:solidFill>
                      <a:prstDash val="soli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상품군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상품계층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6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93252" y="2732148"/>
            <a:ext cx="119062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7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41309" y="2747429"/>
            <a:ext cx="119062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9" name="그룹 168"/>
          <p:cNvGrpSpPr/>
          <p:nvPr/>
        </p:nvGrpSpPr>
        <p:grpSpPr>
          <a:xfrm>
            <a:off x="2396449" y="2706860"/>
            <a:ext cx="688229" cy="215444"/>
            <a:chOff x="6144394" y="2452674"/>
            <a:chExt cx="688229" cy="215444"/>
          </a:xfrm>
        </p:grpSpPr>
        <p:grpSp>
          <p:nvGrpSpPr>
            <p:cNvPr id="170" name="그룹 80"/>
            <p:cNvGrpSpPr/>
            <p:nvPr/>
          </p:nvGrpSpPr>
          <p:grpSpPr>
            <a:xfrm>
              <a:off x="6240480" y="2479662"/>
              <a:ext cx="592143" cy="169863"/>
              <a:chOff x="4222740" y="5035572"/>
              <a:chExt cx="592143" cy="169863"/>
            </a:xfrm>
          </p:grpSpPr>
          <p:sp>
            <p:nvSpPr>
              <p:cNvPr id="172" name="직사각형 171"/>
              <p:cNvSpPr/>
              <p:nvPr/>
            </p:nvSpPr>
            <p:spPr bwMode="auto">
              <a:xfrm>
                <a:off x="4222740" y="5035572"/>
                <a:ext cx="584208" cy="158400"/>
              </a:xfrm>
              <a:prstGeom prst="rect">
                <a:avLst/>
              </a:prstGeom>
              <a:noFill/>
              <a:ln w="952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73" name="Picture 7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4643433" y="5043510"/>
                <a:ext cx="171450" cy="1619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71" name="TextBox 170"/>
            <p:cNvSpPr txBox="1"/>
            <p:nvPr/>
          </p:nvSpPr>
          <p:spPr>
            <a:xfrm>
              <a:off x="6144394" y="2452674"/>
              <a:ext cx="56297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**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**</a:t>
              </a:r>
              <a:endPara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4" name="Picture 2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88661" y="2527142"/>
            <a:ext cx="1712628" cy="148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5" name="표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88787"/>
              </p:ext>
            </p:extLst>
          </p:nvPr>
        </p:nvGraphicFramePr>
        <p:xfrm>
          <a:off x="380492" y="3369909"/>
          <a:ext cx="6310768" cy="2253651"/>
        </p:xfrm>
        <a:graphic>
          <a:graphicData uri="http://schemas.openxmlformats.org/drawingml/2006/table">
            <a:tbl>
              <a:tblPr/>
              <a:tblGrid>
                <a:gridCol w="283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1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9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91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8370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21910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상품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일자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매입수량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매입액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반품 총수량</a:t>
                      </a:r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불량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임박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불량</a:t>
                      </a:r>
                      <a:r>
                        <a:rPr lang="en-US" altLang="ko-KR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임박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9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군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계층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코드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BOX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EA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총수량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BOX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EA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총수량</a:t>
                      </a:r>
                      <a:endParaRPr lang="en-US" altLang="ko-KR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  <a:endParaRPr lang="en-US" altLang="ko-KR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반품율</a:t>
                      </a:r>
                      <a:r>
                        <a:rPr lang="en-US" altLang="ko-KR" sz="800" dirty="0">
                          <a:solidFill>
                            <a:srgbClr val="0000FF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10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10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FF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10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10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소계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상품별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10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10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6" name="직사각형 175"/>
          <p:cNvSpPr/>
          <p:nvPr/>
        </p:nvSpPr>
        <p:spPr bwMode="auto">
          <a:xfrm>
            <a:off x="2217702" y="3429869"/>
            <a:ext cx="288036" cy="137522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사각형 설명선 176"/>
          <p:cNvSpPr/>
          <p:nvPr/>
        </p:nvSpPr>
        <p:spPr bwMode="auto">
          <a:xfrm>
            <a:off x="786415" y="5623560"/>
            <a:ext cx="1872208" cy="360040"/>
          </a:xfrm>
          <a:prstGeom prst="wedgeRectCallout">
            <a:avLst>
              <a:gd name="adj1" fmla="val 31849"/>
              <a:gd name="adj2" fmla="val -172953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일자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소계는 </a:t>
            </a:r>
            <a:endParaRPr kumimoji="1" lang="en-US" altLang="ko-KR" sz="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일자 펼침의 경우만 나옴</a:t>
            </a:r>
            <a:endParaRPr kumimoji="1" lang="en-US" altLang="ko-KR" sz="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5770372" y="2767201"/>
            <a:ext cx="9643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n-US" altLang="ko-KR" sz="800" dirty="0">
              <a:latin typeface="맑은 고딕" pitchFamily="50" charset="-127"/>
              <a:ea typeface="맑은 고딕" pitchFamily="50" charset="-127"/>
            </a:endParaRPr>
          </a:p>
          <a:p>
            <a:pPr algn="r"/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(VAT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별도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사각형 설명선 178"/>
          <p:cNvSpPr/>
          <p:nvPr/>
        </p:nvSpPr>
        <p:spPr bwMode="auto">
          <a:xfrm>
            <a:off x="4735752" y="5665105"/>
            <a:ext cx="1872208" cy="521117"/>
          </a:xfrm>
          <a:prstGeom prst="wedgeRectCallout">
            <a:avLst>
              <a:gd name="adj1" fmla="val 37763"/>
              <a:gd name="adj2" fmla="val -335959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반품율이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높은것은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소팅으로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처리</a:t>
            </a:r>
            <a:endParaRPr lang="en-US" altLang="ko-KR" sz="8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kumimoji="1" lang="ko-KR" altLang="en-US" sz="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일자별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상세의 경우 </a:t>
            </a:r>
            <a:r>
              <a:rPr kumimoji="1" lang="ko-KR" altLang="en-US" sz="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소팅기능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180" name="사각형 설명선 179"/>
          <p:cNvSpPr/>
          <p:nvPr/>
        </p:nvSpPr>
        <p:spPr bwMode="auto">
          <a:xfrm>
            <a:off x="3974250" y="4352296"/>
            <a:ext cx="1872208" cy="262819"/>
          </a:xfrm>
          <a:prstGeom prst="wedgeRectCallout">
            <a:avLst>
              <a:gd name="adj1" fmla="val -9426"/>
              <a:gd name="adj2" fmla="val -152093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임박 반품금액이 다름</a:t>
            </a:r>
            <a:endParaRPr kumimoji="1" lang="en-US" altLang="ko-KR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직사각형 180"/>
          <p:cNvSpPr/>
          <p:nvPr/>
        </p:nvSpPr>
        <p:spPr bwMode="auto">
          <a:xfrm>
            <a:off x="1212392" y="2721817"/>
            <a:ext cx="436100" cy="172800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1928668" y="3074033"/>
            <a:ext cx="5184576" cy="216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임박 수량은 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기간임박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,) ,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불량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거래중단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외관불량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기간경과</a:t>
            </a:r>
            <a:r>
              <a:rPr lang="en-US" altLang="ko-KR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ko-KR" altLang="en-US" sz="8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해당하는 반품에 한합니다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5961450" y="2507311"/>
            <a:ext cx="691175" cy="2154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223008" y="2535658"/>
            <a:ext cx="684000" cy="13969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2018-01-01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2126658" y="2535658"/>
            <a:ext cx="684000" cy="13969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2018-01-31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76216"/>
              </p:ext>
            </p:extLst>
          </p:nvPr>
        </p:nvGraphicFramePr>
        <p:xfrm>
          <a:off x="6762844" y="2276872"/>
          <a:ext cx="2762156" cy="764640"/>
        </p:xfrm>
        <a:graphic>
          <a:graphicData uri="http://schemas.openxmlformats.org/drawingml/2006/table">
            <a:tbl>
              <a:tblPr/>
              <a:tblGrid>
                <a:gridCol w="710436">
                  <a:extLst>
                    <a:ext uri="{9D8B030D-6E8A-4147-A177-3AD203B41FA5}">
                      <a16:colId xmlns:a16="http://schemas.microsoft.com/office/drawing/2014/main" val="3548264415"/>
                    </a:ext>
                  </a:extLst>
                </a:gridCol>
                <a:gridCol w="2051720">
                  <a:extLst>
                    <a:ext uri="{9D8B030D-6E8A-4147-A177-3AD203B41FA5}">
                      <a16:colId xmlns:a16="http://schemas.microsoft.com/office/drawing/2014/main" val="693467394"/>
                    </a:ext>
                  </a:extLst>
                </a:gridCol>
              </a:tblGrid>
              <a:tr h="2612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버튼 설명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] –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해당 테이블 내역 조회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엑셀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] –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현재화면의 데이터 엑셀저장</a:t>
                      </a:r>
                      <a:endParaRPr lang="en-US" altLang="ko-KR" sz="9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56607"/>
                  </a:ext>
                </a:extLst>
              </a:tr>
              <a:tr h="15780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탭 설명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782460"/>
                  </a:ext>
                </a:extLst>
              </a:tr>
              <a:tr h="1962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특정이벤트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836206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871572"/>
              </p:ext>
            </p:extLst>
          </p:nvPr>
        </p:nvGraphicFramePr>
        <p:xfrm>
          <a:off x="6758547" y="3044671"/>
          <a:ext cx="2766454" cy="3340448"/>
        </p:xfrm>
        <a:graphic>
          <a:graphicData uri="http://schemas.openxmlformats.org/drawingml/2006/table">
            <a:tbl>
              <a:tblPr/>
              <a:tblGrid>
                <a:gridCol w="352670">
                  <a:extLst>
                    <a:ext uri="{9D8B030D-6E8A-4147-A177-3AD203B41FA5}">
                      <a16:colId xmlns:a16="http://schemas.microsoft.com/office/drawing/2014/main" val="2767278252"/>
                    </a:ext>
                  </a:extLst>
                </a:gridCol>
                <a:gridCol w="2413784">
                  <a:extLst>
                    <a:ext uri="{9D8B030D-6E8A-4147-A177-3AD203B41FA5}">
                      <a16:colId xmlns:a16="http://schemas.microsoft.com/office/drawing/2014/main" val="4107667830"/>
                    </a:ext>
                  </a:extLst>
                </a:gridCol>
              </a:tblGrid>
              <a:tr h="122630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조건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필수조회조건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조회기간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당월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일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~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현재일자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상품구분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매입처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default(CJ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 000000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씨제이제이제당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--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수정불가</a:t>
                      </a:r>
                      <a:endParaRPr lang="en-US" altLang="ko-KR" sz="9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상품코드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명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코드는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코드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%’,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명은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‘%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%’ like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검색</a:t>
                      </a:r>
                      <a:endParaRPr lang="en-US" altLang="ko-KR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상품군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상품계층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공통컨트롤 적용</a:t>
                      </a:r>
                      <a:endParaRPr lang="en-US" altLang="ko-KR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950255"/>
                  </a:ext>
                </a:extLst>
              </a:tr>
              <a:tr h="21141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결과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일자숨김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일자펼침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=&gt; default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는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일자숨김</a:t>
                      </a:r>
                      <a:endParaRPr lang="en-US" altLang="ko-KR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일자숨김의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경우에는 일자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소계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상품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XXXXXXX)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는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숨김처리됨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indent="-85725" algn="l"/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  =&gt;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소계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상품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XXXXXXX)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는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일자펼침이면서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소팅이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상품코드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명의 경우만 나타남</a:t>
                      </a:r>
                      <a:endParaRPr lang="en-US" altLang="ko-KR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조회결과 항목 변경됨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불량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임박 구분은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오더사유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rsn_order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의 공통코드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(ST002)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문자참조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 처리함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indent="-85725" algn="l"/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=&gt; ST002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의 문자참조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1=B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이면 불량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N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이면 임박</a:t>
                      </a:r>
                      <a:endParaRPr lang="en-US" altLang="ko-KR" sz="9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/>
                      <a:r>
                        <a:rPr kumimoji="1" lang="en-US" altLang="ko-KR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- 0</a:t>
                      </a:r>
                      <a:r>
                        <a:rPr kumimoji="1" lang="ko-KR" altLang="en-US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 </a:t>
                      </a:r>
                      <a:r>
                        <a:rPr kumimoji="1" lang="ko-KR" altLang="en-US" sz="900" i="0" strike="noStrike" cap="none" normalizeH="0" baseline="0" dirty="0" err="1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조회값은</a:t>
                      </a:r>
                      <a:r>
                        <a:rPr kumimoji="1" lang="ko-KR" altLang="en-US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공백으로 처리한다</a:t>
                      </a:r>
                      <a:r>
                        <a:rPr kumimoji="1" lang="en-US" altLang="ko-KR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algn="l"/>
                      <a:r>
                        <a:rPr kumimoji="1" lang="en-US" altLang="ko-KR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소수인 </a:t>
                      </a:r>
                      <a:r>
                        <a:rPr kumimoji="1" lang="ko-KR" altLang="en-US" sz="900" i="0" strike="noStrike" cap="none" normalizeH="0" baseline="0" dirty="0" err="1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조회값은</a:t>
                      </a:r>
                      <a:r>
                        <a:rPr kumimoji="1" lang="ko-KR" altLang="en-US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소수점 </a:t>
                      </a:r>
                      <a:r>
                        <a:rPr kumimoji="1" lang="ko-KR" altLang="en-US" sz="900" i="0" strike="noStrike" cap="none" normalizeH="0" baseline="0" dirty="0" err="1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첫째자리까지만</a:t>
                      </a:r>
                      <a:r>
                        <a:rPr kumimoji="1" lang="ko-KR" altLang="en-US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표시한다</a:t>
                      </a:r>
                      <a:r>
                        <a:rPr kumimoji="1" lang="en-US" altLang="ko-KR" sz="900" i="0" strike="noStrike" cap="none" normalizeH="0" baseline="0" dirty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i="0" strike="noStrike" cap="none" normalizeH="0" baseline="0" dirty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322336"/>
                  </a:ext>
                </a:extLst>
              </a:tr>
            </a:tbl>
          </a:graphicData>
        </a:graphic>
      </p:graphicFrame>
      <p:sp>
        <p:nvSpPr>
          <p:cNvPr id="36" name="직사각형 35"/>
          <p:cNvSpPr/>
          <p:nvPr/>
        </p:nvSpPr>
        <p:spPr>
          <a:xfrm rot="20700000">
            <a:off x="3089647" y="3685468"/>
            <a:ext cx="2875324" cy="4469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(Optional)</a:t>
            </a:r>
            <a:endParaRPr lang="ko-KR" alt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230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2D806BDB-1D95-415E-B4A2-E7F2313FDF82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18</a:t>
            </a:fld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0" y="1160463"/>
            <a:ext cx="9906000" cy="5256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81000" y="1160463"/>
            <a:ext cx="9109075" cy="419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27305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시스템의 화면 및 보고서의 외관을 디자인한다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 정의된 개발 표준과 스타일 가이드 기준에 따라 입력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처리 항목들과 항목을 표현할 컴포넌트 종류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(Edit Box, Checkbox, Radio Button, List Box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폰트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색상 등을 결정한 후 화면에 작업 순서대로 배치한다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 레이아웃은 사용자와의 커뮤니케이션을 통해 사용자 요구사항을 최종 확인하는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프로토타이핑으로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활용된다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입력물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Product Backlog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UX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표준 가이드</a:t>
            </a:r>
          </a:p>
          <a:p>
            <a:pPr eaLnBrk="1" hangingPunct="1">
              <a:lnSpc>
                <a:spcPct val="40000"/>
              </a:lnSpc>
              <a:spcBef>
                <a:spcPct val="0"/>
              </a:spcBef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도구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Wireframe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상용도구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MS-office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검토회의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지침 및 고려사항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보고서 화면도 반드시 포함한다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반드시 사용자와의 검토 회의를 통해 화면 구성 항목과 이벤트 처리 등에 대해 협의를 통해 결정한다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</TotalTime>
  <Words>2694</Words>
  <Application>Microsoft Office PowerPoint</Application>
  <PresentationFormat>A4 용지(210x297mm)</PresentationFormat>
  <Paragraphs>710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3" baseType="lpstr">
      <vt:lpstr>굴림</vt:lpstr>
      <vt:lpstr>나눔바른고딕</vt:lpstr>
      <vt:lpstr>돋움</vt:lpstr>
      <vt:lpstr>맑은 고딕</vt:lpstr>
      <vt:lpstr>맑은 고딕</vt:lpstr>
      <vt:lpstr>바탕체</vt:lpstr>
      <vt:lpstr>Arial</vt:lpstr>
      <vt:lpstr>Calibri</vt:lpstr>
      <vt:lpstr>Segoe UI</vt:lpstr>
      <vt:lpstr>Times New Roman</vt:lpstr>
      <vt:lpstr>Verdana</vt:lpstr>
      <vt:lpstr>Webdings</vt:lpstr>
      <vt:lpstr>Wingdings</vt:lpstr>
      <vt:lpstr>Wingdings 2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화면레이아웃</dc:title>
  <dc:subject>CJAG-SP#N-AG05</dc:subject>
  <dc:creator>품질보증팀</dc:creator>
  <cp:keywords>2017-1130</cp:keywords>
  <cp:lastModifiedBy>서정만님 </cp:lastModifiedBy>
  <cp:revision>91</cp:revision>
  <dcterms:created xsi:type="dcterms:W3CDTF">2005-04-22T04:23:41Z</dcterms:created>
  <dcterms:modified xsi:type="dcterms:W3CDTF">2025-03-24T06:26:42Z</dcterms:modified>
  <cp:category>V1.1</cp:category>
</cp:coreProperties>
</file>