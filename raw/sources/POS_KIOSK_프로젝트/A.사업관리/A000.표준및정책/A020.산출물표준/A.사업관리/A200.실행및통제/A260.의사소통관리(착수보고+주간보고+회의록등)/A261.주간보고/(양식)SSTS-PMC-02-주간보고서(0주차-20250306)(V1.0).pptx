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7" r:id="rId2"/>
    <p:sldId id="258" r:id="rId3"/>
    <p:sldId id="259" r:id="rId4"/>
    <p:sldId id="265" r:id="rId5"/>
    <p:sldId id="268" r:id="rId6"/>
    <p:sldId id="269" r:id="rId7"/>
    <p:sldId id="275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5" d="100"/>
          <a:sy n="95" d="100"/>
        </p:scale>
        <p:origin x="86" y="8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15AB82-F010-42B4-B92A-9F97AA59F61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8D584E-B54E-469E-BCC0-31257035D5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423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9ED0E4-8B35-4D21-BE09-5CD29190059B}" type="datetimeFigureOut">
              <a:rPr lang="ko-KR" altLang="en-US" smtClean="0"/>
              <a:t>2025-03-06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490603-EA52-4091-8CD0-D82B437FF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46200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490603-EA52-4091-8CD0-D82B437FF5A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55456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90603-EA52-4091-8CD0-D82B437FF5A1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9020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-1" y="3406297"/>
            <a:ext cx="12192001" cy="3429000"/>
          </a:xfrm>
          <a:prstGeom prst="rect">
            <a:avLst/>
          </a:prstGeom>
          <a:solidFill>
            <a:srgbClr val="F2F2F2"/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500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pic>
        <p:nvPicPr>
          <p:cNvPr id="8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88" y="599675"/>
            <a:ext cx="1384184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/>
          <p:cNvSpPr txBox="1"/>
          <p:nvPr userDrawn="1"/>
        </p:nvSpPr>
        <p:spPr>
          <a:xfrm>
            <a:off x="1057275" y="1276351"/>
            <a:ext cx="10086976" cy="718652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r>
              <a:rPr kumimoji="1" lang="ko-KR" altLang="en-US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신성통상 차세대 </a:t>
            </a:r>
            <a:r>
              <a:rPr kumimoji="1" lang="en-US" altLang="ko-KR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POS </a:t>
            </a:r>
            <a:r>
              <a:rPr kumimoji="1" lang="ko-KR" altLang="en-US" sz="3200" b="1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및 키오스크 구축 주간보고</a:t>
            </a:r>
            <a:endParaRPr lang="ko-KR" altLang="en-US" sz="3200" spc="-100" baseline="0" dirty="0">
              <a:latin typeface="HY헤드라인M" pitchFamily="18" charset="-127"/>
              <a:ea typeface="HY헤드라인M" pitchFamily="18" charset="-127"/>
            </a:endParaRPr>
          </a:p>
        </p:txBody>
      </p:sp>
      <p:sp>
        <p:nvSpPr>
          <p:cNvPr id="10" name="텍스트 개체 틀 10"/>
          <p:cNvSpPr>
            <a:spLocks noGrp="1"/>
          </p:cNvSpPr>
          <p:nvPr>
            <p:ph type="body" sz="quarter" idx="14" hasCustomPrompt="1"/>
          </p:nvPr>
        </p:nvSpPr>
        <p:spPr>
          <a:xfrm>
            <a:off x="1123950" y="2055332"/>
            <a:ext cx="3279469" cy="38576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r>
              <a:rPr lang="en-US" altLang="ko-KR" dirty="0"/>
              <a:t>2025.02.17(1</a:t>
            </a:r>
            <a:r>
              <a:rPr lang="ko-KR" altLang="en-US" dirty="0"/>
              <a:t>주차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057275" y="1995002"/>
            <a:ext cx="10086976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64885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auto">
          <a:xfrm>
            <a:off x="6115050" y="0"/>
            <a:ext cx="6076950" cy="6858000"/>
          </a:xfrm>
          <a:prstGeom prst="rect">
            <a:avLst/>
          </a:prstGeom>
          <a:solidFill>
            <a:srgbClr val="F2F2F2"/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500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1035255" y="1358946"/>
            <a:ext cx="818765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ko-KR" altLang="en-US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  <a:cs typeface="Arial Unicode MS" panose="020B0604020202020204" pitchFamily="50" charset="-127"/>
              </a:rPr>
              <a:t>목 차</a:t>
            </a:r>
            <a:endParaRPr lang="ko-KR" altLang="en-US" sz="3200" b="0" spc="-100" baseline="0" dirty="0"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035255" y="1991346"/>
            <a:ext cx="10089945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텍스트 개체 틀 10"/>
          <p:cNvSpPr>
            <a:spLocks noGrp="1"/>
          </p:cNvSpPr>
          <p:nvPr>
            <p:ph type="body" sz="quarter" idx="14" hasCustomPrompt="1"/>
          </p:nvPr>
        </p:nvSpPr>
        <p:spPr>
          <a:xfrm>
            <a:off x="1085850" y="2155741"/>
            <a:ext cx="5010150" cy="2141648"/>
          </a:xfrm>
          <a:prstGeom prst="rect">
            <a:avLst/>
          </a:prstGeom>
        </p:spPr>
        <p:txBody>
          <a:bodyPr/>
          <a:lstStyle>
            <a:lvl1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488"/>
              </a:spcAft>
              <a:buFontTx/>
              <a:buNone/>
              <a:defRPr kumimoji="0" lang="ko-KR" altLang="en-US" sz="2000" b="0" kern="1200" baseline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  <a:cs typeface="+mn-cs"/>
              </a:defRPr>
            </a:lvl1pPr>
          </a:lstStyle>
          <a:p>
            <a:pPr marL="514350" indent="-51435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ko-KR" altLang="en-US" sz="20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프로젝트 구축 일정</a:t>
            </a:r>
            <a:endParaRPr kumimoji="0" lang="en-US" altLang="ko-KR" sz="2000" b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pPr marL="514350" indent="-51435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ko-KR" altLang="en-US" sz="20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지척 현황</a:t>
            </a:r>
            <a:endParaRPr kumimoji="0" lang="en-US" altLang="ko-KR" sz="2000" b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pPr marL="514350" indent="-51435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ko-KR" altLang="en-US" sz="20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주요 수행업무</a:t>
            </a:r>
            <a:endParaRPr kumimoji="0" lang="en-US" altLang="ko-KR" sz="2000" b="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  <a:p>
            <a:pPr marL="514350" indent="-514350" eaLnBrk="1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+mj-lt"/>
              <a:buAutoNum type="romanUcPeriod"/>
            </a:pPr>
            <a:r>
              <a:rPr kumimoji="0" lang="ko-KR" altLang="en-US" sz="2000" b="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위험 및 이슈 현황</a:t>
            </a:r>
            <a:endParaRPr kumimoji="0" lang="en-US" altLang="ko-KR" sz="2000" b="0" dirty="0">
              <a:solidFill>
                <a:schemeClr val="bg1">
                  <a:lumMod val="50000"/>
                </a:schemeClr>
              </a:solidFill>
              <a:latin typeface="CJ ONLYONE NEW 본문 Regular" panose="00000500000000000000" pitchFamily="2" charset="-127"/>
              <a:ea typeface="CJ ONLYONE NEW 본문 Regular" panose="00000500000000000000" pitchFamily="2" charset="-127"/>
            </a:endParaRPr>
          </a:p>
        </p:txBody>
      </p:sp>
      <p:pic>
        <p:nvPicPr>
          <p:cNvPr id="11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88" y="599675"/>
            <a:ext cx="1384184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148553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전체일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792"/>
          <p:cNvSpPr txBox="1">
            <a:spLocks noChangeArrowheads="1"/>
          </p:cNvSpPr>
          <p:nvPr userDrawn="1"/>
        </p:nvSpPr>
        <p:spPr bwMode="auto">
          <a:xfrm>
            <a:off x="5959108" y="6610753"/>
            <a:ext cx="290144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1100" dirty="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fld id="{FF0CF4D0-6911-48B8-801F-EA60F1DA7558}" type="slidenum">
              <a:rPr kumimoji="0" lang="en-US" altLang="ko-KR" sz="110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pPr algn="ctr" eaLnBrk="1" hangingPunct="1"/>
              <a:t>‹#›</a:t>
            </a:fld>
            <a:r>
              <a:rPr kumimoji="0" lang="en-US" altLang="ko-KR" sz="1100" dirty="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</a:p>
        </p:txBody>
      </p:sp>
      <p:pic>
        <p:nvPicPr>
          <p:cNvPr id="8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393" y="6486416"/>
            <a:ext cx="838757" cy="27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333827" y="726005"/>
            <a:ext cx="1153432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/>
          <p:cNvSpPr/>
          <p:nvPr userDrawn="1"/>
        </p:nvSpPr>
        <p:spPr>
          <a:xfrm>
            <a:off x="0" y="-10801"/>
            <a:ext cx="12193200" cy="54000"/>
          </a:xfrm>
          <a:prstGeom prst="rect">
            <a:avLst/>
          </a:prstGeom>
          <a:gradFill flip="none" rotWithShape="1">
            <a:gsLst>
              <a:gs pos="30000">
                <a:srgbClr val="CB443D"/>
              </a:gs>
              <a:gs pos="50000">
                <a:srgbClr val="F5F5F5"/>
              </a:gs>
              <a:gs pos="70000">
                <a:srgbClr val="4879B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11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93912" y="279872"/>
            <a:ext cx="11574238" cy="388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Tx/>
              <a:buNone/>
              <a:defRPr sz="1800" spc="-60" baseline="0">
                <a:latin typeface="HY헤드라인M" pitchFamily="18" charset="-127"/>
                <a:ea typeface="HY헤드라인M" pitchFamily="18" charset="-127"/>
              </a:defRPr>
            </a:lvl1pPr>
            <a:lvl2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sp>
        <p:nvSpPr>
          <p:cNvPr id="12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9188513" y="445362"/>
            <a:ext cx="2679637" cy="1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buFontTx/>
              <a:buNone/>
              <a:defRPr sz="140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D1988DF-62ED-822F-1107-CE1F8B38DE2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5077" y="6590518"/>
            <a:ext cx="1489639" cy="125342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1BEC33F-6FBB-0E98-C74F-4ADC8C01D7CE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542356124"/>
              </p:ext>
            </p:extLst>
          </p:nvPr>
        </p:nvGraphicFramePr>
        <p:xfrm>
          <a:off x="345077" y="1061071"/>
          <a:ext cx="11494552" cy="5183519"/>
        </p:xfrm>
        <a:graphic>
          <a:graphicData uri="http://schemas.openxmlformats.org/drawingml/2006/table">
            <a:tbl>
              <a:tblPr/>
              <a:tblGrid>
                <a:gridCol w="775740">
                  <a:extLst>
                    <a:ext uri="{9D8B030D-6E8A-4147-A177-3AD203B41FA5}">
                      <a16:colId xmlns:a16="http://schemas.microsoft.com/office/drawing/2014/main" val="2435050685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3062963275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607150556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4117372172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82452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19601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9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2025</a:t>
                      </a:r>
                      <a:r>
                        <a:rPr kumimoji="1" lang="ko-KR" altLang="en-US" sz="10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10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r>
                        <a:rPr kumimoji="1" lang="en-US" altLang="ko-KR" sz="10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2026</a:t>
                      </a:r>
                      <a:r>
                        <a:rPr kumimoji="1" lang="ko-KR" altLang="en-US" sz="10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</a:t>
                      </a:r>
                      <a:endParaRPr kumimoji="1" lang="en-US" altLang="ko-KR" sz="10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58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03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04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05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06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07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08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09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01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02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41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사업관리</a:t>
                      </a: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5836517"/>
                  </a:ext>
                </a:extLst>
              </a:tr>
              <a:tr h="4646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기획</a:t>
                      </a: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디자인</a:t>
                      </a:r>
                      <a:endParaRPr kumimoji="1" lang="ko-KR" altLang="en-US" sz="800" b="1" i="0" u="none" strike="noStrike" cap="none" spc="-60" normalizeH="0" baseline="3000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46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kern="1200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POS</a:t>
                      </a:r>
                      <a:endParaRPr kumimoji="1" lang="ko-KR" altLang="en-US" sz="800" b="1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ko-KR" altLang="en-US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36735"/>
                  </a:ext>
                </a:extLst>
              </a:tr>
              <a:tr h="4646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kern="1200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키오스크</a:t>
                      </a: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None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370609"/>
                  </a:ext>
                </a:extLst>
              </a:tr>
              <a:tr h="4646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POS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관리</a:t>
                      </a: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7267977"/>
                  </a:ext>
                </a:extLst>
              </a:tr>
              <a:tr h="4646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AWS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API</a:t>
                      </a: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326492"/>
                  </a:ext>
                </a:extLst>
              </a:tr>
              <a:tr h="4646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On</a:t>
                      </a: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API</a:t>
                      </a:r>
                      <a:endParaRPr kumimoji="1" lang="ko-KR" altLang="en-US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6561324"/>
                  </a:ext>
                </a:extLst>
              </a:tr>
              <a:tr h="46469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인프라</a:t>
                      </a:r>
                      <a:r>
                        <a:rPr kumimoji="1" lang="en-US" altLang="ko-KR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데이터전환</a:t>
                      </a: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1152063"/>
                  </a:ext>
                </a:extLst>
              </a:tr>
              <a:tr h="89240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점검 및</a:t>
                      </a:r>
                      <a:endParaRPr kumimoji="1" lang="en-US" altLang="ko-KR" sz="800" b="1" i="0" u="none" strike="noStrike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spc="-60" normalizeH="0" baseline="0" dirty="0">
                          <a:ln>
                            <a:solidFill>
                              <a:schemeClr val="bg1">
                                <a:alpha val="0"/>
                              </a:scheme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</a:t>
                      </a:r>
                    </a:p>
                  </a:txBody>
                  <a:tcPr marL="36000" marR="36000" marT="54000" marB="54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825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Pct val="80000"/>
                        <a:buFont typeface="아리따-돋움4.0(OTF)-Light" panose="020B0604020202020204" pitchFamily="34" charset="0"/>
                        <a:buChar char="•"/>
                        <a:tabLst/>
                      </a:pPr>
                      <a:endParaRPr kumimoji="1" lang="en-US" altLang="ko-KR" sz="800" b="0" i="0" u="none" strike="noStrike" kern="1200" cap="none" spc="-60" normalizeH="0" baseline="0" dirty="0">
                        <a:ln>
                          <a:solidFill>
                            <a:schemeClr val="bg1">
                              <a:alpha val="0"/>
                            </a:scheme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54000" marB="54000" anchor="ctr" horzOverflow="overflow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720686"/>
                  </a:ext>
                </a:extLst>
              </a:tr>
            </a:tbl>
          </a:graphicData>
        </a:graphic>
      </p:graphicFrame>
      <p:sp>
        <p:nvSpPr>
          <p:cNvPr id="4" name="모서리가 둥근 직사각형 77">
            <a:extLst>
              <a:ext uri="{FF2B5EF4-FFF2-40B4-BE49-F238E27FC236}">
                <a16:creationId xmlns:a16="http://schemas.microsoft.com/office/drawing/2014/main" id="{34A6032A-5CB4-A4DC-FE74-5397ADFFB7AE}"/>
              </a:ext>
            </a:extLst>
          </p:cNvPr>
          <p:cNvSpPr/>
          <p:nvPr userDrawn="1"/>
        </p:nvSpPr>
        <p:spPr>
          <a:xfrm>
            <a:off x="6945395" y="2296783"/>
            <a:ext cx="4528653" cy="2878792"/>
          </a:xfrm>
          <a:prstGeom prst="roundRect">
            <a:avLst>
              <a:gd name="adj" fmla="val 1788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                              안정화                                                    </a:t>
            </a:r>
            <a:r>
              <a:rPr lang="ko-KR" altLang="en-US" sz="700" b="1" dirty="0" err="1">
                <a:solidFill>
                  <a:schemeClr val="tx1"/>
                </a:solidFill>
                <a:latin typeface="+mn-ea"/>
                <a:ea typeface="+mn-ea"/>
              </a:rPr>
              <a:t>안정화</a:t>
            </a:r>
            <a:endParaRPr lang="ko-KR" altLang="en-US" sz="7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25288F6-855C-0CDA-6B2B-799D70A3C127}"/>
              </a:ext>
            </a:extLst>
          </p:cNvPr>
          <p:cNvCxnSpPr>
            <a:cxnSpLocks/>
          </p:cNvCxnSpPr>
          <p:nvPr userDrawn="1"/>
        </p:nvCxnSpPr>
        <p:spPr>
          <a:xfrm>
            <a:off x="10253115" y="1784410"/>
            <a:ext cx="0" cy="4460180"/>
          </a:xfrm>
          <a:prstGeom prst="line">
            <a:avLst/>
          </a:prstGeom>
          <a:ln w="6350">
            <a:solidFill>
              <a:srgbClr val="C00000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F5D5F2C-4721-3ED9-1DFB-827D1F15775A}"/>
              </a:ext>
            </a:extLst>
          </p:cNvPr>
          <p:cNvSpPr/>
          <p:nvPr userDrawn="1"/>
        </p:nvSpPr>
        <p:spPr>
          <a:xfrm>
            <a:off x="2133494" y="1457862"/>
            <a:ext cx="411540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kumimoji="1" lang="ko-KR" altLang="en-US" sz="700" b="1" kern="1200" spc="-50" dirty="0" err="1">
                <a:solidFill>
                  <a:schemeClr val="tx1"/>
                </a:solidFill>
                <a:latin typeface="+mn-ea"/>
                <a:ea typeface="+mn-ea"/>
                <a:cs typeface="KoPubWorld돋움체 Bold" panose="00000800000000000000" pitchFamily="2" charset="-127"/>
              </a:rPr>
              <a:t>착수보고</a:t>
            </a:r>
            <a:endParaRPr kumimoji="1" lang="en-US" altLang="ko-KR" sz="700" b="1" kern="1200" spc="-50" dirty="0">
              <a:solidFill>
                <a:schemeClr val="tx1"/>
              </a:solidFill>
              <a:latin typeface="+mn-ea"/>
              <a:ea typeface="+mn-ea"/>
              <a:cs typeface="KoPubWorld돋움체 Bold" panose="00000800000000000000" pitchFamily="2" charset="-127"/>
            </a:endParaRPr>
          </a:p>
          <a:p>
            <a:pPr algn="ctr"/>
            <a:r>
              <a:rPr kumimoji="1" lang="en-US" altLang="ko-KR" sz="700" b="1" kern="1200" spc="-50" dirty="0">
                <a:solidFill>
                  <a:schemeClr val="tx1"/>
                </a:solidFill>
                <a:latin typeface="+mn-ea"/>
                <a:ea typeface="+mn-ea"/>
                <a:cs typeface="KoPubWorld돋움체 Bold" panose="00000800000000000000" pitchFamily="2" charset="-127"/>
              </a:rPr>
              <a:t>(03/05)</a:t>
            </a:r>
            <a:endParaRPr kumimoji="1" lang="ko-KR" altLang="en-US" sz="700" b="1" kern="1200" spc="-50" dirty="0">
              <a:solidFill>
                <a:schemeClr val="tx1"/>
              </a:solidFill>
              <a:latin typeface="+mn-ea"/>
              <a:ea typeface="+mn-ea"/>
              <a:cs typeface="KoPubWorld돋움체 Bold" panose="00000800000000000000" pitchFamily="2" charset="-127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FFE23ABD-37B4-A57E-D338-9539E65AC103}"/>
              </a:ext>
            </a:extLst>
          </p:cNvPr>
          <p:cNvCxnSpPr>
            <a:cxnSpLocks/>
          </p:cNvCxnSpPr>
          <p:nvPr userDrawn="1"/>
        </p:nvCxnSpPr>
        <p:spPr>
          <a:xfrm flipV="1">
            <a:off x="1624266" y="1745083"/>
            <a:ext cx="9805734" cy="1"/>
          </a:xfrm>
          <a:prstGeom prst="line">
            <a:avLst/>
          </a:prstGeom>
          <a:solidFill>
            <a:schemeClr val="bg1"/>
          </a:solidFill>
          <a:ln w="25400">
            <a:solidFill>
              <a:srgbClr val="C0C0C0"/>
            </a:solidFill>
            <a:round/>
            <a:headEnd type="oval" w="med" len="med"/>
            <a:tailEnd type="oval" w="med" len="med"/>
          </a:ln>
          <a:effectLst/>
        </p:spPr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717E73E5-C82D-9F44-3B1D-1132046DC384}"/>
              </a:ext>
            </a:extLst>
          </p:cNvPr>
          <p:cNvCxnSpPr>
            <a:cxnSpLocks/>
          </p:cNvCxnSpPr>
          <p:nvPr userDrawn="1"/>
        </p:nvCxnSpPr>
        <p:spPr>
          <a:xfrm>
            <a:off x="6945395" y="1784410"/>
            <a:ext cx="0" cy="4460180"/>
          </a:xfrm>
          <a:prstGeom prst="line">
            <a:avLst/>
          </a:prstGeom>
          <a:ln w="6350">
            <a:solidFill>
              <a:srgbClr val="C00000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3A76EF4C-C123-17B6-EBEB-50EF91A9DD4A}"/>
              </a:ext>
            </a:extLst>
          </p:cNvPr>
          <p:cNvCxnSpPr>
            <a:cxnSpLocks/>
          </p:cNvCxnSpPr>
          <p:nvPr userDrawn="1"/>
        </p:nvCxnSpPr>
        <p:spPr>
          <a:xfrm>
            <a:off x="8615255" y="1784410"/>
            <a:ext cx="0" cy="4460180"/>
          </a:xfrm>
          <a:prstGeom prst="line">
            <a:avLst/>
          </a:prstGeom>
          <a:ln w="6350">
            <a:solidFill>
              <a:srgbClr val="C00000"/>
            </a:solidFill>
            <a:prstDash val="dash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직사각형 160">
            <a:extLst>
              <a:ext uri="{FF2B5EF4-FFF2-40B4-BE49-F238E27FC236}">
                <a16:creationId xmlns:a16="http://schemas.microsoft.com/office/drawing/2014/main" id="{B0EADCCA-F87B-BC22-9DC7-A029A9280F2D}"/>
              </a:ext>
            </a:extLst>
          </p:cNvPr>
          <p:cNvSpPr/>
          <p:nvPr userDrawn="1"/>
        </p:nvSpPr>
        <p:spPr>
          <a:xfrm>
            <a:off x="5423156" y="1534062"/>
            <a:ext cx="540434" cy="10772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중간보고</a:t>
            </a:r>
            <a:endParaRPr lang="ko-KR" altLang="en-US" sz="700" spc="-50" dirty="0">
              <a:latin typeface="+mn-ea"/>
              <a:ea typeface="+mn-ea"/>
            </a:endParaRPr>
          </a:p>
        </p:txBody>
      </p:sp>
      <p:sp>
        <p:nvSpPr>
          <p:cNvPr id="162" name="타원 161">
            <a:extLst>
              <a:ext uri="{FF2B5EF4-FFF2-40B4-BE49-F238E27FC236}">
                <a16:creationId xmlns:a16="http://schemas.microsoft.com/office/drawing/2014/main" id="{F0567A2E-37A3-E788-7222-AB663EA4AC67}"/>
              </a:ext>
            </a:extLst>
          </p:cNvPr>
          <p:cNvSpPr/>
          <p:nvPr userDrawn="1"/>
        </p:nvSpPr>
        <p:spPr>
          <a:xfrm>
            <a:off x="2309350" y="1703729"/>
            <a:ext cx="86400" cy="864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C00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503CA923-FBE6-DBF5-348C-0CC842E2B64F}"/>
              </a:ext>
            </a:extLst>
          </p:cNvPr>
          <p:cNvSpPr/>
          <p:nvPr userDrawn="1"/>
        </p:nvSpPr>
        <p:spPr>
          <a:xfrm>
            <a:off x="6905671" y="1703729"/>
            <a:ext cx="86400" cy="8730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64" name="타원 163">
            <a:extLst>
              <a:ext uri="{FF2B5EF4-FFF2-40B4-BE49-F238E27FC236}">
                <a16:creationId xmlns:a16="http://schemas.microsoft.com/office/drawing/2014/main" id="{29F5C415-347D-EC58-31B3-E2B04F97562C}"/>
              </a:ext>
            </a:extLst>
          </p:cNvPr>
          <p:cNvSpPr/>
          <p:nvPr userDrawn="1"/>
        </p:nvSpPr>
        <p:spPr>
          <a:xfrm>
            <a:off x="5635970" y="1703729"/>
            <a:ext cx="86400" cy="864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C00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541D2392-4901-7E16-332A-0E7C7E455D63}"/>
              </a:ext>
            </a:extLst>
          </p:cNvPr>
          <p:cNvSpPr/>
          <p:nvPr userDrawn="1"/>
        </p:nvSpPr>
        <p:spPr>
          <a:xfrm>
            <a:off x="6674683" y="1534062"/>
            <a:ext cx="540434" cy="10772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ko-KR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1</a:t>
            </a:r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차 오픈</a:t>
            </a:r>
            <a:endParaRPr lang="ko-KR" altLang="en-US" sz="700" spc="-50" dirty="0">
              <a:latin typeface="+mn-ea"/>
              <a:ea typeface="+mn-ea"/>
            </a:endParaRPr>
          </a:p>
        </p:txBody>
      </p:sp>
      <p:sp>
        <p:nvSpPr>
          <p:cNvPr id="166" name="타원 165">
            <a:extLst>
              <a:ext uri="{FF2B5EF4-FFF2-40B4-BE49-F238E27FC236}">
                <a16:creationId xmlns:a16="http://schemas.microsoft.com/office/drawing/2014/main" id="{4ED4BBE8-89EB-8BC5-A6C4-D8D3C469658B}"/>
              </a:ext>
            </a:extLst>
          </p:cNvPr>
          <p:cNvSpPr/>
          <p:nvPr userDrawn="1"/>
        </p:nvSpPr>
        <p:spPr>
          <a:xfrm>
            <a:off x="8579198" y="1703729"/>
            <a:ext cx="86400" cy="8730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4A44915A-2ECE-C207-9D95-A6486D550F96}"/>
              </a:ext>
            </a:extLst>
          </p:cNvPr>
          <p:cNvSpPr/>
          <p:nvPr userDrawn="1"/>
        </p:nvSpPr>
        <p:spPr>
          <a:xfrm>
            <a:off x="8348210" y="1534062"/>
            <a:ext cx="540434" cy="10772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ko-KR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2</a:t>
            </a:r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차 오픈</a:t>
            </a:r>
            <a:endParaRPr lang="ko-KR" altLang="en-US" sz="700" spc="-50" dirty="0">
              <a:latin typeface="+mn-ea"/>
              <a:ea typeface="+mn-ea"/>
            </a:endParaRPr>
          </a:p>
        </p:txBody>
      </p:sp>
      <p:sp>
        <p:nvSpPr>
          <p:cNvPr id="168" name="타원 167">
            <a:extLst>
              <a:ext uri="{FF2B5EF4-FFF2-40B4-BE49-F238E27FC236}">
                <a16:creationId xmlns:a16="http://schemas.microsoft.com/office/drawing/2014/main" id="{3D8F4CC2-F7AE-2B2C-472A-99798E47D70D}"/>
              </a:ext>
            </a:extLst>
          </p:cNvPr>
          <p:cNvSpPr/>
          <p:nvPr userDrawn="1"/>
        </p:nvSpPr>
        <p:spPr>
          <a:xfrm>
            <a:off x="10213310" y="1703729"/>
            <a:ext cx="86400" cy="87304"/>
          </a:xfrm>
          <a:prstGeom prst="ellipse">
            <a:avLst/>
          </a:prstGeom>
          <a:solidFill>
            <a:schemeClr val="bg1"/>
          </a:solidFill>
          <a:ln w="19050">
            <a:solidFill>
              <a:srgbClr val="C0000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1F42E250-AFA2-4956-2957-DC903B7C841F}"/>
              </a:ext>
            </a:extLst>
          </p:cNvPr>
          <p:cNvSpPr/>
          <p:nvPr userDrawn="1"/>
        </p:nvSpPr>
        <p:spPr>
          <a:xfrm>
            <a:off x="10001372" y="1534062"/>
            <a:ext cx="540434" cy="10772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ko-KR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3</a:t>
            </a:r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차 오픈</a:t>
            </a:r>
            <a:endParaRPr lang="ko-KR" altLang="en-US" sz="700" spc="-50" dirty="0">
              <a:latin typeface="+mn-ea"/>
              <a:ea typeface="+mn-ea"/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B79E543E-9282-BDEA-5A5C-399C500B11F3}"/>
              </a:ext>
            </a:extLst>
          </p:cNvPr>
          <p:cNvSpPr/>
          <p:nvPr userDrawn="1"/>
        </p:nvSpPr>
        <p:spPr>
          <a:xfrm>
            <a:off x="10941607" y="1534062"/>
            <a:ext cx="540434" cy="107722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완료보고</a:t>
            </a:r>
            <a:endParaRPr lang="ko-KR" altLang="en-US" sz="700" spc="-50" dirty="0">
              <a:latin typeface="+mn-ea"/>
              <a:ea typeface="+mn-ea"/>
            </a:endParaRPr>
          </a:p>
        </p:txBody>
      </p:sp>
      <p:sp>
        <p:nvSpPr>
          <p:cNvPr id="171" name="타원 170">
            <a:extLst>
              <a:ext uri="{FF2B5EF4-FFF2-40B4-BE49-F238E27FC236}">
                <a16:creationId xmlns:a16="http://schemas.microsoft.com/office/drawing/2014/main" id="{CC693F81-B44B-C7E4-DEFB-71FFE37C7E19}"/>
              </a:ext>
            </a:extLst>
          </p:cNvPr>
          <p:cNvSpPr/>
          <p:nvPr userDrawn="1"/>
        </p:nvSpPr>
        <p:spPr>
          <a:xfrm>
            <a:off x="11154421" y="1703729"/>
            <a:ext cx="86400" cy="86400"/>
          </a:xfrm>
          <a:prstGeom prst="ellipse">
            <a:avLst/>
          </a:prstGeom>
          <a:solidFill>
            <a:schemeClr val="bg1"/>
          </a:solidFill>
          <a:ln w="19050">
            <a:solidFill>
              <a:srgbClr val="FFC00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DAE9E6A2-E9BF-C06C-1030-13CDED84DD99}"/>
              </a:ext>
            </a:extLst>
          </p:cNvPr>
          <p:cNvGrpSpPr/>
          <p:nvPr userDrawn="1"/>
        </p:nvGrpSpPr>
        <p:grpSpPr>
          <a:xfrm>
            <a:off x="1825769" y="4994093"/>
            <a:ext cx="892031" cy="179959"/>
            <a:chOff x="1825769" y="5235216"/>
            <a:chExt cx="892031" cy="179959"/>
          </a:xfrm>
        </p:grpSpPr>
        <p:sp>
          <p:nvSpPr>
            <p:cNvPr id="183" name="직사각형 182">
              <a:extLst>
                <a:ext uri="{FF2B5EF4-FFF2-40B4-BE49-F238E27FC236}">
                  <a16:creationId xmlns:a16="http://schemas.microsoft.com/office/drawing/2014/main" id="{B0427F41-5008-A91C-472E-CBF4CFFD14A3}"/>
                </a:ext>
              </a:extLst>
            </p:cNvPr>
            <p:cNvSpPr/>
            <p:nvPr userDrawn="1"/>
          </p:nvSpPr>
          <p:spPr>
            <a:xfrm>
              <a:off x="1860550" y="5268941"/>
              <a:ext cx="828672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개발 서버 구축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184" name="왼쪽 대괄호 183">
              <a:extLst>
                <a:ext uri="{FF2B5EF4-FFF2-40B4-BE49-F238E27FC236}">
                  <a16:creationId xmlns:a16="http://schemas.microsoft.com/office/drawing/2014/main" id="{91DB328E-7744-6FB6-84A4-6F03A9AA4D27}"/>
                </a:ext>
              </a:extLst>
            </p:cNvPr>
            <p:cNvSpPr/>
            <p:nvPr userDrawn="1"/>
          </p:nvSpPr>
          <p:spPr>
            <a:xfrm rot="5400000">
              <a:off x="2199064" y="4861921"/>
              <a:ext cx="142266" cy="888856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cxnSp>
          <p:nvCxnSpPr>
            <p:cNvPr id="182" name="직선 연결선 181">
              <a:extLst>
                <a:ext uri="{FF2B5EF4-FFF2-40B4-BE49-F238E27FC236}">
                  <a16:creationId xmlns:a16="http://schemas.microsoft.com/office/drawing/2014/main" id="{80BE5318-883E-6513-10FC-E7207EC040A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28737" y="5415175"/>
              <a:ext cx="889063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E4D46C0D-A467-49C9-16A5-4B98239F7EC2}"/>
              </a:ext>
            </a:extLst>
          </p:cNvPr>
          <p:cNvGrpSpPr/>
          <p:nvPr userDrawn="1"/>
        </p:nvGrpSpPr>
        <p:grpSpPr>
          <a:xfrm>
            <a:off x="5479125" y="4917517"/>
            <a:ext cx="893100" cy="167260"/>
            <a:chOff x="1825768" y="5247915"/>
            <a:chExt cx="893100" cy="167260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9C48634E-D8AC-53A4-A904-B7C5AA61006E}"/>
                </a:ext>
              </a:extLst>
            </p:cNvPr>
            <p:cNvSpPr/>
            <p:nvPr userDrawn="1"/>
          </p:nvSpPr>
          <p:spPr>
            <a:xfrm>
              <a:off x="1860550" y="5278466"/>
              <a:ext cx="828672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운영 서버 구축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195" name="왼쪽 대괄호 194">
              <a:extLst>
                <a:ext uri="{FF2B5EF4-FFF2-40B4-BE49-F238E27FC236}">
                  <a16:creationId xmlns:a16="http://schemas.microsoft.com/office/drawing/2014/main" id="{7A9677F9-0AFB-EC82-CD8D-0585E80EB01A}"/>
                </a:ext>
              </a:extLst>
            </p:cNvPr>
            <p:cNvSpPr/>
            <p:nvPr userDrawn="1"/>
          </p:nvSpPr>
          <p:spPr>
            <a:xfrm rot="5400000">
              <a:off x="2199806" y="4873877"/>
              <a:ext cx="145023" cy="893100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337EF2E0-1674-3ACA-D54F-E00AF129261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28737" y="5415175"/>
              <a:ext cx="889063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A34D2F32-6E39-E297-B3E4-A823B364A0DB}"/>
              </a:ext>
            </a:extLst>
          </p:cNvPr>
          <p:cNvGrpSpPr/>
          <p:nvPr userDrawn="1"/>
        </p:nvGrpSpPr>
        <p:grpSpPr>
          <a:xfrm>
            <a:off x="6144895" y="5144310"/>
            <a:ext cx="667865" cy="156641"/>
            <a:chOff x="2054023" y="5415175"/>
            <a:chExt cx="667865" cy="156641"/>
          </a:xfrm>
        </p:grpSpPr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2E1349FA-41CF-408E-6C7C-BEDA0F2E8100}"/>
                </a:ext>
              </a:extLst>
            </p:cNvPr>
            <p:cNvSpPr/>
            <p:nvPr userDrawn="1"/>
          </p:nvSpPr>
          <p:spPr>
            <a:xfrm>
              <a:off x="2087678" y="5449916"/>
              <a:ext cx="601544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데이터 이관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199" name="왼쪽 대괄호 198">
              <a:extLst>
                <a:ext uri="{FF2B5EF4-FFF2-40B4-BE49-F238E27FC236}">
                  <a16:creationId xmlns:a16="http://schemas.microsoft.com/office/drawing/2014/main" id="{6E6E318B-D40F-49E8-CFDD-4E3AAD63855E}"/>
                </a:ext>
              </a:extLst>
            </p:cNvPr>
            <p:cNvSpPr/>
            <p:nvPr userDrawn="1"/>
          </p:nvSpPr>
          <p:spPr>
            <a:xfrm rot="16200000">
              <a:off x="2325270" y="5175198"/>
              <a:ext cx="125376" cy="667860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cxnSp>
          <p:nvCxnSpPr>
            <p:cNvPr id="197" name="직선 연결선 196">
              <a:extLst>
                <a:ext uri="{FF2B5EF4-FFF2-40B4-BE49-F238E27FC236}">
                  <a16:creationId xmlns:a16="http://schemas.microsoft.com/office/drawing/2014/main" id="{C25E42CB-A96B-F73F-6EF9-A8462BCD9F2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054023" y="5415175"/>
              <a:ext cx="66377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200" name="그룹 199">
            <a:extLst>
              <a:ext uri="{FF2B5EF4-FFF2-40B4-BE49-F238E27FC236}">
                <a16:creationId xmlns:a16="http://schemas.microsoft.com/office/drawing/2014/main" id="{705E92A1-4C58-3014-E286-9B7D2771A587}"/>
              </a:ext>
            </a:extLst>
          </p:cNvPr>
          <p:cNvGrpSpPr/>
          <p:nvPr userDrawn="1"/>
        </p:nvGrpSpPr>
        <p:grpSpPr>
          <a:xfrm>
            <a:off x="5119109" y="5149589"/>
            <a:ext cx="889064" cy="166645"/>
            <a:chOff x="1841577" y="5462321"/>
            <a:chExt cx="889064" cy="166645"/>
          </a:xfrm>
        </p:grpSpPr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17384FC2-6067-C1E2-E3F6-021AD9773D16}"/>
                </a:ext>
              </a:extLst>
            </p:cNvPr>
            <p:cNvSpPr/>
            <p:nvPr userDrawn="1"/>
          </p:nvSpPr>
          <p:spPr>
            <a:xfrm>
              <a:off x="1860550" y="5497541"/>
              <a:ext cx="828672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보안</a:t>
              </a:r>
              <a:r>
                <a:rPr lang="en-US" altLang="ko-KR" sz="700" b="1" spc="-50" dirty="0">
                  <a:latin typeface="+mn-ea"/>
                  <a:ea typeface="+mn-ea"/>
                </a:rPr>
                <a:t>, </a:t>
              </a:r>
              <a:r>
                <a:rPr lang="ko-KR" altLang="en-US" sz="700" b="1" spc="-50" dirty="0">
                  <a:latin typeface="+mn-ea"/>
                  <a:ea typeface="+mn-ea"/>
                </a:rPr>
                <a:t>관계 모니터링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203" name="왼쪽 대괄호 202">
              <a:extLst>
                <a:ext uri="{FF2B5EF4-FFF2-40B4-BE49-F238E27FC236}">
                  <a16:creationId xmlns:a16="http://schemas.microsoft.com/office/drawing/2014/main" id="{EC840CDB-A9D2-DCE2-60FE-B4F250990F4B}"/>
                </a:ext>
              </a:extLst>
            </p:cNvPr>
            <p:cNvSpPr/>
            <p:nvPr userDrawn="1"/>
          </p:nvSpPr>
          <p:spPr>
            <a:xfrm rot="16200000">
              <a:off x="2218452" y="5116777"/>
              <a:ext cx="140659" cy="883719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cxnSp>
          <p:nvCxnSpPr>
            <p:cNvPr id="201" name="직선 연결선 200">
              <a:extLst>
                <a:ext uri="{FF2B5EF4-FFF2-40B4-BE49-F238E27FC236}">
                  <a16:creationId xmlns:a16="http://schemas.microsoft.com/office/drawing/2014/main" id="{BA77B3B5-9D87-ACBA-B6B6-143824EBE38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841577" y="5462321"/>
              <a:ext cx="889063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218" name="그룹 217">
            <a:extLst>
              <a:ext uri="{FF2B5EF4-FFF2-40B4-BE49-F238E27FC236}">
                <a16:creationId xmlns:a16="http://schemas.microsoft.com/office/drawing/2014/main" id="{D4209DC9-7057-65C6-A4AC-345542175A6E}"/>
              </a:ext>
            </a:extLst>
          </p:cNvPr>
          <p:cNvGrpSpPr/>
          <p:nvPr userDrawn="1"/>
        </p:nvGrpSpPr>
        <p:grpSpPr>
          <a:xfrm>
            <a:off x="5595738" y="5384459"/>
            <a:ext cx="465020" cy="257244"/>
            <a:chOff x="1870526" y="5157931"/>
            <a:chExt cx="465020" cy="257244"/>
          </a:xfrm>
        </p:grpSpPr>
        <p:sp>
          <p:nvSpPr>
            <p:cNvPr id="220" name="왼쪽 대괄호 219">
              <a:extLst>
                <a:ext uri="{FF2B5EF4-FFF2-40B4-BE49-F238E27FC236}">
                  <a16:creationId xmlns:a16="http://schemas.microsoft.com/office/drawing/2014/main" id="{CDE8A4EE-D27B-D123-582F-0502E5D8EDD6}"/>
                </a:ext>
              </a:extLst>
            </p:cNvPr>
            <p:cNvSpPr/>
            <p:nvPr userDrawn="1"/>
          </p:nvSpPr>
          <p:spPr>
            <a:xfrm rot="5400000">
              <a:off x="2035145" y="5162078"/>
              <a:ext cx="150072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E337D855-2588-58D8-255E-EEF2D89FB929}"/>
                </a:ext>
              </a:extLst>
            </p:cNvPr>
            <p:cNvSpPr/>
            <p:nvPr userDrawn="1"/>
          </p:nvSpPr>
          <p:spPr>
            <a:xfrm>
              <a:off x="1870526" y="5157931"/>
              <a:ext cx="465020" cy="215444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n-US" altLang="ko-KR" sz="700" b="1" spc="-50" dirty="0">
                  <a:latin typeface="+mn-ea"/>
                  <a:ea typeface="+mn-ea"/>
                </a:rPr>
                <a:t>1</a:t>
              </a:r>
              <a:r>
                <a:rPr lang="ko-KR" altLang="en-US" sz="700" b="1" spc="-50" dirty="0">
                  <a:latin typeface="+mn-ea"/>
                  <a:ea typeface="+mn-ea"/>
                </a:rPr>
                <a:t>차</a:t>
              </a:r>
              <a:endParaRPr lang="en-US" altLang="ko-KR" sz="700" b="1" spc="-50" dirty="0">
                <a:latin typeface="+mn-ea"/>
                <a:ea typeface="+mn-ea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spc="-50" dirty="0">
                  <a:latin typeface="+mn-ea"/>
                  <a:ea typeface="+mn-ea"/>
                </a:rPr>
                <a:t>통합테스트 </a:t>
              </a:r>
              <a:endParaRPr lang="en-US" altLang="ko-KR" sz="700" b="1" spc="-50" dirty="0">
                <a:latin typeface="+mn-ea"/>
                <a:ea typeface="+mn-ea"/>
              </a:endParaRPr>
            </a:p>
          </p:txBody>
        </p:sp>
        <p:cxnSp>
          <p:nvCxnSpPr>
            <p:cNvPr id="219" name="직선 연결선 218">
              <a:extLst>
                <a:ext uri="{FF2B5EF4-FFF2-40B4-BE49-F238E27FC236}">
                  <a16:creationId xmlns:a16="http://schemas.microsoft.com/office/drawing/2014/main" id="{C8BB25B6-1C34-D3F0-B376-FDF561CCC52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chemeClr val="accent4">
                  <a:lumMod val="75000"/>
                </a:schemeClr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FF3B4387-D976-76BD-EAAB-9A61285625CC}"/>
              </a:ext>
            </a:extLst>
          </p:cNvPr>
          <p:cNvGrpSpPr/>
          <p:nvPr userDrawn="1"/>
        </p:nvGrpSpPr>
        <p:grpSpPr>
          <a:xfrm>
            <a:off x="5599113" y="5742530"/>
            <a:ext cx="465164" cy="234423"/>
            <a:chOff x="1871769" y="5415175"/>
            <a:chExt cx="465164" cy="234423"/>
          </a:xfrm>
        </p:grpSpPr>
        <p:sp>
          <p:nvSpPr>
            <p:cNvPr id="240" name="왼쪽 대괄호 239">
              <a:extLst>
                <a:ext uri="{FF2B5EF4-FFF2-40B4-BE49-F238E27FC236}">
                  <a16:creationId xmlns:a16="http://schemas.microsoft.com/office/drawing/2014/main" id="{1A39CAB6-BF00-251C-613D-B4C8CD0E1772}"/>
                </a:ext>
              </a:extLst>
            </p:cNvPr>
            <p:cNvSpPr/>
            <p:nvPr userDrawn="1"/>
          </p:nvSpPr>
          <p:spPr>
            <a:xfrm rot="16200000">
              <a:off x="2043894" y="5362118"/>
              <a:ext cx="132576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241" name="직사각형 240">
              <a:extLst>
                <a:ext uri="{FF2B5EF4-FFF2-40B4-BE49-F238E27FC236}">
                  <a16:creationId xmlns:a16="http://schemas.microsoft.com/office/drawing/2014/main" id="{06406600-9FD3-4890-42E4-C4D9637E3480}"/>
                </a:ext>
              </a:extLst>
            </p:cNvPr>
            <p:cNvSpPr/>
            <p:nvPr userDrawn="1"/>
          </p:nvSpPr>
          <p:spPr>
            <a:xfrm>
              <a:off x="1871769" y="5434154"/>
              <a:ext cx="465164" cy="215444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n-US" altLang="ko-KR" sz="700" b="1" spc="-50" dirty="0">
                  <a:latin typeface="+mn-ea"/>
                  <a:ea typeface="+mn-ea"/>
                </a:rPr>
                <a:t>1</a:t>
              </a:r>
              <a:r>
                <a:rPr lang="ko-KR" altLang="en-US" sz="700" b="1" spc="-50" dirty="0">
                  <a:latin typeface="+mn-ea"/>
                  <a:ea typeface="+mn-ea"/>
                </a:rPr>
                <a:t>차</a:t>
              </a:r>
              <a:endParaRPr lang="en-US" altLang="ko-KR" sz="700" b="1" spc="-50" dirty="0">
                <a:latin typeface="+mn-ea"/>
                <a:ea typeface="+mn-ea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spc="-50" dirty="0">
                  <a:latin typeface="+mn-ea"/>
                  <a:ea typeface="+mn-ea"/>
                </a:rPr>
                <a:t>성능테스트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cxnSp>
          <p:nvCxnSpPr>
            <p:cNvPr id="239" name="직선 연결선 238">
              <a:extLst>
                <a:ext uri="{FF2B5EF4-FFF2-40B4-BE49-F238E27FC236}">
                  <a16:creationId xmlns:a16="http://schemas.microsoft.com/office/drawing/2014/main" id="{0A8B7CC8-5BA7-F019-C3A4-D6288758E39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chemeClr val="accent6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sp>
        <p:nvSpPr>
          <p:cNvPr id="246" name="모서리가 둥근 직사각형 109">
            <a:extLst>
              <a:ext uri="{FF2B5EF4-FFF2-40B4-BE49-F238E27FC236}">
                <a16:creationId xmlns:a16="http://schemas.microsoft.com/office/drawing/2014/main" id="{F1E5F42D-5033-42F5-6861-2453C17681D6}"/>
              </a:ext>
            </a:extLst>
          </p:cNvPr>
          <p:cNvSpPr/>
          <p:nvPr userDrawn="1"/>
        </p:nvSpPr>
        <p:spPr>
          <a:xfrm>
            <a:off x="1592218" y="1815559"/>
            <a:ext cx="576512" cy="160498"/>
          </a:xfrm>
          <a:prstGeom prst="round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착수준비</a:t>
            </a:r>
          </a:p>
        </p:txBody>
      </p: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E842FD29-A36F-7701-30A4-A96DAAF00479}"/>
              </a:ext>
            </a:extLst>
          </p:cNvPr>
          <p:cNvGrpSpPr/>
          <p:nvPr userDrawn="1"/>
        </p:nvGrpSpPr>
        <p:grpSpPr>
          <a:xfrm>
            <a:off x="4762501" y="6022720"/>
            <a:ext cx="503409" cy="174105"/>
            <a:chOff x="1858132" y="5415175"/>
            <a:chExt cx="503409" cy="174105"/>
          </a:xfrm>
        </p:grpSpPr>
        <p:sp>
          <p:nvSpPr>
            <p:cNvPr id="249" name="왼쪽 대괄호 248">
              <a:extLst>
                <a:ext uri="{FF2B5EF4-FFF2-40B4-BE49-F238E27FC236}">
                  <a16:creationId xmlns:a16="http://schemas.microsoft.com/office/drawing/2014/main" id="{8B6EBBBA-0C66-686E-7A37-BA0C163EFF7D}"/>
                </a:ext>
              </a:extLst>
            </p:cNvPr>
            <p:cNvSpPr/>
            <p:nvPr userDrawn="1"/>
          </p:nvSpPr>
          <p:spPr>
            <a:xfrm rot="16200000">
              <a:off x="2038475" y="5356700"/>
              <a:ext cx="143413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6C19AAF1-2B52-2E84-1C4E-F00A41180D5D}"/>
                </a:ext>
              </a:extLst>
            </p:cNvPr>
            <p:cNvSpPr/>
            <p:nvPr userDrawn="1"/>
          </p:nvSpPr>
          <p:spPr>
            <a:xfrm>
              <a:off x="1858132" y="5464205"/>
              <a:ext cx="503409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품질 점검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cxnSp>
          <p:nvCxnSpPr>
            <p:cNvPr id="248" name="직선 연결선 247">
              <a:extLst>
                <a:ext uri="{FF2B5EF4-FFF2-40B4-BE49-F238E27FC236}">
                  <a16:creationId xmlns:a16="http://schemas.microsoft.com/office/drawing/2014/main" id="{5C38C046-3358-7FF2-0D9B-F5C37C8000D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sp>
        <p:nvSpPr>
          <p:cNvPr id="259" name="타원 258">
            <a:extLst>
              <a:ext uri="{FF2B5EF4-FFF2-40B4-BE49-F238E27FC236}">
                <a16:creationId xmlns:a16="http://schemas.microsoft.com/office/drawing/2014/main" id="{8A6E7F18-AD52-6BDF-FD97-8FBA5B364E62}"/>
              </a:ext>
            </a:extLst>
          </p:cNvPr>
          <p:cNvSpPr/>
          <p:nvPr userDrawn="1"/>
        </p:nvSpPr>
        <p:spPr>
          <a:xfrm>
            <a:off x="6480639" y="1703729"/>
            <a:ext cx="86400" cy="87304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0" name="직사각형 259">
            <a:extLst>
              <a:ext uri="{FF2B5EF4-FFF2-40B4-BE49-F238E27FC236}">
                <a16:creationId xmlns:a16="http://schemas.microsoft.com/office/drawing/2014/main" id="{143463ED-B502-2B1C-A895-5262AAEEE998}"/>
              </a:ext>
            </a:extLst>
          </p:cNvPr>
          <p:cNvSpPr/>
          <p:nvPr userDrawn="1"/>
        </p:nvSpPr>
        <p:spPr>
          <a:xfrm>
            <a:off x="6252071" y="1826089"/>
            <a:ext cx="540434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ko-KR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1</a:t>
            </a:r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차 </a:t>
            </a:r>
            <a:endParaRPr lang="en-US" altLang="ko-KR" sz="700" b="1" spc="-50" dirty="0">
              <a:latin typeface="+mn-ea"/>
              <a:ea typeface="+mn-ea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사용자 교육</a:t>
            </a:r>
            <a:endParaRPr lang="ko-KR" altLang="en-US" sz="700" spc="-50" dirty="0">
              <a:latin typeface="+mn-ea"/>
              <a:ea typeface="+mn-ea"/>
            </a:endParaRPr>
          </a:p>
        </p:txBody>
      </p:sp>
      <p:sp>
        <p:nvSpPr>
          <p:cNvPr id="261" name="타원 260">
            <a:extLst>
              <a:ext uri="{FF2B5EF4-FFF2-40B4-BE49-F238E27FC236}">
                <a16:creationId xmlns:a16="http://schemas.microsoft.com/office/drawing/2014/main" id="{31E20FF7-EF80-DF92-F304-B232E6018610}"/>
              </a:ext>
            </a:extLst>
          </p:cNvPr>
          <p:cNvSpPr/>
          <p:nvPr userDrawn="1"/>
        </p:nvSpPr>
        <p:spPr>
          <a:xfrm>
            <a:off x="8178274" y="1701431"/>
            <a:ext cx="86400" cy="87304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2" name="직사각형 261">
            <a:extLst>
              <a:ext uri="{FF2B5EF4-FFF2-40B4-BE49-F238E27FC236}">
                <a16:creationId xmlns:a16="http://schemas.microsoft.com/office/drawing/2014/main" id="{7D2CAECB-016E-A352-353F-BBCC38645416}"/>
              </a:ext>
            </a:extLst>
          </p:cNvPr>
          <p:cNvSpPr/>
          <p:nvPr userDrawn="1"/>
        </p:nvSpPr>
        <p:spPr>
          <a:xfrm>
            <a:off x="7949706" y="1823791"/>
            <a:ext cx="540434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ko-KR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2</a:t>
            </a:r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차 </a:t>
            </a:r>
            <a:endParaRPr lang="en-US" altLang="ko-KR" sz="700" b="1" spc="-50" dirty="0">
              <a:latin typeface="+mn-ea"/>
              <a:ea typeface="+mn-ea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사용자 교육</a:t>
            </a:r>
            <a:endParaRPr lang="ko-KR" altLang="en-US" sz="700" spc="-50" dirty="0">
              <a:latin typeface="+mn-ea"/>
              <a:ea typeface="+mn-ea"/>
            </a:endParaRPr>
          </a:p>
        </p:txBody>
      </p:sp>
      <p:sp>
        <p:nvSpPr>
          <p:cNvPr id="263" name="타원 262">
            <a:extLst>
              <a:ext uri="{FF2B5EF4-FFF2-40B4-BE49-F238E27FC236}">
                <a16:creationId xmlns:a16="http://schemas.microsoft.com/office/drawing/2014/main" id="{429499EF-0DEA-17B1-E78A-881C131E017F}"/>
              </a:ext>
            </a:extLst>
          </p:cNvPr>
          <p:cNvSpPr/>
          <p:nvPr userDrawn="1"/>
        </p:nvSpPr>
        <p:spPr>
          <a:xfrm>
            <a:off x="9862625" y="1701431"/>
            <a:ext cx="86400" cy="87304"/>
          </a:xfrm>
          <a:prstGeom prst="ellipse">
            <a:avLst/>
          </a:prstGeom>
          <a:solidFill>
            <a:schemeClr val="bg1"/>
          </a:solidFill>
          <a:ln w="19050">
            <a:solidFill>
              <a:srgbClr val="0070C0"/>
            </a:solidFill>
            <a:round/>
            <a:headEnd/>
            <a:tailEnd/>
          </a:ln>
          <a:effectLst/>
        </p:spPr>
        <p:txBody>
          <a:bodyPr wrap="none" tIns="90000" bIns="90000" anchor="ctr"/>
          <a:lstStyle/>
          <a:p>
            <a:pPr marL="0" marR="0" lvl="0" indent="0" algn="ctr" defTabSz="914446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sp>
        <p:nvSpPr>
          <p:cNvPr id="264" name="직사각형 263">
            <a:extLst>
              <a:ext uri="{FF2B5EF4-FFF2-40B4-BE49-F238E27FC236}">
                <a16:creationId xmlns:a16="http://schemas.microsoft.com/office/drawing/2014/main" id="{BF23421C-C385-118D-B370-5902E6825463}"/>
              </a:ext>
            </a:extLst>
          </p:cNvPr>
          <p:cNvSpPr/>
          <p:nvPr userDrawn="1"/>
        </p:nvSpPr>
        <p:spPr>
          <a:xfrm>
            <a:off x="9634057" y="1823791"/>
            <a:ext cx="540434" cy="215444"/>
          </a:xfrm>
          <a:prstGeom prst="rect">
            <a:avLst/>
          </a:prstGeom>
          <a:noFill/>
        </p:spPr>
        <p:txBody>
          <a:bodyPr wrap="square" lIns="0" tIns="0" rIns="0" bIns="0" anchor="ctr" anchorCtr="0">
            <a:spAutoFit/>
          </a:bodyPr>
          <a:lstStyle/>
          <a:p>
            <a:pPr algn="ctr"/>
            <a:r>
              <a:rPr lang="en-US" altLang="ko-KR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3</a:t>
            </a:r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차 </a:t>
            </a:r>
            <a:endParaRPr lang="en-US" altLang="ko-KR" sz="700" b="1" spc="-50" dirty="0">
              <a:latin typeface="+mn-ea"/>
              <a:ea typeface="+mn-ea"/>
              <a:cs typeface="KoPubWorld돋움체 Bold" panose="00000800000000000000" pitchFamily="2" charset="-127"/>
            </a:endParaRPr>
          </a:p>
          <a:p>
            <a:pPr algn="ctr"/>
            <a:r>
              <a:rPr lang="ko-KR" altLang="en-US" sz="700" b="1" spc="-50" dirty="0">
                <a:latin typeface="+mn-ea"/>
                <a:ea typeface="+mn-ea"/>
                <a:cs typeface="KoPubWorld돋움체 Bold" panose="00000800000000000000" pitchFamily="2" charset="-127"/>
              </a:rPr>
              <a:t>사용자 교육</a:t>
            </a:r>
            <a:endParaRPr lang="ko-KR" altLang="en-US" sz="700" spc="-50" dirty="0">
              <a:latin typeface="+mn-ea"/>
              <a:ea typeface="+mn-ea"/>
            </a:endParaRPr>
          </a:p>
        </p:txBody>
      </p:sp>
      <p:sp>
        <p:nvSpPr>
          <p:cNvPr id="265" name="모서리가 둥근 직사각형 78">
            <a:extLst>
              <a:ext uri="{FF2B5EF4-FFF2-40B4-BE49-F238E27FC236}">
                <a16:creationId xmlns:a16="http://schemas.microsoft.com/office/drawing/2014/main" id="{775535BD-2F3B-6A9E-9076-9DCAEB8B552B}"/>
              </a:ext>
            </a:extLst>
          </p:cNvPr>
          <p:cNvSpPr/>
          <p:nvPr userDrawn="1"/>
        </p:nvSpPr>
        <p:spPr>
          <a:xfrm>
            <a:off x="6948400" y="2188783"/>
            <a:ext cx="747799" cy="3074096"/>
          </a:xfrm>
          <a:prstGeom prst="roundRect">
            <a:avLst>
              <a:gd name="adj" fmla="val 5951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  <a:ea typeface="+mn-ea"/>
              </a:rPr>
              <a:t>4</a:t>
            </a:r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개 직영점</a:t>
            </a:r>
            <a:endParaRPr lang="en-US" altLang="ko-KR" sz="7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오픈 대응</a:t>
            </a:r>
            <a:endParaRPr lang="en-US" altLang="ko-KR" sz="7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6" name="모서리가 둥근 직사각형 78">
            <a:extLst>
              <a:ext uri="{FF2B5EF4-FFF2-40B4-BE49-F238E27FC236}">
                <a16:creationId xmlns:a16="http://schemas.microsoft.com/office/drawing/2014/main" id="{170D7F1C-8F46-1C59-5CA7-BC8A1E5A8299}"/>
              </a:ext>
            </a:extLst>
          </p:cNvPr>
          <p:cNvSpPr/>
          <p:nvPr userDrawn="1"/>
        </p:nvSpPr>
        <p:spPr>
          <a:xfrm>
            <a:off x="8608416" y="2188783"/>
            <a:ext cx="1254209" cy="3074096"/>
          </a:xfrm>
          <a:prstGeom prst="roundRect">
            <a:avLst>
              <a:gd name="adj" fmla="val 5951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  <a:ea typeface="+mn-ea"/>
              </a:rPr>
              <a:t>1,300</a:t>
            </a:r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개점</a:t>
            </a:r>
            <a:endParaRPr lang="en-US" altLang="ko-KR" sz="7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오픈 대응</a:t>
            </a:r>
            <a:endParaRPr lang="en-US" altLang="ko-KR" sz="7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구</a:t>
            </a:r>
            <a:r>
              <a:rPr lang="en-US" altLang="ko-KR" sz="700" b="1" dirty="0">
                <a:solidFill>
                  <a:schemeClr val="tx1"/>
                </a:solidFill>
                <a:latin typeface="+mn-ea"/>
                <a:ea typeface="+mn-ea"/>
              </a:rPr>
              <a:t>)POS </a:t>
            </a: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종료 지원</a:t>
            </a:r>
            <a:endParaRPr lang="en-US" altLang="ko-KR" sz="7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7" name="모서리가 둥근 직사각형 78">
            <a:extLst>
              <a:ext uri="{FF2B5EF4-FFF2-40B4-BE49-F238E27FC236}">
                <a16:creationId xmlns:a16="http://schemas.microsoft.com/office/drawing/2014/main" id="{D084D84B-57F5-622F-D723-F1F0B1FD8B8C}"/>
              </a:ext>
            </a:extLst>
          </p:cNvPr>
          <p:cNvSpPr/>
          <p:nvPr userDrawn="1"/>
        </p:nvSpPr>
        <p:spPr>
          <a:xfrm>
            <a:off x="10245408" y="2188783"/>
            <a:ext cx="756702" cy="3074096"/>
          </a:xfrm>
          <a:prstGeom prst="roundRect">
            <a:avLst>
              <a:gd name="adj" fmla="val 5951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  <a:ea typeface="+mn-ea"/>
              </a:rPr>
              <a:t>700</a:t>
            </a:r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개점</a:t>
            </a:r>
            <a:endParaRPr lang="en-US" altLang="ko-KR" sz="7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+mn-ea"/>
                <a:ea typeface="+mn-ea"/>
              </a:rPr>
              <a:t>오픈 대응</a:t>
            </a:r>
            <a:endParaRPr lang="en-US" altLang="ko-KR" sz="700" b="1" dirty="0">
              <a:solidFill>
                <a:schemeClr val="tx1"/>
              </a:solidFill>
              <a:latin typeface="+mn-ea"/>
              <a:ea typeface="+mn-ea"/>
            </a:endParaRPr>
          </a:p>
          <a:p>
            <a:pPr algn="ctr"/>
            <a:r>
              <a:rPr lang="en-US" altLang="ko-KR" sz="700" b="1" dirty="0">
                <a:solidFill>
                  <a:schemeClr val="tx1"/>
                </a:solidFill>
                <a:latin typeface="+mn-ea"/>
                <a:ea typeface="+mn-ea"/>
              </a:rPr>
              <a:t>/</a:t>
            </a:r>
          </a:p>
          <a:p>
            <a:pPr algn="ctr"/>
            <a:r>
              <a:rPr lang="ko-KR" altLang="en-US" sz="700" b="1" spc="0" baseline="0" dirty="0">
                <a:solidFill>
                  <a:schemeClr val="tx1"/>
                </a:solidFill>
                <a:latin typeface="+mn-ea"/>
                <a:ea typeface="+mn-ea"/>
              </a:rPr>
              <a:t>구</a:t>
            </a:r>
            <a:r>
              <a:rPr lang="en-US" altLang="ko-KR" sz="700" b="1" spc="0" baseline="0" dirty="0">
                <a:solidFill>
                  <a:schemeClr val="tx1"/>
                </a:solidFill>
                <a:latin typeface="+mn-ea"/>
                <a:ea typeface="+mn-ea"/>
              </a:rPr>
              <a:t>)POS</a:t>
            </a:r>
          </a:p>
          <a:p>
            <a:pPr algn="ctr"/>
            <a:r>
              <a:rPr lang="ko-KR" altLang="en-US" sz="700" b="1" spc="0" baseline="0" dirty="0">
                <a:solidFill>
                  <a:schemeClr val="tx1"/>
                </a:solidFill>
                <a:latin typeface="+mn-ea"/>
                <a:ea typeface="+mn-ea"/>
              </a:rPr>
              <a:t>종료 지원</a:t>
            </a:r>
            <a:endParaRPr lang="en-US" altLang="ko-KR" sz="700" b="1" spc="0" baseline="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268" name="모서리가 둥근 직사각형 78">
            <a:extLst>
              <a:ext uri="{FF2B5EF4-FFF2-40B4-BE49-F238E27FC236}">
                <a16:creationId xmlns:a16="http://schemas.microsoft.com/office/drawing/2014/main" id="{548D05BE-053F-BC44-C19C-D5DF32A3064F}"/>
              </a:ext>
            </a:extLst>
          </p:cNvPr>
          <p:cNvSpPr/>
          <p:nvPr userDrawn="1"/>
        </p:nvSpPr>
        <p:spPr>
          <a:xfrm>
            <a:off x="11041915" y="2188783"/>
            <a:ext cx="388085" cy="3074096"/>
          </a:xfrm>
          <a:prstGeom prst="roundRect">
            <a:avLst>
              <a:gd name="adj" fmla="val 5951"/>
            </a:avLst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>
                <a:solidFill>
                  <a:schemeClr val="tx1"/>
                </a:solidFill>
                <a:latin typeface="+mn-ea"/>
                <a:ea typeface="+mn-ea"/>
              </a:rPr>
              <a:t>인수인계</a:t>
            </a:r>
            <a:endParaRPr lang="en-US" altLang="ko-KR" sz="7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747A9BA-D190-0C86-B71F-3E8B01F00D2C}"/>
              </a:ext>
            </a:extLst>
          </p:cNvPr>
          <p:cNvGrpSpPr/>
          <p:nvPr userDrawn="1"/>
        </p:nvGrpSpPr>
        <p:grpSpPr>
          <a:xfrm>
            <a:off x="1616282" y="2157032"/>
            <a:ext cx="5195475" cy="350076"/>
            <a:chOff x="1616282" y="2284032"/>
            <a:chExt cx="5195475" cy="350076"/>
          </a:xfrm>
        </p:grpSpPr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93B9652E-D68D-6FA4-F5FE-4E7683465AD2}"/>
                </a:ext>
              </a:extLst>
            </p:cNvPr>
            <p:cNvSpPr/>
            <p:nvPr userDrawn="1"/>
          </p:nvSpPr>
          <p:spPr>
            <a:xfrm>
              <a:off x="2692397" y="2319979"/>
              <a:ext cx="4116381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기획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045CC250-EB1F-FF06-4613-C56BDE916A9E}"/>
                </a:ext>
              </a:extLst>
            </p:cNvPr>
            <p:cNvSpPr/>
            <p:nvPr userDrawn="1"/>
          </p:nvSpPr>
          <p:spPr>
            <a:xfrm>
              <a:off x="1616282" y="2311408"/>
              <a:ext cx="1076116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요구사항 분석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176" name="직사각형 175">
              <a:extLst>
                <a:ext uri="{FF2B5EF4-FFF2-40B4-BE49-F238E27FC236}">
                  <a16:creationId xmlns:a16="http://schemas.microsoft.com/office/drawing/2014/main" id="{0D79B6FC-B8E7-AC99-0E84-8E1EF25899BC}"/>
                </a:ext>
              </a:extLst>
            </p:cNvPr>
            <p:cNvSpPr/>
            <p:nvPr userDrawn="1"/>
          </p:nvSpPr>
          <p:spPr>
            <a:xfrm>
              <a:off x="2749548" y="2502534"/>
              <a:ext cx="1687513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디자인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퍼블리싱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178" name="왼쪽 대괄호 177">
              <a:extLst>
                <a:ext uri="{FF2B5EF4-FFF2-40B4-BE49-F238E27FC236}">
                  <a16:creationId xmlns:a16="http://schemas.microsoft.com/office/drawing/2014/main" id="{FEE7D349-7233-A0F6-4B16-D571DDD61BC7}"/>
                </a:ext>
              </a:extLst>
            </p:cNvPr>
            <p:cNvSpPr/>
            <p:nvPr userDrawn="1"/>
          </p:nvSpPr>
          <p:spPr>
            <a:xfrm rot="5400000">
              <a:off x="2099420" y="1800896"/>
              <a:ext cx="127686" cy="1093961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79" name="왼쪽 대괄호 178">
              <a:extLst>
                <a:ext uri="{FF2B5EF4-FFF2-40B4-BE49-F238E27FC236}">
                  <a16:creationId xmlns:a16="http://schemas.microsoft.com/office/drawing/2014/main" id="{14F237A7-60B5-4986-0E78-8C443E269A2E}"/>
                </a:ext>
              </a:extLst>
            </p:cNvPr>
            <p:cNvSpPr/>
            <p:nvPr userDrawn="1"/>
          </p:nvSpPr>
          <p:spPr>
            <a:xfrm rot="5400000">
              <a:off x="4691965" y="302311"/>
              <a:ext cx="135099" cy="4098542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80" name="왼쪽 대괄호 179">
              <a:extLst>
                <a:ext uri="{FF2B5EF4-FFF2-40B4-BE49-F238E27FC236}">
                  <a16:creationId xmlns:a16="http://schemas.microsoft.com/office/drawing/2014/main" id="{AD92EB5E-180B-E3C9-47B4-301FA175F49C}"/>
                </a:ext>
              </a:extLst>
            </p:cNvPr>
            <p:cNvSpPr/>
            <p:nvPr userDrawn="1"/>
          </p:nvSpPr>
          <p:spPr>
            <a:xfrm rot="16200000">
              <a:off x="3506490" y="1706289"/>
              <a:ext cx="131574" cy="1724063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174" name="타원 173">
              <a:extLst>
                <a:ext uri="{FF2B5EF4-FFF2-40B4-BE49-F238E27FC236}">
                  <a16:creationId xmlns:a16="http://schemas.microsoft.com/office/drawing/2014/main" id="{808AC31E-8903-11B1-6BF7-C9F381A107D3}"/>
                </a:ext>
              </a:extLst>
            </p:cNvPr>
            <p:cNvSpPr>
              <a:spLocks/>
            </p:cNvSpPr>
            <p:nvPr userDrawn="1"/>
          </p:nvSpPr>
          <p:spPr>
            <a:xfrm>
              <a:off x="2672718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713A9BBC-EEBA-C18D-1FF8-59D8E64840F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19252" y="2457642"/>
              <a:ext cx="5192505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177" name="타원 176">
              <a:extLst>
                <a:ext uri="{FF2B5EF4-FFF2-40B4-BE49-F238E27FC236}">
                  <a16:creationId xmlns:a16="http://schemas.microsoft.com/office/drawing/2014/main" id="{EC9F8384-F4CF-012A-507A-8AD0031911D6}"/>
                </a:ext>
              </a:extLst>
            </p:cNvPr>
            <p:cNvSpPr>
              <a:spLocks/>
            </p:cNvSpPr>
            <p:nvPr userDrawn="1"/>
          </p:nvSpPr>
          <p:spPr>
            <a:xfrm>
              <a:off x="4397476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41C0E2F1-A2E1-A488-DE57-3C54A4763453}"/>
              </a:ext>
            </a:extLst>
          </p:cNvPr>
          <p:cNvGrpSpPr/>
          <p:nvPr userDrawn="1"/>
        </p:nvGrpSpPr>
        <p:grpSpPr>
          <a:xfrm>
            <a:off x="1616282" y="2664850"/>
            <a:ext cx="5195475" cy="211329"/>
            <a:chOff x="1616282" y="2284032"/>
            <a:chExt cx="5195475" cy="211329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473AD79B-10F6-4FC4-4CF7-D13F85E677FB}"/>
                </a:ext>
              </a:extLst>
            </p:cNvPr>
            <p:cNvSpPr/>
            <p:nvPr userDrawn="1"/>
          </p:nvSpPr>
          <p:spPr>
            <a:xfrm>
              <a:off x="2692397" y="2319979"/>
              <a:ext cx="4116381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개발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단위테스트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48F0838B-A605-CAA1-7DC2-74D8FB1E214E}"/>
                </a:ext>
              </a:extLst>
            </p:cNvPr>
            <p:cNvSpPr/>
            <p:nvPr userDrawn="1"/>
          </p:nvSpPr>
          <p:spPr>
            <a:xfrm>
              <a:off x="1616282" y="2311408"/>
              <a:ext cx="1076116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요구사항 분석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설계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35" name="왼쪽 대괄호 34">
              <a:extLst>
                <a:ext uri="{FF2B5EF4-FFF2-40B4-BE49-F238E27FC236}">
                  <a16:creationId xmlns:a16="http://schemas.microsoft.com/office/drawing/2014/main" id="{5E73B19E-BF88-3D1D-7582-8B05C3EC584B}"/>
                </a:ext>
              </a:extLst>
            </p:cNvPr>
            <p:cNvSpPr/>
            <p:nvPr userDrawn="1"/>
          </p:nvSpPr>
          <p:spPr>
            <a:xfrm rot="5400000">
              <a:off x="2099420" y="1800896"/>
              <a:ext cx="127686" cy="1093961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36" name="왼쪽 대괄호 35">
              <a:extLst>
                <a:ext uri="{FF2B5EF4-FFF2-40B4-BE49-F238E27FC236}">
                  <a16:creationId xmlns:a16="http://schemas.microsoft.com/office/drawing/2014/main" id="{F500A31D-6468-054A-EB5B-6BFF9546A7D1}"/>
                </a:ext>
              </a:extLst>
            </p:cNvPr>
            <p:cNvSpPr/>
            <p:nvPr userDrawn="1"/>
          </p:nvSpPr>
          <p:spPr>
            <a:xfrm rot="5400000">
              <a:off x="4691965" y="302311"/>
              <a:ext cx="135099" cy="4098542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34AFD869-9DD2-70EA-0A72-7024B89BF6DD}"/>
                </a:ext>
              </a:extLst>
            </p:cNvPr>
            <p:cNvSpPr>
              <a:spLocks/>
            </p:cNvSpPr>
            <p:nvPr userDrawn="1"/>
          </p:nvSpPr>
          <p:spPr>
            <a:xfrm>
              <a:off x="2672718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39" name="직선 연결선 38">
              <a:extLst>
                <a:ext uri="{FF2B5EF4-FFF2-40B4-BE49-F238E27FC236}">
                  <a16:creationId xmlns:a16="http://schemas.microsoft.com/office/drawing/2014/main" id="{6BC89131-D3C6-A70E-8522-8C0D6E906B6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19252" y="2457642"/>
              <a:ext cx="5192505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0986E664-FC01-C684-41D8-7A37168176BB}"/>
                </a:ext>
              </a:extLst>
            </p:cNvPr>
            <p:cNvSpPr>
              <a:spLocks/>
            </p:cNvSpPr>
            <p:nvPr userDrawn="1"/>
          </p:nvSpPr>
          <p:spPr>
            <a:xfrm>
              <a:off x="4397476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22DCF483-A649-E090-7E0E-2517CB65BAC1}"/>
              </a:ext>
            </a:extLst>
          </p:cNvPr>
          <p:cNvGrpSpPr/>
          <p:nvPr userDrawn="1"/>
        </p:nvGrpSpPr>
        <p:grpSpPr>
          <a:xfrm>
            <a:off x="1616282" y="3122287"/>
            <a:ext cx="5195475" cy="211329"/>
            <a:chOff x="1616282" y="2284032"/>
            <a:chExt cx="5195475" cy="211329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F28D0B7-A85A-CFEA-A346-90D285DA7C3E}"/>
                </a:ext>
              </a:extLst>
            </p:cNvPr>
            <p:cNvSpPr/>
            <p:nvPr userDrawn="1"/>
          </p:nvSpPr>
          <p:spPr>
            <a:xfrm>
              <a:off x="2692397" y="2319979"/>
              <a:ext cx="4116381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개발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단위테스트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1057DE43-FB79-403E-ED63-B60912A407C1}"/>
                </a:ext>
              </a:extLst>
            </p:cNvPr>
            <p:cNvSpPr/>
            <p:nvPr userDrawn="1"/>
          </p:nvSpPr>
          <p:spPr>
            <a:xfrm>
              <a:off x="1616282" y="2311408"/>
              <a:ext cx="1076116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요구사항 분석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설계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44" name="왼쪽 대괄호 43">
              <a:extLst>
                <a:ext uri="{FF2B5EF4-FFF2-40B4-BE49-F238E27FC236}">
                  <a16:creationId xmlns:a16="http://schemas.microsoft.com/office/drawing/2014/main" id="{08A24369-D565-C68F-D9BD-C3324BF95A8D}"/>
                </a:ext>
              </a:extLst>
            </p:cNvPr>
            <p:cNvSpPr/>
            <p:nvPr userDrawn="1"/>
          </p:nvSpPr>
          <p:spPr>
            <a:xfrm rot="5400000">
              <a:off x="2099420" y="1800896"/>
              <a:ext cx="127686" cy="1093961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45" name="왼쪽 대괄호 44">
              <a:extLst>
                <a:ext uri="{FF2B5EF4-FFF2-40B4-BE49-F238E27FC236}">
                  <a16:creationId xmlns:a16="http://schemas.microsoft.com/office/drawing/2014/main" id="{9F32602A-DA07-C6FF-91AD-CF44DED713B8}"/>
                </a:ext>
              </a:extLst>
            </p:cNvPr>
            <p:cNvSpPr/>
            <p:nvPr userDrawn="1"/>
          </p:nvSpPr>
          <p:spPr>
            <a:xfrm rot="5400000">
              <a:off x="4691965" y="302311"/>
              <a:ext cx="135099" cy="4098542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2C3EFB1-8016-197B-29E5-87FCDB4088A1}"/>
                </a:ext>
              </a:extLst>
            </p:cNvPr>
            <p:cNvSpPr>
              <a:spLocks/>
            </p:cNvSpPr>
            <p:nvPr userDrawn="1"/>
          </p:nvSpPr>
          <p:spPr>
            <a:xfrm>
              <a:off x="2672718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61831EA-0211-05B0-0888-BBCA9BC8B5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19252" y="2457642"/>
              <a:ext cx="5192505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0C1A4066-C70C-27FC-C1B4-A146533B173A}"/>
                </a:ext>
              </a:extLst>
            </p:cNvPr>
            <p:cNvSpPr>
              <a:spLocks/>
            </p:cNvSpPr>
            <p:nvPr userDrawn="1"/>
          </p:nvSpPr>
          <p:spPr>
            <a:xfrm>
              <a:off x="4397476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9ED2B81E-5876-B744-AEE7-4294C757301A}"/>
              </a:ext>
            </a:extLst>
          </p:cNvPr>
          <p:cNvGrpSpPr/>
          <p:nvPr userDrawn="1"/>
        </p:nvGrpSpPr>
        <p:grpSpPr>
          <a:xfrm>
            <a:off x="1616282" y="3579724"/>
            <a:ext cx="5195475" cy="211329"/>
            <a:chOff x="1616282" y="2284032"/>
            <a:chExt cx="5195475" cy="211329"/>
          </a:xfrm>
        </p:grpSpPr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2814B8D7-EEE9-3A15-577D-4E1BE399BBD0}"/>
                </a:ext>
              </a:extLst>
            </p:cNvPr>
            <p:cNvSpPr/>
            <p:nvPr userDrawn="1"/>
          </p:nvSpPr>
          <p:spPr>
            <a:xfrm>
              <a:off x="2692397" y="2319979"/>
              <a:ext cx="4116381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개발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단위테스트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A61DC101-C85C-DB48-C407-B6DF4795C263}"/>
                </a:ext>
              </a:extLst>
            </p:cNvPr>
            <p:cNvSpPr/>
            <p:nvPr userDrawn="1"/>
          </p:nvSpPr>
          <p:spPr>
            <a:xfrm>
              <a:off x="1616282" y="2311408"/>
              <a:ext cx="1076116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요구사항 분석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설계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52" name="왼쪽 대괄호 51">
              <a:extLst>
                <a:ext uri="{FF2B5EF4-FFF2-40B4-BE49-F238E27FC236}">
                  <a16:creationId xmlns:a16="http://schemas.microsoft.com/office/drawing/2014/main" id="{3C4F8841-412B-3D96-8E07-E240C2840D5B}"/>
                </a:ext>
              </a:extLst>
            </p:cNvPr>
            <p:cNvSpPr/>
            <p:nvPr userDrawn="1"/>
          </p:nvSpPr>
          <p:spPr>
            <a:xfrm rot="5400000">
              <a:off x="2099420" y="1800896"/>
              <a:ext cx="127686" cy="1093961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53" name="왼쪽 대괄호 52">
              <a:extLst>
                <a:ext uri="{FF2B5EF4-FFF2-40B4-BE49-F238E27FC236}">
                  <a16:creationId xmlns:a16="http://schemas.microsoft.com/office/drawing/2014/main" id="{848E0E2D-86A6-A034-4DCB-95234901FFE1}"/>
                </a:ext>
              </a:extLst>
            </p:cNvPr>
            <p:cNvSpPr/>
            <p:nvPr userDrawn="1"/>
          </p:nvSpPr>
          <p:spPr>
            <a:xfrm rot="5400000">
              <a:off x="4691965" y="302311"/>
              <a:ext cx="135099" cy="4098542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B2494931-E46C-DEB3-A8A3-76524F4D0CDC}"/>
                </a:ext>
              </a:extLst>
            </p:cNvPr>
            <p:cNvSpPr>
              <a:spLocks/>
            </p:cNvSpPr>
            <p:nvPr userDrawn="1"/>
          </p:nvSpPr>
          <p:spPr>
            <a:xfrm>
              <a:off x="2672718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D890BF4D-9EC1-8589-7251-4915D10B6C3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19252" y="2457642"/>
              <a:ext cx="5192505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52D88028-B62B-B335-F7EB-DC5B0A8EF28E}"/>
                </a:ext>
              </a:extLst>
            </p:cNvPr>
            <p:cNvSpPr>
              <a:spLocks/>
            </p:cNvSpPr>
            <p:nvPr userDrawn="1"/>
          </p:nvSpPr>
          <p:spPr>
            <a:xfrm>
              <a:off x="4397476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F83FA093-1341-7E29-10F2-A65142E0DAD1}"/>
              </a:ext>
            </a:extLst>
          </p:cNvPr>
          <p:cNvGrpSpPr/>
          <p:nvPr userDrawn="1"/>
        </p:nvGrpSpPr>
        <p:grpSpPr>
          <a:xfrm>
            <a:off x="1616282" y="4037161"/>
            <a:ext cx="5195475" cy="211329"/>
            <a:chOff x="1616282" y="2284032"/>
            <a:chExt cx="5195475" cy="211329"/>
          </a:xfrm>
        </p:grpSpPr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18B053FF-B4A2-4D67-F0B4-02A687EE1375}"/>
                </a:ext>
              </a:extLst>
            </p:cNvPr>
            <p:cNvSpPr/>
            <p:nvPr userDrawn="1"/>
          </p:nvSpPr>
          <p:spPr>
            <a:xfrm>
              <a:off x="2692397" y="2319979"/>
              <a:ext cx="4116381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개발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단위테스트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59" name="직사각형 58">
              <a:extLst>
                <a:ext uri="{FF2B5EF4-FFF2-40B4-BE49-F238E27FC236}">
                  <a16:creationId xmlns:a16="http://schemas.microsoft.com/office/drawing/2014/main" id="{803EF0F5-ECBE-7B88-4CC8-ABCEEC9913DA}"/>
                </a:ext>
              </a:extLst>
            </p:cNvPr>
            <p:cNvSpPr/>
            <p:nvPr userDrawn="1"/>
          </p:nvSpPr>
          <p:spPr>
            <a:xfrm>
              <a:off x="1616282" y="2311408"/>
              <a:ext cx="1076116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요구사항 분석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설계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60" name="왼쪽 대괄호 59">
              <a:extLst>
                <a:ext uri="{FF2B5EF4-FFF2-40B4-BE49-F238E27FC236}">
                  <a16:creationId xmlns:a16="http://schemas.microsoft.com/office/drawing/2014/main" id="{36503224-3C52-296B-3A97-1E53FA0EE8B8}"/>
                </a:ext>
              </a:extLst>
            </p:cNvPr>
            <p:cNvSpPr/>
            <p:nvPr userDrawn="1"/>
          </p:nvSpPr>
          <p:spPr>
            <a:xfrm rot="5400000">
              <a:off x="2099420" y="1800896"/>
              <a:ext cx="127686" cy="1093961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61" name="왼쪽 대괄호 60">
              <a:extLst>
                <a:ext uri="{FF2B5EF4-FFF2-40B4-BE49-F238E27FC236}">
                  <a16:creationId xmlns:a16="http://schemas.microsoft.com/office/drawing/2014/main" id="{BF3806E3-131D-86F2-629E-31BBC5FAFE85}"/>
                </a:ext>
              </a:extLst>
            </p:cNvPr>
            <p:cNvSpPr/>
            <p:nvPr userDrawn="1"/>
          </p:nvSpPr>
          <p:spPr>
            <a:xfrm rot="5400000">
              <a:off x="4691965" y="302311"/>
              <a:ext cx="135099" cy="4098542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80956F4E-DE1C-F45B-61EC-57263BB678BB}"/>
                </a:ext>
              </a:extLst>
            </p:cNvPr>
            <p:cNvSpPr>
              <a:spLocks/>
            </p:cNvSpPr>
            <p:nvPr userDrawn="1"/>
          </p:nvSpPr>
          <p:spPr>
            <a:xfrm>
              <a:off x="2672718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63" name="직선 연결선 62">
              <a:extLst>
                <a:ext uri="{FF2B5EF4-FFF2-40B4-BE49-F238E27FC236}">
                  <a16:creationId xmlns:a16="http://schemas.microsoft.com/office/drawing/2014/main" id="{8E45E084-DF62-2F85-F077-05D4D8528C4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19252" y="2457642"/>
              <a:ext cx="5192505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32300336-39BB-9DFE-792A-F5B48A7697A8}"/>
                </a:ext>
              </a:extLst>
            </p:cNvPr>
            <p:cNvSpPr>
              <a:spLocks/>
            </p:cNvSpPr>
            <p:nvPr userDrawn="1"/>
          </p:nvSpPr>
          <p:spPr>
            <a:xfrm>
              <a:off x="4397476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FD1DD358-1777-D242-57E3-F23D92C43721}"/>
              </a:ext>
            </a:extLst>
          </p:cNvPr>
          <p:cNvGrpSpPr/>
          <p:nvPr userDrawn="1"/>
        </p:nvGrpSpPr>
        <p:grpSpPr>
          <a:xfrm>
            <a:off x="1616282" y="4494597"/>
            <a:ext cx="5195475" cy="211329"/>
            <a:chOff x="1616282" y="2284032"/>
            <a:chExt cx="5195475" cy="211329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A17C77F6-3CD6-50B5-63A1-7CC022BFD70E}"/>
                </a:ext>
              </a:extLst>
            </p:cNvPr>
            <p:cNvSpPr/>
            <p:nvPr userDrawn="1"/>
          </p:nvSpPr>
          <p:spPr>
            <a:xfrm>
              <a:off x="2692397" y="2319979"/>
              <a:ext cx="4116381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개발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단위테스트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3711605C-F285-FB5D-7102-AA3A125C41FC}"/>
                </a:ext>
              </a:extLst>
            </p:cNvPr>
            <p:cNvSpPr/>
            <p:nvPr userDrawn="1"/>
          </p:nvSpPr>
          <p:spPr>
            <a:xfrm>
              <a:off x="1616282" y="2311408"/>
              <a:ext cx="1076116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요구사항 분석 </a:t>
              </a:r>
              <a:r>
                <a:rPr lang="en-US" altLang="ko-KR" sz="700" b="1" spc="-50" dirty="0">
                  <a:latin typeface="+mn-ea"/>
                  <a:ea typeface="+mn-ea"/>
                </a:rPr>
                <a:t>/ </a:t>
              </a:r>
              <a:r>
                <a:rPr lang="ko-KR" altLang="en-US" sz="700" b="1" spc="-50" dirty="0">
                  <a:latin typeface="+mn-ea"/>
                  <a:ea typeface="+mn-ea"/>
                </a:rPr>
                <a:t>설계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sp>
          <p:nvSpPr>
            <p:cNvPr id="68" name="왼쪽 대괄호 67">
              <a:extLst>
                <a:ext uri="{FF2B5EF4-FFF2-40B4-BE49-F238E27FC236}">
                  <a16:creationId xmlns:a16="http://schemas.microsoft.com/office/drawing/2014/main" id="{4B14ACFD-6A3D-8EED-F5FE-406EA7596870}"/>
                </a:ext>
              </a:extLst>
            </p:cNvPr>
            <p:cNvSpPr/>
            <p:nvPr userDrawn="1"/>
          </p:nvSpPr>
          <p:spPr>
            <a:xfrm rot="5400000">
              <a:off x="2099420" y="1800896"/>
              <a:ext cx="127686" cy="1093961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69" name="왼쪽 대괄호 68">
              <a:extLst>
                <a:ext uri="{FF2B5EF4-FFF2-40B4-BE49-F238E27FC236}">
                  <a16:creationId xmlns:a16="http://schemas.microsoft.com/office/drawing/2014/main" id="{5064D02A-BDEA-D780-0D12-A0F03164DB36}"/>
                </a:ext>
              </a:extLst>
            </p:cNvPr>
            <p:cNvSpPr/>
            <p:nvPr userDrawn="1"/>
          </p:nvSpPr>
          <p:spPr>
            <a:xfrm rot="5400000">
              <a:off x="4691965" y="302311"/>
              <a:ext cx="135099" cy="4098542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  <a:ea typeface="+mn-ea"/>
              </a:endParaRPr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621E5025-6CC2-9FAB-A96A-C89A78B63F91}"/>
                </a:ext>
              </a:extLst>
            </p:cNvPr>
            <p:cNvSpPr>
              <a:spLocks/>
            </p:cNvSpPr>
            <p:nvPr userDrawn="1"/>
          </p:nvSpPr>
          <p:spPr>
            <a:xfrm>
              <a:off x="2672718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3E93774E-63AC-704B-F5BB-52FE33723B1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19252" y="2457642"/>
              <a:ext cx="5192505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72" name="타원 71">
              <a:extLst>
                <a:ext uri="{FF2B5EF4-FFF2-40B4-BE49-F238E27FC236}">
                  <a16:creationId xmlns:a16="http://schemas.microsoft.com/office/drawing/2014/main" id="{9CFEC1D2-6569-83B3-876F-455A844F0282}"/>
                </a:ext>
              </a:extLst>
            </p:cNvPr>
            <p:cNvSpPr>
              <a:spLocks/>
            </p:cNvSpPr>
            <p:nvPr userDrawn="1"/>
          </p:nvSpPr>
          <p:spPr>
            <a:xfrm>
              <a:off x="4397476" y="2416161"/>
              <a:ext cx="79200" cy="79200"/>
            </a:xfrm>
            <a:prstGeom prst="ellipse">
              <a:avLst/>
            </a:prstGeom>
            <a:solidFill>
              <a:srgbClr val="0070C0"/>
            </a:solidFill>
            <a:ln w="25400">
              <a:noFill/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914446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ea typeface="+mn-ea"/>
                <a:cs typeface="+mn-cs"/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B9FCC03A-8BEA-49C4-8B2E-91A4C87884E7}"/>
              </a:ext>
            </a:extLst>
          </p:cNvPr>
          <p:cNvGrpSpPr/>
          <p:nvPr userDrawn="1"/>
        </p:nvGrpSpPr>
        <p:grpSpPr>
          <a:xfrm>
            <a:off x="6048034" y="5384459"/>
            <a:ext cx="516792" cy="257244"/>
            <a:chOff x="1849402" y="5157931"/>
            <a:chExt cx="516792" cy="257244"/>
          </a:xfrm>
        </p:grpSpPr>
        <p:sp>
          <p:nvSpPr>
            <p:cNvPr id="74" name="왼쪽 대괄호 73">
              <a:extLst>
                <a:ext uri="{FF2B5EF4-FFF2-40B4-BE49-F238E27FC236}">
                  <a16:creationId xmlns:a16="http://schemas.microsoft.com/office/drawing/2014/main" id="{0BBB0B48-F3E0-FDE3-E929-4A5B3A96CE2D}"/>
                </a:ext>
              </a:extLst>
            </p:cNvPr>
            <p:cNvSpPr/>
            <p:nvPr userDrawn="1"/>
          </p:nvSpPr>
          <p:spPr>
            <a:xfrm rot="5400000">
              <a:off x="2035145" y="5162078"/>
              <a:ext cx="150072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EE09077D-5AE0-8E50-C0A4-6CA4F18298CD}"/>
                </a:ext>
              </a:extLst>
            </p:cNvPr>
            <p:cNvSpPr/>
            <p:nvPr userDrawn="1"/>
          </p:nvSpPr>
          <p:spPr>
            <a:xfrm>
              <a:off x="1849402" y="5157931"/>
              <a:ext cx="516792" cy="215444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n-US" altLang="ko-KR" sz="700" b="1" spc="-50" dirty="0">
                  <a:latin typeface="+mn-ea"/>
                  <a:ea typeface="+mn-ea"/>
                </a:rPr>
                <a:t>2</a:t>
              </a:r>
              <a:r>
                <a:rPr lang="ko-KR" altLang="en-US" sz="700" b="1" spc="-50" dirty="0">
                  <a:latin typeface="+mn-ea"/>
                  <a:ea typeface="+mn-ea"/>
                </a:rPr>
                <a:t>차</a:t>
              </a:r>
              <a:endParaRPr lang="en-US" altLang="ko-KR" sz="700" b="1" spc="-50" dirty="0">
                <a:latin typeface="+mn-ea"/>
                <a:ea typeface="+mn-ea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spc="-50" dirty="0">
                  <a:latin typeface="+mn-ea"/>
                  <a:ea typeface="+mn-ea"/>
                </a:rPr>
                <a:t>통합테스트 </a:t>
              </a:r>
              <a:endParaRPr lang="en-US" altLang="ko-KR" sz="700" b="1" spc="-50" dirty="0">
                <a:latin typeface="+mn-ea"/>
                <a:ea typeface="+mn-ea"/>
              </a:endParaRPr>
            </a:p>
          </p:txBody>
        </p:sp>
        <p:cxnSp>
          <p:nvCxnSpPr>
            <p:cNvPr id="76" name="직선 연결선 75">
              <a:extLst>
                <a:ext uri="{FF2B5EF4-FFF2-40B4-BE49-F238E27FC236}">
                  <a16:creationId xmlns:a16="http://schemas.microsoft.com/office/drawing/2014/main" id="{2E8AA007-544A-71A0-2A80-71D63A15CA0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chemeClr val="accent4">
                  <a:lumMod val="75000"/>
                </a:schemeClr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CCF6C79E-D597-018A-DFB1-96C2BCFE1699}"/>
              </a:ext>
            </a:extLst>
          </p:cNvPr>
          <p:cNvGrpSpPr/>
          <p:nvPr userDrawn="1"/>
        </p:nvGrpSpPr>
        <p:grpSpPr>
          <a:xfrm>
            <a:off x="6083398" y="5749674"/>
            <a:ext cx="465164" cy="180562"/>
            <a:chOff x="1876531" y="5415175"/>
            <a:chExt cx="465164" cy="180562"/>
          </a:xfrm>
        </p:grpSpPr>
        <p:sp>
          <p:nvSpPr>
            <p:cNvPr id="78" name="왼쪽 대괄호 77">
              <a:extLst>
                <a:ext uri="{FF2B5EF4-FFF2-40B4-BE49-F238E27FC236}">
                  <a16:creationId xmlns:a16="http://schemas.microsoft.com/office/drawing/2014/main" id="{D80CF00C-0FAD-C1D5-8602-98992838771B}"/>
                </a:ext>
              </a:extLst>
            </p:cNvPr>
            <p:cNvSpPr/>
            <p:nvPr userDrawn="1"/>
          </p:nvSpPr>
          <p:spPr>
            <a:xfrm rot="16200000">
              <a:off x="2043894" y="5362118"/>
              <a:ext cx="132576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4CC91EA3-7844-BAF4-4A12-D76E87D84DFB}"/>
                </a:ext>
              </a:extLst>
            </p:cNvPr>
            <p:cNvSpPr/>
            <p:nvPr userDrawn="1"/>
          </p:nvSpPr>
          <p:spPr>
            <a:xfrm>
              <a:off x="1876531" y="5488015"/>
              <a:ext cx="465164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n-US" altLang="ko-KR" sz="700" b="1" spc="-50" dirty="0">
                  <a:latin typeface="+mn-ea"/>
                  <a:ea typeface="+mn-ea"/>
                </a:rPr>
                <a:t>3</a:t>
              </a:r>
              <a:r>
                <a:rPr lang="ko-KR" altLang="en-US" sz="700" b="1" spc="-50" dirty="0">
                  <a:latin typeface="+mn-ea"/>
                  <a:ea typeface="+mn-ea"/>
                </a:rPr>
                <a:t>자테스트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1D5E9819-D688-CA68-C266-95D5AE1DC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6C89216F-AA07-9323-3462-0A1358FCA1DC}"/>
              </a:ext>
            </a:extLst>
          </p:cNvPr>
          <p:cNvGrpSpPr/>
          <p:nvPr userDrawn="1"/>
        </p:nvGrpSpPr>
        <p:grpSpPr>
          <a:xfrm>
            <a:off x="6869095" y="5384459"/>
            <a:ext cx="465020" cy="257244"/>
            <a:chOff x="1870526" y="5157931"/>
            <a:chExt cx="465020" cy="257244"/>
          </a:xfrm>
        </p:grpSpPr>
        <p:sp>
          <p:nvSpPr>
            <p:cNvPr id="82" name="왼쪽 대괄호 81">
              <a:extLst>
                <a:ext uri="{FF2B5EF4-FFF2-40B4-BE49-F238E27FC236}">
                  <a16:creationId xmlns:a16="http://schemas.microsoft.com/office/drawing/2014/main" id="{4D70625B-F026-ECD0-D41E-995A34895C07}"/>
                </a:ext>
              </a:extLst>
            </p:cNvPr>
            <p:cNvSpPr/>
            <p:nvPr userDrawn="1"/>
          </p:nvSpPr>
          <p:spPr>
            <a:xfrm rot="5400000">
              <a:off x="2035145" y="5162078"/>
              <a:ext cx="150072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4E646A27-EE7F-84B8-B065-DDC14646F995}"/>
                </a:ext>
              </a:extLst>
            </p:cNvPr>
            <p:cNvSpPr/>
            <p:nvPr userDrawn="1"/>
          </p:nvSpPr>
          <p:spPr>
            <a:xfrm>
              <a:off x="1870526" y="5157931"/>
              <a:ext cx="465020" cy="215444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n-US" altLang="ko-KR" sz="700" b="1" spc="-50" dirty="0">
                  <a:latin typeface="+mn-ea"/>
                  <a:ea typeface="+mn-ea"/>
                </a:rPr>
                <a:t>3</a:t>
              </a:r>
              <a:r>
                <a:rPr lang="ko-KR" altLang="en-US" sz="700" b="1" spc="-50" dirty="0">
                  <a:latin typeface="+mn-ea"/>
                  <a:ea typeface="+mn-ea"/>
                </a:rPr>
                <a:t>차</a:t>
              </a:r>
              <a:endParaRPr lang="en-US" altLang="ko-KR" sz="700" b="1" spc="-50" dirty="0">
                <a:latin typeface="+mn-ea"/>
                <a:ea typeface="+mn-ea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spc="-50" dirty="0">
                  <a:latin typeface="+mn-ea"/>
                  <a:ea typeface="+mn-ea"/>
                </a:rPr>
                <a:t>통합테스트 </a:t>
              </a:r>
              <a:endParaRPr lang="en-US" altLang="ko-KR" sz="700" b="1" spc="-50" dirty="0">
                <a:latin typeface="+mn-ea"/>
                <a:ea typeface="+mn-ea"/>
              </a:endParaRPr>
            </a:p>
          </p:txBody>
        </p:sp>
        <p:cxnSp>
          <p:nvCxnSpPr>
            <p:cNvPr id="84" name="직선 연결선 83">
              <a:extLst>
                <a:ext uri="{FF2B5EF4-FFF2-40B4-BE49-F238E27FC236}">
                  <a16:creationId xmlns:a16="http://schemas.microsoft.com/office/drawing/2014/main" id="{4FB44C6E-418C-700D-A6F6-7B81A5F7105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chemeClr val="accent4">
                  <a:lumMod val="75000"/>
                </a:schemeClr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85" name="그룹 84">
            <a:extLst>
              <a:ext uri="{FF2B5EF4-FFF2-40B4-BE49-F238E27FC236}">
                <a16:creationId xmlns:a16="http://schemas.microsoft.com/office/drawing/2014/main" id="{EAB70373-C62A-BB07-C6D3-3B2E1C2FAEE4}"/>
              </a:ext>
            </a:extLst>
          </p:cNvPr>
          <p:cNvGrpSpPr/>
          <p:nvPr userDrawn="1"/>
        </p:nvGrpSpPr>
        <p:grpSpPr>
          <a:xfrm>
            <a:off x="7685723" y="5384459"/>
            <a:ext cx="516792" cy="257244"/>
            <a:chOff x="1849402" y="5157931"/>
            <a:chExt cx="516792" cy="257244"/>
          </a:xfrm>
        </p:grpSpPr>
        <p:sp>
          <p:nvSpPr>
            <p:cNvPr id="86" name="왼쪽 대괄호 85">
              <a:extLst>
                <a:ext uri="{FF2B5EF4-FFF2-40B4-BE49-F238E27FC236}">
                  <a16:creationId xmlns:a16="http://schemas.microsoft.com/office/drawing/2014/main" id="{91F9B037-94F4-E32F-97E0-42823D1BC2DB}"/>
                </a:ext>
              </a:extLst>
            </p:cNvPr>
            <p:cNvSpPr/>
            <p:nvPr userDrawn="1"/>
          </p:nvSpPr>
          <p:spPr>
            <a:xfrm rot="5400000">
              <a:off x="2035145" y="5162078"/>
              <a:ext cx="150072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BE9CE96A-B6D9-BF0B-4412-F9620A076A22}"/>
                </a:ext>
              </a:extLst>
            </p:cNvPr>
            <p:cNvSpPr/>
            <p:nvPr userDrawn="1"/>
          </p:nvSpPr>
          <p:spPr>
            <a:xfrm>
              <a:off x="1849402" y="5157931"/>
              <a:ext cx="516792" cy="215444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n-US" altLang="ko-KR" sz="700" b="1" spc="-50" dirty="0">
                  <a:latin typeface="+mn-ea"/>
                  <a:ea typeface="+mn-ea"/>
                </a:rPr>
                <a:t>4</a:t>
              </a:r>
              <a:r>
                <a:rPr lang="ko-KR" altLang="en-US" sz="700" b="1" spc="-50" dirty="0">
                  <a:latin typeface="+mn-ea"/>
                  <a:ea typeface="+mn-ea"/>
                </a:rPr>
                <a:t>차</a:t>
              </a:r>
              <a:endParaRPr lang="en-US" altLang="ko-KR" sz="700" b="1" spc="-50" dirty="0">
                <a:latin typeface="+mn-ea"/>
                <a:ea typeface="+mn-ea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700" b="1" spc="-50" dirty="0">
                  <a:latin typeface="+mn-ea"/>
                  <a:ea typeface="+mn-ea"/>
                </a:rPr>
                <a:t>통합테스트 </a:t>
              </a:r>
              <a:endParaRPr lang="en-US" altLang="ko-KR" sz="700" b="1" spc="-50" dirty="0">
                <a:latin typeface="+mn-ea"/>
                <a:ea typeface="+mn-ea"/>
              </a:endParaRPr>
            </a:p>
          </p:txBody>
        </p: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63DAA4F2-18AD-A13D-DD27-0AD98B84E84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chemeClr val="accent4">
                  <a:lumMod val="75000"/>
                </a:schemeClr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12BD6A4D-B761-5C1E-9C0C-1768F9DA732F}"/>
              </a:ext>
            </a:extLst>
          </p:cNvPr>
          <p:cNvGrpSpPr/>
          <p:nvPr userDrawn="1"/>
        </p:nvGrpSpPr>
        <p:grpSpPr>
          <a:xfrm>
            <a:off x="7273488" y="5742530"/>
            <a:ext cx="465164" cy="234423"/>
            <a:chOff x="1876531" y="5415175"/>
            <a:chExt cx="465164" cy="234423"/>
          </a:xfrm>
        </p:grpSpPr>
        <p:sp>
          <p:nvSpPr>
            <p:cNvPr id="91" name="왼쪽 대괄호 90">
              <a:extLst>
                <a:ext uri="{FF2B5EF4-FFF2-40B4-BE49-F238E27FC236}">
                  <a16:creationId xmlns:a16="http://schemas.microsoft.com/office/drawing/2014/main" id="{237F3C0E-3EEF-B6D3-9CD8-F157F189FADF}"/>
                </a:ext>
              </a:extLst>
            </p:cNvPr>
            <p:cNvSpPr/>
            <p:nvPr userDrawn="1"/>
          </p:nvSpPr>
          <p:spPr>
            <a:xfrm rot="16200000">
              <a:off x="2043894" y="5362118"/>
              <a:ext cx="132576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5CF3DF5A-B856-C26B-6C0F-7B8F8C84FDD1}"/>
                </a:ext>
              </a:extLst>
            </p:cNvPr>
            <p:cNvSpPr/>
            <p:nvPr userDrawn="1"/>
          </p:nvSpPr>
          <p:spPr>
            <a:xfrm>
              <a:off x="1876531" y="5434154"/>
              <a:ext cx="465164" cy="215444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en-US" altLang="ko-KR" sz="700" b="1" spc="-50" dirty="0">
                  <a:latin typeface="+mn-ea"/>
                  <a:ea typeface="+mn-ea"/>
                </a:rPr>
                <a:t>2</a:t>
              </a:r>
              <a:r>
                <a:rPr lang="ko-KR" altLang="en-US" sz="700" b="1" spc="-50" dirty="0">
                  <a:latin typeface="+mn-ea"/>
                  <a:ea typeface="+mn-ea"/>
                </a:rPr>
                <a:t>차</a:t>
              </a:r>
              <a:endParaRPr lang="en-US" altLang="ko-KR" sz="700" b="1" spc="-50" dirty="0">
                <a:latin typeface="+mn-ea"/>
                <a:ea typeface="+mn-ea"/>
              </a:endParaRPr>
            </a:p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성능테스트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BFC46A44-C376-CBC3-3044-A3327012E8F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chemeClr val="accent6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50126677-305B-B40C-1C4E-34B58BF48F7A}"/>
              </a:ext>
            </a:extLst>
          </p:cNvPr>
          <p:cNvGrpSpPr/>
          <p:nvPr userDrawn="1"/>
        </p:nvGrpSpPr>
        <p:grpSpPr>
          <a:xfrm>
            <a:off x="6854952" y="6022720"/>
            <a:ext cx="503409" cy="174105"/>
            <a:chOff x="1858132" y="5415175"/>
            <a:chExt cx="503409" cy="174105"/>
          </a:xfrm>
        </p:grpSpPr>
        <p:sp>
          <p:nvSpPr>
            <p:cNvPr id="95" name="왼쪽 대괄호 94">
              <a:extLst>
                <a:ext uri="{FF2B5EF4-FFF2-40B4-BE49-F238E27FC236}">
                  <a16:creationId xmlns:a16="http://schemas.microsoft.com/office/drawing/2014/main" id="{2BEECC22-2C42-A0B8-1C0D-EC8193E2A337}"/>
                </a:ext>
              </a:extLst>
            </p:cNvPr>
            <p:cNvSpPr/>
            <p:nvPr userDrawn="1"/>
          </p:nvSpPr>
          <p:spPr>
            <a:xfrm rot="16200000">
              <a:off x="2038475" y="5356700"/>
              <a:ext cx="143413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C2FCE0DB-095A-FCA3-A411-1EE3920E2C93}"/>
                </a:ext>
              </a:extLst>
            </p:cNvPr>
            <p:cNvSpPr/>
            <p:nvPr userDrawn="1"/>
          </p:nvSpPr>
          <p:spPr>
            <a:xfrm>
              <a:off x="1858132" y="5464205"/>
              <a:ext cx="503409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보안 점검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cxnSp>
          <p:nvCxnSpPr>
            <p:cNvPr id="97" name="직선 연결선 96">
              <a:extLst>
                <a:ext uri="{FF2B5EF4-FFF2-40B4-BE49-F238E27FC236}">
                  <a16:creationId xmlns:a16="http://schemas.microsoft.com/office/drawing/2014/main" id="{04BC0E32-0788-59F7-02CB-546981E6882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BA116664-AE20-37D4-F2CE-71F5E2A2D76A}"/>
              </a:ext>
            </a:extLst>
          </p:cNvPr>
          <p:cNvGrpSpPr/>
          <p:nvPr userDrawn="1"/>
        </p:nvGrpSpPr>
        <p:grpSpPr>
          <a:xfrm>
            <a:off x="7687905" y="6022720"/>
            <a:ext cx="523602" cy="174105"/>
            <a:chOff x="1848036" y="5415175"/>
            <a:chExt cx="523602" cy="174105"/>
          </a:xfrm>
        </p:grpSpPr>
        <p:sp>
          <p:nvSpPr>
            <p:cNvPr id="99" name="왼쪽 대괄호 98">
              <a:extLst>
                <a:ext uri="{FF2B5EF4-FFF2-40B4-BE49-F238E27FC236}">
                  <a16:creationId xmlns:a16="http://schemas.microsoft.com/office/drawing/2014/main" id="{945529EC-F559-88BD-18AC-8526D6CB8350}"/>
                </a:ext>
              </a:extLst>
            </p:cNvPr>
            <p:cNvSpPr/>
            <p:nvPr userDrawn="1"/>
          </p:nvSpPr>
          <p:spPr>
            <a:xfrm rot="16200000">
              <a:off x="2038475" y="5356700"/>
              <a:ext cx="143413" cy="321747"/>
            </a:xfrm>
            <a:prstGeom prst="leftBracket">
              <a:avLst/>
            </a:prstGeom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+mn-ea"/>
                <a:ea typeface="+mn-ea"/>
              </a:endParaRPr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60E8AB84-BDC4-1E3B-0D23-DFB856D10249}"/>
                </a:ext>
              </a:extLst>
            </p:cNvPr>
            <p:cNvSpPr/>
            <p:nvPr userDrawn="1"/>
          </p:nvSpPr>
          <p:spPr>
            <a:xfrm>
              <a:off x="1848036" y="5464205"/>
              <a:ext cx="523602" cy="107722"/>
            </a:xfrm>
            <a:prstGeom prst="rect">
              <a:avLst/>
            </a:prstGeom>
            <a:noFill/>
          </p:spPr>
          <p:txBody>
            <a:bodyPr wrap="square" lIns="0" tIns="0" rIns="0" bIns="0" anchor="ctr" anchorCtr="0">
              <a:spAutoFit/>
            </a:bodyPr>
            <a:lstStyle/>
            <a:p>
              <a:pPr algn="ctr"/>
              <a:r>
                <a:rPr lang="ko-KR" altLang="en-US" sz="700" b="1" spc="-50" dirty="0">
                  <a:latin typeface="+mn-ea"/>
                  <a:ea typeface="+mn-ea"/>
                </a:rPr>
                <a:t>오픈 사전점검</a:t>
              </a:r>
              <a:endParaRPr lang="ko-KR" altLang="en-US" sz="700" spc="-50" dirty="0">
                <a:latin typeface="+mn-ea"/>
                <a:ea typeface="+mn-ea"/>
              </a:endParaRPr>
            </a:p>
          </p:txBody>
        </p:sp>
        <p:cxnSp>
          <p:nvCxnSpPr>
            <p:cNvPr id="101" name="직선 연결선 100">
              <a:extLst>
                <a:ext uri="{FF2B5EF4-FFF2-40B4-BE49-F238E27FC236}">
                  <a16:creationId xmlns:a16="http://schemas.microsoft.com/office/drawing/2014/main" id="{2FC424D7-97BA-B8B5-684C-BAA44F2198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949308" y="5415175"/>
              <a:ext cx="321747" cy="0"/>
            </a:xfrm>
            <a:prstGeom prst="line">
              <a:avLst/>
            </a:prstGeom>
            <a:solidFill>
              <a:schemeClr val="bg1"/>
            </a:solidFill>
            <a:ln w="22225">
              <a:solidFill>
                <a:srgbClr val="0070C0"/>
              </a:solidFill>
              <a:round/>
              <a:headEnd type="oval" w="med" len="med"/>
              <a:tailEnd type="oval" w="med" len="me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393173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빈문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92"/>
          <p:cNvSpPr txBox="1">
            <a:spLocks noChangeArrowheads="1"/>
          </p:cNvSpPr>
          <p:nvPr userDrawn="1"/>
        </p:nvSpPr>
        <p:spPr bwMode="auto">
          <a:xfrm>
            <a:off x="5959108" y="6610753"/>
            <a:ext cx="290144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1100" dirty="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fld id="{FF0CF4D0-6911-48B8-801F-EA60F1DA7558}" type="slidenum">
              <a:rPr kumimoji="0" lang="en-US" altLang="ko-KR" sz="110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pPr algn="ctr" eaLnBrk="1" hangingPunct="1"/>
              <a:t>‹#›</a:t>
            </a:fld>
            <a:r>
              <a:rPr kumimoji="0" lang="en-US" altLang="ko-KR" sz="1100" dirty="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</a:p>
        </p:txBody>
      </p:sp>
      <p:pic>
        <p:nvPicPr>
          <p:cNvPr id="9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393" y="6486416"/>
            <a:ext cx="838757" cy="27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333827" y="726005"/>
            <a:ext cx="1153432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0" y="-10801"/>
            <a:ext cx="12193200" cy="54000"/>
          </a:xfrm>
          <a:prstGeom prst="rect">
            <a:avLst/>
          </a:prstGeom>
          <a:gradFill flip="none" rotWithShape="1">
            <a:gsLst>
              <a:gs pos="30000">
                <a:srgbClr val="CB443D"/>
              </a:gs>
              <a:gs pos="50000">
                <a:srgbClr val="F5F5F5"/>
              </a:gs>
              <a:gs pos="70000">
                <a:srgbClr val="4879B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12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93912" y="279872"/>
            <a:ext cx="11574238" cy="388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Tx/>
              <a:buNone/>
              <a:defRPr sz="1800" spc="-60" baseline="0">
                <a:latin typeface="HY헤드라인M" pitchFamily="18" charset="-127"/>
                <a:ea typeface="HY헤드라인M" pitchFamily="18" charset="-127"/>
              </a:defRPr>
            </a:lvl1pPr>
            <a:lvl2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sp>
        <p:nvSpPr>
          <p:cNvPr id="1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9188513" y="445362"/>
            <a:ext cx="2679637" cy="1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buFontTx/>
              <a:buNone/>
              <a:defRPr sz="140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52020DDA-2F87-8D7A-6021-CD071116965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5077" y="6590518"/>
            <a:ext cx="1489639" cy="12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96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회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92"/>
          <p:cNvSpPr txBox="1">
            <a:spLocks noChangeArrowheads="1"/>
          </p:cNvSpPr>
          <p:nvPr userDrawn="1"/>
        </p:nvSpPr>
        <p:spPr bwMode="auto">
          <a:xfrm>
            <a:off x="5959108" y="6610753"/>
            <a:ext cx="290144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1100" dirty="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fld id="{FF0CF4D0-6911-48B8-801F-EA60F1DA7558}" type="slidenum">
              <a:rPr kumimoji="0" lang="en-US" altLang="ko-KR" sz="110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pPr algn="ctr" eaLnBrk="1" hangingPunct="1"/>
              <a:t>‹#›</a:t>
            </a:fld>
            <a:r>
              <a:rPr kumimoji="0" lang="en-US" altLang="ko-KR" sz="1100" dirty="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</a:p>
        </p:txBody>
      </p:sp>
      <p:pic>
        <p:nvPicPr>
          <p:cNvPr id="9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393" y="6486416"/>
            <a:ext cx="838757" cy="27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333827" y="726005"/>
            <a:ext cx="1153432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0" y="-10801"/>
            <a:ext cx="12193200" cy="54000"/>
          </a:xfrm>
          <a:prstGeom prst="rect">
            <a:avLst/>
          </a:prstGeom>
          <a:gradFill flip="none" rotWithShape="1">
            <a:gsLst>
              <a:gs pos="30000">
                <a:srgbClr val="CB443D"/>
              </a:gs>
              <a:gs pos="50000">
                <a:srgbClr val="F5F5F5"/>
              </a:gs>
              <a:gs pos="70000">
                <a:srgbClr val="4879B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12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93912" y="279872"/>
            <a:ext cx="11574238" cy="388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Tx/>
              <a:buNone/>
              <a:defRPr sz="1800" spc="-60" baseline="0">
                <a:latin typeface="HY헤드라인M" pitchFamily="18" charset="-127"/>
                <a:ea typeface="HY헤드라인M" pitchFamily="18" charset="-127"/>
              </a:defRPr>
            </a:lvl1pPr>
            <a:lvl2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sp>
        <p:nvSpPr>
          <p:cNvPr id="1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9188513" y="445362"/>
            <a:ext cx="2679637" cy="1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buFontTx/>
              <a:buNone/>
              <a:defRPr sz="140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3FF1E01F-FE7C-2649-B3D1-FB52B256FF2C}"/>
              </a:ext>
            </a:extLst>
          </p:cNvPr>
          <p:cNvSpPr/>
          <p:nvPr userDrawn="1"/>
        </p:nvSpPr>
        <p:spPr>
          <a:xfrm>
            <a:off x="333827" y="824466"/>
            <a:ext cx="11534323" cy="56014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 dirty="0">
              <a:solidFill>
                <a:schemeClr val="accent5">
                  <a:lumMod val="60000"/>
                  <a:lumOff val="40000"/>
                </a:schemeClr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9B5817-6234-614A-827B-5B1151AED9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5077" y="6590518"/>
            <a:ext cx="1489639" cy="12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05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-타이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792"/>
          <p:cNvSpPr txBox="1">
            <a:spLocks noChangeArrowheads="1"/>
          </p:cNvSpPr>
          <p:nvPr userDrawn="1"/>
        </p:nvSpPr>
        <p:spPr bwMode="auto">
          <a:xfrm>
            <a:off x="5959108" y="6610753"/>
            <a:ext cx="290144" cy="1692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lvl1pPr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chemeClr val="tx1"/>
                </a:solidFill>
                <a:latin typeface="맑은 고딕" panose="020B0503020000020004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kumimoji="0" lang="en-US" altLang="ko-KR" sz="1100" dirty="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  <a:fld id="{FF0CF4D0-6911-48B8-801F-EA60F1DA7558}" type="slidenum">
              <a:rPr kumimoji="0" lang="en-US" altLang="ko-KR" sz="110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pPr algn="ctr" eaLnBrk="1" hangingPunct="1"/>
              <a:t>‹#›</a:t>
            </a:fld>
            <a:r>
              <a:rPr kumimoji="0" lang="en-US" altLang="ko-KR" sz="1100" dirty="0">
                <a:solidFill>
                  <a:srgbClr val="666666"/>
                </a:solidFill>
                <a:ea typeface="맑은 고딕" panose="020B0503020000020004" pitchFamily="50" charset="-127"/>
                <a:cs typeface="Arial" panose="020B0604020202020204" pitchFamily="34" charset="0"/>
              </a:rPr>
              <a:t>-</a:t>
            </a:r>
          </a:p>
        </p:txBody>
      </p:sp>
      <p:pic>
        <p:nvPicPr>
          <p:cNvPr id="9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393" y="6486416"/>
            <a:ext cx="838757" cy="2759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333827" y="726005"/>
            <a:ext cx="1153432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 userDrawn="1"/>
        </p:nvSpPr>
        <p:spPr>
          <a:xfrm>
            <a:off x="0" y="-10801"/>
            <a:ext cx="12193200" cy="54000"/>
          </a:xfrm>
          <a:prstGeom prst="rect">
            <a:avLst/>
          </a:prstGeom>
          <a:gradFill flip="none" rotWithShape="1">
            <a:gsLst>
              <a:gs pos="30000">
                <a:srgbClr val="CB443D"/>
              </a:gs>
              <a:gs pos="50000">
                <a:srgbClr val="F5F5F5"/>
              </a:gs>
              <a:gs pos="70000">
                <a:srgbClr val="4879BE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12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93912" y="279872"/>
            <a:ext cx="11574238" cy="388363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FontTx/>
              <a:buNone/>
              <a:defRPr sz="1800" spc="-60" baseline="0">
                <a:latin typeface="HY헤드라인M" pitchFamily="18" charset="-127"/>
                <a:ea typeface="HY헤드라인M" pitchFamily="18" charset="-127"/>
              </a:defRPr>
            </a:lvl1pPr>
            <a:lvl2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sp>
        <p:nvSpPr>
          <p:cNvPr id="13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9188513" y="445362"/>
            <a:ext cx="2679637" cy="1800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 algn="r">
              <a:buFontTx/>
              <a:buNone/>
              <a:defRPr sz="140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마스터 제목 삽입</a:t>
            </a:r>
          </a:p>
        </p:txBody>
      </p:sp>
      <p:sp>
        <p:nvSpPr>
          <p:cNvPr id="14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3826" y="782254"/>
            <a:ext cx="11534323" cy="41553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FontTx/>
              <a:buNone/>
              <a:defRPr sz="1400" spc="-90" baseline="0">
                <a:solidFill>
                  <a:schemeClr val="tx1">
                    <a:lumMod val="95000"/>
                    <a:lumOff val="5000"/>
                  </a:schemeClr>
                </a:solidFill>
                <a:latin typeface="HY중고딕" pitchFamily="18" charset="-127"/>
                <a:ea typeface="HY중고딕" pitchFamily="18" charset="-127"/>
              </a:defRPr>
            </a:lvl1pPr>
            <a:lvl2pPr marL="457224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 marL="914446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 marL="1371668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 marL="1828892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내용 삽입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F1E01F-FE7C-2649-B3D1-FB52B256FF2C}"/>
              </a:ext>
            </a:extLst>
          </p:cNvPr>
          <p:cNvSpPr/>
          <p:nvPr userDrawn="1"/>
        </p:nvSpPr>
        <p:spPr>
          <a:xfrm>
            <a:off x="333827" y="1254039"/>
            <a:ext cx="11534323" cy="51718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0" dirty="0">
              <a:solidFill>
                <a:schemeClr val="accent5">
                  <a:lumMod val="60000"/>
                  <a:lumOff val="40000"/>
                </a:schemeClr>
              </a:solidFill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0C90CCB5-25A5-AD6F-7658-FE3C14CB615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5077" y="6590518"/>
            <a:ext cx="1489639" cy="12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376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감사합니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 bwMode="auto">
          <a:xfrm>
            <a:off x="0" y="0"/>
            <a:ext cx="6096000" cy="6858000"/>
          </a:xfrm>
          <a:prstGeom prst="rect">
            <a:avLst/>
          </a:prstGeom>
          <a:solidFill>
            <a:srgbClr val="F2F2F2"/>
          </a:solidFill>
          <a:ln w="9525" algn="ctr">
            <a:noFill/>
            <a:round/>
            <a:headEnd/>
            <a:tailEnd/>
          </a:ln>
          <a:effectLst/>
        </p:spPr>
        <p:txBody>
          <a:bodyPr lIns="0" rIns="0" rtlCol="0" anchor="ctr"/>
          <a:lstStyle/>
          <a:p>
            <a:pPr algn="ctr" fontAlgn="ctr" latinLnBrk="0">
              <a:lnSpc>
                <a:spcPts val="1300"/>
              </a:lnSpc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ct val="65000"/>
            </a:pPr>
            <a:endParaRPr lang="ko-KR" altLang="en-US" sz="1500" b="1" dirty="0">
              <a:solidFill>
                <a:srgbClr val="FFFFFF"/>
              </a:solidFill>
              <a:cs typeface="Arial" pitchFamily="34" charset="0"/>
              <a:sym typeface="Wingdings" pitchFamily="2" charset="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43000" y="3076883"/>
            <a:ext cx="551882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4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0" i="0" u="none" strike="noStrike" kern="1200" cap="none" spc="-10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ea"/>
                <a:ea typeface="+mn-ea"/>
                <a:cs typeface="+mn-cs"/>
              </a:rPr>
              <a:t>E.O.D</a:t>
            </a:r>
            <a:endParaRPr kumimoji="0" lang="ko-KR" altLang="en-US" sz="2000" b="0" i="0" u="none" strike="noStrike" kern="1200" cap="none" spc="-10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pic>
        <p:nvPicPr>
          <p:cNvPr id="1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88" y="599675"/>
            <a:ext cx="1384184" cy="455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extBox 21"/>
          <p:cNvSpPr txBox="1"/>
          <p:nvPr userDrawn="1"/>
        </p:nvSpPr>
        <p:spPr>
          <a:xfrm>
            <a:off x="1035255" y="2254296"/>
            <a:ext cx="8187654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kumimoji="1" lang="ko-KR" altLang="en-US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감사합니다</a:t>
            </a:r>
            <a:r>
              <a:rPr kumimoji="1" lang="en-US" altLang="ko-KR" sz="3200" b="0" i="0" u="none" strike="noStrike" kern="1200" cap="none" spc="-10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Y헤드라인M" pitchFamily="18" charset="-127"/>
                <a:ea typeface="HY헤드라인M" pitchFamily="18" charset="-127"/>
              </a:rPr>
              <a:t>.</a:t>
            </a:r>
            <a:endParaRPr lang="ko-KR" altLang="en-US" sz="3200" b="0" spc="-100" baseline="0" dirty="0">
              <a:latin typeface="HY헤드라인M" pitchFamily="18" charset="-127"/>
              <a:ea typeface="HY헤드라인M" pitchFamily="18" charset="-127"/>
            </a:endParaRP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1035255" y="2886696"/>
            <a:ext cx="10089945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5937489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별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1"/>
            <a:ext cx="12193200" cy="64800"/>
          </a:xfrm>
          <a:prstGeom prst="rect">
            <a:avLst/>
          </a:prstGeom>
          <a:gradFill flip="none" rotWithShape="1">
            <a:gsLst>
              <a:gs pos="50000">
                <a:srgbClr val="F5F5F5"/>
              </a:gs>
              <a:gs pos="0">
                <a:srgbClr val="6C6C6C"/>
              </a:gs>
              <a:gs pos="100000">
                <a:srgbClr val="6A6A6A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latin typeface="Noto Sans CJK KR DemiLight" panose="020B0400000000000000" pitchFamily="34" charset="-127"/>
              <a:ea typeface="Noto Sans CJK KR DemiLight" panose="020B0400000000000000" pitchFamily="34" charset="-127"/>
            </a:endParaRPr>
          </a:p>
        </p:txBody>
      </p:sp>
      <p:sp>
        <p:nvSpPr>
          <p:cNvPr id="7" name="텍스트 개체 틀 15"/>
          <p:cNvSpPr>
            <a:spLocks noGrp="1"/>
          </p:cNvSpPr>
          <p:nvPr>
            <p:ph type="body" sz="quarter" idx="10" hasCustomPrompt="1"/>
          </p:nvPr>
        </p:nvSpPr>
        <p:spPr>
          <a:xfrm>
            <a:off x="286178" y="98607"/>
            <a:ext cx="11562921" cy="388363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00" spc="-60" baseline="0">
                <a:latin typeface="HY중고딕" pitchFamily="18" charset="-127"/>
                <a:ea typeface="HY중고딕" pitchFamily="18" charset="-127"/>
              </a:defRPr>
            </a:lvl1pPr>
            <a:lvl2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2pPr>
            <a:lvl3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3pPr>
            <a:lvl4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4pPr>
            <a:lvl5pPr>
              <a:defRPr sz="1400">
                <a:latin typeface="Noto Sans CJK KR Bold" panose="020B0800000000000000" pitchFamily="34" charset="-127"/>
                <a:ea typeface="Noto Sans CJK KR Bold" panose="020B0800000000000000" pitchFamily="34" charset="-127"/>
              </a:defRPr>
            </a:lvl5pPr>
          </a:lstStyle>
          <a:p>
            <a:pPr lvl="0"/>
            <a:r>
              <a:rPr lang="ko-KR" altLang="en-US" dirty="0"/>
              <a:t>별첨</a:t>
            </a:r>
            <a:r>
              <a:rPr lang="en-US" altLang="ko-KR" dirty="0"/>
              <a:t>1. </a:t>
            </a:r>
            <a:r>
              <a:rPr lang="ko-KR" altLang="en-US" dirty="0"/>
              <a:t>제목</a:t>
            </a:r>
          </a:p>
        </p:txBody>
      </p:sp>
      <p:sp>
        <p:nvSpPr>
          <p:cNvPr id="8" name="텍스트 개체 틀 15"/>
          <p:cNvSpPr>
            <a:spLocks noGrp="1"/>
          </p:cNvSpPr>
          <p:nvPr>
            <p:ph type="body" sz="quarter" idx="13" hasCustomPrompt="1"/>
          </p:nvPr>
        </p:nvSpPr>
        <p:spPr>
          <a:xfrm>
            <a:off x="333827" y="606299"/>
            <a:ext cx="11515272" cy="55306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FontTx/>
              <a:buNone/>
              <a:defRPr sz="1400" spc="-90" baseline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defRPr>
            </a:lvl1pPr>
            <a:lvl2pPr marL="457224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 marL="914446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 marL="1371668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 marL="1828892" indent="0">
              <a:buFontTx/>
              <a:buNone/>
              <a:defRPr sz="1800"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  <a:endParaRPr lang="en-US" altLang="ko-KR" dirty="0"/>
          </a:p>
          <a:p>
            <a:pPr lvl="0"/>
            <a:r>
              <a:rPr lang="en-US" altLang="ko-KR" dirty="0"/>
              <a:t>- </a:t>
            </a:r>
            <a:r>
              <a:rPr lang="ko-KR" altLang="en-US" dirty="0"/>
              <a:t>내용 삽입</a:t>
            </a:r>
          </a:p>
        </p:txBody>
      </p:sp>
      <p:sp>
        <p:nvSpPr>
          <p:cNvPr id="9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7769348" y="316051"/>
            <a:ext cx="4079751" cy="180000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400" spc="-60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</a:defRPr>
            </a:lvl1pPr>
            <a:lvl2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2pPr>
            <a:lvl3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3pPr>
            <a:lvl4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4pPr>
            <a:lvl5pPr>
              <a:defRPr>
                <a:solidFill>
                  <a:schemeClr val="bg1">
                    <a:lumMod val="65000"/>
                  </a:schemeClr>
                </a:solidFill>
                <a:latin typeface="Noto Sans CJK KR Light" panose="020B0300000000000000" pitchFamily="34" charset="-127"/>
                <a:ea typeface="Noto Sans CJK KR Light" panose="020B0300000000000000" pitchFamily="34" charset="-127"/>
              </a:defRPr>
            </a:lvl5pPr>
          </a:lstStyle>
          <a:p>
            <a:pPr lvl="0"/>
            <a:r>
              <a:rPr lang="ko-KR" altLang="en-US" dirty="0"/>
              <a:t>추가 제목</a:t>
            </a:r>
          </a:p>
        </p:txBody>
      </p:sp>
      <p:sp>
        <p:nvSpPr>
          <p:cNvPr id="10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5631828" y="6521587"/>
            <a:ext cx="938319" cy="261380"/>
          </a:xfrm>
          <a:prstGeom prst="rect">
            <a:avLst/>
          </a:prstGeom>
        </p:spPr>
        <p:txBody>
          <a:bodyPr/>
          <a:lstStyle>
            <a:lvl1pPr algn="ctr">
              <a:defRPr sz="1000">
                <a:latin typeface="CJ ONLYONE NEW 본문 Light" panose="00000300000000000000" pitchFamily="2" charset="-127"/>
                <a:ea typeface="CJ ONLYONE NEW 본문 Light" panose="00000300000000000000" pitchFamily="2" charset="-127"/>
              </a:defRPr>
            </a:lvl1pPr>
          </a:lstStyle>
          <a:p>
            <a:fld id="{3F0E25F8-DD2E-4512-9D1F-10243ABEAA22}" type="slidenum">
              <a:rPr lang="ko-KR" altLang="en-US" smtClean="0"/>
              <a:pPr/>
              <a:t>‹#›</a:t>
            </a:fld>
            <a:endParaRPr lang="ko-KR" altLang="en-US"/>
          </a:p>
        </p:txBody>
      </p: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5186B17D-EC75-41C7-A9B4-00B81513A516}"/>
              </a:ext>
            </a:extLst>
          </p:cNvPr>
          <p:cNvCxnSpPr>
            <a:cxnSpLocks/>
          </p:cNvCxnSpPr>
          <p:nvPr userDrawn="1"/>
        </p:nvCxnSpPr>
        <p:spPr>
          <a:xfrm>
            <a:off x="333827" y="554555"/>
            <a:ext cx="11534323" cy="0"/>
          </a:xfrm>
          <a:prstGeom prst="line">
            <a:avLst/>
          </a:prstGeom>
          <a:ln w="6350">
            <a:solidFill>
              <a:srgbClr val="6E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587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7046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1" r:id="rId4"/>
    <p:sldLayoutId id="2147483652" r:id="rId5"/>
    <p:sldLayoutId id="2147483660" r:id="rId6"/>
    <p:sldLayoutId id="2147483653" r:id="rId7"/>
    <p:sldLayoutId id="2147483655" r:id="rId8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2025.03.06(2</a:t>
            </a:r>
            <a:r>
              <a:rPr lang="ko-KR" altLang="en-US" dirty="0"/>
              <a:t>주차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109663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514350" indent="-514350">
              <a:buFont typeface="+mj-lt"/>
              <a:buAutoNum type="romanUcPeriod"/>
            </a:pPr>
            <a:r>
              <a:rPr lang="ko-KR" altLang="en-US" dirty="0"/>
              <a:t>프로젝트 구축 일정</a:t>
            </a:r>
            <a:endParaRPr lang="en-US" altLang="ko-KR" dirty="0"/>
          </a:p>
          <a:p>
            <a:pPr marL="514350" indent="-514350">
              <a:buFont typeface="+mj-lt"/>
              <a:buAutoNum type="romanUcPeriod"/>
            </a:pPr>
            <a:r>
              <a:rPr lang="ko-KR" altLang="en-US" dirty="0"/>
              <a:t>진척 현황</a:t>
            </a:r>
            <a:endParaRPr lang="en-US" altLang="ko-KR" dirty="0"/>
          </a:p>
          <a:p>
            <a:pPr marL="514350" indent="-514350">
              <a:buFont typeface="+mj-lt"/>
              <a:buAutoNum type="romanUcPeriod"/>
            </a:pPr>
            <a:r>
              <a:rPr lang="ko-KR" altLang="en-US" dirty="0"/>
              <a:t>주요 수행업무</a:t>
            </a:r>
          </a:p>
        </p:txBody>
      </p:sp>
    </p:spTree>
    <p:extLst>
      <p:ext uri="{BB962C8B-B14F-4D97-AF65-F5344CB8AC3E}">
        <p14:creationId xmlns:p14="http://schemas.microsoft.com/office/powerpoint/2010/main" val="3522586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프로젝트 구축 일정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전체 일정</a:t>
            </a:r>
          </a:p>
        </p:txBody>
      </p:sp>
    </p:spTree>
    <p:extLst>
      <p:ext uri="{BB962C8B-B14F-4D97-AF65-F5344CB8AC3E}">
        <p14:creationId xmlns:p14="http://schemas.microsoft.com/office/powerpoint/2010/main" val="33644020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FA4284-DF8A-FDDF-97D8-95ACDCEF8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I. </a:t>
            </a:r>
            <a:r>
              <a:rPr lang="ko-KR" altLang="en-US" dirty="0"/>
              <a:t>프로젝트 구축 일정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842D40-8D6F-1C8F-4287-8AEC2B00AA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월간 주요 일정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51F46D5-AE66-DF76-F92C-113442D80A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2376064"/>
              </p:ext>
            </p:extLst>
          </p:nvPr>
        </p:nvGraphicFramePr>
        <p:xfrm>
          <a:off x="732411" y="1233699"/>
          <a:ext cx="10726163" cy="4978143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323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2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23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23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23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23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23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0548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일요일</a:t>
                      </a:r>
                    </a:p>
                  </a:txBody>
                  <a:tcPr marL="6351" marR="6351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월요일</a:t>
                      </a:r>
                    </a:p>
                  </a:txBody>
                  <a:tcPr marL="6351" marR="6351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화요일</a:t>
                      </a:r>
                    </a:p>
                  </a:txBody>
                  <a:tcPr marL="6351" marR="6351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수요일</a:t>
                      </a:r>
                    </a:p>
                  </a:txBody>
                  <a:tcPr marL="6351" marR="6351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목요일</a:t>
                      </a:r>
                    </a:p>
                  </a:txBody>
                  <a:tcPr marL="6351" marR="6351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금요일</a:t>
                      </a:r>
                    </a:p>
                  </a:txBody>
                  <a:tcPr marL="6351" marR="6351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토요일</a:t>
                      </a:r>
                    </a:p>
                  </a:txBody>
                  <a:tcPr marL="6351" marR="6351" marT="0" marB="0"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519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800" b="1" i="0" u="none" strike="noStrike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lang="ko-KR" altLang="en-US" sz="800" b="1" i="0" u="none" strike="noStrike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endParaRPr lang="ko-KR" altLang="en-US" sz="800" b="1" i="0" u="none" strike="noStrike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1" i="0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회의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제니퍼 및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GitLab 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</a:t>
                      </a:r>
                      <a:b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(10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회의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BPO 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b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착수보고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</a:t>
                      </a: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주간보고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</a:t>
                      </a: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회의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BPO 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b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1519"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i="0" u="none" strike="noStrike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15</a:t>
                      </a: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l" fontAlgn="t"/>
                      <a:endParaRPr lang="ko-KR" altLang="en-US" sz="800" b="0" i="0" u="none" strike="noStrike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[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회의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] 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BPO 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업무회의</a:t>
                      </a:r>
                      <a:b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</a:t>
                      </a:r>
                      <a:r>
                        <a:rPr lang="ko-KR" altLang="en-US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주간보고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</a:t>
                      </a: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800" b="0" i="0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2876474"/>
                  </a:ext>
                </a:extLst>
              </a:tr>
              <a:tr h="16151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16</a:t>
                      </a: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i="0" u="none" strike="noStrike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spc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22</a:t>
                      </a: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l" fontAlgn="t"/>
                      <a:endParaRPr lang="ko-KR" altLang="en-US" sz="800" b="0" i="0" u="none" strike="noStrike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주간보고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</a:t>
                      </a: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noProof="0" dirty="0">
                        <a:solidFill>
                          <a:srgbClr val="00B05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noProof="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1635371"/>
                  </a:ext>
                </a:extLst>
              </a:tr>
              <a:tr h="161519"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23</a:t>
                      </a: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</a:rPr>
                        <a:t>24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800" b="1" i="0" u="none" strike="noStrike" spc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</a:rPr>
                        <a:t>25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i="0" u="none" strike="noStrike" kern="1200" spc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spc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spc="0" dirty="0">
                          <a:solidFill>
                            <a:srgbClr val="262626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ctr" latinLnBrk="1" hangingPunct="1"/>
                      <a:r>
                        <a:rPr lang="en-US" altLang="ko-KR" sz="800" b="1" i="0" u="none" strike="noStrike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algn="l" fontAlgn="t"/>
                      <a:endParaRPr lang="ko-KR" altLang="en-US" sz="800" b="0" i="0" u="none" strike="noStrike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altLang="ko-KR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주간보고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(14</a:t>
                      </a:r>
                      <a:r>
                        <a:rPr lang="ko-KR" altLang="en-US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r>
                        <a:rPr lang="en-US" altLang="ko-KR" sz="800" b="0" i="0" kern="1200" dirty="0">
                          <a:solidFill>
                            <a:srgbClr val="0070C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800" b="1" i="0" kern="1200" noProof="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noProof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kern="1200" spc="0" dirty="0">
                        <a:solidFill>
                          <a:srgbClr val="262626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1791238"/>
                  </a:ext>
                </a:extLst>
              </a:tr>
              <a:tr h="161519">
                <a:tc>
                  <a:txBody>
                    <a:bodyPr/>
                    <a:lstStyle/>
                    <a:p>
                      <a:pPr algn="r" fontAlgn="t"/>
                      <a:r>
                        <a:rPr lang="en-US" altLang="ko-KR" sz="800" b="1" i="0" u="none" strike="noStrike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30</a:t>
                      </a:r>
                      <a:endParaRPr lang="ko-KR" altLang="en-US" sz="800" b="1" i="0" u="none" strike="noStrike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36000" marR="3600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i="0" u="none" strike="noStrike" kern="1200" spc="0" dirty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ko-KR" altLang="en-US" sz="800" b="1" i="0" u="none" strike="noStrike" kern="1200" spc="0" dirty="0"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118316"/>
                  </a:ext>
                </a:extLst>
              </a:tr>
              <a:tr h="792000"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rgbClr val="0070C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ko-KR" altLang="en-US" sz="800" b="0" i="0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8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262626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0395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323758-5620-AF0D-0FFB-AD2A359241F5}"/>
              </a:ext>
            </a:extLst>
          </p:cNvPr>
          <p:cNvSpPr txBox="1"/>
          <p:nvPr/>
        </p:nvSpPr>
        <p:spPr>
          <a:xfrm>
            <a:off x="732411" y="971787"/>
            <a:ext cx="10726166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altLang="ko-KR" sz="1200" b="1" dirty="0">
                <a:latin typeface="+mn-ea"/>
              </a:rPr>
              <a:t>[ 2025</a:t>
            </a:r>
            <a:r>
              <a:rPr lang="ko-KR" altLang="en-US" sz="1200" b="1" dirty="0">
                <a:latin typeface="+mn-ea"/>
              </a:rPr>
              <a:t>년 </a:t>
            </a:r>
            <a:r>
              <a:rPr lang="en-US" altLang="ko-KR" sz="1200" b="1" dirty="0">
                <a:latin typeface="+mn-ea"/>
              </a:rPr>
              <a:t>3</a:t>
            </a:r>
            <a:r>
              <a:rPr lang="ko-KR" altLang="en-US" sz="1200" b="1" dirty="0">
                <a:latin typeface="+mn-ea"/>
              </a:rPr>
              <a:t>월 </a:t>
            </a:r>
            <a:r>
              <a:rPr lang="en-US" altLang="ko-KR" sz="1200" b="1" dirty="0">
                <a:latin typeface="+mn-ea"/>
              </a:rPr>
              <a:t>]</a:t>
            </a:r>
            <a:endParaRPr lang="ko-KR" altLang="en-US" sz="1200" b="1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1277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FA4284-DF8A-FDDF-97D8-95ACDCEF8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II. </a:t>
            </a:r>
            <a:r>
              <a:rPr lang="ko-KR" altLang="en-US" dirty="0"/>
              <a:t>진척 현황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842D40-8D6F-1C8F-4287-8AEC2B00AA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인력 및 개발 현황</a:t>
            </a: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2840831"/>
              </p:ext>
            </p:extLst>
          </p:nvPr>
        </p:nvGraphicFramePr>
        <p:xfrm>
          <a:off x="513347" y="3248527"/>
          <a:ext cx="11157005" cy="30961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61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21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1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2163">
                  <a:extLst>
                    <a:ext uri="{9D8B030D-6E8A-4147-A177-3AD203B41FA5}">
                      <a16:colId xmlns:a16="http://schemas.microsoft.com/office/drawing/2014/main" val="3747617933"/>
                    </a:ext>
                  </a:extLst>
                </a:gridCol>
                <a:gridCol w="19121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21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이행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인프라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아키텍처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수립 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디자인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퍼블리싱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수립 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수립 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3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키오스크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수립 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POS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수립 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38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API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 수립 중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228469"/>
              </p:ext>
            </p:extLst>
          </p:nvPr>
        </p:nvGraphicFramePr>
        <p:xfrm>
          <a:off x="489284" y="1289378"/>
          <a:ext cx="11181071" cy="1432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99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2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22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2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22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622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85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사업관리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인프라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테스터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POS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키오스크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POS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/API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9(22)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1(2)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4(9)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1(4)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1(2)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2(5)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실적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buFont typeface="Arial" panose="020B0604020202020204" pitchFamily="34" charset="0"/>
                        <a:buChar char="•"/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차주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03/18 : PMO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투입예정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03/10 :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개발자 투입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03/17 :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개발자 투입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88900" indent="-88900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03/11 : 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개발자 투입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(3</a:t>
                      </a:r>
                      <a:r>
                        <a:rPr lang="ko-KR" altLang="en-US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명</a:t>
                      </a:r>
                      <a:r>
                        <a:rPr lang="en-US" altLang="ko-KR" sz="100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400328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0323758-5620-AF0D-0FFB-AD2A359241F5}"/>
              </a:ext>
            </a:extLst>
          </p:cNvPr>
          <p:cNvSpPr txBox="1"/>
          <p:nvPr/>
        </p:nvSpPr>
        <p:spPr>
          <a:xfrm>
            <a:off x="376989" y="971787"/>
            <a:ext cx="11081588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1200" b="1" dirty="0">
                <a:latin typeface="+mn-ea"/>
              </a:rPr>
              <a:t>■ 인력관리 현황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323758-5620-AF0D-0FFB-AD2A359241F5}"/>
              </a:ext>
            </a:extLst>
          </p:cNvPr>
          <p:cNvSpPr txBox="1"/>
          <p:nvPr/>
        </p:nvSpPr>
        <p:spPr>
          <a:xfrm>
            <a:off x="433137" y="2944967"/>
            <a:ext cx="11081588" cy="184666"/>
          </a:xfrm>
          <a:prstGeom prst="rect">
            <a:avLst/>
          </a:prstGeom>
          <a:noFill/>
        </p:spPr>
        <p:txBody>
          <a:bodyPr wrap="square" tIns="0" bIns="0" rtlCol="0" anchor="ctr">
            <a:spAutoFit/>
          </a:bodyPr>
          <a:lstStyle/>
          <a:p>
            <a:r>
              <a:rPr lang="ko-KR" altLang="en-US" sz="1200" b="1" dirty="0">
                <a:latin typeface="+mn-ea"/>
              </a:rPr>
              <a:t>■ 개발 진행현황</a:t>
            </a:r>
          </a:p>
        </p:txBody>
      </p:sp>
    </p:spTree>
    <p:extLst>
      <p:ext uri="{BB962C8B-B14F-4D97-AF65-F5344CB8AC3E}">
        <p14:creationId xmlns:p14="http://schemas.microsoft.com/office/powerpoint/2010/main" val="941171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FA4284-DF8A-FDDF-97D8-95ACDCEF8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주요 수행업무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842D40-8D6F-1C8F-4287-8AEC2B00AA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시스템별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9530385"/>
              </p:ext>
            </p:extLst>
          </p:nvPr>
        </p:nvGraphicFramePr>
        <p:xfrm>
          <a:off x="336884" y="1083105"/>
          <a:ext cx="11533996" cy="52947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0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금주 실적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03/03~03/07)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차주 계획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03/10~03/14)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74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기획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</a:p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디자인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신성통상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현업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BPO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요구사항 협의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indent="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 BOP(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전체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 1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 미팅 및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VOC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정리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(03/04)</a:t>
                      </a:r>
                      <a:endParaRPr lang="en-US" altLang="ko-KR" sz="1000" b="1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indent="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BPO(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탑텐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2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미팅 및 프로세스 확인 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(03/07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예정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indent="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BPO(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샵인샵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 3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미팅 및 프로세스 확인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차주 예정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indent="0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POS/BO/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키오스크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IA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정리 및 전체 범위 </a:t>
                      </a:r>
                      <a:r>
                        <a:rPr lang="ko-KR" altLang="en-US" sz="10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리스트업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indent="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요구사항에 따라 추가 보완</a:t>
                      </a:r>
                      <a:endParaRPr lang="en-US" altLang="ko-KR" sz="10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시스템별 기획 및 디자인 제작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(~03/07)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키오스크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대표화면 지정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세로버전 기준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가로버전 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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BO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디자인 템플릿 제작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로그인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기본구조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가지 시안 제작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indent="0" latinLnBrk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FontTx/>
                        <a:buNone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POS/</a:t>
                      </a:r>
                      <a:r>
                        <a:rPr lang="ko-KR" altLang="en-US" sz="1000" b="0" kern="120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키오스크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기획 템플릿 제작</a:t>
                      </a:r>
                      <a:endParaRPr lang="en-US" altLang="ko-KR" sz="10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타사 서비스 벤치마킹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(~03/07)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POS/BO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팝업 및 컴포넌트 정리 진행 중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POS/BO </a:t>
                      </a:r>
                      <a:r>
                        <a:rPr lang="ko-KR" altLang="en-US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공통 요소 디자인 정리</a:t>
                      </a:r>
                      <a:endParaRPr lang="en-US" altLang="ko-KR" sz="10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신성통상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BPO 3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 미팅 및 프로세스 확인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latinLnBrk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(as-is)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포인트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영수증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쿠폰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 최종 프로세스 정리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latinLnBrk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(to-be)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결제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반품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교환 프로세스 제안 및 정리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POS/BO/</a:t>
                      </a:r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키오스크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IA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정리 및 전체 범위 </a:t>
                      </a:r>
                      <a:r>
                        <a:rPr lang="ko-KR" altLang="en-US" sz="10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리스트업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보완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(to-be) BO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컴포넌트 디자인 정리</a:t>
                      </a:r>
                      <a:endParaRPr lang="en-US" altLang="ko-KR" sz="10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팝업 및 컴포넌트 정리 진행 중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의사결정 요청사항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latinLnBrk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 해상도 확인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(~03/10)</a:t>
                      </a:r>
                    </a:p>
                    <a:p>
                      <a:pPr latinLnBrk="1">
                        <a:spcBef>
                          <a:spcPts val="30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 </a:t>
                      </a:r>
                      <a:r>
                        <a:rPr lang="ko-KR" altLang="en-US" sz="1000" b="1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고객용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화면 광고 필수 여부 및 개수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형식 확인 필요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(~03/10)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키오스크 기준 해상도 확인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가로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or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세로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(~03/14)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652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POS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BPO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미팅진행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(03/04)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프로젝트팀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ASIS POS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기능에 대한 질의 진행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추가 질의 작성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(03/05)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2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차 미팅진행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(03/07)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ASIS POS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 분석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(02/24~03/28)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판매 프로세스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및 기능에 대한 분석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(02/24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~03/21)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영업관리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DB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데이터 분석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(03/05~03/21)</a:t>
                      </a:r>
                      <a:endParaRPr lang="en-US" altLang="ko-KR" sz="1000" b="1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업무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BPO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미팅진행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(03/11)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3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차 미팅진행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(03/11)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추가 질의 사항에 대한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검토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ASIS POS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시스템 분석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(02/24~03/28)</a:t>
                      </a: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판매 프로세스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및 기능에 대한 분석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(02/24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~03/21)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latinLnBrk="1">
                        <a:spcBef>
                          <a:spcPts val="6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영업관리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DB </a:t>
                      </a:r>
                      <a:r>
                        <a:rPr lang="ko-KR" altLang="en-US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데이터 분석 </a:t>
                      </a:r>
                      <a:r>
                        <a:rPr lang="en-US" altLang="ko-KR" sz="10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(03/05~03/21)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개발자 투입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(1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명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(03/10)</a:t>
                      </a: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개발 환경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셋팅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및 업무 분석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T="108000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952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011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FFA4284-DF8A-FDDF-97D8-95ACDCEF8D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III. </a:t>
            </a:r>
            <a:r>
              <a:rPr lang="ko-KR" altLang="en-US" dirty="0"/>
              <a:t>주요 수행업무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842D40-8D6F-1C8F-4287-8AEC2B00AA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1.</a:t>
            </a:r>
            <a:r>
              <a:rPr lang="ko-KR" altLang="en-US" dirty="0"/>
              <a:t> 시스템별 현황</a:t>
            </a: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7213125"/>
              </p:ext>
            </p:extLst>
          </p:nvPr>
        </p:nvGraphicFramePr>
        <p:xfrm>
          <a:off x="336884" y="1083105"/>
          <a:ext cx="11533996" cy="5034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5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0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0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80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금주 실적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03/03~03/07)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차주 계획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(25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년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03/10~03/14)</a:t>
                      </a: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17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키오스크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POS/KIOSK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솔루션 구조 확정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(~03/07)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역할별 프로젝트 분리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프로젝트간 연결 로직 구현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POS/KIOSK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솔루션 구조 세분화 </a:t>
                      </a: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00" b="1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비즈니스 </a:t>
                      </a:r>
                      <a:r>
                        <a:rPr lang="ko-KR" altLang="en-US" sz="1000" b="0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로직별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인터페이스 추출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샘플 연동 로직 개발</a:t>
                      </a:r>
                      <a:endParaRPr lang="en-US" altLang="ko-KR" sz="1000" b="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spcBef>
                          <a:spcPts val="300"/>
                        </a:spcBef>
                        <a:buNone/>
                      </a:pP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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개발자 </a:t>
                      </a:r>
                      <a:r>
                        <a:rPr lang="en-US" altLang="ko-KR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R&amp;R </a:t>
                      </a:r>
                      <a:r>
                        <a:rPr lang="ko-KR" altLang="en-US" sz="1000" b="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분배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816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TA</a:t>
                      </a:r>
                    </a:p>
                  </a:txBody>
                  <a:tcPr anchor="ctr"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제니퍼 및 </a:t>
                      </a:r>
                      <a:r>
                        <a:rPr lang="en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GitLab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구성방안 회의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(03/04)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SSTS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통합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GitLab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필요 예정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AWS OpenSearch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 확정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제니퍼 구성 확정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SSTS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가이드 필요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OnP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API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서버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SSTS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 위치 확인 필요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임베디드 </a:t>
                      </a:r>
                      <a:r>
                        <a:rPr lang="ko-KR" altLang="en-US" sz="10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톰캣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구성 합의 완료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POS/KIOSK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리소스 모니터링 협의 필요</a:t>
                      </a:r>
                    </a:p>
                    <a:p>
                      <a:pPr latinLnBrk="1">
                        <a:spcBef>
                          <a:spcPts val="12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요구사항 분석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어플리케이션 요구사항 분석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CICD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요구사항 분석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Framework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요구사항 분석</a:t>
                      </a:r>
                      <a:endParaRPr lang="en-US" altLang="ko-KR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1000" b="1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CanalFrame</a:t>
                      </a: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 및 사용 범위 확정 </a:t>
                      </a: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(~03/07)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lang="ko-KR" alt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아키텍처 초안 제공 및 협의 </a:t>
                      </a: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(~03/07)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GitLab </a:t>
                      </a:r>
                      <a:r>
                        <a:rPr lang="ko-KR" alt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전략 </a:t>
                      </a: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(~03/07)</a:t>
                      </a:r>
                    </a:p>
                    <a:p>
                      <a:pPr>
                        <a:spcBef>
                          <a:spcPts val="600"/>
                        </a:spcBef>
                      </a:pP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CICD </a:t>
                      </a:r>
                      <a:r>
                        <a:rPr lang="ko-KR" altLang="en-US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구성 전략 </a:t>
                      </a:r>
                      <a:r>
                        <a:rPr lang="en-US" altLang="ko-KR" sz="1000" b="1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(~03/07)</a:t>
                      </a:r>
                      <a:endParaRPr lang="ko-KR" altLang="en-US" sz="1000" b="1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latinLnBrk="1">
                        <a:spcBef>
                          <a:spcPts val="300"/>
                        </a:spcBef>
                      </a:pPr>
                      <a:endParaRPr lang="ko-KR" altLang="en-US" sz="10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분석 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(~03/14)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공통 요구사항 분석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어플리케이션 요구사항 분석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CICD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요구사항 분석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Framework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요구사항 분석</a:t>
                      </a:r>
                    </a:p>
                    <a:p>
                      <a:pPr latinLnBrk="1">
                        <a:spcBef>
                          <a:spcPts val="1200"/>
                        </a:spcBef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어플리케이션 아키텍처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CICD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로깅 설계</a:t>
                      </a:r>
                    </a:p>
                    <a:p>
                      <a:pPr latinLnBrk="1">
                        <a:spcBef>
                          <a:spcPts val="300"/>
                        </a:spcBef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10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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모니터링 설계</a:t>
                      </a: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952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576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7728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858</TotalTime>
  <Words>904</Words>
  <Application>Microsoft Office PowerPoint</Application>
  <PresentationFormat>와이드스크린</PresentationFormat>
  <Paragraphs>190</Paragraphs>
  <Slides>8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23" baseType="lpstr">
      <vt:lpstr>Arial Unicode MS</vt:lpstr>
      <vt:lpstr>CJ ONLYONE NEW 본문 Light</vt:lpstr>
      <vt:lpstr>CJ ONLYONE NEW 본문 Regular</vt:lpstr>
      <vt:lpstr>HY중고딕</vt:lpstr>
      <vt:lpstr>HY헤드라인M</vt:lpstr>
      <vt:lpstr>KoPubWorld돋움체 Bold</vt:lpstr>
      <vt:lpstr>Noto Sans CJK KR Bold</vt:lpstr>
      <vt:lpstr>Noto Sans CJK KR DemiLight</vt:lpstr>
      <vt:lpstr>Noto Sans CJK KR Light</vt:lpstr>
      <vt:lpstr>Noto Sans CJK KR Regular</vt:lpstr>
      <vt:lpstr>맑은 고딕</vt:lpstr>
      <vt:lpstr>아리따-돋움4.0(OTF)-Light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오승헌님 [OH SEUNG HEON]; cj:TO7ESmqBXY49+6I/10l0Nai6uMM=*kernel</dc:creator>
  <cp:lastModifiedBy>User</cp:lastModifiedBy>
  <cp:revision>123</cp:revision>
  <dcterms:created xsi:type="dcterms:W3CDTF">2024-01-31T01:08:58Z</dcterms:created>
  <dcterms:modified xsi:type="dcterms:W3CDTF">2025-03-05T23:19:17Z</dcterms:modified>
</cp:coreProperties>
</file>