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db218ff66440b4" /><Relationship Type="http://schemas.openxmlformats.org/officeDocument/2006/relationships/extended-properties" Target="/docProps/app.xml" Id="R91e5b9a9586b4e58" /><Relationship Type="http://schemas.openxmlformats.org/officeDocument/2006/relationships/officeDocument" Target="/ppt/presentation.xml" Id="R80dcb3869280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df8953f1b45bd"/>
  </p:sldMasterIdLst>
  <p:notesMasterIdLst>
    <p:notesMasterId xmlns:r="http://schemas.openxmlformats.org/officeDocument/2006/relationships" r:id="R351b35df9d8e43f1"/>
  </p:notesMasterIdLst>
  <p:sldIdLst>
    <p:sldId xmlns:r="http://schemas.openxmlformats.org/officeDocument/2006/relationships" id="256" r:id="R1449b591001d4973"/>
    <p:sldId xmlns:r="http://schemas.openxmlformats.org/officeDocument/2006/relationships" id="257" r:id="R94ae72643ebe42a5"/>
    <p:sldId xmlns:r="http://schemas.openxmlformats.org/officeDocument/2006/relationships" id="258" r:id="Rc63615db34474a67"/>
    <p:sldId xmlns:r="http://schemas.openxmlformats.org/officeDocument/2006/relationships" id="259" r:id="R99a118a46cc441a1"/>
    <p:sldId xmlns:r="http://schemas.openxmlformats.org/officeDocument/2006/relationships" id="260" r:id="Ree76503f842445c8"/>
    <p:sldId xmlns:r="http://schemas.openxmlformats.org/officeDocument/2006/relationships" id="261" r:id="Re0c155fb231a4179"/>
    <p:sldId xmlns:r="http://schemas.openxmlformats.org/officeDocument/2006/relationships" id="262" r:id="R395d8e3252c048e8"/>
    <p:sldId xmlns:r="http://schemas.openxmlformats.org/officeDocument/2006/relationships" id="263" r:id="Rc16f55c06b4a4c79"/>
    <p:sldId xmlns:r="http://schemas.openxmlformats.org/officeDocument/2006/relationships" id="264" r:id="R395bbf6e8c5a45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5443e03074230" /><Relationship Type="http://schemas.openxmlformats.org/officeDocument/2006/relationships/slideMaster" Target="/ppt/slideMasters/slideMaster1.xml" Id="Rb42df8953f1b45bd" /><Relationship Type="http://schemas.openxmlformats.org/officeDocument/2006/relationships/notesMaster" Target="/ppt/notesMasters/notesMaster1.xml" Id="R351b35df9d8e43f1" /><Relationship Type="http://schemas.openxmlformats.org/officeDocument/2006/relationships/presProps" Target="/ppt/presProps.xml" Id="Re09b1b3ec4374080" /><Relationship Type="http://schemas.openxmlformats.org/officeDocument/2006/relationships/tableStyles" Target="/ppt/tableStyles.xml" Id="R5ae1c47e05944fbf" /><Relationship Type="http://schemas.openxmlformats.org/officeDocument/2006/relationships/slide" Target="/ppt/slides/slide1.xml" Id="R1449b591001d4973" /><Relationship Type="http://schemas.openxmlformats.org/officeDocument/2006/relationships/slide" Target="/ppt/slides/slide2.xml" Id="R94ae72643ebe42a5" /><Relationship Type="http://schemas.openxmlformats.org/officeDocument/2006/relationships/slide" Target="/ppt/slides/slide3.xml" Id="Rc63615db34474a67" /><Relationship Type="http://schemas.openxmlformats.org/officeDocument/2006/relationships/slide" Target="/ppt/slides/slide4.xml" Id="R99a118a46cc441a1" /><Relationship Type="http://schemas.openxmlformats.org/officeDocument/2006/relationships/slide" Target="/ppt/slides/slide5.xml" Id="Ree76503f842445c8" /><Relationship Type="http://schemas.openxmlformats.org/officeDocument/2006/relationships/slide" Target="/ppt/slides/slide6.xml" Id="Re0c155fb231a4179" /><Relationship Type="http://schemas.openxmlformats.org/officeDocument/2006/relationships/slide" Target="/ppt/slides/slide7.xml" Id="R395d8e3252c048e8" /><Relationship Type="http://schemas.openxmlformats.org/officeDocument/2006/relationships/slide" Target="/ppt/slides/slide8.xml" Id="Rc16f55c06b4a4c79" /><Relationship Type="http://schemas.openxmlformats.org/officeDocument/2006/relationships/slide" Target="/ppt/slides/slide9.xml" Id="R395bbf6e8c5a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b8137894645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bd146a137d4911" /><Relationship Type="http://schemas.openxmlformats.org/officeDocument/2006/relationships/notesMaster" Target="/ppt/notesMasters/notesMaster1.xml" Id="Rf19e91e2d710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e7279b349404a" /><Relationship Type="http://schemas.openxmlformats.org/officeDocument/2006/relationships/notesMaster" Target="/ppt/notesMasters/notesMaster1.xml" Id="R06b4a3b872fb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59305a6c564cbf" /><Relationship Type="http://schemas.openxmlformats.org/officeDocument/2006/relationships/notesMaster" Target="/ppt/notesMasters/notesMaster1.xml" Id="Ra0cba973c6ea41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f4d0cc0f04fbb" /><Relationship Type="http://schemas.openxmlformats.org/officeDocument/2006/relationships/notesMaster" Target="/ppt/notesMasters/notesMaster1.xml" Id="R8c337b52277f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6ef0a1e7f4843" /><Relationship Type="http://schemas.openxmlformats.org/officeDocument/2006/relationships/notesMaster" Target="/ppt/notesMasters/notesMaster1.xml" Id="Rbe44aa8f3a8849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576ac1abec4766" /><Relationship Type="http://schemas.openxmlformats.org/officeDocument/2006/relationships/notesMaster" Target="/ppt/notesMasters/notesMaster1.xml" Id="Rbd32d77c06dd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c1f6dbfac94a1d" /><Relationship Type="http://schemas.openxmlformats.org/officeDocument/2006/relationships/notesMaster" Target="/ppt/notesMasters/notesMaster1.xml" Id="R4b5c3419017147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f5678e9e5c40ae" /><Relationship Type="http://schemas.openxmlformats.org/officeDocument/2006/relationships/notesMaster" Target="/ppt/notesMasters/notesMaster1.xml" Id="Rbf67794a8baf4e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d32c80e6ca418a" /><Relationship Type="http://schemas.openxmlformats.org/officeDocument/2006/relationships/notesMaster" Target="/ppt/notesMasters/notesMaster1.xml" Id="Ra6150c5220f5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8c83c04d6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06516573a94780" /><Relationship Type="http://schemas.openxmlformats.org/officeDocument/2006/relationships/slideLayout" Target="/ppt/slideLayouts/slideLayout1.xml" Id="R3a511ab483914a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11ab483914a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0bf53254d4739" /><Relationship Type="http://schemas.openxmlformats.org/officeDocument/2006/relationships/notesSlide" Target="/ppt/notesSlides/notesSlide1.xml" Id="R0100ec737fba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e50689f7c4f86" /><Relationship Type="http://schemas.openxmlformats.org/officeDocument/2006/relationships/notesSlide" Target="/ppt/notesSlides/notesSlide2.xml" Id="R734fb941ba2f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90da716114543" /><Relationship Type="http://schemas.openxmlformats.org/officeDocument/2006/relationships/chart" Target="/ppt/slides/charts/chart1.xml" Id="R07cf2a8de7324ae4" /><Relationship Type="http://schemas.openxmlformats.org/officeDocument/2006/relationships/notesSlide" Target="/ppt/notesSlides/notesSlide3.xml" Id="Re5b1302fcc3145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ee1e5cec44580" /><Relationship Type="http://schemas.openxmlformats.org/officeDocument/2006/relationships/chart" Target="/ppt/slides/charts/chart2.xml" Id="Raf21cb82b548466d" /><Relationship Type="http://schemas.openxmlformats.org/officeDocument/2006/relationships/notesSlide" Target="/ppt/notesSlides/notesSlide4.xml" Id="R5537d731654747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2e4f986142c2" /><Relationship Type="http://schemas.openxmlformats.org/officeDocument/2006/relationships/notesSlide" Target="/ppt/notesSlides/notesSlide5.xml" Id="Rf8ffd72ef3ee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f1eda464e446e" /><Relationship Type="http://schemas.openxmlformats.org/officeDocument/2006/relationships/notesSlide" Target="/ppt/notesSlides/notesSlide6.xml" Id="R916e0ef006e647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013d1e69c4146" /><Relationship Type="http://schemas.openxmlformats.org/officeDocument/2006/relationships/notesSlide" Target="/ppt/notesSlides/notesSlide7.xml" Id="R3e39a692c1e645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e941336d24d37" /><Relationship Type="http://schemas.openxmlformats.org/officeDocument/2006/relationships/notesSlide" Target="/ppt/notesSlides/notesSlide8.xml" Id="R5182c96960c54d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b7f361c5444bf" /><Relationship Type="http://schemas.openxmlformats.org/officeDocument/2006/relationships/notesSlide" Target="/ppt/notesSlides/notesSlide9.xml" Id="Rc95c0b2694f94b6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필드 수</c:v>
          </c:tx>
          <c:spPr>
            <a:solidFill xmlns:a="http://schemas.openxmlformats.org/drawingml/2006/main">
              <a:srgbClr val="E07A2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유지 필수</c:v>
              </c:pt>
              <c:pt idx="1">
                <c:v>부서간 상충</c:v>
              </c:pt>
              <c:pt idx="2">
                <c:v>삭제 검토</c:v>
              </c:pt>
              <c:pt idx="3">
                <c:v>자동입력</c:v>
              </c:pt>
            </c:strLit>
          </c:cat>
          <c:val>
            <c:numLit>
              <c:formatCode>General</c:formatCode>
              <c:ptCount val="4"/>
              <c:pt idx="0">
                <c:v>13</c:v>
              </c:pt>
              <c:pt idx="1">
                <c:v>69</c:v>
              </c:pt>
              <c:pt idx="2">
                <c:v>19</c:v>
              </c:pt>
              <c:pt idx="3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필드 수</c:v>
          </c:tx>
          <c:spPr>
            <a:solidFill xmlns:a="http://schemas.openxmlformats.org/drawingml/2006/main">
              <a:srgbClr val="11846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유지 필수</c:v>
              </c:pt>
              <c:pt idx="1">
                <c:v>부서간 상충</c:v>
              </c:pt>
              <c:pt idx="2">
                <c:v>삭제 검토</c:v>
              </c:pt>
              <c:pt idx="3">
                <c:v>자동입력</c:v>
              </c:pt>
            </c:strLit>
          </c:cat>
          <c:val>
            <c:numLit>
              <c:formatCode>General</c:formatCode>
              <c:ptCount val="4"/>
              <c:pt idx="0">
                <c:v>34</c:v>
              </c:pt>
              <c:pt idx="1">
                <c:v>26</c:v>
              </c:pt>
              <c:pt idx="2">
                <c:v>1</c:v>
              </c:pt>
              <c:pt idx="3">
                <c:v>10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FE241-D6E4-4286-A39E-0F0DEA45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763A-322D-4871-9097-13CD2D0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C3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C3D6"/>
                </a:solidFill>
                <a:latin typeface="Aptos"/>
                <a:ea typeface="Aptos"/>
                <a:cs typeface="Aptos"/>
              </a:rPr>
              <a:t>NEXT-GEN PI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013C2-C7B9-45F2-9EB9-F842E917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FONE/FA-ONE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내부 PI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보고 자료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19F40-6D47-451D-B532-900B0478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현업인터뷰 기반</a:t>
            </a:r>
          </a:p>
          <a:p xmlns:a="http://schemas.openxmlformats.org/drawingml/2006/main">
            <a:pPr algn="l">
              <a:defRPr sz="3600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기준정보 정비 진단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322BA-421D-477E-9F15-2DD2654A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차세대 FONE/FA-ONE 내부 PI 보고용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C6BC8-8E74-44D5-A7DB-49506FB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분석 범위: 매장 기준정보 · 상품 기준정보 · 코드 등록 프로세스 · IT 영향도 검토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029E7-DC4B-4BCD-952C-5AF1083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BD0DC-197F-4938-B224-8AE386FD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07A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07A2F"/>
                </a:solidFill>
                <a:latin typeface="Aptos Display"/>
                <a:ea typeface="Aptos Display"/>
                <a:cs typeface="Aptos Display"/>
              </a:rPr>
              <a:t>104개 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8D7AD-36AF-42B1-B987-DCD44F02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 기준정보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B28CB-A3D9-48D3-8D5E-275533E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38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 69 · 삭제검토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7791E-C69E-4AD6-8765-2E1375B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A5B1E-6D9B-4E56-8009-C2C7E3C8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84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846B"/>
                </a:solidFill>
                <a:latin typeface="Aptos Display"/>
                <a:ea typeface="Aptos Display"/>
                <a:cs typeface="Aptos Display"/>
              </a:rPr>
              <a:t>71개 필드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AAA21-D8C3-435F-BE04-20E1132D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 기준정보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5F097-A0BD-46F1-B221-E838B323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387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유지필수 34 · 상충 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08125-101F-4B0A-80FF-0D08DDF5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53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작성 기준일: 2026-06-19</a:t>
            </a:r>
          </a:p>
        </p:txBody>
      </p:sp>
    </p:spTree>
    <p:extLst>
      <p:ext uri="{BB962C8B-B14F-4D97-AF65-F5344CB8AC3E}">
        <p14:creationId xmlns:p14="http://schemas.microsoft.com/office/powerpoint/2010/main" val="1347423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26CBC-C014-4CC0-8DC1-86364BB9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BF570-0270-4FE5-AABE-FAD29F89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기준정보는 단순 이관 대상이 아니라 PI 재설계 대상입니다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35894-090B-4DB5-98D4-8EF8DB7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현업인터뷰 결과, 필드 사용 목적·관리 주체·연계 영향도가 부서별로 크게 다릅니다.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C0E4D-CF79-4C9C-8C85-64A2DE5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C537A-1AD2-4C31-8776-B1092B8C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0E36-BF2B-4B67-9764-D402CA1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1543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ECD06-29EC-4D13-BF1A-8A2E1C42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핵심 메시지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F290A-B6A6-4464-8F96-CE71EB6A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3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매장/상품 기준정보는 차세대 시스템의 공통 기반입니다. 필드 삭제·통합·자동입력은 현업 의견만으로 결정하지 말고 IT 영향도와 기준 시스템을 함께 확정해야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90346-8AD0-4496-A691-FE2116B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953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4112-3109-4DD5-8445-D7B1A7B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6675" cy="16954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00DEA-18BD-4D0D-82EE-87322218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PI 관점 리스크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B7F97-23DF-4DCE-B06D-9F6511D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533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 필드가 많을수록 화면 이관 후에도 수기 보정, 권한 혼선, 데이터 정합성 문제가 반복됩니다. 특히 매장정보는 POS·정산·회계·자사몰 참조 가능성을 먼저 확인해야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7B5E3-D28C-4456-8DF8-49D7CB0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D8531-16ED-4235-9B18-565C641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07A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07A2F"/>
                </a:solidFill>
                <a:latin typeface="Aptos Display"/>
                <a:ea typeface="Aptos Display"/>
                <a:cs typeface="Aptos Display"/>
              </a:rPr>
              <a:t>69 / 104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214AC-5E10-4357-9073-F1E5F96C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 기준정보 상충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FE884-4318-478C-994B-C9266CD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부서별 사용 목적 불일치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2C68A-DAA9-4D35-BA76-11F84C9A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6690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CF2D7-1EBE-4C9C-B55A-69C072B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84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846B"/>
                </a:solidFill>
                <a:latin typeface="Aptos Display"/>
                <a:ea typeface="Aptos Display"/>
                <a:cs typeface="Aptos Display"/>
              </a:rPr>
              <a:t>34 / 71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CDF45-7E08-4D26-9ED9-1E8D073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 기준정보 유지필수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CE25C-638F-45C1-B487-A3409371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핵심 상품 속성 유지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96C3A-6DF0-41BB-8F5A-2A571C7E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5B1F1-170B-4828-89F2-B7534219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94E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C94E3A"/>
                </a:solidFill>
                <a:latin typeface="Aptos Display"/>
                <a:ea typeface="Aptos Display"/>
                <a:cs typeface="Aptos Display"/>
              </a:rPr>
              <a:t>20개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EFC9E-9AAA-4380-8B7B-6F9090C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삭제 검토 총합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510AB-BAA6-43C3-837E-CABE6BB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 19 · 상품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DF8A8-BFCF-4CD8-B564-B1B8523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4805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B272B-F960-41CE-A827-01E178FC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6E99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B6E99"/>
                </a:solidFill>
                <a:latin typeface="Aptos Display"/>
                <a:ea typeface="Aptos Display"/>
                <a:cs typeface="Aptos Display"/>
              </a:rPr>
              <a:t>15개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45AFE6-AC97-4B8A-A480-8659A4C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신규 요청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0B8CD-934E-4200-9A9E-673BE99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 1 · 상품 14</a:t>
            </a:r>
          </a:p>
        </p:txBody>
      </p:sp>
    </p:spTree>
    <p:extLst>
      <p:ext uri="{BB962C8B-B14F-4D97-AF65-F5344CB8AC3E}">
        <p14:creationId xmlns:p14="http://schemas.microsoft.com/office/powerpoint/2010/main" val="244863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B8356-A643-48CF-9204-492E303E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STORE MASTER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AF8EF-FA9F-4F10-92FD-E14D9A45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매장 기준정보: 상충 69개가 구조적 정비 필요성을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602B8-008A-4B4C-B0F1-7073770A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매장정보는 정산, POS, 매출 분석, 담보, 물류, 자사몰 설정이 한 화면에 혼재되어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761AD-56CD-4BC0-A42B-224A065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61375-34DB-47CC-8362-AFAD1FA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F7102-6EBB-451C-A650-10AFFCF2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 기준정보 판정 분포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857250" y="2343150"/>
          <a:ext xmlns:a="http://schemas.openxmlformats.org/drawingml/2006/main" cx="4648200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f2a8de7324ae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974F2-C79F-464C-8CB5-260940B7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42938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E911F-CC47-4FE8-809F-714AC97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5219700"/>
            <a:ext cx="3412514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3D951-2FAF-42C0-9D2A-E5C490D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52" y="5219700"/>
            <a:ext cx="939678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3BB1B-F4A4-4236-A414-CAE374C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730" y="5219700"/>
            <a:ext cx="148370" cy="247650"/>
          </a:xfrm>
          <a:prstGeom xmlns:a="http://schemas.openxmlformats.org/drawingml/2006/main" prst="roundRect">
            <a:avLst>
              <a:gd name="adj" fmla="val 38519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A6656-BC84-4B0D-BC86-7ED4FF84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2E794-CAD0-4009-9D6B-68B743F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유지필수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C5BEA-EC88-4B58-9A73-59519C4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A09AD-FAEB-4868-8968-88C177F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 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CFA86-4CA5-4223-99B6-B5D9730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72752-8CA3-4D0E-AB88-E435960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삭제검토 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BEBC3-F4A7-4BB3-B6BA-609BDD3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73716-6C23-4B5C-B00B-F8A737D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자동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9BDE6-D8EB-42FE-8A5C-EBDB7C6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686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4A8A-4457-43DC-8F07-1DEF04AC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66675" cy="13525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DBF54-C6DD-4E59-9785-AF8C363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주요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C042A-9E32-4557-B3C9-950354F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매장정보는 영업관리팀이 많이 입력하지만 실제 관리 주체는 영업팀, 브랜드기획팀, 총무팀 등으로 나뉩니다. 따라서 화면 탭과 권한을 업무 주체별로 나누는 설계가 필요합니다.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31D5B-963B-4686-9FB9-2ECA879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4686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EAC0A-FB2D-4EEF-86FE-A741D1A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66675" cy="14668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4B488-6E3A-46A3-9383-5E27FAAA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우선 검토 필드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CB727-5F7E-4168-AD04-EBFAD6C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통합매장ID, 단말기번호, 과세사업장유무, 유통계열사, 회계 유통망, 담보 관련 필드, 자사몰 설정 필드는 내부참조와 외부 연계 확인 후 유지/수정/삭제를 결정해야 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4CE58-7791-4E42-99C9-5CAB5A6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4686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BBBFB-8584-477C-9360-5D055159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66675" cy="8191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0A374-85F0-4170-9230-35632C0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244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신규 요청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1B23E-FFB3-4D1B-953B-5F7B8CD0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426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키오스크사용여부가 신규 필드 후보로 제기되었습니다. POS/매장 운영 데이터와의 연계 필요성을 함께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63927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2B969-F666-4533-8246-104BF98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PRODUCT MASTER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6DBDE-D591-4CC9-8EBA-C06E438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상품 기준정보: 유지 필수는 많지만 하이어라키 재정의가 핵심입니다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39086-4FE1-4EE2-AAD4-E45A6E4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상품정보는 PLM, FONE, BW/Tableau, 작업지시·결재 프로세스가 동시에 연결됩니다.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3ACA1-1067-441B-870D-41D1CCE4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71C90-2D08-41C7-84F8-26F5C603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E720F-DC7B-4986-81E3-D1E81FD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 기준정보 판정 분포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857250" y="2343150"/>
          <a:ext xmlns:a="http://schemas.openxmlformats.org/drawingml/2006/main" cx="4648200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21cb82b548466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8E2A1-049A-4918-A266-9B5B601A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463085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5FA87-702D-4901-9305-57124DAA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685" y="5219700"/>
            <a:ext cx="188353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55777-B6A9-4683-B55C-29038243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220" y="52197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0211-AFE6-480B-914C-C25AA06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420" y="5219700"/>
            <a:ext cx="724437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6E571-364C-42C5-B2C3-00824A0E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6EDDD-62B1-4464-93F9-5942F08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유지필수 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2ACB3-0911-4365-867B-EBD15570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115CE-26FD-4964-A695-019026F3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 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96CC1-2850-40BF-8226-C4CAC60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C4F01-08C6-4B1E-BEEB-CEBE2343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삭제검토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AE906-AEEF-44A7-946B-4AE0C03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657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7ED69-EE30-428F-A6F7-EBCB340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6102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자동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4B2E5-A36D-405A-AE7E-887471B5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686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AF556-747A-474E-B9DE-C5D93079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66675" cy="12001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C465F-49C2-456D-B757-875CE0D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유지 필수 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B4480-5D9F-45F6-A309-EE854D34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제품코드, 제품명, 한글제품명(온라인), 어패럴타입은 핵심 유지 항목입니다. 이 필드는 상품 식별, 작업지시, 분석 기준으로 이어집니다.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5D3F1-E82D-47B4-8016-2F007BFC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4686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BD8D0-2898-4FD4-B796-F21557BC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66675" cy="12001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77D67-106D-40C1-B405-56DC377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상충 핵심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D48B3-9565-443B-B6BD-7C2A40E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영문제품명, 소재타입, 프로그램, 핏, 컬러타입, 납기변경상세사유, 분할입고여부 등은 브랜드/사업부별 활용도가 다릅니다.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F0941-E483-4F73-9A6C-57B661C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4686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CEEA5-BD25-4C25-BCCA-F58F0406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66675" cy="10668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CD3AC-4194-495A-A0CF-EB24748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053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PI 설계 포인트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EE6BE-D682-424E-A5FE-19EB9F5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Centric PLM과 FONE 중 상품 속성의 기준 시스템을 정하고, BW/Tableau 분석 필드는 삭제 전 영향도를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783252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3C80F-A8A2-4C24-B62C-66754506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ISSUE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BE574-67F4-448A-A2C0-C98DA4F4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공통 이슈는 필드가 아니라 운영 구조에서 발생합니다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F60C5-A51B-41C3-98CC-932F8B58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 항목은 화면/필드 문제가 아니라 권한, 기준 시스템, 연계 영향, 이력 관리 문제로 이어집니다.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27A37-0688-4756-8C5B-B6B4598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CF471-A584-430F-A128-F93CA8B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4762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98E6C-F76C-49A9-BBB4-8E59A048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9CFA4-3200-4EA2-A95A-BDA9988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관리 주체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27360-3EB8-4B22-93A7-1D07B4DF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영업관리·영업·브랜드기획·총무 등 입력/변경 책임이 분산됨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706F-02A3-4C86-BC16-49F4E3B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4762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F9561-31DF-43BB-A16B-804346D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D84F5-29C9-4222-A0E1-7E224B6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기준 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22E4F-AD14-462F-AA20-C249CB94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FONE, PLM, POS, 회계, 자사몰 중 기준 데이터 소유가 불명확함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C9E1F-7B50-43C7-A214-2B30688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4762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5250-7776-465E-A6EF-3B9FD26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1D309-014B-4985-8D0C-DA916B1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연계 영향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00423-25EE-4F03-9B1C-677CBCA3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ERP·회계·물류·DW·자사몰·Tableau 참조 가능성 확인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885C5-E76A-46B8-AFCE-571C44E2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762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232B1-0092-425A-ADFC-C3454E5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66675" cy="11430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2F269-77D3-4594-96F6-E3E3391A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이력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162A5-CE3F-445D-8C25-9DC49D05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필드 변경 히스토리와 승인 흐름이 없으면 과거 추적이 어려움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97A40-E9C4-4504-B73F-F941552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47625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FBE5E-3C9E-41F8-9A25-C53A41F7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720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TO-BE 기준정보 운영모델로 통합 관리</a:t>
            </a:r>
          </a:p>
        </p:txBody>
      </p:sp>
    </p:spTree>
    <p:extLst>
      <p:ext uri="{BB962C8B-B14F-4D97-AF65-F5344CB8AC3E}">
        <p14:creationId xmlns:p14="http://schemas.microsoft.com/office/powerpoint/2010/main" val="1592508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26387-1957-45BE-8429-04618C5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PROCESS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CBBEB-A720-41EC-A232-88D1B089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코드 등록 프로세스는 탭·권한·자동화 중심으로 재설계합니다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E65D2-C0FD-41AC-B1A4-BBC4219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매장코드와 상품코드는 기준정보 품질을 결정하는 최초 입력 지점입니다.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77EDA-3E77-4294-8B6C-643325D7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35DE6-A599-4BBE-9E60-B12BF8F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34EF-0D5B-4C06-BD80-4F023A6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매장코드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55C5-3D4B-4185-9E63-C9382F9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702B0-7492-4214-BD24-1F8166B1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기초정보와 상세정보 탭 권한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0C782-714A-4BE0-897D-D8B4E844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4A382-F597-4494-A471-FC007106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영업관리/영업/브랜드기획 변경 이력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48965-F68E-4F36-9F48-7A2771DF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248CA-6548-4C65-BE49-9BBCBE9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미사용 분류항목 제거 전 DB 연관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AA003-79A6-40E7-BB43-6433DAF0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2171B-407A-4A67-90AC-6214598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담보·계약성 필드는 관리 주체 재확정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83B56-6E4D-4879-96BC-F1BC7FA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E2E01-D8DD-42FC-9696-8526FB7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상품코드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D8487-26E5-4AB3-813A-415A7A7D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1CF8A-7D59-400C-B68F-EF9A455B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289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 속성 분류 체계와 하이어라키 재수립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98990-AB20-4F92-8595-EFB5EF22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21375-6178-4AC7-A39E-702F302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Centric PLM 연동 기준 마련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51CC5-DCCE-493A-9478-07B1C18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E0BF6-CF55-4871-8820-3019F00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컬러 미사용값 정리와 사이즈 기준 단일화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01B49-658E-4B32-965E-51ED10D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A1497-22F8-47BC-8B10-A017C7C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소비자가 확정·작업지시 결재 전산화</a:t>
            </a:r>
          </a:p>
        </p:txBody>
      </p:sp>
    </p:spTree>
    <p:extLst>
      <p:ext uri="{BB962C8B-B14F-4D97-AF65-F5344CB8AC3E}">
        <p14:creationId xmlns:p14="http://schemas.microsoft.com/office/powerpoint/2010/main" val="1738308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4D378-7B25-4F60-AED2-DE17B31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IT IMPACT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B1A08-8273-481A-83AF-F81DA1A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삭제/상충 필드는 4가지 영향도 확인 후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8BF5-D4FF-491D-935F-F74C0BA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현업 미사용 의견만으로 삭제하면 연계 장애와 과거 데이터 불일치가 발생할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94AEA-8D14-4B69-8A83-C48700EE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70E39-602C-4FA4-885E-85151273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3BB5D-D9C2-4A5B-9381-1B90F63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6675" cy="1428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E3F6D-144F-44B8-819C-AAEC05A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① 내부참조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C4722-A1E1-47A9-9D96-CCE5BE58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타 화면, 배치, 계산 로직에서 필드값을 읽는지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5827-7708-4604-A0A3-99624A8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9B90B-5C93-4027-971B-F212A59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66675" cy="1428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17E08-FB04-4584-A568-9A4C05A7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② 외부 I/F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0DCFD-E27E-408F-82DD-A0EFBBE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193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ERP, 회계, 물류, DW, S-ONE, 자사몰 전송 여부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4C9BE-144F-4DE9-96B0-8041B00E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E55E0-44F1-4A7D-B081-338A732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66675" cy="1428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70951-071A-4E08-8D0D-9D72ECEB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③ 필수값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168EA-004B-4CC4-827D-E1F1587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저장 검증, NOT NULL, 필수 입력 구조 여부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63849-3020-493C-A484-966D89F2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BB50E-B4DE-4326-BB9E-02CC9107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66675" cy="1428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D2C3D-F034-4819-B6C5-90D6864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④ 이력키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A26B6-2323-47B7-866C-3E684495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과거 데이터 키값, 집계 기준, 분석 축 사용 여부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F9A96-88CD-43BF-A3D1-A2F14FA7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우선 대상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294F1-7752-4D8E-9FF0-0E8EC887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1611A-0BD5-46C0-8379-8CCED1C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 기준정보: 상충 69개 + 삭제 검토 19개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BCF96-D61C-41A6-9A2A-6AC8930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545C3-0DEE-4DFD-97CE-D5814A8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상품 기준정보: 상충 26개 + 삭제 검토 1개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68ED7-274D-41C8-A605-025E0856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2B5EA-88A3-4C64-AE39-C404EC79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분석 연계 필드: BW/Tableau, POS, 회계, 자사몰 참조 가능 항목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F02CF-14C0-499B-96B1-CAB38F26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AE5A6-6DFB-4640-8249-4808246F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권한/이력 필드: 변경 주체가 분산된 매장 상세·담보·운영 정보</a:t>
            </a:r>
          </a:p>
        </p:txBody>
      </p:sp>
    </p:spTree>
    <p:extLst>
      <p:ext uri="{BB962C8B-B14F-4D97-AF65-F5344CB8AC3E}">
        <p14:creationId xmlns:p14="http://schemas.microsoft.com/office/powerpoint/2010/main" val="1442211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84DFA-811B-4975-822F-4267288D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DECISION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E8259-BB5C-4F6B-8808-85BABC76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PI 단계에서 확정해야 할 의사결정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1467-CAB5-454E-9606-5B82E76F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아래 항목은 설계 진입 전 프로젝트 내부 합의가 필요한 안건입니다.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46D8-F1C4-4792-969E-9EAD3A3F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6989-ECD1-41C7-838C-D2D5A9EC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B96FB-CE5E-44BA-9F1C-D1491A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기준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6451F-43A2-427B-95B9-6FF7BA98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7677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C11EE-FAFB-4870-AC26-E3C996E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매장정보와 상품정보의 최종 기준을 FONE 단독으로 둘지, PLM/POS/회계/자사몰과 분산 관리할지 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CC538-DF82-46FF-9EF1-27D7B44A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E168C-4980-461E-8ACD-8023839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관리 주체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CFDB6-555A-457A-9F27-F3B8E540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7677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BD5F5-8107-4E42-AD6A-8737E2E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필드별 입력·수정·승인 부서와 변경 이력 책임을 확정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72F91-86CC-4F15-98FA-F6DFD093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C7A69-3C3A-4B69-875C-6551BA31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삭제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EF99A-F007-4602-B68A-C011103C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38500"/>
            <a:ext cx="7677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4C082-6D3E-482D-B606-86065CA7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삭제 검토 필드는 IT 영향도 분석 완료 후 최종 삭제/숨김/유지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BE57A-398F-4E61-BC50-C925BA5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4128B-BE91-4617-8CC1-67B71D1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신규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2950C-6404-4B69-A1A1-4E0889C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81450"/>
            <a:ext cx="7677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F3F5B-8472-4CAF-9673-ECD4DCD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키오스크사용여부, 샘플넘버, 분할입고계획, 하이어라키 관리 페이지 등 채택 여부 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21AE9-0287-425A-94F4-9091E94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FE5F7-B386-4F27-9762-7B13019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분석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F00C2-31FD-47A6-A7E8-2696D06C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24400"/>
            <a:ext cx="7677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8E173-4C34-47D2-BF86-74365FE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BW/Tableau에 필요한 상품 속성·매장 속성 목록 확정</a:t>
            </a:r>
          </a:p>
        </p:txBody>
      </p:sp>
    </p:spTree>
    <p:extLst>
      <p:ext uri="{BB962C8B-B14F-4D97-AF65-F5344CB8AC3E}">
        <p14:creationId xmlns:p14="http://schemas.microsoft.com/office/powerpoint/2010/main" val="460242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A6254-537A-4837-A90A-1B6524F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7A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7A2F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26986-8B14-4A7E-99F1-7F2F5F5E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52333"/>
                </a:solidFill>
                <a:latin typeface="Aptos Display"/>
                <a:ea typeface="Aptos Display"/>
                <a:cs typeface="Aptos Display"/>
              </a:rPr>
              <a:t>권장 PI 진행안: 영향도 분석 → 운영모델 → TO-BE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CB4FA-4166-4E12-9097-20562537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일정은 확정안이 아니라 내부 PI 보고용 제안 구조입니다.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C6B91-9F32-49CC-99AA-1FFE8651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0AE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0AE"/>
                </a:solidFill>
                <a:latin typeface="Aptos"/>
                <a:ea typeface="Aptos"/>
                <a:cs typeface="Aptos"/>
              </a:rPr>
              <a:t>차세대 FONE/FA-ONE 내부 PI 보고 | 현업인터뷰 기준정보 분석 |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00872-891A-4505-B08C-7DFFC4CC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79DB8-C72C-456E-AA30-678D9D09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94A36-D8D2-448F-89AF-CC07C1A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2D025-2DF1-468F-BB53-A4BB631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필드 영향도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6634E-6FF7-403D-A7C8-10F49893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상충/삭제 검토 항목의 내부참조·외부I/F·필수값·이력키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3811A-C2B6-469F-AF8A-44C652AC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79C5A-83DD-423E-BE17-6D735B9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AF24C-489F-4F3C-9CD0-D06C090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33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2AC2A-C303-484B-A5CA-030F102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86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운영모델 설계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34012-B573-43D7-866F-156D69C3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기준 시스템, 관리 주체, 권한, 승인/이력 흐름 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56CD6-8F78-4516-84ED-60D9E84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4C00C-7CBF-49A0-A266-94F0C542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70611-A3D3-40CB-A627-E52D0C8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1DCB6-42F9-4C91-B483-DB249EF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TO-BE 화면/프로세스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DA892-4A43-41DF-8781-0737E48B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매장정보 탭 분리, 상품 하이어라키, PLM-FONE 연계 기준 반영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68E82-15F9-4C8A-BFF4-1899B3C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3812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C5F73-BB8A-4147-935F-5F443D5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F43E8-7201-4BDB-ACC5-BF66CA34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C7D8A-4715-40DA-9FBE-1DECCA7B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전환 로드맵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91DF4-3059-4868-A26E-BA863658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7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3677A"/>
                </a:solidFill>
                <a:latin typeface="Aptos"/>
                <a:ea typeface="Aptos"/>
                <a:cs typeface="Aptos"/>
              </a:rPr>
              <a:t>필드 정리, 코드값 클렌징, 마이그레이션, 교육/운영 전환 계획 수립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A56DA-9E6D-4F2C-8468-70B5B4D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333"/>
                </a:solidFill>
                <a:latin typeface="Aptos"/>
                <a:ea typeface="Aptos"/>
                <a:cs typeface="Aptos"/>
              </a:rPr>
              <a:t>주요 출처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7E258-75B1-4919-BA4E-BC2A33A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6B5FA-4D69-498E-B7D0-7549EA6D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현업인터뷰 기준정보 분석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FAF6E-023E-415E-9013-A1ABC0BB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257169-39AA-4C01-9AD8-B0A6873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★매장기준정보_인터뷰집계_분석.xlsx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7FEA2-1098-4FFD-A57F-94FDB078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EA936-C764-4B4B-964B-A09F79A2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★상품기준정보_인터뷰집계_분석.xlsx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DF258-5F49-4396-8AFE-C3799CA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68AE7D-14F6-49BD-9692-F611C436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★매장코드 등록 프로세스, 개선사항.pptx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D0185-2F7B-4EFB-95D1-39CABFA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0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B710FB-7592-4740-94A3-4D6CE020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3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333"/>
                </a:solidFill>
                <a:latin typeface="Aptos"/>
                <a:ea typeface="Aptos"/>
                <a:cs typeface="Aptos"/>
              </a:rPr>
              <a:t>★상품코드 등록 프로세스, 개선사항.pptx</a:t>
            </a:r>
          </a:p>
        </p:txBody>
      </p:sp>
    </p:spTree>
    <p:extLst>
      <p:ext uri="{BB962C8B-B14F-4D97-AF65-F5344CB8AC3E}">
        <p14:creationId xmlns:p14="http://schemas.microsoft.com/office/powerpoint/2010/main" val="1665360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2026-06-19T03:53:01.7730000Z</dcterms:created>
  <dcterms:modified xsi:type="dcterms:W3CDTF">2026-06-19T03:53:01.7730000Z</dcterms:modified>
</coreProperties>
</file>